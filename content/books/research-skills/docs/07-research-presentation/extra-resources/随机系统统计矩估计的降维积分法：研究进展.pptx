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0"/>
  </p:notesMasterIdLst>
  <p:handoutMasterIdLst>
    <p:handoutMasterId r:id="rId71"/>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handoutMaster" Target="handoutMasters/handoutMaster1.xml"/><Relationship Id="rId70" Type="http://schemas.openxmlformats.org/officeDocument/2006/relationships/notesMaster" Target="notesMasters/notesMaster1.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16.png"/><Relationship Id="rId2" Type="http://schemas.openxmlformats.org/officeDocument/2006/relationships/image" Target="../media/image12.png"/><Relationship Id="rId10" Type="http://schemas.openxmlformats.org/officeDocument/2006/relationships/slideLayout" Target="../slideLayouts/slideLayout1.xml"/><Relationship Id="rId1" Type="http://schemas.openxmlformats.org/officeDocument/2006/relationships/image" Target="../media/image29.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15.png"/><Relationship Id="rId1" Type="http://schemas.openxmlformats.org/officeDocument/2006/relationships/image" Target="../media/image3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7.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12.png"/><Relationship Id="rId1" Type="http://schemas.openxmlformats.org/officeDocument/2006/relationships/image" Target="../media/image41.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4.png"/><Relationship Id="rId1"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6.png"/><Relationship Id="rId1" Type="http://schemas.openxmlformats.org/officeDocument/2006/relationships/image" Target="../media/image55.png"/></Relationships>
</file>

<file path=ppt/slides/_rels/slide14.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64.png"/><Relationship Id="rId7" Type="http://schemas.openxmlformats.org/officeDocument/2006/relationships/image" Target="../media/image63.png"/><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0" Type="http://schemas.openxmlformats.org/officeDocument/2006/relationships/slideLayout" Target="../slideLayouts/slideLayout1.xml"/><Relationship Id="rId1" Type="http://schemas.openxmlformats.org/officeDocument/2006/relationships/image" Target="../media/image57.png"/></Relationships>
</file>

<file path=ppt/slides/_rels/slide15.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72.png"/><Relationship Id="rId7" Type="http://schemas.openxmlformats.org/officeDocument/2006/relationships/image" Target="../media/image71.png"/><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39.png"/><Relationship Id="rId10" Type="http://schemas.openxmlformats.org/officeDocument/2006/relationships/slideLayout" Target="../slideLayouts/slideLayout1.xml"/><Relationship Id="rId1" Type="http://schemas.openxmlformats.org/officeDocument/2006/relationships/image" Target="../media/image6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5.png"/><Relationship Id="rId1" Type="http://schemas.openxmlformats.org/officeDocument/2006/relationships/image" Target="../media/image7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7.png"/><Relationship Id="rId1" Type="http://schemas.openxmlformats.org/officeDocument/2006/relationships/image" Target="../media/image76.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39.png"/><Relationship Id="rId1" Type="http://schemas.openxmlformats.org/officeDocument/2006/relationships/image" Target="../media/image78.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39.png"/><Relationship Id="rId1" Type="http://schemas.openxmlformats.org/officeDocument/2006/relationships/image" Target="../media/image83.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39.png"/><Relationship Id="rId1" Type="http://schemas.openxmlformats.org/officeDocument/2006/relationships/image" Target="../media/image87.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3.png"/><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image" Target="../media/image15.png"/><Relationship Id="rId1" Type="http://schemas.openxmlformats.org/officeDocument/2006/relationships/image" Target="../media/image90.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00.png"/><Relationship Id="rId7" Type="http://schemas.openxmlformats.org/officeDocument/2006/relationships/image" Target="../media/image99.png"/><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58.png"/><Relationship Id="rId1" Type="http://schemas.openxmlformats.org/officeDocument/2006/relationships/image" Target="../media/image94.pn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4.png"/><Relationship Id="rId4" Type="http://schemas.openxmlformats.org/officeDocument/2006/relationships/image" Target="../media/image103.png"/><Relationship Id="rId3" Type="http://schemas.openxmlformats.org/officeDocument/2006/relationships/image" Target="../media/image102.png"/><Relationship Id="rId2" Type="http://schemas.openxmlformats.org/officeDocument/2006/relationships/image" Target="../media/image39.png"/><Relationship Id="rId1" Type="http://schemas.openxmlformats.org/officeDocument/2006/relationships/image" Target="../media/image10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05.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9.png"/><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image" Target="../media/image106.pn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 Id="rId3" Type="http://schemas.openxmlformats.org/officeDocument/2006/relationships/image" Target="../media/image111.png"/><Relationship Id="rId2" Type="http://schemas.openxmlformats.org/officeDocument/2006/relationships/image" Target="../media/image58.png"/><Relationship Id="rId1" Type="http://schemas.openxmlformats.org/officeDocument/2006/relationships/image" Target="../media/image110.png"/></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20.png"/><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 Id="rId3" Type="http://schemas.openxmlformats.org/officeDocument/2006/relationships/image" Target="../media/image116.png"/><Relationship Id="rId2" Type="http://schemas.openxmlformats.org/officeDocument/2006/relationships/image" Target="../media/image15.png"/><Relationship Id="rId1" Type="http://schemas.openxmlformats.org/officeDocument/2006/relationships/image" Target="../media/image115.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3.png"/><Relationship Id="rId3" Type="http://schemas.openxmlformats.org/officeDocument/2006/relationships/image" Target="../media/image122.png"/><Relationship Id="rId2" Type="http://schemas.openxmlformats.org/officeDocument/2006/relationships/image" Target="../media/image58.png"/><Relationship Id="rId1" Type="http://schemas.openxmlformats.org/officeDocument/2006/relationships/image" Target="../media/image121.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image" Target="../media/image124.png"/></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35.png"/><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15.png"/><Relationship Id="rId1" Type="http://schemas.openxmlformats.org/officeDocument/2006/relationships/image" Target="../media/image13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7.png"/><Relationship Id="rId1" Type="http://schemas.openxmlformats.org/officeDocument/2006/relationships/image" Target="../media/image136.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9.png"/><Relationship Id="rId2" Type="http://schemas.openxmlformats.org/officeDocument/2006/relationships/image" Target="../media/image107.png"/><Relationship Id="rId1" Type="http://schemas.openxmlformats.org/officeDocument/2006/relationships/image" Target="../media/image138.pn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44.png"/><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image" Target="../media/image140.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52.png"/><Relationship Id="rId7" Type="http://schemas.openxmlformats.org/officeDocument/2006/relationships/image" Target="../media/image151.png"/><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image" Target="../media/image145.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56.png"/><Relationship Id="rId4" Type="http://schemas.openxmlformats.org/officeDocument/2006/relationships/image" Target="../media/image155.png"/><Relationship Id="rId3" Type="http://schemas.openxmlformats.org/officeDocument/2006/relationships/image" Target="../media/image154.png"/><Relationship Id="rId2" Type="http://schemas.openxmlformats.org/officeDocument/2006/relationships/image" Target="../media/image39.png"/><Relationship Id="rId1" Type="http://schemas.openxmlformats.org/officeDocument/2006/relationships/image" Target="../media/image153.png"/></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2.png"/><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 Id="rId3" Type="http://schemas.openxmlformats.org/officeDocument/2006/relationships/image" Target="../media/image158.png"/><Relationship Id="rId2" Type="http://schemas.openxmlformats.org/officeDocument/2006/relationships/image" Target="../media/image58.png"/><Relationship Id="rId1" Type="http://schemas.openxmlformats.org/officeDocument/2006/relationships/image" Target="../media/image157.png"/></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68.png"/><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3" Type="http://schemas.openxmlformats.org/officeDocument/2006/relationships/image" Target="../media/image164.png"/><Relationship Id="rId2" Type="http://schemas.openxmlformats.org/officeDocument/2006/relationships/image" Target="../media/image15.png"/><Relationship Id="rId1" Type="http://schemas.openxmlformats.org/officeDocument/2006/relationships/image" Target="../media/image163.png"/></Relationships>
</file>

<file path=ppt/slides/_rels/slide38.xml.rels><?xml version="1.0" encoding="UTF-8" standalone="yes"?>
<Relationships xmlns="http://schemas.openxmlformats.org/package/2006/relationships"><Relationship Id="rId9" Type="http://schemas.openxmlformats.org/officeDocument/2006/relationships/image" Target="../media/image176.png"/><Relationship Id="rId8" Type="http://schemas.openxmlformats.org/officeDocument/2006/relationships/image" Target="../media/image175.png"/><Relationship Id="rId7" Type="http://schemas.openxmlformats.org/officeDocument/2006/relationships/image" Target="../media/image174.png"/><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png"/><Relationship Id="rId3" Type="http://schemas.openxmlformats.org/officeDocument/2006/relationships/image" Target="../media/image170.png"/><Relationship Id="rId20" Type="http://schemas.openxmlformats.org/officeDocument/2006/relationships/slideLayout" Target="../slideLayouts/slideLayout1.xml"/><Relationship Id="rId2" Type="http://schemas.openxmlformats.org/officeDocument/2006/relationships/image" Target="../media/image39.png"/><Relationship Id="rId19" Type="http://schemas.openxmlformats.org/officeDocument/2006/relationships/image" Target="../media/image186.png"/><Relationship Id="rId18" Type="http://schemas.openxmlformats.org/officeDocument/2006/relationships/image" Target="../media/image185.png"/><Relationship Id="rId17" Type="http://schemas.openxmlformats.org/officeDocument/2006/relationships/image" Target="../media/image184.png"/><Relationship Id="rId16" Type="http://schemas.openxmlformats.org/officeDocument/2006/relationships/image" Target="../media/image183.png"/><Relationship Id="rId15" Type="http://schemas.openxmlformats.org/officeDocument/2006/relationships/image" Target="../media/image182.png"/><Relationship Id="rId14" Type="http://schemas.openxmlformats.org/officeDocument/2006/relationships/image" Target="../media/image181.png"/><Relationship Id="rId13" Type="http://schemas.openxmlformats.org/officeDocument/2006/relationships/image" Target="../media/image180.png"/><Relationship Id="rId12" Type="http://schemas.openxmlformats.org/officeDocument/2006/relationships/image" Target="../media/image179.png"/><Relationship Id="rId11" Type="http://schemas.openxmlformats.org/officeDocument/2006/relationships/image" Target="../media/image178.png"/><Relationship Id="rId10" Type="http://schemas.openxmlformats.org/officeDocument/2006/relationships/image" Target="../media/image177.png"/><Relationship Id="rId1" Type="http://schemas.openxmlformats.org/officeDocument/2006/relationships/image" Target="../media/image169.png"/></Relationships>
</file>

<file path=ppt/slides/_rels/slide39.xml.rels><?xml version="1.0" encoding="UTF-8" standalone="yes"?>
<Relationships xmlns="http://schemas.openxmlformats.org/package/2006/relationships"><Relationship Id="rId9" Type="http://schemas.openxmlformats.org/officeDocument/2006/relationships/image" Target="../media/image195.png"/><Relationship Id="rId8" Type="http://schemas.openxmlformats.org/officeDocument/2006/relationships/image" Target="../media/image194.png"/><Relationship Id="rId7" Type="http://schemas.openxmlformats.org/officeDocument/2006/relationships/image" Target="../media/image193.png"/><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 Id="rId3" Type="http://schemas.openxmlformats.org/officeDocument/2006/relationships/image" Target="../media/image189.png"/><Relationship Id="rId2" Type="http://schemas.openxmlformats.org/officeDocument/2006/relationships/image" Target="../media/image188.png"/><Relationship Id="rId10" Type="http://schemas.openxmlformats.org/officeDocument/2006/relationships/slideLayout" Target="../slideLayouts/slideLayout1.xml"/><Relationship Id="rId1" Type="http://schemas.openxmlformats.org/officeDocument/2006/relationships/image" Target="../media/image187.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image" Target="../media/image196.png"/></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204.png"/><Relationship Id="rId6" Type="http://schemas.openxmlformats.org/officeDocument/2006/relationships/image" Target="../media/image203.png"/><Relationship Id="rId5" Type="http://schemas.openxmlformats.org/officeDocument/2006/relationships/image" Target="../media/image202.png"/><Relationship Id="rId4" Type="http://schemas.openxmlformats.org/officeDocument/2006/relationships/image" Target="../media/image201.png"/><Relationship Id="rId3" Type="http://schemas.openxmlformats.org/officeDocument/2006/relationships/image" Target="../media/image200.png"/><Relationship Id="rId2" Type="http://schemas.openxmlformats.org/officeDocument/2006/relationships/image" Target="../media/image39.png"/><Relationship Id="rId1" Type="http://schemas.openxmlformats.org/officeDocument/2006/relationships/image" Target="../media/image199.png"/></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1.png"/><Relationship Id="rId7" Type="http://schemas.openxmlformats.org/officeDocument/2006/relationships/image" Target="../media/image210.png"/><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207.png"/><Relationship Id="rId3" Type="http://schemas.openxmlformats.org/officeDocument/2006/relationships/image" Target="../media/image206.png"/><Relationship Id="rId2" Type="http://schemas.openxmlformats.org/officeDocument/2006/relationships/image" Target="../media/image15.png"/><Relationship Id="rId1" Type="http://schemas.openxmlformats.org/officeDocument/2006/relationships/image" Target="../media/image20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6.png"/><Relationship Id="rId1" Type="http://schemas.openxmlformats.org/officeDocument/2006/relationships/image" Target="../media/image212.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15.png"/><Relationship Id="rId3" Type="http://schemas.openxmlformats.org/officeDocument/2006/relationships/image" Target="../media/image214.png"/><Relationship Id="rId2" Type="http://schemas.openxmlformats.org/officeDocument/2006/relationships/image" Target="../media/image12.png"/><Relationship Id="rId1" Type="http://schemas.openxmlformats.org/officeDocument/2006/relationships/image" Target="../media/image213.png"/></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221.png"/><Relationship Id="rId6" Type="http://schemas.openxmlformats.org/officeDocument/2006/relationships/image" Target="../media/image220.png"/><Relationship Id="rId5" Type="http://schemas.openxmlformats.org/officeDocument/2006/relationships/image" Target="../media/image219.png"/><Relationship Id="rId4" Type="http://schemas.openxmlformats.org/officeDocument/2006/relationships/image" Target="../media/image218.png"/><Relationship Id="rId3" Type="http://schemas.openxmlformats.org/officeDocument/2006/relationships/image" Target="../media/image217.png"/><Relationship Id="rId2" Type="http://schemas.openxmlformats.org/officeDocument/2006/relationships/image" Target="../media/image58.png"/><Relationship Id="rId1" Type="http://schemas.openxmlformats.org/officeDocument/2006/relationships/image" Target="../media/image216.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3.png"/><Relationship Id="rId2" Type="http://schemas.openxmlformats.org/officeDocument/2006/relationships/image" Target="../media/image15.png"/><Relationship Id="rId1" Type="http://schemas.openxmlformats.org/officeDocument/2006/relationships/image" Target="../media/image222.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25.png"/><Relationship Id="rId1" Type="http://schemas.openxmlformats.org/officeDocument/2006/relationships/image" Target="../media/image224.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29.png"/><Relationship Id="rId3" Type="http://schemas.openxmlformats.org/officeDocument/2006/relationships/image" Target="../media/image228.png"/><Relationship Id="rId2" Type="http://schemas.openxmlformats.org/officeDocument/2006/relationships/image" Target="../media/image227.png"/><Relationship Id="rId1" Type="http://schemas.openxmlformats.org/officeDocument/2006/relationships/image" Target="../media/image226.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33.png"/><Relationship Id="rId3" Type="http://schemas.openxmlformats.org/officeDocument/2006/relationships/image" Target="../media/image232.png"/><Relationship Id="rId2" Type="http://schemas.openxmlformats.org/officeDocument/2006/relationships/image" Target="../media/image231.png"/><Relationship Id="rId1" Type="http://schemas.openxmlformats.org/officeDocument/2006/relationships/image" Target="../media/image230.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image" Target="../media/image234.png"/></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40.png"/><Relationship Id="rId4" Type="http://schemas.openxmlformats.org/officeDocument/2006/relationships/image" Target="../media/image239.png"/><Relationship Id="rId3" Type="http://schemas.openxmlformats.org/officeDocument/2006/relationships/image" Target="../media/image238.png"/><Relationship Id="rId2" Type="http://schemas.openxmlformats.org/officeDocument/2006/relationships/image" Target="../media/image12.png"/><Relationship Id="rId1" Type="http://schemas.openxmlformats.org/officeDocument/2006/relationships/image" Target="../media/image237.png"/></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43.png"/><Relationship Id="rId3" Type="http://schemas.openxmlformats.org/officeDocument/2006/relationships/image" Target="../media/image242.png"/><Relationship Id="rId2" Type="http://schemas.openxmlformats.org/officeDocument/2006/relationships/image" Target="../media/image58.png"/><Relationship Id="rId1" Type="http://schemas.openxmlformats.org/officeDocument/2006/relationships/image" Target="../media/image241.png"/></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49.png"/><Relationship Id="rId5" Type="http://schemas.openxmlformats.org/officeDocument/2006/relationships/image" Target="../media/image248.png"/><Relationship Id="rId4" Type="http://schemas.openxmlformats.org/officeDocument/2006/relationships/image" Target="../media/image247.png"/><Relationship Id="rId3" Type="http://schemas.openxmlformats.org/officeDocument/2006/relationships/image" Target="../media/image246.png"/><Relationship Id="rId2" Type="http://schemas.openxmlformats.org/officeDocument/2006/relationships/image" Target="../media/image245.png"/><Relationship Id="rId1" Type="http://schemas.openxmlformats.org/officeDocument/2006/relationships/image" Target="../media/image244.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250.png"/></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54.png"/><Relationship Id="rId4" Type="http://schemas.openxmlformats.org/officeDocument/2006/relationships/image" Target="../media/image253.png"/><Relationship Id="rId3" Type="http://schemas.openxmlformats.org/officeDocument/2006/relationships/image" Target="../media/image252.png"/><Relationship Id="rId2" Type="http://schemas.openxmlformats.org/officeDocument/2006/relationships/image" Target="../media/image39.png"/><Relationship Id="rId1" Type="http://schemas.openxmlformats.org/officeDocument/2006/relationships/image" Target="../media/image251.png"/></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57.png"/><Relationship Id="rId3" Type="http://schemas.openxmlformats.org/officeDocument/2006/relationships/image" Target="../media/image256.png"/><Relationship Id="rId2" Type="http://schemas.openxmlformats.org/officeDocument/2006/relationships/image" Target="../media/image225.png"/><Relationship Id="rId1" Type="http://schemas.openxmlformats.org/officeDocument/2006/relationships/image" Target="../media/image255.png"/></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62.png"/><Relationship Id="rId4" Type="http://schemas.openxmlformats.org/officeDocument/2006/relationships/image" Target="../media/image261.png"/><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image" Target="../media/image258.png"/></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69.png"/><Relationship Id="rId7" Type="http://schemas.openxmlformats.org/officeDocument/2006/relationships/image" Target="../media/image268.png"/><Relationship Id="rId6" Type="http://schemas.openxmlformats.org/officeDocument/2006/relationships/image" Target="../media/image267.png"/><Relationship Id="rId5" Type="http://schemas.openxmlformats.org/officeDocument/2006/relationships/image" Target="../media/image266.png"/><Relationship Id="rId4" Type="http://schemas.openxmlformats.org/officeDocument/2006/relationships/image" Target="../media/image265.png"/><Relationship Id="rId3" Type="http://schemas.openxmlformats.org/officeDocument/2006/relationships/image" Target="../media/image264.png"/><Relationship Id="rId2" Type="http://schemas.openxmlformats.org/officeDocument/2006/relationships/image" Target="../media/image58.png"/><Relationship Id="rId1" Type="http://schemas.openxmlformats.org/officeDocument/2006/relationships/image" Target="../media/image263.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270.png"/></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74.png"/><Relationship Id="rId3" Type="http://schemas.openxmlformats.org/officeDocument/2006/relationships/image" Target="../media/image273.png"/><Relationship Id="rId2" Type="http://schemas.openxmlformats.org/officeDocument/2006/relationships/image" Target="../media/image272.png"/><Relationship Id="rId1" Type="http://schemas.openxmlformats.org/officeDocument/2006/relationships/image" Target="../media/image271.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76.png"/><Relationship Id="rId1" Type="http://schemas.openxmlformats.org/officeDocument/2006/relationships/image" Target="../media/image275.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79.png"/><Relationship Id="rId2" Type="http://schemas.openxmlformats.org/officeDocument/2006/relationships/image" Target="../media/image278.png"/><Relationship Id="rId1" Type="http://schemas.openxmlformats.org/officeDocument/2006/relationships/image" Target="../media/image277.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81.png"/><Relationship Id="rId1" Type="http://schemas.openxmlformats.org/officeDocument/2006/relationships/image" Target="../media/image280.png"/></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84.png"/><Relationship Id="rId3" Type="http://schemas.openxmlformats.org/officeDocument/2006/relationships/image" Target="../media/image283.png"/><Relationship Id="rId2" Type="http://schemas.openxmlformats.org/officeDocument/2006/relationships/image" Target="../media/image272.png"/><Relationship Id="rId1" Type="http://schemas.openxmlformats.org/officeDocument/2006/relationships/image" Target="../media/image282.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86.png"/><Relationship Id="rId2" Type="http://schemas.openxmlformats.org/officeDocument/2006/relationships/image" Target="../media/image146.png"/><Relationship Id="rId1" Type="http://schemas.openxmlformats.org/officeDocument/2006/relationships/image" Target="../media/image285.png"/></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90.png"/><Relationship Id="rId3" Type="http://schemas.openxmlformats.org/officeDocument/2006/relationships/image" Target="../media/image289.png"/><Relationship Id="rId2" Type="http://schemas.openxmlformats.org/officeDocument/2006/relationships/image" Target="../media/image288.png"/><Relationship Id="rId1" Type="http://schemas.openxmlformats.org/officeDocument/2006/relationships/image" Target="../media/image287.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3.png"/><Relationship Id="rId2" Type="http://schemas.openxmlformats.org/officeDocument/2006/relationships/image" Target="../media/image292.png"/><Relationship Id="rId1" Type="http://schemas.openxmlformats.org/officeDocument/2006/relationships/image" Target="../media/image2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1"/>
          <a:stretch>
            <a:fillRect/>
          </a:stretch>
        </p:blipFill>
        <p:spPr>
          <a:xfrm>
            <a:off x="0" y="0"/>
            <a:ext cx="12192000" cy="6858000"/>
          </a:xfrm>
          <a:prstGeom prst="rect">
            <a:avLst/>
          </a:prstGeom>
        </p:spPr>
      </p:pic>
      <p:sp>
        <p:nvSpPr>
          <p:cNvPr id="6" name="textbox 6"/>
          <p:cNvSpPr/>
          <p:nvPr/>
        </p:nvSpPr>
        <p:spPr>
          <a:xfrm>
            <a:off x="238125" y="171450"/>
            <a:ext cx="5600700" cy="752475"/>
          </a:xfrm>
          <a:prstGeom prst="rect">
            <a:avLst/>
          </a:prstGeom>
          <a:noFill/>
          <a:ln w="0" cap="flat">
            <a:noFill/>
            <a:prstDash val="solid"/>
            <a:miter lim="0"/>
          </a:ln>
        </p:spPr>
        <p:txBody>
          <a:bodyPr vert="horz" wrap="none" lIns="0" tIns="0" rIns="0" bIns="0"/>
          <a:lstStyle/>
          <a:p>
            <a:pPr algn="l" rtl="0" eaLnBrk="0"/>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中国航天结构强度与环境工程专业信息网</a:t>
            </a:r>
            <a:endParaRPr sz="2400" dirty="0"/>
          </a:p>
          <a:p>
            <a:pPr marL="1447800" algn="l" rtl="0" eaLnBrk="0">
              <a:spcBef>
                <a:spcPts val="525"/>
              </a:spcBef>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2025年学术交流会</a:t>
            </a:r>
            <a:endParaRPr sz="2400" dirty="0"/>
          </a:p>
        </p:txBody>
      </p:sp>
      <p:sp>
        <p:nvSpPr>
          <p:cNvPr id="8" name="textbox 8"/>
          <p:cNvSpPr/>
          <p:nvPr/>
        </p:nvSpPr>
        <p:spPr>
          <a:xfrm>
            <a:off x="6324600" y="47625"/>
            <a:ext cx="5610225" cy="714375"/>
          </a:xfrm>
          <a:prstGeom prst="rect">
            <a:avLst/>
          </a:prstGeom>
          <a:noFill/>
          <a:ln w="0" cap="flat">
            <a:noFill/>
            <a:prstDash val="solid"/>
            <a:miter lim="0"/>
          </a:ln>
        </p:spPr>
        <p:txBody>
          <a:bodyPr vert="horz" wrap="none" lIns="0" tIns="0" rIns="0" bIns="0"/>
          <a:lstStyle/>
          <a:p>
            <a:pPr algn="l" rtl="0" eaLnBrk="0"/>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第三届复杂装备可靠性工程与科学研讨会</a:t>
            </a:r>
            <a:endParaRPr sz="2400" dirty="0"/>
          </a:p>
          <a:p>
            <a:pPr marL="152400" algn="l" rtl="0" eaLnBrk="0"/>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暨第十二届模型验证与确认专题研讨会</a:t>
            </a:r>
            <a:endParaRPr sz="2400" dirty="0"/>
          </a:p>
        </p:txBody>
      </p:sp>
      <p:sp>
        <p:nvSpPr>
          <p:cNvPr id="10" name="textbox 10"/>
          <p:cNvSpPr/>
          <p:nvPr/>
        </p:nvSpPr>
        <p:spPr>
          <a:xfrm>
            <a:off x="1123950" y="1533525"/>
            <a:ext cx="9886950" cy="476250"/>
          </a:xfrm>
          <a:prstGeom prst="rect">
            <a:avLst/>
          </a:prstGeom>
          <a:noFill/>
          <a:ln w="0" cap="flat">
            <a:noFill/>
            <a:prstDash val="solid"/>
            <a:miter lim="0"/>
          </a:ln>
        </p:spPr>
        <p:txBody>
          <a:bodyPr vert="horz" wrap="none" lIns="0" tIns="0" rIns="0" bIns="0"/>
          <a:lstStyle/>
          <a:p>
            <a:pPr algn="l" rtl="0" eaLnBrk="0"/>
            <a:r>
              <a:rPr sz="3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随机系统统计矩估计的降维积分法：研究进展</a:t>
            </a:r>
            <a:endParaRPr sz="3600" dirty="0"/>
          </a:p>
        </p:txBody>
      </p:sp>
      <p:sp>
        <p:nvSpPr>
          <p:cNvPr id="12" name="textbox 12"/>
          <p:cNvSpPr/>
          <p:nvPr/>
        </p:nvSpPr>
        <p:spPr>
          <a:xfrm>
            <a:off x="1314450" y="2238375"/>
            <a:ext cx="9525000" cy="552450"/>
          </a:xfrm>
          <a:prstGeom prst="rect">
            <a:avLst/>
          </a:prstGeom>
          <a:noFill/>
          <a:ln w="0" cap="flat">
            <a:noFill/>
            <a:prstDash val="solid"/>
            <a:miter lim="0"/>
          </a:ln>
        </p:spPr>
        <p:txBody>
          <a:bodyPr vert="horz" wrap="none" lIns="0" tIns="0" rIns="0" bIns="0"/>
          <a:lstStyle/>
          <a:p>
            <a:pPr algn="l" rtl="0" eaLnBrk="0"/>
            <a:r>
              <a:rPr sz="2000" b="1" kern="0" spc="0" dirty="0">
                <a:solidFill>
                  <a:srgbClr val="0070C0">
                    <a:alpha val="100000"/>
                  </a:srgbClr>
                </a:solidFill>
                <a:latin typeface="Times New Roman" panose="02020603050405020304"/>
                <a:ea typeface="Times New Roman" panose="02020603050405020304"/>
                <a:cs typeface="Times New Roman" panose="02020603050405020304"/>
              </a:rPr>
              <a:t>Dimension-reduction integration methods for moments estimation of stochastic systems:</a:t>
            </a:r>
            <a:endParaRPr sz="2000" dirty="0"/>
          </a:p>
          <a:p>
            <a:pPr marL="3876675" algn="l" rtl="0" eaLnBrk="0"/>
            <a:r>
              <a:rPr sz="2000" b="1" kern="0" spc="0" dirty="0">
                <a:solidFill>
                  <a:srgbClr val="0070C0">
                    <a:alpha val="100000"/>
                  </a:srgbClr>
                </a:solidFill>
                <a:latin typeface="Times New Roman" panose="02020603050405020304"/>
                <a:ea typeface="Times New Roman" panose="02020603050405020304"/>
                <a:cs typeface="Times New Roman" panose="02020603050405020304"/>
              </a:rPr>
              <a:t>State-of-the-Art</a:t>
            </a:r>
            <a:endParaRPr sz="2000" dirty="0"/>
          </a:p>
        </p:txBody>
      </p:sp>
      <mc:AlternateContent xmlns:mc="http://schemas.openxmlformats.org/markup-compatibility/2006">
        <mc:Choice xmlns:a14="http://schemas.microsoft.com/office/drawing/2010/main" Requires="a14">
          <p:sp>
            <p:nvSpPr>
              <p:cNvPr id="14" name="textbox 14"/>
              <p:cNvSpPr/>
              <p:nvPr/>
            </p:nvSpPr>
            <p:spPr>
              <a:xfrm>
                <a:off x="4572000" y="3733800"/>
                <a:ext cx="3105150" cy="409575"/>
              </a:xfrm>
              <a:prstGeom prst="rect">
                <a:avLst/>
              </a:prstGeom>
              <a:noFill/>
              <a:ln w="0" cap="flat">
                <a:noFill/>
                <a:prstDash val="solid"/>
                <a:miter lim="0"/>
              </a:ln>
            </p:spPr>
            <p:txBody>
              <a:bodyPr vert="horz" wrap="none" lIns="0" tIns="0" rIns="0" bIns="0"/>
              <a:lstStyle/>
              <a:p>
                <a:pPr algn="l" rtl="0" eaLnBrk="0"/>
                <a:r>
                  <a:rPr sz="2800" b="1" kern="0" spc="0" dirty="0">
                    <a:solidFill>
                      <a:srgbClr val="0070C0">
                        <a:alpha val="100000"/>
                      </a:srgbClr>
                    </a:solidFill>
                    <a:latin typeface="楷体" panose="02010609060101010101" charset="-122"/>
                    <a:ea typeface="楷体" panose="02010609060101010101" charset="-122"/>
                    <a:cs typeface="楷体" panose="02010609060101010101" charset="-122"/>
                  </a:rPr>
                  <a:t>吕大刚</a:t>
                </a:r>
                <a14:m>
                  <m:oMath xmlns:m="http://schemas.openxmlformats.org/officeDocument/2006/math">
                    <m:r>
                      <a:rPr lang="en-US" sz="2800" baseline="30000" dirty="0">
                        <a:latin typeface="Cambria Math" panose="02040503050406030204"/>
                        <a:ea typeface="Cambria Math" panose="02040503050406030204"/>
                      </a:rPr>
                      <m:t>1</m:t>
                    </m:r>
                    <m:r>
                      <a:rPr lang="en-US" sz="2800" baseline="30000" dirty="0">
                        <a:latin typeface="Cambria Math" panose="02040503050406030204"/>
                        <a:ea typeface="Cambria Math" panose="02040503050406030204"/>
                      </a:rPr>
                      <m:t>,</m:t>
                    </m:r>
                    <m:r>
                      <a:rPr lang="en-US" sz="2800" baseline="30000" dirty="0">
                        <a:latin typeface="Cambria Math" panose="02040503050406030204"/>
                        <a:ea typeface="Cambria Math" panose="02040503050406030204"/>
                      </a:rPr>
                      <m:t>2</m:t>
                    </m:r>
                  </m:oMath>
                </a14:m>
                <a:r>
                  <a:rPr sz="2800" b="1" kern="0" spc="0" dirty="0">
                    <a:solidFill>
                      <a:srgbClr val="0070C0">
                        <a:alpha val="100000"/>
                      </a:srgbClr>
                    </a:solidFill>
                    <a:latin typeface="楷体" panose="02010609060101010101" charset="-122"/>
                    <a:ea typeface="楷体" panose="02010609060101010101" charset="-122"/>
                    <a:cs typeface="楷体" panose="02010609060101010101" charset="-122"/>
                  </a:rPr>
                  <a:t>，王涛</a:t>
                </a:r>
                <a14:m>
                  <m:oMath xmlns:m="http://schemas.openxmlformats.org/officeDocument/2006/math">
                    <m:r>
                      <a:rPr lang="en-US" sz="2800" baseline="30000" dirty="0">
                        <a:latin typeface="Cambria Math" panose="02040503050406030204"/>
                        <a:ea typeface="Cambria Math" panose="02040503050406030204"/>
                      </a:rPr>
                      <m:t>1</m:t>
                    </m:r>
                    <m:r>
                      <a:rPr lang="en-US" sz="2800" baseline="30000" dirty="0">
                        <a:latin typeface="Cambria Math" panose="02040503050406030204"/>
                        <a:ea typeface="Cambria Math" panose="02040503050406030204"/>
                      </a:rPr>
                      <m:t>,</m:t>
                    </m:r>
                    <m:r>
                      <a:rPr lang="en-US" sz="2800" baseline="30000" dirty="0">
                        <a:latin typeface="Cambria Math" panose="02040503050406030204"/>
                        <a:ea typeface="Cambria Math" panose="02040503050406030204"/>
                      </a:rPr>
                      <m:t>2</m:t>
                    </m:r>
                    <m:r>
                      <a:rPr lang="en-US" sz="2800" baseline="30000" dirty="0">
                        <a:latin typeface="Cambria Math" panose="02040503050406030204"/>
                        <a:ea typeface="Cambria Math" panose="02040503050406030204"/>
                      </a:rPr>
                      <m:t>,</m:t>
                    </m:r>
                    <m:r>
                      <a:rPr lang="en-US" sz="2800" baseline="30000" dirty="0">
                        <a:latin typeface="Cambria Math" panose="02040503050406030204"/>
                        <a:ea typeface="Cambria Math" panose="02040503050406030204"/>
                      </a:rPr>
                      <m:t>3</m:t>
                    </m:r>
                  </m:oMath>
                </a14:m>
                <a:endParaRPr sz="2800" baseline="30000" dirty="0"/>
              </a:p>
            </p:txBody>
          </p:sp>
        </mc:Choice>
        <mc:Fallback>
          <p:sp>
            <p:nvSpPr>
              <p:cNvPr id="14" name="textbox 14"/>
              <p:cNvSpPr>
                <a:spLocks noRot="1" noChangeAspect="1" noMove="1" noResize="1" noEditPoints="1" noAdjustHandles="1" noChangeArrowheads="1" noChangeShapeType="1" noTextEdit="1"/>
              </p:cNvSpPr>
              <p:nvPr/>
            </p:nvSpPr>
            <p:spPr>
              <a:xfrm>
                <a:off x="4572000" y="3733800"/>
                <a:ext cx="3105150" cy="409575"/>
              </a:xfrm>
              <a:prstGeom prst="rect">
                <a:avLst/>
              </a:prstGeom>
              <a:blipFill rotWithShape="1">
                <a:blip r:embed="rId2"/>
                <a:stretch>
                  <a:fillRect t="-21705"/>
                </a:stretch>
              </a:blipFill>
              <a:ln w="0" cap="flat">
                <a:noFill/>
                <a:prstDash val="solid"/>
                <a:miter lim="0"/>
              </a:ln>
            </p:spPr>
            <p:txBody>
              <a:bodyPr/>
              <a:lstStyle/>
              <a:p>
                <a:r>
                  <a:rPr lang="zh-CN" altLang="en-US">
                    <a:noFill/>
                  </a:rPr>
                  <a:t> </a:t>
                </a:r>
              </a:p>
            </p:txBody>
          </p:sp>
        </mc:Fallback>
      </mc:AlternateContent>
      <p:sp>
        <p:nvSpPr>
          <p:cNvPr id="20" name="textbox 20"/>
          <p:cNvSpPr/>
          <p:nvPr/>
        </p:nvSpPr>
        <p:spPr>
          <a:xfrm>
            <a:off x="2867025" y="4324350"/>
            <a:ext cx="6334125" cy="333375"/>
          </a:xfrm>
          <a:prstGeom prst="rect">
            <a:avLst/>
          </a:prstGeom>
          <a:noFill/>
          <a:ln w="0" cap="flat">
            <a:noFill/>
            <a:prstDash val="solid"/>
            <a:miter lim="0"/>
          </a:ln>
        </p:spPr>
        <p:txBody>
          <a:bodyPr vert="horz" wrap="none" lIns="0" tIns="0" rIns="0" bIns="0"/>
          <a:lstStyle/>
          <a:p>
            <a:pPr algn="l" rtl="0" eaLnBrk="0"/>
            <a:r>
              <a:rPr sz="2400" b="1" kern="0" spc="0" dirty="0">
                <a:solidFill>
                  <a:srgbClr val="0070BC">
                    <a:alpha val="100000"/>
                  </a:srgbClr>
                </a:solidFill>
                <a:latin typeface="Times New Roman" panose="02020603050405020304" charset="0"/>
                <a:ea typeface="Calibri" panose="020F0502020204030204"/>
                <a:cs typeface="Times New Roman" panose="02020603050405020304" charset="0"/>
              </a:rPr>
              <a:t>1</a:t>
            </a:r>
            <a:r>
              <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哈尔滨工业大学 </a:t>
            </a:r>
            <a:r>
              <a:rPr lang="en-US"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可靠性与韧性工程研究团队</a:t>
            </a:r>
            <a:endPar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22" name="textbox 22"/>
          <p:cNvSpPr/>
          <p:nvPr/>
        </p:nvSpPr>
        <p:spPr>
          <a:xfrm>
            <a:off x="2867025" y="4686300"/>
            <a:ext cx="4219575" cy="342900"/>
          </a:xfrm>
          <a:prstGeom prst="rect">
            <a:avLst/>
          </a:prstGeom>
          <a:noFill/>
          <a:ln w="0" cap="flat">
            <a:noFill/>
            <a:prstDash val="solid"/>
            <a:miter lim="0"/>
          </a:ln>
        </p:spPr>
        <p:txBody>
          <a:bodyPr vert="horz" wrap="none" lIns="0" tIns="0" rIns="0" bIns="0"/>
          <a:lstStyle/>
          <a:p>
            <a:pPr algn="l" rtl="0" eaLnBrk="0">
              <a:buClrTx/>
              <a:buSzTx/>
              <a:buFontTx/>
            </a:pPr>
            <a:r>
              <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2哈尔滨工业大学  重庆研究院</a:t>
            </a:r>
            <a:endPar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24" name="textbox 24"/>
          <p:cNvSpPr/>
          <p:nvPr/>
        </p:nvSpPr>
        <p:spPr>
          <a:xfrm>
            <a:off x="2867025" y="5057775"/>
            <a:ext cx="2143125" cy="342900"/>
          </a:xfrm>
          <a:prstGeom prst="rect">
            <a:avLst/>
          </a:prstGeom>
          <a:noFill/>
          <a:ln w="0" cap="flat">
            <a:noFill/>
            <a:prstDash val="solid"/>
            <a:miter lim="0"/>
          </a:ln>
        </p:spPr>
        <p:txBody>
          <a:bodyPr vert="horz" wrap="none" lIns="0" tIns="0" rIns="0" bIns="0"/>
          <a:lstStyle/>
          <a:p>
            <a:pPr algn="l" rtl="0" eaLnBrk="0"/>
            <a:r>
              <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3香港理工大学</a:t>
            </a:r>
            <a:endPar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26" name="textbox 26"/>
          <p:cNvSpPr/>
          <p:nvPr/>
        </p:nvSpPr>
        <p:spPr>
          <a:xfrm>
            <a:off x="5467350" y="5057775"/>
            <a:ext cx="2466975" cy="333375"/>
          </a:xfrm>
          <a:prstGeom prst="rect">
            <a:avLst/>
          </a:prstGeom>
          <a:noFill/>
          <a:ln w="0" cap="flat">
            <a:noFill/>
            <a:prstDash val="solid"/>
            <a:miter lim="0"/>
          </a:ln>
        </p:spPr>
        <p:txBody>
          <a:bodyPr vert="horz" wrap="none" lIns="0" tIns="0" rIns="0" bIns="0"/>
          <a:lstStyle/>
          <a:p>
            <a:pPr algn="l" rtl="0" eaLnBrk="0"/>
            <a:r>
              <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土木与环境工程系</a:t>
            </a:r>
            <a:endParaRPr sz="2400" b="1"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endParaRPr>
          </a:p>
        </p:txBody>
      </p:sp>
      <p:pic>
        <p:nvPicPr>
          <p:cNvPr id="30" name="picture 30"/>
          <p:cNvPicPr>
            <a:picLocks noChangeAspect="1"/>
          </p:cNvPicPr>
          <p:nvPr/>
        </p:nvPicPr>
        <p:blipFill>
          <a:blip r:embed="rId3"/>
          <a:stretch>
            <a:fillRect/>
          </a:stretch>
        </p:blipFill>
        <p:spPr>
          <a:xfrm>
            <a:off x="9829800" y="4305300"/>
            <a:ext cx="1133475" cy="1171575"/>
          </a:xfrm>
          <a:prstGeom prst="rect">
            <a:avLst/>
          </a:prstGeom>
        </p:spPr>
      </p:pic>
      <p:sp>
        <p:nvSpPr>
          <p:cNvPr id="32" name="textbox 32"/>
          <p:cNvSpPr/>
          <p:nvPr/>
        </p:nvSpPr>
        <p:spPr>
          <a:xfrm>
            <a:off x="5276850" y="5638800"/>
            <a:ext cx="1600200"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Times New Roman" panose="02020603050405020304"/>
                <a:ea typeface="Times New Roman" panose="02020603050405020304"/>
                <a:cs typeface="Times New Roman" panose="02020603050405020304"/>
              </a:rPr>
              <a:t>2025</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年</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9</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月</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20</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日</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34" name="textbox 34"/>
          <p:cNvSpPr/>
          <p:nvPr/>
        </p:nvSpPr>
        <p:spPr>
          <a:xfrm>
            <a:off x="5495925" y="6038850"/>
            <a:ext cx="1209675"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中国•西安</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 name="图片 1" descr="17bd1f1dc12a32305fb4b44cecef1ee5"/>
          <p:cNvPicPr>
            <a:picLocks noChangeAspect="1"/>
          </p:cNvPicPr>
          <p:nvPr/>
        </p:nvPicPr>
        <p:blipFill>
          <a:blip r:embed="rId4"/>
          <a:stretch>
            <a:fillRect/>
          </a:stretch>
        </p:blipFill>
        <p:spPr>
          <a:xfrm>
            <a:off x="638810" y="4267200"/>
            <a:ext cx="1396365" cy="12134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8"/>
          <p:cNvPicPr>
            <a:picLocks noChangeAspect="1"/>
          </p:cNvPicPr>
          <p:nvPr/>
        </p:nvPicPr>
        <p:blipFill>
          <a:blip r:embed="rId1"/>
          <a:stretch>
            <a:fillRect/>
          </a:stretch>
        </p:blipFill>
        <p:spPr>
          <a:xfrm>
            <a:off x="0" y="0"/>
            <a:ext cx="12192000" cy="6858000"/>
          </a:xfrm>
          <a:prstGeom prst="rect">
            <a:avLst/>
          </a:prstGeom>
        </p:spPr>
      </p:pic>
      <p:pic>
        <p:nvPicPr>
          <p:cNvPr id="42" name="picture 42"/>
          <p:cNvPicPr>
            <a:picLocks noChangeAspect="1"/>
          </p:cNvPicPr>
          <p:nvPr/>
        </p:nvPicPr>
        <p:blipFill>
          <a:blip r:embed="rId2"/>
          <a:stretch>
            <a:fillRect/>
          </a:stretch>
        </p:blipFill>
        <p:spPr>
          <a:xfrm>
            <a:off x="1228725" y="752475"/>
            <a:ext cx="1285875" cy="1181100"/>
          </a:xfrm>
          <a:prstGeom prst="rect">
            <a:avLst/>
          </a:prstGeom>
        </p:spPr>
      </p:pic>
      <p:sp>
        <p:nvSpPr>
          <p:cNvPr id="44" name="textbox 44"/>
          <p:cNvSpPr/>
          <p:nvPr/>
        </p:nvSpPr>
        <p:spPr>
          <a:xfrm>
            <a:off x="4352925" y="2609850"/>
            <a:ext cx="7134225" cy="704850"/>
          </a:xfrm>
          <a:prstGeom prst="rect">
            <a:avLst/>
          </a:prstGeom>
          <a:noFill/>
          <a:ln w="0" cap="flat">
            <a:noFill/>
            <a:prstDash val="solid"/>
            <a:miter lim="0"/>
          </a:ln>
        </p:spPr>
        <p:txBody>
          <a:bodyPr vert="horz" wrap="none" lIns="0" tIns="0" rIns="0" bIns="0"/>
          <a:lstStyle/>
          <a:p>
            <a:pPr algn="l" rtl="0" eaLnBrk="0"/>
            <a:r>
              <a:rPr sz="4800" b="1" kern="0" spc="0" dirty="0">
                <a:solidFill>
                  <a:srgbClr val="182D59">
                    <a:alpha val="100000"/>
                  </a:srgbClr>
                </a:solidFill>
                <a:latin typeface="微软雅黑" panose="020B0503020204020204" charset="-122"/>
                <a:ea typeface="微软雅黑" panose="020B0503020204020204" charset="-122"/>
                <a:cs typeface="微软雅黑" panose="020B0503020204020204" charset="-122"/>
              </a:rPr>
              <a:t>从方差分析</a:t>
            </a:r>
            <a:r>
              <a:rPr sz="4800" b="1" kern="0" spc="0" dirty="0">
                <a:solidFill>
                  <a:srgbClr val="182D59">
                    <a:alpha val="100000"/>
                  </a:srgbClr>
                </a:solidFill>
                <a:latin typeface="Arial" panose="020B0604020202020204"/>
                <a:ea typeface="Arial" panose="020B0604020202020204"/>
                <a:cs typeface="Arial" panose="020B0604020202020204"/>
              </a:rPr>
              <a:t>(ANOVA)</a:t>
            </a:r>
            <a:r>
              <a:rPr sz="4800" b="1" kern="0" spc="0" dirty="0">
                <a:solidFill>
                  <a:srgbClr val="182D59">
                    <a:alpha val="100000"/>
                  </a:srgbClr>
                </a:solidFill>
                <a:latin typeface="微软雅黑" panose="020B0503020204020204" charset="-122"/>
                <a:ea typeface="微软雅黑" panose="020B0503020204020204" charset="-122"/>
                <a:cs typeface="微软雅黑" panose="020B0503020204020204" charset="-122"/>
              </a:rPr>
              <a:t>谈起</a:t>
            </a:r>
            <a:endParaRPr sz="4800" dirty="0"/>
          </a:p>
        </p:txBody>
      </p:sp>
      <p:sp>
        <p:nvSpPr>
          <p:cNvPr id="46" name="textbox 46"/>
          <p:cNvSpPr/>
          <p:nvPr/>
        </p:nvSpPr>
        <p:spPr>
          <a:xfrm>
            <a:off x="1657350" y="3086100"/>
            <a:ext cx="428625" cy="581025"/>
          </a:xfrm>
          <a:prstGeom prst="rect">
            <a:avLst/>
          </a:prstGeom>
          <a:noFill/>
          <a:ln w="0" cap="flat">
            <a:noFill/>
            <a:prstDash val="solid"/>
            <a:miter lim="0"/>
          </a:ln>
        </p:spPr>
        <p:txBody>
          <a:bodyPr vert="horz" wrap="none" lIns="0" tIns="0" rIns="0" bIns="0"/>
          <a:lstStyle/>
          <a:p>
            <a:pPr algn="l" rtl="0" eaLnBrk="0"/>
            <a:r>
              <a:rPr sz="5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0</a:t>
            </a:r>
            <a:endParaRPr sz="5400" dirty="0"/>
          </a:p>
        </p:txBody>
      </p:sp>
      <p:sp>
        <p:nvSpPr>
          <p:cNvPr id="48" name="textbox 48"/>
          <p:cNvSpPr/>
          <p:nvPr/>
        </p:nvSpPr>
        <p:spPr>
          <a:xfrm>
            <a:off x="6486525" y="3514725"/>
            <a:ext cx="3086100" cy="266700"/>
          </a:xfrm>
          <a:prstGeom prst="rect">
            <a:avLst/>
          </a:prstGeom>
          <a:noFill/>
          <a:ln w="0" cap="flat">
            <a:noFill/>
            <a:prstDash val="solid"/>
            <a:miter lim="0"/>
          </a:ln>
        </p:spPr>
        <p:txBody>
          <a:bodyPr vert="horz" wrap="none" lIns="0" tIns="0" rIns="0" bIns="0"/>
          <a:lstStyle/>
          <a:p>
            <a:pPr algn="l" rtl="0" eaLnBrk="0"/>
            <a:r>
              <a:rPr sz="2000" kern="0" spc="0" dirty="0">
                <a:solidFill>
                  <a:srgbClr val="1A2E3D">
                    <a:alpha val="100000"/>
                  </a:srgbClr>
                </a:solidFill>
                <a:latin typeface="Arial" panose="020B0604020202020204"/>
                <a:ea typeface="Arial" panose="020B0604020202020204"/>
                <a:cs typeface="Arial" panose="020B0604020202020204"/>
              </a:rPr>
              <a:t>Let's start from ANOVA......</a:t>
            </a:r>
            <a:endParaRPr sz="2000" dirty="0"/>
          </a:p>
        </p:txBody>
      </p:sp>
      <p:sp>
        <p:nvSpPr>
          <p:cNvPr id="50" name="textbox 50"/>
          <p:cNvSpPr/>
          <p:nvPr/>
        </p:nvSpPr>
        <p:spPr>
          <a:xfrm>
            <a:off x="742950" y="4000500"/>
            <a:ext cx="2524125" cy="304800"/>
          </a:xfrm>
          <a:prstGeom prst="rect">
            <a:avLst/>
          </a:prstGeom>
          <a:noFill/>
          <a:ln w="0" cap="flat">
            <a:noFill/>
            <a:prstDash val="solid"/>
            <a:miter lim="0"/>
          </a:ln>
        </p:spPr>
        <p:txBody>
          <a:bodyPr vert="horz" wrap="none" lIns="0" tIns="0" rIns="0" bIns="0"/>
          <a:lstStyle/>
          <a:p>
            <a:pPr algn="l" rtl="0" eaLnBrk="0"/>
            <a:r>
              <a:rPr sz="2800" kern="0" spc="0" dirty="0">
                <a:solidFill>
                  <a:srgbClr val="FFFFFF">
                    <a:alpha val="100000"/>
                  </a:srgbClr>
                </a:solidFill>
                <a:latin typeface="Arial" panose="020B0604020202020204"/>
                <a:ea typeface="Arial" panose="020B0604020202020204"/>
                <a:cs typeface="Arial" panose="020B0604020202020204"/>
              </a:rPr>
              <a:t>INTRODUCTION</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4"/>
          <p:cNvPicPr>
            <a:picLocks noChangeAspect="1"/>
          </p:cNvPicPr>
          <p:nvPr/>
        </p:nvPicPr>
        <p:blipFill>
          <a:blip r:embed="rId1"/>
          <a:stretch>
            <a:fillRect/>
          </a:stretch>
        </p:blipFill>
        <p:spPr>
          <a:xfrm>
            <a:off x="0" y="0"/>
            <a:ext cx="12192000" cy="6858000"/>
          </a:xfrm>
          <a:prstGeom prst="rect">
            <a:avLst/>
          </a:prstGeom>
        </p:spPr>
      </p:pic>
      <p:sp>
        <p:nvSpPr>
          <p:cNvPr id="56" name="textbox 56"/>
          <p:cNvSpPr/>
          <p:nvPr/>
        </p:nvSpPr>
        <p:spPr>
          <a:xfrm>
            <a:off x="161925" y="0"/>
            <a:ext cx="828675" cy="152400"/>
          </a:xfrm>
          <a:prstGeom prst="rect">
            <a:avLst/>
          </a:prstGeom>
          <a:noFill/>
          <a:ln w="0" cap="flat">
            <a:noFill/>
            <a:prstDash val="solid"/>
            <a:miter lim="0"/>
          </a:ln>
        </p:spPr>
        <p:txBody>
          <a:bodyPr vert="horz" wrap="none" lIns="0" tIns="0" rIns="0" bIns="0"/>
          <a:lstStyle/>
          <a:p>
            <a:pPr algn="l" rtl="0" eaLnBrk="0"/>
            <a:r>
              <a:rPr sz="11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58" name="textbox 58"/>
          <p:cNvSpPr/>
          <p:nvPr/>
        </p:nvSpPr>
        <p:spPr>
          <a:xfrm>
            <a:off x="1276350" y="0"/>
            <a:ext cx="2647950" cy="152400"/>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华文楷体" panose="02010600040101010101" charset="-122"/>
                <a:ea typeface="华文楷体" panose="02010600040101010101" charset="-122"/>
                <a:cs typeface="华文楷体" panose="02010600040101010101" charset="-122"/>
              </a:rPr>
              <a:t>随机系统统计距估计的降维积分法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华文楷体" panose="02010600040101010101" charset="-122"/>
                <a:ea typeface="华文楷体" panose="02010600040101010101" charset="-122"/>
                <a:cs typeface="华文楷体" panose="02010600040101010101" charset="-122"/>
              </a:rPr>
              <a:t>研究进展</a:t>
            </a:r>
            <a:endParaRPr sz="1000" dirty="0"/>
          </a:p>
        </p:txBody>
      </p:sp>
      <p:sp>
        <p:nvSpPr>
          <p:cNvPr id="60" name="textbox 60"/>
          <p:cNvSpPr/>
          <p:nvPr/>
        </p:nvSpPr>
        <p:spPr>
          <a:xfrm>
            <a:off x="7296150" y="0"/>
            <a:ext cx="4686300" cy="152400"/>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64" name="picture 64"/>
          <p:cNvPicPr>
            <a:picLocks noChangeAspect="1"/>
          </p:cNvPicPr>
          <p:nvPr/>
        </p:nvPicPr>
        <p:blipFill>
          <a:blip r:embed="rId2"/>
          <a:stretch>
            <a:fillRect/>
          </a:stretch>
        </p:blipFill>
        <p:spPr>
          <a:xfrm>
            <a:off x="295275" y="247650"/>
            <a:ext cx="733425" cy="657225"/>
          </a:xfrm>
          <a:prstGeom prst="rect">
            <a:avLst/>
          </a:prstGeom>
        </p:spPr>
      </p:pic>
      <p:sp>
        <p:nvSpPr>
          <p:cNvPr id="66" name="textbox 66"/>
          <p:cNvSpPr/>
          <p:nvPr/>
        </p:nvSpPr>
        <p:spPr>
          <a:xfrm>
            <a:off x="1447800" y="323850"/>
            <a:ext cx="689610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方差分析</a:t>
            </a:r>
            <a:r>
              <a:rPr sz="2800" b="1" kern="0" spc="0" dirty="0">
                <a:solidFill>
                  <a:srgbClr val="FFFFFF">
                    <a:alpha val="100000"/>
                  </a:srgbClr>
                </a:solidFill>
                <a:latin typeface="Arial" panose="020B0604020202020204"/>
                <a:ea typeface="Arial" panose="020B0604020202020204"/>
                <a:cs typeface="Arial" panose="020B0604020202020204"/>
              </a:rPr>
              <a:t>(ANOVA)</a:t>
            </a:r>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的核心思想和数学根源</a:t>
            </a:r>
            <a:endParaRPr sz="2800" dirty="0"/>
          </a:p>
        </p:txBody>
      </p:sp>
      <p:sp>
        <p:nvSpPr>
          <p:cNvPr id="68" name="textbox 68"/>
          <p:cNvSpPr/>
          <p:nvPr/>
        </p:nvSpPr>
        <p:spPr>
          <a:xfrm>
            <a:off x="1447800" y="752475"/>
            <a:ext cx="241935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Analysis of Variance (ANOVA)</a:t>
            </a:r>
            <a:endParaRPr sz="1400" dirty="0"/>
          </a:p>
        </p:txBody>
      </p:sp>
      <p:sp>
        <p:nvSpPr>
          <p:cNvPr id="70" name="textbox 70"/>
          <p:cNvSpPr/>
          <p:nvPr/>
        </p:nvSpPr>
        <p:spPr>
          <a:xfrm>
            <a:off x="533400" y="1219200"/>
            <a:ext cx="3352800" cy="304800"/>
          </a:xfrm>
          <a:prstGeom prst="rect">
            <a:avLst/>
          </a:prstGeom>
          <a:noFill/>
          <a:ln w="0" cap="flat">
            <a:noFill/>
            <a:prstDash val="solid"/>
            <a:miter lim="0"/>
          </a:ln>
        </p:spPr>
        <p:txBody>
          <a:bodyPr vert="horz" wrap="none" lIns="0" tIns="0" rIns="0" bIns="0"/>
          <a:lstStyle/>
          <a:p>
            <a:pPr marL="352425" indent="-314325" algn="l" rtl="0" eaLnBrk="0">
              <a:buChar char="•"/>
            </a:pPr>
            <a:r>
              <a:rPr sz="2000" b="1" kern="0" spc="0" dirty="0">
                <a:solidFill>
                  <a:srgbClr val="00418A">
                    <a:alpha val="100000"/>
                  </a:srgbClr>
                </a:solidFill>
                <a:latin typeface="微软雅黑" panose="020B0503020204020204" charset="-122"/>
                <a:ea typeface="微软雅黑" panose="020B0503020204020204" charset="-122"/>
                <a:cs typeface="微软雅黑" panose="020B0503020204020204" charset="-122"/>
              </a:rPr>
              <a:t>核心思想(Fisher, 1920s):</a:t>
            </a:r>
            <a:endParaRPr sz="2000" dirty="0"/>
          </a:p>
        </p:txBody>
      </p:sp>
      <p:pic>
        <p:nvPicPr>
          <p:cNvPr id="74" name="picture 74"/>
          <p:cNvPicPr>
            <a:picLocks noChangeAspect="1"/>
          </p:cNvPicPr>
          <p:nvPr/>
        </p:nvPicPr>
        <p:blipFill>
          <a:blip r:embed="rId3"/>
          <a:stretch>
            <a:fillRect/>
          </a:stretch>
        </p:blipFill>
        <p:spPr>
          <a:xfrm>
            <a:off x="9944100" y="1247775"/>
            <a:ext cx="2066925" cy="2486025"/>
          </a:xfrm>
          <a:prstGeom prst="rect">
            <a:avLst/>
          </a:prstGeom>
        </p:spPr>
      </p:pic>
      <p:sp>
        <p:nvSpPr>
          <p:cNvPr id="76" name="textbox 76"/>
          <p:cNvSpPr/>
          <p:nvPr/>
        </p:nvSpPr>
        <p:spPr>
          <a:xfrm>
            <a:off x="1952625" y="1743075"/>
            <a:ext cx="6715125" cy="361950"/>
          </a:xfrm>
          <a:prstGeom prst="rect">
            <a:avLst/>
          </a:prstGeom>
          <a:noFill/>
          <a:ln w="0" cap="flat">
            <a:noFill/>
            <a:prstDash val="solid"/>
            <a:miter lim="0"/>
          </a:ln>
        </p:spPr>
        <p:txBody>
          <a:bodyPr vert="horz" wrap="none" lIns="0" tIns="0" rIns="0" bIns="0"/>
          <a:lstStyle/>
          <a:p>
            <a:pPr algn="l" rtl="0" eaLnBrk="0"/>
            <a:r>
              <a:rPr sz="24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总变异(SST) = 组内变异(SSW) + 组间变异(SSB)</a:t>
            </a:r>
            <a:endParaRPr sz="2400" dirty="0"/>
          </a:p>
        </p:txBody>
      </p:sp>
      <p:graphicFrame>
        <p:nvGraphicFramePr>
          <p:cNvPr id="78" name="table 78"/>
          <p:cNvGraphicFramePr>
            <a:graphicFrameLocks noGrp="1"/>
          </p:cNvGraphicFramePr>
          <p:nvPr/>
        </p:nvGraphicFramePr>
        <p:xfrm>
          <a:off x="1000125" y="2247900"/>
          <a:ext cx="8572500" cy="1876425"/>
        </p:xfrm>
        <a:graphic>
          <a:graphicData uri="http://schemas.openxmlformats.org/drawingml/2006/table">
            <a:tbl>
              <a:tblPr/>
              <a:tblGrid>
                <a:gridCol w="1971675"/>
                <a:gridCol w="2571750"/>
                <a:gridCol w="1371600"/>
                <a:gridCol w="1714500"/>
                <a:gridCol w="942975"/>
              </a:tblGrid>
              <a:tr h="476250">
                <a:tc>
                  <a:txBody>
                    <a:bodyPr/>
                    <a:lstStyle/>
                    <a:p>
                      <a:pPr algn="ctr" rtl="0" eaLnBrk="0"/>
                      <a:r>
                        <a:rPr sz="1400" b="1" kern="0" spc="0" dirty="0">
                          <a:solidFill>
                            <a:srgbClr val="262626">
                              <a:alpha val="100000"/>
                            </a:srgbClr>
                          </a:solidFill>
                          <a:latin typeface="Times New Roman" panose="02020603050405020304"/>
                          <a:ea typeface="Times New Roman" panose="02020603050405020304"/>
                          <a:cs typeface="Times New Roman" panose="02020603050405020304"/>
                        </a:rPr>
                        <a:t>Source of Variation</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solidFill>
                      <a:srgbClr val="F2F2F2"/>
                    </a:solidFill>
                  </a:tcPr>
                </a:tc>
                <a:tc>
                  <a:txBody>
                    <a:bodyPr/>
                    <a:lstStyle/>
                    <a:p>
                      <a:pPr algn="ctr" rtl="0" eaLnBrk="0"/>
                      <a:r>
                        <a:rPr sz="1100" b="1" kern="0" spc="0" dirty="0">
                          <a:solidFill>
                            <a:srgbClr val="262626">
                              <a:alpha val="100000"/>
                            </a:srgbClr>
                          </a:solidFill>
                          <a:latin typeface="Times New Roman" panose="02020603050405020304"/>
                          <a:ea typeface="Times New Roman" panose="02020603050405020304"/>
                          <a:cs typeface="Times New Roman" panose="02020603050405020304"/>
                        </a:rPr>
                        <a:t>Sum of Squares (SS)</a:t>
                      </a:r>
                      <a:endParaRPr sz="11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solidFill>
                      <a:srgbClr val="F2F2F2"/>
                    </a:solidFill>
                  </a:tcPr>
                </a:tc>
                <a:tc>
                  <a:txBody>
                    <a:bodyPr/>
                    <a:lstStyle/>
                    <a:p>
                      <a:pPr algn="ctr" rtl="0" eaLnBrk="0"/>
                      <a:r>
                        <a:rPr sz="1400" b="1" kern="0" spc="0" dirty="0">
                          <a:solidFill>
                            <a:srgbClr val="262626">
                              <a:alpha val="100000"/>
                            </a:srgbClr>
                          </a:solidFill>
                          <a:latin typeface="Times New Roman" panose="02020603050405020304"/>
                          <a:ea typeface="Times New Roman" panose="02020603050405020304"/>
                          <a:cs typeface="Times New Roman" panose="02020603050405020304"/>
                        </a:rPr>
                        <a:t>Degrees of</a:t>
                      </a:r>
                      <a:endParaRPr sz="1400" dirty="0"/>
                    </a:p>
                    <a:p>
                      <a:pPr algn="ctr" rtl="0" eaLnBrk="0"/>
                      <a:r>
                        <a:rPr sz="1400" b="1" kern="0" spc="0" dirty="0">
                          <a:solidFill>
                            <a:srgbClr val="262626">
                              <a:alpha val="100000"/>
                            </a:srgbClr>
                          </a:solidFill>
                          <a:latin typeface="Times New Roman" panose="02020603050405020304"/>
                          <a:ea typeface="Times New Roman" panose="02020603050405020304"/>
                          <a:cs typeface="Times New Roman" panose="02020603050405020304"/>
                        </a:rPr>
                        <a:t> Freedom (df)</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solidFill>
                      <a:srgbClr val="F2F2F2"/>
                    </a:solidFill>
                  </a:tcPr>
                </a:tc>
                <a:tc>
                  <a:txBody>
                    <a:bodyPr/>
                    <a:lstStyle/>
                    <a:p>
                      <a:pPr algn="ctr"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Mean Square (MS)</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solidFill>
                      <a:srgbClr val="F2F2F2"/>
                    </a:solidFill>
                  </a:tcPr>
                </a:tc>
                <a:tc>
                  <a:txBody>
                    <a:bodyPr/>
                    <a:lstStyle/>
                    <a:p>
                      <a:pPr algn="ctr"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F-ratio</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solidFill>
                      <a:srgbClr val="F2F2F2"/>
                    </a:solidFill>
                  </a:tcPr>
                </a:tc>
              </a:tr>
              <a:tr h="466725">
                <a:tc>
                  <a:txBody>
                    <a:bodyPr/>
                    <a:lstStyle/>
                    <a:p>
                      <a:pPr algn="ctr" rtl="0" eaLnBrk="0"/>
                      <a:r>
                        <a:rPr sz="1100" kern="0" spc="0" dirty="0">
                          <a:solidFill>
                            <a:srgbClr val="262626">
                              <a:alpha val="100000"/>
                            </a:srgbClr>
                          </a:solidFill>
                          <a:latin typeface="Times New Roman" panose="02020603050405020304"/>
                          <a:ea typeface="Times New Roman" panose="02020603050405020304"/>
                          <a:cs typeface="Times New Roman" panose="02020603050405020304"/>
                        </a:rPr>
                        <a:t>Between Groups</a:t>
                      </a:r>
                      <a:endParaRPr sz="11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300" i="1" kern="0" spc="0" dirty="0">
                          <a:solidFill>
                            <a:srgbClr val="262626">
                              <a:alpha val="100000"/>
                            </a:srgbClr>
                          </a:solidFill>
                          <a:latin typeface="Georgia" panose="02040502050405020303"/>
                          <a:ea typeface="Georgia" panose="02040502050405020303"/>
                          <a:cs typeface="Georgia" panose="02040502050405020303"/>
                        </a:rPr>
                        <a:t>SSB=∑i</a:t>
                      </a:r>
                      <a:r>
                        <a:rPr sz="1300" kern="0" spc="0" dirty="0">
                          <a:solidFill>
                            <a:srgbClr val="262626">
                              <a:alpha val="100000"/>
                            </a:srgbClr>
                          </a:solidFill>
                          <a:latin typeface="Georgia" panose="02040502050405020303"/>
                          <a:ea typeface="Georgia" panose="02040502050405020303"/>
                          <a:cs typeface="Georgia" panose="02040502050405020303"/>
                        </a:rPr>
                        <a:t>ni(ŷi-ȳ)2</a:t>
                      </a:r>
                      <a:endParaRPr sz="13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400" i="1" kern="0" spc="0" dirty="0">
                          <a:solidFill>
                            <a:srgbClr val="262626">
                              <a:alpha val="100000"/>
                            </a:srgbClr>
                          </a:solidFill>
                          <a:latin typeface="Times New Roman" panose="02020603050405020304"/>
                          <a:ea typeface="Times New Roman" panose="02020603050405020304"/>
                          <a:cs typeface="Times New Roman" panose="02020603050405020304"/>
                        </a:rPr>
                        <a:t>k-1</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100" i="1" kern="0" spc="0" dirty="0">
                          <a:solidFill>
                            <a:srgbClr val="000000">
                              <a:alpha val="100000"/>
                            </a:srgbClr>
                          </a:solidFill>
                          <a:latin typeface="Times New Roman" panose="02020603050405020304"/>
                          <a:ea typeface="Times New Roman" panose="02020603050405020304"/>
                          <a:cs typeface="Times New Roman" panose="02020603050405020304"/>
                        </a:rPr>
                        <a:t>MSB=</a:t>
                      </a:r>
                      <a:r>
                        <a:rPr sz="1100" i="1" u="sng" kern="0" spc="0" dirty="0">
                          <a:solidFill>
                            <a:srgbClr val="000000">
                              <a:alpha val="100000"/>
                            </a:srgbClr>
                          </a:solidFill>
                          <a:latin typeface="Times New Roman" panose="02020603050405020304"/>
                          <a:ea typeface="Times New Roman" panose="02020603050405020304"/>
                          <a:cs typeface="Times New Roman" panose="02020603050405020304"/>
                        </a:rPr>
                        <a:t>SSB</a:t>
                      </a:r>
                      <a:endParaRPr sz="1100" dirty="0"/>
                    </a:p>
                    <a:p>
                      <a:pPr algn="ctr" rtl="0" eaLnBrk="0"/>
                      <a:r>
                        <a:rPr sz="1100" i="1" u="sng" kern="0" spc="0" dirty="0">
                          <a:solidFill>
                            <a:srgbClr val="000000">
                              <a:alpha val="100000"/>
                            </a:srgbClr>
                          </a:solidFill>
                          <a:latin typeface="Times New Roman" panose="02020603050405020304"/>
                          <a:ea typeface="Times New Roman" panose="02020603050405020304"/>
                          <a:cs typeface="Times New Roman" panose="02020603050405020304"/>
                        </a:rPr>
                        <a:t>/k-1</a:t>
                      </a:r>
                      <a:endParaRPr sz="11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100" i="1" kern="0" spc="0" dirty="0">
                          <a:solidFill>
                            <a:srgbClr val="000000">
                              <a:alpha val="100000"/>
                            </a:srgbClr>
                          </a:solidFill>
                          <a:latin typeface="Times New Roman" panose="02020603050405020304"/>
                          <a:ea typeface="Times New Roman" panose="02020603050405020304"/>
                          <a:cs typeface="Times New Roman" panose="02020603050405020304"/>
                        </a:rPr>
                        <a:t>F</a:t>
                      </a:r>
                      <a:r>
                        <a:rPr sz="1100" i="1" kern="0" spc="0" dirty="0">
                          <a:solidFill>
                            <a:srgbClr val="000000">
                              <a:alpha val="100000"/>
                            </a:srgbClr>
                          </a:solidFill>
                          <a:latin typeface="Times New Roman" panose="02020603050405020304"/>
                          <a:ea typeface="Times New Roman" panose="02020603050405020304"/>
                          <a:cs typeface="Times New Roman" panose="02020603050405020304"/>
                        </a:rPr>
                        <a:t>=MSB</a:t>
                      </a:r>
                      <a:endParaRPr sz="1100" dirty="0"/>
                    </a:p>
                    <a:p>
                      <a:pPr algn="ctr" rtl="0" eaLnBrk="0"/>
                      <a:r>
                        <a:rPr sz="1100" i="1" kern="0" spc="0" dirty="0">
                          <a:solidFill>
                            <a:srgbClr val="000000">
                              <a:alpha val="100000"/>
                            </a:srgbClr>
                          </a:solidFill>
                          <a:latin typeface="Times New Roman" panose="02020603050405020304"/>
                          <a:ea typeface="Times New Roman" panose="02020603050405020304"/>
                          <a:cs typeface="Times New Roman" panose="02020603050405020304"/>
                        </a:rPr>
                        <a:t>/MSW</a:t>
                      </a:r>
                      <a:endParaRPr sz="11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r>
              <a:tr h="457200">
                <a:tc>
                  <a:txBody>
                    <a:bodyPr/>
                    <a:lstStyle/>
                    <a:p>
                      <a:pPr algn="ctr" rtl="0" eaLnBrk="0"/>
                      <a:r>
                        <a:rPr sz="1100" kern="0" spc="0" dirty="0">
                          <a:solidFill>
                            <a:srgbClr val="262626">
                              <a:alpha val="100000"/>
                            </a:srgbClr>
                          </a:solidFill>
                          <a:latin typeface="Times New Roman" panose="02020603050405020304"/>
                          <a:ea typeface="Times New Roman" panose="02020603050405020304"/>
                          <a:cs typeface="Times New Roman" panose="02020603050405020304"/>
                        </a:rPr>
                        <a:t>Within Groups</a:t>
                      </a:r>
                      <a:endParaRPr sz="11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300" i="1" kern="0" spc="0" dirty="0">
                          <a:solidFill>
                            <a:srgbClr val="262626">
                              <a:alpha val="100000"/>
                            </a:srgbClr>
                          </a:solidFill>
                          <a:latin typeface="Georgia" panose="02040502050405020303"/>
                          <a:ea typeface="Georgia" panose="02040502050405020303"/>
                          <a:cs typeface="Georgia" panose="02040502050405020303"/>
                        </a:rPr>
                        <a:t>SSW=∑i∑j</a:t>
                      </a:r>
                      <a:r>
                        <a:rPr sz="1300" kern="0" spc="0" dirty="0">
                          <a:solidFill>
                            <a:srgbClr val="262626">
                              <a:alpha val="100000"/>
                            </a:srgbClr>
                          </a:solidFill>
                          <a:latin typeface="Georgia" panose="02040502050405020303"/>
                          <a:ea typeface="Georgia" panose="02040502050405020303"/>
                          <a:cs typeface="Georgia" panose="02040502050405020303"/>
                        </a:rPr>
                        <a:t>(yij-ȳi)2</a:t>
                      </a:r>
                      <a:endParaRPr sz="13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400" i="1" kern="0" spc="0" dirty="0">
                          <a:solidFill>
                            <a:srgbClr val="000000">
                              <a:alpha val="100000"/>
                            </a:srgbClr>
                          </a:solidFill>
                          <a:latin typeface="Times New Roman" panose="02020603050405020304"/>
                          <a:ea typeface="Times New Roman" panose="02020603050405020304"/>
                          <a:cs typeface="Times New Roman" panose="02020603050405020304"/>
                        </a:rPr>
                        <a:t>N-k</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100" i="1" kern="0" spc="0" dirty="0">
                          <a:solidFill>
                            <a:srgbClr val="000000">
                              <a:alpha val="100000"/>
                            </a:srgbClr>
                          </a:solidFill>
                          <a:latin typeface="Times New Roman" panose="02020603050405020304"/>
                          <a:ea typeface="Times New Roman" panose="02020603050405020304"/>
                          <a:cs typeface="Times New Roman" panose="02020603050405020304"/>
                        </a:rPr>
                        <a:t>MSW=</a:t>
                      </a:r>
                      <a:r>
                        <a:rPr sz="1100" i="1" u="sng" kern="0" spc="0" dirty="0">
                          <a:solidFill>
                            <a:srgbClr val="000000">
                              <a:alpha val="100000"/>
                            </a:srgbClr>
                          </a:solidFill>
                          <a:latin typeface="Times New Roman" panose="02020603050405020304"/>
                          <a:ea typeface="Times New Roman" panose="02020603050405020304"/>
                          <a:cs typeface="Times New Roman" panose="02020603050405020304"/>
                        </a:rPr>
                        <a:t>SSW</a:t>
                      </a:r>
                      <a:endParaRPr sz="1100" dirty="0"/>
                    </a:p>
                    <a:p>
                      <a:pPr algn="ctr" rtl="0" eaLnBrk="0"/>
                      <a:r>
                        <a:rPr sz="1100" i="1" u="sng" kern="0" spc="0" dirty="0">
                          <a:solidFill>
                            <a:srgbClr val="000000">
                              <a:alpha val="100000"/>
                            </a:srgbClr>
                          </a:solidFill>
                          <a:latin typeface="Times New Roman" panose="02020603050405020304"/>
                          <a:ea typeface="Times New Roman" panose="02020603050405020304"/>
                          <a:cs typeface="Times New Roman" panose="02020603050405020304"/>
                        </a:rPr>
                        <a:t>/N-k</a:t>
                      </a:r>
                      <a:endParaRPr sz="11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r>
              <a:tr h="476250">
                <a:tc>
                  <a:txBody>
                    <a:bodyPr/>
                    <a:lstStyle/>
                    <a:p>
                      <a:pPr algn="ctr" rtl="0" eaLnBrk="0"/>
                      <a:r>
                        <a:rPr sz="1400" kern="0" spc="0" dirty="0">
                          <a:solidFill>
                            <a:srgbClr val="262626">
                              <a:alpha val="100000"/>
                            </a:srgbClr>
                          </a:solidFill>
                          <a:latin typeface="Times New Roman" panose="02020603050405020304"/>
                          <a:ea typeface="Times New Roman" panose="02020603050405020304"/>
                          <a:cs typeface="Times New Roman" panose="02020603050405020304"/>
                        </a:rPr>
                        <a:t>Total</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300" i="1" kern="0" spc="0" dirty="0">
                          <a:solidFill>
                            <a:srgbClr val="262626">
                              <a:alpha val="100000"/>
                            </a:srgbClr>
                          </a:solidFill>
                          <a:latin typeface="Georgia" panose="02040502050405020303"/>
                          <a:ea typeface="Georgia" panose="02040502050405020303"/>
                          <a:cs typeface="Georgia" panose="02040502050405020303"/>
                        </a:rPr>
                        <a:t>SST=∑i∑j</a:t>
                      </a:r>
                      <a:r>
                        <a:rPr sz="1300" kern="0" spc="0" dirty="0">
                          <a:solidFill>
                            <a:srgbClr val="262626">
                              <a:alpha val="100000"/>
                            </a:srgbClr>
                          </a:solidFill>
                          <a:latin typeface="Georgia" panose="02040502050405020303"/>
                          <a:ea typeface="Georgia" panose="02040502050405020303"/>
                          <a:cs typeface="Georgia" panose="02040502050405020303"/>
                        </a:rPr>
                        <a:t>(yij-ȳ)2</a:t>
                      </a:r>
                      <a:endParaRPr sz="13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N-1</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400" dirty="0"/>
                    </a:p>
                  </a:txBody>
                  <a:tcPr marL="0" marR="0" marT="0" marB="0" vert="horz" anchor="ctr">
                    <a:lnL w="19050" cap="flat" cmpd="sng" algn="ctr">
                      <a:solidFill>
                        <a:srgbClr val="767676"/>
                      </a:solidFill>
                      <a:prstDash val="solid"/>
                      <a:round/>
                      <a:headEnd type="none" w="med" len="med"/>
                      <a:tailEnd type="none" w="med" len="med"/>
                    </a:lnL>
                    <a:lnR w="19050" cap="flat" cmpd="sng" algn="ctr">
                      <a:solidFill>
                        <a:srgbClr val="767676"/>
                      </a:solidFill>
                      <a:prstDash val="solid"/>
                      <a:round/>
                      <a:headEnd type="none" w="med" len="med"/>
                      <a:tailEnd type="none" w="med" len="med"/>
                    </a:lnR>
                    <a:lnT w="19050" cap="flat" cmpd="sng" algn="ctr">
                      <a:solidFill>
                        <a:srgbClr val="767676"/>
                      </a:solidFill>
                      <a:prstDash val="solid"/>
                      <a:round/>
                      <a:headEnd type="none" w="med" len="med"/>
                      <a:tailEnd type="none" w="med" len="med"/>
                    </a:lnT>
                    <a:lnB w="19050" cap="flat" cmpd="sng" algn="ctr">
                      <a:solidFill>
                        <a:srgbClr val="767676"/>
                      </a:solidFill>
                      <a:prstDash val="solid"/>
                      <a:round/>
                      <a:headEnd type="none" w="med" len="med"/>
                      <a:tailEnd type="none" w="med" len="med"/>
                    </a:lnB>
                  </a:tcPr>
                </a:tc>
              </a:tr>
            </a:tbl>
          </a:graphicData>
        </a:graphic>
      </p:graphicFrame>
      <p:sp>
        <p:nvSpPr>
          <p:cNvPr id="80" name="textbox 80"/>
          <p:cNvSpPr/>
          <p:nvPr/>
        </p:nvSpPr>
        <p:spPr>
          <a:xfrm>
            <a:off x="10287000" y="3743325"/>
            <a:ext cx="1428750" cy="333375"/>
          </a:xfrm>
          <a:prstGeom prst="rect">
            <a:avLst/>
          </a:prstGeom>
          <a:noFill/>
          <a:ln w="0" cap="flat">
            <a:noFill/>
            <a:prstDash val="solid"/>
            <a:miter lim="0"/>
          </a:ln>
        </p:spPr>
        <p:txBody>
          <a:bodyPr vert="horz" wrap="none" lIns="0" tIns="0" rIns="0" bIns="0"/>
          <a:lstStyle/>
          <a:p>
            <a:pPr algn="l" rtl="0" eaLnBrk="0"/>
            <a:r>
              <a:rPr sz="1300" b="1" i="1" kern="0" spc="0" dirty="0">
                <a:solidFill>
                  <a:srgbClr val="000000">
                    <a:alpha val="100000"/>
                  </a:srgbClr>
                </a:solidFill>
                <a:latin typeface="Times New Roman" panose="02020603050405020304"/>
                <a:ea typeface="Times New Roman" panose="02020603050405020304"/>
                <a:cs typeface="Times New Roman" panose="02020603050405020304"/>
              </a:rPr>
              <a:t>Ronald Aylmer afisher</a:t>
            </a:r>
            <a:endParaRPr sz="1300" dirty="0"/>
          </a:p>
          <a:p>
            <a:pPr marL="276225" algn="l" rtl="0" eaLnBrk="0"/>
            <a:r>
              <a:rPr sz="1300" b="1" i="1" kern="0" spc="0" dirty="0">
                <a:solidFill>
                  <a:srgbClr val="000000">
                    <a:alpha val="100000"/>
                  </a:srgbClr>
                </a:solidFill>
                <a:latin typeface="Times New Roman" panose="02020603050405020304"/>
                <a:ea typeface="Times New Roman" panose="02020603050405020304"/>
                <a:cs typeface="Times New Roman" panose="02020603050405020304"/>
              </a:rPr>
              <a:t>(1890-1962)</a:t>
            </a:r>
            <a:endParaRPr sz="1300" dirty="0"/>
          </a:p>
        </p:txBody>
      </p:sp>
      <p:sp>
        <p:nvSpPr>
          <p:cNvPr id="82" name="textbox 82"/>
          <p:cNvSpPr/>
          <p:nvPr/>
        </p:nvSpPr>
        <p:spPr>
          <a:xfrm>
            <a:off x="8172450" y="4286250"/>
            <a:ext cx="3800475" cy="20002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Arial" panose="020B0604020202020204"/>
                <a:ea typeface="Arial" panose="020B0604020202020204"/>
                <a:cs typeface="Arial" panose="020B0604020202020204"/>
              </a:rPr>
              <a:t>Statistical Methods for Research Workers, </a:t>
            </a:r>
            <a:r>
              <a:rPr sz="1400" kern="0" spc="0" dirty="0">
                <a:solidFill>
                  <a:srgbClr val="FF0000">
                    <a:alpha val="100000"/>
                  </a:srgbClr>
                </a:solidFill>
                <a:latin typeface="Arial" panose="020B0604020202020204"/>
                <a:ea typeface="Arial" panose="020B0604020202020204"/>
                <a:cs typeface="Arial" panose="020B0604020202020204"/>
              </a:rPr>
              <a:t>1925</a:t>
            </a:r>
            <a:endParaRPr sz="1400" dirty="0"/>
          </a:p>
        </p:txBody>
      </p:sp>
      <p:sp>
        <p:nvSpPr>
          <p:cNvPr id="84" name="textbox 84"/>
          <p:cNvSpPr/>
          <p:nvPr/>
        </p:nvSpPr>
        <p:spPr>
          <a:xfrm>
            <a:off x="9296400" y="4524375"/>
            <a:ext cx="2676525" cy="21907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Arial" panose="020B0604020202020204"/>
                <a:ea typeface="Arial" panose="020B0604020202020204"/>
                <a:cs typeface="Arial" panose="020B0604020202020204"/>
              </a:rPr>
              <a:t>The Design of Experiments, 1935</a:t>
            </a:r>
            <a:endParaRPr sz="1400" dirty="0"/>
          </a:p>
        </p:txBody>
      </p:sp>
      <p:sp>
        <p:nvSpPr>
          <p:cNvPr id="86" name="textbox 86"/>
          <p:cNvSpPr/>
          <p:nvPr/>
        </p:nvSpPr>
        <p:spPr>
          <a:xfrm>
            <a:off x="542925" y="4791075"/>
            <a:ext cx="6486525" cy="314325"/>
          </a:xfrm>
          <a:prstGeom prst="rect">
            <a:avLst/>
          </a:prstGeom>
          <a:noFill/>
          <a:ln w="0" cap="flat">
            <a:noFill/>
            <a:prstDash val="solid"/>
            <a:miter lim="0"/>
          </a:ln>
        </p:spPr>
        <p:txBody>
          <a:bodyPr vert="horz" wrap="none" lIns="0" tIns="0" rIns="0" bIns="0"/>
          <a:lstStyle/>
          <a:p>
            <a:pPr algn="l" rtl="0" eaLnBrk="0"/>
            <a:r>
              <a:rPr sz="20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数学根源：全方差公式 (Law of Total Variance, LTV)</a:t>
            </a:r>
            <a:endParaRPr sz="2000" dirty="0"/>
          </a:p>
        </p:txBody>
      </p:sp>
      <mc:AlternateContent xmlns:mc="http://schemas.openxmlformats.org/markup-compatibility/2006">
        <mc:Choice xmlns:a14="http://schemas.microsoft.com/office/drawing/2010/main" Requires="a14">
          <p:sp>
            <p:nvSpPr>
              <p:cNvPr id="88" name="textbox 88"/>
              <p:cNvSpPr/>
              <p:nvPr/>
            </p:nvSpPr>
            <p:spPr>
              <a:xfrm>
                <a:off x="2143125" y="5362575"/>
                <a:ext cx="5610225" cy="4000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800" dirty="0">
                          <a:latin typeface="Cambria Math" panose="02040503050406030204"/>
                          <a:ea typeface="Cambria Math" panose="02040503050406030204"/>
                        </a:rPr>
                        <m:t>V</m:t>
                      </m:r>
                      <m:r>
                        <m:rPr>
                          <m:sty m:val="p"/>
                        </m:rPr>
                        <a:rPr lang="en-US" sz="2800" dirty="0">
                          <a:latin typeface="Cambria Math" panose="02040503050406030204"/>
                          <a:ea typeface="Cambria Math" panose="02040503050406030204"/>
                        </a:rPr>
                        <m:t>a</m:t>
                      </m:r>
                      <m:r>
                        <m:rPr>
                          <m:sty m:val="p"/>
                        </m:rPr>
                        <a:rPr lang="en-US" sz="2800" dirty="0">
                          <a:latin typeface="Cambria Math" panose="02040503050406030204"/>
                          <a:ea typeface="Cambria Math" panose="02040503050406030204"/>
                        </a:rPr>
                        <m:t>r</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Y</m:t>
                      </m:r>
                      <m:r>
                        <a:rPr lang="en-US" sz="2800" dirty="0">
                          <a:latin typeface="Cambria Math" panose="02040503050406030204"/>
                          <a:ea typeface="Cambria Math" panose="02040503050406030204"/>
                        </a:rPr>
                        <m:t>]</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E</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V</m:t>
                      </m:r>
                      <m:r>
                        <m:rPr>
                          <m:sty m:val="p"/>
                        </m:rPr>
                        <a:rPr lang="en-US" sz="2800" dirty="0">
                          <a:latin typeface="Cambria Math" panose="02040503050406030204"/>
                          <a:ea typeface="Cambria Math" panose="02040503050406030204"/>
                        </a:rPr>
                        <m:t>a</m:t>
                      </m:r>
                      <m:r>
                        <m:rPr>
                          <m:sty m:val="p"/>
                        </m:rPr>
                        <a:rPr lang="en-US" sz="2800" dirty="0">
                          <a:latin typeface="Cambria Math" panose="02040503050406030204"/>
                          <a:ea typeface="Cambria Math" panose="02040503050406030204"/>
                        </a:rPr>
                        <m:t>r</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Y</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X</m:t>
                      </m:r>
                      <m:r>
                        <a:rPr lang="en-US" sz="2800" dirty="0">
                          <a:latin typeface="Cambria Math" panose="02040503050406030204"/>
                          <a:ea typeface="Cambria Math" panose="02040503050406030204"/>
                        </a:rPr>
                        <m:t>)</m:t>
                      </m:r>
                      <m:r>
                        <a:rPr lang="en-US" sz="2800" dirty="0">
                          <a:latin typeface="Cambria Math" panose="02040503050406030204"/>
                          <a:ea typeface="Cambria Math" panose="02040503050406030204"/>
                        </a:rPr>
                        <m:t>]</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V</m:t>
                      </m:r>
                      <m:r>
                        <m:rPr>
                          <m:sty m:val="p"/>
                        </m:rPr>
                        <a:rPr lang="en-US" sz="2800" dirty="0">
                          <a:latin typeface="Cambria Math" panose="02040503050406030204"/>
                          <a:ea typeface="Cambria Math" panose="02040503050406030204"/>
                        </a:rPr>
                        <m:t>a</m:t>
                      </m:r>
                      <m:r>
                        <m:rPr>
                          <m:sty m:val="p"/>
                        </m:rPr>
                        <a:rPr lang="en-US" sz="2800" dirty="0">
                          <a:latin typeface="Cambria Math" panose="02040503050406030204"/>
                          <a:ea typeface="Cambria Math" panose="02040503050406030204"/>
                        </a:rPr>
                        <m:t>r</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E</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Y</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X</m:t>
                      </m:r>
                      <m:r>
                        <a:rPr lang="en-US" sz="2800" dirty="0">
                          <a:latin typeface="Cambria Math" panose="02040503050406030204"/>
                          <a:ea typeface="Cambria Math" panose="02040503050406030204"/>
                        </a:rPr>
                        <m:t>]</m:t>
                      </m:r>
                      <m:r>
                        <a:rPr lang="en-US" sz="2800" dirty="0">
                          <a:latin typeface="Cambria Math" panose="02040503050406030204"/>
                          <a:ea typeface="Cambria Math" panose="02040503050406030204"/>
                        </a:rPr>
                        <m:t>)</m:t>
                      </m:r>
                    </m:oMath>
                  </m:oMathPara>
                </a14:m>
                <a:endParaRPr sz="600" dirty="0"/>
              </a:p>
            </p:txBody>
          </p:sp>
        </mc:Choice>
        <mc:Fallback>
          <p:sp>
            <p:nvSpPr>
              <p:cNvPr id="88" name="textbox 88"/>
              <p:cNvSpPr>
                <a:spLocks noRot="1" noChangeAspect="1" noMove="1" noResize="1" noEditPoints="1" noAdjustHandles="1" noChangeArrowheads="1" noChangeShapeType="1" noTextEdit="1"/>
              </p:cNvSpPr>
              <p:nvPr/>
            </p:nvSpPr>
            <p:spPr>
              <a:xfrm>
                <a:off x="2143125" y="5362575"/>
                <a:ext cx="5610225" cy="400050"/>
              </a:xfrm>
              <a:prstGeom prst="rect">
                <a:avLst/>
              </a:prstGeom>
              <a:blipFill rotWithShape="1">
                <a:blip r:embed="rId4"/>
                <a:stretch>
                  <a:fillRect b="-6825"/>
                </a:stretch>
              </a:blipFill>
              <a:ln w="0" cap="flat">
                <a:noFill/>
                <a:prstDash val="solid"/>
                <a:miter lim="0"/>
              </a:ln>
            </p:spPr>
            <p:txBody>
              <a:bodyPr/>
              <a:lstStyle/>
              <a:p>
                <a:r>
                  <a:rPr lang="zh-CN" altLang="en-US">
                    <a:noFill/>
                  </a:rPr>
                  <a:t> </a:t>
                </a:r>
              </a:p>
            </p:txBody>
          </p:sp>
        </mc:Fallback>
      </mc:AlternateContent>
      <p:sp>
        <p:nvSpPr>
          <p:cNvPr id="90" name="textbox 90"/>
          <p:cNvSpPr/>
          <p:nvPr/>
        </p:nvSpPr>
        <p:spPr>
          <a:xfrm>
            <a:off x="3990975" y="5981700"/>
            <a:ext cx="971550" cy="276225"/>
          </a:xfrm>
          <a:prstGeom prst="rect">
            <a:avLst/>
          </a:prstGeom>
          <a:noFill/>
          <a:ln w="0" cap="flat">
            <a:noFill/>
            <a:prstDash val="solid"/>
            <a:miter lim="0"/>
          </a:ln>
        </p:spPr>
        <p:txBody>
          <a:bodyPr vert="horz" wrap="none" lIns="0" tIns="0" rIns="0" bIns="0"/>
          <a:lstStyle/>
          <a:p>
            <a:pPr algn="l" rtl="0" eaLnBrk="0"/>
            <a:r>
              <a:rPr sz="1800" b="1" kern="0" spc="0" dirty="0">
                <a:solidFill>
                  <a:srgbClr val="00A3E0">
                    <a:alpha val="100000"/>
                  </a:srgbClr>
                </a:solidFill>
                <a:latin typeface="微软雅黑" panose="020B0503020204020204" charset="-122"/>
                <a:ea typeface="微软雅黑" panose="020B0503020204020204" charset="-122"/>
                <a:cs typeface="微软雅黑" panose="020B0503020204020204" charset="-122"/>
              </a:rPr>
              <a:t>组内变异</a:t>
            </a:r>
            <a:endParaRPr sz="1800" dirty="0"/>
          </a:p>
        </p:txBody>
      </p:sp>
      <p:sp>
        <p:nvSpPr>
          <p:cNvPr id="92" name="textbox 92"/>
          <p:cNvSpPr/>
          <p:nvPr/>
        </p:nvSpPr>
        <p:spPr>
          <a:xfrm>
            <a:off x="6219825" y="5981700"/>
            <a:ext cx="981075" cy="276225"/>
          </a:xfrm>
          <a:prstGeom prst="rect">
            <a:avLst/>
          </a:prstGeom>
          <a:noFill/>
          <a:ln w="0" cap="flat">
            <a:noFill/>
            <a:prstDash val="solid"/>
            <a:miter lim="0"/>
          </a:ln>
        </p:spPr>
        <p:txBody>
          <a:bodyPr vert="horz" wrap="none" lIns="0" tIns="0" rIns="0" bIns="0"/>
          <a:lstStyle/>
          <a:p>
            <a:pPr algn="l" rtl="0" eaLnBrk="0"/>
            <a:r>
              <a:rPr sz="18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组间变异</a:t>
            </a:r>
            <a:endParaRPr sz="1800" dirty="0"/>
          </a:p>
        </p:txBody>
      </p:sp>
      <p:sp>
        <p:nvSpPr>
          <p:cNvPr id="94" name="textbox 94"/>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96" name="textbox 96"/>
          <p:cNvSpPr/>
          <p:nvPr/>
        </p:nvSpPr>
        <p:spPr>
          <a:xfrm>
            <a:off x="11744325" y="6734175"/>
            <a:ext cx="114300" cy="114300"/>
          </a:xfrm>
          <a:prstGeom prst="rect">
            <a:avLst/>
          </a:prstGeom>
          <a:noFill/>
          <a:ln w="0" cap="flat">
            <a:noFill/>
            <a:prstDash val="solid"/>
            <a:miter lim="0"/>
          </a:ln>
        </p:spPr>
        <p:txBody>
          <a:bodyPr vert="horz" wrap="none" lIns="0" tIns="0" rIns="0" bIns="0"/>
          <a:lstStyle/>
          <a:p>
            <a:pPr algn="l" rtl="0" eaLnBrk="0"/>
            <a:r>
              <a:rPr sz="900" kern="0" spc="0" dirty="0">
                <a:solidFill>
                  <a:srgbClr val="FFFFFF">
                    <a:alpha val="100000"/>
                  </a:srgbClr>
                </a:solidFill>
                <a:latin typeface="Arial" panose="020B0604020202020204"/>
                <a:ea typeface="Arial" panose="020B0604020202020204"/>
                <a:cs typeface="Arial" panose="020B0604020202020204"/>
              </a:rPr>
              <a:t>[3]</a:t>
            </a:r>
            <a:endParaRPr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picture 100"/>
          <p:cNvPicPr>
            <a:picLocks noChangeAspect="1"/>
          </p:cNvPicPr>
          <p:nvPr/>
        </p:nvPicPr>
        <p:blipFill>
          <a:blip r:embed="rId1"/>
          <a:stretch>
            <a:fillRect/>
          </a:stretch>
        </p:blipFill>
        <p:spPr>
          <a:xfrm>
            <a:off x="0" y="0"/>
            <a:ext cx="12192000" cy="6858000"/>
          </a:xfrm>
          <a:prstGeom prst="rect">
            <a:avLst/>
          </a:prstGeom>
        </p:spPr>
      </p:pic>
      <p:sp>
        <p:nvSpPr>
          <p:cNvPr id="102" name="textbox 102"/>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04" name="textbox 104"/>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06" name="textbox 10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10" name="picture 110"/>
          <p:cNvPicPr>
            <a:picLocks noChangeAspect="1"/>
          </p:cNvPicPr>
          <p:nvPr/>
        </p:nvPicPr>
        <p:blipFill>
          <a:blip r:embed="rId2"/>
          <a:stretch>
            <a:fillRect/>
          </a:stretch>
        </p:blipFill>
        <p:spPr>
          <a:xfrm>
            <a:off x="295275" y="247650"/>
            <a:ext cx="733425" cy="666750"/>
          </a:xfrm>
          <a:prstGeom prst="rect">
            <a:avLst/>
          </a:prstGeom>
        </p:spPr>
      </p:pic>
      <p:sp>
        <p:nvSpPr>
          <p:cNvPr id="112" name="textbox 112"/>
          <p:cNvSpPr/>
          <p:nvPr/>
        </p:nvSpPr>
        <p:spPr>
          <a:xfrm>
            <a:off x="1447800" y="333375"/>
            <a:ext cx="5762625"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方差分析</a:t>
            </a:r>
            <a:r>
              <a:rPr sz="2800" b="1" kern="0" spc="0" dirty="0">
                <a:solidFill>
                  <a:srgbClr val="FFFFFF">
                    <a:alpha val="100000"/>
                  </a:srgbClr>
                </a:solidFill>
                <a:latin typeface="Arial" panose="020B0604020202020204"/>
                <a:ea typeface="Arial" panose="020B0604020202020204"/>
                <a:cs typeface="Arial" panose="020B0604020202020204"/>
              </a:rPr>
              <a:t>(ANOVA)</a:t>
            </a:r>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的哲学思想起源</a:t>
            </a:r>
            <a:endParaRPr sz="2800" dirty="0"/>
          </a:p>
        </p:txBody>
      </p:sp>
      <p:sp>
        <p:nvSpPr>
          <p:cNvPr id="114" name="textbox 114"/>
          <p:cNvSpPr/>
          <p:nvPr/>
        </p:nvSpPr>
        <p:spPr>
          <a:xfrm>
            <a:off x="1447800" y="762000"/>
            <a:ext cx="2419350"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Analysis of Variance (ANOVA)</a:t>
            </a:r>
            <a:endParaRPr sz="1400" dirty="0"/>
          </a:p>
        </p:txBody>
      </p:sp>
      <p:sp>
        <p:nvSpPr>
          <p:cNvPr id="116" name="textbox 116"/>
          <p:cNvSpPr/>
          <p:nvPr/>
        </p:nvSpPr>
        <p:spPr>
          <a:xfrm>
            <a:off x="523875" y="1238250"/>
            <a:ext cx="2276475" cy="295275"/>
          </a:xfrm>
          <a:prstGeom prst="rect">
            <a:avLst/>
          </a:prstGeom>
          <a:noFill/>
          <a:ln w="0" cap="flat">
            <a:noFill/>
            <a:prstDash val="solid"/>
            <a:miter lim="0"/>
          </a:ln>
        </p:spPr>
        <p:txBody>
          <a:bodyPr vert="horz" wrap="none" lIns="0" tIns="0" rIns="0" bIns="0"/>
          <a:lstStyle/>
          <a:p>
            <a:pPr marL="371475" indent="-333375" algn="l" rtl="0" eaLnBrk="0">
              <a:buChar char="•"/>
            </a:pPr>
            <a:r>
              <a:rPr sz="2000" b="1" kern="0" spc="0" dirty="0">
                <a:solidFill>
                  <a:srgbClr val="00418A">
                    <a:alpha val="100000"/>
                  </a:srgbClr>
                </a:solidFill>
                <a:latin typeface="微软雅黑" panose="020B0503020204020204" charset="-122"/>
                <a:ea typeface="微软雅黑" panose="020B0503020204020204" charset="-122"/>
                <a:cs typeface="微软雅黑" panose="020B0503020204020204" charset="-122"/>
              </a:rPr>
              <a:t>社会矛盾的类比：</a:t>
            </a:r>
            <a:endParaRPr sz="2000" dirty="0"/>
          </a:p>
        </p:txBody>
      </p:sp>
      <p:sp>
        <p:nvSpPr>
          <p:cNvPr id="118" name="textbox 118"/>
          <p:cNvSpPr/>
          <p:nvPr/>
        </p:nvSpPr>
        <p:spPr>
          <a:xfrm>
            <a:off x="2438400" y="1743075"/>
            <a:ext cx="5762625" cy="371475"/>
          </a:xfrm>
          <a:prstGeom prst="rect">
            <a:avLst/>
          </a:prstGeom>
          <a:noFill/>
          <a:ln w="0" cap="flat">
            <a:noFill/>
            <a:prstDash val="solid"/>
            <a:miter lim="0"/>
          </a:ln>
        </p:spPr>
        <p:txBody>
          <a:bodyPr vert="horz" wrap="none" lIns="0" tIns="0" rIns="0" bIns="0"/>
          <a:lstStyle/>
          <a:p>
            <a:pPr algn="l" rtl="0" eaLnBrk="0"/>
            <a:r>
              <a:rPr sz="2400" b="1" kern="0" dirty="0">
                <a:solidFill>
                  <a:srgbClr val="0070C0">
                    <a:alpha val="100000"/>
                  </a:srgbClr>
                </a:solidFill>
                <a:latin typeface="微软雅黑" panose="020B0503020204020204" charset="-122"/>
                <a:ea typeface="微软雅黑" panose="020B0503020204020204" charset="-122"/>
                <a:cs typeface="微软雅黑" panose="020B0503020204020204" charset="-122"/>
              </a:rPr>
              <a:t>社会总体矛盾=人民内部矛盾+敌我矛盾</a:t>
            </a:r>
            <a:endParaRPr lang="zh-CN" altLang="en-US" sz="2400" b="1" kern="0" dirty="0">
              <a:solidFill>
                <a:srgbClr val="0070C0">
                  <a:alpha val="100000"/>
                </a:srgbClr>
              </a:solidFill>
              <a:latin typeface="微软雅黑" panose="020B0503020204020204" charset="-122"/>
              <a:ea typeface="微软雅黑" panose="020B0503020204020204" charset="-122"/>
              <a:cs typeface="微软雅黑" panose="020B0503020204020204" charset="-122"/>
            </a:endParaRPr>
          </a:p>
        </p:txBody>
      </p:sp>
      <p:sp>
        <p:nvSpPr>
          <p:cNvPr id="120" name="textbox 120"/>
          <p:cNvSpPr/>
          <p:nvPr/>
        </p:nvSpPr>
        <p:spPr>
          <a:xfrm>
            <a:off x="542925" y="2533650"/>
            <a:ext cx="10163175" cy="333375"/>
          </a:xfrm>
          <a:prstGeom prst="rect">
            <a:avLst/>
          </a:prstGeom>
          <a:noFill/>
          <a:ln w="0" cap="flat">
            <a:noFill/>
            <a:prstDash val="solid"/>
            <a:miter lim="0"/>
          </a:ln>
        </p:spPr>
        <p:txBody>
          <a:bodyPr vert="horz" wrap="none" lIns="0" tIns="0" rIns="0" bIns="0"/>
          <a:lstStyle/>
          <a:p>
            <a:pPr marL="342900" indent="-342900" algn="l" rtl="0" eaLnBrk="0">
              <a:buChar char="•"/>
            </a:pPr>
            <a:r>
              <a:rPr sz="20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方法的哲学思想起源：</a:t>
            </a:r>
            <a:r>
              <a:rPr sz="20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笛卡尔的分析-综合方法论(Analysis-Synthesis Methodology)</a:t>
            </a:r>
            <a:endParaRPr sz="2000" b="1" kern="0" dirty="0">
              <a:solidFill>
                <a:srgbClr val="0070C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24" name="picture 124"/>
          <p:cNvPicPr>
            <a:picLocks noChangeAspect="1"/>
          </p:cNvPicPr>
          <p:nvPr/>
        </p:nvPicPr>
        <p:blipFill>
          <a:blip r:embed="rId3"/>
          <a:stretch>
            <a:fillRect/>
          </a:stretch>
        </p:blipFill>
        <p:spPr>
          <a:xfrm>
            <a:off x="9563100" y="3076575"/>
            <a:ext cx="2190750" cy="2686050"/>
          </a:xfrm>
          <a:prstGeom prst="rect">
            <a:avLst/>
          </a:prstGeom>
        </p:spPr>
      </p:pic>
      <p:sp>
        <p:nvSpPr>
          <p:cNvPr id="126" name="textbox 126"/>
          <p:cNvSpPr/>
          <p:nvPr/>
        </p:nvSpPr>
        <p:spPr>
          <a:xfrm>
            <a:off x="923925" y="3076575"/>
            <a:ext cx="7515225" cy="276225"/>
          </a:xfrm>
          <a:prstGeom prst="rect">
            <a:avLst/>
          </a:prstGeom>
          <a:noFill/>
          <a:ln w="0" cap="flat">
            <a:noFill/>
            <a:prstDash val="solid"/>
            <a:miter lim="0"/>
          </a:ln>
        </p:spPr>
        <p:txBody>
          <a:bodyPr vert="horz" wrap="none" lIns="0" tIns="0" rIns="0" bIns="0"/>
          <a:lstStyle/>
          <a:p>
            <a:pPr marL="342900" indent="-304800" algn="l" rtl="0" eaLnBrk="0">
              <a:buChar char="•"/>
            </a:pPr>
            <a:r>
              <a:rPr sz="18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自明律：绝不接受任何东西为真，只有当我确定它是如此时，才接受它。</a:t>
            </a:r>
            <a:endParaRPr sz="1800" dirty="0"/>
          </a:p>
        </p:txBody>
      </p:sp>
      <p:sp>
        <p:nvSpPr>
          <p:cNvPr id="128" name="textbox 128"/>
          <p:cNvSpPr/>
          <p:nvPr/>
        </p:nvSpPr>
        <p:spPr>
          <a:xfrm>
            <a:off x="923925" y="3543300"/>
            <a:ext cx="7391400" cy="581025"/>
          </a:xfrm>
          <a:prstGeom prst="rect">
            <a:avLst/>
          </a:prstGeom>
          <a:noFill/>
          <a:ln w="0" cap="flat">
            <a:noFill/>
            <a:prstDash val="solid"/>
            <a:miter lim="0"/>
          </a:ln>
        </p:spPr>
        <p:txBody>
          <a:bodyPr vert="horz" wrap="none" lIns="0" tIns="0" rIns="0" bIns="0"/>
          <a:lstStyle/>
          <a:p>
            <a:pPr marL="314325" indent="-276225" algn="l" rtl="0" eaLnBrk="0">
              <a:buChar char="•"/>
            </a:pPr>
            <a:r>
              <a:rPr sz="18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分析律：要研究的复杂问题，尽量分解为多个比较简单的小问题，一个</a:t>
            </a:r>
            <a:endParaRPr sz="1800" dirty="0"/>
          </a:p>
          <a:p>
            <a:pPr marL="1219200" algn="l" rtl="0" eaLnBrk="0">
              <a:spcBef>
                <a:spcPts val="450"/>
              </a:spcBef>
            </a:pPr>
            <a:r>
              <a:rPr sz="18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一个地分开解决。</a:t>
            </a:r>
            <a:endParaRPr sz="1800" dirty="0"/>
          </a:p>
        </p:txBody>
      </p:sp>
      <p:sp>
        <p:nvSpPr>
          <p:cNvPr id="130" name="textbox 130"/>
          <p:cNvSpPr/>
          <p:nvPr/>
        </p:nvSpPr>
        <p:spPr>
          <a:xfrm>
            <a:off x="923925" y="4333875"/>
            <a:ext cx="7391400" cy="561975"/>
          </a:xfrm>
          <a:prstGeom prst="rect">
            <a:avLst/>
          </a:prstGeom>
          <a:noFill/>
          <a:ln w="0" cap="flat">
            <a:noFill/>
            <a:prstDash val="solid"/>
            <a:miter lim="0"/>
          </a:ln>
        </p:spPr>
        <p:txBody>
          <a:bodyPr vert="horz" wrap="none" lIns="0" tIns="0" rIns="0" bIns="0"/>
          <a:lstStyle/>
          <a:p>
            <a:pPr marL="314325" indent="-276225" algn="l" rtl="0" eaLnBrk="0">
              <a:buChar char="•"/>
            </a:pPr>
            <a:r>
              <a:rPr sz="18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综合律：按秩序进行思考，小问题从简单到复杂排列，先从容易解决的</a:t>
            </a:r>
            <a:endParaRPr sz="1800" dirty="0"/>
          </a:p>
          <a:p>
            <a:pPr marL="1181100" algn="l" rtl="0" eaLnBrk="0">
              <a:spcBef>
                <a:spcPts val="375"/>
              </a:spcBef>
            </a:pPr>
            <a:r>
              <a:rPr sz="18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问题着手。</a:t>
            </a:r>
            <a:endParaRPr sz="1800" dirty="0"/>
          </a:p>
        </p:txBody>
      </p:sp>
      <p:sp>
        <p:nvSpPr>
          <p:cNvPr id="132" name="textbox 132"/>
          <p:cNvSpPr/>
          <p:nvPr/>
        </p:nvSpPr>
        <p:spPr>
          <a:xfrm>
            <a:off x="933450" y="5114925"/>
            <a:ext cx="7534275" cy="561975"/>
          </a:xfrm>
          <a:prstGeom prst="rect">
            <a:avLst/>
          </a:prstGeom>
          <a:noFill/>
          <a:ln w="0" cap="flat">
            <a:noFill/>
            <a:prstDash val="solid"/>
            <a:miter lim="0"/>
          </a:ln>
        </p:spPr>
        <p:txBody>
          <a:bodyPr vert="horz" wrap="none" lIns="0" tIns="0" rIns="0" bIns="0"/>
          <a:lstStyle/>
          <a:p>
            <a:pPr marL="295275" indent="-276225" algn="l" rtl="0" eaLnBrk="0">
              <a:buChar char="•"/>
            </a:pPr>
            <a:r>
              <a:rPr sz="18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枚举律</a:t>
            </a:r>
            <a:r>
              <a:rPr sz="17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：问题解决后，再综合起来检验，看是否完全，尽可能详细、全</a:t>
            </a:r>
            <a:endParaRPr sz="1800" dirty="0"/>
          </a:p>
          <a:p>
            <a:pPr marL="1219200" algn="l" rtl="0" eaLnBrk="0">
              <a:spcBef>
                <a:spcPts val="525"/>
              </a:spcBef>
            </a:pPr>
            <a:r>
              <a:rPr sz="17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面地考察所有东西，是否将问题彻底解决了，以确保无一遗漏。</a:t>
            </a:r>
            <a:endParaRPr sz="1700" dirty="0"/>
          </a:p>
        </p:txBody>
      </p:sp>
      <p:sp>
        <p:nvSpPr>
          <p:cNvPr id="134" name="textbox 134"/>
          <p:cNvSpPr/>
          <p:nvPr/>
        </p:nvSpPr>
        <p:spPr>
          <a:xfrm>
            <a:off x="9477375" y="5886450"/>
            <a:ext cx="2352675" cy="200025"/>
          </a:xfrm>
          <a:prstGeom prst="rect">
            <a:avLst/>
          </a:prstGeom>
          <a:noFill/>
          <a:ln w="0" cap="flat">
            <a:noFill/>
            <a:prstDash val="solid"/>
            <a:miter lim="0"/>
          </a:ln>
        </p:spPr>
        <p:txBody>
          <a:bodyPr vert="horz" wrap="none" lIns="0" tIns="0" rIns="0" bIns="0"/>
          <a:lstStyle/>
          <a:p>
            <a:pPr algn="l" rtl="0" eaLnBrk="0"/>
            <a:r>
              <a:rPr sz="1400" b="1" kern="0" spc="0" dirty="0">
                <a:solidFill>
                  <a:srgbClr val="002060">
                    <a:alpha val="100000"/>
                  </a:srgbClr>
                </a:solidFill>
                <a:latin typeface="Arial" panose="020B0604020202020204"/>
                <a:ea typeface="Arial" panose="020B0604020202020204"/>
                <a:cs typeface="Arial" panose="020B0604020202020204"/>
              </a:rPr>
              <a:t>René Descartes, 1596-1650</a:t>
            </a:r>
            <a:endParaRPr sz="1400" dirty="0"/>
          </a:p>
        </p:txBody>
      </p:sp>
      <p:sp>
        <p:nvSpPr>
          <p:cNvPr id="136" name="textbox 136"/>
          <p:cNvSpPr/>
          <p:nvPr/>
        </p:nvSpPr>
        <p:spPr>
          <a:xfrm>
            <a:off x="1238250" y="6134100"/>
            <a:ext cx="86487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核心思想：</a:t>
            </a:r>
            <a:r>
              <a:rPr sz="20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化整为零，各个击破，积零为整 </a:t>
            </a:r>
            <a:r>
              <a:rPr sz="2000" b="1" kern="0" spc="0" dirty="0">
                <a:solidFill>
                  <a:srgbClr val="0070C0">
                    <a:alpha val="100000"/>
                  </a:srgbClr>
                </a:solidFill>
                <a:latin typeface="Arial" panose="020B0604020202020204"/>
                <a:ea typeface="Arial" panose="020B0604020202020204"/>
                <a:cs typeface="Arial" panose="020B0604020202020204"/>
              </a:rPr>
              <a:t>/ </a:t>
            </a:r>
            <a:r>
              <a:rPr sz="20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分而治之</a:t>
            </a:r>
            <a:r>
              <a:rPr sz="2000" b="1" kern="0" spc="0" dirty="0">
                <a:solidFill>
                  <a:srgbClr val="0070C0">
                    <a:alpha val="100000"/>
                  </a:srgbClr>
                </a:solidFill>
                <a:latin typeface="Arial" panose="020B0604020202020204"/>
                <a:ea typeface="Arial" panose="020B0604020202020204"/>
                <a:cs typeface="Arial" panose="020B0604020202020204"/>
              </a:rPr>
              <a:t>(Divide and Conquer)</a:t>
            </a:r>
            <a:endParaRPr sz="2000" dirty="0"/>
          </a:p>
        </p:txBody>
      </p:sp>
      <p:sp>
        <p:nvSpPr>
          <p:cNvPr id="138" name="textbox 13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picture 142"/>
          <p:cNvPicPr>
            <a:picLocks noChangeAspect="1"/>
          </p:cNvPicPr>
          <p:nvPr/>
        </p:nvPicPr>
        <p:blipFill>
          <a:blip r:embed="rId1"/>
          <a:stretch>
            <a:fillRect/>
          </a:stretch>
        </p:blipFill>
        <p:spPr>
          <a:xfrm>
            <a:off x="0" y="0"/>
            <a:ext cx="12192000" cy="6858000"/>
          </a:xfrm>
          <a:prstGeom prst="rect">
            <a:avLst/>
          </a:prstGeom>
        </p:spPr>
      </p:pic>
      <p:sp>
        <p:nvSpPr>
          <p:cNvPr id="144" name="textbox 144"/>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46" name="textbox 146"/>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48" name="textbox 148"/>
          <p:cNvSpPr/>
          <p:nvPr/>
        </p:nvSpPr>
        <p:spPr>
          <a:xfrm>
            <a:off x="7296150" y="0"/>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52" name="picture 152"/>
          <p:cNvPicPr>
            <a:picLocks noChangeAspect="1"/>
          </p:cNvPicPr>
          <p:nvPr/>
        </p:nvPicPr>
        <p:blipFill>
          <a:blip r:embed="rId2"/>
          <a:stretch>
            <a:fillRect/>
          </a:stretch>
        </p:blipFill>
        <p:spPr>
          <a:xfrm>
            <a:off x="295275" y="247650"/>
            <a:ext cx="733425" cy="666750"/>
          </a:xfrm>
          <a:prstGeom prst="rect">
            <a:avLst/>
          </a:prstGeom>
        </p:spPr>
      </p:pic>
      <p:sp>
        <p:nvSpPr>
          <p:cNvPr id="154" name="textbox 154"/>
          <p:cNvSpPr/>
          <p:nvPr/>
        </p:nvSpPr>
        <p:spPr>
          <a:xfrm>
            <a:off x="1428750" y="333375"/>
            <a:ext cx="8372475" cy="40957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方差分析(ANOVA)向函数的拓展：Hoeffding分解</a:t>
            </a:r>
            <a:endParaRPr sz="2800" dirty="0"/>
          </a:p>
        </p:txBody>
      </p:sp>
      <p:sp>
        <p:nvSpPr>
          <p:cNvPr id="156" name="textbox 156"/>
          <p:cNvSpPr/>
          <p:nvPr/>
        </p:nvSpPr>
        <p:spPr>
          <a:xfrm>
            <a:off x="1447800" y="762000"/>
            <a:ext cx="2409825"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Analysis of Variance (ANOVA)</a:t>
            </a:r>
            <a:endParaRPr sz="1400" dirty="0"/>
          </a:p>
        </p:txBody>
      </p:sp>
      <p:sp>
        <p:nvSpPr>
          <p:cNvPr id="158" name="textbox 158"/>
          <p:cNvSpPr/>
          <p:nvPr/>
        </p:nvSpPr>
        <p:spPr>
          <a:xfrm>
            <a:off x="542925" y="1228725"/>
            <a:ext cx="918210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ANOVA的局限：应用于离散分类变量和线性模型的方差分解（实验型ANOVA）</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60" name="textbox 160"/>
          <p:cNvSpPr/>
          <p:nvPr/>
        </p:nvSpPr>
        <p:spPr>
          <a:xfrm>
            <a:off x="885825" y="1676400"/>
            <a:ext cx="10810875" cy="904875"/>
          </a:xfrm>
          <a:prstGeom prst="rect">
            <a:avLst/>
          </a:prstGeom>
          <a:noFill/>
          <a:ln w="0" cap="flat">
            <a:noFill/>
            <a:prstDash val="solid"/>
            <a:miter lim="0"/>
          </a:ln>
        </p:spPr>
        <p:txBody>
          <a:bodyPr vert="horz" wrap="none" lIns="0" tIns="0" rIns="0" bIns="0"/>
          <a:lstStyle/>
          <a:p>
            <a:pPr algn="l" rtl="0" eaLnBrk="0"/>
            <a:r>
              <a:rPr sz="2000" kern="0" spc="0" dirty="0">
                <a:solidFill>
                  <a:srgbClr val="0070BC">
                    <a:alpha val="100000"/>
                  </a:srgbClr>
                </a:solidFill>
                <a:latin typeface="Times New Roman" panose="02020603050405020304"/>
                <a:ea typeface="Times New Roman" panose="02020603050405020304"/>
                <a:cs typeface="Times New Roman" panose="02020603050405020304"/>
              </a:rPr>
              <a:t>ANOVA</a:t>
            </a: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用于分析实验数据，它将总方差分解为不同因素（如处理因素、区组因素）及其交互作用</a:t>
            </a:r>
            <a:endParaRPr sz="2000" dirty="0">
              <a:solidFill>
                <a:srgbClr val="0070BC"/>
              </a:solidFill>
            </a:endParaRPr>
          </a:p>
          <a:p>
            <a:pPr algn="l" rtl="0" eaLnBrk="0"/>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引起的方差。然而，它强烈依赖于模型的线性假设和离散的分类变量。它回答的是</a:t>
            </a:r>
            <a:r>
              <a:rPr sz="2000" kern="0" spc="0" dirty="0">
                <a:solidFill>
                  <a:srgbClr val="0070BC">
                    <a:alpha val="100000"/>
                  </a:srgbClr>
                </a:solidFill>
                <a:latin typeface="Times New Roman" panose="02020603050405020304"/>
                <a:ea typeface="Times New Roman" panose="02020603050405020304"/>
                <a:cs typeface="Times New Roman" panose="02020603050405020304"/>
              </a:rPr>
              <a:t>“</a:t>
            </a:r>
            <a:r>
              <a:rPr sz="2000"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不同组别的</a:t>
            </a:r>
            <a:endParaRPr sz="2000" dirty="0">
              <a:solidFill>
                <a:srgbClr val="FF0000"/>
              </a:solidFill>
            </a:endParaRPr>
          </a:p>
          <a:p>
            <a:pPr algn="l" rtl="0" eaLnBrk="0"/>
            <a:r>
              <a:rPr sz="2000"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均值是否有显著差异</a:t>
            </a:r>
            <a:r>
              <a:rPr sz="2000" kern="0" spc="0" dirty="0">
                <a:solidFill>
                  <a:srgbClr val="0070BC">
                    <a:alpha val="100000"/>
                  </a:srgbClr>
                </a:solidFill>
                <a:latin typeface="Times New Roman" panose="02020603050405020304"/>
                <a:ea typeface="Times New Roman" panose="02020603050405020304"/>
                <a:cs typeface="Times New Roman" panose="02020603050405020304"/>
              </a:rPr>
              <a:t>”</a:t>
            </a: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这一问题。</a:t>
            </a:r>
            <a:endPar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162" name="textbox 162"/>
          <p:cNvSpPr/>
          <p:nvPr/>
        </p:nvSpPr>
        <p:spPr>
          <a:xfrm>
            <a:off x="542925" y="2828925"/>
            <a:ext cx="102584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Hoeffding分解：应用于独立随机变量和任意平方可积函数的降维分解（函数型ANOVA）</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64" name="textbox 164"/>
              <p:cNvSpPr/>
              <p:nvPr/>
            </p:nvSpPr>
            <p:spPr>
              <a:xfrm>
                <a:off x="2952750" y="3314700"/>
                <a:ext cx="6829425" cy="5905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400" dirty="0">
                          <a:latin typeface="Cambria Math" panose="02040503050406030204"/>
                          <a:ea typeface="Cambria Math" panose="02040503050406030204"/>
                        </a:rPr>
                        <m:t>f</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X</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f</m:t>
                          </m:r>
                        </m:e>
                        <m:sub>
                          <m:r>
                            <a:rPr lang="en-US" sz="2400" dirty="0">
                              <a:latin typeface="Cambria Math" panose="02040503050406030204"/>
                              <a:ea typeface="Cambria Math" panose="02040503050406030204"/>
                            </a:rPr>
                            <m:t>0</m:t>
                          </m:r>
                        </m:sub>
                      </m:sSub>
                      <m:r>
                        <a:rPr lang="en-US" sz="2400" dirty="0">
                          <a:latin typeface="Cambria Math" panose="02040503050406030204"/>
                          <a:ea typeface="Cambria Math" panose="02040503050406030204"/>
                        </a:rPr>
                        <m:t>+</m:t>
                      </m:r>
                      <m:nary>
                        <m:naryPr>
                          <m:chr m:val="∑"/>
                          <m:limLoc m:val="subSup"/>
                          <m:supHide m:val="on"/>
                          <m:ctrlPr>
                            <a:rPr/>
                          </m:ctrlPr>
                        </m:naryPr>
                        <m:sub>
                          <m:r>
                            <m:rPr>
                              <m:sty m:val="p"/>
                            </m:rPr>
                            <a:rPr lang="en-US" sz="2400" dirty="0">
                              <a:latin typeface="Cambria Math" panose="02040503050406030204"/>
                              <a:ea typeface="Cambria Math" panose="02040503050406030204"/>
                            </a:rPr>
                            <m:t>i</m:t>
                          </m:r>
                        </m:sub>
                        <m:sup/>
                        <m:e>
                          <m:sSub>
                            <m:sSubPr>
                              <m:ctrlPr>
                                <a:rPr/>
                              </m:ctrlPr>
                            </m:sSubPr>
                            <m:e>
                              <m:r>
                                <m:rPr>
                                  <m:sty m:val="p"/>
                                </m:rPr>
                                <a:rPr lang="en-US" sz="2400" dirty="0">
                                  <a:latin typeface="Cambria Math" panose="02040503050406030204"/>
                                  <a:ea typeface="Cambria Math" panose="02040503050406030204"/>
                                </a:rPr>
                                <m:t>f</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e>
                      </m:nary>
                      <m:nary>
                        <m:naryPr>
                          <m:chr m:val="∑"/>
                          <m:limLoc m:val="subSup"/>
                          <m:supHide m:val="on"/>
                          <m:ctrlPr>
                            <a:rPr/>
                          </m:ctrlPr>
                        </m:naryPr>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&lt;</m:t>
                          </m:r>
                          <m:r>
                            <m:rPr>
                              <m:sty m:val="p"/>
                            </m:rPr>
                            <a:rPr lang="en-US" sz="2400" dirty="0">
                              <a:latin typeface="Cambria Math" panose="02040503050406030204"/>
                              <a:ea typeface="Cambria Math" panose="02040503050406030204"/>
                            </a:rPr>
                            <m:t>j</m:t>
                          </m:r>
                        </m:sub>
                        <m:sup/>
                        <m:e>
                          <m:sSub>
                            <m:sSubPr>
                              <m:ctrlPr>
                                <a:rPr/>
                              </m:ctrlPr>
                            </m:sSubPr>
                            <m:e>
                              <m:r>
                                <m:rPr>
                                  <m:sty m:val="p"/>
                                </m:rPr>
                                <a:rPr lang="en-US" sz="2400" dirty="0">
                                  <a:latin typeface="Cambria Math" panose="02040503050406030204"/>
                                  <a:ea typeface="Cambria Math" panose="02040503050406030204"/>
                                </a:rPr>
                                <m:t>f</m:t>
                              </m:r>
                            </m:e>
                            <m:sub>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j</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j</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f</m:t>
                              </m:r>
                            </m:e>
                            <m:sub>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d</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a:rPr lang="en-US" sz="2400" dirty="0">
                                  <a:latin typeface="Cambria Math" panose="02040503050406030204"/>
                                  <a:ea typeface="Cambria Math" panose="02040503050406030204"/>
                                </a:rPr>
                                <m:t>1</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a:rPr lang="en-US" sz="2400" dirty="0">
                                  <a:latin typeface="Cambria Math" panose="02040503050406030204"/>
                                  <a:ea typeface="Cambria Math" panose="02040503050406030204"/>
                                </a:rPr>
                                <m:t>2</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d</m:t>
                              </m:r>
                            </m:sub>
                          </m:sSub>
                          <m:r>
                            <a:rPr lang="en-US" sz="2400" dirty="0">
                              <a:latin typeface="Cambria Math" panose="02040503050406030204"/>
                              <a:ea typeface="Cambria Math" panose="02040503050406030204"/>
                            </a:rPr>
                            <m:t>)</m:t>
                          </m:r>
                        </m:e>
                      </m:nary>
                    </m:oMath>
                  </m:oMathPara>
                </a14:m>
                <a:endParaRPr sz="600" dirty="0"/>
              </a:p>
            </p:txBody>
          </p:sp>
        </mc:Choice>
        <mc:Fallback>
          <p:sp>
            <p:nvSpPr>
              <p:cNvPr id="164" name="textbox 164"/>
              <p:cNvSpPr>
                <a:spLocks noRot="1" noChangeAspect="1" noMove="1" noResize="1" noEditPoints="1" noAdjustHandles="1" noChangeArrowheads="1" noChangeShapeType="1" noTextEdit="1"/>
              </p:cNvSpPr>
              <p:nvPr/>
            </p:nvSpPr>
            <p:spPr>
              <a:xfrm>
                <a:off x="2952750" y="3314700"/>
                <a:ext cx="6829425" cy="590550"/>
              </a:xfrm>
              <a:prstGeom prst="rect">
                <a:avLst/>
              </a:prstGeom>
              <a:blipFill rotWithShape="1">
                <a:blip r:embed="rId3"/>
                <a:stretch>
                  <a:fillRect r="-24370" b="-21613"/>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6" name="textbox 166"/>
              <p:cNvSpPr/>
              <p:nvPr/>
            </p:nvSpPr>
            <p:spPr>
              <a:xfrm>
                <a:off x="1428750" y="4076700"/>
                <a:ext cx="3962400" cy="304800"/>
              </a:xfrm>
              <a:prstGeom prst="rect">
                <a:avLst/>
              </a:prstGeom>
              <a:noFill/>
              <a:ln w="0" cap="flat">
                <a:noFill/>
                <a:prstDash val="solid"/>
                <a:miter lim="0"/>
              </a:ln>
            </p:spPr>
            <p:txBody>
              <a:bodyPr vert="horz" wrap="none" lIns="0" tIns="0" rIns="0" bIns="0"/>
              <a:lstStyle/>
              <a:p>
                <a:pPr algn="l" rtl="0" eaLnBrk="0"/>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常数项（平均效应）</a:t>
                </a:r>
                <a:r>
                  <a:rPr sz="20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m:ctrlPr>
                      </m:sSubPr>
                      <m:e>
                        <m:r>
                          <m:rPr>
                            <m:sty m:val="p"/>
                          </m:rPr>
                          <a:rPr lang="en-US" sz="2000" dirty="0">
                            <a:latin typeface="Cambria Math" panose="02040503050406030204"/>
                            <a:ea typeface="Cambria Math" panose="02040503050406030204"/>
                          </a:rPr>
                          <m:t>f</m:t>
                        </m:r>
                      </m:e>
                      <m:sub>
                        <m:r>
                          <a:rPr lang="en-US" sz="2000" dirty="0">
                            <a:latin typeface="Cambria Math" panose="02040503050406030204"/>
                            <a:ea typeface="Cambria Math" panose="02040503050406030204"/>
                          </a:rPr>
                          <m:t>0</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E</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X</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oMath>
                </a14:m>
                <a:endParaRPr sz="2000" dirty="0"/>
              </a:p>
            </p:txBody>
          </p:sp>
        </mc:Choice>
        <mc:Fallback>
          <p:sp>
            <p:nvSpPr>
              <p:cNvPr id="166" name="textbox 166"/>
              <p:cNvSpPr>
                <a:spLocks noRot="1" noChangeAspect="1" noMove="1" noResize="1" noEditPoints="1" noAdjustHandles="1" noChangeArrowheads="1" noChangeShapeType="1" noTextEdit="1"/>
              </p:cNvSpPr>
              <p:nvPr/>
            </p:nvSpPr>
            <p:spPr>
              <a:xfrm>
                <a:off x="1428750" y="4076700"/>
                <a:ext cx="3962400" cy="304800"/>
              </a:xfrm>
              <a:prstGeom prst="rect">
                <a:avLst/>
              </a:prstGeom>
              <a:blipFill rotWithShape="1">
                <a:blip r:embed="rId4"/>
                <a:stretch>
                  <a:fillRect r="-689" b="-3750"/>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8" name="textbox 168"/>
              <p:cNvSpPr/>
              <p:nvPr/>
            </p:nvSpPr>
            <p:spPr>
              <a:xfrm>
                <a:off x="1695450" y="4600575"/>
                <a:ext cx="4933950" cy="333375"/>
              </a:xfrm>
              <a:prstGeom prst="rect">
                <a:avLst/>
              </a:prstGeom>
              <a:noFill/>
              <a:ln w="0" cap="flat">
                <a:noFill/>
                <a:prstDash val="solid"/>
                <a:miter lim="0"/>
              </a:ln>
            </p:spPr>
            <p:txBody>
              <a:bodyPr vert="horz" wrap="none" lIns="0" tIns="0" rIns="0" bIns="0"/>
              <a:lstStyle/>
              <a:p>
                <a:pPr algn="l" rtl="0" eaLnBrk="0"/>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一阶项(主效应)</a:t>
                </a:r>
                <a:r>
                  <a:rPr sz="20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m:ctrlPr>
                      </m:sSubPr>
                      <m:e>
                        <m:r>
                          <m:rPr>
                            <m:sty m:val="p"/>
                          </m:rPr>
                          <a:rPr lang="en-US" sz="2000" dirty="0">
                            <a:latin typeface="Cambria Math" panose="02040503050406030204"/>
                            <a:ea typeface="Cambria Math" panose="02040503050406030204"/>
                          </a:rPr>
                          <m:t>f</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E</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𝐗</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f</m:t>
                        </m:r>
                      </m:e>
                      <m:sub>
                        <m:r>
                          <a:rPr lang="en-US" sz="2000" dirty="0">
                            <a:latin typeface="Cambria Math" panose="02040503050406030204"/>
                            <a:ea typeface="Cambria Math" panose="02040503050406030204"/>
                          </a:rPr>
                          <m:t>0</m:t>
                        </m:r>
                      </m:sub>
                    </m:sSub>
                  </m:oMath>
                </a14:m>
                <a:endParaRPr sz="2000" dirty="0"/>
              </a:p>
            </p:txBody>
          </p:sp>
        </mc:Choice>
        <mc:Fallback>
          <p:sp>
            <p:nvSpPr>
              <p:cNvPr id="168" name="textbox 168"/>
              <p:cNvSpPr>
                <a:spLocks noRot="1" noChangeAspect="1" noMove="1" noResize="1" noEditPoints="1" noAdjustHandles="1" noChangeArrowheads="1" noChangeShapeType="1" noTextEdit="1"/>
              </p:cNvSpPr>
              <p:nvPr/>
            </p:nvSpPr>
            <p:spPr>
              <a:xfrm>
                <a:off x="1695450" y="4600575"/>
                <a:ext cx="4933950" cy="333375"/>
              </a:xfrm>
              <a:prstGeom prst="rect">
                <a:avLst/>
              </a:prstGeom>
              <a:blipFill rotWithShape="1">
                <a:blip r:embed="rId5"/>
                <a:stretch>
                  <a:fillRect/>
                </a:stretch>
              </a:blipFill>
              <a:ln w="0" cap="flat">
                <a:noFill/>
                <a:prstDash val="solid"/>
                <a:miter lim="0"/>
              </a:ln>
            </p:spPr>
            <p:txBody>
              <a:bodyPr/>
              <a:lstStyle/>
              <a:p>
                <a:r>
                  <a:rPr lang="zh-CN" altLang="en-US">
                    <a:noFill/>
                  </a:rPr>
                  <a:t> </a:t>
                </a:r>
              </a:p>
            </p:txBody>
          </p:sp>
        </mc:Fallback>
      </mc:AlternateContent>
      <p:pic>
        <p:nvPicPr>
          <p:cNvPr id="172" name="picture 172"/>
          <p:cNvPicPr>
            <a:picLocks noChangeAspect="1"/>
          </p:cNvPicPr>
          <p:nvPr/>
        </p:nvPicPr>
        <p:blipFill>
          <a:blip r:embed="rId6"/>
          <a:stretch>
            <a:fillRect/>
          </a:stretch>
        </p:blipFill>
        <p:spPr>
          <a:xfrm>
            <a:off x="10391775" y="4267200"/>
            <a:ext cx="1457325" cy="1914525"/>
          </a:xfrm>
          <a:prstGeom prst="rect">
            <a:avLst/>
          </a:prstGeom>
        </p:spPr>
      </p:pic>
      <mc:AlternateContent xmlns:mc="http://schemas.openxmlformats.org/markup-compatibility/2006">
        <mc:Choice xmlns:a14="http://schemas.microsoft.com/office/drawing/2010/main" Requires="a14">
          <p:sp>
            <p:nvSpPr>
              <p:cNvPr id="174" name="textbox 174"/>
              <p:cNvSpPr/>
              <p:nvPr/>
            </p:nvSpPr>
            <p:spPr>
              <a:xfrm>
                <a:off x="923925" y="5172075"/>
                <a:ext cx="8220075" cy="333375"/>
              </a:xfrm>
              <a:prstGeom prst="rect">
                <a:avLst/>
              </a:prstGeom>
              <a:noFill/>
              <a:ln w="0" cap="flat">
                <a:noFill/>
                <a:prstDash val="solid"/>
                <a:miter lim="0"/>
              </a:ln>
            </p:spPr>
            <p:txBody>
              <a:bodyPr vert="horz" wrap="none" lIns="0" tIns="0" rIns="0" bIns="0"/>
              <a:lstStyle/>
              <a:p>
                <a:pPr algn="l" rtl="0" eaLnBrk="0"/>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二阶项(两两交互效应)</a:t>
                </a:r>
                <a:r>
                  <a:rPr sz="20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m:ctrlPr>
                      </m:sSubPr>
                      <m:e>
                        <m:r>
                          <m:rPr>
                            <m:sty m:val="p"/>
                          </m:rPr>
                          <a:rPr lang="en-US" sz="2000" dirty="0">
                            <a:latin typeface="Cambria Math" panose="02040503050406030204"/>
                            <a:ea typeface="Cambria Math" panose="02040503050406030204"/>
                          </a:rPr>
                          <m:t>f</m:t>
                        </m:r>
                      </m:e>
                      <m:sub>
                        <m:r>
                          <m:rPr>
                            <m:sty m:val="p"/>
                          </m:rPr>
                          <a:rPr lang="en-US" sz="2000" dirty="0">
                            <a:latin typeface="Cambria Math" panose="02040503050406030204"/>
                            <a:ea typeface="Cambria Math" panose="02040503050406030204"/>
                          </a:rPr>
                          <m:t>i</m:t>
                        </m:r>
                        <m:r>
                          <m:rPr>
                            <m:sty m:val="p"/>
                          </m:rPr>
                          <a:rPr lang="en-US" sz="2000" dirty="0">
                            <a:latin typeface="Cambria Math" panose="02040503050406030204"/>
                            <a:ea typeface="Cambria Math" panose="02040503050406030204"/>
                          </a:rPr>
                          <m:t>j</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j</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E</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𝐗</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j</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f</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f</m:t>
                        </m:r>
                      </m:e>
                      <m:sub>
                        <m:r>
                          <m:rPr>
                            <m:sty m:val="p"/>
                          </m:rPr>
                          <a:rPr lang="en-US" sz="2000" dirty="0">
                            <a:latin typeface="Cambria Math" panose="02040503050406030204"/>
                            <a:ea typeface="Cambria Math" panose="02040503050406030204"/>
                          </a:rPr>
                          <m:t>j</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j</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f</m:t>
                        </m:r>
                      </m:e>
                      <m:sub>
                        <m:r>
                          <a:rPr lang="en-US" sz="2000" dirty="0">
                            <a:latin typeface="Cambria Math" panose="02040503050406030204"/>
                            <a:ea typeface="Cambria Math" panose="02040503050406030204"/>
                          </a:rPr>
                          <m:t>0</m:t>
                        </m:r>
                      </m:sub>
                    </m:sSub>
                  </m:oMath>
                </a14:m>
                <a:endParaRPr sz="2000" dirty="0"/>
              </a:p>
            </p:txBody>
          </p:sp>
        </mc:Choice>
        <mc:Fallback>
          <p:sp>
            <p:nvSpPr>
              <p:cNvPr id="174" name="textbox 174"/>
              <p:cNvSpPr>
                <a:spLocks noRot="1" noChangeAspect="1" noMove="1" noResize="1" noEditPoints="1" noAdjustHandles="1" noChangeArrowheads="1" noChangeShapeType="1" noTextEdit="1"/>
              </p:cNvSpPr>
              <p:nvPr/>
            </p:nvSpPr>
            <p:spPr>
              <a:xfrm>
                <a:off x="923925" y="5172075"/>
                <a:ext cx="8220075" cy="333375"/>
              </a:xfrm>
              <a:prstGeom prst="rect">
                <a:avLst/>
              </a:prstGeom>
              <a:blipFill rotWithShape="1">
                <a:blip r:embed="rId7"/>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6" name="textbox 176"/>
              <p:cNvSpPr/>
              <p:nvPr/>
            </p:nvSpPr>
            <p:spPr>
              <a:xfrm>
                <a:off x="2171700" y="5734050"/>
                <a:ext cx="10292080" cy="552450"/>
              </a:xfrm>
              <a:prstGeom prst="rect">
                <a:avLst/>
              </a:prstGeom>
              <a:noFill/>
              <a:ln w="0" cap="flat">
                <a:noFill/>
                <a:prstDash val="solid"/>
                <a:miter lim="0"/>
              </a:ln>
            </p:spPr>
            <p:txBody>
              <a:bodyPr vert="horz" wrap="none" lIns="0" tIns="0" rIns="0" bIns="0"/>
              <a:lstStyle/>
              <a:p>
                <a:pPr algn="l" rtl="0" eaLnBrk="0"/>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通用递归定义</a:t>
                </a:r>
                <a:r>
                  <a:rPr sz="20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m:ctrlPr>
                      </m:sSubPr>
                      <m:e>
                        <m:r>
                          <m:rPr>
                            <m:sty m:val="p"/>
                          </m:rPr>
                          <a:rPr lang="en-US" sz="2000" dirty="0">
                            <a:latin typeface="Cambria Math" panose="02040503050406030204"/>
                            <a:ea typeface="Cambria Math" panose="02040503050406030204"/>
                          </a:rPr>
                          <m:t>f</m:t>
                        </m:r>
                      </m:e>
                      <m:sub>
                        <m:r>
                          <m:rPr>
                            <m:sty m:val="p"/>
                          </m:rPr>
                          <a:rPr lang="en-US" sz="2000" dirty="0">
                            <a:latin typeface="Cambria Math" panose="02040503050406030204"/>
                            <a:ea typeface="Cambria Math" panose="02040503050406030204"/>
                          </a:rPr>
                          <m:t>u</m:t>
                        </m:r>
                      </m:sub>
                    </m:sSub>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𝐗</m:t>
                        </m:r>
                      </m:e>
                      <m:sub>
                        <m:r>
                          <m:rPr>
                            <m:sty m:val="p"/>
                          </m:rPr>
                          <a:rPr lang="en-US" sz="2000" dirty="0">
                            <a:latin typeface="Cambria Math" panose="02040503050406030204"/>
                            <a:ea typeface="Cambria Math" panose="02040503050406030204"/>
                          </a:rPr>
                          <m:t>u</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E</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𝐗</m:t>
                    </m:r>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𝐗</m:t>
                        </m:r>
                      </m:e>
                      <m:sub>
                        <m:r>
                          <m:rPr>
                            <m:sty m:val="p"/>
                          </m:rPr>
                          <a:rPr lang="en-US" sz="2000" dirty="0">
                            <a:latin typeface="Cambria Math" panose="02040503050406030204"/>
                            <a:ea typeface="Cambria Math" panose="02040503050406030204"/>
                          </a:rPr>
                          <m:t>u</m:t>
                        </m:r>
                      </m:sub>
                    </m:sSub>
                    <m:r>
                      <a:rPr lang="en-US" sz="2000" dirty="0">
                        <a:latin typeface="Cambria Math" panose="02040503050406030204"/>
                        <a:ea typeface="Cambria Math" panose="02040503050406030204"/>
                      </a:rPr>
                      <m:t>]−</m:t>
                    </m:r>
                    <m:nary>
                      <m:naryPr>
                        <m:chr m:val="∑"/>
                        <m:limLoc m:val="subSup"/>
                        <m:supHide m:val="on"/>
                        <m:ctrlPr>
                          <a:rPr/>
                        </m:ctrlPr>
                      </m:naryPr>
                      <m:sub>
                        <m:r>
                          <m:rPr>
                            <m:sty m:val="p"/>
                          </m:rPr>
                          <a:rPr lang="en-US" sz="2000" dirty="0">
                            <a:latin typeface="Cambria Math" panose="02040503050406030204"/>
                            <a:ea typeface="Cambria Math" panose="02040503050406030204"/>
                          </a:rPr>
                          <m:t>u</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d</m:t>
                        </m:r>
                        <m:r>
                          <a:rPr lang="en-US" sz="2000" dirty="0">
                            <a:latin typeface="Cambria Math" panose="02040503050406030204"/>
                            <a:ea typeface="Cambria Math" panose="02040503050406030204"/>
                          </a:rPr>
                          <m:t>)</m:t>
                        </m:r>
                      </m:sub>
                      <m:sup/>
                      <m:e>
                        <m:sSub>
                          <m:sSubPr>
                            <m:ctrlPr>
                              <a:rPr/>
                            </m:ctrlPr>
                          </m:sSubPr>
                          <m:e>
                            <m:r>
                              <m:rPr>
                                <m:sty m:val="p"/>
                              </m:rPr>
                              <a:rPr lang="en-US" sz="2000" dirty="0">
                                <a:latin typeface="Cambria Math" panose="02040503050406030204"/>
                                <a:ea typeface="Cambria Math" panose="02040503050406030204"/>
                              </a:rPr>
                              <m:t>f</m:t>
                            </m:r>
                          </m:e>
                          <m:sub>
                            <m:r>
                              <m:rPr>
                                <m:sty m:val="p"/>
                              </m:rPr>
                              <a:rPr lang="en-US" sz="2000" dirty="0">
                                <a:latin typeface="Cambria Math" panose="02040503050406030204"/>
                                <a:ea typeface="Cambria Math" panose="02040503050406030204"/>
                              </a:rPr>
                              <m:t>u</m:t>
                            </m:r>
                          </m:sub>
                        </m:sSub>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𝐗</m:t>
                            </m:r>
                          </m:e>
                          <m:sub>
                            <m:r>
                              <m:rPr>
                                <m:sty m:val="p"/>
                              </m:rPr>
                              <a:rPr lang="en-US" sz="2000" dirty="0">
                                <a:latin typeface="Cambria Math" panose="02040503050406030204"/>
                                <a:ea typeface="Cambria Math" panose="02040503050406030204"/>
                              </a:rPr>
                              <m:t>u</m:t>
                            </m:r>
                          </m:sub>
                        </m:sSub>
                        <m:r>
                          <a:rPr lang="en-US" sz="2000" dirty="0">
                            <a:latin typeface="Cambria Math" panose="02040503050406030204"/>
                            <a:ea typeface="Cambria Math" panose="02040503050406030204"/>
                          </a:rPr>
                          <m:t>)</m:t>
                        </m:r>
                      </m:e>
                    </m:nary>
                  </m:oMath>
                </a14:m>
                <a:endParaRPr sz="2000" dirty="0"/>
              </a:p>
            </p:txBody>
          </p:sp>
        </mc:Choice>
        <mc:Fallback>
          <p:sp>
            <p:nvSpPr>
              <p:cNvPr id="176" name="textbox 176"/>
              <p:cNvSpPr>
                <a:spLocks noRot="1" noChangeAspect="1" noMove="1" noResize="1" noEditPoints="1" noAdjustHandles="1" noChangeArrowheads="1" noChangeShapeType="1" noTextEdit="1"/>
              </p:cNvSpPr>
              <p:nvPr/>
            </p:nvSpPr>
            <p:spPr>
              <a:xfrm>
                <a:off x="2171700" y="5734050"/>
                <a:ext cx="10292080" cy="552450"/>
              </a:xfrm>
              <a:prstGeom prst="rect">
                <a:avLst/>
              </a:prstGeom>
              <a:blipFill rotWithShape="1">
                <a:blip r:embed="rId8"/>
                <a:stretch>
                  <a:fillRect/>
                </a:stretch>
              </a:blipFill>
              <a:ln w="0" cap="flat">
                <a:noFill/>
                <a:prstDash val="solid"/>
                <a:miter lim="0"/>
              </a:ln>
            </p:spPr>
            <p:txBody>
              <a:bodyPr/>
              <a:lstStyle/>
              <a:p>
                <a:r>
                  <a:rPr lang="zh-CN" altLang="en-US">
                    <a:noFill/>
                  </a:rPr>
                  <a:t> </a:t>
                </a:r>
              </a:p>
            </p:txBody>
          </p:sp>
        </mc:Fallback>
      </mc:AlternateContent>
      <p:sp>
        <p:nvSpPr>
          <p:cNvPr id="178" name="textbox 178"/>
          <p:cNvSpPr/>
          <p:nvPr/>
        </p:nvSpPr>
        <p:spPr>
          <a:xfrm>
            <a:off x="10525125" y="6248400"/>
            <a:ext cx="1190625" cy="361950"/>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Wassily Hoeffding</a:t>
            </a:r>
            <a:endParaRPr sz="1200" dirty="0"/>
          </a:p>
          <a:p>
            <a:pPr marL="180975" algn="l"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(1914-1991)</a:t>
            </a:r>
            <a:endParaRPr sz="1200" dirty="0"/>
          </a:p>
        </p:txBody>
      </p:sp>
      <p:sp>
        <p:nvSpPr>
          <p:cNvPr id="180" name="textbox 180"/>
          <p:cNvSpPr/>
          <p:nvPr/>
        </p:nvSpPr>
        <p:spPr>
          <a:xfrm>
            <a:off x="514350" y="6429375"/>
            <a:ext cx="8972550" cy="200025"/>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Arial" panose="020B0604020202020204"/>
                <a:ea typeface="Arial" panose="020B0604020202020204"/>
                <a:cs typeface="Arial" panose="020B0604020202020204"/>
              </a:rPr>
              <a:t>Hoeffding W. A class of statistics with asymptotically normal distribution. The Annals of Mathematical Statistics. 1948, 19(3): 293-325.</a:t>
            </a:r>
            <a:endParaRPr sz="1200" dirty="0"/>
          </a:p>
        </p:txBody>
      </p:sp>
      <p:sp>
        <p:nvSpPr>
          <p:cNvPr id="182" name="textbox 18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 name="picture 186"/>
          <p:cNvPicPr>
            <a:picLocks noChangeAspect="1"/>
          </p:cNvPicPr>
          <p:nvPr/>
        </p:nvPicPr>
        <p:blipFill>
          <a:blip r:embed="rId1"/>
          <a:stretch>
            <a:fillRect/>
          </a:stretch>
        </p:blipFill>
        <p:spPr>
          <a:xfrm>
            <a:off x="0" y="0"/>
            <a:ext cx="12192000" cy="6858000"/>
          </a:xfrm>
          <a:prstGeom prst="rect">
            <a:avLst/>
          </a:prstGeom>
        </p:spPr>
      </p:pic>
      <p:sp>
        <p:nvSpPr>
          <p:cNvPr id="188" name="textbox 188"/>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90" name="textbox 190"/>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92" name="textbox 19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87FA6">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96" name="picture 196"/>
          <p:cNvPicPr>
            <a:picLocks noChangeAspect="1"/>
          </p:cNvPicPr>
          <p:nvPr/>
        </p:nvPicPr>
        <p:blipFill>
          <a:blip r:embed="rId2"/>
          <a:stretch>
            <a:fillRect/>
          </a:stretch>
        </p:blipFill>
        <p:spPr>
          <a:xfrm>
            <a:off x="295275" y="247650"/>
            <a:ext cx="733425" cy="666750"/>
          </a:xfrm>
          <a:prstGeom prst="rect">
            <a:avLst/>
          </a:prstGeom>
        </p:spPr>
      </p:pic>
      <p:sp>
        <p:nvSpPr>
          <p:cNvPr id="198" name="textbox 198"/>
          <p:cNvSpPr/>
          <p:nvPr/>
        </p:nvSpPr>
        <p:spPr>
          <a:xfrm>
            <a:off x="1457325" y="333375"/>
            <a:ext cx="9591675" cy="40957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应对维数诅咒的工程方案：高维模型表示（</a:t>
            </a:r>
            <a:r>
              <a:rPr sz="2800" b="1" kern="0" spc="0" dirty="0">
                <a:solidFill>
                  <a:srgbClr val="FFFFFF">
                    <a:alpha val="100000"/>
                  </a:srgbClr>
                </a:solidFill>
                <a:latin typeface="Arial" panose="020B0604020202020204"/>
                <a:ea typeface="Arial" panose="020B0604020202020204"/>
                <a:cs typeface="Arial" panose="020B0604020202020204"/>
              </a:rPr>
              <a:t>HDMR, 1990s</a:t>
            </a:r>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a:t>
            </a:r>
            <a:endParaRPr sz="2800" dirty="0"/>
          </a:p>
        </p:txBody>
      </p:sp>
      <p:sp>
        <p:nvSpPr>
          <p:cNvPr id="200" name="textbox 200"/>
          <p:cNvSpPr/>
          <p:nvPr/>
        </p:nvSpPr>
        <p:spPr>
          <a:xfrm>
            <a:off x="1447800" y="752475"/>
            <a:ext cx="4010025"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High-Dimensional Model Representations (HDMR)</a:t>
            </a:r>
            <a:endParaRPr sz="1400" dirty="0"/>
          </a:p>
        </p:txBody>
      </p:sp>
      <p:sp>
        <p:nvSpPr>
          <p:cNvPr id="202" name="textbox 202"/>
          <p:cNvSpPr/>
          <p:nvPr/>
        </p:nvSpPr>
        <p:spPr>
          <a:xfrm>
            <a:off x="533400" y="1247775"/>
            <a:ext cx="5276850" cy="276225"/>
          </a:xfrm>
          <a:prstGeom prst="rect">
            <a:avLst/>
          </a:prstGeom>
          <a:noFill/>
          <a:ln w="0" cap="flat">
            <a:noFill/>
            <a:prstDash val="solid"/>
            <a:miter lim="0"/>
          </a:ln>
        </p:spPr>
        <p:txBody>
          <a:bodyPr vert="horz" wrap="none" lIns="0" tIns="0" rIns="0" bIns="0"/>
          <a:lstStyle/>
          <a:p>
            <a:pPr marL="371475" indent="-342900" algn="l" rtl="0" eaLnBrk="0">
              <a:buChar char="•"/>
            </a:pPr>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HDMR的提出：基于物理直觉的启发式方法</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204" name="textbox 204"/>
          <p:cNvSpPr/>
          <p:nvPr/>
        </p:nvSpPr>
        <p:spPr>
          <a:xfrm>
            <a:off x="876300" y="1724025"/>
            <a:ext cx="8582025" cy="285750"/>
          </a:xfrm>
          <a:prstGeom prst="rect">
            <a:avLst/>
          </a:prstGeom>
          <a:noFill/>
          <a:ln w="0" cap="flat">
            <a:noFill/>
            <a:prstDash val="solid"/>
            <a:miter lim="0"/>
          </a:ln>
        </p:spPr>
        <p:txBody>
          <a:bodyPr vert="horz" wrap="none" lIns="0" tIns="0" rIns="0" bIns="0"/>
          <a:lstStyle/>
          <a:p>
            <a:pPr algn="l" rtl="0" eaLnBrk="0"/>
            <a:r>
              <a:rPr sz="2000" kern="0" spc="0" dirty="0">
                <a:solidFill>
                  <a:srgbClr val="0070BC">
                    <a:alpha val="100000"/>
                  </a:srgbClr>
                </a:solidFill>
                <a:latin typeface="Times New Roman" panose="02020603050405020304"/>
                <a:ea typeface="Times New Roman" panose="02020603050405020304"/>
                <a:cs typeface="Times New Roman" panose="02020603050405020304"/>
              </a:rPr>
              <a:t>1990</a:t>
            </a: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年代，普林斯顿大学的物理化学家</a:t>
            </a:r>
            <a:r>
              <a:rPr sz="2000" kern="0" spc="0" dirty="0">
                <a:solidFill>
                  <a:srgbClr val="0070BC">
                    <a:alpha val="100000"/>
                  </a:srgbClr>
                </a:solidFill>
                <a:latin typeface="Times New Roman" panose="02020603050405020304"/>
                <a:ea typeface="Times New Roman" panose="02020603050405020304"/>
                <a:cs typeface="Times New Roman" panose="02020603050405020304"/>
              </a:rPr>
              <a:t>Rabitz</a:t>
            </a: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及合作者提出并系统化</a:t>
            </a:r>
            <a:r>
              <a:rPr sz="2000" kern="0" spc="0" dirty="0">
                <a:solidFill>
                  <a:srgbClr val="0070BC">
                    <a:alpha val="100000"/>
                  </a:srgbClr>
                </a:solidFill>
                <a:latin typeface="Times New Roman" panose="02020603050405020304"/>
                <a:ea typeface="Times New Roman" panose="02020603050405020304"/>
                <a:cs typeface="Times New Roman" panose="02020603050405020304"/>
              </a:rPr>
              <a:t>HDMR:</a:t>
            </a:r>
            <a:endParaRPr sz="2000" kern="0" spc="0" dirty="0">
              <a:solidFill>
                <a:srgbClr val="0070BC">
                  <a:alpha val="100000"/>
                </a:srgbClr>
              </a:solidFill>
              <a:latin typeface="Times New Roman" panose="02020603050405020304"/>
              <a:ea typeface="Times New Roman" panose="02020603050405020304"/>
              <a:cs typeface="Times New Roman" panose="02020603050405020304"/>
            </a:endParaRPr>
          </a:p>
        </p:txBody>
      </p:sp>
      <p:pic>
        <p:nvPicPr>
          <p:cNvPr id="214" name="picture 214"/>
          <p:cNvPicPr>
            <a:picLocks noChangeAspect="1"/>
          </p:cNvPicPr>
          <p:nvPr/>
        </p:nvPicPr>
        <p:blipFill>
          <a:blip r:embed="rId3"/>
          <a:stretch>
            <a:fillRect/>
          </a:stretch>
        </p:blipFill>
        <p:spPr>
          <a:xfrm>
            <a:off x="10439400" y="4448175"/>
            <a:ext cx="1285875" cy="1724025"/>
          </a:xfrm>
          <a:prstGeom prst="rect">
            <a:avLst/>
          </a:prstGeom>
        </p:spPr>
      </p:pic>
      <p:pic>
        <p:nvPicPr>
          <p:cNvPr id="218" name="picture 218"/>
          <p:cNvPicPr>
            <a:picLocks noChangeAspect="1"/>
          </p:cNvPicPr>
          <p:nvPr/>
        </p:nvPicPr>
        <p:blipFill>
          <a:blip r:embed="rId4"/>
          <a:stretch>
            <a:fillRect/>
          </a:stretch>
        </p:blipFill>
        <p:spPr>
          <a:xfrm>
            <a:off x="857250" y="4838700"/>
            <a:ext cx="8934450" cy="1581150"/>
          </a:xfrm>
          <a:prstGeom prst="rect">
            <a:avLst/>
          </a:prstGeom>
        </p:spPr>
      </p:pic>
      <p:sp>
        <p:nvSpPr>
          <p:cNvPr id="230" name="textbox 230"/>
          <p:cNvSpPr/>
          <p:nvPr/>
        </p:nvSpPr>
        <p:spPr>
          <a:xfrm>
            <a:off x="10610850" y="6257925"/>
            <a:ext cx="1019175" cy="142875"/>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Herschel Rabitz</a:t>
            </a:r>
            <a:endParaRPr sz="1200" dirty="0"/>
          </a:p>
        </p:txBody>
      </p:sp>
      <p:sp>
        <p:nvSpPr>
          <p:cNvPr id="232" name="textbox 232"/>
          <p:cNvSpPr/>
          <p:nvPr/>
        </p:nvSpPr>
        <p:spPr>
          <a:xfrm>
            <a:off x="514350" y="6448425"/>
            <a:ext cx="9363075" cy="180975"/>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Arial" panose="020B0604020202020204"/>
                <a:ea typeface="Arial" panose="020B0604020202020204"/>
                <a:cs typeface="Arial" panose="020B0604020202020204"/>
              </a:rPr>
              <a:t>Rabitz A, Alis O F. General foundations of high-dimensional model representations. Journal of Mathematical Chemistry, 1999, 25: 197-233.</a:t>
            </a:r>
            <a:endParaRPr sz="1200" dirty="0"/>
          </a:p>
        </p:txBody>
      </p:sp>
      <p:sp>
        <p:nvSpPr>
          <p:cNvPr id="234" name="textbox 234"/>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36" name="textbox 236"/>
          <p:cNvSpPr/>
          <p:nvPr/>
        </p:nvSpPr>
        <p:spPr>
          <a:xfrm>
            <a:off x="11753850" y="6734175"/>
            <a:ext cx="123825" cy="114300"/>
          </a:xfrm>
          <a:prstGeom prst="rect">
            <a:avLst/>
          </a:prstGeom>
          <a:noFill/>
          <a:ln w="0" cap="flat">
            <a:noFill/>
            <a:prstDash val="solid"/>
            <a:miter lim="0"/>
          </a:ln>
        </p:spPr>
        <p:txBody>
          <a:bodyPr vert="horz" wrap="none" lIns="0" tIns="0" rIns="0" bIns="0"/>
          <a:lstStyle/>
          <a:p>
            <a:pPr algn="l" rtl="0" eaLnBrk="0"/>
            <a:r>
              <a:rPr sz="900" kern="0" spc="0" dirty="0">
                <a:solidFill>
                  <a:srgbClr val="FFFFFF">
                    <a:alpha val="100000"/>
                  </a:srgbClr>
                </a:solidFill>
                <a:latin typeface="Arial" panose="020B0604020202020204"/>
                <a:ea typeface="Arial" panose="020B0604020202020204"/>
                <a:cs typeface="Arial" panose="020B0604020202020204"/>
              </a:rPr>
              <a:t>[6]</a:t>
            </a:r>
            <a:endParaRPr sz="900" dirty="0"/>
          </a:p>
        </p:txBody>
      </p:sp>
      <p:pic>
        <p:nvPicPr>
          <p:cNvPr id="10" name="picture 10"/>
          <p:cNvPicPr>
            <a:picLocks noChangeAspect="1"/>
          </p:cNvPicPr>
          <p:nvPr/>
        </p:nvPicPr>
        <p:blipFill>
          <a:blip r:embed="rId5"/>
          <a:stretch>
            <a:fillRect/>
          </a:stretch>
        </p:blipFill>
        <p:spPr>
          <a:xfrm rot="21600000">
            <a:off x="3130539" y="4832352"/>
            <a:ext cx="6642080" cy="1581180"/>
          </a:xfrm>
          <a:prstGeom prst="rect">
            <a:avLst/>
          </a:prstGeom>
        </p:spPr>
      </p:pic>
      <p:pic>
        <p:nvPicPr>
          <p:cNvPr id="12" name="picture 12"/>
          <p:cNvPicPr>
            <a:picLocks noChangeAspect="1"/>
          </p:cNvPicPr>
          <p:nvPr/>
        </p:nvPicPr>
        <p:blipFill>
          <a:blip r:embed="rId6"/>
          <a:stretch>
            <a:fillRect/>
          </a:stretch>
        </p:blipFill>
        <p:spPr>
          <a:xfrm rot="21600000">
            <a:off x="3124200" y="3530567"/>
            <a:ext cx="5060899" cy="1187462"/>
          </a:xfrm>
          <a:prstGeom prst="rect">
            <a:avLst/>
          </a:prstGeom>
        </p:spPr>
      </p:pic>
      <p:pic>
        <p:nvPicPr>
          <p:cNvPr id="16" name="picture 16"/>
          <p:cNvPicPr>
            <a:picLocks noChangeAspect="1"/>
          </p:cNvPicPr>
          <p:nvPr/>
        </p:nvPicPr>
        <p:blipFill>
          <a:blip r:embed="rId7"/>
          <a:stretch>
            <a:fillRect/>
          </a:stretch>
        </p:blipFill>
        <p:spPr>
          <a:xfrm rot="21600000">
            <a:off x="2228801" y="2939627"/>
            <a:ext cx="6191589" cy="514747"/>
          </a:xfrm>
          <a:prstGeom prst="rect">
            <a:avLst/>
          </a:prstGeom>
        </p:spPr>
      </p:pic>
      <p:sp>
        <p:nvSpPr>
          <p:cNvPr id="18" name="textbox 18"/>
          <p:cNvSpPr/>
          <p:nvPr/>
        </p:nvSpPr>
        <p:spPr>
          <a:xfrm>
            <a:off x="870000" y="4007247"/>
            <a:ext cx="1423035" cy="1822450"/>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85000"/>
              </a:lnSpc>
            </a:pPr>
            <a:r>
              <a:rPr sz="2100" kern="0" spc="-60" dirty="0">
                <a:solidFill>
                  <a:srgbClr val="103070">
                    <a:alpha val="100000"/>
                  </a:srgbClr>
                </a:solidFill>
                <a:latin typeface="宋体" panose="02010600030101010101" pitchFamily="2" charset="-122"/>
                <a:ea typeface="宋体" panose="02010600030101010101" pitchFamily="2" charset="-122"/>
                <a:cs typeface="宋体" panose="02010600030101010101" pitchFamily="2" charset="-122"/>
              </a:rPr>
              <a:t>·</a:t>
            </a:r>
            <a:r>
              <a:rPr sz="2100" kern="0" spc="-6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Cut-HDMR:</a:t>
            </a:r>
            <a:endParaRPr sz="2100" dirty="0">
              <a:solidFill>
                <a:srgbClr val="0070BC"/>
              </a:solidFill>
              <a:latin typeface="宋体" panose="02010600030101010101" pitchFamily="2" charset="-122"/>
              <a:ea typeface="宋体" panose="02010600030101010101" pitchFamily="2" charset="-122"/>
              <a:cs typeface="宋体" panose="02010600030101010101" pitchFamily="2"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12700" algn="l" rtl="0" eaLnBrk="0">
              <a:lnSpc>
                <a:spcPct val="85000"/>
              </a:lnSpc>
              <a:spcBef>
                <a:spcPts val="0"/>
              </a:spcBef>
            </a:pPr>
            <a:r>
              <a:rPr sz="2100" kern="0" spc="-80" dirty="0">
                <a:solidFill>
                  <a:srgbClr val="000030">
                    <a:alpha val="100000"/>
                  </a:srgbClr>
                </a:solidFill>
                <a:latin typeface="宋体" panose="02010600030101010101" pitchFamily="2" charset="-122"/>
                <a:ea typeface="宋体" panose="02010600030101010101" pitchFamily="2" charset="-122"/>
                <a:cs typeface="宋体" panose="02010600030101010101" pitchFamily="2" charset="-122"/>
              </a:rPr>
              <a:t>·</a:t>
            </a:r>
            <a:r>
              <a:rPr sz="2100" kern="0" spc="-37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 </a:t>
            </a:r>
            <a:r>
              <a:rPr sz="2100" kern="0" spc="-8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RS-HDMR</a:t>
            </a:r>
            <a:r>
              <a:rPr sz="2100" kern="0" spc="-80" dirty="0">
                <a:solidFill>
                  <a:srgbClr val="103070">
                    <a:alpha val="100000"/>
                  </a:srgbClr>
                </a:solidFill>
                <a:latin typeface="宋体" panose="02010600030101010101" pitchFamily="2" charset="-122"/>
                <a:ea typeface="宋体" panose="02010600030101010101" pitchFamily="2" charset="-122"/>
                <a:cs typeface="宋体" panose="02010600030101010101" pitchFamily="2" charset="-122"/>
              </a:rPr>
              <a:t>:</a:t>
            </a:r>
            <a:endParaRPr sz="2100" dirty="0">
              <a:latin typeface="宋体" panose="02010600030101010101" pitchFamily="2" charset="-122"/>
              <a:ea typeface="宋体" panose="02010600030101010101" pitchFamily="2" charset="-122"/>
              <a:cs typeface="宋体" panose="02010600030101010101" pitchFamily="2" charset="-122"/>
            </a:endParaRPr>
          </a:p>
        </p:txBody>
      </p:sp>
      <p:pic>
        <p:nvPicPr>
          <p:cNvPr id="24" name="picture 24"/>
          <p:cNvPicPr>
            <a:picLocks noChangeAspect="1"/>
          </p:cNvPicPr>
          <p:nvPr/>
        </p:nvPicPr>
        <p:blipFill>
          <a:blip r:embed="rId8"/>
          <a:stretch>
            <a:fillRect/>
          </a:stretch>
        </p:blipFill>
        <p:spPr>
          <a:xfrm rot="21600000">
            <a:off x="2228420" y="2228579"/>
            <a:ext cx="3524740" cy="514620"/>
          </a:xfrm>
          <a:prstGeom prst="rect">
            <a:avLst/>
          </a:prstGeom>
        </p:spPr>
      </p:pic>
      <p:sp>
        <p:nvSpPr>
          <p:cNvPr id="30" name="textbox 30"/>
          <p:cNvSpPr/>
          <p:nvPr/>
        </p:nvSpPr>
        <p:spPr>
          <a:xfrm>
            <a:off x="870000" y="2958269"/>
            <a:ext cx="1241425" cy="276860"/>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2700" algn="l" rtl="0" eaLnBrk="0">
              <a:lnSpc>
                <a:spcPct val="87000"/>
              </a:lnSpc>
            </a:pPr>
            <a:r>
              <a:rPr sz="1900" kern="0" spc="-14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一般形式</a:t>
            </a:r>
            <a:r>
              <a:rPr sz="1900" kern="0" spc="-140" dirty="0">
                <a:solidFill>
                  <a:srgbClr val="10307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900" dirty="0">
              <a:latin typeface="宋体" panose="02010600030101010101" pitchFamily="2" charset="-122"/>
              <a:ea typeface="宋体" panose="02010600030101010101" pitchFamily="2" charset="-122"/>
              <a:cs typeface="宋体" panose="02010600030101010101" pitchFamily="2" charset="-122"/>
            </a:endParaRPr>
          </a:p>
        </p:txBody>
      </p:sp>
      <p:sp>
        <p:nvSpPr>
          <p:cNvPr id="32" name="textbox 32"/>
          <p:cNvSpPr/>
          <p:nvPr/>
        </p:nvSpPr>
        <p:spPr>
          <a:xfrm>
            <a:off x="870000" y="2228438"/>
            <a:ext cx="749300" cy="30480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96000"/>
              </a:lnSpc>
            </a:pPr>
            <a:r>
              <a:rPr sz="1900" kern="0" spc="-15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雏形</a:t>
            </a:r>
            <a:r>
              <a:rPr sz="1900" kern="0" spc="-150" dirty="0">
                <a:solidFill>
                  <a:srgbClr val="20407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9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 name="picture 240"/>
          <p:cNvPicPr>
            <a:picLocks noChangeAspect="1"/>
          </p:cNvPicPr>
          <p:nvPr/>
        </p:nvPicPr>
        <p:blipFill>
          <a:blip r:embed="rId1"/>
          <a:stretch>
            <a:fillRect/>
          </a:stretch>
        </p:blipFill>
        <p:spPr>
          <a:xfrm>
            <a:off x="0" y="0"/>
            <a:ext cx="12192000" cy="6858000"/>
          </a:xfrm>
          <a:prstGeom prst="rect">
            <a:avLst/>
          </a:prstGeom>
        </p:spPr>
      </p:pic>
      <p:sp>
        <p:nvSpPr>
          <p:cNvPr id="242" name="textbox 242"/>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44" name="textbox 244"/>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46" name="textbox 24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87FA6">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50" name="picture 250"/>
          <p:cNvPicPr>
            <a:picLocks noChangeAspect="1"/>
          </p:cNvPicPr>
          <p:nvPr/>
        </p:nvPicPr>
        <p:blipFill>
          <a:blip r:embed="rId2"/>
          <a:stretch>
            <a:fillRect/>
          </a:stretch>
        </p:blipFill>
        <p:spPr>
          <a:xfrm>
            <a:off x="295275" y="247650"/>
            <a:ext cx="733425" cy="666750"/>
          </a:xfrm>
          <a:prstGeom prst="rect">
            <a:avLst/>
          </a:prstGeom>
        </p:spPr>
      </p:pic>
      <p:sp>
        <p:nvSpPr>
          <p:cNvPr id="252" name="textbox 252"/>
          <p:cNvSpPr/>
          <p:nvPr/>
        </p:nvSpPr>
        <p:spPr>
          <a:xfrm>
            <a:off x="1457325" y="333375"/>
            <a:ext cx="7953375"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基于方差的整体敏感性分析：Sobol'灵敏度指数</a:t>
            </a:r>
            <a:endParaRPr sz="2800" dirty="0"/>
          </a:p>
        </p:txBody>
      </p:sp>
      <p:sp>
        <p:nvSpPr>
          <p:cNvPr id="254" name="textbox 254"/>
          <p:cNvSpPr/>
          <p:nvPr/>
        </p:nvSpPr>
        <p:spPr>
          <a:xfrm>
            <a:off x="1447800" y="752475"/>
            <a:ext cx="530542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Variance-based Global Sensitivity Analysis: Sobol' Sensitivity Index</a:t>
            </a:r>
            <a:endParaRPr sz="1400" dirty="0"/>
          </a:p>
        </p:txBody>
      </p:sp>
      <p:sp>
        <p:nvSpPr>
          <p:cNvPr id="256" name="textbox 256"/>
          <p:cNvSpPr/>
          <p:nvPr/>
        </p:nvSpPr>
        <p:spPr>
          <a:xfrm>
            <a:off x="542925" y="1228725"/>
            <a:ext cx="102108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 </a:t>
            </a:r>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从显著性到重要性：ANOVA思想在不确定性量化 (UQ) 时代的进化 -- Sobol'灵敏度</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258" name="textbox 258"/>
              <p:cNvSpPr/>
              <p:nvPr/>
            </p:nvSpPr>
            <p:spPr>
              <a:xfrm>
                <a:off x="1362075" y="1771650"/>
                <a:ext cx="6819900" cy="5715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400" dirty="0">
                          <a:latin typeface="Cambria Math" panose="02040503050406030204"/>
                          <a:ea typeface="Cambria Math" panose="02040503050406030204"/>
                        </a:rPr>
                        <m:t>f</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X</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f</m:t>
                          </m:r>
                        </m:e>
                        <m:sub>
                          <m:r>
                            <a:rPr lang="en-US" sz="2400" dirty="0">
                              <a:latin typeface="Cambria Math" panose="02040503050406030204"/>
                              <a:ea typeface="Cambria Math" panose="02040503050406030204"/>
                            </a:rPr>
                            <m:t>0</m:t>
                          </m:r>
                        </m:sub>
                      </m:sSub>
                      <m:r>
                        <a:rPr lang="en-US" sz="2400" dirty="0">
                          <a:latin typeface="Cambria Math" panose="02040503050406030204"/>
                          <a:ea typeface="Cambria Math" panose="02040503050406030204"/>
                        </a:rPr>
                        <m:t>+</m:t>
                      </m:r>
                      <m:nary>
                        <m:naryPr>
                          <m:chr m:val="∑"/>
                          <m:limLoc m:val="subSup"/>
                          <m:supHide m:val="on"/>
                          <m:ctrlPr>
                            <a:rPr/>
                          </m:ctrlPr>
                        </m:naryPr>
                        <m:sub>
                          <m:r>
                            <m:rPr>
                              <m:sty m:val="p"/>
                            </m:rPr>
                            <a:rPr lang="en-US" sz="2400" dirty="0">
                              <a:latin typeface="Cambria Math" panose="02040503050406030204"/>
                              <a:ea typeface="Cambria Math" panose="02040503050406030204"/>
                            </a:rPr>
                            <m:t>i</m:t>
                          </m:r>
                        </m:sub>
                        <m:sup/>
                        <m:e>
                          <m:sSub>
                            <m:sSubPr>
                              <m:ctrlPr>
                                <a:rPr/>
                              </m:ctrlPr>
                            </m:sSubPr>
                            <m:e>
                              <m:r>
                                <m:rPr>
                                  <m:sty m:val="p"/>
                                </m:rPr>
                                <a:rPr lang="en-US" sz="2400" dirty="0">
                                  <a:latin typeface="Cambria Math" panose="02040503050406030204"/>
                                  <a:ea typeface="Cambria Math" panose="02040503050406030204"/>
                                </a:rPr>
                                <m:t>f</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e>
                      </m:nary>
                      <m:nary>
                        <m:naryPr>
                          <m:chr m:val="∑"/>
                          <m:limLoc m:val="subSup"/>
                          <m:supHide m:val="on"/>
                          <m:ctrlPr>
                            <a:rPr/>
                          </m:ctrlPr>
                        </m:naryPr>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&lt;</m:t>
                          </m:r>
                          <m:r>
                            <m:rPr>
                              <m:sty m:val="p"/>
                            </m:rPr>
                            <a:rPr lang="en-US" sz="2400" dirty="0">
                              <a:latin typeface="Cambria Math" panose="02040503050406030204"/>
                              <a:ea typeface="Cambria Math" panose="02040503050406030204"/>
                            </a:rPr>
                            <m:t>j</m:t>
                          </m:r>
                        </m:sub>
                        <m:sup/>
                        <m:e>
                          <m:sSub>
                            <m:sSubPr>
                              <m:ctrlPr>
                                <a:rPr/>
                              </m:ctrlPr>
                            </m:sSubPr>
                            <m:e>
                              <m:r>
                                <m:rPr>
                                  <m:sty m:val="p"/>
                                </m:rPr>
                                <a:rPr lang="en-US" sz="2400" dirty="0">
                                  <a:latin typeface="Cambria Math" panose="02040503050406030204"/>
                                  <a:ea typeface="Cambria Math" panose="02040503050406030204"/>
                                </a:rPr>
                                <m:t>f</m:t>
                              </m:r>
                            </m:e>
                            <m:sub>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j</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j</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f</m:t>
                              </m:r>
                            </m:e>
                            <m:sub>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d</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a:rPr lang="en-US" sz="2400" dirty="0">
                                  <a:latin typeface="Cambria Math" panose="02040503050406030204"/>
                                  <a:ea typeface="Cambria Math" panose="02040503050406030204"/>
                                </a:rPr>
                                <m:t>1</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a:rPr lang="en-US" sz="2400" dirty="0">
                                  <a:latin typeface="Cambria Math" panose="02040503050406030204"/>
                                  <a:ea typeface="Cambria Math" panose="02040503050406030204"/>
                                </a:rPr>
                                <m:t>2</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X</m:t>
                              </m:r>
                            </m:e>
                            <m:sub>
                              <m:r>
                                <m:rPr>
                                  <m:sty m:val="p"/>
                                </m:rPr>
                                <a:rPr lang="en-US" sz="2400" dirty="0">
                                  <a:latin typeface="Cambria Math" panose="02040503050406030204"/>
                                  <a:ea typeface="Cambria Math" panose="02040503050406030204"/>
                                </a:rPr>
                                <m:t>d</m:t>
                              </m:r>
                            </m:sub>
                          </m:sSub>
                          <m:r>
                            <a:rPr lang="en-US" sz="2400" dirty="0">
                              <a:latin typeface="Cambria Math" panose="02040503050406030204"/>
                              <a:ea typeface="Cambria Math" panose="02040503050406030204"/>
                            </a:rPr>
                            <m:t>)</m:t>
                          </m:r>
                        </m:e>
                      </m:nary>
                    </m:oMath>
                  </m:oMathPara>
                </a14:m>
                <a:endParaRPr sz="600" dirty="0"/>
              </a:p>
            </p:txBody>
          </p:sp>
        </mc:Choice>
        <mc:Fallback>
          <p:sp>
            <p:nvSpPr>
              <p:cNvPr id="258" name="textbox 258"/>
              <p:cNvSpPr>
                <a:spLocks noRot="1" noChangeAspect="1" noMove="1" noResize="1" noEditPoints="1" noAdjustHandles="1" noChangeArrowheads="1" noChangeShapeType="1" noTextEdit="1"/>
              </p:cNvSpPr>
              <p:nvPr/>
            </p:nvSpPr>
            <p:spPr>
              <a:xfrm>
                <a:off x="1362075" y="1771650"/>
                <a:ext cx="6819900" cy="571500"/>
              </a:xfrm>
              <a:prstGeom prst="rect">
                <a:avLst/>
              </a:prstGeom>
              <a:blipFill rotWithShape="1">
                <a:blip r:embed="rId3"/>
                <a:stretch>
                  <a:fillRect r="-24544" b="-25667"/>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0" name="textbox 260"/>
              <p:cNvSpPr/>
              <p:nvPr/>
            </p:nvSpPr>
            <p:spPr>
              <a:xfrm>
                <a:off x="1390650" y="2466975"/>
                <a:ext cx="9163050" cy="7143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200" dirty="0">
                          <a:latin typeface="Cambria Math" panose="02040503050406030204"/>
                          <a:ea typeface="Cambria Math" panose="02040503050406030204"/>
                        </a:rPr>
                        <m:t>Var</m:t>
                      </m:r>
                      <m:r>
                        <a:rPr lang="en-US" sz="2200" dirty="0">
                          <a:latin typeface="Cambria Math" panose="02040503050406030204"/>
                          <a:ea typeface="Cambria Math" panose="02040503050406030204"/>
                        </a:rPr>
                        <m:t>[</m:t>
                      </m:r>
                      <m:r>
                        <m:rPr>
                          <m:sty m:val="p"/>
                        </m:rPr>
                        <a:rPr lang="en-US" sz="2200" dirty="0">
                          <a:latin typeface="Cambria Math" panose="02040503050406030204"/>
                          <a:ea typeface="Cambria Math" panose="02040503050406030204"/>
                        </a:rPr>
                        <m:t>f</m:t>
                      </m:r>
                      <m:r>
                        <a:rPr lang="en-US" sz="2200" dirty="0">
                          <a:latin typeface="Cambria Math" panose="02040503050406030204"/>
                          <a:ea typeface="Cambria Math" panose="02040503050406030204"/>
                        </a:rPr>
                        <m:t>(</m:t>
                      </m:r>
                      <m:r>
                        <a:rPr lang="en-US" sz="2200" dirty="0">
                          <a:latin typeface="Cambria Math" panose="02040503050406030204"/>
                          <a:ea typeface="Cambria Math" panose="02040503050406030204"/>
                        </a:rPr>
                        <m:t>𝐗</m:t>
                      </m:r>
                      <m:r>
                        <a:rPr lang="en-US" sz="2200" dirty="0">
                          <a:latin typeface="Cambria Math" panose="02040503050406030204"/>
                          <a:ea typeface="Cambria Math" panose="02040503050406030204"/>
                        </a:rPr>
                        <m:t>)]=</m:t>
                      </m:r>
                      <m:nary>
                        <m:naryPr>
                          <m:chr m:val="∑"/>
                          <m:limLoc m:val="subSup"/>
                          <m:ctrlPr>
                            <a:rPr/>
                          </m:ctrlPr>
                        </m:naryPr>
                        <m:sub>
                          <m:r>
                            <m:rPr>
                              <m:sty m:val="p"/>
                            </m:rPr>
                            <a:rPr lang="en-US" sz="2200" dirty="0">
                              <a:latin typeface="Cambria Math" panose="02040503050406030204"/>
                              <a:ea typeface="Cambria Math" panose="02040503050406030204"/>
                            </a:rPr>
                            <m:t>i</m:t>
                          </m:r>
                          <m:r>
                            <a:rPr lang="en-US" sz="2200" dirty="0">
                              <a:latin typeface="Cambria Math" panose="02040503050406030204"/>
                              <a:ea typeface="Cambria Math" panose="02040503050406030204"/>
                            </a:rPr>
                            <m:t>=</m:t>
                          </m:r>
                          <m:r>
                            <a:rPr lang="en-US" sz="2200" dirty="0">
                              <a:latin typeface="Cambria Math" panose="02040503050406030204"/>
                              <a:ea typeface="Cambria Math" panose="02040503050406030204"/>
                            </a:rPr>
                            <m:t>1</m:t>
                          </m:r>
                        </m:sub>
                        <m:sup>
                          <m:r>
                            <m:rPr>
                              <m:sty m:val="p"/>
                            </m:rPr>
                            <a:rPr lang="en-US" sz="2200" dirty="0">
                              <a:latin typeface="Cambria Math" panose="02040503050406030204"/>
                              <a:ea typeface="Cambria Math" panose="02040503050406030204"/>
                            </a:rPr>
                            <m:t>N</m:t>
                          </m:r>
                        </m:sup>
                        <m:e>
                          <m:r>
                            <m:rPr>
                              <m:sty m:val="p"/>
                            </m:rPr>
                            <a:rPr lang="en-US" sz="2200" dirty="0">
                              <a:latin typeface="Cambria Math" panose="02040503050406030204"/>
                              <a:ea typeface="Cambria Math" panose="02040503050406030204"/>
                            </a:rPr>
                            <m:t>Var</m:t>
                          </m:r>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f</m:t>
                              </m:r>
                            </m:e>
                            <m:sub>
                              <m:r>
                                <m:rPr>
                                  <m:sty m:val="p"/>
                                </m:rPr>
                                <a:rPr lang="en-US" sz="2200" dirty="0">
                                  <a:latin typeface="Cambria Math" panose="02040503050406030204"/>
                                  <a:ea typeface="Cambria Math" panose="02040503050406030204"/>
                                </a:rPr>
                                <m:t>i</m:t>
                              </m:r>
                            </m:sub>
                          </m:sSub>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X</m:t>
                              </m:r>
                            </m:e>
                            <m:sub>
                              <m:r>
                                <m:rPr>
                                  <m:sty m:val="p"/>
                                </m:rPr>
                                <a:rPr lang="en-US" sz="2200" dirty="0">
                                  <a:latin typeface="Cambria Math" panose="02040503050406030204"/>
                                  <a:ea typeface="Cambria Math" panose="02040503050406030204"/>
                                </a:rPr>
                                <m:t>i</m:t>
                              </m:r>
                            </m:sub>
                          </m:sSub>
                          <m:r>
                            <a:rPr lang="en-US" sz="2200" dirty="0">
                              <a:latin typeface="Cambria Math" panose="02040503050406030204"/>
                              <a:ea typeface="Cambria Math" panose="02040503050406030204"/>
                            </a:rPr>
                            <m:t>)]+</m:t>
                          </m:r>
                        </m:e>
                      </m:nary>
                      <m:nary>
                        <m:naryPr>
                          <m:chr m:val="∑"/>
                          <m:limLoc m:val="subSup"/>
                          <m:supHide m:val="on"/>
                          <m:ctrlPr>
                            <a:rPr/>
                          </m:ctrlPr>
                        </m:naryPr>
                        <m:sub>
                          <m:r>
                            <a:rPr lang="en-US" sz="2200" dirty="0">
                              <a:latin typeface="Cambria Math" panose="02040503050406030204"/>
                              <a:ea typeface="Cambria Math" panose="02040503050406030204"/>
                            </a:rPr>
                            <m:t>1</m:t>
                          </m:r>
                          <m:r>
                            <a:rPr lang="en-US" sz="2200" dirty="0">
                              <a:latin typeface="Cambria Math" panose="02040503050406030204"/>
                              <a:ea typeface="Cambria Math" panose="02040503050406030204"/>
                            </a:rPr>
                            <m:t>≤</m:t>
                          </m:r>
                          <m:r>
                            <m:rPr>
                              <m:sty m:val="p"/>
                            </m:rPr>
                            <a:rPr lang="en-US" sz="2200" dirty="0">
                              <a:latin typeface="Cambria Math" panose="02040503050406030204"/>
                              <a:ea typeface="Cambria Math" panose="02040503050406030204"/>
                            </a:rPr>
                            <m:t>i</m:t>
                          </m:r>
                          <m:r>
                            <a:rPr lang="en-US" sz="2200" dirty="0">
                              <a:latin typeface="Cambria Math" panose="02040503050406030204"/>
                              <a:ea typeface="Cambria Math" panose="02040503050406030204"/>
                            </a:rPr>
                            <m:t>&lt;</m:t>
                          </m:r>
                          <m:r>
                            <m:rPr>
                              <m:sty m:val="p"/>
                            </m:rPr>
                            <a:rPr lang="en-US" sz="2200" dirty="0">
                              <a:latin typeface="Cambria Math" panose="02040503050406030204"/>
                              <a:ea typeface="Cambria Math" panose="02040503050406030204"/>
                            </a:rPr>
                            <m:t>j</m:t>
                          </m:r>
                          <m:r>
                            <a:rPr lang="en-US" sz="2200" dirty="0">
                              <a:latin typeface="Cambria Math" panose="02040503050406030204"/>
                              <a:ea typeface="Cambria Math" panose="02040503050406030204"/>
                            </a:rPr>
                            <m:t>≤</m:t>
                          </m:r>
                          <m:r>
                            <m:rPr>
                              <m:sty m:val="p"/>
                            </m:rPr>
                            <a:rPr lang="en-US" sz="2200" dirty="0">
                              <a:latin typeface="Cambria Math" panose="02040503050406030204"/>
                              <a:ea typeface="Cambria Math" panose="02040503050406030204"/>
                            </a:rPr>
                            <m:t>N</m:t>
                          </m:r>
                        </m:sub>
                        <m:sup/>
                        <m:e>
                          <m:r>
                            <m:rPr>
                              <m:sty m:val="p"/>
                            </m:rPr>
                            <a:rPr lang="en-US" sz="2200" dirty="0">
                              <a:latin typeface="Cambria Math" panose="02040503050406030204"/>
                              <a:ea typeface="Cambria Math" panose="02040503050406030204"/>
                            </a:rPr>
                            <m:t>V</m:t>
                          </m:r>
                          <m:r>
                            <m:rPr>
                              <m:sty m:val="p"/>
                            </m:rPr>
                            <a:rPr lang="en-US" sz="2200" dirty="0">
                              <a:latin typeface="Cambria Math" panose="02040503050406030204"/>
                              <a:ea typeface="Cambria Math" panose="02040503050406030204"/>
                            </a:rPr>
                            <m:t>a</m:t>
                          </m:r>
                          <m:r>
                            <m:rPr>
                              <m:sty m:val="p"/>
                            </m:rPr>
                            <a:rPr lang="en-US" sz="2200" dirty="0">
                              <a:latin typeface="Cambria Math" panose="02040503050406030204"/>
                              <a:ea typeface="Cambria Math" panose="02040503050406030204"/>
                            </a:rPr>
                            <m:t>r</m:t>
                          </m:r>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f</m:t>
                              </m:r>
                            </m:e>
                            <m:sub>
                              <m:r>
                                <m:rPr>
                                  <m:sty m:val="p"/>
                                </m:rPr>
                                <a:rPr lang="en-US" sz="2200" dirty="0">
                                  <a:latin typeface="Cambria Math" panose="02040503050406030204"/>
                                  <a:ea typeface="Cambria Math" panose="02040503050406030204"/>
                                </a:rPr>
                                <m:t>i</m:t>
                              </m:r>
                              <m:r>
                                <m:rPr>
                                  <m:sty m:val="p"/>
                                </m:rPr>
                                <a:rPr lang="en-US" sz="2200" dirty="0">
                                  <a:latin typeface="Cambria Math" panose="02040503050406030204"/>
                                  <a:ea typeface="Cambria Math" panose="02040503050406030204"/>
                                </a:rPr>
                                <m:t>j</m:t>
                              </m:r>
                            </m:sub>
                          </m:sSub>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X</m:t>
                              </m:r>
                            </m:e>
                            <m:sub>
                              <m:r>
                                <m:rPr>
                                  <m:sty m:val="p"/>
                                </m:rPr>
                                <a:rPr lang="en-US" sz="2200" dirty="0">
                                  <a:latin typeface="Cambria Math" panose="02040503050406030204"/>
                                  <a:ea typeface="Cambria Math" panose="02040503050406030204"/>
                                </a:rPr>
                                <m:t>i</m:t>
                              </m:r>
                            </m:sub>
                          </m:sSub>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X</m:t>
                              </m:r>
                            </m:e>
                            <m:sub>
                              <m:r>
                                <m:rPr>
                                  <m:sty m:val="p"/>
                                </m:rPr>
                                <a:rPr lang="en-US" sz="2200" dirty="0">
                                  <a:latin typeface="Cambria Math" panose="02040503050406030204"/>
                                  <a:ea typeface="Cambria Math" panose="02040503050406030204"/>
                                </a:rPr>
                                <m:t>j</m:t>
                              </m:r>
                            </m:sub>
                          </m:sSub>
                          <m:r>
                            <a:rPr lang="en-US" sz="2200" dirty="0">
                              <a:latin typeface="Cambria Math" panose="02040503050406030204"/>
                              <a:ea typeface="Cambria Math" panose="02040503050406030204"/>
                            </a:rPr>
                            <m:t>)</m:t>
                          </m:r>
                          <m:r>
                            <a:rPr lang="en-US" sz="2200" dirty="0">
                              <a:latin typeface="Cambria Math" panose="02040503050406030204"/>
                              <a:ea typeface="Cambria Math" panose="02040503050406030204"/>
                            </a:rPr>
                            <m:t>]</m:t>
                          </m:r>
                          <m:r>
                            <a:rPr lang="en-US" sz="2200" dirty="0">
                              <a:latin typeface="Cambria Math" panose="02040503050406030204"/>
                              <a:ea typeface="Cambria Math" panose="02040503050406030204"/>
                            </a:rPr>
                            <m:t>+…+</m:t>
                          </m:r>
                          <m:r>
                            <m:rPr>
                              <m:sty m:val="p"/>
                            </m:rPr>
                            <a:rPr lang="en-US" sz="2200" dirty="0">
                              <a:latin typeface="Cambria Math" panose="02040503050406030204"/>
                              <a:ea typeface="Cambria Math" panose="02040503050406030204"/>
                            </a:rPr>
                            <m:t>V</m:t>
                          </m:r>
                          <m:r>
                            <m:rPr>
                              <m:sty m:val="p"/>
                            </m:rPr>
                            <a:rPr lang="en-US" sz="2200" dirty="0">
                              <a:latin typeface="Cambria Math" panose="02040503050406030204"/>
                              <a:ea typeface="Cambria Math" panose="02040503050406030204"/>
                            </a:rPr>
                            <m:t>a</m:t>
                          </m:r>
                          <m:r>
                            <m:rPr>
                              <m:sty m:val="p"/>
                            </m:rPr>
                            <a:rPr lang="en-US" sz="2200" dirty="0">
                              <a:latin typeface="Cambria Math" panose="02040503050406030204"/>
                              <a:ea typeface="Cambria Math" panose="02040503050406030204"/>
                            </a:rPr>
                            <m:t>r</m:t>
                          </m:r>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f</m:t>
                              </m:r>
                            </m:e>
                            <m:sub>
                              <m:r>
                                <a:rPr lang="en-US" sz="2200" dirty="0">
                                  <a:latin typeface="Cambria Math" panose="02040503050406030204"/>
                                  <a:ea typeface="Cambria Math" panose="02040503050406030204"/>
                                </a:rPr>
                                <m:t>1</m:t>
                              </m:r>
                              <m:r>
                                <a:rPr lang="en-US" sz="2200" dirty="0">
                                  <a:latin typeface="Cambria Math" panose="02040503050406030204"/>
                                  <a:ea typeface="Cambria Math" panose="02040503050406030204"/>
                                </a:rPr>
                                <m:t>,</m:t>
                              </m:r>
                              <m:r>
                                <a:rPr lang="en-US" sz="2200" dirty="0">
                                  <a:latin typeface="Cambria Math" panose="02040503050406030204"/>
                                  <a:ea typeface="Cambria Math" panose="02040503050406030204"/>
                                </a:rPr>
                                <m:t>2</m:t>
                              </m:r>
                              <m:r>
                                <a:rPr lang="en-US" sz="2200" dirty="0">
                                  <a:latin typeface="Cambria Math" panose="02040503050406030204"/>
                                  <a:ea typeface="Cambria Math" panose="02040503050406030204"/>
                                </a:rPr>
                                <m:t>,…,</m:t>
                              </m:r>
                              <m:r>
                                <m:rPr>
                                  <m:sty m:val="p"/>
                                </m:rPr>
                                <a:rPr lang="en-US" sz="2200" dirty="0">
                                  <a:latin typeface="Cambria Math" panose="02040503050406030204"/>
                                  <a:ea typeface="Cambria Math" panose="02040503050406030204"/>
                                </a:rPr>
                                <m:t>d</m:t>
                              </m:r>
                            </m:sub>
                          </m:sSub>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X</m:t>
                              </m:r>
                            </m:e>
                            <m:sub>
                              <m:r>
                                <a:rPr lang="en-US" sz="2200" dirty="0">
                                  <a:latin typeface="Cambria Math" panose="02040503050406030204"/>
                                  <a:ea typeface="Cambria Math" panose="02040503050406030204"/>
                                </a:rPr>
                                <m:t>1</m:t>
                              </m:r>
                            </m:sub>
                          </m:sSub>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X</m:t>
                              </m:r>
                            </m:e>
                            <m:sub>
                              <m:r>
                                <a:rPr lang="en-US" sz="2200" dirty="0">
                                  <a:latin typeface="Cambria Math" panose="02040503050406030204"/>
                                  <a:ea typeface="Cambria Math" panose="02040503050406030204"/>
                                </a:rPr>
                                <m:t>2</m:t>
                              </m:r>
                            </m:sub>
                          </m:sSub>
                          <m:r>
                            <a:rPr lang="en-US" sz="2200" dirty="0">
                              <a:latin typeface="Cambria Math" panose="02040503050406030204"/>
                              <a:ea typeface="Cambria Math" panose="02040503050406030204"/>
                            </a:rPr>
                            <m:t>,…,</m:t>
                          </m:r>
                          <m:sSub>
                            <m:sSubPr>
                              <m:ctrlPr>
                                <a:rPr/>
                              </m:ctrlPr>
                            </m:sSubPr>
                            <m:e>
                              <m:r>
                                <m:rPr>
                                  <m:sty m:val="p"/>
                                </m:rPr>
                                <a:rPr lang="en-US" sz="2200" dirty="0">
                                  <a:latin typeface="Cambria Math" panose="02040503050406030204"/>
                                  <a:ea typeface="Cambria Math" panose="02040503050406030204"/>
                                </a:rPr>
                                <m:t>X</m:t>
                              </m:r>
                            </m:e>
                            <m:sub>
                              <m:r>
                                <m:rPr>
                                  <m:sty m:val="p"/>
                                </m:rPr>
                                <a:rPr lang="en-US" sz="2200" dirty="0">
                                  <a:latin typeface="Cambria Math" panose="02040503050406030204"/>
                                  <a:ea typeface="Cambria Math" panose="02040503050406030204"/>
                                </a:rPr>
                                <m:t>d</m:t>
                              </m:r>
                            </m:sub>
                          </m:sSub>
                          <m:r>
                            <a:rPr lang="en-US" sz="2200" dirty="0">
                              <a:latin typeface="Cambria Math" panose="02040503050406030204"/>
                              <a:ea typeface="Cambria Math" panose="02040503050406030204"/>
                            </a:rPr>
                            <m:t>)</m:t>
                          </m:r>
                          <m:r>
                            <a:rPr lang="en-US" sz="2200" dirty="0">
                              <a:latin typeface="Cambria Math" panose="02040503050406030204"/>
                              <a:ea typeface="Cambria Math" panose="02040503050406030204"/>
                            </a:rPr>
                            <m:t>]</m:t>
                          </m:r>
                        </m:e>
                      </m:nary>
                    </m:oMath>
                  </m:oMathPara>
                </a14:m>
                <a:endParaRPr sz="600" dirty="0"/>
              </a:p>
            </p:txBody>
          </p:sp>
        </mc:Choice>
        <mc:Fallback>
          <p:sp>
            <p:nvSpPr>
              <p:cNvPr id="260" name="textbox 260"/>
              <p:cNvSpPr>
                <a:spLocks noRot="1" noChangeAspect="1" noMove="1" noResize="1" noEditPoints="1" noAdjustHandles="1" noChangeArrowheads="1" noChangeShapeType="1" noTextEdit="1"/>
              </p:cNvSpPr>
              <p:nvPr/>
            </p:nvSpPr>
            <p:spPr>
              <a:xfrm>
                <a:off x="1390650" y="2466975"/>
                <a:ext cx="9163050" cy="714375"/>
              </a:xfrm>
              <a:prstGeom prst="rect">
                <a:avLst/>
              </a:prstGeom>
              <a:blipFill rotWithShape="1">
                <a:blip r:embed="rId4"/>
                <a:stretch>
                  <a:fillRect r="-14615" b="-2222"/>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2" name="textbox 262"/>
              <p:cNvSpPr/>
              <p:nvPr/>
            </p:nvSpPr>
            <p:spPr>
              <a:xfrm>
                <a:off x="1390650" y="3333750"/>
                <a:ext cx="3343275" cy="5715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400" dirty="0">
                          <a:latin typeface="Cambria Math" panose="02040503050406030204"/>
                          <a:ea typeface="Cambria Math" panose="02040503050406030204"/>
                        </a:rPr>
                        <m:t>D</m:t>
                      </m:r>
                      <m:r>
                        <a:rPr lang="en-US" sz="2400" dirty="0">
                          <a:latin typeface="Cambria Math" panose="02040503050406030204"/>
                          <a:ea typeface="Cambria Math" panose="02040503050406030204"/>
                        </a:rPr>
                        <m:t>=</m:t>
                      </m:r>
                      <m:nary>
                        <m:naryPr>
                          <m:chr m:val="∑"/>
                          <m:limLoc m:val="subSup"/>
                          <m:supHide m:val="on"/>
                          <m:ctrlPr>
                            <a:rPr/>
                          </m:ctrlPr>
                        </m:naryPr>
                        <m:sub>
                          <m:r>
                            <m:rPr>
                              <m:sty m:val="p"/>
                            </m:rPr>
                            <a:rPr lang="en-US" sz="2400" dirty="0">
                              <a:latin typeface="Cambria Math" panose="02040503050406030204"/>
                              <a:ea typeface="Cambria Math" panose="02040503050406030204"/>
                            </a:rPr>
                            <m:t>i</m:t>
                          </m:r>
                        </m:sub>
                        <m:sup/>
                        <m:e>
                          <m:sSub>
                            <m:sSubPr>
                              <m:ctrlPr>
                                <a:rPr/>
                              </m:ctrlPr>
                            </m:sSubPr>
                            <m:e>
                              <m:r>
                                <m:rPr>
                                  <m:sty m:val="p"/>
                                </m:rPr>
                                <a:rPr lang="en-US" sz="2400" dirty="0">
                                  <a:latin typeface="Cambria Math" panose="02040503050406030204"/>
                                  <a:ea typeface="Cambria Math" panose="02040503050406030204"/>
                                </a:rPr>
                                <m:t>D</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e>
                      </m:nary>
                      <m:nary>
                        <m:naryPr>
                          <m:chr m:val="∑"/>
                          <m:limLoc m:val="subSup"/>
                          <m:supHide m:val="on"/>
                          <m:ctrlPr>
                            <a:rPr/>
                          </m:ctrlPr>
                        </m:naryPr>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&lt;</m:t>
                          </m:r>
                          <m:r>
                            <m:rPr>
                              <m:sty m:val="p"/>
                            </m:rPr>
                            <a:rPr lang="en-US" sz="2400" dirty="0">
                              <a:latin typeface="Cambria Math" panose="02040503050406030204"/>
                              <a:ea typeface="Cambria Math" panose="02040503050406030204"/>
                            </a:rPr>
                            <m:t>j</m:t>
                          </m:r>
                        </m:sub>
                        <m:sup/>
                        <m:e>
                          <m:sSub>
                            <m:sSubPr>
                              <m:ctrlPr>
                                <a:rPr/>
                              </m:ctrlPr>
                            </m:sSubPr>
                            <m:e>
                              <m:r>
                                <m:rPr>
                                  <m:sty m:val="p"/>
                                </m:rPr>
                                <a:rPr lang="en-US" sz="2400" dirty="0">
                                  <a:latin typeface="Cambria Math" panose="02040503050406030204"/>
                                  <a:ea typeface="Cambria Math" panose="02040503050406030204"/>
                                </a:rPr>
                                <m:t>D</m:t>
                              </m:r>
                            </m:e>
                            <m:sub>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j</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D</m:t>
                              </m:r>
                            </m:e>
                            <m:sub>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d</m:t>
                              </m:r>
                            </m:sub>
                          </m:sSub>
                        </m:e>
                      </m:nary>
                    </m:oMath>
                  </m:oMathPara>
                </a14:m>
                <a:endParaRPr sz="600" dirty="0"/>
              </a:p>
            </p:txBody>
          </p:sp>
        </mc:Choice>
        <mc:Fallback>
          <p:sp>
            <p:nvSpPr>
              <p:cNvPr id="262" name="textbox 262"/>
              <p:cNvSpPr>
                <a:spLocks noRot="1" noChangeAspect="1" noMove="1" noResize="1" noEditPoints="1" noAdjustHandles="1" noChangeArrowheads="1" noChangeShapeType="1" noTextEdit="1"/>
              </p:cNvSpPr>
              <p:nvPr/>
            </p:nvSpPr>
            <p:spPr>
              <a:xfrm>
                <a:off x="1390650" y="3333750"/>
                <a:ext cx="3343275" cy="571500"/>
              </a:xfrm>
              <a:prstGeom prst="rect">
                <a:avLst/>
              </a:prstGeom>
              <a:blipFill rotWithShape="1">
                <a:blip r:embed="rId5"/>
                <a:stretch>
                  <a:fillRect r="-41709" b="-25667"/>
                </a:stretch>
              </a:blipFill>
              <a:ln w="0" cap="flat">
                <a:noFill/>
                <a:prstDash val="solid"/>
                <a:miter lim="0"/>
              </a:ln>
            </p:spPr>
            <p:txBody>
              <a:bodyPr/>
              <a:lstStyle/>
              <a:p>
                <a:r>
                  <a:rPr lang="zh-CN" altLang="en-US">
                    <a:noFill/>
                  </a:rPr>
                  <a:t> </a:t>
                </a:r>
              </a:p>
            </p:txBody>
          </p:sp>
        </mc:Fallback>
      </mc:AlternateContent>
      <p:sp>
        <p:nvSpPr>
          <p:cNvPr id="264" name="textbox 264"/>
          <p:cNvSpPr/>
          <p:nvPr/>
        </p:nvSpPr>
        <p:spPr>
          <a:xfrm>
            <a:off x="1390650" y="4076700"/>
            <a:ext cx="2038350" cy="276225"/>
          </a:xfrm>
          <a:prstGeom prst="rect">
            <a:avLst/>
          </a:prstGeom>
          <a:noFill/>
          <a:ln w="0" cap="flat">
            <a:noFill/>
            <a:prstDash val="solid"/>
            <a:miter lim="0"/>
          </a:ln>
        </p:spPr>
        <p:txBody>
          <a:bodyPr vert="horz" wrap="none" lIns="0" tIns="0" rIns="0" bIns="0"/>
          <a:lstStyle/>
          <a:p>
            <a:pPr algn="l" rtl="0" eaLnBrk="0"/>
            <a:r>
              <a:rPr sz="2000" kern="0" spc="0" dirty="0">
                <a:solidFill>
                  <a:srgbClr val="0070BC">
                    <a:alpha val="100000"/>
                  </a:srgbClr>
                </a:solidFill>
                <a:latin typeface="Times New Roman" panose="02020603050405020304"/>
                <a:ea typeface="Times New Roman" panose="02020603050405020304"/>
                <a:cs typeface="Times New Roman" panose="02020603050405020304"/>
              </a:rPr>
              <a:t>Sobol'</a:t>
            </a: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灵敏度指数</a:t>
            </a:r>
            <a:r>
              <a:rPr sz="2000" kern="0" spc="0" dirty="0">
                <a:solidFill>
                  <a:srgbClr val="0070BC">
                    <a:alpha val="100000"/>
                  </a:srgbClr>
                </a:solidFill>
                <a:latin typeface="Times New Roman" panose="02020603050405020304"/>
                <a:ea typeface="Times New Roman" panose="02020603050405020304"/>
                <a:cs typeface="Times New Roman" panose="02020603050405020304"/>
              </a:rPr>
              <a:t>:</a:t>
            </a:r>
            <a:endParaRPr sz="2000" kern="0" spc="0" dirty="0">
              <a:solidFill>
                <a:srgbClr val="0070BC">
                  <a:alpha val="100000"/>
                </a:srgbClr>
              </a:solidFill>
              <a:latin typeface="Times New Roman" panose="02020603050405020304"/>
              <a:ea typeface="Times New Roman" panose="02020603050405020304"/>
              <a:cs typeface="Times New Roman" panose="02020603050405020304"/>
            </a:endParaRPr>
          </a:p>
        </p:txBody>
      </p:sp>
      <mc:AlternateContent xmlns:mc="http://schemas.openxmlformats.org/markup-compatibility/2006">
        <mc:Choice xmlns:a14="http://schemas.microsoft.com/office/drawing/2010/main" Requires="a14">
          <p:sp>
            <p:nvSpPr>
              <p:cNvPr id="266" name="textbox 266"/>
              <p:cNvSpPr/>
              <p:nvPr/>
            </p:nvSpPr>
            <p:spPr>
              <a:xfrm>
                <a:off x="1695450" y="4638675"/>
                <a:ext cx="3600450" cy="314325"/>
              </a:xfrm>
              <a:prstGeom prst="rect">
                <a:avLst/>
              </a:prstGeom>
              <a:noFill/>
              <a:ln w="0" cap="flat">
                <a:noFill/>
                <a:prstDash val="solid"/>
                <a:miter lim="0"/>
              </a:ln>
            </p:spPr>
            <p:txBody>
              <a:bodyPr vert="horz" wrap="none" lIns="0" tIns="0" rIns="0" bIns="0"/>
              <a:lstStyle/>
              <a:p>
                <a:pPr marL="285750" indent="-257175" algn="l" rtl="0" eaLnBrk="0">
                  <a:buChar char="•"/>
                </a:pP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一阶灵敏度指数：</a:t>
                </a:r>
                <a:r>
                  <a:rPr sz="20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m:ctrlPr>
                      </m:sSubPr>
                      <m:e>
                        <m:r>
                          <m:rPr>
                            <m:sty m:val="p"/>
                          </m:rPr>
                          <a:rPr lang="en-US" sz="2000" dirty="0">
                            <a:latin typeface="Cambria Math" panose="02040503050406030204"/>
                            <a:ea typeface="Cambria Math" panose="02040503050406030204"/>
                          </a:rPr>
                          <m:t>S</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D</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D</m:t>
                    </m:r>
                  </m:oMath>
                </a14:m>
                <a:endParaRPr sz="2000" dirty="0"/>
              </a:p>
            </p:txBody>
          </p:sp>
        </mc:Choice>
        <mc:Fallback>
          <p:sp>
            <p:nvSpPr>
              <p:cNvPr id="266" name="textbox 266"/>
              <p:cNvSpPr>
                <a:spLocks noRot="1" noChangeAspect="1" noMove="1" noResize="1" noEditPoints="1" noAdjustHandles="1" noChangeArrowheads="1" noChangeShapeType="1" noTextEdit="1"/>
              </p:cNvSpPr>
              <p:nvPr/>
            </p:nvSpPr>
            <p:spPr>
              <a:xfrm>
                <a:off x="1695450" y="4638675"/>
                <a:ext cx="3600450" cy="314325"/>
              </a:xfrm>
              <a:prstGeom prst="rect">
                <a:avLst/>
              </a:prstGeom>
              <a:blipFill rotWithShape="1">
                <a:blip r:embed="rId6"/>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8" name="textbox 268"/>
              <p:cNvSpPr/>
              <p:nvPr/>
            </p:nvSpPr>
            <p:spPr>
              <a:xfrm>
                <a:off x="1676400" y="5200650"/>
                <a:ext cx="3733800" cy="352425"/>
              </a:xfrm>
              <a:prstGeom prst="rect">
                <a:avLst/>
              </a:prstGeom>
              <a:noFill/>
              <a:ln w="0" cap="flat">
                <a:noFill/>
                <a:prstDash val="solid"/>
                <a:miter lim="0"/>
              </a:ln>
            </p:spPr>
            <p:txBody>
              <a:bodyPr vert="horz" wrap="none" lIns="0" tIns="0" rIns="0" bIns="0"/>
              <a:lstStyle/>
              <a:p>
                <a:pPr marL="304800" indent="-266700" algn="l" rtl="0" eaLnBrk="0">
                  <a:buChar char="•"/>
                </a:pP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二阶灵敏度指数：</a:t>
                </a:r>
                <a:r>
                  <a:rPr sz="2000"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m:ctrlPr>
                      </m:sSubPr>
                      <m:e>
                        <m:r>
                          <m:rPr>
                            <m:sty m:val="p"/>
                          </m:rPr>
                          <a:rPr lang="en-US" sz="2000" dirty="0">
                            <a:latin typeface="Cambria Math" panose="02040503050406030204"/>
                            <a:ea typeface="Cambria Math" panose="02040503050406030204"/>
                          </a:rPr>
                          <m:t>S</m:t>
                        </m:r>
                      </m:e>
                      <m:sub>
                        <m:r>
                          <m:rPr>
                            <m:sty m:val="p"/>
                          </m:rPr>
                          <a:rPr lang="en-US" sz="2000" dirty="0">
                            <a:latin typeface="Cambria Math" panose="02040503050406030204"/>
                            <a:ea typeface="Cambria Math" panose="02040503050406030204"/>
                          </a:rPr>
                          <m:t>i</m:t>
                        </m:r>
                        <m:r>
                          <m:rPr>
                            <m:sty m:val="p"/>
                          </m:rPr>
                          <a:rPr lang="en-US" sz="2000" dirty="0">
                            <a:latin typeface="Cambria Math" panose="02040503050406030204"/>
                            <a:ea typeface="Cambria Math" panose="02040503050406030204"/>
                          </a:rPr>
                          <m:t>j</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D</m:t>
                        </m:r>
                      </m:e>
                      <m:sub>
                        <m:r>
                          <m:rPr>
                            <m:sty m:val="p"/>
                          </m:rPr>
                          <a:rPr lang="en-US" sz="2000" dirty="0">
                            <a:latin typeface="Cambria Math" panose="02040503050406030204"/>
                            <a:ea typeface="Cambria Math" panose="02040503050406030204"/>
                          </a:rPr>
                          <m:t>i</m:t>
                        </m:r>
                        <m:r>
                          <m:rPr>
                            <m:sty m:val="p"/>
                          </m:rPr>
                          <a:rPr lang="en-US" sz="2000" dirty="0">
                            <a:latin typeface="Cambria Math" panose="02040503050406030204"/>
                            <a:ea typeface="Cambria Math" panose="02040503050406030204"/>
                          </a:rPr>
                          <m:t>j</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D</m:t>
                    </m:r>
                  </m:oMath>
                </a14:m>
                <a:endParaRPr sz="2000" dirty="0"/>
              </a:p>
            </p:txBody>
          </p:sp>
        </mc:Choice>
        <mc:Fallback>
          <p:sp>
            <p:nvSpPr>
              <p:cNvPr id="268" name="textbox 268"/>
              <p:cNvSpPr>
                <a:spLocks noRot="1" noChangeAspect="1" noMove="1" noResize="1" noEditPoints="1" noAdjustHandles="1" noChangeArrowheads="1" noChangeShapeType="1" noTextEdit="1"/>
              </p:cNvSpPr>
              <p:nvPr/>
            </p:nvSpPr>
            <p:spPr>
              <a:xfrm>
                <a:off x="1676400" y="5200650"/>
                <a:ext cx="3733800" cy="352425"/>
              </a:xfrm>
              <a:prstGeom prst="rect">
                <a:avLst/>
              </a:prstGeom>
              <a:blipFill rotWithShape="1">
                <a:blip r:embed="rId7"/>
                <a:stretch>
                  <a:fillRect/>
                </a:stretch>
              </a:blipFill>
              <a:ln w="0" cap="flat">
                <a:noFill/>
                <a:prstDash val="solid"/>
                <a:miter lim="0"/>
              </a:ln>
            </p:spPr>
            <p:txBody>
              <a:bodyPr/>
              <a:lstStyle/>
              <a:p>
                <a:r>
                  <a:rPr lang="zh-CN" altLang="en-US">
                    <a:noFill/>
                  </a:rPr>
                  <a:t> </a:t>
                </a:r>
              </a:p>
            </p:txBody>
          </p:sp>
        </mc:Fallback>
      </mc:AlternateContent>
      <p:sp>
        <p:nvSpPr>
          <p:cNvPr id="270" name="textbox 270"/>
          <p:cNvSpPr/>
          <p:nvPr/>
        </p:nvSpPr>
        <p:spPr>
          <a:xfrm>
            <a:off x="1666875" y="5772150"/>
            <a:ext cx="1962150" cy="295275"/>
          </a:xfrm>
          <a:prstGeom prst="rect">
            <a:avLst/>
          </a:prstGeom>
          <a:noFill/>
          <a:ln w="0" cap="flat">
            <a:noFill/>
            <a:prstDash val="solid"/>
            <a:miter lim="0"/>
          </a:ln>
        </p:spPr>
        <p:txBody>
          <a:bodyPr vert="horz" wrap="none" lIns="0" tIns="0" rIns="0" bIns="0"/>
          <a:lstStyle/>
          <a:p>
            <a:pPr marL="323850" indent="-266700" algn="l" rtl="0" eaLnBrk="0">
              <a:buChar char="•"/>
            </a:pPr>
            <a:r>
              <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rPr>
              <a:t>总灵敏度指数：</a:t>
            </a:r>
            <a:endParaRPr sz="2000" kern="0" spc="0" dirty="0">
              <a:solidFill>
                <a:srgbClr val="0070BC">
                  <a:alpha val="100000"/>
                </a:srgbClr>
              </a:solidFill>
              <a:latin typeface="宋体" panose="02010600030101010101" pitchFamily="2" charset="-122"/>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272" name="textbox 272"/>
              <p:cNvSpPr/>
              <p:nvPr/>
            </p:nvSpPr>
            <p:spPr>
              <a:xfrm>
                <a:off x="4114800" y="5810250"/>
                <a:ext cx="2381250" cy="3333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2000" dirty="0">
                              <a:latin typeface="Cambria Math" panose="02040503050406030204"/>
                              <a:ea typeface="Cambria Math" panose="02040503050406030204"/>
                            </a:rPr>
                            <m:t>S</m:t>
                          </m:r>
                        </m:e>
                        <m:sub>
                          <m:r>
                            <m:rPr>
                              <m:sty m:val="p"/>
                            </m:rPr>
                            <a:rPr lang="en-US" sz="2000" dirty="0">
                              <a:latin typeface="Cambria Math" panose="02040503050406030204"/>
                              <a:ea typeface="Cambria Math" panose="02040503050406030204"/>
                            </a:rPr>
                            <m:t>T</m:t>
                          </m:r>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S</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S</m:t>
                          </m:r>
                        </m:e>
                        <m:sub>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S</m:t>
                          </m:r>
                        </m:e>
                        <m: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i</m:t>
                          </m:r>
                        </m:sub>
                      </m:sSub>
                    </m:oMath>
                  </m:oMathPara>
                </a14:m>
                <a:endParaRPr sz="2000" dirty="0"/>
              </a:p>
            </p:txBody>
          </p:sp>
        </mc:Choice>
        <mc:Fallback>
          <p:sp>
            <p:nvSpPr>
              <p:cNvPr id="272" name="textbox 272"/>
              <p:cNvSpPr>
                <a:spLocks noRot="1" noChangeAspect="1" noMove="1" noResize="1" noEditPoints="1" noAdjustHandles="1" noChangeArrowheads="1" noChangeShapeType="1" noTextEdit="1"/>
              </p:cNvSpPr>
              <p:nvPr/>
            </p:nvSpPr>
            <p:spPr>
              <a:xfrm>
                <a:off x="4114800" y="5810250"/>
                <a:ext cx="2381250" cy="333375"/>
              </a:xfrm>
              <a:prstGeom prst="rect">
                <a:avLst/>
              </a:prstGeom>
              <a:blipFill rotWithShape="1">
                <a:blip r:embed="rId8"/>
                <a:stretch>
                  <a:fillRect r="-12160"/>
                </a:stretch>
              </a:blipFill>
              <a:ln w="0" cap="flat">
                <a:noFill/>
                <a:prstDash val="solid"/>
                <a:miter lim="0"/>
              </a:ln>
            </p:spPr>
            <p:txBody>
              <a:bodyPr/>
              <a:lstStyle/>
              <a:p>
                <a:r>
                  <a:rPr lang="zh-CN" altLang="en-US">
                    <a:noFill/>
                  </a:rPr>
                  <a:t> </a:t>
                </a:r>
              </a:p>
            </p:txBody>
          </p:sp>
        </mc:Fallback>
      </mc:AlternateContent>
      <p:pic>
        <p:nvPicPr>
          <p:cNvPr id="276" name="picture 276"/>
          <p:cNvPicPr>
            <a:picLocks noChangeAspect="1"/>
          </p:cNvPicPr>
          <p:nvPr/>
        </p:nvPicPr>
        <p:blipFill>
          <a:blip r:embed="rId9"/>
          <a:stretch>
            <a:fillRect/>
          </a:stretch>
        </p:blipFill>
        <p:spPr>
          <a:xfrm>
            <a:off x="9324975" y="3343275"/>
            <a:ext cx="1924050" cy="2543175"/>
          </a:xfrm>
          <a:prstGeom prst="rect">
            <a:avLst/>
          </a:prstGeom>
        </p:spPr>
      </p:pic>
      <p:sp>
        <p:nvSpPr>
          <p:cNvPr id="278" name="textbox 278"/>
          <p:cNvSpPr/>
          <p:nvPr/>
        </p:nvSpPr>
        <p:spPr>
          <a:xfrm>
            <a:off x="9829800" y="5962650"/>
            <a:ext cx="923925" cy="200025"/>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Ilya M. Sobol'</a:t>
            </a:r>
            <a:endParaRPr sz="1200" dirty="0"/>
          </a:p>
        </p:txBody>
      </p:sp>
      <p:sp>
        <p:nvSpPr>
          <p:cNvPr id="280" name="textbox 280"/>
          <p:cNvSpPr/>
          <p:nvPr/>
        </p:nvSpPr>
        <p:spPr>
          <a:xfrm>
            <a:off x="361950" y="6429375"/>
            <a:ext cx="11391900" cy="209550"/>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Arial" panose="020B0604020202020204"/>
                <a:ea typeface="Arial" panose="020B0604020202020204"/>
                <a:cs typeface="Arial" panose="020B0604020202020204"/>
              </a:rPr>
              <a:t>Sobol' I M. Global sensitivity indices for nonlinear mathematical models and their Monte Carlo estimates. Mathematics and Computers in Simulation, 2001, 55: 271-280.</a:t>
            </a:r>
            <a:endParaRPr sz="1200" dirty="0"/>
          </a:p>
        </p:txBody>
      </p:sp>
      <p:sp>
        <p:nvSpPr>
          <p:cNvPr id="282" name="textbox 28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84" name="textbox 284"/>
          <p:cNvSpPr/>
          <p:nvPr/>
        </p:nvSpPr>
        <p:spPr>
          <a:xfrm>
            <a:off x="11744325" y="6734175"/>
            <a:ext cx="104775" cy="114300"/>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[7]</a:t>
            </a:r>
            <a:endParaRPr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8"/>
          <p:cNvPicPr>
            <a:picLocks noChangeAspect="1"/>
          </p:cNvPicPr>
          <p:nvPr/>
        </p:nvPicPr>
        <p:blipFill>
          <a:blip r:embed="rId1"/>
          <a:stretch>
            <a:fillRect/>
          </a:stretch>
        </p:blipFill>
        <p:spPr>
          <a:xfrm>
            <a:off x="0" y="0"/>
            <a:ext cx="12192000" cy="6858000"/>
          </a:xfrm>
          <a:prstGeom prst="rect">
            <a:avLst/>
          </a:prstGeom>
        </p:spPr>
      </p:pic>
      <p:sp>
        <p:nvSpPr>
          <p:cNvPr id="290" name="textbox 290"/>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92" name="textbox 29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94" name="textbox 29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87FA6">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98" name="picture 298"/>
          <p:cNvPicPr>
            <a:picLocks noChangeAspect="1"/>
          </p:cNvPicPr>
          <p:nvPr/>
        </p:nvPicPr>
        <p:blipFill>
          <a:blip r:embed="rId2"/>
          <a:stretch>
            <a:fillRect/>
          </a:stretch>
        </p:blipFill>
        <p:spPr>
          <a:xfrm>
            <a:off x="295275" y="247650"/>
            <a:ext cx="733425" cy="666750"/>
          </a:xfrm>
          <a:prstGeom prst="rect">
            <a:avLst/>
          </a:prstGeom>
        </p:spPr>
      </p:pic>
      <p:sp>
        <p:nvSpPr>
          <p:cNvPr id="300" name="textbox 300"/>
          <p:cNvSpPr/>
          <p:nvPr/>
        </p:nvSpPr>
        <p:spPr>
          <a:xfrm>
            <a:off x="1447800" y="333375"/>
            <a:ext cx="5391150" cy="40957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不确定性量化与传播 (UQ &amp; UP)</a:t>
            </a:r>
            <a:endParaRPr sz="2800" dirty="0"/>
          </a:p>
        </p:txBody>
      </p:sp>
      <p:sp>
        <p:nvSpPr>
          <p:cNvPr id="302" name="textbox 302"/>
          <p:cNvSpPr/>
          <p:nvPr/>
        </p:nvSpPr>
        <p:spPr>
          <a:xfrm>
            <a:off x="1447800" y="762000"/>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Uncertainty Quantification and Uncertainty Propagation (UQ &amp; UP)</a:t>
            </a:r>
            <a:endParaRPr sz="1400" dirty="0"/>
          </a:p>
        </p:txBody>
      </p:sp>
      <p:pic>
        <p:nvPicPr>
          <p:cNvPr id="306" name="picture 306"/>
          <p:cNvPicPr>
            <a:picLocks noChangeAspect="1"/>
          </p:cNvPicPr>
          <p:nvPr/>
        </p:nvPicPr>
        <p:blipFill>
          <a:blip r:embed="rId3"/>
          <a:stretch>
            <a:fillRect/>
          </a:stretch>
        </p:blipFill>
        <p:spPr>
          <a:xfrm>
            <a:off x="514350" y="1314450"/>
            <a:ext cx="10401300" cy="5010150"/>
          </a:xfrm>
          <a:prstGeom prst="rect">
            <a:avLst/>
          </a:prstGeom>
        </p:spPr>
      </p:pic>
      <p:sp>
        <p:nvSpPr>
          <p:cNvPr id="308" name="textbox 308"/>
          <p:cNvSpPr/>
          <p:nvPr/>
        </p:nvSpPr>
        <p:spPr>
          <a:xfrm>
            <a:off x="9353550" y="1409700"/>
            <a:ext cx="819150" cy="304800"/>
          </a:xfrm>
          <a:prstGeom prst="rect">
            <a:avLst/>
          </a:prstGeom>
          <a:noFill/>
          <a:ln w="0" cap="flat">
            <a:noFill/>
            <a:prstDash val="solid"/>
            <a:miter lim="0"/>
          </a:ln>
        </p:spPr>
        <p:txBody>
          <a:bodyPr vert="horz" wrap="none" lIns="0" tIns="0" rIns="0" bIns="0"/>
          <a:lstStyle/>
          <a:p>
            <a:pPr algn="l" rtl="0" eaLnBrk="0"/>
            <a:r>
              <a:rPr sz="2000" kern="0" spc="0" dirty="0">
                <a:solidFill>
                  <a:srgbClr val="600060">
                    <a:alpha val="100000"/>
                  </a:srgbClr>
                </a:solidFill>
                <a:latin typeface="华文新魏" panose="02010800040101010101" charset="-122"/>
                <a:ea typeface="华文新魏" panose="02010800040101010101" charset="-122"/>
                <a:cs typeface="华文新魏" panose="02010800040101010101" charset="-122"/>
              </a:rPr>
              <a:t>Step C</a:t>
            </a:r>
            <a:endParaRPr sz="2000" dirty="0"/>
          </a:p>
        </p:txBody>
      </p:sp>
      <p:sp>
        <p:nvSpPr>
          <p:cNvPr id="310" name="textbox 310"/>
          <p:cNvSpPr/>
          <p:nvPr/>
        </p:nvSpPr>
        <p:spPr>
          <a:xfrm>
            <a:off x="1752600" y="1428750"/>
            <a:ext cx="800100" cy="304800"/>
          </a:xfrm>
          <a:prstGeom prst="rect">
            <a:avLst/>
          </a:prstGeom>
          <a:noFill/>
          <a:ln w="0" cap="flat">
            <a:noFill/>
            <a:prstDash val="solid"/>
            <a:miter lim="0"/>
          </a:ln>
        </p:spPr>
        <p:txBody>
          <a:bodyPr vert="horz" wrap="none" lIns="0" tIns="0" rIns="0" bIns="0"/>
          <a:lstStyle/>
          <a:p>
            <a:pPr algn="l" rtl="0" eaLnBrk="0"/>
            <a:r>
              <a:rPr sz="1800" kern="0" spc="0" dirty="0">
                <a:solidFill>
                  <a:srgbClr val="404040">
                    <a:alpha val="100000"/>
                  </a:srgbClr>
                </a:solidFill>
                <a:latin typeface="微软雅黑" panose="020B0503020204020204" charset="-122"/>
                <a:ea typeface="微软雅黑" panose="020B0503020204020204" charset="-122"/>
                <a:cs typeface="微软雅黑" panose="020B0503020204020204" charset="-122"/>
              </a:rPr>
              <a:t>Step B</a:t>
            </a:r>
            <a:endParaRPr sz="1800" dirty="0"/>
          </a:p>
        </p:txBody>
      </p:sp>
      <p:sp>
        <p:nvSpPr>
          <p:cNvPr id="312" name="textbox 312"/>
          <p:cNvSpPr/>
          <p:nvPr/>
        </p:nvSpPr>
        <p:spPr>
          <a:xfrm>
            <a:off x="5524500" y="1581150"/>
            <a:ext cx="819150" cy="314325"/>
          </a:xfrm>
          <a:prstGeom prst="rect">
            <a:avLst/>
          </a:prstGeom>
          <a:noFill/>
          <a:ln w="0" cap="flat">
            <a:noFill/>
            <a:prstDash val="solid"/>
            <a:miter lim="0"/>
          </a:ln>
        </p:spPr>
        <p:txBody>
          <a:bodyPr vert="horz" wrap="none" lIns="0" tIns="0" rIns="0" bIns="0"/>
          <a:lstStyle/>
          <a:p>
            <a:pPr algn="l" rtl="0" eaLnBrk="0"/>
            <a:r>
              <a:rPr sz="2200" kern="0" spc="0" dirty="0">
                <a:solidFill>
                  <a:srgbClr val="404040">
                    <a:alpha val="100000"/>
                  </a:srgbClr>
                </a:solidFill>
                <a:latin typeface="Calibri" panose="020F0502020204030204"/>
                <a:ea typeface="Calibri" panose="020F0502020204030204"/>
                <a:cs typeface="Calibri" panose="020F0502020204030204"/>
              </a:rPr>
              <a:t>Step A</a:t>
            </a:r>
            <a:endParaRPr sz="2200" dirty="0"/>
          </a:p>
        </p:txBody>
      </p:sp>
      <p:sp>
        <p:nvSpPr>
          <p:cNvPr id="314" name="textbox 314"/>
          <p:cNvSpPr/>
          <p:nvPr/>
        </p:nvSpPr>
        <p:spPr>
          <a:xfrm>
            <a:off x="9105900" y="1724025"/>
            <a:ext cx="1314450" cy="323850"/>
          </a:xfrm>
          <a:prstGeom prst="rect">
            <a:avLst/>
          </a:prstGeom>
          <a:noFill/>
          <a:ln w="0" cap="flat">
            <a:noFill/>
            <a:prstDash val="solid"/>
            <a:miter lim="0"/>
          </a:ln>
        </p:spPr>
        <p:txBody>
          <a:bodyPr vert="horz" wrap="none" lIns="0" tIns="0" rIns="0" bIns="0"/>
          <a:lstStyle/>
          <a:p>
            <a:pPr algn="l" rtl="0" eaLnBrk="0"/>
            <a:r>
              <a:rPr sz="2100" kern="0" spc="0" dirty="0">
                <a:solidFill>
                  <a:srgbClr val="851321">
                    <a:alpha val="100000"/>
                  </a:srgbClr>
                </a:solidFill>
                <a:latin typeface="Calibri" panose="020F0502020204030204"/>
                <a:ea typeface="Calibri" panose="020F0502020204030204"/>
                <a:cs typeface="Calibri" panose="020F0502020204030204"/>
              </a:rPr>
              <a:t>Uncertainty</a:t>
            </a:r>
            <a:endParaRPr sz="2100" dirty="0"/>
          </a:p>
        </p:txBody>
      </p:sp>
      <p:sp>
        <p:nvSpPr>
          <p:cNvPr id="316" name="textbox 316"/>
          <p:cNvSpPr/>
          <p:nvPr/>
        </p:nvSpPr>
        <p:spPr>
          <a:xfrm>
            <a:off x="1409700" y="1762125"/>
            <a:ext cx="1581150" cy="304800"/>
          </a:xfrm>
          <a:prstGeom prst="rect">
            <a:avLst/>
          </a:prstGeom>
          <a:noFill/>
          <a:ln w="0" cap="flat">
            <a:noFill/>
            <a:prstDash val="solid"/>
            <a:miter lim="0"/>
          </a:ln>
        </p:spPr>
        <p:txBody>
          <a:bodyPr vert="horz" wrap="none" lIns="0" tIns="0" rIns="0" bIns="0"/>
          <a:lstStyle/>
          <a:p>
            <a:pPr algn="l" rtl="0" eaLnBrk="0"/>
            <a:r>
              <a:rPr sz="2100" kern="0" spc="0" dirty="0">
                <a:solidFill>
                  <a:srgbClr val="800000">
                    <a:alpha val="100000"/>
                  </a:srgbClr>
                </a:solidFill>
                <a:latin typeface="Calibri" panose="020F0502020204030204"/>
                <a:ea typeface="Calibri" panose="020F0502020204030204"/>
                <a:cs typeface="Calibri" panose="020F0502020204030204"/>
              </a:rPr>
              <a:t>Quantification</a:t>
            </a:r>
            <a:endParaRPr sz="2100" dirty="0"/>
          </a:p>
        </p:txBody>
      </p:sp>
      <p:sp>
        <p:nvSpPr>
          <p:cNvPr id="318" name="textbox 318"/>
          <p:cNvSpPr/>
          <p:nvPr/>
        </p:nvSpPr>
        <p:spPr>
          <a:xfrm>
            <a:off x="4705350" y="1914525"/>
            <a:ext cx="2543175" cy="314325"/>
          </a:xfrm>
          <a:prstGeom prst="rect">
            <a:avLst/>
          </a:prstGeom>
          <a:noFill/>
          <a:ln w="0" cap="flat">
            <a:noFill/>
            <a:prstDash val="solid"/>
            <a:miter lim="0"/>
          </a:ln>
        </p:spPr>
        <p:txBody>
          <a:bodyPr vert="horz" wrap="none" lIns="0" tIns="0" rIns="0" bIns="0"/>
          <a:lstStyle/>
          <a:p>
            <a:pPr algn="l" rtl="0" eaLnBrk="0"/>
            <a:r>
              <a:rPr sz="2100" kern="0" spc="0" dirty="0">
                <a:solidFill>
                  <a:srgbClr val="990000">
                    <a:alpha val="100000"/>
                  </a:srgbClr>
                </a:solidFill>
                <a:latin typeface="Calibri" panose="020F0502020204030204"/>
                <a:ea typeface="Calibri" panose="020F0502020204030204"/>
                <a:cs typeface="Calibri" panose="020F0502020204030204"/>
              </a:rPr>
              <a:t>Model(s) of the system</a:t>
            </a:r>
            <a:endParaRPr sz="2100" dirty="0"/>
          </a:p>
        </p:txBody>
      </p:sp>
      <p:sp>
        <p:nvSpPr>
          <p:cNvPr id="320" name="textbox 320"/>
          <p:cNvSpPr/>
          <p:nvPr/>
        </p:nvSpPr>
        <p:spPr>
          <a:xfrm>
            <a:off x="1638300" y="2076450"/>
            <a:ext cx="1123950" cy="285750"/>
          </a:xfrm>
          <a:prstGeom prst="rect">
            <a:avLst/>
          </a:prstGeom>
          <a:noFill/>
          <a:ln w="0" cap="flat">
            <a:noFill/>
            <a:prstDash val="solid"/>
            <a:miter lim="0"/>
          </a:ln>
        </p:spPr>
        <p:txBody>
          <a:bodyPr vert="horz" wrap="none" lIns="0" tIns="0" rIns="0" bIns="0"/>
          <a:lstStyle/>
          <a:p>
            <a:pPr algn="l" rtl="0" eaLnBrk="0"/>
            <a:r>
              <a:rPr sz="1800" kern="0" spc="0" dirty="0">
                <a:solidFill>
                  <a:srgbClr val="851321">
                    <a:alpha val="100000"/>
                  </a:srgbClr>
                </a:solidFill>
                <a:latin typeface="Verdana" panose="020B0604030504040204"/>
                <a:ea typeface="Verdana" panose="020B0604030504040204"/>
                <a:cs typeface="Verdana" panose="020B0604030504040204"/>
              </a:rPr>
              <a:t>of sources</a:t>
            </a:r>
            <a:endParaRPr sz="1800" dirty="0"/>
          </a:p>
        </p:txBody>
      </p:sp>
      <p:sp>
        <p:nvSpPr>
          <p:cNvPr id="322" name="textbox 322"/>
          <p:cNvSpPr/>
          <p:nvPr/>
        </p:nvSpPr>
        <p:spPr>
          <a:xfrm>
            <a:off x="9077325" y="2076450"/>
            <a:ext cx="1362075" cy="285750"/>
          </a:xfrm>
          <a:prstGeom prst="rect">
            <a:avLst/>
          </a:prstGeom>
          <a:noFill/>
          <a:ln w="0" cap="flat">
            <a:noFill/>
            <a:prstDash val="solid"/>
            <a:miter lim="0"/>
          </a:ln>
        </p:spPr>
        <p:txBody>
          <a:bodyPr vert="horz" wrap="none" lIns="0" tIns="0" rIns="0" bIns="0"/>
          <a:lstStyle/>
          <a:p>
            <a:pPr algn="l" rtl="0" eaLnBrk="0"/>
            <a:r>
              <a:rPr sz="2000" kern="0" spc="0" dirty="0">
                <a:solidFill>
                  <a:srgbClr val="800000">
                    <a:alpha val="100000"/>
                  </a:srgbClr>
                </a:solidFill>
                <a:latin typeface="Calibri" panose="020F0502020204030204"/>
                <a:ea typeface="Calibri" panose="020F0502020204030204"/>
                <a:cs typeface="Calibri" panose="020F0502020204030204"/>
              </a:rPr>
              <a:t>propagation</a:t>
            </a:r>
            <a:endParaRPr sz="2000" dirty="0"/>
          </a:p>
        </p:txBody>
      </p:sp>
      <p:sp>
        <p:nvSpPr>
          <p:cNvPr id="324" name="textbox 324"/>
          <p:cNvSpPr/>
          <p:nvPr/>
        </p:nvSpPr>
        <p:spPr>
          <a:xfrm>
            <a:off x="4495800" y="2228850"/>
            <a:ext cx="2971800" cy="304800"/>
          </a:xfrm>
          <a:prstGeom prst="rect">
            <a:avLst/>
          </a:prstGeom>
          <a:noFill/>
          <a:ln w="0" cap="flat">
            <a:noFill/>
            <a:prstDash val="solid"/>
            <a:miter lim="0"/>
          </a:ln>
        </p:spPr>
        <p:txBody>
          <a:bodyPr vert="horz" wrap="none" lIns="0" tIns="0" rIns="0" bIns="0"/>
          <a:lstStyle/>
          <a:p>
            <a:pPr algn="l" rtl="0" eaLnBrk="0"/>
            <a:r>
              <a:rPr sz="2200" kern="0" spc="0" dirty="0">
                <a:solidFill>
                  <a:srgbClr val="851321">
                    <a:alpha val="100000"/>
                  </a:srgbClr>
                </a:solidFill>
                <a:latin typeface="Calibri" panose="020F0502020204030204"/>
                <a:ea typeface="Calibri" panose="020F0502020204030204"/>
                <a:cs typeface="Calibri" panose="020F0502020204030204"/>
              </a:rPr>
              <a:t>Design/Assessment criteria</a:t>
            </a:r>
            <a:endParaRPr sz="2200" dirty="0"/>
          </a:p>
        </p:txBody>
      </p:sp>
      <p:sp>
        <p:nvSpPr>
          <p:cNvPr id="326" name="textbox 326"/>
          <p:cNvSpPr/>
          <p:nvPr/>
        </p:nvSpPr>
        <p:spPr>
          <a:xfrm>
            <a:off x="1409700" y="2381250"/>
            <a:ext cx="1571625" cy="314325"/>
          </a:xfrm>
          <a:prstGeom prst="rect">
            <a:avLst/>
          </a:prstGeom>
          <a:noFill/>
          <a:ln w="0" cap="flat">
            <a:noFill/>
            <a:prstDash val="solid"/>
            <a:miter lim="0"/>
          </a:ln>
        </p:spPr>
        <p:txBody>
          <a:bodyPr vert="horz" wrap="none" lIns="0" tIns="0" rIns="0" bIns="0"/>
          <a:lstStyle/>
          <a:p>
            <a:pPr algn="l" rtl="0" eaLnBrk="0"/>
            <a:r>
              <a:rPr sz="2000" kern="0" spc="0" dirty="0">
                <a:solidFill>
                  <a:srgbClr val="851321">
                    <a:alpha val="100000"/>
                  </a:srgbClr>
                </a:solidFill>
                <a:latin typeface="Calibri" panose="020F0502020204030204"/>
                <a:ea typeface="Calibri" panose="020F0502020204030204"/>
                <a:cs typeface="Calibri" panose="020F0502020204030204"/>
              </a:rPr>
              <a:t>of uncertainty</a:t>
            </a:r>
            <a:endParaRPr sz="2000" dirty="0"/>
          </a:p>
        </p:txBody>
      </p:sp>
      <p:sp>
        <p:nvSpPr>
          <p:cNvPr id="328" name="textbox 328"/>
          <p:cNvSpPr/>
          <p:nvPr/>
        </p:nvSpPr>
        <p:spPr>
          <a:xfrm>
            <a:off x="5572125" y="3143250"/>
            <a:ext cx="676275" cy="266700"/>
          </a:xfrm>
          <a:prstGeom prst="rect">
            <a:avLst/>
          </a:prstGeom>
          <a:noFill/>
          <a:ln w="0" cap="flat">
            <a:noFill/>
            <a:prstDash val="solid"/>
            <a:miter lim="0"/>
          </a:ln>
        </p:spPr>
        <p:txBody>
          <a:bodyPr vert="horz" wrap="none" lIns="0" tIns="0" rIns="0" bIns="0"/>
          <a:lstStyle/>
          <a:p>
            <a:pPr algn="l" rtl="0" eaLnBrk="0"/>
            <a:r>
              <a:rPr sz="1800" kern="0" spc="0" dirty="0">
                <a:solidFill>
                  <a:srgbClr val="006666">
                    <a:alpha val="100000"/>
                  </a:srgbClr>
                </a:solidFill>
                <a:latin typeface="Calibri" panose="020F0502020204030204"/>
                <a:ea typeface="Calibri" panose="020F0502020204030204"/>
                <a:cs typeface="Calibri" panose="020F0502020204030204"/>
              </a:rPr>
              <a:t>Model</a:t>
            </a:r>
            <a:endParaRPr sz="1800" dirty="0"/>
          </a:p>
        </p:txBody>
      </p:sp>
      <p:sp>
        <p:nvSpPr>
          <p:cNvPr id="330" name="textbox 330"/>
          <p:cNvSpPr/>
          <p:nvPr/>
        </p:nvSpPr>
        <p:spPr>
          <a:xfrm>
            <a:off x="1295400" y="3162300"/>
            <a:ext cx="1762125" cy="266700"/>
          </a:xfrm>
          <a:prstGeom prst="rect">
            <a:avLst/>
          </a:prstGeom>
          <a:noFill/>
          <a:ln w="0" cap="flat">
            <a:noFill/>
            <a:prstDash val="solid"/>
            <a:miter lim="0"/>
          </a:ln>
        </p:spPr>
        <p:txBody>
          <a:bodyPr vert="horz" wrap="none" lIns="0" tIns="0" rIns="0" bIns="0"/>
          <a:lstStyle/>
          <a:p>
            <a:pPr algn="l" rtl="0" eaLnBrk="0"/>
            <a:r>
              <a:rPr sz="2000" kern="0" spc="0" dirty="0">
                <a:solidFill>
                  <a:srgbClr val="0B6C36">
                    <a:alpha val="100000"/>
                  </a:srgbClr>
                </a:solidFill>
                <a:latin typeface="Calibri" panose="020F0502020204030204"/>
                <a:ea typeface="Calibri" panose="020F0502020204030204"/>
                <a:cs typeface="Calibri" panose="020F0502020204030204"/>
              </a:rPr>
              <a:t>Random variables</a:t>
            </a:r>
            <a:endParaRPr sz="2000" dirty="0"/>
          </a:p>
        </p:txBody>
      </p:sp>
      <p:sp>
        <p:nvSpPr>
          <p:cNvPr id="332" name="textbox 332"/>
          <p:cNvSpPr/>
          <p:nvPr/>
        </p:nvSpPr>
        <p:spPr>
          <a:xfrm>
            <a:off x="1866900" y="3448050"/>
            <a:ext cx="647700" cy="266700"/>
          </a:xfrm>
          <a:prstGeom prst="rect">
            <a:avLst/>
          </a:prstGeom>
          <a:noFill/>
          <a:ln w="0" cap="flat">
            <a:noFill/>
            <a:prstDash val="solid"/>
            <a:miter lim="0"/>
          </a:ln>
        </p:spPr>
        <p:txBody>
          <a:bodyPr vert="horz" wrap="none" lIns="0" tIns="0" rIns="0" bIns="0"/>
          <a:lstStyle/>
          <a:p>
            <a:pPr algn="l" rtl="0" eaLnBrk="0"/>
            <a:r>
              <a:rPr sz="1800" kern="0" spc="0" dirty="0">
                <a:solidFill>
                  <a:srgbClr val="588E32">
                    <a:alpha val="100000"/>
                  </a:srgbClr>
                </a:solidFill>
                <a:latin typeface="Calibri" panose="020F0502020204030204"/>
                <a:ea typeface="Calibri" panose="020F0502020204030204"/>
                <a:cs typeface="Calibri" panose="020F0502020204030204"/>
              </a:rPr>
              <a:t>/</a:t>
            </a:r>
            <a:r>
              <a:rPr sz="1800" kern="0" spc="0" dirty="0">
                <a:solidFill>
                  <a:srgbClr val="007059">
                    <a:alpha val="100000"/>
                  </a:srgbClr>
                </a:solidFill>
                <a:latin typeface="Calibri" panose="020F0502020204030204"/>
                <a:ea typeface="Calibri" panose="020F0502020204030204"/>
                <a:cs typeface="Calibri" panose="020F0502020204030204"/>
              </a:rPr>
              <a:t>fields</a:t>
            </a:r>
            <a:endParaRPr sz="1800" dirty="0"/>
          </a:p>
        </p:txBody>
      </p:sp>
      <p:sp>
        <p:nvSpPr>
          <p:cNvPr id="334" name="textbox 334"/>
          <p:cNvSpPr/>
          <p:nvPr/>
        </p:nvSpPr>
        <p:spPr>
          <a:xfrm>
            <a:off x="8734425" y="3533775"/>
            <a:ext cx="1971675" cy="295275"/>
          </a:xfrm>
          <a:prstGeom prst="rect">
            <a:avLst/>
          </a:prstGeom>
          <a:noFill/>
          <a:ln w="0" cap="flat">
            <a:noFill/>
            <a:prstDash val="solid"/>
            <a:miter lim="0"/>
          </a:ln>
        </p:spPr>
        <p:txBody>
          <a:bodyPr vert="horz" wrap="none" lIns="0" tIns="0" rIns="0" bIns="0"/>
          <a:lstStyle/>
          <a:p>
            <a:pPr algn="l" rtl="0" eaLnBrk="0"/>
            <a:r>
              <a:rPr sz="2000" kern="0" spc="0" dirty="0">
                <a:solidFill>
                  <a:srgbClr val="2E802A">
                    <a:alpha val="100000"/>
                  </a:srgbClr>
                </a:solidFill>
                <a:latin typeface="Calibri" panose="020F0502020204030204"/>
                <a:ea typeface="Calibri" panose="020F0502020204030204"/>
                <a:cs typeface="Calibri" panose="020F0502020204030204"/>
              </a:rPr>
              <a:t>Response variability</a:t>
            </a:r>
            <a:endParaRPr sz="2000" dirty="0"/>
          </a:p>
        </p:txBody>
      </p:sp>
      <p:sp>
        <p:nvSpPr>
          <p:cNvPr id="336" name="textbox 336"/>
          <p:cNvSpPr/>
          <p:nvPr/>
        </p:nvSpPr>
        <p:spPr>
          <a:xfrm>
            <a:off x="2038350" y="3790950"/>
            <a:ext cx="704850" cy="20955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Calibri" panose="020F0502020204030204"/>
                <a:ea typeface="Calibri" panose="020F0502020204030204"/>
                <a:cs typeface="Calibri" panose="020F0502020204030204"/>
              </a:rPr>
              <a:t>Material</a:t>
            </a:r>
            <a:endParaRPr sz="1400" dirty="0"/>
          </a:p>
        </p:txBody>
      </p:sp>
      <p:sp>
        <p:nvSpPr>
          <p:cNvPr id="338" name="textbox 338"/>
          <p:cNvSpPr/>
          <p:nvPr/>
        </p:nvSpPr>
        <p:spPr>
          <a:xfrm>
            <a:off x="8696325" y="3819525"/>
            <a:ext cx="2057400" cy="285750"/>
          </a:xfrm>
          <a:prstGeom prst="rect">
            <a:avLst/>
          </a:prstGeom>
          <a:noFill/>
          <a:ln w="0" cap="flat">
            <a:noFill/>
            <a:prstDash val="solid"/>
            <a:miter lim="0"/>
          </a:ln>
        </p:spPr>
        <p:txBody>
          <a:bodyPr vert="horz" wrap="none" lIns="0" tIns="0" rIns="0" bIns="0"/>
          <a:lstStyle/>
          <a:p>
            <a:pPr algn="l" rtl="0" eaLnBrk="0"/>
            <a:r>
              <a:rPr sz="2000" kern="0" spc="0" dirty="0">
                <a:solidFill>
                  <a:srgbClr val="006633">
                    <a:alpha val="100000"/>
                  </a:srgbClr>
                </a:solidFill>
                <a:latin typeface="Calibri" panose="020F0502020204030204"/>
                <a:ea typeface="Calibri" panose="020F0502020204030204"/>
                <a:cs typeface="Calibri" panose="020F0502020204030204"/>
              </a:rPr>
              <a:t>Probability of failure</a:t>
            </a:r>
            <a:endParaRPr sz="2000" dirty="0"/>
          </a:p>
        </p:txBody>
      </p:sp>
      <p:sp>
        <p:nvSpPr>
          <p:cNvPr id="340" name="textbox 340"/>
          <p:cNvSpPr/>
          <p:nvPr/>
        </p:nvSpPr>
        <p:spPr>
          <a:xfrm>
            <a:off x="2038350" y="3962400"/>
            <a:ext cx="790575" cy="21907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Calibri" panose="020F0502020204030204"/>
                <a:ea typeface="Calibri" panose="020F0502020204030204"/>
                <a:cs typeface="Calibri" panose="020F0502020204030204"/>
              </a:rPr>
              <a:t>properties</a:t>
            </a:r>
            <a:endParaRPr sz="1400" dirty="0"/>
          </a:p>
        </p:txBody>
      </p:sp>
      <p:sp>
        <p:nvSpPr>
          <p:cNvPr id="342" name="textbox 342"/>
          <p:cNvSpPr/>
          <p:nvPr/>
        </p:nvSpPr>
        <p:spPr>
          <a:xfrm>
            <a:off x="2057400" y="4133850"/>
            <a:ext cx="762000" cy="24765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Calibri" panose="020F0502020204030204"/>
                <a:ea typeface="Calibri" panose="020F0502020204030204"/>
                <a:cs typeface="Calibri" panose="020F0502020204030204"/>
              </a:rPr>
              <a:t>Geometry</a:t>
            </a:r>
            <a:endParaRPr sz="1400" dirty="0"/>
          </a:p>
        </p:txBody>
      </p:sp>
      <p:sp>
        <p:nvSpPr>
          <p:cNvPr id="344" name="textbox 344"/>
          <p:cNvSpPr/>
          <p:nvPr/>
        </p:nvSpPr>
        <p:spPr>
          <a:xfrm>
            <a:off x="2028825" y="4295775"/>
            <a:ext cx="676275" cy="24765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Calibri" panose="020F0502020204030204"/>
                <a:ea typeface="Calibri" panose="020F0502020204030204"/>
                <a:cs typeface="Calibri" panose="020F0502020204030204"/>
              </a:rPr>
              <a:t>Loading</a:t>
            </a:r>
            <a:endParaRPr sz="1400" dirty="0"/>
          </a:p>
        </p:txBody>
      </p:sp>
      <p:sp>
        <p:nvSpPr>
          <p:cNvPr id="346" name="textbox 346"/>
          <p:cNvSpPr/>
          <p:nvPr/>
        </p:nvSpPr>
        <p:spPr>
          <a:xfrm>
            <a:off x="5562600" y="5172075"/>
            <a:ext cx="876300" cy="333375"/>
          </a:xfrm>
          <a:prstGeom prst="rect">
            <a:avLst/>
          </a:prstGeom>
          <a:noFill/>
          <a:ln w="0" cap="flat">
            <a:noFill/>
            <a:prstDash val="solid"/>
            <a:miter lim="0"/>
          </a:ln>
        </p:spPr>
        <p:txBody>
          <a:bodyPr vert="horz" wrap="none" lIns="0" tIns="0" rIns="0" bIns="0"/>
          <a:lstStyle/>
          <a:p>
            <a:pPr algn="l" rtl="0" eaLnBrk="0"/>
            <a:r>
              <a:rPr sz="2200" kern="0" spc="0" dirty="0">
                <a:solidFill>
                  <a:srgbClr val="633E55">
                    <a:alpha val="100000"/>
                  </a:srgbClr>
                </a:solidFill>
                <a:latin typeface="Calibri" panose="020F0502020204030204"/>
                <a:ea typeface="Calibri" panose="020F0502020204030204"/>
                <a:cs typeface="Calibri" panose="020F0502020204030204"/>
              </a:rPr>
              <a:t>Step C'</a:t>
            </a:r>
            <a:endParaRPr sz="2200" dirty="0"/>
          </a:p>
        </p:txBody>
      </p:sp>
      <p:sp>
        <p:nvSpPr>
          <p:cNvPr id="348" name="textbox 348"/>
          <p:cNvSpPr/>
          <p:nvPr/>
        </p:nvSpPr>
        <p:spPr>
          <a:xfrm>
            <a:off x="4991100" y="5505450"/>
            <a:ext cx="2038350" cy="314325"/>
          </a:xfrm>
          <a:prstGeom prst="rect">
            <a:avLst/>
          </a:prstGeom>
          <a:noFill/>
          <a:ln w="0" cap="flat">
            <a:noFill/>
            <a:prstDash val="solid"/>
            <a:miter lim="0"/>
          </a:ln>
        </p:spPr>
        <p:txBody>
          <a:bodyPr vert="horz" wrap="none" lIns="0" tIns="0" rIns="0" bIns="0"/>
          <a:lstStyle/>
          <a:p>
            <a:pPr algn="l" rtl="0" eaLnBrk="0"/>
            <a:r>
              <a:rPr sz="2100" kern="0" spc="0" dirty="0">
                <a:solidFill>
                  <a:srgbClr val="851321">
                    <a:alpha val="100000"/>
                  </a:srgbClr>
                </a:solidFill>
                <a:latin typeface="Calibri" panose="020F0502020204030204"/>
                <a:ea typeface="Calibri" panose="020F0502020204030204"/>
                <a:cs typeface="Calibri" panose="020F0502020204030204"/>
              </a:rPr>
              <a:t>Sensitivity analysis</a:t>
            </a:r>
            <a:endParaRPr sz="2100" dirty="0"/>
          </a:p>
        </p:txBody>
      </p:sp>
      <p:sp>
        <p:nvSpPr>
          <p:cNvPr id="350" name="textbox 350"/>
          <p:cNvSpPr/>
          <p:nvPr/>
        </p:nvSpPr>
        <p:spPr>
          <a:xfrm>
            <a:off x="514350" y="6048375"/>
            <a:ext cx="1352550" cy="266700"/>
          </a:xfrm>
          <a:prstGeom prst="rect">
            <a:avLst/>
          </a:prstGeom>
          <a:noFill/>
          <a:ln w="0" cap="flat">
            <a:noFill/>
            <a:prstDash val="solid"/>
            <a:miter lim="0"/>
          </a:ln>
        </p:spPr>
        <p:txBody>
          <a:bodyPr vert="horz" wrap="none" lIns="0" tIns="0" rIns="0" bIns="0"/>
          <a:lstStyle/>
          <a:p>
            <a:pPr algn="l" rtl="0" eaLnBrk="0"/>
            <a:r>
              <a:rPr sz="1600" kern="0" spc="0" dirty="0">
                <a:solidFill>
                  <a:srgbClr val="000000">
                    <a:alpha val="100000"/>
                  </a:srgbClr>
                </a:solidFill>
                <a:latin typeface="Arial" panose="020B0604020202020204"/>
                <a:ea typeface="Arial" panose="020B0604020202020204"/>
                <a:cs typeface="Arial" panose="020B0604020202020204"/>
              </a:rPr>
              <a:t>(Sudret, 2008)</a:t>
            </a:r>
            <a:endParaRPr sz="1600" dirty="0"/>
          </a:p>
        </p:txBody>
      </p:sp>
      <p:sp>
        <p:nvSpPr>
          <p:cNvPr id="352" name="textbox 35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6" name="picture 356"/>
          <p:cNvPicPr>
            <a:picLocks noChangeAspect="1"/>
          </p:cNvPicPr>
          <p:nvPr/>
        </p:nvPicPr>
        <p:blipFill>
          <a:blip r:embed="rId1"/>
          <a:stretch>
            <a:fillRect/>
          </a:stretch>
        </p:blipFill>
        <p:spPr>
          <a:xfrm>
            <a:off x="0" y="0"/>
            <a:ext cx="12192000" cy="6858000"/>
          </a:xfrm>
          <a:prstGeom prst="rect">
            <a:avLst/>
          </a:prstGeom>
        </p:spPr>
      </p:pic>
      <p:sp>
        <p:nvSpPr>
          <p:cNvPr id="358" name="textbox 358"/>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67297">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360" name="textbox 360"/>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362" name="textbox 36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366" name="picture 366"/>
          <p:cNvPicPr>
            <a:picLocks noChangeAspect="1"/>
          </p:cNvPicPr>
          <p:nvPr/>
        </p:nvPicPr>
        <p:blipFill>
          <a:blip r:embed="rId2"/>
          <a:stretch>
            <a:fillRect/>
          </a:stretch>
        </p:blipFill>
        <p:spPr>
          <a:xfrm>
            <a:off x="295275" y="247650"/>
            <a:ext cx="733425" cy="666750"/>
          </a:xfrm>
          <a:prstGeom prst="rect">
            <a:avLst/>
          </a:prstGeom>
        </p:spPr>
      </p:pic>
      <p:sp>
        <p:nvSpPr>
          <p:cNvPr id="368" name="textbox 368"/>
          <p:cNvSpPr/>
          <p:nvPr/>
        </p:nvSpPr>
        <p:spPr>
          <a:xfrm>
            <a:off x="1447800" y="333375"/>
            <a:ext cx="539115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不确定性量化与传播 (UQ &amp; UP)</a:t>
            </a:r>
            <a:endParaRPr sz="2800" dirty="0"/>
          </a:p>
        </p:txBody>
      </p:sp>
      <p:sp>
        <p:nvSpPr>
          <p:cNvPr id="370" name="textbox 370"/>
          <p:cNvSpPr/>
          <p:nvPr/>
        </p:nvSpPr>
        <p:spPr>
          <a:xfrm>
            <a:off x="1447800" y="762000"/>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Uncertainty Quantification and Uncertainty Propagation (UQ &amp; UP)</a:t>
            </a:r>
            <a:endParaRPr sz="1400" dirty="0"/>
          </a:p>
        </p:txBody>
      </p:sp>
      <p:pic>
        <p:nvPicPr>
          <p:cNvPr id="374" name="picture 374"/>
          <p:cNvPicPr>
            <a:picLocks noChangeAspect="1"/>
          </p:cNvPicPr>
          <p:nvPr/>
        </p:nvPicPr>
        <p:blipFill>
          <a:blip r:embed="rId3"/>
          <a:stretch>
            <a:fillRect/>
          </a:stretch>
        </p:blipFill>
        <p:spPr>
          <a:xfrm>
            <a:off x="438150" y="1457325"/>
            <a:ext cx="8039100" cy="4562475"/>
          </a:xfrm>
          <a:prstGeom prst="rect">
            <a:avLst/>
          </a:prstGeom>
        </p:spPr>
      </p:pic>
      <p:sp>
        <p:nvSpPr>
          <p:cNvPr id="376" name="textbox 376"/>
          <p:cNvSpPr/>
          <p:nvPr/>
        </p:nvSpPr>
        <p:spPr>
          <a:xfrm>
            <a:off x="5943600" y="1743075"/>
            <a:ext cx="885825" cy="26670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Response</a:t>
            </a:r>
            <a:endParaRPr sz="1400" dirty="0"/>
          </a:p>
        </p:txBody>
      </p:sp>
      <p:sp>
        <p:nvSpPr>
          <p:cNvPr id="378" name="textbox 378"/>
          <p:cNvSpPr/>
          <p:nvPr/>
        </p:nvSpPr>
        <p:spPr>
          <a:xfrm>
            <a:off x="581025" y="2000250"/>
            <a:ext cx="1457325" cy="238125"/>
          </a:xfrm>
          <a:prstGeom prst="rect">
            <a:avLst/>
          </a:prstGeom>
          <a:noFill/>
          <a:ln w="0" cap="flat">
            <a:noFill/>
            <a:prstDash val="solid"/>
            <a:miter lim="0"/>
          </a:ln>
        </p:spPr>
        <p:txBody>
          <a:bodyPr vert="horz" wrap="none" lIns="0" tIns="0" rIns="0" bIns="0"/>
          <a:lstStyle/>
          <a:p>
            <a:pPr algn="l" rtl="0" eaLnBrk="0"/>
            <a:r>
              <a:rPr sz="1600" kern="0" spc="0" dirty="0">
                <a:solidFill>
                  <a:srgbClr val="0B6C36">
                    <a:alpha val="100000"/>
                  </a:srgbClr>
                </a:solidFill>
                <a:latin typeface="Calibri" panose="020F0502020204030204"/>
                <a:ea typeface="Calibri" panose="020F0502020204030204"/>
                <a:cs typeface="Calibri" panose="020F0502020204030204"/>
              </a:rPr>
              <a:t>Mechanical model</a:t>
            </a:r>
            <a:endParaRPr sz="1600" dirty="0"/>
          </a:p>
        </p:txBody>
      </p:sp>
      <p:sp>
        <p:nvSpPr>
          <p:cNvPr id="380" name="textbox 380"/>
          <p:cNvSpPr/>
          <p:nvPr/>
        </p:nvSpPr>
        <p:spPr>
          <a:xfrm>
            <a:off x="5953125" y="2000250"/>
            <a:ext cx="914400" cy="276225"/>
          </a:xfrm>
          <a:prstGeom prst="rect">
            <a:avLst/>
          </a:prstGeom>
          <a:noFill/>
          <a:ln w="0" cap="flat">
            <a:noFill/>
            <a:prstDash val="solid"/>
            <a:miter lim="0"/>
          </a:ln>
        </p:spPr>
        <p:txBody>
          <a:bodyPr vert="horz" wrap="none" lIns="0" tIns="0" rIns="0" bIns="0"/>
          <a:lstStyle/>
          <a:p>
            <a:pPr algn="l" rtl="0" eaLnBrk="0"/>
            <a:r>
              <a:rPr sz="1600" kern="0" spc="0" dirty="0">
                <a:solidFill>
                  <a:srgbClr val="000000">
                    <a:alpha val="100000"/>
                  </a:srgbClr>
                </a:solidFill>
                <a:latin typeface="Calibri" panose="020F0502020204030204"/>
                <a:ea typeface="Calibri" panose="020F0502020204030204"/>
                <a:cs typeface="Calibri" panose="020F0502020204030204"/>
              </a:rPr>
              <a:t>variability</a:t>
            </a:r>
            <a:endParaRPr sz="1600" dirty="0"/>
          </a:p>
        </p:txBody>
      </p:sp>
      <p:sp>
        <p:nvSpPr>
          <p:cNvPr id="382" name="textbox 382"/>
          <p:cNvSpPr/>
          <p:nvPr/>
        </p:nvSpPr>
        <p:spPr>
          <a:xfrm>
            <a:off x="6000750" y="2266950"/>
            <a:ext cx="828675" cy="24765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methods</a:t>
            </a:r>
            <a:endParaRPr sz="1400" dirty="0"/>
          </a:p>
        </p:txBody>
      </p:sp>
      <p:sp>
        <p:nvSpPr>
          <p:cNvPr id="384" name="textbox 384"/>
          <p:cNvSpPr/>
          <p:nvPr/>
        </p:nvSpPr>
        <p:spPr>
          <a:xfrm>
            <a:off x="5953125" y="3362325"/>
            <a:ext cx="942975" cy="266700"/>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Calibri" panose="020F0502020204030204"/>
                <a:ea typeface="Calibri" panose="020F0502020204030204"/>
                <a:cs typeface="Calibri" panose="020F0502020204030204"/>
              </a:rPr>
              <a:t>Structural</a:t>
            </a:r>
            <a:endParaRPr sz="1800" dirty="0"/>
          </a:p>
        </p:txBody>
      </p:sp>
      <p:sp>
        <p:nvSpPr>
          <p:cNvPr id="386" name="textbox 386"/>
          <p:cNvSpPr/>
          <p:nvPr/>
        </p:nvSpPr>
        <p:spPr>
          <a:xfrm>
            <a:off x="3371850" y="3400425"/>
            <a:ext cx="1200150" cy="247650"/>
          </a:xfrm>
          <a:prstGeom prst="rect">
            <a:avLst/>
          </a:prstGeom>
          <a:noFill/>
          <a:ln w="0" cap="flat">
            <a:noFill/>
            <a:prstDash val="solid"/>
            <a:miter lim="0"/>
          </a:ln>
        </p:spPr>
        <p:txBody>
          <a:bodyPr vert="horz" wrap="none" lIns="0" tIns="0" rIns="0" bIns="0"/>
          <a:lstStyle/>
          <a:p>
            <a:pPr algn="l" rtl="0" eaLnBrk="0"/>
            <a:r>
              <a:rPr sz="1600" kern="0" spc="0" dirty="0">
                <a:solidFill>
                  <a:srgbClr val="000000">
                    <a:alpha val="100000"/>
                  </a:srgbClr>
                </a:solidFill>
                <a:latin typeface="Segoe UI" panose="020B0502040204020203"/>
                <a:ea typeface="Segoe UI" panose="020B0502040204020203"/>
                <a:cs typeface="Segoe UI" panose="020B0502040204020203"/>
              </a:rPr>
              <a:t>Probabilistic-</a:t>
            </a:r>
            <a:endParaRPr sz="1600" dirty="0"/>
          </a:p>
        </p:txBody>
      </p:sp>
      <p:sp>
        <p:nvSpPr>
          <p:cNvPr id="388" name="textbox 388"/>
          <p:cNvSpPr/>
          <p:nvPr/>
        </p:nvSpPr>
        <p:spPr>
          <a:xfrm>
            <a:off x="5953125" y="3609975"/>
            <a:ext cx="866775" cy="295275"/>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Calibri" panose="020F0502020204030204"/>
                <a:ea typeface="Calibri" panose="020F0502020204030204"/>
                <a:cs typeface="Calibri" panose="020F0502020204030204"/>
              </a:rPr>
              <a:t>reliability</a:t>
            </a:r>
            <a:endParaRPr sz="1800" dirty="0"/>
          </a:p>
        </p:txBody>
      </p:sp>
      <p:sp>
        <p:nvSpPr>
          <p:cNvPr id="390" name="textbox 390"/>
          <p:cNvSpPr/>
          <p:nvPr/>
        </p:nvSpPr>
        <p:spPr>
          <a:xfrm>
            <a:off x="3409950" y="3667125"/>
            <a:ext cx="1047750" cy="247650"/>
          </a:xfrm>
          <a:prstGeom prst="rect">
            <a:avLst/>
          </a:prstGeom>
          <a:noFill/>
          <a:ln w="0" cap="flat">
            <a:noFill/>
            <a:prstDash val="solid"/>
            <a:miter lim="0"/>
          </a:ln>
        </p:spPr>
        <p:txBody>
          <a:bodyPr vert="horz" wrap="none" lIns="0" tIns="0" rIns="0" bIns="0"/>
          <a:lstStyle/>
          <a:p>
            <a:pPr algn="l" rtl="0" eaLnBrk="0"/>
            <a:r>
              <a:rPr sz="1600" kern="0" spc="0" dirty="0">
                <a:solidFill>
                  <a:srgbClr val="000000">
                    <a:alpha val="100000"/>
                  </a:srgbClr>
                </a:solidFill>
                <a:latin typeface="Calibri" panose="020F0502020204030204"/>
                <a:ea typeface="Calibri" panose="020F0502020204030204"/>
                <a:cs typeface="Calibri" panose="020F0502020204030204"/>
              </a:rPr>
              <a:t>mechanical</a:t>
            </a:r>
            <a:endParaRPr sz="1600" dirty="0"/>
          </a:p>
        </p:txBody>
      </p:sp>
      <p:sp>
        <p:nvSpPr>
          <p:cNvPr id="392" name="textbox 392"/>
          <p:cNvSpPr/>
          <p:nvPr/>
        </p:nvSpPr>
        <p:spPr>
          <a:xfrm>
            <a:off x="5991225" y="3876675"/>
            <a:ext cx="828675" cy="25717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methods</a:t>
            </a:r>
            <a:endParaRPr sz="1400" dirty="0"/>
          </a:p>
        </p:txBody>
      </p:sp>
      <p:sp>
        <p:nvSpPr>
          <p:cNvPr id="394" name="textbox 394"/>
          <p:cNvSpPr/>
          <p:nvPr/>
        </p:nvSpPr>
        <p:spPr>
          <a:xfrm>
            <a:off x="3676650" y="3905250"/>
            <a:ext cx="590550" cy="276225"/>
          </a:xfrm>
          <a:prstGeom prst="rect">
            <a:avLst/>
          </a:prstGeom>
          <a:noFill/>
          <a:ln w="0" cap="flat">
            <a:noFill/>
            <a:prstDash val="solid"/>
            <a:miter lim="0"/>
          </a:ln>
        </p:spPr>
        <p:txBody>
          <a:bodyPr vert="horz" wrap="none" lIns="0" tIns="0" rIns="0" bIns="0"/>
          <a:lstStyle/>
          <a:p>
            <a:pPr algn="l" rtl="0" eaLnBrk="0"/>
            <a:r>
              <a:rPr sz="1400" kern="0" spc="225" dirty="0">
                <a:solidFill>
                  <a:srgbClr val="000000">
                    <a:alpha val="100000"/>
                  </a:srgbClr>
                </a:solidFill>
                <a:latin typeface="微软雅黑" panose="020B0503020204020204" charset="-122"/>
                <a:ea typeface="微软雅黑" panose="020B0503020204020204" charset="-122"/>
                <a:cs typeface="微软雅黑" panose="020B0503020204020204" charset="-122"/>
              </a:rPr>
              <a:t>model</a:t>
            </a:r>
            <a:endParaRPr sz="1400" dirty="0"/>
          </a:p>
        </p:txBody>
      </p:sp>
      <p:sp>
        <p:nvSpPr>
          <p:cNvPr id="396" name="textbox 396"/>
          <p:cNvSpPr/>
          <p:nvPr/>
        </p:nvSpPr>
        <p:spPr>
          <a:xfrm>
            <a:off x="581025" y="4171950"/>
            <a:ext cx="1524000" cy="257175"/>
          </a:xfrm>
          <a:prstGeom prst="rect">
            <a:avLst/>
          </a:prstGeom>
          <a:noFill/>
          <a:ln w="0" cap="flat">
            <a:noFill/>
            <a:prstDash val="solid"/>
            <a:miter lim="0"/>
          </a:ln>
        </p:spPr>
        <p:txBody>
          <a:bodyPr vert="horz" wrap="none" lIns="0" tIns="0" rIns="0" bIns="0"/>
          <a:lstStyle/>
          <a:p>
            <a:pPr algn="l" rtl="0" eaLnBrk="0"/>
            <a:r>
              <a:rPr sz="1500" kern="0" spc="0" dirty="0">
                <a:solidFill>
                  <a:srgbClr val="A0F67B">
                    <a:alpha val="100000"/>
                  </a:srgbClr>
                </a:solidFill>
                <a:latin typeface="Calibri" panose="020F0502020204030204"/>
                <a:ea typeface="Calibri" panose="020F0502020204030204"/>
                <a:cs typeface="Calibri" panose="020F0502020204030204"/>
              </a:rPr>
              <a:t>Probabilistic input</a:t>
            </a:r>
            <a:endParaRPr sz="1500" dirty="0"/>
          </a:p>
        </p:txBody>
      </p:sp>
      <p:sp>
        <p:nvSpPr>
          <p:cNvPr id="398" name="textbox 398"/>
          <p:cNvSpPr/>
          <p:nvPr/>
        </p:nvSpPr>
        <p:spPr>
          <a:xfrm>
            <a:off x="1200150" y="4429125"/>
            <a:ext cx="714375" cy="219075"/>
          </a:xfrm>
          <a:prstGeom prst="rect">
            <a:avLst/>
          </a:prstGeom>
          <a:noFill/>
          <a:ln w="0" cap="flat">
            <a:noFill/>
            <a:prstDash val="solid"/>
            <a:miter lim="0"/>
          </a:ln>
        </p:spPr>
        <p:txBody>
          <a:bodyPr vert="horz" wrap="none" lIns="0" tIns="0" rIns="0" bIns="0"/>
          <a:lstStyle/>
          <a:p>
            <a:pPr algn="l" rtl="0" eaLnBrk="0"/>
            <a:r>
              <a:rPr sz="1500" kern="0" spc="0" dirty="0">
                <a:solidFill>
                  <a:srgbClr val="000000">
                    <a:alpha val="100000"/>
                  </a:srgbClr>
                </a:solidFill>
                <a:latin typeface="Calibri" panose="020F0502020204030204"/>
                <a:ea typeface="Calibri" panose="020F0502020204030204"/>
                <a:cs typeface="Calibri" panose="020F0502020204030204"/>
              </a:rPr>
              <a:t>Material</a:t>
            </a:r>
            <a:endParaRPr sz="1500" dirty="0"/>
          </a:p>
        </p:txBody>
      </p:sp>
      <p:sp>
        <p:nvSpPr>
          <p:cNvPr id="400" name="textbox 400"/>
          <p:cNvSpPr/>
          <p:nvPr/>
        </p:nvSpPr>
        <p:spPr>
          <a:xfrm>
            <a:off x="1190625" y="4638675"/>
            <a:ext cx="847725" cy="28575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Calibri" panose="020F0502020204030204"/>
                <a:ea typeface="Calibri" panose="020F0502020204030204"/>
                <a:cs typeface="Calibri" panose="020F0502020204030204"/>
              </a:rPr>
              <a:t>properties</a:t>
            </a:r>
            <a:endParaRPr sz="1400" dirty="0"/>
          </a:p>
        </p:txBody>
      </p:sp>
      <p:sp>
        <p:nvSpPr>
          <p:cNvPr id="402" name="textbox 402"/>
          <p:cNvSpPr/>
          <p:nvPr/>
        </p:nvSpPr>
        <p:spPr>
          <a:xfrm>
            <a:off x="1190625" y="4886325"/>
            <a:ext cx="828675" cy="285750"/>
          </a:xfrm>
          <a:prstGeom prst="rect">
            <a:avLst/>
          </a:prstGeom>
          <a:noFill/>
          <a:ln w="0" cap="flat">
            <a:noFill/>
            <a:prstDash val="solid"/>
            <a:miter lim="0"/>
          </a:ln>
        </p:spPr>
        <p:txBody>
          <a:bodyPr vert="horz" wrap="none" lIns="0" tIns="0" rIns="0" bIns="0"/>
          <a:lstStyle/>
          <a:p>
            <a:pPr algn="l" rtl="0" eaLnBrk="0"/>
            <a:r>
              <a:rPr sz="1600" kern="0" spc="0" dirty="0">
                <a:solidFill>
                  <a:srgbClr val="000000">
                    <a:alpha val="100000"/>
                  </a:srgbClr>
                </a:solidFill>
                <a:latin typeface="Calibri" panose="020F0502020204030204"/>
                <a:ea typeface="Calibri" panose="020F0502020204030204"/>
                <a:cs typeface="Calibri" panose="020F0502020204030204"/>
              </a:rPr>
              <a:t>Geometry</a:t>
            </a:r>
            <a:endParaRPr sz="1600" dirty="0"/>
          </a:p>
        </p:txBody>
      </p:sp>
      <p:sp>
        <p:nvSpPr>
          <p:cNvPr id="404" name="textbox 404"/>
          <p:cNvSpPr/>
          <p:nvPr/>
        </p:nvSpPr>
        <p:spPr>
          <a:xfrm>
            <a:off x="6019800" y="5124450"/>
            <a:ext cx="800100" cy="276225"/>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Calibri" panose="020F0502020204030204"/>
                <a:ea typeface="Calibri" panose="020F0502020204030204"/>
                <a:cs typeface="Calibri" panose="020F0502020204030204"/>
              </a:rPr>
              <a:t>Spectral</a:t>
            </a:r>
            <a:endParaRPr sz="1800" dirty="0"/>
          </a:p>
        </p:txBody>
      </p:sp>
      <p:sp>
        <p:nvSpPr>
          <p:cNvPr id="406" name="textbox 406"/>
          <p:cNvSpPr/>
          <p:nvPr/>
        </p:nvSpPr>
        <p:spPr>
          <a:xfrm>
            <a:off x="1152525" y="5143500"/>
            <a:ext cx="733425" cy="285750"/>
          </a:xfrm>
          <a:prstGeom prst="rect">
            <a:avLst/>
          </a:prstGeom>
          <a:noFill/>
          <a:ln w="0" cap="flat">
            <a:noFill/>
            <a:prstDash val="solid"/>
            <a:miter lim="0"/>
          </a:ln>
        </p:spPr>
        <p:txBody>
          <a:bodyPr vert="horz" wrap="none" lIns="0" tIns="0" rIns="0" bIns="0"/>
          <a:lstStyle/>
          <a:p>
            <a:pPr algn="l" rtl="0" eaLnBrk="0"/>
            <a:r>
              <a:rPr sz="1600" kern="0" spc="0" dirty="0">
                <a:solidFill>
                  <a:srgbClr val="000000">
                    <a:alpha val="100000"/>
                  </a:srgbClr>
                </a:solidFill>
                <a:latin typeface="Calibri" panose="020F0502020204030204"/>
                <a:ea typeface="Calibri" panose="020F0502020204030204"/>
                <a:cs typeface="Calibri" panose="020F0502020204030204"/>
              </a:rPr>
              <a:t>Loading</a:t>
            </a:r>
            <a:endParaRPr sz="1600" dirty="0"/>
          </a:p>
        </p:txBody>
      </p:sp>
      <p:sp>
        <p:nvSpPr>
          <p:cNvPr id="408" name="textbox 408"/>
          <p:cNvSpPr/>
          <p:nvPr/>
        </p:nvSpPr>
        <p:spPr>
          <a:xfrm>
            <a:off x="6000750" y="5391150"/>
            <a:ext cx="828675" cy="26670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methods</a:t>
            </a:r>
            <a:endParaRPr sz="1400" dirty="0"/>
          </a:p>
        </p:txBody>
      </p:sp>
      <p:sp>
        <p:nvSpPr>
          <p:cNvPr id="410" name="textbox 410"/>
          <p:cNvSpPr/>
          <p:nvPr/>
        </p:nvSpPr>
        <p:spPr>
          <a:xfrm>
            <a:off x="9039225" y="1924050"/>
            <a:ext cx="1666875" cy="314325"/>
          </a:xfrm>
          <a:prstGeom prst="rect">
            <a:avLst/>
          </a:prstGeom>
          <a:noFill/>
          <a:ln w="0" cap="flat">
            <a:noFill/>
            <a:prstDash val="solid"/>
            <a:miter lim="0"/>
          </a:ln>
        </p:spPr>
        <p:txBody>
          <a:bodyPr vert="horz" wrap="none" lIns="0" tIns="0" rIns="0" bIns="0"/>
          <a:lstStyle/>
          <a:p>
            <a:pPr marL="361950" indent="-323850" algn="l" rtl="0" eaLnBrk="0">
              <a:buChar char="•"/>
            </a:pPr>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统计矩估计</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412" name="textbox 412"/>
          <p:cNvSpPr/>
          <p:nvPr/>
        </p:nvSpPr>
        <p:spPr>
          <a:xfrm>
            <a:off x="9029700" y="3581400"/>
            <a:ext cx="1685925" cy="314325"/>
          </a:xfrm>
          <a:prstGeom prst="rect">
            <a:avLst/>
          </a:prstGeom>
          <a:noFill/>
          <a:ln w="0" cap="flat">
            <a:noFill/>
            <a:prstDash val="solid"/>
            <a:miter lim="0"/>
          </a:ln>
        </p:spPr>
        <p:txBody>
          <a:bodyPr vert="horz" wrap="none" lIns="0" tIns="0" rIns="0" bIns="0"/>
          <a:lstStyle/>
          <a:p>
            <a:pPr marL="371475" indent="-304800" algn="l" rtl="0" eaLnBrk="0">
              <a:buChar char="•"/>
            </a:pPr>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可靠度方法</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414" name="textbox 414"/>
          <p:cNvSpPr/>
          <p:nvPr/>
        </p:nvSpPr>
        <p:spPr>
          <a:xfrm>
            <a:off x="9039225" y="5172075"/>
            <a:ext cx="2152650" cy="323850"/>
          </a:xfrm>
          <a:prstGeom prst="rect">
            <a:avLst/>
          </a:prstGeom>
          <a:noFill/>
          <a:ln w="0" cap="flat">
            <a:noFill/>
            <a:prstDash val="solid"/>
            <a:miter lim="0"/>
          </a:ln>
        </p:spPr>
        <p:txBody>
          <a:bodyPr vert="horz" wrap="none" lIns="0" tIns="0" rIns="0" bIns="0"/>
          <a:lstStyle/>
          <a:p>
            <a:pPr marL="352425" indent="-352425" algn="l" rtl="0" eaLnBrk="0">
              <a:buChar char="•"/>
            </a:pPr>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谱方法 (如PCE)</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416" name="textbox 416"/>
          <p:cNvSpPr/>
          <p:nvPr/>
        </p:nvSpPr>
        <p:spPr>
          <a:xfrm>
            <a:off x="523875" y="6076950"/>
            <a:ext cx="1333500" cy="228600"/>
          </a:xfrm>
          <a:prstGeom prst="rect">
            <a:avLst/>
          </a:prstGeom>
          <a:noFill/>
          <a:ln w="0" cap="flat">
            <a:noFill/>
            <a:prstDash val="solid"/>
            <a:miter lim="0"/>
          </a:ln>
        </p:spPr>
        <p:txBody>
          <a:bodyPr vert="horz" wrap="none" lIns="0" tIns="0" rIns="0" bIns="0"/>
          <a:lstStyle/>
          <a:p>
            <a:pPr algn="l" rtl="0" eaLnBrk="0"/>
            <a:r>
              <a:rPr sz="1600" kern="0" spc="0" dirty="0">
                <a:solidFill>
                  <a:srgbClr val="000000">
                    <a:alpha val="100000"/>
                  </a:srgbClr>
                </a:solidFill>
                <a:latin typeface="Arial" panose="020B0604020202020204"/>
                <a:ea typeface="Arial" panose="020B0604020202020204"/>
                <a:cs typeface="Arial" panose="020B0604020202020204"/>
              </a:rPr>
              <a:t>(Sudret, 2008)</a:t>
            </a:r>
            <a:endParaRPr sz="1600" dirty="0"/>
          </a:p>
        </p:txBody>
      </p:sp>
      <p:sp>
        <p:nvSpPr>
          <p:cNvPr id="418" name="textbox 41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2" name="picture 422"/>
          <p:cNvPicPr>
            <a:picLocks noChangeAspect="1"/>
          </p:cNvPicPr>
          <p:nvPr/>
        </p:nvPicPr>
        <p:blipFill>
          <a:blip r:embed="rId1"/>
          <a:stretch>
            <a:fillRect/>
          </a:stretch>
        </p:blipFill>
        <p:spPr>
          <a:xfrm>
            <a:off x="0" y="0"/>
            <a:ext cx="12192000" cy="6858000"/>
          </a:xfrm>
          <a:prstGeom prst="rect">
            <a:avLst/>
          </a:prstGeom>
        </p:spPr>
      </p:pic>
      <p:sp>
        <p:nvSpPr>
          <p:cNvPr id="424" name="textbox 424"/>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426" name="textbox 426"/>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428" name="textbox 42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87FA6">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432" name="picture 432"/>
          <p:cNvPicPr>
            <a:picLocks noChangeAspect="1"/>
          </p:cNvPicPr>
          <p:nvPr/>
        </p:nvPicPr>
        <p:blipFill>
          <a:blip r:embed="rId2"/>
          <a:stretch>
            <a:fillRect/>
          </a:stretch>
        </p:blipFill>
        <p:spPr>
          <a:xfrm>
            <a:off x="295275" y="247650"/>
            <a:ext cx="733425" cy="666750"/>
          </a:xfrm>
          <a:prstGeom prst="rect">
            <a:avLst/>
          </a:prstGeom>
        </p:spPr>
      </p:pic>
      <p:sp>
        <p:nvSpPr>
          <p:cNvPr id="434" name="textbox 434"/>
          <p:cNvSpPr/>
          <p:nvPr/>
        </p:nvSpPr>
        <p:spPr>
          <a:xfrm>
            <a:off x="1457325" y="333375"/>
            <a:ext cx="787717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随机系统响应函数统计矩估计的困难：维数诅咒</a:t>
            </a:r>
            <a:endParaRPr sz="2800" dirty="0"/>
          </a:p>
        </p:txBody>
      </p:sp>
      <p:sp>
        <p:nvSpPr>
          <p:cNvPr id="436" name="textbox 436"/>
          <p:cNvSpPr/>
          <p:nvPr/>
        </p:nvSpPr>
        <p:spPr>
          <a:xfrm>
            <a:off x="1447800" y="752475"/>
            <a:ext cx="902970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Bottleneck in Statistical Moments Estimation for Response Function of Stochastic System: Curse of Dimensionality</a:t>
            </a:r>
            <a:endParaRPr sz="1400" dirty="0"/>
          </a:p>
        </p:txBody>
      </p:sp>
      <p:sp>
        <p:nvSpPr>
          <p:cNvPr id="438" name="textbox 438"/>
          <p:cNvSpPr/>
          <p:nvPr/>
        </p:nvSpPr>
        <p:spPr>
          <a:xfrm>
            <a:off x="533400" y="1228725"/>
            <a:ext cx="3933825" cy="304800"/>
          </a:xfrm>
          <a:prstGeom prst="rect">
            <a:avLst/>
          </a:prstGeom>
          <a:noFill/>
          <a:ln w="0" cap="flat">
            <a:noFill/>
            <a:prstDash val="solid"/>
            <a:miter lim="0"/>
          </a:ln>
        </p:spPr>
        <p:txBody>
          <a:bodyPr vert="horz" wrap="none" lIns="0" tIns="0" rIns="0" bIns="0"/>
          <a:lstStyle/>
          <a:p>
            <a:pPr marL="371475" indent="-342900" algn="l" rtl="0" eaLnBrk="0">
              <a:buChar char="•"/>
            </a:pPr>
            <a:r>
              <a:rPr sz="2000" b="1" kern="0" spc="0" dirty="0">
                <a:solidFill>
                  <a:srgbClr val="00418A">
                    <a:alpha val="100000"/>
                  </a:srgbClr>
                </a:solidFill>
                <a:latin typeface="微软雅黑" panose="020B0503020204020204" charset="-122"/>
                <a:ea typeface="微软雅黑" panose="020B0503020204020204" charset="-122"/>
                <a:cs typeface="微软雅黑" panose="020B0503020204020204" charset="-122"/>
              </a:rPr>
              <a:t>随机系统响应函数统计矩的估计</a:t>
            </a:r>
            <a:endParaRPr sz="2000" dirty="0"/>
          </a:p>
        </p:txBody>
      </p:sp>
      <mc:AlternateContent xmlns:mc="http://schemas.openxmlformats.org/markup-compatibility/2006">
        <mc:Choice xmlns:a14="http://schemas.microsoft.com/office/drawing/2010/main" Requires="a14">
          <p:sp>
            <p:nvSpPr>
              <p:cNvPr id="440" name="textbox 440"/>
              <p:cNvSpPr/>
              <p:nvPr/>
            </p:nvSpPr>
            <p:spPr>
              <a:xfrm>
                <a:off x="2952750" y="1676400"/>
                <a:ext cx="3086100" cy="3238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000" dirty="0">
                          <a:latin typeface="Cambria Math" panose="02040503050406030204"/>
                          <a:ea typeface="Cambria Math" panose="02040503050406030204"/>
                        </a:rPr>
                        <m:t>Y</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𝐗</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a:rPr lang="en-US" sz="2000" dirty="0">
                              <a:latin typeface="Cambria Math" panose="02040503050406030204"/>
                              <a:ea typeface="Cambria Math" panose="02040503050406030204"/>
                            </a:rPr>
                            <m:t>1</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a:rPr lang="en-US" sz="2000" dirty="0">
                              <a:latin typeface="Cambria Math" panose="02040503050406030204"/>
                              <a:ea typeface="Cambria Math" panose="02040503050406030204"/>
                            </a:rPr>
                            <m:t>2</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dots</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X</m:t>
                          </m:r>
                        </m:e>
                        <m:sub>
                          <m:r>
                            <m:rPr>
                              <m:sty m:val="p"/>
                            </m:rPr>
                            <a:rPr lang="en-US" sz="2000" dirty="0">
                              <a:latin typeface="Cambria Math" panose="02040503050406030204"/>
                              <a:ea typeface="Cambria Math" panose="02040503050406030204"/>
                            </a:rPr>
                            <m:t>d</m:t>
                          </m:r>
                        </m:sub>
                      </m:sSub>
                      <m:r>
                        <a:rPr lang="en-US" sz="2000" dirty="0">
                          <a:latin typeface="Cambria Math" panose="02040503050406030204"/>
                          <a:ea typeface="Cambria Math" panose="02040503050406030204"/>
                        </a:rPr>
                        <m:t>)</m:t>
                      </m:r>
                    </m:oMath>
                  </m:oMathPara>
                </a14:m>
                <a:endParaRPr sz="600" dirty="0"/>
              </a:p>
            </p:txBody>
          </p:sp>
        </mc:Choice>
        <mc:Fallback>
          <p:sp>
            <p:nvSpPr>
              <p:cNvPr id="440" name="textbox 440"/>
              <p:cNvSpPr>
                <a:spLocks noRot="1" noChangeAspect="1" noMove="1" noResize="1" noEditPoints="1" noAdjustHandles="1" noChangeArrowheads="1" noChangeShapeType="1" noTextEdit="1"/>
              </p:cNvSpPr>
              <p:nvPr/>
            </p:nvSpPr>
            <p:spPr>
              <a:xfrm>
                <a:off x="2952750" y="1676400"/>
                <a:ext cx="3086100" cy="323850"/>
              </a:xfrm>
              <a:prstGeom prst="rect">
                <a:avLst/>
              </a:prstGeom>
              <a:blipFill rotWithShape="1">
                <a:blip r:embed="rId3"/>
                <a:stretch>
                  <a:fillRect r="-700"/>
                </a:stretch>
              </a:blipFill>
              <a:ln w="0" cap="flat">
                <a:noFill/>
                <a:prstDash val="solid"/>
                <a:miter lim="0"/>
              </a:ln>
            </p:spPr>
            <p:txBody>
              <a:bodyPr/>
              <a:lstStyle/>
              <a:p>
                <a:r>
                  <a:rPr lang="zh-CN" altLang="en-US">
                    <a:noFill/>
                  </a:rPr>
                  <a:t> </a:t>
                </a:r>
              </a:p>
            </p:txBody>
          </p:sp>
        </mc:Fallback>
      </mc:AlternateContent>
      <p:sp>
        <p:nvSpPr>
          <p:cNvPr id="442" name="textbox 442"/>
          <p:cNvSpPr/>
          <p:nvPr/>
        </p:nvSpPr>
        <p:spPr>
          <a:xfrm>
            <a:off x="533400" y="2276475"/>
            <a:ext cx="1924050" cy="314325"/>
          </a:xfrm>
          <a:prstGeom prst="rect">
            <a:avLst/>
          </a:prstGeom>
          <a:noFill/>
          <a:ln w="0" cap="flat">
            <a:noFill/>
            <a:prstDash val="solid"/>
            <a:miter lim="0"/>
          </a:ln>
        </p:spPr>
        <p:txBody>
          <a:bodyPr vert="horz" wrap="none" lIns="0" tIns="0" rIns="0" bIns="0"/>
          <a:lstStyle/>
          <a:p>
            <a:pPr marL="361950" indent="-304800" algn="l" rtl="0" eaLnBrk="0">
              <a:buChar char="•"/>
            </a:pPr>
            <a:r>
              <a:rPr sz="2000" b="1" kern="0" spc="0" dirty="0">
                <a:solidFill>
                  <a:srgbClr val="004481">
                    <a:alpha val="100000"/>
                  </a:srgbClr>
                </a:solidFill>
                <a:latin typeface="微软雅黑" panose="020B0503020204020204" charset="-122"/>
                <a:ea typeface="微软雅黑" panose="020B0503020204020204" charset="-122"/>
                <a:cs typeface="微软雅黑" panose="020B0503020204020204" charset="-122"/>
              </a:rPr>
              <a:t>维数诅咒问题</a:t>
            </a:r>
            <a:endParaRPr sz="2000" dirty="0"/>
          </a:p>
        </p:txBody>
      </p:sp>
      <mc:AlternateContent xmlns:mc="http://schemas.openxmlformats.org/markup-compatibility/2006">
        <mc:Choice xmlns:a14="http://schemas.microsoft.com/office/drawing/2010/main" Requires="a14">
          <p:sp>
            <p:nvSpPr>
              <p:cNvPr id="444" name="textbox 444"/>
              <p:cNvSpPr/>
              <p:nvPr/>
            </p:nvSpPr>
            <p:spPr>
              <a:xfrm>
                <a:off x="6391275" y="1276350"/>
                <a:ext cx="2962275" cy="4476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2000" dirty="0">
                              <a:latin typeface="Cambria Math" panose="02040503050406030204"/>
                              <a:ea typeface="Cambria Math" panose="02040503050406030204"/>
                            </a:rPr>
                            <m:t>𝜇</m:t>
                          </m:r>
                        </m:e>
                        <m:sub>
                          <m:r>
                            <m:rPr>
                              <m:sty m:val="p"/>
                            </m:rPr>
                            <a:rPr lang="en-US" sz="2000" dirty="0">
                              <a:latin typeface="Cambria Math" panose="02040503050406030204"/>
                              <a:ea typeface="Cambria Math" panose="02040503050406030204"/>
                            </a:rPr>
                            <m:t>Y</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E</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Y</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nary>
                        <m:naryPr>
                          <m:limLoc m:val="subSup"/>
                          <m:supHide m:val="on"/>
                          <m:ctrlPr>
                            <a:rPr/>
                          </m:ctrlPr>
                        </m:naryPr>
                        <m:sub>
                          <m:sSup>
                            <m:sSupPr>
                              <m:ctrlPr>
                                <a:rPr/>
                              </m:ctrlPr>
                            </m:sSupPr>
                            <m:e>
                              <m:r>
                                <m:rPr>
                                  <m:sty m:val="p"/>
                                </m:rPr>
                                <a:rPr lang="en-US" sz="2000" dirty="0">
                                  <a:latin typeface="Cambria Math" panose="02040503050406030204"/>
                                  <a:ea typeface="Cambria Math" panose="02040503050406030204"/>
                                </a:rPr>
                                <m:t>R</m:t>
                              </m:r>
                            </m:e>
                            <m:sup>
                              <m:r>
                                <m:rPr>
                                  <m:sty m:val="p"/>
                                </m:rPr>
                                <a:rPr lang="en-US" sz="2000" dirty="0">
                                  <a:latin typeface="Cambria Math" panose="02040503050406030204"/>
                                  <a:ea typeface="Cambria Math" panose="02040503050406030204"/>
                                </a:rPr>
                                <m:t>d</m:t>
                              </m:r>
                            </m:sup>
                          </m:sSup>
                        </m:sub>
                        <m:sup/>
                        <m:e>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𝐱</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p</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𝐱</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d</m:t>
                          </m:r>
                          <m:r>
                            <a:rPr lang="en-US" sz="2000" dirty="0">
                              <a:latin typeface="Cambria Math" panose="02040503050406030204"/>
                              <a:ea typeface="Cambria Math" panose="02040503050406030204"/>
                            </a:rPr>
                            <m:t>𝐱</m:t>
                          </m:r>
                        </m:e>
                      </m:nary>
                    </m:oMath>
                  </m:oMathPara>
                </a14:m>
                <a:endParaRPr sz="600" dirty="0"/>
              </a:p>
            </p:txBody>
          </p:sp>
        </mc:Choice>
        <mc:Fallback>
          <p:sp>
            <p:nvSpPr>
              <p:cNvPr id="444" name="textbox 444"/>
              <p:cNvSpPr>
                <a:spLocks noRot="1" noChangeAspect="1" noMove="1" noResize="1" noEditPoints="1" noAdjustHandles="1" noChangeArrowheads="1" noChangeShapeType="1" noTextEdit="1"/>
              </p:cNvSpPr>
              <p:nvPr/>
            </p:nvSpPr>
            <p:spPr>
              <a:xfrm>
                <a:off x="6391275" y="1276350"/>
                <a:ext cx="2962275" cy="447675"/>
              </a:xfrm>
              <a:prstGeom prst="rect">
                <a:avLst/>
              </a:prstGeom>
              <a:blipFill rotWithShape="1">
                <a:blip r:embed="rId4"/>
                <a:stretch>
                  <a:fillRect r="-579" b="-2453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6" name="textbox 446"/>
              <p:cNvSpPr/>
              <p:nvPr/>
            </p:nvSpPr>
            <p:spPr>
              <a:xfrm>
                <a:off x="6391275" y="1895475"/>
                <a:ext cx="5248275" cy="4953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Sup>
                        <m:sSubSupPr>
                          <m:ctrlPr>
                            <a:rPr sz="2000"/>
                          </m:ctrlPr>
                        </m:sSubSupPr>
                        <m:e>
                          <m:r>
                            <a:rPr lang="en-US" sz="2000" dirty="0">
                              <a:latin typeface="Cambria Math" panose="02040503050406030204"/>
                              <a:ea typeface="Cambria Math" panose="02040503050406030204"/>
                            </a:rPr>
                            <m:t>𝜎</m:t>
                          </m:r>
                        </m:e>
                        <m:sub>
                          <m:r>
                            <m:rPr>
                              <m:sty m:val="p"/>
                            </m:rPr>
                            <a:rPr lang="en-US" sz="2000" dirty="0">
                              <a:latin typeface="Cambria Math" panose="02040503050406030204"/>
                              <a:ea typeface="Cambria Math" panose="02040503050406030204"/>
                            </a:rPr>
                            <m:t>Y</m:t>
                          </m:r>
                        </m:sub>
                        <m:sup>
                          <m:r>
                            <a:rPr lang="en-US" sz="2000" dirty="0">
                              <a:latin typeface="Cambria Math" panose="02040503050406030204"/>
                              <a:ea typeface="Cambria Math" panose="02040503050406030204"/>
                            </a:rPr>
                            <m:t>2</m:t>
                          </m:r>
                        </m:sup>
                      </m:sSubSup>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E</m:t>
                      </m:r>
                      <m:d>
                        <m:dPr>
                          <m:begChr m:val="["/>
                          <m:endChr m:val="]"/>
                          <m:ctrlPr>
                            <a:rPr sz="2000"/>
                          </m:ctrlPr>
                        </m:dPr>
                        <m:e>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𝐱</m:t>
                          </m:r>
                          <m:r>
                            <a:rPr lang="en-US" sz="2000" dirty="0">
                              <a:latin typeface="Cambria Math" panose="02040503050406030204"/>
                              <a:ea typeface="Cambria Math" panose="02040503050406030204"/>
                            </a:rPr>
                            <m:t>)−</m:t>
                          </m:r>
                          <m:sSub>
                            <m:sSubPr>
                              <m:ctrlPr>
                                <a:rPr sz="2000"/>
                              </m:ctrlPr>
                            </m:sSubPr>
                            <m:e>
                              <m:r>
                                <a:rPr lang="en-US" sz="2000" dirty="0">
                                  <a:latin typeface="Cambria Math" panose="02040503050406030204"/>
                                  <a:ea typeface="Cambria Math" panose="02040503050406030204"/>
                                </a:rPr>
                                <m:t>𝜇</m:t>
                              </m:r>
                            </m:e>
                            <m:sub>
                              <m:r>
                                <m:rPr>
                                  <m:sty m:val="p"/>
                                </m:rPr>
                                <a:rPr lang="en-US" sz="2000" dirty="0">
                                  <a:latin typeface="Cambria Math" panose="02040503050406030204"/>
                                  <a:ea typeface="Cambria Math" panose="02040503050406030204"/>
                                </a:rPr>
                                <m:t>Y</m:t>
                              </m:r>
                            </m:sub>
                          </m:sSub>
                          <m:sSup>
                            <m:sSupPr>
                              <m:ctrlPr>
                                <a:rPr sz="2000"/>
                              </m:ctrlPr>
                            </m:sSupPr>
                            <m:e>
                              <m:r>
                                <a:rPr lang="en-US" sz="2000" dirty="0">
                                  <a:latin typeface="Cambria Math" panose="02040503050406030204"/>
                                  <a:ea typeface="Cambria Math" panose="02040503050406030204"/>
                                </a:rPr>
                                <m:t>)</m:t>
                              </m:r>
                            </m:e>
                            <m:sup>
                              <m:r>
                                <a:rPr lang="en-US" sz="2000" dirty="0">
                                  <a:latin typeface="Cambria Math" panose="02040503050406030204"/>
                                  <a:ea typeface="Cambria Math" panose="02040503050406030204"/>
                                </a:rPr>
                                <m:t>2</m:t>
                              </m:r>
                            </m:sup>
                          </m:sSup>
                        </m:e>
                      </m:d>
                      <m:r>
                        <a:rPr lang="en-US" sz="2000" dirty="0">
                          <a:latin typeface="Cambria Math" panose="02040503050406030204"/>
                          <a:ea typeface="Cambria Math" panose="02040503050406030204"/>
                        </a:rPr>
                        <m:t>=</m:t>
                      </m:r>
                      <m:nary>
                        <m:naryPr>
                          <m:limLoc m:val="subSup"/>
                          <m:supHide m:val="on"/>
                          <m:ctrlPr>
                            <a:rPr sz="2000"/>
                          </m:ctrlPr>
                        </m:naryPr>
                        <m:sub>
                          <m:sSup>
                            <m:sSupPr>
                              <m:ctrlPr>
                                <a:rPr sz="2000"/>
                              </m:ctrlPr>
                            </m:sSupPr>
                            <m:e>
                              <m:r>
                                <m:rPr>
                                  <m:sty m:val="p"/>
                                </m:rPr>
                                <a:rPr lang="en-US" sz="2000" dirty="0">
                                  <a:latin typeface="Cambria Math" panose="02040503050406030204"/>
                                  <a:ea typeface="Cambria Math" panose="02040503050406030204"/>
                                </a:rPr>
                                <m:t>R</m:t>
                              </m:r>
                            </m:e>
                            <m:sup>
                              <m:r>
                                <m:rPr>
                                  <m:sty m:val="p"/>
                                </m:rPr>
                                <a:rPr lang="en-US" sz="2000" dirty="0">
                                  <a:latin typeface="Cambria Math" panose="02040503050406030204"/>
                                  <a:ea typeface="Cambria Math" panose="02040503050406030204"/>
                                </a:rPr>
                                <m:t>d</m:t>
                              </m:r>
                            </m:sup>
                          </m:sSup>
                        </m:sub>
                        <m:sup/>
                        <m:e>
                          <m:d>
                            <m:dPr>
                              <m:begChr m:val="["/>
                              <m:endChr m:val="]"/>
                              <m:ctrlPr>
                                <a:rPr sz="2000"/>
                              </m:ctrlPr>
                            </m:dPr>
                            <m:e>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f</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𝐱</m:t>
                              </m:r>
                              <m:r>
                                <a:rPr lang="en-US" sz="2000" dirty="0">
                                  <a:latin typeface="Cambria Math" panose="02040503050406030204"/>
                                  <a:ea typeface="Cambria Math" panose="02040503050406030204"/>
                                </a:rPr>
                                <m:t>)−</m:t>
                              </m:r>
                              <m:sSub>
                                <m:sSubPr>
                                  <m:ctrlPr>
                                    <a:rPr sz="2000"/>
                                  </m:ctrlPr>
                                </m:sSubPr>
                                <m:e>
                                  <m:r>
                                    <a:rPr lang="en-US" sz="2000" dirty="0">
                                      <a:latin typeface="Cambria Math" panose="02040503050406030204"/>
                                      <a:ea typeface="Cambria Math" panose="02040503050406030204"/>
                                    </a:rPr>
                                    <m:t>𝜇</m:t>
                                  </m:r>
                                </m:e>
                                <m:sub>
                                  <m:r>
                                    <m:rPr>
                                      <m:sty m:val="p"/>
                                    </m:rPr>
                                    <a:rPr lang="en-US" sz="2000" dirty="0">
                                      <a:latin typeface="Cambria Math" panose="02040503050406030204"/>
                                      <a:ea typeface="Cambria Math" panose="02040503050406030204"/>
                                    </a:rPr>
                                    <m:t>Y</m:t>
                                  </m:r>
                                </m:sub>
                              </m:sSub>
                              <m:sSup>
                                <m:sSupPr>
                                  <m:ctrlPr>
                                    <a:rPr sz="2000"/>
                                  </m:ctrlPr>
                                </m:sSupPr>
                                <m:e>
                                  <m:r>
                                    <a:rPr lang="en-US" sz="2000" dirty="0">
                                      <a:latin typeface="Cambria Math" panose="02040503050406030204"/>
                                      <a:ea typeface="Cambria Math" panose="02040503050406030204"/>
                                    </a:rPr>
                                    <m:t>)</m:t>
                                  </m:r>
                                </m:e>
                                <m:sup>
                                  <m:r>
                                    <a:rPr lang="en-US" sz="2000" dirty="0">
                                      <a:latin typeface="Cambria Math" panose="02040503050406030204"/>
                                      <a:ea typeface="Cambria Math" panose="02040503050406030204"/>
                                    </a:rPr>
                                    <m:t>2</m:t>
                                  </m:r>
                                </m:sup>
                              </m:sSup>
                            </m:e>
                          </m:d>
                          <m:r>
                            <m:rPr>
                              <m:sty m:val="p"/>
                            </m:rPr>
                            <a:rPr lang="en-US" sz="2000" dirty="0">
                              <a:latin typeface="Cambria Math" panose="02040503050406030204"/>
                              <a:ea typeface="Cambria Math" panose="02040503050406030204"/>
                            </a:rPr>
                            <m:t>p</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𝐱</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d</m:t>
                          </m:r>
                          <m:r>
                            <a:rPr lang="en-US" sz="2000" dirty="0">
                              <a:latin typeface="Cambria Math" panose="02040503050406030204"/>
                              <a:ea typeface="Cambria Math" panose="02040503050406030204"/>
                            </a:rPr>
                            <m:t>𝐱</m:t>
                          </m:r>
                        </m:e>
                      </m:nary>
                    </m:oMath>
                  </m:oMathPara>
                </a14:m>
                <a:endParaRPr sz="2000" dirty="0"/>
              </a:p>
            </p:txBody>
          </p:sp>
        </mc:Choice>
        <mc:Fallback>
          <p:sp>
            <p:nvSpPr>
              <p:cNvPr id="446" name="textbox 446"/>
              <p:cNvSpPr>
                <a:spLocks noRot="1" noChangeAspect="1" noMove="1" noResize="1" noEditPoints="1" noAdjustHandles="1" noChangeArrowheads="1" noChangeShapeType="1" noTextEdit="1"/>
              </p:cNvSpPr>
              <p:nvPr/>
            </p:nvSpPr>
            <p:spPr>
              <a:xfrm>
                <a:off x="6391275" y="1895475"/>
                <a:ext cx="5248275" cy="495300"/>
              </a:xfrm>
              <a:prstGeom prst="rect">
                <a:avLst/>
              </a:prstGeom>
              <a:blipFill rotWithShape="1">
                <a:blip r:embed="rId5"/>
                <a:stretch>
                  <a:fillRect r="-1549" b="-25256"/>
                </a:stretch>
              </a:blipFill>
              <a:ln w="0" cap="flat">
                <a:noFill/>
                <a:prstDash val="solid"/>
                <a:miter lim="0"/>
              </a:ln>
            </p:spPr>
            <p:txBody>
              <a:bodyPr/>
              <a:lstStyle/>
              <a:p>
                <a:r>
                  <a:rPr lang="zh-CN" altLang="en-US">
                    <a:noFill/>
                  </a:rPr>
                  <a:t> </a:t>
                </a:r>
              </a:p>
            </p:txBody>
          </p:sp>
        </mc:Fallback>
      </mc:AlternateContent>
      <p:sp>
        <p:nvSpPr>
          <p:cNvPr id="448" name="textbox 448"/>
          <p:cNvSpPr/>
          <p:nvPr/>
        </p:nvSpPr>
        <p:spPr>
          <a:xfrm>
            <a:off x="895350" y="2828925"/>
            <a:ext cx="8639175" cy="295275"/>
          </a:xfrm>
          <a:prstGeom prst="rect">
            <a:avLst/>
          </a:prstGeom>
          <a:noFill/>
          <a:ln w="0" cap="flat">
            <a:noFill/>
            <a:prstDash val="solid"/>
            <a:miter lim="0"/>
          </a:ln>
        </p:spPr>
        <p:txBody>
          <a:bodyPr vert="horz" wrap="none" lIns="0" tIns="0" rIns="0" bIns="0"/>
          <a:lstStyle/>
          <a:p>
            <a:pPr marL="342900" indent="-342900" algn="l" rtl="0" eaLnBrk="0">
              <a:buChar char="►"/>
            </a:pPr>
            <a:r>
              <a:rPr sz="2000" b="1" kern="0" spc="0" dirty="0">
                <a:solidFill>
                  <a:srgbClr val="00418A">
                    <a:alpha val="100000"/>
                  </a:srgbClr>
                </a:solidFill>
                <a:latin typeface="微软雅黑" panose="020B0503020204020204" charset="-122"/>
                <a:ea typeface="微软雅黑" panose="020B0503020204020204" charset="-122"/>
                <a:cs typeface="微软雅黑" panose="020B0503020204020204" charset="-122"/>
              </a:rPr>
              <a:t>积分维数高：</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当维度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d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增加时，上述积分成为高维积分，直接数值计算代价极高。</a:t>
            </a:r>
            <a:endParaRPr sz="2000" dirty="0"/>
          </a:p>
        </p:txBody>
      </p:sp>
      <mc:AlternateContent xmlns:mc="http://schemas.openxmlformats.org/markup-compatibility/2006">
        <mc:Choice xmlns:a14="http://schemas.microsoft.com/office/drawing/2010/main" Requires="a14">
          <p:sp>
            <p:nvSpPr>
              <p:cNvPr id="450" name="textbox 450"/>
              <p:cNvSpPr/>
              <p:nvPr/>
            </p:nvSpPr>
            <p:spPr>
              <a:xfrm>
                <a:off x="857250" y="3362325"/>
                <a:ext cx="10096500" cy="1247775"/>
              </a:xfrm>
              <a:prstGeom prst="rect">
                <a:avLst/>
              </a:prstGeom>
              <a:noFill/>
              <a:ln w="0" cap="flat">
                <a:noFill/>
                <a:prstDash val="solid"/>
                <a:miter lim="0"/>
              </a:ln>
            </p:spPr>
            <p:txBody>
              <a:bodyPr vert="horz" wrap="none" lIns="0" tIns="0" rIns="0" bIns="0"/>
              <a:lstStyle/>
              <a:p>
                <a:pPr marL="361950" indent="-333375" algn="l" rtl="0" eaLnBrk="0">
                  <a:buChar char="►"/>
                </a:pPr>
                <a:r>
                  <a:rPr sz="20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样本量爆炸：</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若采用伪蒙特卡洛或拟蒙特卡洛模拟法，理论误差为： </a:t>
                </a:r>
                <a14:m>
                  <m:oMath xmlns:m="http://schemas.openxmlformats.org/officeDocument/2006/math">
                    <m:r>
                      <m:rPr>
                        <m:sty m:val="p"/>
                      </m:rPr>
                      <a:rPr lang="en-US" sz="1800" dirty="0">
                        <a:latin typeface="Cambria Math" panose="02040503050406030204"/>
                        <a:ea typeface="Cambria Math" panose="02040503050406030204"/>
                      </a:rPr>
                      <m:t>M</m:t>
                    </m:r>
                    <m:r>
                      <m:rPr>
                        <m:sty m:val="p"/>
                      </m:rPr>
                      <a:rPr lang="en-US" sz="1800" dirty="0">
                        <a:latin typeface="Cambria Math" panose="02040503050406030204"/>
                        <a:ea typeface="Cambria Math" panose="02040503050406030204"/>
                      </a:rPr>
                      <m:t>S</m:t>
                    </m:r>
                    <m:r>
                      <m:rPr>
                        <m:sty m:val="p"/>
                      </m:rPr>
                      <a:rPr lang="en-US" sz="1800" dirty="0">
                        <a:latin typeface="Cambria Math" panose="02040503050406030204"/>
                        <a:ea typeface="Cambria Math" panose="02040503050406030204"/>
                      </a:rPr>
                      <m:t>E</m:t>
                    </m:r>
                    <m:r>
                      <a:rPr lang="en-US" sz="1800" dirty="0">
                        <a:latin typeface="Cambria Math" panose="02040503050406030204"/>
                        <a:ea typeface="Cambria Math" panose="02040503050406030204"/>
                      </a:rPr>
                      <m:t>(</m:t>
                    </m:r>
                    <m:sSub>
                      <m:sSubPr>
                        <m:ctrlPr>
                          <a:rPr/>
                        </m:ctrlPr>
                      </m:sSubPr>
                      <m:e>
                        <m:acc>
                          <m:accPr>
                            <m:ctrlPr>
                              <a:rPr/>
                            </m:ctrlPr>
                          </m:accPr>
                          <m:e>
                            <m:r>
                              <a:rPr lang="en-US" sz="1800" dirty="0">
                                <a:latin typeface="Cambria Math" panose="02040503050406030204"/>
                                <a:ea typeface="Cambria Math" panose="02040503050406030204"/>
                              </a:rPr>
                              <m:t>𝜇</m:t>
                            </m:r>
                          </m:e>
                        </m:acc>
                      </m:e>
                      <m:sub>
                        <m:r>
                          <m:rPr>
                            <m:sty m:val="p"/>
                          </m:rPr>
                          <a:rPr lang="en-US" sz="1800" dirty="0">
                            <a:latin typeface="Cambria Math" panose="02040503050406030204"/>
                            <a:ea typeface="Cambria Math" panose="02040503050406030204"/>
                          </a:rPr>
                          <m:t>Y</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f>
                      <m:fPr>
                        <m:ctrlPr>
                          <a:rPr/>
                        </m:ctrlPr>
                      </m:fPr>
                      <m:num>
                        <m:sSubSup>
                          <m:sSubSupPr>
                            <m:ctrlPr>
                              <a:rPr/>
                            </m:ctrlPr>
                          </m:sSubSupPr>
                          <m:e>
                            <m:r>
                              <a:rPr lang="en-US" sz="1800" dirty="0">
                                <a:latin typeface="Cambria Math" panose="02040503050406030204"/>
                                <a:ea typeface="Cambria Math" panose="02040503050406030204"/>
                              </a:rPr>
                              <m:t>𝜎</m:t>
                            </m:r>
                          </m:e>
                          <m:sub>
                            <m:r>
                              <m:rPr>
                                <m:sty m:val="p"/>
                              </m:rPr>
                              <a:rPr lang="en-US" sz="1800" dirty="0">
                                <a:latin typeface="Cambria Math" panose="02040503050406030204"/>
                                <a:ea typeface="Cambria Math" panose="02040503050406030204"/>
                              </a:rPr>
                              <m:t>Y</m:t>
                            </m:r>
                          </m:sub>
                          <m:sup>
                            <m:r>
                              <a:rPr lang="en-US" sz="1800" dirty="0">
                                <a:latin typeface="Cambria Math" panose="02040503050406030204"/>
                                <a:ea typeface="Cambria Math" panose="02040503050406030204"/>
                              </a:rPr>
                              <m:t>2</m:t>
                            </m:r>
                          </m:sup>
                        </m:sSubSup>
                      </m:num>
                      <m:den>
                        <m:r>
                          <m:rPr>
                            <m:sty m:val="p"/>
                          </m:rPr>
                          <a:rPr lang="en-US" sz="1800" dirty="0">
                            <a:latin typeface="Cambria Math" panose="02040503050406030204"/>
                            <a:ea typeface="Cambria Math" panose="02040503050406030204"/>
                          </a:rPr>
                          <m:t>N</m:t>
                        </m:r>
                      </m:den>
                    </m:f>
                  </m:oMath>
                </a14:m>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N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sz="2000" dirty="0"/>
              </a:p>
              <a:p>
                <a:pPr marL="1895475" algn="l" rtl="0" eaLnBrk="0">
                  <a:spcBef>
                    <a:spcPts val="1200"/>
                  </a:spcBef>
                </a:pP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但要保证在高维情形下的相同精度，</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N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需要指数性增加。尤其当概率密度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p(x)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a:t>
                </a:r>
                <a:endParaRPr sz="1800" dirty="0"/>
              </a:p>
              <a:p>
                <a:pPr marL="1895475" algn="l" rtl="0" eaLnBrk="0">
                  <a:spcBef>
                    <a:spcPts val="1200"/>
                  </a:spcBef>
                </a:pP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高维空间快速稀释时，大量样本落在低概率区域，利用率极低。</a:t>
                </a:r>
                <a:endParaRPr sz="1800" dirty="0"/>
              </a:p>
            </p:txBody>
          </p:sp>
        </mc:Choice>
        <mc:Fallback>
          <p:sp>
            <p:nvSpPr>
              <p:cNvPr id="450" name="textbox 450"/>
              <p:cNvSpPr>
                <a:spLocks noRot="1" noChangeAspect="1" noMove="1" noResize="1" noEditPoints="1" noAdjustHandles="1" noChangeArrowheads="1" noChangeShapeType="1" noTextEdit="1"/>
              </p:cNvSpPr>
              <p:nvPr/>
            </p:nvSpPr>
            <p:spPr>
              <a:xfrm>
                <a:off x="857250" y="3362325"/>
                <a:ext cx="10096500" cy="1247775"/>
              </a:xfrm>
              <a:prstGeom prst="rect">
                <a:avLst/>
              </a:prstGeom>
              <a:blipFill rotWithShape="1">
                <a:blip r:embed="rId6"/>
                <a:stretch>
                  <a:fillRect b="-2697"/>
                </a:stretch>
              </a:blipFill>
              <a:ln w="0" cap="flat">
                <a:noFill/>
                <a:prstDash val="solid"/>
                <a:miter lim="0"/>
              </a:ln>
            </p:spPr>
            <p:txBody>
              <a:bodyPr/>
              <a:lstStyle/>
              <a:p>
                <a:r>
                  <a:rPr lang="zh-CN" altLang="en-US">
                    <a:noFill/>
                  </a:rPr>
                  <a:t> </a:t>
                </a:r>
              </a:p>
            </p:txBody>
          </p:sp>
        </mc:Fallback>
      </mc:AlternateContent>
      <p:sp>
        <p:nvSpPr>
          <p:cNvPr id="452" name="textbox 452"/>
          <p:cNvSpPr/>
          <p:nvPr/>
        </p:nvSpPr>
        <p:spPr>
          <a:xfrm>
            <a:off x="895350" y="4781550"/>
            <a:ext cx="9963150" cy="619125"/>
          </a:xfrm>
          <a:prstGeom prst="rect">
            <a:avLst/>
          </a:prstGeom>
          <a:noFill/>
          <a:ln w="0" cap="flat">
            <a:noFill/>
            <a:prstDash val="solid"/>
            <a:miter lim="0"/>
          </a:ln>
        </p:spPr>
        <p:txBody>
          <a:bodyPr vert="horz" wrap="none" lIns="0" tIns="0" rIns="0" bIns="0"/>
          <a:lstStyle/>
          <a:p>
            <a:pPr marL="342900" indent="-342900" algn="l" rtl="0" eaLnBrk="0">
              <a:buChar char="►"/>
            </a:pPr>
            <a:r>
              <a:rPr sz="20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响应函数复杂性：</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在高维输入下，</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f</a:t>
            </a:r>
            <a:r>
              <a:rPr sz="1800" kern="0" spc="0" dirty="0">
                <a:solidFill>
                  <a:srgbClr val="000000">
                    <a:alpha val="100000"/>
                  </a:srgbClr>
                </a:solidFill>
                <a:latin typeface="Arial" panose="020B0604020202020204"/>
                <a:ea typeface="Arial" panose="020B0604020202020204"/>
                <a:cs typeface="Arial" panose="020B0604020202020204"/>
              </a:rPr>
              <a:t>(</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1800" kern="0" spc="0" dirty="0">
                <a:solidFill>
                  <a:srgbClr val="000000">
                    <a:alpha val="100000"/>
                  </a:srgbClr>
                </a:solidFill>
                <a:latin typeface="Arial" panose="020B0604020202020204"/>
                <a:ea typeface="Arial" panose="020B0604020202020204"/>
                <a:cs typeface="Arial" panose="020B0604020202020204"/>
              </a:rPr>
              <a:t>)</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的非线性、交互效应项急剧增加，展开式（如高维模型</a:t>
            </a:r>
            <a:endParaRPr sz="2000" dirty="0"/>
          </a:p>
          <a:p>
            <a:pPr marL="2352675" algn="l" rtl="0" eaLnBrk="0">
              <a:spcBef>
                <a:spcPts val="975"/>
              </a:spcBef>
            </a:pP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表示 </a:t>
            </a:r>
            <a:r>
              <a:rPr sz="1800" kern="0" spc="0" dirty="0">
                <a:solidFill>
                  <a:srgbClr val="000000">
                    <a:alpha val="100000"/>
                  </a:srgbClr>
                </a:solidFill>
                <a:latin typeface="Arial" panose="020B0604020202020204"/>
                <a:ea typeface="Arial" panose="020B0604020202020204"/>
                <a:cs typeface="Arial" panose="020B0604020202020204"/>
              </a:rPr>
              <a:t>HDMR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或多项式混沌展开 </a:t>
            </a:r>
            <a:r>
              <a:rPr sz="1800" kern="0" spc="0" dirty="0">
                <a:solidFill>
                  <a:srgbClr val="000000">
                    <a:alpha val="100000"/>
                  </a:srgbClr>
                </a:solidFill>
                <a:latin typeface="Arial" panose="020B0604020202020204"/>
                <a:ea typeface="Arial" panose="020B0604020202020204"/>
                <a:cs typeface="Arial" panose="020B0604020202020204"/>
              </a:rPr>
              <a:t>PCE</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）所需的基函数数目随维度呈指数增长。</a:t>
            </a:r>
            <a:endParaRPr sz="1800" dirty="0"/>
          </a:p>
        </p:txBody>
      </p:sp>
      <p:sp>
        <p:nvSpPr>
          <p:cNvPr id="454" name="textbox 454"/>
          <p:cNvSpPr/>
          <p:nvPr/>
        </p:nvSpPr>
        <p:spPr>
          <a:xfrm>
            <a:off x="3248025" y="5467350"/>
            <a:ext cx="3686175" cy="247650"/>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例如多项式混沌展开 </a:t>
            </a:r>
            <a:r>
              <a:rPr sz="1800" kern="0" spc="0" dirty="0">
                <a:solidFill>
                  <a:srgbClr val="000000">
                    <a:alpha val="100000"/>
                  </a:srgbClr>
                </a:solidFill>
                <a:latin typeface="Arial" panose="020B0604020202020204"/>
                <a:ea typeface="Arial" panose="020B0604020202020204"/>
                <a:cs typeface="Arial" panose="020B0604020202020204"/>
              </a:rPr>
              <a:t>PCE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所需项数：</a:t>
            </a:r>
            <a:endParaRPr sz="1800" dirty="0"/>
          </a:p>
        </p:txBody>
      </p:sp>
      <mc:AlternateContent xmlns:mc="http://schemas.openxmlformats.org/markup-compatibility/2006">
        <mc:Choice xmlns:a14="http://schemas.microsoft.com/office/drawing/2010/main" Requires="a14">
          <p:sp>
            <p:nvSpPr>
              <p:cNvPr id="456" name="textbox 456"/>
              <p:cNvSpPr/>
              <p:nvPr/>
            </p:nvSpPr>
            <p:spPr>
              <a:xfrm>
                <a:off x="7134225" y="5486400"/>
                <a:ext cx="2457450" cy="7239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b</m:t>
                          </m:r>
                          <m:r>
                            <m:rPr>
                              <m:sty m:val="p"/>
                            </m:rPr>
                            <a:rPr lang="en-US" sz="2400" dirty="0">
                              <a:latin typeface="Cambria Math" panose="02040503050406030204"/>
                              <a:ea typeface="Cambria Math" panose="02040503050406030204"/>
                            </a:rPr>
                            <m:t>a</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s</m:t>
                          </m:r>
                        </m:sub>
                      </m:sSub>
                      <m:r>
                        <a:rPr lang="en-US" sz="2400" dirty="0">
                          <a:latin typeface="Cambria Math" panose="02040503050406030204"/>
                          <a:ea typeface="Cambria Math" panose="02040503050406030204"/>
                        </a:rPr>
                        <m:t>=</m:t>
                      </m:r>
                      <m:d>
                        <m:dPr>
                          <m:ctrlPr>
                            <a:rPr/>
                          </m:ctrlPr>
                        </m:dPr>
                        <m:e>
                          <m:f>
                            <m:fPr>
                              <m:type m:val="noBar"/>
                              <m:ctrlPr>
                                <a:rPr/>
                              </m:ctrlPr>
                            </m:fPr>
                            <m:num>
                              <m:r>
                                <m:rPr>
                                  <m:sty m:val="p"/>
                                </m:rPr>
                                <a:rPr lang="en-US" sz="2400" dirty="0">
                                  <a:latin typeface="Cambria Math" panose="02040503050406030204"/>
                                  <a:ea typeface="Cambria Math" panose="02040503050406030204"/>
                                </a:rPr>
                                <m:t>d</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p</m:t>
                              </m:r>
                            </m:num>
                            <m:den>
                              <m:r>
                                <m:rPr>
                                  <m:sty m:val="p"/>
                                </m:rPr>
                                <a:rPr lang="en-US" sz="2400" dirty="0">
                                  <a:latin typeface="Cambria Math" panose="02040503050406030204"/>
                                  <a:ea typeface="Cambria Math" panose="02040503050406030204"/>
                                </a:rPr>
                                <m:t>p</m:t>
                              </m:r>
                            </m:den>
                          </m:f>
                        </m:e>
                      </m:d>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O</m:t>
                      </m:r>
                      <m:r>
                        <a:rPr lang="en-US" sz="2400" dirty="0">
                          <a:latin typeface="Cambria Math" panose="02040503050406030204"/>
                          <a:ea typeface="Cambria Math" panose="02040503050406030204"/>
                        </a:rPr>
                        <m:t>(</m:t>
                      </m:r>
                      <m:sSup>
                        <m:sSupPr>
                          <m:ctrlPr>
                            <a:rPr/>
                          </m:ctrlPr>
                        </m:sSupPr>
                        <m:e>
                          <m:r>
                            <m:rPr>
                              <m:sty m:val="p"/>
                            </m:rPr>
                            <a:rPr lang="en-US" sz="2400" dirty="0">
                              <a:latin typeface="Cambria Math" panose="02040503050406030204"/>
                              <a:ea typeface="Cambria Math" panose="02040503050406030204"/>
                            </a:rPr>
                            <m:t>d</m:t>
                          </m:r>
                        </m:e>
                        <m:sup>
                          <m:r>
                            <m:rPr>
                              <m:sty m:val="p"/>
                            </m:rPr>
                            <a:rPr lang="en-US" sz="2400" dirty="0">
                              <a:latin typeface="Cambria Math" panose="02040503050406030204"/>
                              <a:ea typeface="Cambria Math" panose="02040503050406030204"/>
                            </a:rPr>
                            <m:t>p</m:t>
                          </m:r>
                        </m:sup>
                      </m:sSup>
                      <m:r>
                        <a:rPr lang="en-US" sz="2400" dirty="0">
                          <a:latin typeface="Cambria Math" panose="02040503050406030204"/>
                          <a:ea typeface="Cambria Math" panose="02040503050406030204"/>
                        </a:rPr>
                        <m:t>)</m:t>
                      </m:r>
                    </m:oMath>
                  </m:oMathPara>
                </a14:m>
                <a:endParaRPr sz="600" dirty="0"/>
              </a:p>
            </p:txBody>
          </p:sp>
        </mc:Choice>
        <mc:Fallback>
          <p:sp>
            <p:nvSpPr>
              <p:cNvPr id="456" name="textbox 456"/>
              <p:cNvSpPr>
                <a:spLocks noRot="1" noChangeAspect="1" noMove="1" noResize="1" noEditPoints="1" noAdjustHandles="1" noChangeArrowheads="1" noChangeShapeType="1" noTextEdit="1"/>
              </p:cNvSpPr>
              <p:nvPr/>
            </p:nvSpPr>
            <p:spPr>
              <a:xfrm>
                <a:off x="7134225" y="5486400"/>
                <a:ext cx="2457450" cy="723900"/>
              </a:xfrm>
              <a:prstGeom prst="rect">
                <a:avLst/>
              </a:prstGeom>
              <a:blipFill rotWithShape="1">
                <a:blip r:embed="rId7"/>
                <a:stretch>
                  <a:fillRect r="-29483"/>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8" name="textbox 458"/>
              <p:cNvSpPr/>
              <p:nvPr/>
            </p:nvSpPr>
            <p:spPr>
              <a:xfrm>
                <a:off x="3238500" y="6315075"/>
                <a:ext cx="7820025" cy="295275"/>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其中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d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是维度，</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p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是多项式阶数。即使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p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较小，随着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d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增加，</a:t>
                </a:r>
                <a14:m>
                  <m:oMath xmlns:m="http://schemas.openxmlformats.org/officeDocument/2006/math">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b</m:t>
                        </m:r>
                        <m:r>
                          <m:rPr>
                            <m:sty m:val="p"/>
                          </m:rPr>
                          <a:rPr lang="en-US" sz="1800" dirty="0">
                            <a:latin typeface="Cambria Math" panose="02040503050406030204"/>
                            <a:ea typeface="Cambria Math" panose="02040503050406030204"/>
                          </a:rPr>
                          <m:t>a</m:t>
                        </m:r>
                        <m:r>
                          <m:rPr>
                            <m:sty m:val="p"/>
                          </m:rPr>
                          <a:rPr lang="en-US" sz="1800" dirty="0">
                            <a:latin typeface="Cambria Math" panose="02040503050406030204"/>
                            <a:ea typeface="Cambria Math" panose="02040503050406030204"/>
                          </a:rPr>
                          <m:t>s</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s</m:t>
                        </m:r>
                      </m:sub>
                    </m:sSub>
                  </m:oMath>
                </a14:m>
                <a:r>
                  <a:rPr sz="18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迅速膨胀。</a:t>
                </a:r>
                <a:endParaRPr sz="1800" dirty="0"/>
              </a:p>
            </p:txBody>
          </p:sp>
        </mc:Choice>
        <mc:Fallback>
          <p:sp>
            <p:nvSpPr>
              <p:cNvPr id="458" name="textbox 458"/>
              <p:cNvSpPr>
                <a:spLocks noRot="1" noChangeAspect="1" noMove="1" noResize="1" noEditPoints="1" noAdjustHandles="1" noChangeArrowheads="1" noChangeShapeType="1" noTextEdit="1"/>
              </p:cNvSpPr>
              <p:nvPr/>
            </p:nvSpPr>
            <p:spPr>
              <a:xfrm>
                <a:off x="3238500" y="6315075"/>
                <a:ext cx="7820025" cy="295275"/>
              </a:xfrm>
              <a:prstGeom prst="rect">
                <a:avLst/>
              </a:prstGeom>
              <a:blipFill rotWithShape="1">
                <a:blip r:embed="rId8"/>
                <a:stretch>
                  <a:fillRect t="-1075" r="-1924" b="-3656"/>
                </a:stretch>
              </a:blipFill>
              <a:ln w="0" cap="flat">
                <a:noFill/>
                <a:prstDash val="solid"/>
                <a:miter lim="0"/>
              </a:ln>
            </p:spPr>
            <p:txBody>
              <a:bodyPr/>
              <a:lstStyle/>
              <a:p>
                <a:r>
                  <a:rPr lang="zh-CN" altLang="en-US">
                    <a:noFill/>
                  </a:rPr>
                  <a:t> </a:t>
                </a:r>
              </a:p>
            </p:txBody>
          </p:sp>
        </mc:Fallback>
      </mc:AlternateContent>
      <p:sp>
        <p:nvSpPr>
          <p:cNvPr id="460" name="textbox 460"/>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462" name="textbox 462"/>
          <p:cNvSpPr/>
          <p:nvPr/>
        </p:nvSpPr>
        <p:spPr>
          <a:xfrm>
            <a:off x="11763375" y="6743700"/>
            <a:ext cx="142875" cy="95250"/>
          </a:xfrm>
          <a:prstGeom prst="rect">
            <a:avLst/>
          </a:prstGeom>
          <a:noFill/>
          <a:ln w="0" cap="flat">
            <a:noFill/>
            <a:prstDash val="solid"/>
            <a:miter lim="0"/>
          </a:ln>
        </p:spPr>
        <p:txBody>
          <a:bodyPr vert="horz" wrap="none" lIns="0" tIns="0" rIns="0" bIns="0"/>
          <a:lstStyle/>
          <a:p>
            <a:pPr algn="l" rtl="0" eaLnBrk="0"/>
            <a:r>
              <a:rPr sz="900" kern="0" spc="300" dirty="0">
                <a:solidFill>
                  <a:srgbClr val="FFFFFF">
                    <a:alpha val="100000"/>
                  </a:srgbClr>
                </a:solidFill>
                <a:latin typeface="Arial" panose="020B0604020202020204"/>
                <a:ea typeface="Arial" panose="020B0604020202020204"/>
                <a:cs typeface="Arial" panose="020B0604020202020204"/>
              </a:rPr>
              <a:t>10</a:t>
            </a:r>
            <a:endParaRPr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6" name="picture 466"/>
          <p:cNvPicPr>
            <a:picLocks noChangeAspect="1"/>
          </p:cNvPicPr>
          <p:nvPr/>
        </p:nvPicPr>
        <p:blipFill>
          <a:blip r:embed="rId1"/>
          <a:stretch>
            <a:fillRect/>
          </a:stretch>
        </p:blipFill>
        <p:spPr>
          <a:xfrm>
            <a:off x="0" y="0"/>
            <a:ext cx="12192000" cy="6858000"/>
          </a:xfrm>
          <a:prstGeom prst="rect">
            <a:avLst/>
          </a:prstGeom>
        </p:spPr>
      </p:pic>
      <p:sp>
        <p:nvSpPr>
          <p:cNvPr id="468" name="textbox 468"/>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470" name="textbox 470"/>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472" name="textbox 47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476" name="picture 476"/>
          <p:cNvPicPr>
            <a:picLocks noChangeAspect="1"/>
          </p:cNvPicPr>
          <p:nvPr/>
        </p:nvPicPr>
        <p:blipFill>
          <a:blip r:embed="rId2"/>
          <a:stretch>
            <a:fillRect/>
          </a:stretch>
        </p:blipFill>
        <p:spPr>
          <a:xfrm>
            <a:off x="295275" y="247650"/>
            <a:ext cx="733425" cy="666750"/>
          </a:xfrm>
          <a:prstGeom prst="rect">
            <a:avLst/>
          </a:prstGeom>
        </p:spPr>
      </p:pic>
      <p:sp>
        <p:nvSpPr>
          <p:cNvPr id="478" name="textbox 478"/>
          <p:cNvSpPr/>
          <p:nvPr/>
        </p:nvSpPr>
        <p:spPr>
          <a:xfrm>
            <a:off x="1466850" y="333375"/>
            <a:ext cx="891540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克服统计矩估计维数诅咒的一种策略：降维积分(DRI)</a:t>
            </a:r>
            <a:endParaRPr sz="2800" dirty="0"/>
          </a:p>
        </p:txBody>
      </p:sp>
      <p:sp>
        <p:nvSpPr>
          <p:cNvPr id="480" name="textbox 480"/>
          <p:cNvSpPr/>
          <p:nvPr/>
        </p:nvSpPr>
        <p:spPr>
          <a:xfrm>
            <a:off x="1447800" y="752475"/>
            <a:ext cx="1002030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One Strategy to Conquer the Curse of Dimensionality in Statistical Moments Estimation: Dimension Reduction Integration (DRI)</a:t>
            </a:r>
            <a:endParaRPr sz="1400" dirty="0"/>
          </a:p>
        </p:txBody>
      </p:sp>
      <p:sp>
        <p:nvSpPr>
          <p:cNvPr id="482" name="textbox 482"/>
          <p:cNvSpPr/>
          <p:nvPr/>
        </p:nvSpPr>
        <p:spPr>
          <a:xfrm>
            <a:off x="542925" y="1238250"/>
            <a:ext cx="4162425" cy="285750"/>
          </a:xfrm>
          <a:prstGeom prst="rect">
            <a:avLst/>
          </a:prstGeom>
          <a:noFill/>
          <a:ln w="0" cap="flat">
            <a:noFill/>
            <a:prstDash val="solid"/>
            <a:miter lim="0"/>
          </a:ln>
        </p:spPr>
        <p:txBody>
          <a:bodyPr vert="horz" wrap="none" lIns="0" tIns="0" rIns="0" bIns="0"/>
          <a:lstStyle/>
          <a:p>
            <a:pPr marL="352425" indent="-323850" algn="l" rtl="0" eaLnBrk="0">
              <a:buChar char="•"/>
            </a:pPr>
            <a:r>
              <a:rPr sz="2000" b="1" kern="0" spc="0" dirty="0">
                <a:solidFill>
                  <a:srgbClr val="00418A">
                    <a:alpha val="100000"/>
                  </a:srgbClr>
                </a:solidFill>
                <a:latin typeface="微软雅黑" panose="020B0503020204020204" charset="-122"/>
                <a:ea typeface="微软雅黑" panose="020B0503020204020204" charset="-122"/>
                <a:cs typeface="微软雅黑" panose="020B0503020204020204" charset="-122"/>
              </a:rPr>
              <a:t>采用 HDMR 对高维函数截断近似</a:t>
            </a:r>
            <a:endParaRPr sz="2000" dirty="0"/>
          </a:p>
        </p:txBody>
      </p:sp>
      <p:sp>
        <p:nvSpPr>
          <p:cNvPr id="486" name="textbox 486"/>
          <p:cNvSpPr/>
          <p:nvPr/>
        </p:nvSpPr>
        <p:spPr>
          <a:xfrm>
            <a:off x="542925" y="2476500"/>
            <a:ext cx="3667125" cy="304800"/>
          </a:xfrm>
          <a:prstGeom prst="rect">
            <a:avLst/>
          </a:prstGeom>
          <a:noFill/>
          <a:ln w="0" cap="flat">
            <a:noFill/>
            <a:prstDash val="solid"/>
            <a:miter lim="0"/>
          </a:ln>
        </p:spPr>
        <p:txBody>
          <a:bodyPr vert="horz" wrap="none" lIns="0" tIns="0" rIns="0" bIns="0"/>
          <a:lstStyle/>
          <a:p>
            <a:pPr marL="361950" indent="-333375" algn="l" rtl="0" eaLnBrk="0">
              <a:buChar char="•"/>
            </a:pPr>
            <a:r>
              <a:rPr sz="2000" b="1" kern="0" spc="0" dirty="0">
                <a:solidFill>
                  <a:srgbClr val="00418A">
                    <a:alpha val="100000"/>
                  </a:srgbClr>
                </a:solidFill>
                <a:latin typeface="微软雅黑" panose="020B0503020204020204" charset="-122"/>
                <a:ea typeface="微软雅黑" panose="020B0503020204020204" charset="-122"/>
                <a:cs typeface="微软雅黑" panose="020B0503020204020204" charset="-122"/>
              </a:rPr>
              <a:t>将积分对象替换为近似表达式</a:t>
            </a:r>
            <a:endParaRPr sz="2000" dirty="0"/>
          </a:p>
        </p:txBody>
      </p:sp>
      <mc:AlternateContent xmlns:mc="http://schemas.openxmlformats.org/markup-compatibility/2006">
        <mc:Choice xmlns:a14="http://schemas.microsoft.com/office/drawing/2010/main" Requires="a14">
          <p:sp>
            <p:nvSpPr>
              <p:cNvPr id="490" name="textbox 490"/>
              <p:cNvSpPr/>
              <p:nvPr/>
            </p:nvSpPr>
            <p:spPr>
              <a:xfrm>
                <a:off x="7296150" y="2695575"/>
                <a:ext cx="4486275" cy="914400"/>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d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维的积分问题，被转化为了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d </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个一维</a:t>
                </a:r>
                <a:endParaRPr sz="1800" dirty="0"/>
              </a:p>
              <a:p>
                <a:pPr algn="l" rtl="0" eaLnBrk="0">
                  <a:spcBef>
                    <a:spcPts val="525"/>
                  </a:spcBef>
                </a:pP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积分和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d(d-1)/2</a:t>
                </a: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个二维积分之和</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p>
              <a:p>
                <a:pPr algn="l" rtl="0" eaLnBrk="0">
                  <a:spcBef>
                    <a:spcPts val="525"/>
                  </a:spcBef>
                </a:pP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计算复杂度从 </a:t>
                </a:r>
                <a14:m>
                  <m:oMath xmlns:m="http://schemas.openxmlformats.org/officeDocument/2006/math">
                    <m:r>
                      <m:rPr>
                        <m:sty m:val="p"/>
                      </m:rPr>
                      <a:rPr lang="en-US" sz="1800" dirty="0">
                        <a:latin typeface="Cambria Math" panose="02040503050406030204"/>
                        <a:ea typeface="Cambria Math" panose="02040503050406030204"/>
                      </a:rPr>
                      <m:t>O</m:t>
                    </m:r>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N</m:t>
                        </m:r>
                      </m:e>
                      <m:sup>
                        <m:r>
                          <m:rPr>
                            <m:sty m:val="p"/>
                          </m:rPr>
                          <a:rPr lang="en-US" sz="1800" dirty="0">
                            <a:latin typeface="Cambria Math" panose="02040503050406030204"/>
                            <a:ea typeface="Cambria Math" panose="02040503050406030204"/>
                          </a:rPr>
                          <m:t>d</m:t>
                        </m:r>
                      </m:sup>
                    </m:sSup>
                    <m:r>
                      <a:rPr lang="en-US" sz="1800" dirty="0">
                        <a:latin typeface="Cambria Math" panose="02040503050406030204"/>
                        <a:ea typeface="Cambria Math" panose="02040503050406030204"/>
                      </a:rPr>
                      <m:t>)</m:t>
                    </m:r>
                  </m:oMath>
                </a14:m>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降到了 </a:t>
                </a:r>
                <a14:m>
                  <m:oMath xmlns:m="http://schemas.openxmlformats.org/officeDocument/2006/math">
                    <m:r>
                      <m:rPr>
                        <m:sty m:val="p"/>
                      </m:rPr>
                      <a:rPr lang="en-US" sz="1800" dirty="0">
                        <a:latin typeface="Cambria Math" panose="02040503050406030204"/>
                        <a:ea typeface="Cambria Math" panose="02040503050406030204"/>
                      </a:rPr>
                      <m:t>O</m:t>
                    </m:r>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d</m:t>
                        </m:r>
                      </m:e>
                      <m:sup>
                        <m:r>
                          <m:rPr>
                            <m:sty m:val="p"/>
                          </m:rPr>
                          <a:rPr lang="en-US" sz="1800" dirty="0">
                            <a:latin typeface="Cambria Math" panose="02040503050406030204"/>
                            <a:ea typeface="Cambria Math" panose="02040503050406030204"/>
                          </a:rPr>
                          <m:t>N</m:t>
                        </m:r>
                      </m:sup>
                    </m:sSup>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d</m:t>
                        </m:r>
                      </m:e>
                      <m:sup>
                        <m:r>
                          <a:rPr lang="en-US" sz="1800" dirty="0">
                            <a:latin typeface="Cambria Math" panose="02040503050406030204"/>
                            <a:ea typeface="Cambria Math" panose="02040503050406030204"/>
                          </a:rPr>
                          <m:t>2</m:t>
                        </m:r>
                      </m:sup>
                    </m:sSup>
                    <m:sSup>
                      <m:sSupPr>
                        <m:ctrlPr>
                          <a:rPr/>
                        </m:ctrlPr>
                      </m:sSupPr>
                      <m:e>
                        <m:r>
                          <m:rPr>
                            <m:sty m:val="p"/>
                          </m:rPr>
                          <a:rPr lang="en-US" sz="1800" dirty="0">
                            <a:latin typeface="Cambria Math" panose="02040503050406030204"/>
                            <a:ea typeface="Cambria Math" panose="02040503050406030204"/>
                          </a:rPr>
                          <m:t>N</m:t>
                        </m:r>
                      </m:e>
                      <m:sup>
                        <m:r>
                          <a:rPr lang="en-US" sz="1800" dirty="0">
                            <a:latin typeface="Cambria Math" panose="02040503050406030204"/>
                            <a:ea typeface="Cambria Math" panose="02040503050406030204"/>
                          </a:rPr>
                          <m:t>2</m:t>
                        </m:r>
                      </m:sup>
                    </m:sSup>
                    <m:r>
                      <a:rPr lang="en-US" sz="1800" dirty="0">
                        <a:latin typeface="Cambria Math" panose="02040503050406030204"/>
                        <a:ea typeface="Cambria Math" panose="02040503050406030204"/>
                      </a:rPr>
                      <m:t>)</m:t>
                    </m:r>
                  </m:oMath>
                </a14:m>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800" dirty="0"/>
              </a:p>
            </p:txBody>
          </p:sp>
        </mc:Choice>
        <mc:Fallback>
          <p:sp>
            <p:nvSpPr>
              <p:cNvPr id="490" name="textbox 490"/>
              <p:cNvSpPr>
                <a:spLocks noRot="1" noChangeAspect="1" noMove="1" noResize="1" noEditPoints="1" noAdjustHandles="1" noChangeArrowheads="1" noChangeShapeType="1" noTextEdit="1"/>
              </p:cNvSpPr>
              <p:nvPr/>
            </p:nvSpPr>
            <p:spPr>
              <a:xfrm>
                <a:off x="7296150" y="2695575"/>
                <a:ext cx="4486275" cy="914400"/>
              </a:xfrm>
              <a:prstGeom prst="rect">
                <a:avLst/>
              </a:prstGeom>
              <a:blipFill rotWithShape="1">
                <a:blip r:embed="rId3"/>
                <a:stretch>
                  <a:fillRect t="-2083" r="-510" b="-7500"/>
                </a:stretch>
              </a:blipFill>
              <a:ln w="0" cap="flat">
                <a:noFill/>
                <a:prstDash val="solid"/>
                <a:miter lim="0"/>
              </a:ln>
            </p:spPr>
            <p:txBody>
              <a:bodyPr/>
              <a:lstStyle/>
              <a:p>
                <a:r>
                  <a:rPr lang="zh-CN" altLang="en-US">
                    <a:noFill/>
                  </a:rPr>
                  <a:t> </a:t>
                </a:r>
              </a:p>
            </p:txBody>
          </p:sp>
        </mc:Fallback>
      </mc:AlternateContent>
      <p:sp>
        <p:nvSpPr>
          <p:cNvPr id="492" name="textbox 492"/>
          <p:cNvSpPr/>
          <p:nvPr/>
        </p:nvSpPr>
        <p:spPr>
          <a:xfrm>
            <a:off x="533400" y="3657600"/>
            <a:ext cx="2686050" cy="323850"/>
          </a:xfrm>
          <a:prstGeom prst="rect">
            <a:avLst/>
          </a:prstGeom>
          <a:noFill/>
          <a:ln w="0" cap="flat">
            <a:noFill/>
            <a:prstDash val="solid"/>
            <a:miter lim="0"/>
          </a:ln>
        </p:spPr>
        <p:txBody>
          <a:bodyPr vert="horz" wrap="none" lIns="0" tIns="0" rIns="0" bIns="0"/>
          <a:lstStyle/>
          <a:p>
            <a:pPr marL="361950" indent="-304800" algn="l" rtl="0" eaLnBrk="0">
              <a:buChar char="•"/>
            </a:pPr>
            <a:r>
              <a:rPr sz="2000" b="1" kern="0" spc="0" dirty="0">
                <a:solidFill>
                  <a:srgbClr val="0E4A72">
                    <a:alpha val="100000"/>
                  </a:srgbClr>
                </a:solidFill>
                <a:latin typeface="微软雅黑" panose="020B0503020204020204" charset="-122"/>
                <a:ea typeface="微软雅黑" panose="020B0503020204020204" charset="-122"/>
                <a:cs typeface="微软雅黑" panose="020B0503020204020204" charset="-122"/>
              </a:rPr>
              <a:t>利用正交性逐项积分</a:t>
            </a:r>
            <a:endParaRPr sz="2000" dirty="0"/>
          </a:p>
        </p:txBody>
      </p:sp>
      <p:sp>
        <p:nvSpPr>
          <p:cNvPr id="496" name="textbox 496"/>
          <p:cNvSpPr/>
          <p:nvPr/>
        </p:nvSpPr>
        <p:spPr>
          <a:xfrm>
            <a:off x="638175" y="6296025"/>
            <a:ext cx="10877550" cy="381000"/>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Arial" panose="020B0604020202020204"/>
                <a:ea typeface="Arial" panose="020B0604020202020204"/>
                <a:cs typeface="Arial" panose="020B0604020202020204"/>
              </a:rPr>
              <a:t>Yu X H, Lu D G. An advanced point estimate method for uncertainty and sensitivity analysis using Nataf transformation and dimension-reduction integration.</a:t>
            </a:r>
            <a:endParaRPr sz="1200" dirty="0"/>
          </a:p>
          <a:p>
            <a:pPr algn="l" rtl="0" eaLnBrk="0"/>
            <a:r>
              <a:rPr sz="1200" kern="0" spc="0" dirty="0">
                <a:solidFill>
                  <a:srgbClr val="000000">
                    <a:alpha val="100000"/>
                  </a:srgbClr>
                </a:solidFill>
                <a:latin typeface="Arial" panose="020B0604020202020204"/>
                <a:ea typeface="Arial" panose="020B0604020202020204"/>
                <a:cs typeface="Arial" panose="020B0604020202020204"/>
              </a:rPr>
              <a:t>Book Chapter in S. Kadry and A. El Hami (eds.), Numerical Methods for Reliability and Safety Assessment: Multiscale and Multiphysics Systems. Springer, 2015.</a:t>
            </a:r>
            <a:endParaRPr sz="1200" dirty="0"/>
          </a:p>
        </p:txBody>
      </p:sp>
      <p:sp>
        <p:nvSpPr>
          <p:cNvPr id="498" name="textbox 498"/>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pic>
        <p:nvPicPr>
          <p:cNvPr id="2" name="picture 244"/>
          <p:cNvPicPr>
            <a:picLocks noChangeAspect="1"/>
          </p:cNvPicPr>
          <p:nvPr/>
        </p:nvPicPr>
        <p:blipFill>
          <a:blip r:embed="rId4"/>
          <a:stretch>
            <a:fillRect/>
          </a:stretch>
        </p:blipFill>
        <p:spPr>
          <a:xfrm rot="21600000">
            <a:off x="1638160" y="1637443"/>
            <a:ext cx="4896016" cy="673989"/>
          </a:xfrm>
          <a:prstGeom prst="rect">
            <a:avLst/>
          </a:prstGeom>
        </p:spPr>
      </p:pic>
      <p:pic>
        <p:nvPicPr>
          <p:cNvPr id="248" name="picture 248"/>
          <p:cNvPicPr>
            <a:picLocks noChangeAspect="1"/>
          </p:cNvPicPr>
          <p:nvPr/>
        </p:nvPicPr>
        <p:blipFill>
          <a:blip r:embed="rId5"/>
          <a:stretch>
            <a:fillRect/>
          </a:stretch>
        </p:blipFill>
        <p:spPr>
          <a:xfrm rot="21600000">
            <a:off x="1625640" y="2965467"/>
            <a:ext cx="5422859" cy="419069"/>
          </a:xfrm>
          <a:prstGeom prst="rect">
            <a:avLst/>
          </a:prstGeom>
        </p:spPr>
      </p:pic>
      <p:pic>
        <p:nvPicPr>
          <p:cNvPr id="3" name="picture 2"/>
          <p:cNvPicPr>
            <a:picLocks noChangeAspect="1"/>
          </p:cNvPicPr>
          <p:nvPr/>
        </p:nvPicPr>
        <p:blipFill>
          <a:blip r:embed="rId6"/>
          <a:stretch>
            <a:fillRect/>
          </a:stretch>
        </p:blipFill>
        <p:spPr>
          <a:xfrm rot="21600000">
            <a:off x="1625412" y="4062273"/>
            <a:ext cx="8706148" cy="21734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2" name="picture 502"/>
          <p:cNvPicPr>
            <a:picLocks noChangeAspect="1"/>
          </p:cNvPicPr>
          <p:nvPr/>
        </p:nvPicPr>
        <p:blipFill>
          <a:blip r:embed="rId1"/>
          <a:stretch>
            <a:fillRect/>
          </a:stretch>
        </p:blipFill>
        <p:spPr>
          <a:xfrm>
            <a:off x="0" y="0"/>
            <a:ext cx="12192000" cy="6858000"/>
          </a:xfrm>
          <a:prstGeom prst="rect">
            <a:avLst/>
          </a:prstGeom>
        </p:spPr>
      </p:pic>
      <p:pic>
        <p:nvPicPr>
          <p:cNvPr id="506" name="picture 506"/>
          <p:cNvPicPr>
            <a:picLocks noChangeAspect="1"/>
          </p:cNvPicPr>
          <p:nvPr/>
        </p:nvPicPr>
        <p:blipFill>
          <a:blip r:embed="rId2"/>
          <a:stretch>
            <a:fillRect/>
          </a:stretch>
        </p:blipFill>
        <p:spPr>
          <a:xfrm>
            <a:off x="1228725" y="742950"/>
            <a:ext cx="1285875" cy="1190625"/>
          </a:xfrm>
          <a:prstGeom prst="rect">
            <a:avLst/>
          </a:prstGeom>
        </p:spPr>
      </p:pic>
      <p:sp>
        <p:nvSpPr>
          <p:cNvPr id="508" name="textbox 508"/>
          <p:cNvSpPr/>
          <p:nvPr/>
        </p:nvSpPr>
        <p:spPr>
          <a:xfrm>
            <a:off x="4972050" y="552450"/>
            <a:ext cx="85725" cy="257175"/>
          </a:xfrm>
          <a:prstGeom prst="rect">
            <a:avLst/>
          </a:prstGeom>
          <a:noFill/>
          <a:ln w="0" cap="flat">
            <a:noFill/>
            <a:prstDash val="solid"/>
            <a:miter lim="0"/>
          </a:ln>
        </p:spPr>
        <p:txBody>
          <a:bodyPr vert="horz" wrap="none" lIns="0" tIns="0" rIns="0" bIns="0"/>
          <a:lstStyle/>
          <a:p>
            <a:pPr algn="l" rtl="0" eaLnBrk="0"/>
            <a:r>
              <a:rPr lang="en-US" sz="1500" kern="0" dirty="0">
                <a:solidFill>
                  <a:srgbClr val="FFFFFF">
                    <a:alpha val="100000"/>
                  </a:srgbClr>
                </a:solidFill>
                <a:latin typeface="Times New Roman" panose="02020603050405020304"/>
                <a:ea typeface="Times New Roman" panose="02020603050405020304"/>
                <a:cs typeface="Times New Roman" panose="02020603050405020304"/>
                <a:sym typeface="+mn-ea"/>
              </a:rPr>
              <a:t>1</a:t>
            </a:r>
            <a:endParaRPr lang="en-US" sz="1500" kern="0" dirty="0">
              <a:solidFill>
                <a:srgbClr val="FFFFFF">
                  <a:alpha val="100000"/>
                </a:srgbClr>
              </a:solidFill>
              <a:latin typeface="Times New Roman" panose="02020603050405020304"/>
              <a:ea typeface="Times New Roman" panose="02020603050405020304"/>
              <a:cs typeface="Times New Roman" panose="02020603050405020304"/>
              <a:sym typeface="+mn-ea"/>
            </a:endParaRPr>
          </a:p>
        </p:txBody>
      </p:sp>
      <p:sp>
        <p:nvSpPr>
          <p:cNvPr id="510" name="textbox 510"/>
          <p:cNvSpPr/>
          <p:nvPr/>
        </p:nvSpPr>
        <p:spPr>
          <a:xfrm>
            <a:off x="5438775" y="409575"/>
            <a:ext cx="375285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222F49">
                    <a:alpha val="100000"/>
                  </a:srgbClr>
                </a:solidFill>
                <a:latin typeface="微软雅黑" panose="020B0503020204020204" charset="-122"/>
                <a:ea typeface="微软雅黑" panose="020B0503020204020204" charset="-122"/>
                <a:cs typeface="微软雅黑" panose="020B0503020204020204" charset="-122"/>
              </a:rPr>
              <a:t>随机系统响应矩的定义</a:t>
            </a:r>
            <a:endParaRPr sz="2800" dirty="0"/>
          </a:p>
        </p:txBody>
      </p:sp>
      <p:sp>
        <p:nvSpPr>
          <p:cNvPr id="512" name="textbox 512"/>
          <p:cNvSpPr/>
          <p:nvPr/>
        </p:nvSpPr>
        <p:spPr>
          <a:xfrm>
            <a:off x="5438775" y="866775"/>
            <a:ext cx="4105275" cy="209550"/>
          </a:xfrm>
          <a:prstGeom prst="rect">
            <a:avLst/>
          </a:prstGeom>
          <a:noFill/>
          <a:ln w="0" cap="flat">
            <a:noFill/>
            <a:prstDash val="solid"/>
            <a:miter lim="0"/>
          </a:ln>
        </p:spPr>
        <p:txBody>
          <a:bodyPr vert="horz" wrap="none" lIns="0" tIns="0" rIns="0" bIns="0"/>
          <a:lstStyle/>
          <a:p>
            <a:pPr algn="l" rtl="0" eaLnBrk="0"/>
            <a:r>
              <a:rPr sz="1400" kern="0" spc="0" dirty="0">
                <a:solidFill>
                  <a:srgbClr val="2F3F4F">
                    <a:alpha val="100000"/>
                  </a:srgbClr>
                </a:solidFill>
                <a:latin typeface="Arial" panose="020B0604020202020204"/>
                <a:ea typeface="Arial" panose="020B0604020202020204"/>
                <a:cs typeface="Arial" panose="020B0604020202020204"/>
              </a:rPr>
              <a:t>Definition of Stochastic System Response Moments</a:t>
            </a:r>
            <a:endParaRPr sz="1400" dirty="0"/>
          </a:p>
        </p:txBody>
      </p:sp>
      <p:sp>
        <p:nvSpPr>
          <p:cNvPr id="514" name="textbox 514"/>
          <p:cNvSpPr/>
          <p:nvPr/>
        </p:nvSpPr>
        <p:spPr>
          <a:xfrm>
            <a:off x="4933950" y="1571625"/>
            <a:ext cx="171450" cy="238125"/>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Garamond" panose="02020404030301010803"/>
                <a:ea typeface="Garamond" panose="02020404030301010803"/>
                <a:cs typeface="Garamond" panose="02020404030301010803"/>
              </a:rPr>
              <a:t>2</a:t>
            </a:r>
            <a:endParaRPr sz="1800" dirty="0"/>
          </a:p>
        </p:txBody>
      </p:sp>
      <p:sp>
        <p:nvSpPr>
          <p:cNvPr id="516" name="textbox 516"/>
          <p:cNvSpPr/>
          <p:nvPr/>
        </p:nvSpPr>
        <p:spPr>
          <a:xfrm>
            <a:off x="5438775" y="1409700"/>
            <a:ext cx="375285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23324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518" name="textbox 518"/>
          <p:cNvSpPr/>
          <p:nvPr/>
        </p:nvSpPr>
        <p:spPr>
          <a:xfrm>
            <a:off x="5438775" y="1866900"/>
            <a:ext cx="5810250" cy="200025"/>
          </a:xfrm>
          <a:prstGeom prst="rect">
            <a:avLst/>
          </a:prstGeom>
          <a:noFill/>
          <a:ln w="0" cap="flat">
            <a:noFill/>
            <a:prstDash val="solid"/>
            <a:miter lim="0"/>
          </a:ln>
        </p:spPr>
        <p:txBody>
          <a:bodyPr vert="horz" wrap="none" lIns="0" tIns="0" rIns="0" bIns="0"/>
          <a:lstStyle/>
          <a:p>
            <a:pPr algn="l" rtl="0" eaLnBrk="0"/>
            <a:r>
              <a:rPr sz="1400" kern="0" spc="0" dirty="0">
                <a:solidFill>
                  <a:srgbClr val="2F3F4F">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520" name="textbox 520"/>
          <p:cNvSpPr/>
          <p:nvPr/>
        </p:nvSpPr>
        <p:spPr>
          <a:xfrm>
            <a:off x="962025" y="2828925"/>
            <a:ext cx="2085975" cy="714375"/>
          </a:xfrm>
          <a:prstGeom prst="rect">
            <a:avLst/>
          </a:prstGeom>
          <a:noFill/>
          <a:ln w="0" cap="flat">
            <a:noFill/>
            <a:prstDash val="solid"/>
            <a:miter lim="0"/>
          </a:ln>
        </p:spPr>
        <p:txBody>
          <a:bodyPr vert="horz" wrap="none" lIns="0" tIns="0" rIns="0" bIns="0"/>
          <a:lstStyle/>
          <a:p>
            <a:pPr algn="l" rtl="0" eaLnBrk="0"/>
            <a:r>
              <a:rPr sz="5400" b="1" kern="0" spc="5625" dirty="0">
                <a:solidFill>
                  <a:srgbClr val="FFFFFF">
                    <a:alpha val="100000"/>
                  </a:srgbClr>
                </a:solidFill>
                <a:latin typeface="微软雅黑" panose="020B0503020204020204" charset="-122"/>
                <a:ea typeface="微软雅黑" panose="020B0503020204020204" charset="-122"/>
                <a:cs typeface="微软雅黑" panose="020B0503020204020204" charset="-122"/>
              </a:rPr>
              <a:t>目录</a:t>
            </a:r>
            <a:endParaRPr sz="5400" dirty="0"/>
          </a:p>
        </p:txBody>
      </p:sp>
      <p:sp>
        <p:nvSpPr>
          <p:cNvPr id="522" name="textbox 522"/>
          <p:cNvSpPr/>
          <p:nvPr/>
        </p:nvSpPr>
        <p:spPr>
          <a:xfrm>
            <a:off x="4972050" y="2590800"/>
            <a:ext cx="133350" cy="24765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3</a:t>
            </a:r>
            <a:endParaRPr sz="2000" dirty="0"/>
          </a:p>
        </p:txBody>
      </p:sp>
      <p:sp>
        <p:nvSpPr>
          <p:cNvPr id="524" name="textbox 524"/>
          <p:cNvSpPr/>
          <p:nvPr/>
        </p:nvSpPr>
        <p:spPr>
          <a:xfrm>
            <a:off x="5438775" y="2457450"/>
            <a:ext cx="413385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212F50">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526" name="textbox 526"/>
          <p:cNvSpPr/>
          <p:nvPr/>
        </p:nvSpPr>
        <p:spPr>
          <a:xfrm>
            <a:off x="5438775" y="2895600"/>
            <a:ext cx="6000750" cy="190500"/>
          </a:xfrm>
          <a:prstGeom prst="rect">
            <a:avLst/>
          </a:prstGeom>
          <a:noFill/>
          <a:ln w="0" cap="flat">
            <a:noFill/>
            <a:prstDash val="solid"/>
            <a:miter lim="0"/>
          </a:ln>
        </p:spPr>
        <p:txBody>
          <a:bodyPr vert="horz" wrap="none" lIns="0" tIns="0" rIns="0" bIns="0"/>
          <a:lstStyle/>
          <a:p>
            <a:pPr algn="l" rtl="0" eaLnBrk="0"/>
            <a:r>
              <a:rPr sz="1400" kern="0" spc="0" dirty="0">
                <a:solidFill>
                  <a:srgbClr val="1C304B">
                    <a:alpha val="100000"/>
                  </a:srgbClr>
                </a:solidFill>
                <a:latin typeface="Arial" panose="020B0604020202020204"/>
                <a:ea typeface="Arial" panose="020B0604020202020204"/>
                <a:cs typeface="Arial" panose="020B0604020202020204"/>
              </a:rPr>
              <a:t>Dimension-reduction Integration Methods for Statistical Moments Estimation</a:t>
            </a:r>
            <a:endParaRPr sz="1400" dirty="0"/>
          </a:p>
        </p:txBody>
      </p:sp>
      <p:sp>
        <p:nvSpPr>
          <p:cNvPr id="528" name="textbox 528"/>
          <p:cNvSpPr/>
          <p:nvPr/>
        </p:nvSpPr>
        <p:spPr>
          <a:xfrm>
            <a:off x="4924425" y="3638550"/>
            <a:ext cx="180975" cy="228600"/>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Arial" panose="020B0604020202020204"/>
                <a:ea typeface="Arial" panose="020B0604020202020204"/>
                <a:cs typeface="Arial" panose="020B0604020202020204"/>
              </a:rPr>
              <a:t>4</a:t>
            </a:r>
            <a:endParaRPr sz="1800" dirty="0"/>
          </a:p>
        </p:txBody>
      </p:sp>
      <p:sp>
        <p:nvSpPr>
          <p:cNvPr id="530" name="textbox 530"/>
          <p:cNvSpPr/>
          <p:nvPr/>
        </p:nvSpPr>
        <p:spPr>
          <a:xfrm>
            <a:off x="5457825" y="3486150"/>
            <a:ext cx="637222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1D2D53">
                    <a:alpha val="100000"/>
                  </a:srgbClr>
                </a:solidFill>
                <a:latin typeface="微软雅黑" panose="020B0503020204020204" charset="-122"/>
                <a:ea typeface="微软雅黑" panose="020B0503020204020204" charset="-122"/>
                <a:cs typeface="微软雅黑" panose="020B0503020204020204" charset="-122"/>
              </a:rPr>
              <a:t>降维积分法与先进数值积分算法的融合</a:t>
            </a:r>
            <a:endParaRPr sz="2800" dirty="0"/>
          </a:p>
        </p:txBody>
      </p:sp>
      <p:sp>
        <p:nvSpPr>
          <p:cNvPr id="532" name="textbox 532"/>
          <p:cNvSpPr/>
          <p:nvPr/>
        </p:nvSpPr>
        <p:spPr>
          <a:xfrm>
            <a:off x="942975" y="4000500"/>
            <a:ext cx="2028825" cy="304800"/>
          </a:xfrm>
          <a:prstGeom prst="rect">
            <a:avLst/>
          </a:prstGeom>
          <a:noFill/>
          <a:ln w="0" cap="flat">
            <a:noFill/>
            <a:prstDash val="solid"/>
            <a:miter lim="0"/>
          </a:ln>
        </p:spPr>
        <p:txBody>
          <a:bodyPr vert="horz" wrap="none" lIns="0" tIns="0" rIns="0" bIns="0"/>
          <a:lstStyle/>
          <a:p>
            <a:pPr algn="l" rtl="0" eaLnBrk="0"/>
            <a:r>
              <a:rPr sz="2600" kern="0" spc="0" dirty="0">
                <a:solidFill>
                  <a:srgbClr val="FFFFFF">
                    <a:alpha val="100000"/>
                  </a:srgbClr>
                </a:solidFill>
                <a:latin typeface="Times New Roman" panose="02020603050405020304"/>
                <a:ea typeface="Times New Roman" panose="02020603050405020304"/>
                <a:cs typeface="Times New Roman" panose="02020603050405020304"/>
              </a:rPr>
              <a:t>CONTENTS</a:t>
            </a:r>
            <a:endParaRPr sz="2600" dirty="0"/>
          </a:p>
        </p:txBody>
      </p:sp>
      <p:sp>
        <p:nvSpPr>
          <p:cNvPr id="534" name="textbox 534"/>
          <p:cNvSpPr/>
          <p:nvPr/>
        </p:nvSpPr>
        <p:spPr>
          <a:xfrm>
            <a:off x="5438775" y="3924300"/>
            <a:ext cx="6391275" cy="419100"/>
          </a:xfrm>
          <a:prstGeom prst="rect">
            <a:avLst/>
          </a:prstGeom>
          <a:noFill/>
          <a:ln w="0" cap="flat">
            <a:noFill/>
            <a:prstDash val="solid"/>
            <a:miter lim="0"/>
          </a:ln>
        </p:spPr>
        <p:txBody>
          <a:bodyPr vert="horz" wrap="none" lIns="0" tIns="0" rIns="0" bIns="0"/>
          <a:lstStyle/>
          <a:p>
            <a:pPr algn="l" rtl="0" eaLnBrk="0"/>
            <a:r>
              <a:rPr sz="1400" kern="0" spc="0" dirty="0">
                <a:solidFill>
                  <a:srgbClr val="2F3F4F">
                    <a:alpha val="100000"/>
                  </a:srgbClr>
                </a:solidFill>
                <a:latin typeface="Arial" panose="020B0604020202020204"/>
                <a:ea typeface="Arial" panose="020B0604020202020204"/>
                <a:cs typeface="Arial" panose="020B0604020202020204"/>
              </a:rPr>
              <a:t>Integration of Dimension-reduction Integration Methods with Advanced Numerical</a:t>
            </a:r>
            <a:endParaRPr sz="1400" dirty="0"/>
          </a:p>
          <a:p>
            <a:pPr algn="l" rtl="0" eaLnBrk="0"/>
            <a:r>
              <a:rPr sz="1400" kern="0" spc="0" dirty="0">
                <a:solidFill>
                  <a:srgbClr val="2F3F4F">
                    <a:alpha val="100000"/>
                  </a:srgbClr>
                </a:solidFill>
                <a:latin typeface="Arial" panose="020B0604020202020204"/>
                <a:ea typeface="Arial" panose="020B0604020202020204"/>
                <a:cs typeface="Arial" panose="020B0604020202020204"/>
              </a:rPr>
              <a:t>Integration Algorithms</a:t>
            </a:r>
            <a:endParaRPr sz="1400" dirty="0"/>
          </a:p>
        </p:txBody>
      </p:sp>
      <p:sp>
        <p:nvSpPr>
          <p:cNvPr id="536" name="textbox 536"/>
          <p:cNvSpPr/>
          <p:nvPr/>
        </p:nvSpPr>
        <p:spPr>
          <a:xfrm>
            <a:off x="4924425" y="4733925"/>
            <a:ext cx="180975" cy="22860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5</a:t>
            </a:r>
            <a:endParaRPr sz="2000" dirty="0"/>
          </a:p>
        </p:txBody>
      </p:sp>
      <p:sp>
        <p:nvSpPr>
          <p:cNvPr id="538" name="textbox 538"/>
          <p:cNvSpPr/>
          <p:nvPr/>
        </p:nvSpPr>
        <p:spPr>
          <a:xfrm>
            <a:off x="5438775" y="4572000"/>
            <a:ext cx="599122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203355">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540" name="textbox 540"/>
          <p:cNvSpPr/>
          <p:nvPr/>
        </p:nvSpPr>
        <p:spPr>
          <a:xfrm>
            <a:off x="5438775" y="5029200"/>
            <a:ext cx="6477000" cy="200025"/>
          </a:xfrm>
          <a:prstGeom prst="rect">
            <a:avLst/>
          </a:prstGeom>
          <a:noFill/>
          <a:ln w="0" cap="flat">
            <a:noFill/>
            <a:prstDash val="solid"/>
            <a:miter lim="0"/>
          </a:ln>
        </p:spPr>
        <p:txBody>
          <a:bodyPr vert="horz" wrap="none" lIns="0" tIns="0" rIns="0" bIns="0"/>
          <a:lstStyle/>
          <a:p>
            <a:pPr algn="l" rtl="0" eaLnBrk="0"/>
            <a:r>
              <a:rPr sz="1400" kern="0" spc="0" dirty="0">
                <a:solidFill>
                  <a:srgbClr val="2F3F4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542" name="textbox 542"/>
          <p:cNvSpPr/>
          <p:nvPr/>
        </p:nvSpPr>
        <p:spPr>
          <a:xfrm>
            <a:off x="4933950" y="5781675"/>
            <a:ext cx="152400" cy="190500"/>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Times New Roman" panose="02020603050405020304"/>
                <a:ea typeface="Times New Roman" panose="02020603050405020304"/>
                <a:cs typeface="Times New Roman" panose="02020603050405020304"/>
              </a:rPr>
              <a:t>6</a:t>
            </a:r>
            <a:endParaRPr sz="1800" dirty="0"/>
          </a:p>
        </p:txBody>
      </p:sp>
      <p:sp>
        <p:nvSpPr>
          <p:cNvPr id="544" name="textbox 544"/>
          <p:cNvSpPr/>
          <p:nvPr/>
        </p:nvSpPr>
        <p:spPr>
          <a:xfrm>
            <a:off x="5438775" y="5610225"/>
            <a:ext cx="1876425" cy="400050"/>
          </a:xfrm>
          <a:prstGeom prst="rect">
            <a:avLst/>
          </a:prstGeom>
          <a:noFill/>
          <a:ln w="0" cap="flat">
            <a:noFill/>
            <a:prstDash val="solid"/>
            <a:miter lim="0"/>
          </a:ln>
        </p:spPr>
        <p:txBody>
          <a:bodyPr vert="horz" wrap="none" lIns="0" tIns="0" rIns="0" bIns="0"/>
          <a:lstStyle/>
          <a:p>
            <a:pPr algn="l" rtl="0" eaLnBrk="0"/>
            <a:r>
              <a:rPr sz="2800" b="1" kern="0" spc="0" dirty="0">
                <a:solidFill>
                  <a:srgbClr val="1F2D4B">
                    <a:alpha val="100000"/>
                  </a:srgbClr>
                </a:solidFill>
                <a:latin typeface="微软雅黑" panose="020B0503020204020204" charset="-122"/>
                <a:ea typeface="微软雅黑" panose="020B0503020204020204" charset="-122"/>
                <a:cs typeface="微软雅黑" panose="020B0503020204020204" charset="-122"/>
              </a:rPr>
              <a:t>结论与展望</a:t>
            </a:r>
            <a:endParaRPr sz="2800" dirty="0"/>
          </a:p>
        </p:txBody>
      </p:sp>
      <p:sp>
        <p:nvSpPr>
          <p:cNvPr id="546" name="textbox 546"/>
          <p:cNvSpPr/>
          <p:nvPr/>
        </p:nvSpPr>
        <p:spPr>
          <a:xfrm>
            <a:off x="5438775" y="6057900"/>
            <a:ext cx="2181225" cy="200025"/>
          </a:xfrm>
          <a:prstGeom prst="rect">
            <a:avLst/>
          </a:prstGeom>
          <a:noFill/>
          <a:ln w="0" cap="flat">
            <a:noFill/>
            <a:prstDash val="solid"/>
            <a:miter lim="0"/>
          </a:ln>
        </p:spPr>
        <p:txBody>
          <a:bodyPr vert="horz" wrap="none" lIns="0" tIns="0" rIns="0" bIns="0"/>
          <a:lstStyle/>
          <a:p>
            <a:pPr algn="l" rtl="0" eaLnBrk="0"/>
            <a:r>
              <a:rPr sz="1400" kern="0" spc="0" dirty="0">
                <a:solidFill>
                  <a:srgbClr val="2F3F4F">
                    <a:alpha val="100000"/>
                  </a:srgbClr>
                </a:solidFill>
                <a:latin typeface="Arial" panose="020B0604020202020204"/>
                <a:ea typeface="Arial" panose="020B0604020202020204"/>
                <a:cs typeface="Arial" panose="020B0604020202020204"/>
              </a:rPr>
              <a:t>Conclusions and Prospects</a:t>
            </a:r>
            <a:endParaRPr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0" name="picture 550"/>
          <p:cNvPicPr>
            <a:picLocks noChangeAspect="1"/>
          </p:cNvPicPr>
          <p:nvPr/>
        </p:nvPicPr>
        <p:blipFill>
          <a:blip r:embed="rId1"/>
          <a:stretch>
            <a:fillRect/>
          </a:stretch>
        </p:blipFill>
        <p:spPr>
          <a:xfrm>
            <a:off x="0" y="0"/>
            <a:ext cx="12192000" cy="6858000"/>
          </a:xfrm>
          <a:prstGeom prst="rect">
            <a:avLst/>
          </a:prstGeom>
        </p:spPr>
      </p:pic>
      <p:pic>
        <p:nvPicPr>
          <p:cNvPr id="554" name="picture 554"/>
          <p:cNvPicPr>
            <a:picLocks noChangeAspect="1"/>
          </p:cNvPicPr>
          <p:nvPr/>
        </p:nvPicPr>
        <p:blipFill>
          <a:blip r:embed="rId2"/>
          <a:stretch>
            <a:fillRect/>
          </a:stretch>
        </p:blipFill>
        <p:spPr>
          <a:xfrm>
            <a:off x="1228725" y="752475"/>
            <a:ext cx="1285875" cy="1181100"/>
          </a:xfrm>
          <a:prstGeom prst="rect">
            <a:avLst/>
          </a:prstGeom>
        </p:spPr>
      </p:pic>
      <p:sp>
        <p:nvSpPr>
          <p:cNvPr id="556" name="textbox 556"/>
          <p:cNvSpPr/>
          <p:nvPr/>
        </p:nvSpPr>
        <p:spPr>
          <a:xfrm>
            <a:off x="1695450" y="3067050"/>
            <a:ext cx="304800" cy="600075"/>
          </a:xfrm>
          <a:prstGeom prst="rect">
            <a:avLst/>
          </a:prstGeom>
          <a:noFill/>
          <a:ln w="0" cap="flat">
            <a:noFill/>
            <a:prstDash val="solid"/>
            <a:miter lim="0"/>
          </a:ln>
        </p:spPr>
        <p:txBody>
          <a:bodyPr vert="horz" wrap="none" lIns="0" tIns="0" rIns="0" bIns="0"/>
          <a:lstStyle/>
          <a:p>
            <a:pPr algn="l" rtl="0" eaLnBrk="0"/>
            <a:r>
              <a:rPr sz="5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1</a:t>
            </a:r>
            <a:endParaRPr sz="5400" dirty="0"/>
          </a:p>
        </p:txBody>
      </p:sp>
      <p:sp>
        <p:nvSpPr>
          <p:cNvPr id="558" name="textbox 558"/>
          <p:cNvSpPr/>
          <p:nvPr/>
        </p:nvSpPr>
        <p:spPr>
          <a:xfrm>
            <a:off x="4972050" y="2619375"/>
            <a:ext cx="6305550" cy="666750"/>
          </a:xfrm>
          <a:prstGeom prst="rect">
            <a:avLst/>
          </a:prstGeom>
          <a:noFill/>
          <a:ln w="0" cap="flat">
            <a:noFill/>
            <a:prstDash val="solid"/>
            <a:miter lim="0"/>
          </a:ln>
        </p:spPr>
        <p:txBody>
          <a:bodyPr vert="horz" wrap="none" lIns="0" tIns="0" rIns="0" bIns="0"/>
          <a:lstStyle/>
          <a:p>
            <a:pPr algn="l" rtl="0" eaLnBrk="0"/>
            <a:r>
              <a:rPr sz="4800" b="1" kern="0" spc="0" dirty="0">
                <a:solidFill>
                  <a:srgbClr val="1F2C58">
                    <a:alpha val="100000"/>
                  </a:srgbClr>
                </a:solidFill>
                <a:latin typeface="微软雅黑" panose="020B0503020204020204" charset="-122"/>
                <a:ea typeface="微软雅黑" panose="020B0503020204020204" charset="-122"/>
                <a:cs typeface="微软雅黑" panose="020B0503020204020204" charset="-122"/>
              </a:rPr>
              <a:t>随机系统响应矩的定义</a:t>
            </a:r>
            <a:endParaRPr sz="4800" dirty="0"/>
          </a:p>
        </p:txBody>
      </p:sp>
      <p:sp>
        <p:nvSpPr>
          <p:cNvPr id="560" name="textbox 560"/>
          <p:cNvSpPr/>
          <p:nvPr/>
        </p:nvSpPr>
        <p:spPr>
          <a:xfrm>
            <a:off x="5124450" y="3514725"/>
            <a:ext cx="5876925" cy="295275"/>
          </a:xfrm>
          <a:prstGeom prst="rect">
            <a:avLst/>
          </a:prstGeom>
          <a:noFill/>
          <a:ln w="0" cap="flat">
            <a:noFill/>
            <a:prstDash val="solid"/>
            <a:miter lim="0"/>
          </a:ln>
        </p:spPr>
        <p:txBody>
          <a:bodyPr vert="horz" wrap="none" lIns="0" tIns="0" rIns="0" bIns="0"/>
          <a:lstStyle/>
          <a:p>
            <a:pPr algn="l" rtl="0" eaLnBrk="0"/>
            <a:r>
              <a:rPr sz="2000" kern="0" spc="0" dirty="0">
                <a:solidFill>
                  <a:srgbClr val="222A35">
                    <a:alpha val="100000"/>
                  </a:srgbClr>
                </a:solidFill>
                <a:latin typeface="Arial" panose="020B0604020202020204"/>
                <a:ea typeface="Arial" panose="020B0604020202020204"/>
                <a:cs typeface="Arial" panose="020B0604020202020204"/>
              </a:rPr>
              <a:t>Definition of Stochastic System Response Moments</a:t>
            </a:r>
            <a:endParaRPr sz="2000" dirty="0"/>
          </a:p>
        </p:txBody>
      </p:sp>
      <p:sp>
        <p:nvSpPr>
          <p:cNvPr id="562" name="textbox 562"/>
          <p:cNvSpPr/>
          <p:nvPr/>
        </p:nvSpPr>
        <p:spPr>
          <a:xfrm>
            <a:off x="971550" y="4000500"/>
            <a:ext cx="1809750" cy="323850"/>
          </a:xfrm>
          <a:prstGeom prst="rect">
            <a:avLst/>
          </a:prstGeom>
          <a:noFill/>
          <a:ln w="0" cap="flat">
            <a:noFill/>
            <a:prstDash val="solid"/>
            <a:miter lim="0"/>
          </a:ln>
        </p:spPr>
        <p:txBody>
          <a:bodyPr vert="horz" wrap="none" lIns="0" tIns="0" rIns="0" bIns="0"/>
          <a:lstStyle/>
          <a:p>
            <a:pPr algn="l" rtl="0" eaLnBrk="0"/>
            <a:r>
              <a:rPr sz="2800" kern="0" spc="0" dirty="0">
                <a:solidFill>
                  <a:srgbClr val="FFFFFF">
                    <a:alpha val="100000"/>
                  </a:srgbClr>
                </a:solidFill>
                <a:latin typeface="Arial" panose="020B0604020202020204"/>
                <a:ea typeface="Arial" panose="020B0604020202020204"/>
                <a:cs typeface="Arial" panose="020B0604020202020204"/>
              </a:rPr>
              <a:t>PART ONE</a:t>
            </a:r>
            <a:endParaRPr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6" name="picture 566"/>
          <p:cNvPicPr>
            <a:picLocks noChangeAspect="1"/>
          </p:cNvPicPr>
          <p:nvPr/>
        </p:nvPicPr>
        <p:blipFill>
          <a:blip r:embed="rId1"/>
          <a:stretch>
            <a:fillRect/>
          </a:stretch>
        </p:blipFill>
        <p:spPr>
          <a:xfrm>
            <a:off x="0" y="0"/>
            <a:ext cx="12192000" cy="6858000"/>
          </a:xfrm>
          <a:prstGeom prst="rect">
            <a:avLst/>
          </a:prstGeom>
        </p:spPr>
      </p:pic>
      <p:sp>
        <p:nvSpPr>
          <p:cNvPr id="568" name="textbox 568"/>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570" name="textbox 570"/>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572" name="textbox 57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638CB3">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576" name="picture 576"/>
          <p:cNvPicPr>
            <a:picLocks noChangeAspect="1"/>
          </p:cNvPicPr>
          <p:nvPr/>
        </p:nvPicPr>
        <p:blipFill>
          <a:blip r:embed="rId2"/>
          <a:stretch>
            <a:fillRect/>
          </a:stretch>
        </p:blipFill>
        <p:spPr>
          <a:xfrm>
            <a:off x="295275" y="247650"/>
            <a:ext cx="733425" cy="666750"/>
          </a:xfrm>
          <a:prstGeom prst="rect">
            <a:avLst/>
          </a:prstGeom>
        </p:spPr>
      </p:pic>
      <p:sp>
        <p:nvSpPr>
          <p:cNvPr id="578" name="textbox 578"/>
          <p:cNvSpPr/>
          <p:nvPr/>
        </p:nvSpPr>
        <p:spPr>
          <a:xfrm>
            <a:off x="1457325" y="333375"/>
            <a:ext cx="376237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随机系统响应矩的定义</a:t>
            </a:r>
            <a:endParaRPr sz="2800" dirty="0"/>
          </a:p>
        </p:txBody>
      </p:sp>
      <p:sp>
        <p:nvSpPr>
          <p:cNvPr id="580" name="textbox 580"/>
          <p:cNvSpPr/>
          <p:nvPr/>
        </p:nvSpPr>
        <p:spPr>
          <a:xfrm>
            <a:off x="1447800" y="752475"/>
            <a:ext cx="411480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Definition of Stochastic System Response Moments</a:t>
            </a:r>
            <a:endParaRPr sz="1400" dirty="0"/>
          </a:p>
        </p:txBody>
      </p:sp>
      <mc:AlternateContent xmlns:mc="http://schemas.openxmlformats.org/markup-compatibility/2006">
        <mc:Choice xmlns:a14="http://schemas.microsoft.com/office/drawing/2010/main" Requires="a14">
          <p:sp>
            <p:nvSpPr>
              <p:cNvPr id="582" name="textbox 582"/>
              <p:cNvSpPr/>
              <p:nvPr/>
            </p:nvSpPr>
            <p:spPr>
              <a:xfrm>
                <a:off x="542925" y="1228725"/>
                <a:ext cx="9744075" cy="390525"/>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在高阶矩估计问题中，</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N</m:t>
                        </m:r>
                      </m:e>
                      <m:sub>
                        <m:r>
                          <m:rPr>
                            <m:sty m:val="p"/>
                          </m:rPr>
                          <a:rPr lang="en-US" sz="1800" dirty="0">
                            <a:solidFill>
                              <a:srgbClr val="0070BC"/>
                            </a:solidFill>
                            <a:latin typeface="Cambria Math" panose="02040503050406030204"/>
                            <a:ea typeface="Cambria Math" panose="02040503050406030204"/>
                          </a:rPr>
                          <m:t>dim</m:t>
                        </m:r>
                      </m:sub>
                    </m:sSub>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维随机向量 </a:t>
                </a:r>
                <a14:m>
                  <m:oMath xmlns:m="http://schemas.openxmlformats.org/officeDocument/2006/math">
                    <m:r>
                      <a:rPr lang="en-US" sz="1800" dirty="0">
                        <a:solidFill>
                          <a:srgbClr val="0070BC"/>
                        </a:solidFill>
                        <a:latin typeface="Cambria Math" panose="02040503050406030204"/>
                        <a:ea typeface="Cambria Math" panose="02040503050406030204"/>
                      </a:rPr>
                      <m:t>𝚯</m:t>
                    </m:r>
                    <m:r>
                      <a:rPr lang="en-US" sz="1800" dirty="0">
                        <a:solidFill>
                          <a:srgbClr val="0070BC"/>
                        </a:solidFill>
                        <a:latin typeface="Cambria Math" panose="02040503050406030204"/>
                        <a:ea typeface="Cambria Math" panose="02040503050406030204"/>
                      </a:rPr>
                      <m:t>=</m:t>
                    </m:r>
                    <m:sSup>
                      <m:sSupPr>
                        <m:ctrlPr>
                          <a:rPr>
                            <a:solidFill>
                              <a:srgbClr val="0070BC"/>
                            </a:solidFill>
                          </a:rPr>
                        </m:ctrlPr>
                      </m:sSupPr>
                      <m:e>
                        <m:d>
                          <m:dPr>
                            <m:begChr m:val="["/>
                            <m:endChr m:val="]"/>
                            <m:ctrlPr>
                              <a:rPr>
                                <a:solidFill>
                                  <a:srgbClr val="0070BC"/>
                                </a:solidFill>
                              </a:rPr>
                            </m:ctrlPr>
                          </m:dPr>
                          <m:e>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𝚯</m:t>
                                </m:r>
                              </m:e>
                              <m:sub>
                                <m:r>
                                  <a:rPr lang="en-US" sz="1800" dirty="0">
                                    <a:solidFill>
                                      <a:srgbClr val="0070BC"/>
                                    </a:solidFill>
                                    <a:latin typeface="Cambria Math" panose="02040503050406030204"/>
                                    <a:ea typeface="Cambria Math" panose="02040503050406030204"/>
                                  </a:rPr>
                                  <m:t>1</m:t>
                                </m:r>
                              </m:sub>
                            </m:sSub>
                            <m:r>
                              <a:rPr lang="en-US" sz="1800" dirty="0">
                                <a:solidFill>
                                  <a:srgbClr val="0070BC"/>
                                </a:solidFill>
                                <a:latin typeface="Cambria Math" panose="02040503050406030204"/>
                                <a:ea typeface="Cambria Math" panose="02040503050406030204"/>
                              </a:rPr>
                              <m:t>,</m:t>
                            </m:r>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𝚯</m:t>
                                </m:r>
                              </m:e>
                              <m:sub>
                                <m:r>
                                  <a:rPr lang="en-US" sz="1800" dirty="0">
                                    <a:solidFill>
                                      <a:srgbClr val="0070BC"/>
                                    </a:solidFill>
                                    <a:latin typeface="Cambria Math" panose="02040503050406030204"/>
                                    <a:ea typeface="Cambria Math" panose="02040503050406030204"/>
                                  </a:rPr>
                                  <m:t>2</m:t>
                                </m:r>
                              </m:sub>
                            </m:sSub>
                            <m:r>
                              <a:rPr lang="en-US" sz="1800" dirty="0">
                                <a:solidFill>
                                  <a:srgbClr val="0070BC"/>
                                </a:solidFill>
                                <a:latin typeface="Cambria Math" panose="02040503050406030204"/>
                                <a:ea typeface="Cambria Math" panose="02040503050406030204"/>
                              </a:rPr>
                              <m:t>,…,</m:t>
                            </m:r>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𝚯</m:t>
                                </m:r>
                              </m:e>
                              <m:sub>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N</m:t>
                                    </m:r>
                                  </m:e>
                                  <m:sub>
                                    <m:r>
                                      <m:rPr>
                                        <m:sty m:val="p"/>
                                      </m:rPr>
                                      <a:rPr lang="en-US" sz="1800" dirty="0">
                                        <a:solidFill>
                                          <a:srgbClr val="0070BC"/>
                                        </a:solidFill>
                                        <a:latin typeface="Cambria Math" panose="02040503050406030204"/>
                                        <a:ea typeface="Cambria Math" panose="02040503050406030204"/>
                                      </a:rPr>
                                      <m:t>dim</m:t>
                                    </m:r>
                                  </m:sub>
                                </m:sSub>
                              </m:sub>
                            </m:sSub>
                          </m:e>
                        </m:d>
                      </m:e>
                      <m:sup>
                        <m:r>
                          <m:rPr>
                            <m:sty m:val="p"/>
                          </m:rPr>
                          <a:rPr lang="en-US" sz="1800" dirty="0">
                            <a:solidFill>
                              <a:srgbClr val="0070BC"/>
                            </a:solidFill>
                            <a:latin typeface="Cambria Math" panose="02040503050406030204"/>
                            <a:ea typeface="Cambria Math" panose="02040503050406030204"/>
                          </a:rPr>
                          <m:t>T</m:t>
                        </m:r>
                      </m:sup>
                    </m:sSup>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与系统响应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之间的映射关系为：</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582" name="textbox 582"/>
              <p:cNvSpPr>
                <a:spLocks noRot="1" noChangeAspect="1" noMove="1" noResize="1" noEditPoints="1" noAdjustHandles="1" noChangeArrowheads="1" noChangeShapeType="1" noTextEdit="1"/>
              </p:cNvSpPr>
              <p:nvPr/>
            </p:nvSpPr>
            <p:spPr>
              <a:xfrm>
                <a:off x="542925" y="1228725"/>
                <a:ext cx="9744075" cy="390525"/>
              </a:xfrm>
              <a:prstGeom prst="rect">
                <a:avLst/>
              </a:prstGeom>
              <a:blipFill rotWithShape="1">
                <a:blip r:embed="rId3"/>
                <a:stretch>
                  <a:fillRect r="-2515"/>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4" name="textbox 584"/>
              <p:cNvSpPr/>
              <p:nvPr/>
            </p:nvSpPr>
            <p:spPr>
              <a:xfrm>
                <a:off x="3581400" y="1704975"/>
                <a:ext cx="1076325" cy="3524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G</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𝛉</m:t>
                      </m:r>
                      <m:r>
                        <a:rPr lang="en-US" sz="2000" dirty="0">
                          <a:latin typeface="Cambria Math" panose="02040503050406030204"/>
                          <a:ea typeface="Cambria Math" panose="02040503050406030204"/>
                        </a:rPr>
                        <m:t>)</m:t>
                      </m:r>
                    </m:oMath>
                  </m:oMathPara>
                </a14:m>
                <a:endParaRPr sz="600" dirty="0"/>
              </a:p>
            </p:txBody>
          </p:sp>
        </mc:Choice>
        <mc:Fallback>
          <p:sp>
            <p:nvSpPr>
              <p:cNvPr id="584" name="textbox 584"/>
              <p:cNvSpPr>
                <a:spLocks noRot="1" noChangeAspect="1" noMove="1" noResize="1" noEditPoints="1" noAdjustHandles="1" noChangeArrowheads="1" noChangeShapeType="1" noTextEdit="1"/>
              </p:cNvSpPr>
              <p:nvPr/>
            </p:nvSpPr>
            <p:spPr>
              <a:xfrm>
                <a:off x="3581400" y="1704975"/>
                <a:ext cx="1076325" cy="352425"/>
              </a:xfrm>
              <a:prstGeom prst="rect">
                <a:avLst/>
              </a:prstGeom>
              <a:blipFill rotWithShape="1">
                <a:blip r:embed="rId4"/>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6" name="textbox 586"/>
              <p:cNvSpPr/>
              <p:nvPr/>
            </p:nvSpPr>
            <p:spPr>
              <a:xfrm>
                <a:off x="533400" y="2371725"/>
                <a:ext cx="6677025" cy="333375"/>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系统响应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的第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q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阶原点矩 </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M</m:t>
                        </m:r>
                      </m:e>
                      <m:sub>
                        <m:r>
                          <m:rPr>
                            <m:sty m:val="p"/>
                          </m:rPr>
                          <a:rPr lang="en-US" sz="1800" dirty="0">
                            <a:solidFill>
                              <a:srgbClr val="0070BC"/>
                            </a:solidFill>
                            <a:latin typeface="Cambria Math" panose="02040503050406030204"/>
                            <a:ea typeface="Cambria Math" panose="02040503050406030204"/>
                          </a:rPr>
                          <m:t>Z</m:t>
                        </m:r>
                        <m:r>
                          <a:rPr lang="en-US" sz="1800" dirty="0">
                            <a:solidFill>
                              <a:srgbClr val="0070BC"/>
                            </a:solidFill>
                            <a:latin typeface="Cambria Math" panose="02040503050406030204"/>
                            <a:ea typeface="Cambria Math" panose="02040503050406030204"/>
                          </a:rPr>
                          <m:t>,</m:t>
                        </m:r>
                        <m:r>
                          <m:rPr>
                            <m:sty m:val="p"/>
                          </m:rPr>
                          <a:rPr lang="en-US" sz="1800" dirty="0">
                            <a:solidFill>
                              <a:srgbClr val="0070BC"/>
                            </a:solidFill>
                            <a:latin typeface="Cambria Math" panose="02040503050406030204"/>
                            <a:ea typeface="Cambria Math" panose="02040503050406030204"/>
                          </a:rPr>
                          <m:t>q</m:t>
                        </m:r>
                      </m:sub>
                    </m:sSub>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和中心矩 </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m</m:t>
                        </m:r>
                      </m:e>
                      <m:sub>
                        <m:r>
                          <m:rPr>
                            <m:sty m:val="p"/>
                          </m:rPr>
                          <a:rPr lang="en-US" sz="1800" dirty="0">
                            <a:solidFill>
                              <a:srgbClr val="0070BC"/>
                            </a:solidFill>
                            <a:latin typeface="Cambria Math" panose="02040503050406030204"/>
                            <a:ea typeface="Cambria Math" panose="02040503050406030204"/>
                          </a:rPr>
                          <m:t>Z</m:t>
                        </m:r>
                        <m:r>
                          <a:rPr lang="en-US" sz="1800" dirty="0">
                            <a:solidFill>
                              <a:srgbClr val="0070BC"/>
                            </a:solidFill>
                            <a:latin typeface="Cambria Math" panose="02040503050406030204"/>
                            <a:ea typeface="Cambria Math" panose="02040503050406030204"/>
                          </a:rPr>
                          <m:t>,</m:t>
                        </m:r>
                        <m:r>
                          <m:rPr>
                            <m:sty m:val="p"/>
                          </m:rPr>
                          <a:rPr lang="en-US" sz="1800" dirty="0">
                            <a:solidFill>
                              <a:srgbClr val="0070BC"/>
                            </a:solidFill>
                            <a:latin typeface="Cambria Math" panose="02040503050406030204"/>
                            <a:ea typeface="Cambria Math" panose="02040503050406030204"/>
                          </a:rPr>
                          <m:t>q</m:t>
                        </m:r>
                      </m:sub>
                    </m:sSub>
                  </m:oMath>
                </a14:m>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分别定义为：</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586" name="textbox 586"/>
              <p:cNvSpPr>
                <a:spLocks noRot="1" noChangeAspect="1" noMove="1" noResize="1" noEditPoints="1" noAdjustHandles="1" noChangeArrowheads="1" noChangeShapeType="1" noTextEdit="1"/>
              </p:cNvSpPr>
              <p:nvPr/>
            </p:nvSpPr>
            <p:spPr>
              <a:xfrm>
                <a:off x="533400" y="2371725"/>
                <a:ext cx="6677025" cy="333375"/>
              </a:xfrm>
              <a:prstGeom prst="rect">
                <a:avLst/>
              </a:prstGeom>
              <a:blipFill rotWithShape="1">
                <a:blip r:embed="rId5"/>
                <a:stretch>
                  <a:fillRect b="-342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0" name="textbox 590"/>
              <p:cNvSpPr/>
              <p:nvPr/>
            </p:nvSpPr>
            <p:spPr>
              <a:xfrm>
                <a:off x="533400" y="4791075"/>
                <a:ext cx="10144125" cy="314325"/>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在样本空间 </a:t>
                </a:r>
                <a14:m>
                  <m:oMath xmlns:m="http://schemas.openxmlformats.org/officeDocument/2006/math">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𝛺</m:t>
                        </m:r>
                      </m:e>
                      <m:sub>
                        <m:r>
                          <a:rPr lang="en-US" sz="1800" dirty="0">
                            <a:solidFill>
                              <a:srgbClr val="0070BC"/>
                            </a:solidFill>
                            <a:latin typeface="Cambria Math" panose="02040503050406030204"/>
                            <a:ea typeface="Cambria Math" panose="02040503050406030204"/>
                          </a:rPr>
                          <m:t>𝜃</m:t>
                        </m:r>
                      </m:sub>
                    </m:sSub>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中，</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p</m:t>
                        </m:r>
                      </m:e>
                      <m:sub>
                        <m:r>
                          <a:rPr lang="en-US" sz="1800" dirty="0">
                            <a:solidFill>
                              <a:srgbClr val="0070BC"/>
                            </a:solidFill>
                            <a:latin typeface="Cambria Math" panose="02040503050406030204"/>
                            <a:ea typeface="Cambria Math" panose="02040503050406030204"/>
                          </a:rPr>
                          <m:t>𝜃</m:t>
                        </m:r>
                      </m:sub>
                    </m:sSub>
                    <m:r>
                      <a:rPr lang="en-US" sz="1800" dirty="0">
                        <a:solidFill>
                          <a:srgbClr val="0070BC"/>
                        </a:solidFill>
                        <a:latin typeface="Cambria Math" panose="02040503050406030204"/>
                        <a:ea typeface="Cambria Math" panose="02040503050406030204"/>
                      </a:rPr>
                      <m:t>(</m:t>
                    </m:r>
                    <m:r>
                      <a:rPr lang="en-US" sz="1800" dirty="0">
                        <a:solidFill>
                          <a:srgbClr val="0070BC"/>
                        </a:solidFill>
                        <a:latin typeface="Cambria Math" panose="02040503050406030204"/>
                        <a:ea typeface="Cambria Math" panose="02040503050406030204"/>
                      </a:rPr>
                      <m:t>𝜃</m:t>
                    </m:r>
                    <m:r>
                      <a:rPr lang="en-US" sz="1800" dirty="0">
                        <a:solidFill>
                          <a:srgbClr val="0070BC"/>
                        </a:solidFill>
                        <a:latin typeface="Cambria Math" panose="02040503050406030204"/>
                        <a:ea typeface="Cambria Math" panose="02040503050406030204"/>
                      </a:rPr>
                      <m:t>)</m:t>
                    </m:r>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是随机向量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θ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的联合 </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PDF</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，当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θ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中的元素完全独立时，联合 </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PDF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为：</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590" name="textbox 590"/>
              <p:cNvSpPr>
                <a:spLocks noRot="1" noChangeAspect="1" noMove="1" noResize="1" noEditPoints="1" noAdjustHandles="1" noChangeArrowheads="1" noChangeShapeType="1" noTextEdit="1"/>
              </p:cNvSpPr>
              <p:nvPr/>
            </p:nvSpPr>
            <p:spPr>
              <a:xfrm>
                <a:off x="533400" y="4791075"/>
                <a:ext cx="10144125" cy="314325"/>
              </a:xfrm>
              <a:prstGeom prst="rect">
                <a:avLst/>
              </a:prstGeom>
              <a:blipFill rotWithShape="1">
                <a:blip r:embed="rId6"/>
                <a:stretch>
                  <a:fillRect t="-606"/>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4" name="textbox 594"/>
              <p:cNvSpPr/>
              <p:nvPr/>
            </p:nvSpPr>
            <p:spPr>
              <a:xfrm>
                <a:off x="933450" y="6143625"/>
                <a:ext cx="4171950" cy="30480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式中，</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p</m:t>
                        </m:r>
                      </m:e>
                      <m:sub>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𝜃</m:t>
                            </m:r>
                          </m:e>
                          <m:sub>
                            <m:r>
                              <m:rPr>
                                <m:sty m:val="p"/>
                              </m:rPr>
                              <a:rPr lang="en-US" sz="1800" dirty="0">
                                <a:solidFill>
                                  <a:srgbClr val="0070BC"/>
                                </a:solidFill>
                                <a:latin typeface="Cambria Math" panose="02040503050406030204"/>
                                <a:ea typeface="Cambria Math" panose="02040503050406030204"/>
                              </a:rPr>
                              <m:t>i</m:t>
                            </m:r>
                          </m:sub>
                        </m:sSub>
                      </m:sub>
                    </m:sSub>
                    <m:r>
                      <a:rPr lang="en-US" sz="1800" dirty="0">
                        <a:solidFill>
                          <a:srgbClr val="0070BC"/>
                        </a:solidFill>
                        <a:latin typeface="Cambria Math" panose="02040503050406030204"/>
                        <a:ea typeface="Cambria Math" panose="02040503050406030204"/>
                      </a:rPr>
                      <m:t>(</m:t>
                    </m:r>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𝜃</m:t>
                        </m:r>
                      </m:e>
                      <m:sub>
                        <m:r>
                          <m:rPr>
                            <m:sty m:val="p"/>
                          </m:rPr>
                          <a:rPr lang="en-US" sz="1800" dirty="0">
                            <a:solidFill>
                              <a:srgbClr val="0070BC"/>
                            </a:solidFill>
                            <a:latin typeface="Cambria Math" panose="02040503050406030204"/>
                            <a:ea typeface="Cambria Math" panose="02040503050406030204"/>
                          </a:rPr>
                          <m:t>i</m:t>
                        </m:r>
                      </m:sub>
                    </m:sSub>
                    <m:r>
                      <a:rPr lang="en-US" sz="1800" dirty="0">
                        <a:solidFill>
                          <a:srgbClr val="0070BC"/>
                        </a:solidFill>
                        <a:latin typeface="Cambria Math" panose="02040503050406030204"/>
                        <a:ea typeface="Cambria Math" panose="02040503050406030204"/>
                      </a:rPr>
                      <m:t>)</m:t>
                    </m:r>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为 </a:t>
                </a:r>
                <a14:m>
                  <m:oMath xmlns:m="http://schemas.openxmlformats.org/officeDocument/2006/math">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𝜃</m:t>
                        </m:r>
                      </m:e>
                      <m:sub>
                        <m:r>
                          <m:rPr>
                            <m:sty m:val="p"/>
                          </m:rPr>
                          <a:rPr lang="en-US" sz="1800" dirty="0">
                            <a:solidFill>
                              <a:srgbClr val="0070BC"/>
                            </a:solidFill>
                            <a:latin typeface="Cambria Math" panose="02040503050406030204"/>
                            <a:ea typeface="Cambria Math" panose="02040503050406030204"/>
                          </a:rPr>
                          <m:t>i</m:t>
                        </m:r>
                      </m:sub>
                    </m:sSub>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的边缘概率密度函数。</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594" name="textbox 594"/>
              <p:cNvSpPr>
                <a:spLocks noRot="1" noChangeAspect="1" noMove="1" noResize="1" noEditPoints="1" noAdjustHandles="1" noChangeArrowheads="1" noChangeShapeType="1" noTextEdit="1"/>
              </p:cNvSpPr>
              <p:nvPr/>
            </p:nvSpPr>
            <p:spPr>
              <a:xfrm>
                <a:off x="933450" y="6143625"/>
                <a:ext cx="4171950" cy="304800"/>
              </a:xfrm>
              <a:prstGeom prst="rect">
                <a:avLst/>
              </a:prstGeom>
              <a:blipFill rotWithShape="1">
                <a:blip r:embed="rId7"/>
                <a:stretch>
                  <a:fillRect r="-5586" b="-12917"/>
                </a:stretch>
              </a:blipFill>
              <a:ln w="0" cap="flat">
                <a:noFill/>
                <a:prstDash val="solid"/>
                <a:miter lim="0"/>
              </a:ln>
            </p:spPr>
            <p:txBody>
              <a:bodyPr/>
              <a:lstStyle/>
              <a:p>
                <a:r>
                  <a:rPr lang="zh-CN" altLang="en-US">
                    <a:noFill/>
                  </a:rPr>
                  <a:t> </a:t>
                </a:r>
              </a:p>
            </p:txBody>
          </p:sp>
        </mc:Fallback>
      </mc:AlternateContent>
      <p:sp>
        <p:nvSpPr>
          <p:cNvPr id="596" name="textbox 596"/>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598" name="textbox 598"/>
          <p:cNvSpPr/>
          <p:nvPr/>
        </p:nvSpPr>
        <p:spPr>
          <a:xfrm>
            <a:off x="11763375" y="6734175"/>
            <a:ext cx="171450" cy="114300"/>
          </a:xfrm>
          <a:prstGeom prst="rect">
            <a:avLst/>
          </a:prstGeom>
          <a:noFill/>
          <a:ln w="0" cap="flat">
            <a:noFill/>
            <a:prstDash val="solid"/>
            <a:miter lim="0"/>
          </a:ln>
        </p:spPr>
        <p:txBody>
          <a:bodyPr vert="horz" wrap="none" lIns="0" tIns="0" rIns="0" bIns="0"/>
          <a:lstStyle/>
          <a:p>
            <a:pPr algn="l" rtl="0" eaLnBrk="0"/>
            <a:r>
              <a:rPr sz="1000" kern="0" spc="450" dirty="0">
                <a:solidFill>
                  <a:srgbClr val="FFFFFF">
                    <a:alpha val="100000"/>
                  </a:srgbClr>
                </a:solidFill>
                <a:latin typeface="Arial" panose="020B0604020202020204"/>
                <a:ea typeface="Arial" panose="020B0604020202020204"/>
                <a:cs typeface="Arial" panose="020B0604020202020204"/>
              </a:rPr>
              <a:t>14</a:t>
            </a:r>
            <a:endParaRPr sz="1000" dirty="0"/>
          </a:p>
        </p:txBody>
      </p:sp>
      <p:pic>
        <p:nvPicPr>
          <p:cNvPr id="10" name="picture 10"/>
          <p:cNvPicPr>
            <a:picLocks noChangeAspect="1"/>
          </p:cNvPicPr>
          <p:nvPr/>
        </p:nvPicPr>
        <p:blipFill>
          <a:blip r:embed="rId8"/>
          <a:stretch>
            <a:fillRect/>
          </a:stretch>
        </p:blipFill>
        <p:spPr>
          <a:xfrm rot="21600000">
            <a:off x="3625900" y="3009880"/>
            <a:ext cx="4915032" cy="1619300"/>
          </a:xfrm>
          <a:prstGeom prst="rect">
            <a:avLst/>
          </a:prstGeom>
        </p:spPr>
      </p:pic>
      <p:pic>
        <p:nvPicPr>
          <p:cNvPr id="2" name="picture 22"/>
          <p:cNvPicPr>
            <a:picLocks noChangeAspect="1"/>
          </p:cNvPicPr>
          <p:nvPr/>
        </p:nvPicPr>
        <p:blipFill>
          <a:blip r:embed="rId9"/>
          <a:stretch>
            <a:fillRect/>
          </a:stretch>
        </p:blipFill>
        <p:spPr>
          <a:xfrm rot="21600000">
            <a:off x="3606759" y="5295914"/>
            <a:ext cx="1892320" cy="6731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2" name="picture 602"/>
          <p:cNvPicPr>
            <a:picLocks noChangeAspect="1"/>
          </p:cNvPicPr>
          <p:nvPr/>
        </p:nvPicPr>
        <p:blipFill>
          <a:blip r:embed="rId1"/>
          <a:stretch>
            <a:fillRect/>
          </a:stretch>
        </p:blipFill>
        <p:spPr>
          <a:xfrm>
            <a:off x="0" y="0"/>
            <a:ext cx="12192000" cy="6858000"/>
          </a:xfrm>
          <a:prstGeom prst="rect">
            <a:avLst/>
          </a:prstGeom>
        </p:spPr>
      </p:pic>
      <p:sp>
        <p:nvSpPr>
          <p:cNvPr id="604" name="textbox 604"/>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606" name="textbox 606"/>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608" name="textbox 608"/>
          <p:cNvSpPr/>
          <p:nvPr/>
        </p:nvSpPr>
        <p:spPr>
          <a:xfrm>
            <a:off x="7296150" y="0"/>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638CB3">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612" name="picture 612"/>
          <p:cNvPicPr>
            <a:picLocks noChangeAspect="1"/>
          </p:cNvPicPr>
          <p:nvPr/>
        </p:nvPicPr>
        <p:blipFill>
          <a:blip r:embed="rId2"/>
          <a:stretch>
            <a:fillRect/>
          </a:stretch>
        </p:blipFill>
        <p:spPr>
          <a:xfrm>
            <a:off x="295275" y="247650"/>
            <a:ext cx="733425" cy="666750"/>
          </a:xfrm>
          <a:prstGeom prst="rect">
            <a:avLst/>
          </a:prstGeom>
        </p:spPr>
      </p:pic>
      <p:sp>
        <p:nvSpPr>
          <p:cNvPr id="614" name="textbox 614"/>
          <p:cNvSpPr/>
          <p:nvPr/>
        </p:nvSpPr>
        <p:spPr>
          <a:xfrm>
            <a:off x="1457325" y="333375"/>
            <a:ext cx="3743325"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随机系统响应矩的定义</a:t>
            </a:r>
            <a:endParaRPr sz="2800" dirty="0"/>
          </a:p>
        </p:txBody>
      </p:sp>
      <p:sp>
        <p:nvSpPr>
          <p:cNvPr id="616" name="textbox 616"/>
          <p:cNvSpPr/>
          <p:nvPr/>
        </p:nvSpPr>
        <p:spPr>
          <a:xfrm>
            <a:off x="1447800" y="752475"/>
            <a:ext cx="4114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Definition of Stochastic System Response Moments</a:t>
            </a:r>
            <a:endParaRPr sz="1400" dirty="0"/>
          </a:p>
        </p:txBody>
      </p:sp>
      <p:sp>
        <p:nvSpPr>
          <p:cNvPr id="618" name="textbox 618"/>
          <p:cNvSpPr/>
          <p:nvPr/>
        </p:nvSpPr>
        <p:spPr>
          <a:xfrm>
            <a:off x="7458075" y="1466850"/>
            <a:ext cx="2752725" cy="314325"/>
          </a:xfrm>
          <a:prstGeom prst="rect">
            <a:avLst/>
          </a:prstGeom>
          <a:noFill/>
          <a:ln w="0" cap="flat">
            <a:noFill/>
            <a:prstDash val="solid"/>
            <a:miter lim="0"/>
          </a:ln>
        </p:spPr>
        <p:txBody>
          <a:bodyPr vert="horz" wrap="none" lIns="0" tIns="0" rIns="0" bIns="0"/>
          <a:lstStyle/>
          <a:p>
            <a:pPr algn="l" rtl="0" eaLnBrk="0"/>
            <a:r>
              <a:rPr sz="2100" b="1" kern="0" spc="0" dirty="0">
                <a:solidFill>
                  <a:srgbClr val="7030A0">
                    <a:alpha val="100000"/>
                  </a:srgbClr>
                </a:solidFill>
                <a:latin typeface="黑体" panose="02010609060101010101" charset="-122"/>
                <a:ea typeface="黑体" panose="02010609060101010101" charset="-122"/>
                <a:cs typeface="黑体" panose="02010609060101010101" charset="-122"/>
              </a:rPr>
              <a:t>响应函数 </a:t>
            </a:r>
            <a:r>
              <a:rPr sz="2100" b="1" i="1" kern="0" spc="0" dirty="0">
                <a:solidFill>
                  <a:srgbClr val="7030A0">
                    <a:alpha val="100000"/>
                  </a:srgbClr>
                </a:solidFill>
                <a:latin typeface="Times New Roman" panose="02020603050405020304"/>
                <a:ea typeface="Times New Roman" panose="02020603050405020304"/>
                <a:cs typeface="Times New Roman" panose="02020603050405020304"/>
              </a:rPr>
              <a:t>Z </a:t>
            </a:r>
            <a:r>
              <a:rPr sz="2100" b="1" kern="0" spc="0" dirty="0">
                <a:solidFill>
                  <a:srgbClr val="7030A0">
                    <a:alpha val="100000"/>
                  </a:srgbClr>
                </a:solidFill>
                <a:latin typeface="黑体" panose="02010609060101010101" charset="-122"/>
                <a:ea typeface="黑体" panose="02010609060101010101" charset="-122"/>
                <a:cs typeface="黑体" panose="02010609060101010101" charset="-122"/>
              </a:rPr>
              <a:t>的前</a:t>
            </a:r>
            <a:r>
              <a:rPr sz="2100" b="1" kern="0" spc="0" dirty="0">
                <a:solidFill>
                  <a:srgbClr val="7030A0">
                    <a:alpha val="100000"/>
                  </a:srgbClr>
                </a:solidFill>
                <a:latin typeface="Times New Roman" panose="02020603050405020304"/>
                <a:ea typeface="Times New Roman" panose="02020603050405020304"/>
                <a:cs typeface="Times New Roman" panose="02020603050405020304"/>
              </a:rPr>
              <a:t>4</a:t>
            </a:r>
            <a:r>
              <a:rPr sz="2100" b="1" kern="0" spc="0" dirty="0">
                <a:solidFill>
                  <a:srgbClr val="7030A0">
                    <a:alpha val="100000"/>
                  </a:srgbClr>
                </a:solidFill>
                <a:latin typeface="黑体" panose="02010609060101010101" charset="-122"/>
                <a:ea typeface="黑体" panose="02010609060101010101" charset="-122"/>
                <a:cs typeface="黑体" panose="02010609060101010101" charset="-122"/>
              </a:rPr>
              <a:t>阶矩</a:t>
            </a:r>
            <a:endParaRPr sz="2100" dirty="0"/>
          </a:p>
        </p:txBody>
      </p:sp>
      <p:sp>
        <p:nvSpPr>
          <p:cNvPr id="620" name="textbox 620"/>
          <p:cNvSpPr/>
          <p:nvPr/>
        </p:nvSpPr>
        <p:spPr>
          <a:xfrm>
            <a:off x="1028700" y="1876425"/>
            <a:ext cx="3086100"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原点矩和中心矩之间的关系为：</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622" name="textbox 622"/>
              <p:cNvSpPr/>
              <p:nvPr/>
            </p:nvSpPr>
            <p:spPr>
              <a:xfrm>
                <a:off x="333375" y="2409825"/>
                <a:ext cx="4667250" cy="981075"/>
              </a:xfrm>
              <a:prstGeom prst="rect">
                <a:avLst/>
              </a:prstGeom>
              <a:noFill/>
              <a:ln w="0" cap="flat">
                <a:noFill/>
                <a:prstDash val="solid"/>
                <a:miter lim="0"/>
              </a:ln>
            </p:spPr>
            <p:txBody>
              <a:bodyPr vert="horz" wrap="none" lIns="0" tIns="0" rIns="0" bIns="0"/>
              <a:lstStyle/>
              <a:p>
                <a:pPr algn="l" rtl="0" eaLnBrk="0">
                  <a:buClrTx/>
                  <a:buSzTx/>
                  <a:buFontTx/>
                </a:pPr>
                <a14:m>
                  <m:oMathPara xmlns:m="http://schemas.openxmlformats.org/officeDocument/2006/math">
                    <m:oMathParaPr>
                      <m:jc m:val="centerGroup"/>
                    </m:oMathParaPr>
                    <m:oMath xmlns:m="http://schemas.openxmlformats.org/officeDocument/2006/math">
                      <m:sSub>
                        <m:sSubPr>
                          <m:ctrlPr>
                            <a:rPr sz="2200"/>
                          </m:ctrlPr>
                        </m:sSubPr>
                        <m:e>
                          <m:r>
                            <m:rPr>
                              <m:sty m:val="p"/>
                            </m:rPr>
                            <a:rPr sz="2200">
                              <a:latin typeface="Cambria Math" panose="02040503050406030204" charset="0"/>
                            </a:rPr>
                            <m:t>m</m:t>
                          </m:r>
                        </m:e>
                        <m:sub>
                          <m:r>
                            <m:rPr>
                              <m:sty m:val="p"/>
                            </m:rPr>
                            <a:rPr sz="2200">
                              <a:latin typeface="Cambria Math" panose="02040503050406030204" charset="0"/>
                            </a:rPr>
                            <m:t>Z</m:t>
                          </m:r>
                          <m:r>
                            <a:rPr sz="2200">
                              <a:latin typeface="Cambria Math" panose="02040503050406030204" charset="0"/>
                            </a:rPr>
                            <m:t>,</m:t>
                          </m:r>
                          <m:r>
                            <m:rPr>
                              <m:sty m:val="p"/>
                            </m:rPr>
                            <a:rPr sz="2200">
                              <a:latin typeface="Cambria Math" panose="02040503050406030204" charset="0"/>
                            </a:rPr>
                            <m:t>q</m:t>
                          </m:r>
                        </m:sub>
                      </m:sSub>
                      <m:r>
                        <a:rPr sz="2200">
                          <a:latin typeface="Cambria Math" panose="02040503050406030204" charset="0"/>
                        </a:rPr>
                        <m:t>=</m:t>
                      </m:r>
                      <m:nary>
                        <m:naryPr>
                          <m:chr m:val="∑"/>
                          <m:limLoc m:val="subSup"/>
                          <m:ctrlPr>
                            <a:rPr sz="2200"/>
                          </m:ctrlPr>
                        </m:naryPr>
                        <m:sub>
                          <m:r>
                            <m:rPr>
                              <m:sty m:val="p"/>
                            </m:rPr>
                            <a:rPr sz="2200">
                              <a:latin typeface="Cambria Math" panose="02040503050406030204" charset="0"/>
                            </a:rPr>
                            <m:t>k</m:t>
                          </m:r>
                          <m:r>
                            <a:rPr sz="2200">
                              <a:latin typeface="Cambria Math" panose="02040503050406030204" charset="0"/>
                            </a:rPr>
                            <m:t>=</m:t>
                          </m:r>
                          <m:r>
                            <a:rPr sz="2200">
                              <a:latin typeface="Cambria Math" panose="02040503050406030204" charset="0"/>
                            </a:rPr>
                            <m:t>0</m:t>
                          </m:r>
                        </m:sub>
                        <m:sup>
                          <m:r>
                            <m:rPr>
                              <m:sty m:val="p"/>
                            </m:rPr>
                            <a:rPr sz="2200">
                              <a:latin typeface="Cambria Math" panose="02040503050406030204" charset="0"/>
                            </a:rPr>
                            <m:t>q</m:t>
                          </m:r>
                        </m:sup>
                        <m:e>
                          <m:d>
                            <m:dPr>
                              <m:ctrlPr>
                                <a:rPr sz="2200"/>
                              </m:ctrlPr>
                            </m:dPr>
                            <m:e>
                              <m:f>
                                <m:fPr>
                                  <m:type m:val="noBar"/>
                                  <m:ctrlPr>
                                    <a:rPr sz="2200"/>
                                  </m:ctrlPr>
                                </m:fPr>
                                <m:num>
                                  <m:r>
                                    <m:rPr>
                                      <m:sty m:val="p"/>
                                    </m:rPr>
                                    <a:rPr sz="2200">
                                      <a:latin typeface="Cambria Math" panose="02040503050406030204" charset="0"/>
                                    </a:rPr>
                                    <m:t>q</m:t>
                                  </m:r>
                                </m:num>
                                <m:den>
                                  <m:r>
                                    <m:rPr>
                                      <m:sty m:val="p"/>
                                    </m:rPr>
                                    <a:rPr sz="2200">
                                      <a:latin typeface="Cambria Math" panose="02040503050406030204" charset="0"/>
                                    </a:rPr>
                                    <m:t>k</m:t>
                                  </m:r>
                                </m:den>
                              </m:f>
                            </m:e>
                          </m:d>
                          <m:r>
                            <a:rPr sz="2200">
                              <a:latin typeface="Cambria Math" panose="02040503050406030204" charset="0"/>
                            </a:rPr>
                            <m:t>(−</m:t>
                          </m:r>
                          <m:r>
                            <a:rPr sz="2200">
                              <a:latin typeface="Cambria Math" panose="02040503050406030204" charset="0"/>
                            </a:rPr>
                            <m:t>1</m:t>
                          </m:r>
                          <m:sSup>
                            <m:sSupPr>
                              <m:ctrlPr>
                                <a:rPr sz="2200"/>
                              </m:ctrlPr>
                            </m:sSupPr>
                            <m:e>
                              <m:r>
                                <a:rPr sz="2200">
                                  <a:latin typeface="Cambria Math" panose="02040503050406030204" charset="0"/>
                                </a:rPr>
                                <m:t>)</m:t>
                              </m:r>
                            </m:e>
                            <m:sup>
                              <m:r>
                                <m:rPr>
                                  <m:sty m:val="p"/>
                                </m:rPr>
                                <a:rPr sz="2200">
                                  <a:latin typeface="Cambria Math" panose="02040503050406030204" charset="0"/>
                                </a:rPr>
                                <m:t>q</m:t>
                              </m:r>
                              <m:r>
                                <a:rPr sz="2200">
                                  <a:latin typeface="Cambria Math" panose="02040503050406030204" charset="0"/>
                                </a:rPr>
                                <m:t>−</m:t>
                              </m:r>
                              <m:r>
                                <m:rPr>
                                  <m:sty m:val="p"/>
                                </m:rPr>
                                <a:rPr sz="2200">
                                  <a:latin typeface="Cambria Math" panose="02040503050406030204" charset="0"/>
                                </a:rPr>
                                <m:t>k</m:t>
                              </m:r>
                            </m:sup>
                          </m:sSup>
                          <m:sSub>
                            <m:sSubPr>
                              <m:ctrlPr>
                                <a:rPr sz="2200"/>
                              </m:ctrlPr>
                            </m:sSubPr>
                            <m:e>
                              <m:r>
                                <m:rPr>
                                  <m:sty m:val="p"/>
                                </m:rPr>
                                <a:rPr sz="2200">
                                  <a:latin typeface="Cambria Math" panose="02040503050406030204" charset="0"/>
                                </a:rPr>
                                <m:t>M</m:t>
                              </m:r>
                            </m:e>
                            <m:sub>
                              <m:r>
                                <m:rPr>
                                  <m:sty m:val="p"/>
                                </m:rPr>
                                <a:rPr sz="2200">
                                  <a:latin typeface="Cambria Math" panose="02040503050406030204" charset="0"/>
                                </a:rPr>
                                <m:t>Z</m:t>
                              </m:r>
                              <m:r>
                                <a:rPr sz="2200">
                                  <a:latin typeface="Cambria Math" panose="02040503050406030204" charset="0"/>
                                </a:rPr>
                                <m:t>,</m:t>
                              </m:r>
                              <m:r>
                                <m:rPr>
                                  <m:sty m:val="p"/>
                                </m:rPr>
                                <a:rPr sz="2200">
                                  <a:latin typeface="Cambria Math" panose="02040503050406030204" charset="0"/>
                                </a:rPr>
                                <m:t>k</m:t>
                              </m:r>
                            </m:sub>
                          </m:sSub>
                          <m:sSubSup>
                            <m:sSubSupPr>
                              <m:ctrlPr>
                                <a:rPr sz="2200"/>
                              </m:ctrlPr>
                            </m:sSubSupPr>
                            <m:e>
                              <m:r>
                                <a:rPr sz="2200">
                                  <a:latin typeface="Cambria Math" panose="02040503050406030204" charset="0"/>
                                </a:rPr>
                                <m:t>𝜇</m:t>
                              </m:r>
                            </m:e>
                            <m:sub>
                              <m:r>
                                <m:rPr>
                                  <m:sty m:val="p"/>
                                </m:rPr>
                                <a:rPr sz="2200">
                                  <a:latin typeface="Cambria Math" panose="02040503050406030204" charset="0"/>
                                </a:rPr>
                                <m:t>Z</m:t>
                              </m:r>
                            </m:sub>
                            <m:sup>
                              <m:r>
                                <m:rPr>
                                  <m:sty m:val="p"/>
                                </m:rPr>
                                <a:rPr sz="2200">
                                  <a:latin typeface="Cambria Math" panose="02040503050406030204" charset="0"/>
                                </a:rPr>
                                <m:t>q</m:t>
                              </m:r>
                              <m:r>
                                <a:rPr sz="2200">
                                  <a:latin typeface="Cambria Math" panose="02040503050406030204" charset="0"/>
                                </a:rPr>
                                <m:t>−</m:t>
                              </m:r>
                              <m:r>
                                <m:rPr>
                                  <m:sty m:val="p"/>
                                </m:rPr>
                                <a:rPr sz="2200">
                                  <a:latin typeface="Cambria Math" panose="02040503050406030204" charset="0"/>
                                </a:rPr>
                                <m:t>k</m:t>
                              </m:r>
                            </m:sup>
                          </m:sSubSup>
                          <m:r>
                            <a:rPr sz="2200">
                              <a:latin typeface="Cambria Math" panose="02040503050406030204" charset="0"/>
                            </a:rPr>
                            <m:t>,</m:t>
                          </m:r>
                          <m:r>
                            <m:rPr>
                              <m:sty m:val="p"/>
                            </m:rPr>
                            <a:rPr sz="2200">
                              <a:latin typeface="Cambria Math" panose="02040503050406030204" charset="0"/>
                            </a:rPr>
                            <m:t>q</m:t>
                          </m:r>
                          <m:r>
                            <a:rPr lang="en-US" sz="2200">
                              <a:latin typeface="Cambria Math" panose="02040503050406030204" charset="0"/>
                            </a:rPr>
                            <m:t>≤</m:t>
                          </m:r>
                          <m:r>
                            <m:rPr>
                              <m:sty m:val="p"/>
                            </m:rPr>
                            <a:rPr sz="2200">
                              <a:latin typeface="Cambria Math" panose="02040503050406030204" charset="0"/>
                            </a:rPr>
                            <m:t>l</m:t>
                          </m:r>
                        </m:e>
                      </m:nary>
                    </m:oMath>
                  </m:oMathPara>
                </a14:m>
                <a:endParaRPr sz="2200"/>
              </a:p>
            </p:txBody>
          </p:sp>
        </mc:Choice>
        <mc:Fallback>
          <p:sp>
            <p:nvSpPr>
              <p:cNvPr id="622" name="textbox 622"/>
              <p:cNvSpPr>
                <a:spLocks noRot="1" noChangeAspect="1" noMove="1" noResize="1" noEditPoints="1" noAdjustHandles="1" noChangeArrowheads="1" noChangeShapeType="1" noTextEdit="1"/>
              </p:cNvSpPr>
              <p:nvPr/>
            </p:nvSpPr>
            <p:spPr>
              <a:xfrm>
                <a:off x="333375" y="2409825"/>
                <a:ext cx="4667250" cy="981075"/>
              </a:xfrm>
              <a:prstGeom prst="rect">
                <a:avLst/>
              </a:prstGeom>
              <a:blipFill rotWithShape="1">
                <a:blip r:embed="rId3"/>
                <a:stretch>
                  <a:fillRect r="-7088"/>
                </a:stretch>
              </a:blipFill>
              <a:ln w="0" cap="flat">
                <a:noFill/>
                <a:prstDash val="solid"/>
                <a:miter lim="0"/>
              </a:ln>
            </p:spPr>
            <p:txBody>
              <a:bodyPr/>
              <a:lstStyle/>
              <a:p>
                <a:r>
                  <a:rPr lang="zh-CN" altLang="en-US">
                    <a:noFill/>
                  </a:rPr>
                  <a:t> </a:t>
                </a:r>
              </a:p>
            </p:txBody>
          </p:sp>
        </mc:Fallback>
      </mc:AlternateContent>
      <p:pic>
        <p:nvPicPr>
          <p:cNvPr id="626" name="picture 626"/>
          <p:cNvPicPr>
            <a:picLocks noChangeAspect="1"/>
          </p:cNvPicPr>
          <p:nvPr/>
        </p:nvPicPr>
        <p:blipFill>
          <a:blip r:embed="rId4"/>
          <a:stretch>
            <a:fillRect/>
          </a:stretch>
        </p:blipFill>
        <p:spPr>
          <a:xfrm>
            <a:off x="5295900" y="2362200"/>
            <a:ext cx="638175" cy="590550"/>
          </a:xfrm>
          <a:prstGeom prst="rect">
            <a:avLst/>
          </a:prstGeom>
        </p:spPr>
      </p:pic>
      <p:sp>
        <p:nvSpPr>
          <p:cNvPr id="628" name="textbox 628"/>
          <p:cNvSpPr/>
          <p:nvPr/>
        </p:nvSpPr>
        <p:spPr>
          <a:xfrm>
            <a:off x="6296025" y="2238375"/>
            <a:ext cx="800100" cy="276225"/>
          </a:xfrm>
          <a:prstGeom prst="rect">
            <a:avLst/>
          </a:prstGeom>
          <a:noFill/>
          <a:ln w="0" cap="flat">
            <a:noFill/>
            <a:prstDash val="solid"/>
            <a:miter lim="0"/>
          </a:ln>
        </p:spPr>
        <p:txBody>
          <a:bodyPr vert="horz" wrap="none" lIns="0" tIns="0" rIns="0" bIns="0"/>
          <a:lstStyle/>
          <a:p>
            <a:pPr marL="304800" indent="-266700" algn="l" rtl="0" eaLnBrk="0">
              <a:buChar char="•"/>
            </a:pPr>
            <a:r>
              <a:rPr sz="18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均值</a:t>
            </a:r>
            <a:endParaRPr sz="1800" dirty="0"/>
          </a:p>
        </p:txBody>
      </p:sp>
      <mc:AlternateContent xmlns:mc="http://schemas.openxmlformats.org/markup-compatibility/2006">
        <mc:Choice xmlns:a14="http://schemas.microsoft.com/office/drawing/2010/main" Requires="a14">
          <p:sp>
            <p:nvSpPr>
              <p:cNvPr id="630" name="textbox 630"/>
              <p:cNvSpPr/>
              <p:nvPr/>
            </p:nvSpPr>
            <p:spPr>
              <a:xfrm>
                <a:off x="6610350" y="2590800"/>
                <a:ext cx="952500" cy="3143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2000" dirty="0">
                              <a:latin typeface="Cambria Math" panose="02040503050406030204"/>
                              <a:ea typeface="Cambria Math" panose="02040503050406030204"/>
                            </a:rPr>
                            <m:t>𝜇</m:t>
                          </m:r>
                        </m:e>
                        <m:sub>
                          <m:r>
                            <m:rPr>
                              <m:sty m:val="p"/>
                            </m:rPr>
                            <a:rPr lang="en-US" sz="2000" dirty="0">
                              <a:latin typeface="Cambria Math" panose="02040503050406030204"/>
                              <a:ea typeface="Cambria Math" panose="02040503050406030204"/>
                            </a:rPr>
                            <m:t>Z</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b>
                      </m:sSub>
                    </m:oMath>
                  </m:oMathPara>
                </a14:m>
                <a:endParaRPr sz="600" dirty="0"/>
              </a:p>
            </p:txBody>
          </p:sp>
        </mc:Choice>
        <mc:Fallback>
          <p:sp>
            <p:nvSpPr>
              <p:cNvPr id="630" name="textbox 630"/>
              <p:cNvSpPr>
                <a:spLocks noRot="1" noChangeAspect="1" noMove="1" noResize="1" noEditPoints="1" noAdjustHandles="1" noChangeArrowheads="1" noChangeShapeType="1" noTextEdit="1"/>
              </p:cNvSpPr>
              <p:nvPr/>
            </p:nvSpPr>
            <p:spPr>
              <a:xfrm>
                <a:off x="6610350" y="2590800"/>
                <a:ext cx="952500" cy="314325"/>
              </a:xfrm>
              <a:prstGeom prst="rect">
                <a:avLst/>
              </a:prstGeom>
              <a:blipFill rotWithShape="1">
                <a:blip r:embed="rId5"/>
                <a:stretch>
                  <a:fillRect r="-11600"/>
                </a:stretch>
              </a:blipFill>
              <a:ln w="0" cap="flat">
                <a:noFill/>
                <a:prstDash val="solid"/>
                <a:miter lim="0"/>
              </a:ln>
            </p:spPr>
            <p:txBody>
              <a:bodyPr/>
              <a:lstStyle/>
              <a:p>
                <a:r>
                  <a:rPr lang="zh-CN" altLang="en-US">
                    <a:noFill/>
                  </a:rPr>
                  <a:t> </a:t>
                </a:r>
              </a:p>
            </p:txBody>
          </p:sp>
        </mc:Fallback>
      </mc:AlternateContent>
      <p:sp>
        <p:nvSpPr>
          <p:cNvPr id="632" name="textbox 632"/>
          <p:cNvSpPr/>
          <p:nvPr/>
        </p:nvSpPr>
        <p:spPr>
          <a:xfrm>
            <a:off x="6286500" y="3152775"/>
            <a:ext cx="1028700" cy="276225"/>
          </a:xfrm>
          <a:prstGeom prst="rect">
            <a:avLst/>
          </a:prstGeom>
          <a:noFill/>
          <a:ln w="0" cap="flat">
            <a:noFill/>
            <a:prstDash val="solid"/>
            <a:miter lim="0"/>
          </a:ln>
        </p:spPr>
        <p:txBody>
          <a:bodyPr vert="horz" wrap="none" lIns="0" tIns="0" rIns="0" bIns="0"/>
          <a:lstStyle/>
          <a:p>
            <a:pPr marL="314325" indent="-266700" algn="l" rtl="0" eaLnBrk="0">
              <a:buChar char="•"/>
            </a:pPr>
            <a:r>
              <a:rPr sz="18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标准差</a:t>
            </a:r>
            <a:endParaRPr sz="1800" dirty="0"/>
          </a:p>
        </p:txBody>
      </p:sp>
      <mc:AlternateContent xmlns:mc="http://schemas.openxmlformats.org/markup-compatibility/2006">
        <mc:Choice xmlns:a14="http://schemas.microsoft.com/office/drawing/2010/main" Requires="a14">
          <p:sp>
            <p:nvSpPr>
              <p:cNvPr id="634" name="textbox 634"/>
              <p:cNvSpPr/>
              <p:nvPr/>
            </p:nvSpPr>
            <p:spPr>
              <a:xfrm>
                <a:off x="6543675" y="3486150"/>
                <a:ext cx="2676525" cy="4476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2000" dirty="0">
                              <a:latin typeface="Cambria Math" panose="02040503050406030204"/>
                              <a:ea typeface="Cambria Math" panose="02040503050406030204"/>
                            </a:rPr>
                            <m:t>𝜎</m:t>
                          </m:r>
                        </m:e>
                        <m:sub>
                          <m:r>
                            <m:rPr>
                              <m:sty m:val="p"/>
                            </m:rPr>
                            <a:rPr lang="en-US" sz="2000" dirty="0">
                              <a:latin typeface="Cambria Math" panose="02040503050406030204"/>
                              <a:ea typeface="Cambria Math" panose="02040503050406030204"/>
                            </a:rPr>
                            <m:t>z</m:t>
                          </m:r>
                        </m:sub>
                      </m:sSub>
                      <m:r>
                        <a:rPr lang="en-US" sz="2000" dirty="0">
                          <a:latin typeface="Cambria Math" panose="02040503050406030204"/>
                          <a:ea typeface="Cambria Math" panose="02040503050406030204"/>
                        </a:rPr>
                        <m:t>=</m:t>
                      </m:r>
                      <m:rad>
                        <m:radPr>
                          <m:degHide m:val="on"/>
                          <m:ctrlPr>
                            <a:rPr/>
                          </m:ctrlPr>
                        </m:radPr>
                        <m:deg/>
                        <m:e>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sub>
                          </m:sSub>
                        </m:e>
                      </m:rad>
                      <m:r>
                        <a:rPr lang="en-US" sz="2000" dirty="0">
                          <a:latin typeface="Cambria Math" panose="02040503050406030204"/>
                          <a:ea typeface="Cambria Math" panose="02040503050406030204"/>
                        </a:rPr>
                        <m:t>=</m:t>
                      </m:r>
                      <m:rad>
                        <m:radPr>
                          <m:degHide m:val="on"/>
                          <m:ctrlPr>
                            <a:rPr/>
                          </m:ctrlPr>
                        </m:radPr>
                        <m:deg/>
                        <m:e>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sub>
                          </m:sSub>
                          <m:r>
                            <a:rPr lang="en-US" sz="2000" dirty="0">
                              <a:latin typeface="Cambria Math" panose="02040503050406030204"/>
                              <a:ea typeface="Cambria Math" panose="02040503050406030204"/>
                            </a:rPr>
                            <m:t>−</m:t>
                          </m:r>
                          <m:sSubSup>
                            <m:sSubSupPr>
                              <m:ctrlPr>
                                <a:rPr/>
                              </m:ctrlPr>
                            </m:sSubSup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b>
                            <m:sup>
                              <m:r>
                                <a:rPr lang="en-US" sz="2000" dirty="0">
                                  <a:latin typeface="Cambria Math" panose="02040503050406030204"/>
                                  <a:ea typeface="Cambria Math" panose="02040503050406030204"/>
                                </a:rPr>
                                <m:t>2</m:t>
                              </m:r>
                            </m:sup>
                          </m:sSubSup>
                        </m:e>
                      </m:rad>
                    </m:oMath>
                  </m:oMathPara>
                </a14:m>
                <a:endParaRPr sz="600" dirty="0"/>
              </a:p>
            </p:txBody>
          </p:sp>
        </mc:Choice>
        <mc:Fallback>
          <p:sp>
            <p:nvSpPr>
              <p:cNvPr id="634" name="textbox 634"/>
              <p:cNvSpPr>
                <a:spLocks noRot="1" noChangeAspect="1" noMove="1" noResize="1" noEditPoints="1" noAdjustHandles="1" noChangeArrowheads="1" noChangeShapeType="1" noTextEdit="1"/>
              </p:cNvSpPr>
              <p:nvPr/>
            </p:nvSpPr>
            <p:spPr>
              <a:xfrm>
                <a:off x="6543675" y="3486150"/>
                <a:ext cx="2676525" cy="447675"/>
              </a:xfrm>
              <a:prstGeom prst="rect">
                <a:avLst/>
              </a:prstGeom>
              <a:blipFill rotWithShape="1">
                <a:blip r:embed="rId6"/>
                <a:stretch>
                  <a:fillRect r="-8588" b="-23688"/>
                </a:stretch>
              </a:blipFill>
              <a:ln w="0" cap="flat">
                <a:noFill/>
                <a:prstDash val="solid"/>
                <a:miter lim="0"/>
              </a:ln>
            </p:spPr>
            <p:txBody>
              <a:bodyPr/>
              <a:lstStyle/>
              <a:p>
                <a:r>
                  <a:rPr lang="zh-CN" altLang="en-US">
                    <a:noFill/>
                  </a:rPr>
                  <a:t> </a:t>
                </a:r>
              </a:p>
            </p:txBody>
          </p:sp>
        </mc:Fallback>
      </mc:AlternateContent>
      <p:pic>
        <p:nvPicPr>
          <p:cNvPr id="638" name="picture 638"/>
          <p:cNvPicPr>
            <a:picLocks noChangeAspect="1"/>
          </p:cNvPicPr>
          <p:nvPr/>
        </p:nvPicPr>
        <p:blipFill>
          <a:blip r:embed="rId7"/>
          <a:stretch>
            <a:fillRect/>
          </a:stretch>
        </p:blipFill>
        <p:spPr>
          <a:xfrm>
            <a:off x="552450" y="3952875"/>
            <a:ext cx="4686300" cy="2571750"/>
          </a:xfrm>
          <a:prstGeom prst="rect">
            <a:avLst/>
          </a:prstGeom>
        </p:spPr>
      </p:pic>
      <p:sp>
        <p:nvSpPr>
          <p:cNvPr id="640" name="textbox 640"/>
          <p:cNvSpPr/>
          <p:nvPr/>
        </p:nvSpPr>
        <p:spPr>
          <a:xfrm>
            <a:off x="6286500" y="4105275"/>
            <a:ext cx="1257300" cy="266700"/>
          </a:xfrm>
          <a:prstGeom prst="rect">
            <a:avLst/>
          </a:prstGeom>
          <a:noFill/>
          <a:ln w="0" cap="flat">
            <a:noFill/>
            <a:prstDash val="solid"/>
            <a:miter lim="0"/>
          </a:ln>
        </p:spPr>
        <p:txBody>
          <a:bodyPr vert="horz" wrap="none" lIns="0" tIns="0" rIns="0" bIns="0"/>
          <a:lstStyle/>
          <a:p>
            <a:pPr marL="314325" indent="-257175" algn="l" rtl="0" eaLnBrk="0">
              <a:buChar char="•"/>
            </a:pPr>
            <a:r>
              <a:rPr sz="1800" b="1" kern="0" spc="0" dirty="0">
                <a:solidFill>
                  <a:srgbClr val="003F72">
                    <a:alpha val="100000"/>
                  </a:srgbClr>
                </a:solidFill>
                <a:latin typeface="微软雅黑" panose="020B0503020204020204" charset="-122"/>
                <a:ea typeface="微软雅黑" panose="020B0503020204020204" charset="-122"/>
                <a:cs typeface="微软雅黑" panose="020B0503020204020204" charset="-122"/>
              </a:rPr>
              <a:t>偏度系数</a:t>
            </a:r>
            <a:endParaRPr sz="1800" dirty="0"/>
          </a:p>
        </p:txBody>
      </p:sp>
      <mc:AlternateContent xmlns:mc="http://schemas.openxmlformats.org/markup-compatibility/2006">
        <mc:Choice xmlns:a14="http://schemas.microsoft.com/office/drawing/2010/main" Requires="a14">
          <p:sp>
            <p:nvSpPr>
              <p:cNvPr id="642" name="textbox 642"/>
              <p:cNvSpPr/>
              <p:nvPr/>
            </p:nvSpPr>
            <p:spPr>
              <a:xfrm>
                <a:off x="6543675" y="4457700"/>
                <a:ext cx="3943350" cy="7429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2400" dirty="0">
                              <a:latin typeface="Cambria Math" panose="02040503050406030204"/>
                              <a:ea typeface="Cambria Math" panose="02040503050406030204"/>
                            </a:rPr>
                            <m:t>𝛾</m:t>
                          </m:r>
                        </m:e>
                        <m:sub>
                          <m:r>
                            <m:rPr>
                              <m:sty m:val="p"/>
                            </m:rPr>
                            <a:rPr lang="en-US" sz="2400" dirty="0">
                              <a:latin typeface="Cambria Math" panose="02040503050406030204"/>
                              <a:ea typeface="Cambria Math" panose="02040503050406030204"/>
                            </a:rPr>
                            <m:t>Z</m:t>
                          </m:r>
                        </m:sub>
                      </m:sSub>
                      <m:r>
                        <a:rPr lang="en-US" sz="2400" dirty="0">
                          <a:latin typeface="Cambria Math" panose="02040503050406030204"/>
                          <a:ea typeface="Cambria Math" panose="02040503050406030204"/>
                        </a:rPr>
                        <m:t>=</m:t>
                      </m:r>
                      <m:f>
                        <m:fPr>
                          <m:ctrlPr>
                            <a:rPr/>
                          </m:ctrlPr>
                        </m:fPr>
                        <m:num>
                          <m:sSub>
                            <m:sSubPr>
                              <m:ctrlPr>
                                <a:rPr/>
                              </m:ctrlPr>
                            </m:sSubPr>
                            <m:e>
                              <m:r>
                                <m:rPr>
                                  <m:sty m:val="p"/>
                                </m:rPr>
                                <a:rPr lang="en-US" sz="2400" dirty="0">
                                  <a:latin typeface="Cambria Math" panose="02040503050406030204"/>
                                  <a:ea typeface="Cambria Math" panose="02040503050406030204"/>
                                </a:rPr>
                                <m:t>m</m:t>
                              </m:r>
                            </m:e>
                            <m:sub>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3</m:t>
                              </m:r>
                            </m:sub>
                          </m:sSub>
                        </m:num>
                        <m:den>
                          <m:sSubSup>
                            <m:sSubSupPr>
                              <m:ctrlPr>
                                <a:rPr/>
                              </m:ctrlPr>
                            </m:sSubSupPr>
                            <m:e>
                              <m:r>
                                <a:rPr lang="en-US" sz="2400" dirty="0">
                                  <a:latin typeface="Cambria Math" panose="02040503050406030204"/>
                                  <a:ea typeface="Cambria Math" panose="02040503050406030204"/>
                                </a:rPr>
                                <m:t>𝜎</m:t>
                              </m:r>
                            </m:e>
                            <m:sub>
                              <m:r>
                                <m:rPr>
                                  <m:sty m:val="p"/>
                                </m:rPr>
                                <a:rPr lang="en-US" sz="2400" dirty="0">
                                  <a:latin typeface="Cambria Math" panose="02040503050406030204"/>
                                  <a:ea typeface="Cambria Math" panose="02040503050406030204"/>
                                </a:rPr>
                                <m:t>Z</m:t>
                              </m:r>
                            </m:sub>
                            <m:sup>
                              <m:r>
                                <a:rPr lang="en-US" sz="2400" dirty="0">
                                  <a:latin typeface="Cambria Math" panose="02040503050406030204"/>
                                  <a:ea typeface="Cambria Math" panose="02040503050406030204"/>
                                </a:rPr>
                                <m:t>3</m:t>
                              </m:r>
                            </m:sup>
                          </m:sSubSup>
                        </m:den>
                      </m:f>
                      <m:r>
                        <a:rPr lang="en-US" sz="2400" dirty="0">
                          <a:latin typeface="Cambria Math" panose="02040503050406030204"/>
                          <a:ea typeface="Cambria Math" panose="02040503050406030204"/>
                        </a:rPr>
                        <m:t>=</m:t>
                      </m:r>
                      <m:f>
                        <m:fPr>
                          <m:ctrlPr>
                            <a:rPr/>
                          </m:ctrlPr>
                        </m:fPr>
                        <m:num>
                          <m:sSub>
                            <m:sSubPr>
                              <m:ctrlPr>
                                <a:rPr/>
                              </m:ctrlPr>
                            </m:sSubPr>
                            <m:e>
                              <m:r>
                                <m:rPr>
                                  <m:sty m:val="p"/>
                                </m:rPr>
                                <a:rPr lang="en-US" sz="2400" dirty="0">
                                  <a:latin typeface="Cambria Math" panose="02040503050406030204"/>
                                  <a:ea typeface="Cambria Math" panose="02040503050406030204"/>
                                </a:rPr>
                                <m:t>M</m:t>
                              </m:r>
                            </m:e>
                            <m:sub>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3</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3</m:t>
                          </m:r>
                          <m:sSub>
                            <m:sSubPr>
                              <m:ctrlPr>
                                <a:rPr/>
                              </m:ctrlPr>
                            </m:sSubPr>
                            <m:e>
                              <m:r>
                                <m:rPr>
                                  <m:sty m:val="p"/>
                                </m:rPr>
                                <a:rPr lang="en-US" sz="2400" dirty="0">
                                  <a:latin typeface="Cambria Math" panose="02040503050406030204"/>
                                  <a:ea typeface="Cambria Math" panose="02040503050406030204"/>
                                </a:rPr>
                                <m:t>M</m:t>
                              </m:r>
                            </m:e>
                            <m:sub>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sub>
                          </m:sSub>
                          <m:sSub>
                            <m:sSubPr>
                              <m:ctrlPr>
                                <a:rPr/>
                              </m:ctrlPr>
                            </m:sSubPr>
                            <m:e>
                              <m:r>
                                <m:rPr>
                                  <m:sty m:val="p"/>
                                </m:rPr>
                                <a:rPr lang="en-US" sz="2400" dirty="0">
                                  <a:latin typeface="Cambria Math" panose="02040503050406030204"/>
                                  <a:ea typeface="Cambria Math" panose="02040503050406030204"/>
                                </a:rPr>
                                <m:t>M</m:t>
                              </m:r>
                            </m:e>
                            <m:sub>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sSubSup>
                            <m:sSubSupPr>
                              <m:ctrlPr>
                                <a:rPr/>
                              </m:ctrlPr>
                            </m:sSubSupPr>
                            <m:e>
                              <m:r>
                                <m:rPr>
                                  <m:sty m:val="p"/>
                                </m:rPr>
                                <a:rPr lang="en-US" sz="2400" dirty="0">
                                  <a:latin typeface="Cambria Math" panose="02040503050406030204"/>
                                  <a:ea typeface="Cambria Math" panose="02040503050406030204"/>
                                </a:rPr>
                                <m:t>M</m:t>
                              </m:r>
                            </m:e>
                            <m:sub>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sub>
                            <m:sup>
                              <m:r>
                                <a:rPr lang="en-US" sz="2400" dirty="0">
                                  <a:latin typeface="Cambria Math" panose="02040503050406030204"/>
                                  <a:ea typeface="Cambria Math" panose="02040503050406030204"/>
                                </a:rPr>
                                <m:t>3</m:t>
                              </m:r>
                            </m:sup>
                          </m:sSubSup>
                        </m:num>
                        <m:den>
                          <m:sSubSup>
                            <m:sSubSupPr>
                              <m:ctrlPr>
                                <a:rPr/>
                              </m:ctrlPr>
                            </m:sSubSupPr>
                            <m:e>
                              <m:r>
                                <a:rPr lang="en-US" sz="2400" dirty="0">
                                  <a:latin typeface="Cambria Math" panose="02040503050406030204"/>
                                  <a:ea typeface="Cambria Math" panose="02040503050406030204"/>
                                </a:rPr>
                                <m:t>𝜎</m:t>
                              </m:r>
                            </m:e>
                            <m:sub>
                              <m:r>
                                <m:rPr>
                                  <m:sty m:val="p"/>
                                </m:rPr>
                                <a:rPr lang="en-US" sz="2400" dirty="0">
                                  <a:latin typeface="Cambria Math" panose="02040503050406030204"/>
                                  <a:ea typeface="Cambria Math" panose="02040503050406030204"/>
                                </a:rPr>
                                <m:t>Z</m:t>
                              </m:r>
                            </m:sub>
                            <m:sup>
                              <m:r>
                                <a:rPr lang="en-US" sz="2400" dirty="0">
                                  <a:latin typeface="Cambria Math" panose="02040503050406030204"/>
                                  <a:ea typeface="Cambria Math" panose="02040503050406030204"/>
                                </a:rPr>
                                <m:t>3</m:t>
                              </m:r>
                            </m:sup>
                          </m:sSubSup>
                        </m:den>
                      </m:f>
                    </m:oMath>
                  </m:oMathPara>
                </a14:m>
                <a:endParaRPr sz="600" dirty="0"/>
              </a:p>
            </p:txBody>
          </p:sp>
        </mc:Choice>
        <mc:Fallback>
          <p:sp>
            <p:nvSpPr>
              <p:cNvPr id="642" name="textbox 642"/>
              <p:cNvSpPr>
                <a:spLocks noRot="1" noChangeAspect="1" noMove="1" noResize="1" noEditPoints="1" noAdjustHandles="1" noChangeArrowheads="1" noChangeShapeType="1" noTextEdit="1"/>
              </p:cNvSpPr>
              <p:nvPr/>
            </p:nvSpPr>
            <p:spPr>
              <a:xfrm>
                <a:off x="6543675" y="4457700"/>
                <a:ext cx="3943350" cy="742950"/>
              </a:xfrm>
              <a:prstGeom prst="rect">
                <a:avLst/>
              </a:prstGeom>
              <a:blipFill rotWithShape="1">
                <a:blip r:embed="rId8"/>
                <a:stretch>
                  <a:fillRect r="-23205" b="-5043"/>
                </a:stretch>
              </a:blipFill>
              <a:ln w="0" cap="flat">
                <a:noFill/>
                <a:prstDash val="solid"/>
                <a:miter lim="0"/>
              </a:ln>
            </p:spPr>
            <p:txBody>
              <a:bodyPr/>
              <a:lstStyle/>
              <a:p>
                <a:r>
                  <a:rPr lang="zh-CN" altLang="en-US">
                    <a:noFill/>
                  </a:rPr>
                  <a:t> </a:t>
                </a:r>
              </a:p>
            </p:txBody>
          </p:sp>
        </mc:Fallback>
      </mc:AlternateContent>
      <p:sp>
        <p:nvSpPr>
          <p:cNvPr id="644" name="textbox 644"/>
          <p:cNvSpPr/>
          <p:nvPr/>
        </p:nvSpPr>
        <p:spPr>
          <a:xfrm>
            <a:off x="6296025" y="5353050"/>
            <a:ext cx="1323975" cy="266700"/>
          </a:xfrm>
          <a:prstGeom prst="rect">
            <a:avLst/>
          </a:prstGeom>
          <a:noFill/>
          <a:ln w="0" cap="flat">
            <a:noFill/>
            <a:prstDash val="solid"/>
            <a:miter lim="0"/>
          </a:ln>
        </p:spPr>
        <p:txBody>
          <a:bodyPr vert="horz" wrap="none" lIns="0" tIns="0" rIns="0" bIns="0"/>
          <a:lstStyle/>
          <a:p>
            <a:pPr marL="304800" indent="-257175" algn="l" rtl="0" eaLnBrk="0">
              <a:buChar char="•"/>
            </a:pPr>
            <a:r>
              <a:rPr sz="1800" b="1" kern="0" spc="0" dirty="0">
                <a:solidFill>
                  <a:srgbClr val="003F72">
                    <a:alpha val="100000"/>
                  </a:srgbClr>
                </a:solidFill>
                <a:latin typeface="微软雅黑" panose="020B0503020204020204" charset="-122"/>
                <a:ea typeface="微软雅黑" panose="020B0503020204020204" charset="-122"/>
                <a:cs typeface="微软雅黑" panose="020B0503020204020204" charset="-122"/>
              </a:rPr>
              <a:t>峰度系数:</a:t>
            </a:r>
            <a:endParaRPr sz="1800" dirty="0"/>
          </a:p>
        </p:txBody>
      </p:sp>
      <mc:AlternateContent xmlns:mc="http://schemas.openxmlformats.org/markup-compatibility/2006">
        <mc:Choice xmlns:a14="http://schemas.microsoft.com/office/drawing/2010/main" Requires="a14">
          <p:sp>
            <p:nvSpPr>
              <p:cNvPr id="646" name="textbox 646"/>
              <p:cNvSpPr/>
              <p:nvPr/>
            </p:nvSpPr>
            <p:spPr>
              <a:xfrm>
                <a:off x="6543675" y="5695950"/>
                <a:ext cx="5257800" cy="7239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2000" dirty="0">
                              <a:latin typeface="Cambria Math" panose="02040503050406030204"/>
                              <a:ea typeface="Cambria Math" panose="02040503050406030204"/>
                            </a:rPr>
                            <m:t>𝜅</m:t>
                          </m:r>
                        </m:e>
                        <m:sub>
                          <m:r>
                            <m:rPr>
                              <m:sty m:val="p"/>
                            </m:rPr>
                            <a:rPr lang="en-US" sz="2000" dirty="0">
                              <a:latin typeface="Cambria Math" panose="02040503050406030204"/>
                              <a:ea typeface="Cambria Math" panose="02040503050406030204"/>
                            </a:rPr>
                            <m:t>Z</m:t>
                          </m:r>
                        </m:sub>
                      </m:sSub>
                      <m:r>
                        <a:rPr lang="en-US" sz="2000" dirty="0">
                          <a:latin typeface="Cambria Math" panose="02040503050406030204"/>
                          <a:ea typeface="Cambria Math" panose="02040503050406030204"/>
                        </a:rPr>
                        <m:t>=</m:t>
                      </m:r>
                      <m:f>
                        <m:fPr>
                          <m:ctrlPr>
                            <a:rPr/>
                          </m:ctrlPr>
                        </m:fPr>
                        <m:num>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4</m:t>
                              </m:r>
                            </m:sub>
                          </m:sSub>
                        </m:num>
                        <m:den>
                          <m:sSubSup>
                            <m:sSubSupPr>
                              <m:ctrlPr>
                                <a:rPr/>
                              </m:ctrlPr>
                            </m:sSubSupPr>
                            <m:e>
                              <m:r>
                                <a:rPr lang="en-US" sz="2000" dirty="0">
                                  <a:latin typeface="Cambria Math" panose="02040503050406030204"/>
                                  <a:ea typeface="Cambria Math" panose="02040503050406030204"/>
                                </a:rPr>
                                <m:t>𝜎</m:t>
                              </m:r>
                            </m:e>
                            <m:sub>
                              <m:r>
                                <m:rPr>
                                  <m:sty m:val="p"/>
                                </m:rPr>
                                <a:rPr lang="en-US" sz="2000" dirty="0">
                                  <a:latin typeface="Cambria Math" panose="02040503050406030204"/>
                                  <a:ea typeface="Cambria Math" panose="02040503050406030204"/>
                                </a:rPr>
                                <m:t>Z</m:t>
                              </m:r>
                            </m:sub>
                            <m:sup>
                              <m:r>
                                <a:rPr lang="en-US" sz="2000" dirty="0">
                                  <a:latin typeface="Cambria Math" panose="02040503050406030204"/>
                                  <a:ea typeface="Cambria Math" panose="02040503050406030204"/>
                                </a:rPr>
                                <m:t>4</m:t>
                              </m:r>
                            </m:sup>
                          </m:sSubSup>
                        </m:den>
                      </m:f>
                      <m:r>
                        <a:rPr lang="en-US" sz="2000" dirty="0">
                          <a:latin typeface="Cambria Math" panose="02040503050406030204"/>
                          <a:ea typeface="Cambria Math" panose="02040503050406030204"/>
                        </a:rPr>
                        <m:t>=</m:t>
                      </m:r>
                      <m:f>
                        <m:fPr>
                          <m:ctrlPr>
                            <a:rPr/>
                          </m:ctrlPr>
                        </m:fPr>
                        <m:num>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4</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4</m:t>
                          </m:r>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3</m:t>
                              </m:r>
                            </m:sub>
                          </m:sSub>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6</m:t>
                          </m:r>
                          <m:sSub>
                            <m:sSubPr>
                              <m:ctrlPr>
                                <a:rPr/>
                              </m:ctrlPr>
                            </m:sSub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sub>
                          </m:sSub>
                          <m:sSubSup>
                            <m:sSubSupPr>
                              <m:ctrlPr>
                                <a:rPr/>
                              </m:ctrlPr>
                            </m:sSubSup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b>
                            <m:sup>
                              <m:r>
                                <a:rPr lang="en-US" sz="2000" dirty="0">
                                  <a:latin typeface="Cambria Math" panose="02040503050406030204"/>
                                  <a:ea typeface="Cambria Math" panose="02040503050406030204"/>
                                </a:rPr>
                                <m:t>2</m:t>
                              </m:r>
                            </m:sup>
                          </m:sSubSup>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3</m:t>
                          </m:r>
                          <m:sSubSup>
                            <m:sSubSupPr>
                              <m:ctrlPr>
                                <a:rPr/>
                              </m:ctrlPr>
                            </m:sSubSupPr>
                            <m:e>
                              <m:r>
                                <m:rPr>
                                  <m:sty m:val="p"/>
                                </m:rPr>
                                <a:rPr lang="en-US" sz="2000" dirty="0">
                                  <a:latin typeface="Cambria Math" panose="02040503050406030204"/>
                                  <a:ea typeface="Cambria Math" panose="02040503050406030204"/>
                                </a:rPr>
                                <m:t>M</m:t>
                              </m:r>
                            </m:e>
                            <m:sub>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b>
                            <m:sup>
                              <m:r>
                                <a:rPr lang="en-US" sz="2000" dirty="0">
                                  <a:latin typeface="Cambria Math" panose="02040503050406030204"/>
                                  <a:ea typeface="Cambria Math" panose="02040503050406030204"/>
                                </a:rPr>
                                <m:t>4</m:t>
                              </m:r>
                            </m:sup>
                          </m:sSubSup>
                        </m:num>
                        <m:den>
                          <m:sSubSup>
                            <m:sSubSupPr>
                              <m:ctrlPr>
                                <a:rPr/>
                              </m:ctrlPr>
                            </m:sSubSupPr>
                            <m:e>
                              <m:r>
                                <a:rPr lang="en-US" sz="2000" dirty="0">
                                  <a:latin typeface="Cambria Math" panose="02040503050406030204"/>
                                  <a:ea typeface="Cambria Math" panose="02040503050406030204"/>
                                </a:rPr>
                                <m:t>𝜎</m:t>
                              </m:r>
                            </m:e>
                            <m:sub>
                              <m:r>
                                <m:rPr>
                                  <m:sty m:val="p"/>
                                </m:rPr>
                                <a:rPr lang="en-US" sz="2000" dirty="0">
                                  <a:latin typeface="Cambria Math" panose="02040503050406030204"/>
                                  <a:ea typeface="Cambria Math" panose="02040503050406030204"/>
                                </a:rPr>
                                <m:t>Z</m:t>
                              </m:r>
                            </m:sub>
                            <m:sup>
                              <m:r>
                                <a:rPr lang="en-US" sz="2000" dirty="0">
                                  <a:latin typeface="Cambria Math" panose="02040503050406030204"/>
                                  <a:ea typeface="Cambria Math" panose="02040503050406030204"/>
                                </a:rPr>
                                <m:t>4</m:t>
                              </m:r>
                            </m:sup>
                          </m:sSubSup>
                        </m:den>
                      </m:f>
                    </m:oMath>
                  </m:oMathPara>
                </a14:m>
                <a:endParaRPr sz="600" dirty="0"/>
              </a:p>
            </p:txBody>
          </p:sp>
        </mc:Choice>
        <mc:Fallback>
          <p:sp>
            <p:nvSpPr>
              <p:cNvPr id="646" name="textbox 646"/>
              <p:cNvSpPr>
                <a:spLocks noRot="1" noChangeAspect="1" noMove="1" noResize="1" noEditPoints="1" noAdjustHandles="1" noChangeArrowheads="1" noChangeShapeType="1" noTextEdit="1"/>
              </p:cNvSpPr>
              <p:nvPr/>
            </p:nvSpPr>
            <p:spPr>
              <a:xfrm>
                <a:off x="6543675" y="5695950"/>
                <a:ext cx="5257800" cy="723900"/>
              </a:xfrm>
              <a:prstGeom prst="rect">
                <a:avLst/>
              </a:prstGeom>
              <a:blipFill rotWithShape="1">
                <a:blip r:embed="rId9"/>
                <a:stretch>
                  <a:fillRect r="-4662"/>
                </a:stretch>
              </a:blipFill>
              <a:ln w="0" cap="flat">
                <a:noFill/>
                <a:prstDash val="solid"/>
                <a:miter lim="0"/>
              </a:ln>
            </p:spPr>
            <p:txBody>
              <a:bodyPr/>
              <a:lstStyle/>
              <a:p>
                <a:r>
                  <a:rPr lang="zh-CN" altLang="en-US">
                    <a:noFill/>
                  </a:rPr>
                  <a:t> </a:t>
                </a:r>
              </a:p>
            </p:txBody>
          </p:sp>
        </mc:Fallback>
      </mc:AlternateContent>
      <p:sp>
        <p:nvSpPr>
          <p:cNvPr id="648" name="textbox 64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650" name="textbox 650"/>
          <p:cNvSpPr/>
          <p:nvPr/>
        </p:nvSpPr>
        <p:spPr>
          <a:xfrm>
            <a:off x="11763375" y="6734175"/>
            <a:ext cx="171450" cy="114300"/>
          </a:xfrm>
          <a:prstGeom prst="rect">
            <a:avLst/>
          </a:prstGeom>
          <a:noFill/>
          <a:ln w="0" cap="flat">
            <a:noFill/>
            <a:prstDash val="solid"/>
            <a:miter lim="0"/>
          </a:ln>
        </p:spPr>
        <p:txBody>
          <a:bodyPr vert="horz" wrap="none" lIns="0" tIns="0" rIns="0" bIns="0"/>
          <a:lstStyle/>
          <a:p>
            <a:pPr algn="l" rtl="0" eaLnBrk="0"/>
            <a:r>
              <a:rPr sz="1000" kern="0" spc="450" dirty="0">
                <a:solidFill>
                  <a:srgbClr val="FFFFFF">
                    <a:alpha val="100000"/>
                  </a:srgbClr>
                </a:solidFill>
                <a:latin typeface="Arial" panose="020B0604020202020204"/>
                <a:ea typeface="Arial" panose="020B0604020202020204"/>
                <a:cs typeface="Arial" panose="020B0604020202020204"/>
              </a:rPr>
              <a:t>15</a:t>
            </a:r>
            <a:endParaRPr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4" name="picture 654"/>
          <p:cNvPicPr>
            <a:picLocks noChangeAspect="1"/>
          </p:cNvPicPr>
          <p:nvPr/>
        </p:nvPicPr>
        <p:blipFill>
          <a:blip r:embed="rId1"/>
          <a:stretch>
            <a:fillRect/>
          </a:stretch>
        </p:blipFill>
        <p:spPr>
          <a:xfrm>
            <a:off x="0" y="0"/>
            <a:ext cx="12192000" cy="6858000"/>
          </a:xfrm>
          <a:prstGeom prst="rect">
            <a:avLst/>
          </a:prstGeom>
        </p:spPr>
      </p:pic>
      <p:pic>
        <p:nvPicPr>
          <p:cNvPr id="658" name="picture 658"/>
          <p:cNvPicPr>
            <a:picLocks noChangeAspect="1"/>
          </p:cNvPicPr>
          <p:nvPr/>
        </p:nvPicPr>
        <p:blipFill>
          <a:blip r:embed="rId2"/>
          <a:stretch>
            <a:fillRect/>
          </a:stretch>
        </p:blipFill>
        <p:spPr>
          <a:xfrm>
            <a:off x="1228725" y="752475"/>
            <a:ext cx="1285875" cy="1171575"/>
          </a:xfrm>
          <a:prstGeom prst="rect">
            <a:avLst/>
          </a:prstGeom>
        </p:spPr>
      </p:pic>
      <p:sp>
        <p:nvSpPr>
          <p:cNvPr id="660" name="textbox 660"/>
          <p:cNvSpPr/>
          <p:nvPr/>
        </p:nvSpPr>
        <p:spPr>
          <a:xfrm>
            <a:off x="1657350" y="3086100"/>
            <a:ext cx="419100" cy="561975"/>
          </a:xfrm>
          <a:prstGeom prst="rect">
            <a:avLst/>
          </a:prstGeom>
          <a:noFill/>
          <a:ln w="0" cap="flat">
            <a:noFill/>
            <a:prstDash val="solid"/>
            <a:miter lim="0"/>
          </a:ln>
        </p:spPr>
        <p:txBody>
          <a:bodyPr vert="horz" wrap="none" lIns="0" tIns="0" rIns="0" bIns="0"/>
          <a:lstStyle/>
          <a:p>
            <a:pPr algn="l" rtl="0" eaLnBrk="0"/>
            <a:r>
              <a:rPr sz="5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2</a:t>
            </a:r>
            <a:endParaRPr sz="5400" dirty="0"/>
          </a:p>
        </p:txBody>
      </p:sp>
      <p:sp>
        <p:nvSpPr>
          <p:cNvPr id="662" name="textbox 662"/>
          <p:cNvSpPr/>
          <p:nvPr/>
        </p:nvSpPr>
        <p:spPr>
          <a:xfrm>
            <a:off x="952500" y="3981450"/>
            <a:ext cx="1847850" cy="352425"/>
          </a:xfrm>
          <a:prstGeom prst="rect">
            <a:avLst/>
          </a:prstGeom>
          <a:noFill/>
          <a:ln w="0" cap="flat">
            <a:noFill/>
            <a:prstDash val="solid"/>
            <a:miter lim="0"/>
          </a:ln>
        </p:spPr>
        <p:txBody>
          <a:bodyPr vert="horz" wrap="none" lIns="0" tIns="0" rIns="0" bIns="0"/>
          <a:lstStyle/>
          <a:p>
            <a:pPr algn="l" rtl="0" eaLnBrk="0"/>
            <a:r>
              <a:rPr sz="2600" kern="0" spc="0" dirty="0">
                <a:solidFill>
                  <a:srgbClr val="FFFFFF">
                    <a:alpha val="100000"/>
                  </a:srgbClr>
                </a:solidFill>
                <a:latin typeface="Arial" panose="020B0604020202020204"/>
                <a:ea typeface="Arial" panose="020B0604020202020204"/>
                <a:cs typeface="Arial" panose="020B0604020202020204"/>
              </a:rPr>
              <a:t>PART TWO</a:t>
            </a:r>
            <a:endParaRPr sz="2600" dirty="0"/>
          </a:p>
        </p:txBody>
      </p:sp>
      <p:sp>
        <p:nvSpPr>
          <p:cNvPr id="664" name="textbox 664"/>
          <p:cNvSpPr/>
          <p:nvPr/>
        </p:nvSpPr>
        <p:spPr>
          <a:xfrm>
            <a:off x="4914900" y="2609850"/>
            <a:ext cx="6305550" cy="666750"/>
          </a:xfrm>
          <a:prstGeom prst="rect">
            <a:avLst/>
          </a:prstGeom>
          <a:noFill/>
          <a:ln w="0" cap="flat">
            <a:noFill/>
            <a:prstDash val="solid"/>
            <a:miter lim="0"/>
          </a:ln>
        </p:spPr>
        <p:txBody>
          <a:bodyPr vert="horz" wrap="none" lIns="0" tIns="0" rIns="0" bIns="0"/>
          <a:lstStyle/>
          <a:p>
            <a:pPr algn="l" rtl="0" eaLnBrk="0"/>
            <a:r>
              <a:rPr sz="4800" b="1" kern="0" spc="0" dirty="0">
                <a:solidFill>
                  <a:srgbClr val="172B5A">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4800" dirty="0"/>
          </a:p>
        </p:txBody>
      </p:sp>
      <p:sp>
        <p:nvSpPr>
          <p:cNvPr id="666" name="textbox 666"/>
          <p:cNvSpPr/>
          <p:nvPr/>
        </p:nvSpPr>
        <p:spPr>
          <a:xfrm>
            <a:off x="4857750" y="3514725"/>
            <a:ext cx="6477000" cy="600075"/>
          </a:xfrm>
          <a:prstGeom prst="rect">
            <a:avLst/>
          </a:prstGeom>
          <a:noFill/>
          <a:ln w="0" cap="flat">
            <a:noFill/>
            <a:prstDash val="solid"/>
            <a:miter lim="0"/>
          </a:ln>
        </p:spPr>
        <p:txBody>
          <a:bodyPr vert="horz" wrap="none" lIns="0" tIns="0" rIns="0" bIns="0"/>
          <a:lstStyle/>
          <a:p>
            <a:pPr algn="l" rtl="0" eaLnBrk="0"/>
            <a:r>
              <a:rPr sz="2000" kern="0" spc="0" dirty="0">
                <a:solidFill>
                  <a:srgbClr val="1B315E">
                    <a:alpha val="100000"/>
                  </a:srgbClr>
                </a:solidFill>
                <a:latin typeface="Arial" panose="020B0604020202020204"/>
                <a:ea typeface="Arial" panose="020B0604020202020204"/>
                <a:cs typeface="Arial" panose="020B0604020202020204"/>
              </a:rPr>
              <a:t>Categorization and Formulations of Dimension-Reduction</a:t>
            </a:r>
            <a:endParaRPr sz="2000" dirty="0"/>
          </a:p>
          <a:p>
            <a:pPr marL="2314575" algn="l" rtl="0" eaLnBrk="0"/>
            <a:r>
              <a:rPr sz="2000" kern="0" spc="0" dirty="0">
                <a:solidFill>
                  <a:srgbClr val="1B315E">
                    <a:alpha val="100000"/>
                  </a:srgbClr>
                </a:solidFill>
                <a:latin typeface="Arial" panose="020B0604020202020204"/>
                <a:ea typeface="Arial" panose="020B0604020202020204"/>
                <a:cs typeface="Arial" panose="020B0604020202020204"/>
              </a:rPr>
              <a:t>Models (DRMs)</a:t>
            </a:r>
            <a:endParaRPr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0" name="picture 670"/>
          <p:cNvPicPr>
            <a:picLocks noChangeAspect="1"/>
          </p:cNvPicPr>
          <p:nvPr/>
        </p:nvPicPr>
        <p:blipFill>
          <a:blip r:embed="rId1"/>
          <a:stretch>
            <a:fillRect/>
          </a:stretch>
        </p:blipFill>
        <p:spPr>
          <a:xfrm>
            <a:off x="0" y="0"/>
            <a:ext cx="12192000" cy="6858000"/>
          </a:xfrm>
          <a:prstGeom prst="rect">
            <a:avLst/>
          </a:prstGeom>
        </p:spPr>
      </p:pic>
      <p:sp>
        <p:nvSpPr>
          <p:cNvPr id="672" name="textbox 672"/>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674" name="textbox 674"/>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676" name="textbox 67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680" name="picture 680"/>
          <p:cNvPicPr>
            <a:picLocks noChangeAspect="1"/>
          </p:cNvPicPr>
          <p:nvPr/>
        </p:nvPicPr>
        <p:blipFill>
          <a:blip r:embed="rId2"/>
          <a:stretch>
            <a:fillRect/>
          </a:stretch>
        </p:blipFill>
        <p:spPr>
          <a:xfrm>
            <a:off x="304800" y="247650"/>
            <a:ext cx="723900" cy="666750"/>
          </a:xfrm>
          <a:prstGeom prst="rect">
            <a:avLst/>
          </a:prstGeom>
        </p:spPr>
      </p:pic>
      <p:sp>
        <p:nvSpPr>
          <p:cNvPr id="682" name="textbox 682"/>
          <p:cNvSpPr/>
          <p:nvPr/>
        </p:nvSpPr>
        <p:spPr>
          <a:xfrm>
            <a:off x="1457325" y="333375"/>
            <a:ext cx="376237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684" name="textbox 684"/>
          <p:cNvSpPr/>
          <p:nvPr/>
        </p:nvSpPr>
        <p:spPr>
          <a:xfrm>
            <a:off x="1457325" y="752475"/>
            <a:ext cx="5819775" cy="200025"/>
          </a:xfrm>
          <a:prstGeom prst="rect">
            <a:avLst/>
          </a:prstGeom>
          <a:noFill/>
          <a:ln w="0" cap="flat">
            <a:noFill/>
            <a:prstDash val="solid"/>
            <a:miter lim="0"/>
          </a:ln>
        </p:spPr>
        <p:txBody>
          <a:bodyPr vert="horz" wrap="none" lIns="0" tIns="0" rIns="0" bIns="0"/>
          <a:lstStyle/>
          <a:p>
            <a:pPr algn="l" rtl="0" eaLnBrk="0"/>
            <a:r>
              <a:rPr sz="1400" kern="0" spc="0" dirty="0">
                <a:solidFill>
                  <a:srgbClr val="D0EBF7">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686" name="textbox 686"/>
          <p:cNvSpPr/>
          <p:nvPr/>
        </p:nvSpPr>
        <p:spPr>
          <a:xfrm>
            <a:off x="4991100" y="1304925"/>
            <a:ext cx="3895725" cy="333375"/>
          </a:xfrm>
          <a:prstGeom prst="rect">
            <a:avLst/>
          </a:prstGeom>
          <a:noFill/>
          <a:ln w="0" cap="flat">
            <a:noFill/>
            <a:prstDash val="solid"/>
            <a:miter lim="0"/>
          </a:ln>
        </p:spPr>
        <p:txBody>
          <a:bodyPr vert="horz" wrap="none" lIns="0" tIns="0" rIns="0" bIns="0"/>
          <a:lstStyle/>
          <a:p>
            <a:pPr algn="l" rtl="0" eaLnBrk="0"/>
            <a:r>
              <a:rPr sz="24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变量降维模型：加和表达式</a:t>
            </a:r>
            <a:endParaRPr sz="2400" dirty="0"/>
          </a:p>
        </p:txBody>
      </p:sp>
      <p:sp>
        <p:nvSpPr>
          <p:cNvPr id="688" name="textbox 688"/>
          <p:cNvSpPr/>
          <p:nvPr/>
        </p:nvSpPr>
        <p:spPr>
          <a:xfrm>
            <a:off x="5086350" y="1781175"/>
            <a:ext cx="3562350" cy="371475"/>
          </a:xfrm>
          <a:prstGeom prst="rect">
            <a:avLst/>
          </a:prstGeom>
          <a:noFill/>
          <a:ln w="0" cap="flat">
            <a:noFill/>
            <a:prstDash val="solid"/>
            <a:miter lim="0"/>
          </a:ln>
        </p:spPr>
        <p:txBody>
          <a:bodyPr vert="horz" wrap="none" lIns="0" tIns="0" rIns="0" bIns="0"/>
          <a:lstStyle/>
          <a:p>
            <a:pPr algn="l" rtl="0" eaLnBrk="0"/>
            <a:r>
              <a:rPr sz="1200" kern="0" spc="0" dirty="0">
                <a:solidFill>
                  <a:srgbClr val="7030A0">
                    <a:alpha val="100000"/>
                  </a:srgbClr>
                </a:solidFill>
                <a:latin typeface="Times New Roman" panose="02020603050405020304"/>
                <a:ea typeface="Times New Roman" panose="02020603050405020304"/>
                <a:cs typeface="Times New Roman" panose="02020603050405020304"/>
              </a:rPr>
              <a:t>Variable-based Dimension-reduction Models (Va-DRMs):</a:t>
            </a:r>
            <a:endParaRPr sz="1200" dirty="0"/>
          </a:p>
          <a:p>
            <a:pPr marL="1104900" algn="l" rtl="0" eaLnBrk="0">
              <a:spcBef>
                <a:spcPts val="300"/>
              </a:spcBef>
            </a:pPr>
            <a:r>
              <a:rPr sz="1200" kern="0" spc="0" dirty="0">
                <a:solidFill>
                  <a:srgbClr val="7030A0">
                    <a:alpha val="100000"/>
                  </a:srgbClr>
                </a:solidFill>
                <a:latin typeface="Times New Roman" panose="02020603050405020304"/>
                <a:ea typeface="Times New Roman" panose="02020603050405020304"/>
                <a:cs typeface="Times New Roman" panose="02020603050405020304"/>
              </a:rPr>
              <a:t>Additive Formulation</a:t>
            </a:r>
            <a:endParaRPr sz="1200" dirty="0"/>
          </a:p>
        </p:txBody>
      </p:sp>
      <p:sp>
        <p:nvSpPr>
          <p:cNvPr id="690" name="textbox 690"/>
          <p:cNvSpPr/>
          <p:nvPr/>
        </p:nvSpPr>
        <p:spPr>
          <a:xfrm>
            <a:off x="5000625" y="2705100"/>
            <a:ext cx="3886200" cy="323850"/>
          </a:xfrm>
          <a:prstGeom prst="rect">
            <a:avLst/>
          </a:prstGeom>
          <a:noFill/>
          <a:ln w="0" cap="flat">
            <a:noFill/>
            <a:prstDash val="solid"/>
            <a:miter lim="0"/>
          </a:ln>
        </p:spPr>
        <p:txBody>
          <a:bodyPr vert="horz" wrap="none" lIns="0" tIns="0" rIns="0" bIns="0"/>
          <a:lstStyle/>
          <a:p>
            <a:pPr algn="l" rtl="0" eaLnBrk="0"/>
            <a:r>
              <a:rPr sz="24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变量降维模型：乘积表达式</a:t>
            </a:r>
            <a:endParaRPr sz="2400" dirty="0"/>
          </a:p>
        </p:txBody>
      </p:sp>
      <p:sp>
        <p:nvSpPr>
          <p:cNvPr id="692" name="textbox 692"/>
          <p:cNvSpPr/>
          <p:nvPr/>
        </p:nvSpPr>
        <p:spPr>
          <a:xfrm>
            <a:off x="1638300" y="3467100"/>
            <a:ext cx="1543050" cy="40957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a:t>
            </a:r>
            <a:r>
              <a:rPr sz="2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a:t>
            </a:r>
            <a:endParaRPr sz="2800" dirty="0"/>
          </a:p>
        </p:txBody>
      </p:sp>
      <p:sp>
        <p:nvSpPr>
          <p:cNvPr id="694" name="textbox 694"/>
          <p:cNvSpPr/>
          <p:nvPr/>
        </p:nvSpPr>
        <p:spPr>
          <a:xfrm>
            <a:off x="5181600" y="3171825"/>
            <a:ext cx="3552825" cy="361950"/>
          </a:xfrm>
          <a:prstGeom prst="rect">
            <a:avLst/>
          </a:prstGeom>
          <a:noFill/>
          <a:ln w="0" cap="flat">
            <a:noFill/>
            <a:prstDash val="solid"/>
            <a:miter lim="0"/>
          </a:ln>
        </p:spPr>
        <p:txBody>
          <a:bodyPr vert="horz" wrap="none" lIns="0" tIns="0" rIns="0" bIns="0"/>
          <a:lstStyle/>
          <a:p>
            <a:pPr algn="l" rtl="0" eaLnBrk="0"/>
            <a:r>
              <a:rPr sz="1200" kern="0" spc="0" dirty="0">
                <a:solidFill>
                  <a:srgbClr val="7030A0">
                    <a:alpha val="100000"/>
                  </a:srgbClr>
                </a:solidFill>
                <a:latin typeface="Times New Roman" panose="02020603050405020304"/>
                <a:ea typeface="Times New Roman" panose="02020603050405020304"/>
                <a:cs typeface="Times New Roman" panose="02020603050405020304"/>
              </a:rPr>
              <a:t>Variable-based Dimension-reduction Models (Va-DRMs):</a:t>
            </a:r>
            <a:endParaRPr sz="1200" dirty="0"/>
          </a:p>
          <a:p>
            <a:pPr marL="923925" algn="l" rtl="0" eaLnBrk="0">
              <a:spcBef>
                <a:spcPts val="300"/>
              </a:spcBef>
            </a:pPr>
            <a:r>
              <a:rPr sz="1200" kern="0" spc="0" dirty="0">
                <a:solidFill>
                  <a:srgbClr val="7030A0">
                    <a:alpha val="100000"/>
                  </a:srgbClr>
                </a:solidFill>
                <a:latin typeface="Times New Roman" panose="02020603050405020304"/>
                <a:ea typeface="Times New Roman" panose="02020603050405020304"/>
                <a:cs typeface="Times New Roman" panose="02020603050405020304"/>
              </a:rPr>
              <a:t>Multiplicative Formulation</a:t>
            </a:r>
            <a:endParaRPr sz="1200" dirty="0"/>
          </a:p>
        </p:txBody>
      </p:sp>
      <p:sp>
        <p:nvSpPr>
          <p:cNvPr id="696" name="textbox 696"/>
          <p:cNvSpPr/>
          <p:nvPr/>
        </p:nvSpPr>
        <p:spPr>
          <a:xfrm>
            <a:off x="1581150" y="3914775"/>
            <a:ext cx="1600200" cy="3905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Times New Roman" panose="02020603050405020304"/>
                <a:ea typeface="Times New Roman" panose="02020603050405020304"/>
                <a:cs typeface="Times New Roman" panose="02020603050405020304"/>
              </a:rPr>
              <a:t>Dimension-Reduction</a:t>
            </a:r>
            <a:endParaRPr sz="1400" dirty="0"/>
          </a:p>
          <a:p>
            <a:pPr marL="209550" algn="l" rtl="0" eaLnBrk="0"/>
            <a:r>
              <a:rPr sz="1400" kern="0" spc="0" dirty="0">
                <a:solidFill>
                  <a:srgbClr val="FFFFFF">
                    <a:alpha val="100000"/>
                  </a:srgbClr>
                </a:solidFill>
                <a:latin typeface="Times New Roman" panose="02020603050405020304"/>
                <a:ea typeface="Times New Roman" panose="02020603050405020304"/>
                <a:cs typeface="Times New Roman" panose="02020603050405020304"/>
              </a:rPr>
              <a:t>Models (DRMs)</a:t>
            </a:r>
            <a:endParaRPr sz="1400" dirty="0"/>
          </a:p>
        </p:txBody>
      </p:sp>
      <p:sp>
        <p:nvSpPr>
          <p:cNvPr id="698" name="textbox 698"/>
          <p:cNvSpPr/>
          <p:nvPr/>
        </p:nvSpPr>
        <p:spPr>
          <a:xfrm>
            <a:off x="5962650" y="4191000"/>
            <a:ext cx="1962150" cy="342900"/>
          </a:xfrm>
          <a:prstGeom prst="rect">
            <a:avLst/>
          </a:prstGeom>
          <a:noFill/>
          <a:ln w="0" cap="flat">
            <a:noFill/>
            <a:prstDash val="solid"/>
            <a:miter lim="0"/>
          </a:ln>
        </p:spPr>
        <p:txBody>
          <a:bodyPr vert="horz" wrap="none" lIns="0" tIns="0" rIns="0" bIns="0"/>
          <a:lstStyle/>
          <a:p>
            <a:pPr algn="l" rtl="0" eaLnBrk="0"/>
            <a:r>
              <a:rPr sz="24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向量降维模型</a:t>
            </a:r>
            <a:endParaRPr sz="2400" dirty="0"/>
          </a:p>
        </p:txBody>
      </p:sp>
      <p:sp>
        <p:nvSpPr>
          <p:cNvPr id="700" name="textbox 700"/>
          <p:cNvSpPr/>
          <p:nvPr/>
        </p:nvSpPr>
        <p:spPr>
          <a:xfrm>
            <a:off x="5276850" y="4676775"/>
            <a:ext cx="3352800" cy="161925"/>
          </a:xfrm>
          <a:prstGeom prst="rect">
            <a:avLst/>
          </a:prstGeom>
          <a:noFill/>
          <a:ln w="0" cap="flat">
            <a:noFill/>
            <a:prstDash val="solid"/>
            <a:miter lim="0"/>
          </a:ln>
        </p:spPr>
        <p:txBody>
          <a:bodyPr vert="horz" wrap="none" lIns="0" tIns="0" rIns="0" bIns="0"/>
          <a:lstStyle/>
          <a:p>
            <a:pPr algn="l" rtl="0" eaLnBrk="0"/>
            <a:r>
              <a:rPr sz="1200" kern="0" spc="0" dirty="0">
                <a:solidFill>
                  <a:srgbClr val="7030A0">
                    <a:alpha val="100000"/>
                  </a:srgbClr>
                </a:solidFill>
                <a:latin typeface="Times New Roman" panose="02020603050405020304"/>
                <a:ea typeface="Times New Roman" panose="02020603050405020304"/>
                <a:cs typeface="Times New Roman" panose="02020603050405020304"/>
              </a:rPr>
              <a:t>Vector-based dimension-reduction models (Ve-DRMs)</a:t>
            </a:r>
            <a:endParaRPr sz="1200" dirty="0"/>
          </a:p>
        </p:txBody>
      </p:sp>
      <p:sp>
        <p:nvSpPr>
          <p:cNvPr id="702" name="textbox 702"/>
          <p:cNvSpPr/>
          <p:nvPr/>
        </p:nvSpPr>
        <p:spPr>
          <a:xfrm>
            <a:off x="5962650" y="5600700"/>
            <a:ext cx="1971675" cy="342900"/>
          </a:xfrm>
          <a:prstGeom prst="rect">
            <a:avLst/>
          </a:prstGeom>
          <a:noFill/>
          <a:ln w="0" cap="flat">
            <a:noFill/>
            <a:prstDash val="solid"/>
            <a:miter lim="0"/>
          </a:ln>
        </p:spPr>
        <p:txBody>
          <a:bodyPr vert="horz" wrap="none" lIns="0" tIns="0" rIns="0" bIns="0"/>
          <a:lstStyle/>
          <a:p>
            <a:pPr algn="l" rtl="0" eaLnBrk="0"/>
            <a:r>
              <a:rPr sz="24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混合降维模型</a:t>
            </a:r>
            <a:endParaRPr sz="2400" dirty="0"/>
          </a:p>
        </p:txBody>
      </p:sp>
      <p:sp>
        <p:nvSpPr>
          <p:cNvPr id="704" name="textbox 704"/>
          <p:cNvSpPr/>
          <p:nvPr/>
        </p:nvSpPr>
        <p:spPr>
          <a:xfrm>
            <a:off x="5534025" y="6057900"/>
            <a:ext cx="2828925" cy="161925"/>
          </a:xfrm>
          <a:prstGeom prst="rect">
            <a:avLst/>
          </a:prstGeom>
          <a:noFill/>
          <a:ln w="0" cap="flat">
            <a:noFill/>
            <a:prstDash val="solid"/>
            <a:miter lim="0"/>
          </a:ln>
        </p:spPr>
        <p:txBody>
          <a:bodyPr vert="horz" wrap="none" lIns="0" tIns="0" rIns="0" bIns="0"/>
          <a:lstStyle/>
          <a:p>
            <a:pPr algn="l" rtl="0" eaLnBrk="0"/>
            <a:r>
              <a:rPr sz="1200" kern="0" spc="0" dirty="0">
                <a:solidFill>
                  <a:srgbClr val="7030A0">
                    <a:alpha val="100000"/>
                  </a:srgbClr>
                </a:solidFill>
                <a:latin typeface="Times New Roman" panose="02020603050405020304"/>
                <a:ea typeface="Times New Roman" panose="02020603050405020304"/>
                <a:cs typeface="Times New Roman" panose="02020603050405020304"/>
              </a:rPr>
              <a:t>Hybrid dimension-reduction model (H-DRM)</a:t>
            </a:r>
            <a:endParaRPr sz="1200" dirty="0"/>
          </a:p>
        </p:txBody>
      </p:sp>
      <p:sp>
        <p:nvSpPr>
          <p:cNvPr id="706" name="textbox 706"/>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708" name="textbox 708"/>
          <p:cNvSpPr/>
          <p:nvPr/>
        </p:nvSpPr>
        <p:spPr>
          <a:xfrm>
            <a:off x="11772900" y="6734175"/>
            <a:ext cx="13335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17</a:t>
            </a:r>
            <a:endParaRPr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2" name="picture 712"/>
          <p:cNvPicPr>
            <a:picLocks noChangeAspect="1"/>
          </p:cNvPicPr>
          <p:nvPr/>
        </p:nvPicPr>
        <p:blipFill>
          <a:blip r:embed="rId1"/>
          <a:stretch>
            <a:fillRect/>
          </a:stretch>
        </p:blipFill>
        <p:spPr>
          <a:xfrm>
            <a:off x="0" y="0"/>
            <a:ext cx="12192000" cy="6858000"/>
          </a:xfrm>
          <a:prstGeom prst="rect">
            <a:avLst/>
          </a:prstGeom>
        </p:spPr>
      </p:pic>
      <p:sp>
        <p:nvSpPr>
          <p:cNvPr id="714" name="textbox 714"/>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716" name="textbox 716"/>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718" name="textbox 71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722" name="picture 722"/>
          <p:cNvPicPr>
            <a:picLocks noChangeAspect="1"/>
          </p:cNvPicPr>
          <p:nvPr/>
        </p:nvPicPr>
        <p:blipFill>
          <a:blip r:embed="rId2"/>
          <a:stretch>
            <a:fillRect/>
          </a:stretch>
        </p:blipFill>
        <p:spPr>
          <a:xfrm>
            <a:off x="295275" y="247650"/>
            <a:ext cx="733425" cy="666750"/>
          </a:xfrm>
          <a:prstGeom prst="rect">
            <a:avLst/>
          </a:prstGeom>
        </p:spPr>
      </p:pic>
      <p:sp>
        <p:nvSpPr>
          <p:cNvPr id="724" name="textbox 724"/>
          <p:cNvSpPr/>
          <p:nvPr/>
        </p:nvSpPr>
        <p:spPr>
          <a:xfrm>
            <a:off x="1447800" y="333375"/>
            <a:ext cx="377190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726" name="textbox 726"/>
          <p:cNvSpPr/>
          <p:nvPr/>
        </p:nvSpPr>
        <p:spPr>
          <a:xfrm>
            <a:off x="1447800" y="752475"/>
            <a:ext cx="5829300" cy="200025"/>
          </a:xfrm>
          <a:prstGeom prst="rect">
            <a:avLst/>
          </a:prstGeom>
          <a:noFill/>
          <a:ln w="0" cap="flat">
            <a:noFill/>
            <a:prstDash val="solid"/>
            <a:miter lim="0"/>
          </a:ln>
        </p:spPr>
        <p:txBody>
          <a:bodyPr vert="horz" wrap="none" lIns="0" tIns="0" rIns="0" bIns="0"/>
          <a:lstStyle/>
          <a:p>
            <a:pPr algn="l" rtl="0" eaLnBrk="0"/>
            <a:r>
              <a:rPr sz="1400" kern="0" spc="0" dirty="0">
                <a:solidFill>
                  <a:srgbClr val="D0EBF7">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728" name="textbox 728"/>
          <p:cNvSpPr/>
          <p:nvPr/>
        </p:nvSpPr>
        <p:spPr>
          <a:xfrm>
            <a:off x="1428750" y="1143000"/>
            <a:ext cx="330517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变量降维模型：加和表达式</a:t>
            </a:r>
            <a:endParaRPr sz="2000" dirty="0"/>
          </a:p>
        </p:txBody>
      </p:sp>
      <p:sp>
        <p:nvSpPr>
          <p:cNvPr id="730" name="textbox 730"/>
          <p:cNvSpPr/>
          <p:nvPr/>
        </p:nvSpPr>
        <p:spPr>
          <a:xfrm>
            <a:off x="1447800" y="1504950"/>
            <a:ext cx="4124325" cy="152400"/>
          </a:xfrm>
          <a:prstGeom prst="rect">
            <a:avLst/>
          </a:prstGeom>
          <a:noFill/>
          <a:ln w="0" cap="flat">
            <a:noFill/>
            <a:prstDash val="solid"/>
            <a:miter lim="0"/>
          </a:ln>
        </p:spPr>
        <p:txBody>
          <a:bodyPr vert="horz" wrap="none" lIns="0" tIns="0" rIns="0" bIns="0"/>
          <a:lstStyle/>
          <a:p>
            <a:pPr algn="l" rtl="0" eaLnBrk="0"/>
            <a:r>
              <a:rPr sz="1000" kern="0" spc="0" dirty="0">
                <a:solidFill>
                  <a:srgbClr val="297FB8">
                    <a:alpha val="100000"/>
                  </a:srgbClr>
                </a:solidFill>
                <a:latin typeface="Times New Roman" panose="02020603050405020304"/>
                <a:ea typeface="Times New Roman" panose="02020603050405020304"/>
                <a:cs typeface="Times New Roman" panose="02020603050405020304"/>
              </a:rPr>
              <a:t>Variable-based Dimension-reduction Models (Va-DRMs): Additive Formulation</a:t>
            </a:r>
            <a:endParaRPr sz="1000" dirty="0"/>
          </a:p>
        </p:txBody>
      </p:sp>
      <p:sp>
        <p:nvSpPr>
          <p:cNvPr id="732" name="textbox 732"/>
          <p:cNvSpPr/>
          <p:nvPr/>
        </p:nvSpPr>
        <p:spPr>
          <a:xfrm>
            <a:off x="7743825" y="1504950"/>
            <a:ext cx="2514600" cy="30480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响应函数拆分项的取值</a:t>
            </a:r>
            <a:endParaRPr sz="1800" dirty="0"/>
          </a:p>
        </p:txBody>
      </p:sp>
      <p:sp>
        <p:nvSpPr>
          <p:cNvPr id="734" name="textbox 734"/>
          <p:cNvSpPr/>
          <p:nvPr/>
        </p:nvSpPr>
        <p:spPr>
          <a:xfrm>
            <a:off x="466725" y="1952625"/>
            <a:ext cx="4752975" cy="952500"/>
          </a:xfrm>
          <a:prstGeom prst="rect">
            <a:avLst/>
          </a:prstGeom>
          <a:noFill/>
          <a:ln w="0" cap="flat">
            <a:noFill/>
            <a:prstDash val="solid"/>
            <a:miter lim="0"/>
          </a:ln>
        </p:spPr>
        <p:txBody>
          <a:bodyPr vert="horz" wrap="none" lIns="0" tIns="0" rIns="0" bIns="0"/>
          <a:lstStyle/>
          <a:p>
            <a:pPr marL="419100" indent="-390525" algn="l" rtl="0" eaLnBrk="0">
              <a:buChar char="•"/>
            </a:pP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函数降维模型是一种通过将高维响应函数分</a:t>
            </a:r>
            <a:endParaRPr sz="1800" dirty="0"/>
          </a:p>
          <a:p>
            <a:pPr marL="390525" algn="l" rtl="0" eaLnBrk="0">
              <a:spcBef>
                <a:spcPts val="750"/>
              </a:spcBef>
            </a:pP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解为依赖于少数输入变量的低阶分量函数，</a:t>
            </a:r>
            <a:endParaRPr sz="1800" dirty="0"/>
          </a:p>
          <a:p>
            <a:pPr marL="381000" algn="l" rtl="0" eaLnBrk="0">
              <a:spcBef>
                <a:spcPts val="750"/>
              </a:spcBef>
            </a:pP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来实现计算效率提升的近似方法。</a:t>
            </a:r>
            <a:endParaRPr sz="1800" dirty="0"/>
          </a:p>
        </p:txBody>
      </p:sp>
      <p:sp>
        <p:nvSpPr>
          <p:cNvPr id="736" name="textbox 736"/>
          <p:cNvSpPr/>
          <p:nvPr/>
        </p:nvSpPr>
        <p:spPr>
          <a:xfrm>
            <a:off x="685800" y="3267075"/>
            <a:ext cx="4114800" cy="266700"/>
          </a:xfrm>
          <a:prstGeom prst="rect">
            <a:avLst/>
          </a:prstGeom>
          <a:noFill/>
          <a:ln w="0" cap="flat">
            <a:noFill/>
            <a:prstDash val="solid"/>
            <a:miter lim="0"/>
          </a:ln>
        </p:spPr>
        <p:txBody>
          <a:bodyPr vert="horz" wrap="none" lIns="0" tIns="0" rIns="0" bIns="0"/>
          <a:lstStyle/>
          <a:p>
            <a:pPr algn="l" rtl="0" eaLnBrk="0"/>
            <a:r>
              <a:rPr sz="1800" b="1" kern="0" spc="0" dirty="0">
                <a:solidFill>
                  <a:srgbClr val="192855">
                    <a:alpha val="100000"/>
                  </a:srgbClr>
                </a:solidFill>
                <a:latin typeface="微软雅黑" panose="020B0503020204020204" charset="-122"/>
                <a:ea typeface="微软雅黑" panose="020B0503020204020204" charset="-122"/>
                <a:cs typeface="微软雅黑" panose="020B0503020204020204" charset="-122"/>
              </a:rPr>
              <a:t>使用</a:t>
            </a: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加和表达式</a:t>
            </a:r>
            <a:r>
              <a:rPr sz="1800" b="1" kern="0" spc="0" dirty="0">
                <a:solidFill>
                  <a:srgbClr val="192855">
                    <a:alpha val="100000"/>
                  </a:srgbClr>
                </a:solidFill>
                <a:latin typeface="微软雅黑" panose="020B0503020204020204" charset="-122"/>
                <a:ea typeface="微软雅黑" panose="020B0503020204020204" charset="-122"/>
                <a:cs typeface="微软雅黑" panose="020B0503020204020204" charset="-122"/>
              </a:rPr>
              <a:t>时，系统响应函数 </a:t>
            </a:r>
            <a:r>
              <a:rPr sz="1800" b="1" i="1" kern="0" spc="0" dirty="0">
                <a:solidFill>
                  <a:srgbClr val="192855">
                    <a:alpha val="100000"/>
                  </a:srgbClr>
                </a:solidFill>
                <a:latin typeface="Times New Roman" panose="02020603050405020304"/>
                <a:ea typeface="Times New Roman" panose="02020603050405020304"/>
                <a:cs typeface="Times New Roman" panose="02020603050405020304"/>
              </a:rPr>
              <a:t>Z </a:t>
            </a:r>
            <a:r>
              <a:rPr sz="1800" b="1" kern="0" spc="0" dirty="0">
                <a:solidFill>
                  <a:srgbClr val="192855">
                    <a:alpha val="100000"/>
                  </a:srgbClr>
                </a:solidFill>
                <a:latin typeface="微软雅黑" panose="020B0503020204020204" charset="-122"/>
                <a:ea typeface="微软雅黑" panose="020B0503020204020204" charset="-122"/>
                <a:cs typeface="微软雅黑" panose="020B0503020204020204" charset="-122"/>
              </a:rPr>
              <a:t>为：</a:t>
            </a:r>
            <a:endParaRPr sz="1800" dirty="0"/>
          </a:p>
        </p:txBody>
      </p:sp>
      <p:sp>
        <p:nvSpPr>
          <p:cNvPr id="764" name="textbox 764"/>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766" name="textbox 766"/>
          <p:cNvSpPr/>
          <p:nvPr/>
        </p:nvSpPr>
        <p:spPr>
          <a:xfrm>
            <a:off x="11763375" y="6734175"/>
            <a:ext cx="171450" cy="114300"/>
          </a:xfrm>
          <a:prstGeom prst="rect">
            <a:avLst/>
          </a:prstGeom>
          <a:noFill/>
          <a:ln w="0" cap="flat">
            <a:noFill/>
            <a:prstDash val="solid"/>
            <a:miter lim="0"/>
          </a:ln>
        </p:spPr>
        <p:txBody>
          <a:bodyPr vert="horz" wrap="none" lIns="0" tIns="0" rIns="0" bIns="0"/>
          <a:lstStyle/>
          <a:p>
            <a:pPr algn="l" rtl="0" eaLnBrk="0"/>
            <a:r>
              <a:rPr sz="1000" kern="0" spc="450" dirty="0">
                <a:solidFill>
                  <a:srgbClr val="FFFFFF">
                    <a:alpha val="100000"/>
                  </a:srgbClr>
                </a:solidFill>
                <a:latin typeface="Times New Roman" panose="02020603050405020304"/>
                <a:ea typeface="Times New Roman" panose="02020603050405020304"/>
                <a:cs typeface="Times New Roman" panose="02020603050405020304"/>
              </a:rPr>
              <a:t>18</a:t>
            </a:r>
            <a:endParaRPr sz="1000" dirty="0"/>
          </a:p>
        </p:txBody>
      </p:sp>
      <p:pic>
        <p:nvPicPr>
          <p:cNvPr id="8" name="picture 8"/>
          <p:cNvPicPr>
            <a:picLocks noChangeAspect="1"/>
          </p:cNvPicPr>
          <p:nvPr/>
        </p:nvPicPr>
        <p:blipFill>
          <a:blip r:embed="rId3"/>
          <a:stretch>
            <a:fillRect/>
          </a:stretch>
        </p:blipFill>
        <p:spPr>
          <a:xfrm rot="21600000">
            <a:off x="977920" y="4445010"/>
            <a:ext cx="3409980" cy="1295371"/>
          </a:xfrm>
          <a:prstGeom prst="rect">
            <a:avLst/>
          </a:prstGeom>
        </p:spPr>
      </p:pic>
      <p:pic>
        <p:nvPicPr>
          <p:cNvPr id="22" name="picture 22"/>
          <p:cNvPicPr>
            <a:picLocks noChangeAspect="1"/>
          </p:cNvPicPr>
          <p:nvPr/>
        </p:nvPicPr>
        <p:blipFill>
          <a:blip r:embed="rId4"/>
          <a:stretch>
            <a:fillRect/>
          </a:stretch>
        </p:blipFill>
        <p:spPr>
          <a:xfrm rot="21600000">
            <a:off x="1009619" y="3873484"/>
            <a:ext cx="2794040" cy="495331"/>
          </a:xfrm>
          <a:prstGeom prst="rect">
            <a:avLst/>
          </a:prstGeom>
        </p:spPr>
      </p:pic>
      <p:pic>
        <p:nvPicPr>
          <p:cNvPr id="26" name="picture 26"/>
          <p:cNvPicPr>
            <a:picLocks noChangeAspect="1"/>
          </p:cNvPicPr>
          <p:nvPr/>
        </p:nvPicPr>
        <p:blipFill>
          <a:blip r:embed="rId5"/>
          <a:stretch>
            <a:fillRect/>
          </a:stretch>
        </p:blipFill>
        <p:spPr>
          <a:xfrm rot="21600000">
            <a:off x="1009619" y="5822959"/>
            <a:ext cx="3073481" cy="393670"/>
          </a:xfrm>
          <a:prstGeom prst="rect">
            <a:avLst/>
          </a:prstGeom>
        </p:spPr>
      </p:pic>
      <p:pic>
        <p:nvPicPr>
          <p:cNvPr id="3" name="图片 2" descr="8905c0139af71fae6010749ef921a089"/>
          <p:cNvPicPr>
            <a:picLocks noChangeAspect="1"/>
          </p:cNvPicPr>
          <p:nvPr/>
        </p:nvPicPr>
        <p:blipFill>
          <a:blip r:embed="rId6"/>
          <a:stretch>
            <a:fillRect/>
          </a:stretch>
        </p:blipFill>
        <p:spPr>
          <a:xfrm>
            <a:off x="6186170" y="2174240"/>
            <a:ext cx="5720080" cy="41954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0" name="picture 770"/>
          <p:cNvPicPr>
            <a:picLocks noChangeAspect="1"/>
          </p:cNvPicPr>
          <p:nvPr/>
        </p:nvPicPr>
        <p:blipFill>
          <a:blip r:embed="rId1"/>
          <a:stretch>
            <a:fillRect/>
          </a:stretch>
        </p:blipFill>
        <p:spPr>
          <a:xfrm>
            <a:off x="0" y="0"/>
            <a:ext cx="12192000" cy="6858000"/>
          </a:xfrm>
          <a:prstGeom prst="rect">
            <a:avLst/>
          </a:prstGeom>
        </p:spPr>
      </p:pic>
      <p:sp>
        <p:nvSpPr>
          <p:cNvPr id="772" name="textbox 772"/>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774" name="textbox 774"/>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776" name="textbox 77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628BB3">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780" name="picture 780"/>
          <p:cNvPicPr>
            <a:picLocks noChangeAspect="1"/>
          </p:cNvPicPr>
          <p:nvPr/>
        </p:nvPicPr>
        <p:blipFill>
          <a:blip r:embed="rId2"/>
          <a:stretch>
            <a:fillRect/>
          </a:stretch>
        </p:blipFill>
        <p:spPr>
          <a:xfrm>
            <a:off x="295275" y="247650"/>
            <a:ext cx="733425" cy="666750"/>
          </a:xfrm>
          <a:prstGeom prst="rect">
            <a:avLst/>
          </a:prstGeom>
        </p:spPr>
      </p:pic>
      <p:sp>
        <p:nvSpPr>
          <p:cNvPr id="782" name="textbox 782"/>
          <p:cNvSpPr/>
          <p:nvPr/>
        </p:nvSpPr>
        <p:spPr>
          <a:xfrm>
            <a:off x="1447800" y="333375"/>
            <a:ext cx="377190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784" name="textbox 784"/>
          <p:cNvSpPr/>
          <p:nvPr/>
        </p:nvSpPr>
        <p:spPr>
          <a:xfrm>
            <a:off x="1447800" y="752475"/>
            <a:ext cx="5829300" cy="209550"/>
          </a:xfrm>
          <a:prstGeom prst="rect">
            <a:avLst/>
          </a:prstGeom>
          <a:noFill/>
          <a:ln w="0" cap="flat">
            <a:noFill/>
            <a:prstDash val="solid"/>
            <a:miter lim="0"/>
          </a:ln>
        </p:spPr>
        <p:txBody>
          <a:bodyPr vert="horz" wrap="none" lIns="0" tIns="0" rIns="0" bIns="0"/>
          <a:lstStyle/>
          <a:p>
            <a:pPr algn="l" rtl="0" eaLnBrk="0"/>
            <a:r>
              <a:rPr sz="1400" kern="0" spc="0" dirty="0">
                <a:solidFill>
                  <a:srgbClr val="D0EBF7">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786" name="textbox 786"/>
          <p:cNvSpPr/>
          <p:nvPr/>
        </p:nvSpPr>
        <p:spPr>
          <a:xfrm>
            <a:off x="1409700" y="1143000"/>
            <a:ext cx="33242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变量降维模型：加和表达式</a:t>
            </a:r>
            <a:endParaRPr sz="2000" dirty="0"/>
          </a:p>
        </p:txBody>
      </p:sp>
      <p:sp>
        <p:nvSpPr>
          <p:cNvPr id="788" name="textbox 788"/>
          <p:cNvSpPr/>
          <p:nvPr/>
        </p:nvSpPr>
        <p:spPr>
          <a:xfrm>
            <a:off x="1447800" y="1504950"/>
            <a:ext cx="4124325" cy="152400"/>
          </a:xfrm>
          <a:prstGeom prst="rect">
            <a:avLst/>
          </a:prstGeom>
          <a:noFill/>
          <a:ln w="0" cap="flat">
            <a:noFill/>
            <a:prstDash val="solid"/>
            <a:miter lim="0"/>
          </a:ln>
        </p:spPr>
        <p:txBody>
          <a:bodyPr vert="horz" wrap="none" lIns="0" tIns="0" rIns="0" bIns="0"/>
          <a:lstStyle/>
          <a:p>
            <a:pPr algn="l" rtl="0" eaLnBrk="0"/>
            <a:r>
              <a:rPr sz="1000" kern="0" spc="0" dirty="0">
                <a:solidFill>
                  <a:srgbClr val="297FB8">
                    <a:alpha val="100000"/>
                  </a:srgbClr>
                </a:solidFill>
                <a:latin typeface="Times New Roman" panose="02020603050405020304"/>
                <a:ea typeface="Times New Roman" panose="02020603050405020304"/>
                <a:cs typeface="Times New Roman" panose="02020603050405020304"/>
              </a:rPr>
              <a:t>Variable-based Dimension-reduction Models (Va-DRMs): Additive Formulation</a:t>
            </a:r>
            <a:endParaRPr sz="1000" dirty="0"/>
          </a:p>
        </p:txBody>
      </p:sp>
      <p:sp>
        <p:nvSpPr>
          <p:cNvPr id="790" name="textbox 790"/>
          <p:cNvSpPr/>
          <p:nvPr/>
        </p:nvSpPr>
        <p:spPr>
          <a:xfrm>
            <a:off x="1114425" y="1809750"/>
            <a:ext cx="4953000" cy="304800"/>
          </a:xfrm>
          <a:prstGeom prst="rect">
            <a:avLst/>
          </a:prstGeom>
          <a:noFill/>
          <a:ln w="0" cap="flat">
            <a:noFill/>
            <a:prstDash val="solid"/>
            <a:miter lim="0"/>
          </a:ln>
        </p:spPr>
        <p:txBody>
          <a:bodyPr vert="horz" wrap="none" lIns="0" tIns="0" rIns="0" bIns="0"/>
          <a:lstStyle/>
          <a:p>
            <a:pPr algn="l" rtl="0" eaLnBrk="0"/>
            <a:r>
              <a:rPr sz="1800" kern="0" spc="0" dirty="0">
                <a:solidFill>
                  <a:srgbClr val="B68C02">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当截断阶数设为</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 s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时，系统响应</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 Z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可近似为：</a:t>
            </a:r>
            <a:endParaRPr sz="1800" dirty="0"/>
          </a:p>
        </p:txBody>
      </p:sp>
      <p:sp>
        <p:nvSpPr>
          <p:cNvPr id="794" name="textbox 794"/>
          <p:cNvSpPr/>
          <p:nvPr/>
        </p:nvSpPr>
        <p:spPr>
          <a:xfrm>
            <a:off x="1104900" y="3019425"/>
            <a:ext cx="5076825"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2060">
                    <a:alpha val="100000"/>
                  </a:srgbClr>
                </a:solidFill>
                <a:latin typeface="Times New Roman" panose="02020603050405020304"/>
                <a:ea typeface="Times New Roman" panose="02020603050405020304"/>
                <a:cs typeface="Times New Roman" panose="02020603050405020304"/>
              </a:rPr>
              <a:t>✗ Xu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和</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 Rahman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提出了与上式等价的表述形式</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a:t>
            </a:r>
            <a:endParaRPr sz="1800" dirty="0"/>
          </a:p>
        </p:txBody>
      </p:sp>
      <p:sp>
        <p:nvSpPr>
          <p:cNvPr id="800" name="textbox 800"/>
          <p:cNvSpPr/>
          <p:nvPr/>
        </p:nvSpPr>
        <p:spPr>
          <a:xfrm>
            <a:off x="342900" y="6229350"/>
            <a:ext cx="11477625" cy="438150"/>
          </a:xfrm>
          <a:prstGeom prst="rect">
            <a:avLst/>
          </a:prstGeom>
          <a:noFill/>
          <a:ln w="0" cap="flat">
            <a:noFill/>
            <a:prstDash val="solid"/>
            <a:miter lim="0"/>
          </a:ln>
        </p:spPr>
        <p:txBody>
          <a:bodyPr vert="horz" wrap="none" lIns="0" tIns="0" rIns="0" bIns="0"/>
          <a:lstStyle/>
          <a:p>
            <a:pPr algn="l" rtl="0" eaLnBrk="0"/>
            <a:r>
              <a:rPr sz="1400" kern="0" spc="0" dirty="0">
                <a:solidFill>
                  <a:srgbClr val="254969">
                    <a:alpha val="100000"/>
                  </a:srgbClr>
                </a:solidFill>
                <a:latin typeface="Times New Roman" panose="02020603050405020304"/>
                <a:ea typeface="Times New Roman" panose="02020603050405020304"/>
                <a:cs typeface="Times New Roman" panose="02020603050405020304"/>
              </a:rPr>
              <a:t>Xu H, Rahman S. A generalized dimension-reduction method for multidimensional integration in stochastic mechanics. International Journal for Numerical</a:t>
            </a:r>
            <a:endParaRPr sz="1400" dirty="0"/>
          </a:p>
          <a:p>
            <a:pPr algn="l" rtl="0" eaLnBrk="0"/>
            <a:r>
              <a:rPr sz="1400" kern="0" spc="0" dirty="0">
                <a:solidFill>
                  <a:srgbClr val="254969">
                    <a:alpha val="100000"/>
                  </a:srgbClr>
                </a:solidFill>
                <a:latin typeface="Times New Roman" panose="02020603050405020304"/>
                <a:ea typeface="Times New Roman" panose="02020603050405020304"/>
                <a:cs typeface="Times New Roman" panose="02020603050405020304"/>
              </a:rPr>
              <a:t>Methods in Engineering, 2004, 61(12): 1992-2019.</a:t>
            </a:r>
            <a:endParaRPr sz="1400" dirty="0"/>
          </a:p>
        </p:txBody>
      </p:sp>
      <p:sp>
        <p:nvSpPr>
          <p:cNvPr id="802" name="textbox 80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
        <p:nvSpPr>
          <p:cNvPr id="804" name="textbox 804"/>
          <p:cNvSpPr/>
          <p:nvPr/>
        </p:nvSpPr>
        <p:spPr>
          <a:xfrm>
            <a:off x="11772900" y="6743700"/>
            <a:ext cx="152400" cy="95250"/>
          </a:xfrm>
          <a:prstGeom prst="rect">
            <a:avLst/>
          </a:prstGeom>
          <a:noFill/>
          <a:ln w="0" cap="flat">
            <a:noFill/>
            <a:prstDash val="solid"/>
            <a:miter lim="0"/>
          </a:ln>
        </p:spPr>
        <p:txBody>
          <a:bodyPr vert="horz" wrap="none" lIns="0" tIns="0" rIns="0" bIns="0"/>
          <a:lstStyle/>
          <a:p>
            <a:pPr algn="l" rtl="0" eaLnBrk="0"/>
            <a:r>
              <a:rPr sz="800" kern="0" spc="450" dirty="0">
                <a:solidFill>
                  <a:srgbClr val="96DAC1">
                    <a:alpha val="100000"/>
                  </a:srgbClr>
                </a:solidFill>
                <a:latin typeface="Arial" panose="020B0604020202020204"/>
                <a:ea typeface="Arial" panose="020B0604020202020204"/>
                <a:cs typeface="Arial" panose="020B0604020202020204"/>
              </a:rPr>
              <a:t>19</a:t>
            </a:r>
            <a:endParaRPr sz="800" dirty="0"/>
          </a:p>
        </p:txBody>
      </p:sp>
      <p:pic>
        <p:nvPicPr>
          <p:cNvPr id="14" name="picture 14"/>
          <p:cNvPicPr>
            <a:picLocks noChangeAspect="1"/>
          </p:cNvPicPr>
          <p:nvPr/>
        </p:nvPicPr>
        <p:blipFill>
          <a:blip r:embed="rId3"/>
          <a:stretch>
            <a:fillRect/>
          </a:stretch>
        </p:blipFill>
        <p:spPr>
          <a:xfrm rot="21600000">
            <a:off x="1422440" y="2247869"/>
            <a:ext cx="9696421" cy="590608"/>
          </a:xfrm>
          <a:prstGeom prst="rect">
            <a:avLst/>
          </a:prstGeom>
        </p:spPr>
      </p:pic>
      <p:pic>
        <p:nvPicPr>
          <p:cNvPr id="12" name="picture 12"/>
          <p:cNvPicPr>
            <a:picLocks noChangeAspect="1"/>
          </p:cNvPicPr>
          <p:nvPr/>
        </p:nvPicPr>
        <p:blipFill>
          <a:blip r:embed="rId4"/>
          <a:stretch>
            <a:fillRect/>
          </a:stretch>
        </p:blipFill>
        <p:spPr>
          <a:xfrm rot="21600000">
            <a:off x="1460479" y="3378221"/>
            <a:ext cx="7715220" cy="742928"/>
          </a:xfrm>
          <a:prstGeom prst="rect">
            <a:avLst/>
          </a:prstGeom>
        </p:spPr>
      </p:pic>
      <p:pic>
        <p:nvPicPr>
          <p:cNvPr id="2" name="picture 2"/>
          <p:cNvPicPr>
            <a:picLocks noChangeAspect="1"/>
          </p:cNvPicPr>
          <p:nvPr/>
        </p:nvPicPr>
        <p:blipFill>
          <a:blip r:embed="rId5"/>
          <a:stretch>
            <a:fillRect/>
          </a:stretch>
        </p:blipFill>
        <p:spPr>
          <a:xfrm rot="21600000">
            <a:off x="1612879" y="4603782"/>
            <a:ext cx="8559881" cy="1562051"/>
          </a:xfrm>
          <a:prstGeom prst="rect">
            <a:avLst/>
          </a:prstGeom>
        </p:spPr>
      </p:pic>
      <p:sp>
        <p:nvSpPr>
          <p:cNvPr id="30" name="textbox 30"/>
          <p:cNvSpPr/>
          <p:nvPr/>
        </p:nvSpPr>
        <p:spPr>
          <a:xfrm>
            <a:off x="1562140" y="4238975"/>
            <a:ext cx="895985" cy="259080"/>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91000"/>
              </a:lnSpc>
            </a:pPr>
            <a:r>
              <a:rPr sz="1300" b="1" kern="0" spc="-70" dirty="0">
                <a:solidFill>
                  <a:srgbClr val="C01020">
                    <a:alpha val="100000"/>
                  </a:srgbClr>
                </a:solidFill>
                <a:latin typeface="宋体" panose="02010600030101010101" pitchFamily="2" charset="-122"/>
                <a:ea typeface="宋体" panose="02010600030101010101" pitchFamily="2" charset="-122"/>
                <a:cs typeface="宋体" panose="02010600030101010101" pitchFamily="2" charset="-122"/>
              </a:rPr>
              <a:t>s</a:t>
            </a:r>
            <a:r>
              <a:rPr sz="1300" b="1" kern="0" spc="310" dirty="0">
                <a:solidFill>
                  <a:srgbClr val="C01020">
                    <a:alpha val="100000"/>
                  </a:srgbClr>
                </a:solidFill>
                <a:latin typeface="宋体" panose="02010600030101010101" pitchFamily="2" charset="-122"/>
                <a:ea typeface="宋体" panose="02010600030101010101" pitchFamily="2" charset="-122"/>
                <a:cs typeface="宋体" panose="02010600030101010101" pitchFamily="2" charset="-122"/>
              </a:rPr>
              <a:t> </a:t>
            </a:r>
            <a:r>
              <a:rPr sz="1200" b="1" kern="0" spc="-70" dirty="0">
                <a:solidFill>
                  <a:srgbClr val="C01020">
                    <a:alpha val="100000"/>
                  </a:srgbClr>
                </a:solidFill>
                <a:latin typeface="宋体" panose="02010600030101010101" pitchFamily="2" charset="-122"/>
                <a:ea typeface="宋体" panose="02010600030101010101" pitchFamily="2" charset="-122"/>
                <a:cs typeface="宋体" panose="02010600030101010101" pitchFamily="2" charset="-122"/>
              </a:rPr>
              <a:t>=</a:t>
            </a:r>
            <a:r>
              <a:rPr sz="1200" b="1" kern="0" spc="210" dirty="0">
                <a:solidFill>
                  <a:srgbClr val="C01020">
                    <a:alpha val="100000"/>
                  </a:srgbClr>
                </a:solidFill>
                <a:latin typeface="宋体" panose="02010600030101010101" pitchFamily="2" charset="-122"/>
                <a:ea typeface="宋体" panose="02010600030101010101" pitchFamily="2" charset="-122"/>
                <a:cs typeface="宋体" panose="02010600030101010101" pitchFamily="2" charset="-122"/>
              </a:rPr>
              <a:t> </a:t>
            </a:r>
            <a:r>
              <a:rPr sz="1200" b="1" kern="0" spc="-70" dirty="0">
                <a:solidFill>
                  <a:srgbClr val="F01010">
                    <a:alpha val="100000"/>
                  </a:srgbClr>
                </a:solidFill>
                <a:latin typeface="宋体" panose="02010600030101010101" pitchFamily="2" charset="-122"/>
                <a:ea typeface="宋体" panose="02010600030101010101" pitchFamily="2" charset="-122"/>
                <a:cs typeface="宋体" panose="02010600030101010101" pitchFamily="2" charset="-122"/>
              </a:rPr>
              <a:t>1</a:t>
            </a:r>
            <a:r>
              <a:rPr sz="1200" b="1" kern="0" spc="90" dirty="0">
                <a:solidFill>
                  <a:srgbClr val="F01010">
                    <a:alpha val="100000"/>
                  </a:srgbClr>
                </a:solidFill>
                <a:latin typeface="宋体" panose="02010600030101010101" pitchFamily="2" charset="-122"/>
                <a:ea typeface="宋体" panose="02010600030101010101" pitchFamily="2" charset="-122"/>
                <a:cs typeface="宋体" panose="02010600030101010101" pitchFamily="2" charset="-122"/>
              </a:rPr>
              <a:t> </a:t>
            </a:r>
            <a:r>
              <a:rPr sz="2600" b="1" kern="0" spc="-70" baseline="4000" dirty="0">
                <a:solidFill>
                  <a:srgbClr val="D02010">
                    <a:alpha val="100000"/>
                  </a:srgbClr>
                </a:solidFill>
                <a:latin typeface="宋体" panose="02010600030101010101" pitchFamily="2" charset="-122"/>
                <a:ea typeface="宋体" panose="02010600030101010101" pitchFamily="2" charset="-122"/>
                <a:cs typeface="宋体" panose="02010600030101010101" pitchFamily="2" charset="-122"/>
              </a:rPr>
              <a:t>或</a:t>
            </a:r>
            <a:r>
              <a:rPr sz="1600" b="1" kern="0" spc="-280" dirty="0">
                <a:solidFill>
                  <a:srgbClr val="D02010">
                    <a:alpha val="100000"/>
                  </a:srgbClr>
                </a:solidFill>
                <a:latin typeface="宋体" panose="02010600030101010101" pitchFamily="2" charset="-122"/>
                <a:ea typeface="宋体" panose="02010600030101010101" pitchFamily="2" charset="-122"/>
                <a:cs typeface="宋体" panose="02010600030101010101" pitchFamily="2" charset="-122"/>
              </a:rPr>
              <a:t> </a:t>
            </a:r>
            <a:r>
              <a:rPr sz="1400" b="1" kern="0" spc="-70" dirty="0">
                <a:solidFill>
                  <a:srgbClr val="F01010">
                    <a:alpha val="100000"/>
                  </a:srgbClr>
                </a:solidFill>
                <a:latin typeface="宋体" panose="02010600030101010101" pitchFamily="2" charset="-122"/>
                <a:ea typeface="宋体" panose="02010600030101010101" pitchFamily="2" charset="-122"/>
                <a:cs typeface="宋体" panose="02010600030101010101" pitchFamily="2" charset="-122"/>
              </a:rPr>
              <a:t>2</a:t>
            </a:r>
            <a:endParaRPr sz="1400" b="1" dirty="0">
              <a:latin typeface="宋体" panose="02010600030101010101" pitchFamily="2" charset="-122"/>
              <a:ea typeface="宋体" panose="02010600030101010101" pitchFamily="2" charset="-122"/>
              <a:cs typeface="宋体" panose="02010600030101010101" pitchFamily="2" charset="-122"/>
            </a:endParaRPr>
          </a:p>
        </p:txBody>
      </p:sp>
      <p:sp>
        <p:nvSpPr>
          <p:cNvPr id="3" name="左箭头 2"/>
          <p:cNvSpPr/>
          <p:nvPr/>
        </p:nvSpPr>
        <p:spPr>
          <a:xfrm rot="16200000">
            <a:off x="2302510" y="4238625"/>
            <a:ext cx="673100" cy="361950"/>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 name="picture 808"/>
          <p:cNvPicPr>
            <a:picLocks noChangeAspect="1"/>
          </p:cNvPicPr>
          <p:nvPr/>
        </p:nvPicPr>
        <p:blipFill>
          <a:blip r:embed="rId1"/>
          <a:stretch>
            <a:fillRect/>
          </a:stretch>
        </p:blipFill>
        <p:spPr>
          <a:xfrm>
            <a:off x="0" y="0"/>
            <a:ext cx="12192000" cy="6858000"/>
          </a:xfrm>
          <a:prstGeom prst="rect">
            <a:avLst/>
          </a:prstGeom>
        </p:spPr>
      </p:pic>
      <p:sp>
        <p:nvSpPr>
          <p:cNvPr id="810" name="textbox 810"/>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812" name="textbox 81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814" name="textbox 81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818" name="picture 818"/>
          <p:cNvPicPr>
            <a:picLocks noChangeAspect="1"/>
          </p:cNvPicPr>
          <p:nvPr/>
        </p:nvPicPr>
        <p:blipFill>
          <a:blip r:embed="rId2"/>
          <a:stretch>
            <a:fillRect/>
          </a:stretch>
        </p:blipFill>
        <p:spPr>
          <a:xfrm>
            <a:off x="295275" y="247650"/>
            <a:ext cx="733425" cy="666750"/>
          </a:xfrm>
          <a:prstGeom prst="rect">
            <a:avLst/>
          </a:prstGeom>
        </p:spPr>
      </p:pic>
      <p:sp>
        <p:nvSpPr>
          <p:cNvPr id="820" name="textbox 820"/>
          <p:cNvSpPr/>
          <p:nvPr/>
        </p:nvSpPr>
        <p:spPr>
          <a:xfrm>
            <a:off x="1447800" y="333375"/>
            <a:ext cx="377190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822" name="textbox 822"/>
          <p:cNvSpPr/>
          <p:nvPr/>
        </p:nvSpPr>
        <p:spPr>
          <a:xfrm>
            <a:off x="1447800" y="752475"/>
            <a:ext cx="5829300" cy="209550"/>
          </a:xfrm>
          <a:prstGeom prst="rect">
            <a:avLst/>
          </a:prstGeom>
          <a:noFill/>
          <a:ln w="0" cap="flat">
            <a:noFill/>
            <a:prstDash val="solid"/>
            <a:miter lim="0"/>
          </a:ln>
        </p:spPr>
        <p:txBody>
          <a:bodyPr vert="horz" wrap="none" lIns="0" tIns="0" rIns="0" bIns="0"/>
          <a:lstStyle/>
          <a:p>
            <a:pPr algn="l" rtl="0" eaLnBrk="0"/>
            <a:r>
              <a:rPr sz="1400" kern="0" spc="0" dirty="0">
                <a:solidFill>
                  <a:srgbClr val="D0EBF7">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824" name="textbox 824"/>
          <p:cNvSpPr/>
          <p:nvPr/>
        </p:nvSpPr>
        <p:spPr>
          <a:xfrm>
            <a:off x="1419225" y="1143000"/>
            <a:ext cx="33147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变量降维模型：乘积表达式</a:t>
            </a:r>
            <a:endParaRPr sz="2000" dirty="0"/>
          </a:p>
        </p:txBody>
      </p:sp>
      <p:sp>
        <p:nvSpPr>
          <p:cNvPr id="826" name="textbox 826"/>
          <p:cNvSpPr/>
          <p:nvPr/>
        </p:nvSpPr>
        <p:spPr>
          <a:xfrm>
            <a:off x="952500" y="1247775"/>
            <a:ext cx="133350" cy="200025"/>
          </a:xfrm>
          <a:prstGeom prst="rect">
            <a:avLst/>
          </a:prstGeom>
          <a:noFill/>
          <a:ln w="0" cap="flat">
            <a:noFill/>
            <a:prstDash val="solid"/>
            <a:miter lim="0"/>
          </a:ln>
        </p:spPr>
        <p:txBody>
          <a:bodyPr vert="horz" wrap="none" lIns="0" tIns="0" rIns="0" bIns="0"/>
          <a:lstStyle/>
          <a:p>
            <a:pPr algn="l" rtl="0" eaLnBrk="0"/>
            <a:r>
              <a:rPr sz="16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1600" dirty="0"/>
          </a:p>
        </p:txBody>
      </p:sp>
      <p:sp>
        <p:nvSpPr>
          <p:cNvPr id="828" name="textbox 828"/>
          <p:cNvSpPr/>
          <p:nvPr/>
        </p:nvSpPr>
        <p:spPr>
          <a:xfrm>
            <a:off x="1447800" y="1504950"/>
            <a:ext cx="4391025"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Variable-based Dimension-reduction Models (Va-DRMs): Multiplicative Formulation</a:t>
            </a:r>
            <a:endParaRPr sz="1000" dirty="0"/>
          </a:p>
        </p:txBody>
      </p:sp>
      <p:sp>
        <p:nvSpPr>
          <p:cNvPr id="830" name="textbox 830"/>
          <p:cNvSpPr/>
          <p:nvPr/>
        </p:nvSpPr>
        <p:spPr>
          <a:xfrm>
            <a:off x="6248400" y="1238250"/>
            <a:ext cx="5372100" cy="361950"/>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Arial" panose="020B0604020202020204"/>
                <a:ea typeface="Arial" panose="020B0604020202020204"/>
                <a:cs typeface="Arial" panose="020B0604020202020204"/>
              </a:rPr>
              <a:t>Ronsenblueth E. Point estimates for probability moments. PNAS, 1975, 72(10):</a:t>
            </a:r>
            <a:endParaRPr sz="1200" dirty="0"/>
          </a:p>
          <a:p>
            <a:pPr algn="l" rtl="0" eaLnBrk="0"/>
            <a:r>
              <a:rPr sz="1200" kern="0" spc="0" dirty="0">
                <a:solidFill>
                  <a:srgbClr val="000000">
                    <a:alpha val="100000"/>
                  </a:srgbClr>
                </a:solidFill>
                <a:latin typeface="Arial" panose="020B0604020202020204"/>
                <a:ea typeface="Arial" panose="020B0604020202020204"/>
                <a:cs typeface="Arial" panose="020B0604020202020204"/>
              </a:rPr>
              <a:t>3812-3814.</a:t>
            </a:r>
            <a:endParaRPr sz="1200" dirty="0"/>
          </a:p>
        </p:txBody>
      </p:sp>
      <p:sp>
        <p:nvSpPr>
          <p:cNvPr id="832" name="textbox 832"/>
          <p:cNvSpPr/>
          <p:nvPr/>
        </p:nvSpPr>
        <p:spPr>
          <a:xfrm>
            <a:off x="1085850" y="1828800"/>
            <a:ext cx="4743450" cy="266700"/>
          </a:xfrm>
          <a:prstGeom prst="rect">
            <a:avLst/>
          </a:prstGeom>
          <a:noFill/>
          <a:ln w="0" cap="flat">
            <a:noFill/>
            <a:prstDash val="solid"/>
            <a:miter lim="0"/>
          </a:ln>
        </p:spPr>
        <p:txBody>
          <a:bodyPr vert="horz" wrap="none" lIns="0" tIns="0" rIns="0" bIns="0"/>
          <a:lstStyle/>
          <a:p>
            <a:pPr algn="l" rtl="0" eaLnBrk="0"/>
            <a:r>
              <a:rPr sz="1800" kern="0" spc="0" dirty="0">
                <a:solidFill>
                  <a:srgbClr val="B68C02">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使用</a:t>
            </a: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乘积表达式</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时，系统响应</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 Z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可近似为：</a:t>
            </a:r>
            <a:endParaRPr sz="1800" dirty="0"/>
          </a:p>
        </p:txBody>
      </p:sp>
      <p:sp>
        <p:nvSpPr>
          <p:cNvPr id="834" name="textbox 834"/>
          <p:cNvSpPr/>
          <p:nvPr/>
        </p:nvSpPr>
        <p:spPr>
          <a:xfrm>
            <a:off x="1514475" y="2190750"/>
            <a:ext cx="9639300" cy="1114425"/>
          </a:xfrm>
          <a:prstGeom prst="rect">
            <a:avLst/>
          </a:prstGeom>
          <a:noFill/>
          <a:ln w="0" cap="flat">
            <a:noFill/>
            <a:prstDash val="solid"/>
            <a:miter lim="0"/>
          </a:ln>
        </p:spPr>
        <p:txBody>
          <a:bodyPr vert="horz" wrap="none" lIns="0" tIns="0" rIns="0" bIns="0"/>
          <a:lstStyle/>
          <a:p>
            <a:pPr algn="l" rtl="0" eaLnBrk="0"/>
            <a:endParaRPr sz="600" dirty="0"/>
          </a:p>
        </p:txBody>
      </p:sp>
      <p:sp>
        <p:nvSpPr>
          <p:cNvPr id="836" name="textbox 836"/>
          <p:cNvSpPr/>
          <p:nvPr/>
        </p:nvSpPr>
        <p:spPr>
          <a:xfrm>
            <a:off x="1076325" y="3438525"/>
            <a:ext cx="3057525" cy="285750"/>
          </a:xfrm>
          <a:prstGeom prst="rect">
            <a:avLst/>
          </a:prstGeom>
          <a:noFill/>
          <a:ln w="0" cap="flat">
            <a:noFill/>
            <a:prstDash val="solid"/>
            <a:miter lim="0"/>
          </a:ln>
        </p:spPr>
        <p:txBody>
          <a:bodyPr vert="horz" wrap="none" lIns="0" tIns="0" rIns="0" bIns="0"/>
          <a:lstStyle/>
          <a:p>
            <a:pPr algn="l" rtl="0" eaLnBrk="0"/>
            <a:r>
              <a:rPr sz="1800" kern="0" spc="0" dirty="0">
                <a:solidFill>
                  <a:srgbClr val="B68C02">
                    <a:alpha val="100000"/>
                  </a:srgbClr>
                </a:solidFill>
                <a:latin typeface="Calibri" panose="020F0502020204030204"/>
                <a:ea typeface="Calibri" panose="020F0502020204030204"/>
                <a:cs typeface="Calibri" panose="020F0502020204030204"/>
              </a:rPr>
              <a:t>◦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响应函数拆分项的取值为：</a:t>
            </a:r>
            <a:endParaRPr sz="1800" dirty="0"/>
          </a:p>
        </p:txBody>
      </p:sp>
      <p:sp>
        <p:nvSpPr>
          <p:cNvPr id="840" name="textbox 840"/>
          <p:cNvSpPr/>
          <p:nvPr/>
        </p:nvSpPr>
        <p:spPr>
          <a:xfrm>
            <a:off x="6229350" y="5962650"/>
            <a:ext cx="5705475" cy="561975"/>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Arial" panose="020B0604020202020204"/>
                <a:ea typeface="Arial" panose="020B0604020202020204"/>
                <a:cs typeface="Arial" panose="020B0604020202020204"/>
              </a:rPr>
              <a:t>Wang T, Li Z L, Fan W L, Ang A. H.-S. Structural system reliability assessment using</a:t>
            </a:r>
            <a:endParaRPr sz="1200" dirty="0"/>
          </a:p>
          <a:p>
            <a:pPr algn="l" rtl="0" eaLnBrk="0"/>
            <a:r>
              <a:rPr sz="1200" kern="0" spc="0" dirty="0">
                <a:solidFill>
                  <a:srgbClr val="000000">
                    <a:alpha val="100000"/>
                  </a:srgbClr>
                </a:solidFill>
                <a:latin typeface="Arial" panose="020B0604020202020204"/>
                <a:ea typeface="Arial" panose="020B0604020202020204"/>
                <a:cs typeface="Arial" panose="020B0604020202020204"/>
              </a:rPr>
              <a:t>generalized factorized dimensional reduction method and iterative maximum entropy</a:t>
            </a:r>
            <a:endParaRPr sz="1200" dirty="0"/>
          </a:p>
          <a:p>
            <a:pPr algn="l" rtl="0" eaLnBrk="0"/>
            <a:r>
              <a:rPr sz="1200" kern="0" spc="0" dirty="0">
                <a:solidFill>
                  <a:srgbClr val="000000">
                    <a:alpha val="100000"/>
                  </a:srgbClr>
                </a:solidFill>
                <a:latin typeface="Arial" panose="020B0604020202020204"/>
                <a:ea typeface="Arial" panose="020B0604020202020204"/>
                <a:cs typeface="Arial" panose="020B0604020202020204"/>
              </a:rPr>
              <a:t>method. Structure and Infrastructure Engineering, 2024, 20(5): 607-618.</a:t>
            </a:r>
            <a:endParaRPr sz="1200" dirty="0"/>
          </a:p>
        </p:txBody>
      </p:sp>
      <p:sp>
        <p:nvSpPr>
          <p:cNvPr id="842" name="textbox 84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
        <p:nvSpPr>
          <p:cNvPr id="844" name="textbox 844"/>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1000" kern="0" spc="0" dirty="0">
                <a:solidFill>
                  <a:srgbClr val="808080">
                    <a:alpha val="100000"/>
                  </a:srgbClr>
                </a:solidFill>
                <a:latin typeface="Arial" panose="020B0604020202020204"/>
                <a:ea typeface="Arial" panose="020B0604020202020204"/>
                <a:cs typeface="Arial" panose="020B0604020202020204"/>
              </a:rPr>
              <a:t>.20</a:t>
            </a:r>
            <a:endParaRPr sz="1000" dirty="0"/>
          </a:p>
        </p:txBody>
      </p:sp>
      <p:pic>
        <p:nvPicPr>
          <p:cNvPr id="12" name="picture 12"/>
          <p:cNvPicPr>
            <a:picLocks noChangeAspect="1"/>
          </p:cNvPicPr>
          <p:nvPr/>
        </p:nvPicPr>
        <p:blipFill>
          <a:blip r:embed="rId3"/>
          <a:stretch>
            <a:fillRect/>
          </a:stretch>
        </p:blipFill>
        <p:spPr>
          <a:xfrm rot="21600000">
            <a:off x="1339900" y="2209771"/>
            <a:ext cx="9867840" cy="1073172"/>
          </a:xfrm>
          <a:prstGeom prst="rect">
            <a:avLst/>
          </a:prstGeom>
        </p:spPr>
      </p:pic>
      <p:pic>
        <p:nvPicPr>
          <p:cNvPr id="10" name="picture 10"/>
          <p:cNvPicPr>
            <a:picLocks noChangeAspect="1"/>
          </p:cNvPicPr>
          <p:nvPr/>
        </p:nvPicPr>
        <p:blipFill>
          <a:blip r:embed="rId4"/>
          <a:stretch>
            <a:fillRect/>
          </a:stretch>
        </p:blipFill>
        <p:spPr>
          <a:xfrm rot="21600000">
            <a:off x="1536679" y="3924280"/>
            <a:ext cx="4375221" cy="25019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8" name="picture 848"/>
          <p:cNvPicPr>
            <a:picLocks noChangeAspect="1"/>
          </p:cNvPicPr>
          <p:nvPr/>
        </p:nvPicPr>
        <p:blipFill>
          <a:blip r:embed="rId1"/>
          <a:stretch>
            <a:fillRect/>
          </a:stretch>
        </p:blipFill>
        <p:spPr>
          <a:xfrm>
            <a:off x="0" y="0"/>
            <a:ext cx="12192000" cy="6858000"/>
          </a:xfrm>
          <a:prstGeom prst="rect">
            <a:avLst/>
          </a:prstGeom>
        </p:spPr>
      </p:pic>
      <p:sp>
        <p:nvSpPr>
          <p:cNvPr id="850" name="textbox 850"/>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B6C7EA">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852" name="textbox 85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854" name="textbox 85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华文楷体" panose="02010600040101010101" charset="-122"/>
                <a:ea typeface="华文楷体" panose="02010600040101010101" charset="-122"/>
                <a:cs typeface="华文楷体" panose="02010600040101010101" charset="-122"/>
              </a:rPr>
              <a:t>第三届复杂装备可靠性工程与科学研讨会暨第十二届模型验证与确认专题研讨会</a:t>
            </a:r>
            <a:endParaRPr sz="1000" dirty="0"/>
          </a:p>
        </p:txBody>
      </p:sp>
      <p:pic>
        <p:nvPicPr>
          <p:cNvPr id="858" name="picture 858"/>
          <p:cNvPicPr>
            <a:picLocks noChangeAspect="1"/>
          </p:cNvPicPr>
          <p:nvPr/>
        </p:nvPicPr>
        <p:blipFill>
          <a:blip r:embed="rId2"/>
          <a:stretch>
            <a:fillRect/>
          </a:stretch>
        </p:blipFill>
        <p:spPr>
          <a:xfrm>
            <a:off x="295275" y="247650"/>
            <a:ext cx="733425" cy="666750"/>
          </a:xfrm>
          <a:prstGeom prst="rect">
            <a:avLst/>
          </a:prstGeom>
        </p:spPr>
      </p:pic>
      <p:sp>
        <p:nvSpPr>
          <p:cNvPr id="860" name="textbox 860"/>
          <p:cNvSpPr/>
          <p:nvPr/>
        </p:nvSpPr>
        <p:spPr>
          <a:xfrm>
            <a:off x="1447800" y="333375"/>
            <a:ext cx="378142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862" name="textbox 862"/>
          <p:cNvSpPr/>
          <p:nvPr/>
        </p:nvSpPr>
        <p:spPr>
          <a:xfrm>
            <a:off x="1447800" y="752475"/>
            <a:ext cx="5829300" cy="200025"/>
          </a:xfrm>
          <a:prstGeom prst="rect">
            <a:avLst/>
          </a:prstGeom>
          <a:noFill/>
          <a:ln w="0" cap="flat">
            <a:noFill/>
            <a:prstDash val="solid"/>
            <a:miter lim="0"/>
          </a:ln>
        </p:spPr>
        <p:txBody>
          <a:bodyPr vert="horz" wrap="none" lIns="0" tIns="0" rIns="0" bIns="0"/>
          <a:lstStyle/>
          <a:p>
            <a:pPr algn="l" rtl="0" eaLnBrk="0"/>
            <a:r>
              <a:rPr sz="1400" kern="0" spc="0" dirty="0">
                <a:solidFill>
                  <a:srgbClr val="CBEDFD">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864" name="textbox 864"/>
          <p:cNvSpPr/>
          <p:nvPr/>
        </p:nvSpPr>
        <p:spPr>
          <a:xfrm>
            <a:off x="1419225" y="1143000"/>
            <a:ext cx="33147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变量降维模型：乘积表达式</a:t>
            </a:r>
            <a:endParaRPr sz="2000" dirty="0"/>
          </a:p>
        </p:txBody>
      </p:sp>
      <p:sp>
        <p:nvSpPr>
          <p:cNvPr id="866" name="textbox 866"/>
          <p:cNvSpPr/>
          <p:nvPr/>
        </p:nvSpPr>
        <p:spPr>
          <a:xfrm>
            <a:off x="952500" y="1247775"/>
            <a:ext cx="133350" cy="200025"/>
          </a:xfrm>
          <a:prstGeom prst="rect">
            <a:avLst/>
          </a:prstGeom>
          <a:noFill/>
          <a:ln w="0" cap="flat">
            <a:noFill/>
            <a:prstDash val="solid"/>
            <a:miter lim="0"/>
          </a:ln>
        </p:spPr>
        <p:txBody>
          <a:bodyPr vert="horz" wrap="none" lIns="0" tIns="0" rIns="0" bIns="0"/>
          <a:lstStyle/>
          <a:p>
            <a:pPr algn="l" rtl="0" eaLnBrk="0"/>
            <a:r>
              <a:rPr sz="16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1600" dirty="0"/>
          </a:p>
        </p:txBody>
      </p:sp>
      <p:sp>
        <p:nvSpPr>
          <p:cNvPr id="868" name="textbox 868"/>
          <p:cNvSpPr/>
          <p:nvPr/>
        </p:nvSpPr>
        <p:spPr>
          <a:xfrm>
            <a:off x="1447800" y="1504950"/>
            <a:ext cx="4391025" cy="152400"/>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Times New Roman" panose="02020603050405020304"/>
                <a:ea typeface="Times New Roman" panose="02020603050405020304"/>
                <a:cs typeface="Times New Roman" panose="02020603050405020304"/>
              </a:rPr>
              <a:t>Variable-based Dimension-reduction Models (Va-DRMs): Multiplicative Formulation</a:t>
            </a:r>
            <a:endParaRPr sz="1000" dirty="0"/>
          </a:p>
        </p:txBody>
      </p:sp>
      <p:sp>
        <p:nvSpPr>
          <p:cNvPr id="870" name="textbox 870"/>
          <p:cNvSpPr/>
          <p:nvPr/>
        </p:nvSpPr>
        <p:spPr>
          <a:xfrm>
            <a:off x="6286500" y="1114425"/>
            <a:ext cx="5648325" cy="561975"/>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Arial" panose="020B0604020202020204"/>
                <a:ea typeface="Arial" panose="020B0604020202020204"/>
                <a:cs typeface="Arial" panose="020B0604020202020204"/>
              </a:rPr>
              <a:t>Zhang X F, Pandey M D, Zhang Y M. Computationally efficient reliability analysis of</a:t>
            </a:r>
            <a:endParaRPr sz="1200" dirty="0"/>
          </a:p>
          <a:p>
            <a:pPr algn="l" rtl="0" eaLnBrk="0"/>
            <a:r>
              <a:rPr sz="1200" kern="0" spc="0" dirty="0">
                <a:solidFill>
                  <a:srgbClr val="000000">
                    <a:alpha val="100000"/>
                  </a:srgbClr>
                </a:solidFill>
                <a:latin typeface="Arial" panose="020B0604020202020204"/>
                <a:ea typeface="Arial" panose="020B0604020202020204"/>
                <a:cs typeface="Arial" panose="020B0604020202020204"/>
              </a:rPr>
              <a:t>mechanisms based on a multiplicative dimensional reduction method. Journal of</a:t>
            </a:r>
            <a:endParaRPr sz="1200" dirty="0"/>
          </a:p>
          <a:p>
            <a:pPr algn="l" rtl="0" eaLnBrk="0"/>
            <a:r>
              <a:rPr sz="1200" kern="0" spc="0" dirty="0">
                <a:solidFill>
                  <a:srgbClr val="000000">
                    <a:alpha val="100000"/>
                  </a:srgbClr>
                </a:solidFill>
                <a:latin typeface="Arial" panose="020B0604020202020204"/>
                <a:ea typeface="Arial" panose="020B0604020202020204"/>
                <a:cs typeface="Arial" panose="020B0604020202020204"/>
              </a:rPr>
              <a:t>Mechanical Design, 2014, 136(5): 061006.</a:t>
            </a:r>
            <a:endParaRPr sz="1200" dirty="0"/>
          </a:p>
        </p:txBody>
      </p:sp>
      <p:sp>
        <p:nvSpPr>
          <p:cNvPr id="878" name="textbox 878"/>
          <p:cNvSpPr/>
          <p:nvPr/>
        </p:nvSpPr>
        <p:spPr>
          <a:xfrm>
            <a:off x="247650" y="6724650"/>
            <a:ext cx="742950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
        <p:nvSpPr>
          <p:cNvPr id="880" name="textbox 880"/>
          <p:cNvSpPr/>
          <p:nvPr/>
        </p:nvSpPr>
        <p:spPr>
          <a:xfrm>
            <a:off x="11753850" y="6734175"/>
            <a:ext cx="161925" cy="114300"/>
          </a:xfrm>
          <a:prstGeom prst="rect">
            <a:avLst/>
          </a:prstGeom>
          <a:noFill/>
          <a:ln w="0" cap="flat">
            <a:noFill/>
            <a:prstDash val="solid"/>
            <a:miter lim="0"/>
          </a:ln>
        </p:spPr>
        <p:txBody>
          <a:bodyPr vert="horz" wrap="none" lIns="0" tIns="0" rIns="0" bIns="0"/>
          <a:lstStyle/>
          <a:p>
            <a:pPr algn="l" rtl="0" eaLnBrk="0"/>
            <a:r>
              <a:rPr sz="900" kern="0" spc="450" dirty="0">
                <a:solidFill>
                  <a:srgbClr val="FFFFFF">
                    <a:alpha val="100000"/>
                  </a:srgbClr>
                </a:solidFill>
                <a:latin typeface="Arial" panose="020B0604020202020204"/>
                <a:ea typeface="Arial" panose="020B0604020202020204"/>
                <a:cs typeface="Arial" panose="020B0604020202020204"/>
              </a:rPr>
              <a:t>21</a:t>
            </a:r>
            <a:endParaRPr sz="900" dirty="0"/>
          </a:p>
        </p:txBody>
      </p:sp>
      <p:pic>
        <p:nvPicPr>
          <p:cNvPr id="2" name="picture 2"/>
          <p:cNvPicPr>
            <a:picLocks noChangeAspect="1"/>
          </p:cNvPicPr>
          <p:nvPr/>
        </p:nvPicPr>
        <p:blipFill>
          <a:blip r:embed="rId3"/>
          <a:stretch>
            <a:fillRect/>
          </a:stretch>
        </p:blipFill>
        <p:spPr>
          <a:xfrm rot="21600000">
            <a:off x="3822679" y="1682747"/>
            <a:ext cx="6966021" cy="2133592"/>
          </a:xfrm>
          <a:prstGeom prst="rect">
            <a:avLst/>
          </a:prstGeom>
        </p:spPr>
      </p:pic>
      <p:pic>
        <p:nvPicPr>
          <p:cNvPr id="12" name="picture 12"/>
          <p:cNvPicPr>
            <a:picLocks noChangeAspect="1"/>
          </p:cNvPicPr>
          <p:nvPr/>
        </p:nvPicPr>
        <p:blipFill>
          <a:blip r:embed="rId4"/>
          <a:stretch>
            <a:fillRect/>
          </a:stretch>
        </p:blipFill>
        <p:spPr>
          <a:xfrm rot="21600000">
            <a:off x="3822679" y="5073616"/>
            <a:ext cx="5613440" cy="1466857"/>
          </a:xfrm>
          <a:prstGeom prst="rect">
            <a:avLst/>
          </a:prstGeom>
        </p:spPr>
      </p:pic>
      <p:pic>
        <p:nvPicPr>
          <p:cNvPr id="16" name="picture 16"/>
          <p:cNvPicPr>
            <a:picLocks noChangeAspect="1"/>
          </p:cNvPicPr>
          <p:nvPr/>
        </p:nvPicPr>
        <p:blipFill>
          <a:blip r:embed="rId5"/>
          <a:stretch>
            <a:fillRect/>
          </a:stretch>
        </p:blipFill>
        <p:spPr>
          <a:xfrm rot="21600000">
            <a:off x="3822679" y="4044917"/>
            <a:ext cx="3619560" cy="615985"/>
          </a:xfrm>
          <a:prstGeom prst="rect">
            <a:avLst/>
          </a:prstGeom>
        </p:spPr>
      </p:pic>
      <p:sp>
        <p:nvSpPr>
          <p:cNvPr id="22" name="textbox 22"/>
          <p:cNvSpPr/>
          <p:nvPr/>
        </p:nvSpPr>
        <p:spPr>
          <a:xfrm>
            <a:off x="1089249" y="2641476"/>
            <a:ext cx="2571750" cy="26670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algn="r" rtl="0" eaLnBrk="0">
              <a:lnSpc>
                <a:spcPct val="88000"/>
              </a:lnSpc>
            </a:pPr>
            <a:r>
              <a:rPr sz="1800" b="1" kern="0" spc="-12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响应函数</a:t>
            </a:r>
            <a:r>
              <a:rPr sz="1800" kern="0" spc="-31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b="1" kern="0" spc="-12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Z</a:t>
            </a:r>
            <a:r>
              <a:rPr sz="1800" kern="0" spc="-12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b="1" kern="0" spc="-12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的等效形式</a:t>
            </a:r>
            <a:r>
              <a:rPr sz="1800" kern="0" spc="-120" dirty="0">
                <a:solidFill>
                  <a:srgbClr val="80A0A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800" dirty="0">
              <a:latin typeface="宋体" panose="02010600030101010101" pitchFamily="2" charset="-122"/>
              <a:ea typeface="宋体" panose="02010600030101010101" pitchFamily="2" charset="-122"/>
              <a:cs typeface="宋体" panose="02010600030101010101" pitchFamily="2" charset="-122"/>
            </a:endParaRPr>
          </a:p>
        </p:txBody>
      </p:sp>
      <p:sp>
        <p:nvSpPr>
          <p:cNvPr id="26" name="textbox 26"/>
          <p:cNvSpPr/>
          <p:nvPr/>
        </p:nvSpPr>
        <p:spPr>
          <a:xfrm>
            <a:off x="2339816" y="5654187"/>
            <a:ext cx="1533525" cy="3492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545"/>
              </a:lnSpc>
            </a:pPr>
            <a:r>
              <a:rPr sz="1200" b="1" kern="0" spc="-50" dirty="0">
                <a:solidFill>
                  <a:srgbClr val="304060">
                    <a:alpha val="100000"/>
                  </a:srgbClr>
                </a:solidFill>
                <a:latin typeface="宋体" panose="02010600030101010101" pitchFamily="2" charset="-122"/>
                <a:ea typeface="宋体" panose="02010600030101010101" pitchFamily="2" charset="-122"/>
                <a:cs typeface="宋体" panose="02010600030101010101" pitchFamily="2" charset="-122"/>
              </a:rPr>
              <a:t>当</a:t>
            </a:r>
            <a:r>
              <a:rPr sz="1200" kern="0" spc="-50" dirty="0">
                <a:solidFill>
                  <a:srgbClr val="304060">
                    <a:alpha val="100000"/>
                  </a:srgbClr>
                </a:solidFill>
                <a:latin typeface="宋体" panose="02010600030101010101" pitchFamily="2" charset="-122"/>
                <a:ea typeface="宋体" panose="02010600030101010101" pitchFamily="2" charset="-122"/>
                <a:cs typeface="宋体" panose="02010600030101010101" pitchFamily="2" charset="-122"/>
              </a:rPr>
              <a:t> s=</a:t>
            </a:r>
            <a:r>
              <a:rPr sz="1200" kern="0" spc="30" dirty="0">
                <a:solidFill>
                  <a:srgbClr val="304060">
                    <a:alpha val="100000"/>
                  </a:srgbClr>
                </a:solidFill>
                <a:latin typeface="宋体" panose="02010600030101010101" pitchFamily="2" charset="-122"/>
                <a:ea typeface="宋体" panose="02010600030101010101" pitchFamily="2" charset="-122"/>
                <a:cs typeface="宋体" panose="02010600030101010101" pitchFamily="2" charset="-122"/>
              </a:rPr>
              <a:t>   </a:t>
            </a:r>
            <a:r>
              <a:rPr sz="1200" b="1" kern="0" spc="-50" dirty="0">
                <a:solidFill>
                  <a:srgbClr val="304060">
                    <a:alpha val="100000"/>
                  </a:srgbClr>
                </a:solidFill>
                <a:latin typeface="宋体" panose="02010600030101010101" pitchFamily="2" charset="-122"/>
                <a:ea typeface="宋体" panose="02010600030101010101" pitchFamily="2" charset="-122"/>
                <a:cs typeface="宋体" panose="02010600030101010101" pitchFamily="2" charset="-122"/>
              </a:rPr>
              <a:t>2</a:t>
            </a:r>
            <a:r>
              <a:rPr sz="1200" kern="0" spc="60" dirty="0">
                <a:solidFill>
                  <a:srgbClr val="304060">
                    <a:alpha val="100000"/>
                  </a:srgbClr>
                </a:solidFill>
                <a:latin typeface="宋体" panose="02010600030101010101" pitchFamily="2" charset="-122"/>
                <a:ea typeface="宋体" panose="02010600030101010101" pitchFamily="2" charset="-122"/>
                <a:cs typeface="宋体" panose="02010600030101010101" pitchFamily="2" charset="-122"/>
              </a:rPr>
              <a:t> </a:t>
            </a:r>
            <a:r>
              <a:rPr sz="1200" b="1" kern="0" spc="-50" dirty="0">
                <a:solidFill>
                  <a:srgbClr val="304060">
                    <a:alpha val="100000"/>
                  </a:srgbClr>
                </a:solidFill>
                <a:latin typeface="宋体" panose="02010600030101010101" pitchFamily="2" charset="-122"/>
                <a:ea typeface="宋体" panose="02010600030101010101" pitchFamily="2" charset="-122"/>
                <a:cs typeface="宋体" panose="02010600030101010101" pitchFamily="2" charset="-122"/>
              </a:rPr>
              <a:t>时</a:t>
            </a:r>
            <a:r>
              <a:rPr sz="1200" kern="0" spc="180" dirty="0">
                <a:solidFill>
                  <a:srgbClr val="304060">
                    <a:alpha val="100000"/>
                  </a:srgbClr>
                </a:solidFill>
                <a:latin typeface="宋体" panose="02010600030101010101" pitchFamily="2" charset="-122"/>
                <a:ea typeface="宋体" panose="02010600030101010101" pitchFamily="2" charset="-122"/>
                <a:cs typeface="宋体" panose="02010600030101010101" pitchFamily="2" charset="-122"/>
              </a:rPr>
              <a:t>  </a:t>
            </a:r>
            <a:r>
              <a:rPr sz="2000" kern="0" spc="-5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a:t>
            </a:r>
            <a:endParaRPr sz="2000" dirty="0">
              <a:latin typeface="宋体" panose="02010600030101010101" pitchFamily="2" charset="-122"/>
              <a:ea typeface="宋体" panose="02010600030101010101" pitchFamily="2" charset="-122"/>
              <a:cs typeface="宋体" panose="02010600030101010101" pitchFamily="2" charset="-122"/>
            </a:endParaRPr>
          </a:p>
        </p:txBody>
      </p:sp>
      <p:sp>
        <p:nvSpPr>
          <p:cNvPr id="28" name="textbox 28"/>
          <p:cNvSpPr/>
          <p:nvPr/>
        </p:nvSpPr>
        <p:spPr>
          <a:xfrm>
            <a:off x="2391111" y="4308054"/>
            <a:ext cx="1428750" cy="2667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900"/>
              </a:lnSpc>
            </a:pPr>
            <a:r>
              <a:rPr sz="1500" b="1" kern="0" spc="-7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当</a:t>
            </a:r>
            <a:r>
              <a:rPr sz="1500" kern="0" spc="-7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 s=1</a:t>
            </a:r>
            <a:r>
              <a:rPr sz="1500" kern="0" spc="1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    </a:t>
            </a:r>
            <a:r>
              <a:rPr sz="1500" b="1" kern="0" spc="-70" dirty="0">
                <a:solidFill>
                  <a:srgbClr val="103060">
                    <a:alpha val="100000"/>
                  </a:srgbClr>
                </a:solidFill>
                <a:latin typeface="宋体" panose="02010600030101010101" pitchFamily="2" charset="-122"/>
                <a:ea typeface="宋体" panose="02010600030101010101" pitchFamily="2" charset="-122"/>
                <a:cs typeface="宋体" panose="02010600030101010101" pitchFamily="2" charset="-122"/>
              </a:rPr>
              <a:t>时</a:t>
            </a:r>
            <a:r>
              <a:rPr sz="1500" kern="0" spc="-70" dirty="0">
                <a:solidFill>
                  <a:srgbClr val="80809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500" dirty="0">
              <a:latin typeface="宋体" panose="02010600030101010101" pitchFamily="2" charset="-122"/>
              <a:ea typeface="宋体" panose="02010600030101010101" pitchFamily="2" charset="-122"/>
              <a:cs typeface="宋体" panose="02010600030101010101" pitchFamily="2" charset="-122"/>
            </a:endParaRPr>
          </a:p>
        </p:txBody>
      </p:sp>
      <p:sp>
        <p:nvSpPr>
          <p:cNvPr id="4" name="左大括号 3"/>
          <p:cNvSpPr/>
          <p:nvPr/>
        </p:nvSpPr>
        <p:spPr>
          <a:xfrm>
            <a:off x="1891665" y="4453890"/>
            <a:ext cx="497205" cy="1549400"/>
          </a:xfrm>
          <a:prstGeom prst="leftBrace">
            <a:avLst>
              <a:gd name="adj1" fmla="val 8333"/>
              <a:gd name="adj2" fmla="val 50819"/>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4" name="picture 884"/>
          <p:cNvPicPr>
            <a:picLocks noChangeAspect="1"/>
          </p:cNvPicPr>
          <p:nvPr/>
        </p:nvPicPr>
        <p:blipFill>
          <a:blip r:embed="rId1"/>
          <a:stretch>
            <a:fillRect/>
          </a:stretch>
        </p:blipFill>
        <p:spPr>
          <a:xfrm>
            <a:off x="0" y="0"/>
            <a:ext cx="12192000" cy="6858000"/>
          </a:xfrm>
          <a:prstGeom prst="rect">
            <a:avLst/>
          </a:prstGeom>
        </p:spPr>
      </p:pic>
      <p:sp>
        <p:nvSpPr>
          <p:cNvPr id="886" name="textbox 886"/>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888" name="textbox 888"/>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890" name="textbox 89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894" name="picture 894"/>
          <p:cNvPicPr>
            <a:picLocks noChangeAspect="1"/>
          </p:cNvPicPr>
          <p:nvPr/>
        </p:nvPicPr>
        <p:blipFill>
          <a:blip r:embed="rId2"/>
          <a:stretch>
            <a:fillRect/>
          </a:stretch>
        </p:blipFill>
        <p:spPr>
          <a:xfrm>
            <a:off x="295275" y="247650"/>
            <a:ext cx="733425" cy="666750"/>
          </a:xfrm>
          <a:prstGeom prst="rect">
            <a:avLst/>
          </a:prstGeom>
        </p:spPr>
      </p:pic>
      <p:sp>
        <p:nvSpPr>
          <p:cNvPr id="896" name="textbox 896"/>
          <p:cNvSpPr/>
          <p:nvPr/>
        </p:nvSpPr>
        <p:spPr>
          <a:xfrm>
            <a:off x="1447800" y="333375"/>
            <a:ext cx="378142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898" name="textbox 898"/>
          <p:cNvSpPr/>
          <p:nvPr/>
        </p:nvSpPr>
        <p:spPr>
          <a:xfrm>
            <a:off x="1447800" y="752475"/>
            <a:ext cx="5829300" cy="200025"/>
          </a:xfrm>
          <a:prstGeom prst="rect">
            <a:avLst/>
          </a:prstGeom>
          <a:noFill/>
          <a:ln w="0" cap="flat">
            <a:noFill/>
            <a:prstDash val="solid"/>
            <a:miter lim="0"/>
          </a:ln>
        </p:spPr>
        <p:txBody>
          <a:bodyPr vert="horz" wrap="none" lIns="0" tIns="0" rIns="0" bIns="0"/>
          <a:lstStyle/>
          <a:p>
            <a:pPr algn="l" rtl="0" eaLnBrk="0"/>
            <a:r>
              <a:rPr sz="1400" kern="0" spc="0" dirty="0">
                <a:solidFill>
                  <a:srgbClr val="D0EBF7">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900" name="textbox 900"/>
          <p:cNvSpPr/>
          <p:nvPr/>
        </p:nvSpPr>
        <p:spPr>
          <a:xfrm>
            <a:off x="1419225" y="1143000"/>
            <a:ext cx="250507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6">
                    <a:alpha val="100000"/>
                  </a:srgbClr>
                </a:solidFill>
                <a:latin typeface="微软雅黑" panose="020B0503020204020204" charset="-122"/>
                <a:ea typeface="微软雅黑" panose="020B0503020204020204" charset="-122"/>
                <a:cs typeface="微软雅黑" panose="020B0503020204020204" charset="-122"/>
              </a:rPr>
              <a:t>基于向量的降维模型</a:t>
            </a:r>
            <a:endParaRPr sz="2000" dirty="0"/>
          </a:p>
        </p:txBody>
      </p:sp>
      <p:sp>
        <p:nvSpPr>
          <p:cNvPr id="902" name="textbox 902"/>
          <p:cNvSpPr/>
          <p:nvPr/>
        </p:nvSpPr>
        <p:spPr>
          <a:xfrm>
            <a:off x="933450" y="1247775"/>
            <a:ext cx="152400" cy="200025"/>
          </a:xfrm>
          <a:prstGeom prst="rect">
            <a:avLst/>
          </a:prstGeom>
          <a:noFill/>
          <a:ln w="0" cap="flat">
            <a:noFill/>
            <a:prstDash val="solid"/>
            <a:miter lim="0"/>
          </a:ln>
        </p:spPr>
        <p:txBody>
          <a:bodyPr vert="horz" wrap="none" lIns="0" tIns="0" rIns="0" bIns="0"/>
          <a:lstStyle/>
          <a:p>
            <a:pPr algn="l" rtl="0" eaLnBrk="0"/>
            <a:r>
              <a:rPr sz="1600" b="1" kern="0" spc="0" dirty="0">
                <a:solidFill>
                  <a:srgbClr val="FFFFFF">
                    <a:alpha val="100000"/>
                  </a:srgbClr>
                </a:solidFill>
                <a:latin typeface="Times New Roman" panose="02020603050405020304"/>
                <a:ea typeface="Times New Roman" panose="02020603050405020304"/>
                <a:cs typeface="Times New Roman" panose="02020603050405020304"/>
              </a:rPr>
              <a:t>3</a:t>
            </a:r>
            <a:endParaRPr sz="1600" dirty="0"/>
          </a:p>
        </p:txBody>
      </p:sp>
      <p:sp>
        <p:nvSpPr>
          <p:cNvPr id="904" name="textbox 904"/>
          <p:cNvSpPr/>
          <p:nvPr/>
        </p:nvSpPr>
        <p:spPr>
          <a:xfrm>
            <a:off x="1447800" y="1504950"/>
            <a:ext cx="2800350" cy="152400"/>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Times New Roman" panose="02020603050405020304"/>
                <a:ea typeface="Times New Roman" panose="02020603050405020304"/>
                <a:cs typeface="Times New Roman" panose="02020603050405020304"/>
              </a:rPr>
              <a:t>Vector-based dimension-reduction models (Ve-DRMs)</a:t>
            </a:r>
            <a:endParaRPr sz="1000" dirty="0"/>
          </a:p>
        </p:txBody>
      </p:sp>
      <p:sp>
        <p:nvSpPr>
          <p:cNvPr id="906" name="textbox 906"/>
          <p:cNvSpPr/>
          <p:nvPr/>
        </p:nvSpPr>
        <p:spPr>
          <a:xfrm>
            <a:off x="990600" y="2047875"/>
            <a:ext cx="2981325" cy="295275"/>
          </a:xfrm>
          <a:prstGeom prst="rect">
            <a:avLst/>
          </a:prstGeom>
          <a:noFill/>
          <a:ln w="0" cap="flat">
            <a:noFill/>
            <a:prstDash val="solid"/>
            <a:miter lim="0"/>
          </a:ln>
        </p:spPr>
        <p:txBody>
          <a:bodyPr vert="horz" wrap="none" lIns="0" tIns="0" rIns="0" bIns="0"/>
          <a:lstStyle/>
          <a:p>
            <a:pPr algn="l" rtl="0" eaLnBrk="0"/>
            <a:r>
              <a:rPr sz="1600" b="1" kern="0" spc="0" dirty="0">
                <a:solidFill>
                  <a:srgbClr val="1A2E63">
                    <a:alpha val="100000"/>
                  </a:srgbClr>
                </a:solidFill>
                <a:latin typeface="微软雅黑" panose="020B0503020204020204" charset="-122"/>
                <a:ea typeface="微软雅黑" panose="020B0503020204020204" charset="-122"/>
                <a:cs typeface="微软雅黑" panose="020B0503020204020204" charset="-122"/>
              </a:rPr>
              <a:t>识别 </a:t>
            </a:r>
            <a:r>
              <a:rPr sz="1600" i="1" kern="0" spc="0" dirty="0">
                <a:solidFill>
                  <a:srgbClr val="000000">
                    <a:alpha val="100000"/>
                  </a:srgbClr>
                </a:solidFill>
                <a:latin typeface="Times New Roman" panose="02020603050405020304"/>
                <a:ea typeface="Times New Roman" panose="02020603050405020304"/>
                <a:cs typeface="Times New Roman" panose="02020603050405020304"/>
              </a:rPr>
              <a:t>G</a:t>
            </a:r>
            <a:r>
              <a:rPr sz="1600" kern="0" spc="0" dirty="0">
                <a:solidFill>
                  <a:srgbClr val="000000">
                    <a:alpha val="100000"/>
                  </a:srgbClr>
                </a:solidFill>
                <a:latin typeface="Times New Roman" panose="02020603050405020304"/>
                <a:ea typeface="Times New Roman" panose="02020603050405020304"/>
                <a:cs typeface="Times New Roman" panose="02020603050405020304"/>
              </a:rPr>
              <a:t>(</a:t>
            </a:r>
            <a:r>
              <a:rPr sz="1600" i="1" kern="0" spc="0" dirty="0">
                <a:solidFill>
                  <a:srgbClr val="000000">
                    <a:alpha val="100000"/>
                  </a:srgbClr>
                </a:solidFill>
                <a:latin typeface="Times New Roman" panose="02020603050405020304"/>
                <a:ea typeface="Times New Roman" panose="02020603050405020304"/>
                <a:cs typeface="Times New Roman" panose="02020603050405020304"/>
              </a:rPr>
              <a:t>θ</a:t>
            </a:r>
            <a:r>
              <a:rPr sz="16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1600" b="1" kern="0" spc="0" dirty="0">
                <a:solidFill>
                  <a:srgbClr val="1A2E63">
                    <a:alpha val="100000"/>
                  </a:srgbClr>
                </a:solidFill>
                <a:latin typeface="微软雅黑" panose="020B0503020204020204" charset="-122"/>
                <a:ea typeface="微软雅黑" panose="020B0503020204020204" charset="-122"/>
                <a:cs typeface="微软雅黑" panose="020B0503020204020204" charset="-122"/>
              </a:rPr>
              <a:t>中的交互项 </a:t>
            </a:r>
            <a:r>
              <a:rPr sz="1600" i="1" kern="0" spc="0" dirty="0">
                <a:solidFill>
                  <a:srgbClr val="000000">
                    <a:alpha val="100000"/>
                  </a:srgbClr>
                </a:solidFill>
                <a:latin typeface="Times New Roman" panose="02020603050405020304"/>
                <a:ea typeface="Times New Roman" panose="02020603050405020304"/>
                <a:cs typeface="Times New Roman" panose="02020603050405020304"/>
              </a:rPr>
              <a:t>θ_{i_{1}} </a:t>
            </a:r>
            <a:r>
              <a:rPr sz="1600" b="1" kern="0" spc="0" dirty="0">
                <a:solidFill>
                  <a:srgbClr val="1A2E63">
                    <a:alpha val="100000"/>
                  </a:srgbClr>
                </a:solidFill>
                <a:latin typeface="微软雅黑" panose="020B0503020204020204" charset="-122"/>
                <a:ea typeface="微软雅黑" panose="020B0503020204020204" charset="-122"/>
                <a:cs typeface="微软雅黑" panose="020B0503020204020204" charset="-122"/>
              </a:rPr>
              <a:t>与 </a:t>
            </a:r>
            <a:r>
              <a:rPr sz="1600" i="1" kern="0" spc="0" dirty="0">
                <a:solidFill>
                  <a:srgbClr val="000000">
                    <a:alpha val="100000"/>
                  </a:srgbClr>
                </a:solidFill>
                <a:latin typeface="Times New Roman" panose="02020603050405020304"/>
                <a:ea typeface="Times New Roman" panose="02020603050405020304"/>
                <a:cs typeface="Times New Roman" panose="02020603050405020304"/>
              </a:rPr>
              <a:t>θ_{i_{2}}</a:t>
            </a:r>
            <a:r>
              <a:rPr sz="16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p>
        </p:txBody>
      </p:sp>
      <p:pic>
        <p:nvPicPr>
          <p:cNvPr id="910" name="picture 910"/>
          <p:cNvPicPr>
            <a:picLocks noChangeAspect="1"/>
          </p:cNvPicPr>
          <p:nvPr/>
        </p:nvPicPr>
        <p:blipFill>
          <a:blip r:embed="rId3"/>
          <a:stretch>
            <a:fillRect/>
          </a:stretch>
        </p:blipFill>
        <p:spPr>
          <a:xfrm>
            <a:off x="1028700" y="2428875"/>
            <a:ext cx="9801225" cy="1190625"/>
          </a:xfrm>
          <a:prstGeom prst="rect">
            <a:avLst/>
          </a:prstGeom>
        </p:spPr>
      </p:pic>
      <mc:AlternateContent xmlns:mc="http://schemas.openxmlformats.org/markup-compatibility/2006">
        <mc:Choice xmlns:a14="http://schemas.microsoft.com/office/drawing/2010/main" Requires="a14">
          <p:sp>
            <p:nvSpPr>
              <p:cNvPr id="912" name="textbox 912"/>
              <p:cNvSpPr/>
              <p:nvPr/>
            </p:nvSpPr>
            <p:spPr>
              <a:xfrm>
                <a:off x="3486150" y="3762375"/>
                <a:ext cx="4829175" cy="6953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1800" dirty="0">
                              <a:latin typeface="Cambria Math" panose="02040503050406030204"/>
                              <a:ea typeface="Cambria Math" panose="02040503050406030204"/>
                            </a:rPr>
                            <m:t>Q</m:t>
                          </m:r>
                        </m:e>
                        <m:sub>
                          <m:r>
                            <m:rPr>
                              <m:sty m:val="p"/>
                            </m:rPr>
                            <a:rPr lang="en-US" sz="1800" dirty="0">
                              <a:latin typeface="Cambria Math" panose="02040503050406030204"/>
                              <a:ea typeface="Cambria Math" panose="02040503050406030204"/>
                            </a:rPr>
                            <m:t>G</m:t>
                          </m:r>
                        </m:sub>
                      </m:sSub>
                      <m:r>
                        <a:rPr lang="en-US" sz="1800" dirty="0">
                          <a:latin typeface="Cambria Math" panose="02040503050406030204"/>
                          <a:ea typeface="Cambria Math" panose="02040503050406030204"/>
                        </a:rPr>
                        <m:t>(</m:t>
                      </m:r>
                      <m:sSub>
                        <m:sSubPr>
                          <m:ctrlPr>
                            <a:rPr/>
                          </m:ctrlPr>
                        </m:sSubPr>
                        <m:e>
                          <m:r>
                            <a:rPr lang="en-US" sz="1800" dirty="0">
                              <a:latin typeface="Cambria Math" panose="02040503050406030204"/>
                              <a:ea typeface="Cambria Math" panose="02040503050406030204"/>
                            </a:rPr>
                            <m:t>𝛩</m:t>
                          </m:r>
                        </m:e>
                        <m:sub>
                          <m:sSub>
                            <m:sSubPr>
                              <m:ctrlPr>
                                <a:rPr/>
                              </m:ctrlPr>
                            </m:sSubPr>
                            <m:e>
                              <m:r>
                                <m:rPr>
                                  <m:sty m:val="p"/>
                                </m:rPr>
                                <a:rPr lang="en-US" sz="1800" dirty="0">
                                  <a:latin typeface="Cambria Math" panose="02040503050406030204"/>
                                  <a:ea typeface="Cambria Math" panose="02040503050406030204"/>
                                </a:rPr>
                                <m:t>i</m:t>
                              </m:r>
                            </m:e>
                            <m:sub>
                              <m:r>
                                <a:rPr lang="en-US" sz="1800" dirty="0">
                                  <a:latin typeface="Cambria Math" panose="02040503050406030204"/>
                                  <a:ea typeface="Cambria Math" panose="02040503050406030204"/>
                                </a:rPr>
                                <m:t>1</m:t>
                              </m:r>
                            </m:sub>
                          </m:sSub>
                        </m:sub>
                      </m:sSub>
                      <m:r>
                        <a:rPr lang="en-US" sz="1800" dirty="0">
                          <a:latin typeface="Cambria Math" panose="02040503050406030204"/>
                          <a:ea typeface="Cambria Math" panose="02040503050406030204"/>
                        </a:rPr>
                        <m:t>,</m:t>
                      </m:r>
                      <m:sSub>
                        <m:sSubPr>
                          <m:ctrlPr>
                            <a:rPr/>
                          </m:ctrlPr>
                        </m:sSubPr>
                        <m:e>
                          <m:r>
                            <a:rPr lang="en-US" sz="1800" dirty="0">
                              <a:latin typeface="Cambria Math" panose="02040503050406030204"/>
                              <a:ea typeface="Cambria Math" panose="02040503050406030204"/>
                            </a:rPr>
                            <m:t>𝛩</m:t>
                          </m:r>
                        </m:e>
                        <m:sub>
                          <m:sSub>
                            <m:sSubPr>
                              <m:ctrlPr>
                                <a:rPr/>
                              </m:ctrlPr>
                            </m:sSubPr>
                            <m:e>
                              <m:r>
                                <m:rPr>
                                  <m:sty m:val="p"/>
                                </m:rPr>
                                <a:rPr lang="en-US" sz="1800" dirty="0">
                                  <a:latin typeface="Cambria Math" panose="02040503050406030204"/>
                                  <a:ea typeface="Cambria Math" panose="02040503050406030204"/>
                                </a:rPr>
                                <m:t>i</m:t>
                              </m:r>
                            </m:e>
                            <m:sub>
                              <m:r>
                                <a:rPr lang="en-US" sz="1800" dirty="0">
                                  <a:latin typeface="Cambria Math" panose="02040503050406030204"/>
                                  <a:ea typeface="Cambria Math" panose="02040503050406030204"/>
                                </a:rPr>
                                <m:t>2</m:t>
                              </m:r>
                            </m:sub>
                          </m:sSub>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d>
                        <m:dPr>
                          <m:begChr m:val="{"/>
                          <m:endChr m:val="("/>
                          <m:ctrlPr>
                            <a:rPr/>
                          </m:ctrlPr>
                        </m:dPr>
                        <m:e>
                          <m:eqArr>
                            <m:eqArrPr>
                              <m:ctrlPr>
                                <a:rPr/>
                              </m:ctrlPr>
                            </m:eqArrPr>
                            <m:e>
                              <m:r>
                                <a:rPr lang="en-US" sz="1800" dirty="0">
                                  <a:latin typeface="Cambria Math" panose="02040503050406030204"/>
                                  <a:ea typeface="Cambria Math" panose="02040503050406030204"/>
                                </a:rPr>
                                <m:t>1</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f</m:t>
                              </m:r>
                              <m:r>
                                <m:rPr>
                                  <m:sty m:val="p"/>
                                </m:rPr>
                                <a:rPr lang="en-US" sz="1800" dirty="0">
                                  <a:latin typeface="Cambria Math" panose="02040503050406030204"/>
                                  <a:ea typeface="Cambria Math" panose="02040503050406030204"/>
                                </a:rPr>
                                <m:t>t</m:t>
                              </m:r>
                              <m:r>
                                <m:rPr>
                                  <m:sty m:val="p"/>
                                </m:rPr>
                                <a:rPr lang="en-US" sz="1800" dirty="0">
                                  <a:latin typeface="Cambria Math" panose="02040503050406030204"/>
                                  <a:ea typeface="Cambria Math" panose="02040503050406030204"/>
                                </a:rPr>
                                <m:t>h</m:t>
                              </m:r>
                              <m:r>
                                <m:rPr>
                                  <m:sty m:val="p"/>
                                </m:rPr>
                                <a:rPr lang="en-US" sz="1800" dirty="0">
                                  <a:latin typeface="Cambria Math" panose="02040503050406030204"/>
                                  <a:ea typeface="Cambria Math" panose="02040503050406030204"/>
                                </a:rPr>
                                <m:t>e</m:t>
                              </m:r>
                              <m:r>
                                <m:rPr>
                                  <m:sty m:val="p"/>
                                </m:rPr>
                                <a:rPr lang="en-US" sz="1800" dirty="0">
                                  <a:latin typeface="Cambria Math" panose="02040503050406030204"/>
                                  <a:ea typeface="Cambria Math" panose="02040503050406030204"/>
                                </a:rPr>
                                <m:t>c</m:t>
                              </m:r>
                              <m:r>
                                <m:rPr>
                                  <m:sty m:val="p"/>
                                </m:rPr>
                                <a:rPr lang="en-US" sz="1800" dirty="0">
                                  <a:latin typeface="Cambria Math" panose="02040503050406030204"/>
                                  <a:ea typeface="Cambria Math" panose="02040503050406030204"/>
                                </a:rPr>
                                <m:t>r</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s</m:t>
                              </m:r>
                              <m:r>
                                <m:rPr>
                                  <m:sty m:val="p"/>
                                </m:rPr>
                                <a:rPr lang="en-US" sz="1800" dirty="0">
                                  <a:latin typeface="Cambria Math" panose="02040503050406030204"/>
                                  <a:ea typeface="Cambria Math" panose="02040503050406030204"/>
                                </a:rPr>
                                <m:t>s</m:t>
                              </m:r>
                              <m:r>
                                <m:rPr>
                                  <m:sty m:val="p"/>
                                </m:rPr>
                                <a:rPr lang="en-US" sz="1800" dirty="0">
                                  <a:latin typeface="Cambria Math" panose="02040503050406030204"/>
                                  <a:ea typeface="Cambria Math" panose="02040503050406030204"/>
                                </a:rPr>
                                <m:t>t</m:t>
                              </m:r>
                              <m:r>
                                <m:rPr>
                                  <m:sty m:val="p"/>
                                </m:rPr>
                                <a:rPr lang="en-US" sz="1800" dirty="0">
                                  <a:latin typeface="Cambria Math" panose="02040503050406030204"/>
                                  <a:ea typeface="Cambria Math" panose="02040503050406030204"/>
                                </a:rPr>
                                <m:t>e</m:t>
                              </m:r>
                              <m:r>
                                <m:rPr>
                                  <m:sty m:val="p"/>
                                </m:rPr>
                                <a:rPr lang="en-US" sz="1800" dirty="0">
                                  <a:latin typeface="Cambria Math" panose="02040503050406030204"/>
                                  <a:ea typeface="Cambria Math" panose="02040503050406030204"/>
                                </a:rPr>
                                <m:t>r</m:t>
                              </m:r>
                              <m:r>
                                <m:rPr>
                                  <m:sty m:val="p"/>
                                </m:rPr>
                                <a:rPr lang="en-US" sz="1800" dirty="0">
                                  <a:latin typeface="Cambria Math" panose="02040503050406030204"/>
                                  <a:ea typeface="Cambria Math" panose="02040503050406030204"/>
                                </a:rPr>
                                <m:t>m</m:t>
                              </m:r>
                              <m:r>
                                <m:rPr>
                                  <m:sty m:val="p"/>
                                </m:rPr>
                                <a:rPr lang="en-US" sz="1800" dirty="0">
                                  <a:latin typeface="Cambria Math" panose="02040503050406030204"/>
                                  <a:ea typeface="Cambria Math" panose="02040503050406030204"/>
                                </a:rPr>
                                <m:t>s</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f</m:t>
                              </m:r>
                              <m:r>
                                <a:rPr lang="en-US" sz="1800" dirty="0">
                                  <a:latin typeface="Cambria Math" panose="02040503050406030204"/>
                                  <a:ea typeface="Cambria Math" panose="02040503050406030204"/>
                                </a:rPr>
                                <m:t>𝛩</m:t>
                              </m:r>
                              <m:sSub>
                                <m:sSubPr>
                                  <m:ctrlPr>
                                    <a:rPr/>
                                  </m:ctrlPr>
                                </m:sSubPr>
                                <m:e>
                                  <m:r>
                                    <m:rPr>
                                      <m:sty m:val="p"/>
                                    </m:rPr>
                                    <a:rPr lang="en-US" sz="1800" dirty="0">
                                      <a:latin typeface="Cambria Math" panose="02040503050406030204"/>
                                      <a:ea typeface="Cambria Math" panose="02040503050406030204"/>
                                    </a:rPr>
                                    <m:t>i</m:t>
                                  </m:r>
                                </m:e>
                                <m:sub>
                                  <m:r>
                                    <a:rPr lang="en-US" sz="1800" dirty="0">
                                      <a:latin typeface="Cambria Math" panose="02040503050406030204"/>
                                      <a:ea typeface="Cambria Math" panose="02040503050406030204"/>
                                    </a:rPr>
                                    <m:t>1</m:t>
                                  </m:r>
                                </m:sub>
                              </m:sSub>
                              <m:r>
                                <m:rPr>
                                  <m:sty m:val="p"/>
                                </m:rPr>
                                <a:rPr lang="en-US" sz="1800" dirty="0">
                                  <a:latin typeface="Cambria Math" panose="02040503050406030204"/>
                                  <a:ea typeface="Cambria Math" panose="02040503050406030204"/>
                                </a:rPr>
                                <m:t>a</m:t>
                              </m:r>
                              <m:r>
                                <m:rPr>
                                  <m:sty m:val="p"/>
                                </m:rPr>
                                <a:rPr lang="en-US" sz="1800" dirty="0">
                                  <a:latin typeface="Cambria Math" panose="02040503050406030204"/>
                                  <a:ea typeface="Cambria Math" panose="02040503050406030204"/>
                                </a:rPr>
                                <m:t>n</m:t>
                              </m:r>
                              <m:r>
                                <m:rPr>
                                  <m:sty m:val="p"/>
                                </m:rPr>
                                <a:rPr lang="en-US" sz="1800" dirty="0">
                                  <a:latin typeface="Cambria Math" panose="02040503050406030204"/>
                                  <a:ea typeface="Cambria Math" panose="02040503050406030204"/>
                                </a:rPr>
                                <m:t>d</m:t>
                              </m:r>
                              <m:r>
                                <a:rPr lang="en-US" sz="1800" dirty="0">
                                  <a:latin typeface="Cambria Math" panose="02040503050406030204"/>
                                  <a:ea typeface="Cambria Math" panose="02040503050406030204"/>
                                </a:rPr>
                                <m:t>𝛩</m:t>
                              </m:r>
                              <m:sSub>
                                <m:sSubPr>
                                  <m:ctrlPr>
                                    <a:rPr/>
                                  </m:ctrlPr>
                                </m:sSubPr>
                                <m:e>
                                  <m:r>
                                    <m:rPr>
                                      <m:sty m:val="p"/>
                                    </m:rPr>
                                    <a:rPr lang="en-US" sz="1800" dirty="0">
                                      <a:latin typeface="Cambria Math" panose="02040503050406030204"/>
                                      <a:ea typeface="Cambria Math" panose="02040503050406030204"/>
                                    </a:rPr>
                                    <m:t>i</m:t>
                                  </m:r>
                                </m:e>
                                <m:sub>
                                  <m:r>
                                    <a:rPr lang="en-US" sz="1800" dirty="0">
                                      <a:latin typeface="Cambria Math" panose="02040503050406030204"/>
                                      <a:ea typeface="Cambria Math" panose="02040503050406030204"/>
                                    </a:rPr>
                                    <m:t>2</m:t>
                                  </m:r>
                                </m:sub>
                              </m:sSub>
                              <m:r>
                                <m:rPr>
                                  <m:sty m:val="p"/>
                                </m:rPr>
                                <a:rPr lang="en-US" sz="1800" dirty="0">
                                  <a:latin typeface="Cambria Math" panose="02040503050406030204"/>
                                  <a:ea typeface="Cambria Math" panose="02040503050406030204"/>
                                </a:rPr>
                                <m:t>e</m:t>
                              </m:r>
                              <m:r>
                                <m:rPr>
                                  <m:sty m:val="p"/>
                                </m:rPr>
                                <a:rPr lang="en-US" sz="1800" dirty="0">
                                  <a:latin typeface="Cambria Math" panose="02040503050406030204"/>
                                  <a:ea typeface="Cambria Math" panose="02040503050406030204"/>
                                </a:rPr>
                                <m:t>x</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s</m:t>
                              </m:r>
                              <m:r>
                                <m:rPr>
                                  <m:sty m:val="p"/>
                                </m:rPr>
                                <a:rPr lang="en-US" sz="1800" dirty="0">
                                  <a:latin typeface="Cambria Math" panose="02040503050406030204"/>
                                  <a:ea typeface="Cambria Math" panose="02040503050406030204"/>
                                </a:rPr>
                                <m:t>t</m:t>
                              </m:r>
                            </m:e>
                            <m:e>
                              <m:r>
                                <a:rPr lang="en-US" sz="1800" dirty="0">
                                  <a:latin typeface="Cambria Math" panose="02040503050406030204"/>
                                  <a:ea typeface="Cambria Math" panose="02040503050406030204"/>
                                </a:rPr>
                                <m:t>0</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t</m:t>
                              </m:r>
                              <m:r>
                                <m:rPr>
                                  <m:sty m:val="p"/>
                                </m:rPr>
                                <a:rPr lang="en-US" sz="1800" dirty="0">
                                  <a:latin typeface="Cambria Math" panose="02040503050406030204"/>
                                  <a:ea typeface="Cambria Math" panose="02040503050406030204"/>
                                </a:rPr>
                                <m:t>h</m:t>
                              </m:r>
                              <m:r>
                                <m:rPr>
                                  <m:sty m:val="p"/>
                                </m:rPr>
                                <a:rPr lang="en-US" sz="1800" dirty="0">
                                  <a:latin typeface="Cambria Math" panose="02040503050406030204"/>
                                  <a:ea typeface="Cambria Math" panose="02040503050406030204"/>
                                </a:rPr>
                                <m:t>e</m:t>
                              </m:r>
                              <m:r>
                                <m:rPr>
                                  <m:sty m:val="p"/>
                                </m:rPr>
                                <a:rPr lang="en-US" sz="1800" dirty="0">
                                  <a:latin typeface="Cambria Math" panose="02040503050406030204"/>
                                  <a:ea typeface="Cambria Math" panose="02040503050406030204"/>
                                </a:rPr>
                                <m:t>r</m:t>
                              </m:r>
                              <m:r>
                                <m:rPr>
                                  <m:sty m:val="p"/>
                                </m:rPr>
                                <a:rPr lang="en-US" sz="1800" dirty="0">
                                  <a:latin typeface="Cambria Math" panose="02040503050406030204"/>
                                  <a:ea typeface="Cambria Math" panose="02040503050406030204"/>
                                </a:rPr>
                                <m:t>w</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s</m:t>
                              </m:r>
                              <m:r>
                                <m:rPr>
                                  <m:sty m:val="p"/>
                                </m:rPr>
                                <a:rPr lang="en-US" sz="1800" dirty="0">
                                  <a:latin typeface="Cambria Math" panose="02040503050406030204"/>
                                  <a:ea typeface="Cambria Math" panose="02040503050406030204"/>
                                </a:rPr>
                                <m:t>e</m:t>
                              </m:r>
                            </m:e>
                          </m:eqArr>
                        </m:e>
                      </m:d>
                    </m:oMath>
                  </m:oMathPara>
                </a14:m>
                <a:endParaRPr sz="600" dirty="0"/>
              </a:p>
            </p:txBody>
          </p:sp>
        </mc:Choice>
        <mc:Fallback>
          <p:sp>
            <p:nvSpPr>
              <p:cNvPr id="912" name="textbox 912"/>
              <p:cNvSpPr>
                <a:spLocks noRot="1" noChangeAspect="1" noMove="1" noResize="1" noEditPoints="1" noAdjustHandles="1" noChangeArrowheads="1" noChangeShapeType="1" noTextEdit="1"/>
              </p:cNvSpPr>
              <p:nvPr/>
            </p:nvSpPr>
            <p:spPr>
              <a:xfrm>
                <a:off x="3486150" y="3762375"/>
                <a:ext cx="4829175" cy="695325"/>
              </a:xfrm>
              <a:prstGeom prst="rect">
                <a:avLst/>
              </a:prstGeom>
              <a:blipFill rotWithShape="1">
                <a:blip r:embed="rId4"/>
                <a:stretch>
                  <a:fillRect r="-5220"/>
                </a:stretch>
              </a:blipFill>
              <a:ln w="0" cap="flat">
                <a:noFill/>
                <a:prstDash val="solid"/>
                <a:miter lim="0"/>
              </a:ln>
            </p:spPr>
            <p:txBody>
              <a:bodyPr/>
              <a:lstStyle/>
              <a:p>
                <a:r>
                  <a:rPr lang="zh-CN" altLang="en-US">
                    <a:noFill/>
                  </a:rPr>
                  <a:t> </a:t>
                </a:r>
              </a:p>
            </p:txBody>
          </p:sp>
        </mc:Fallback>
      </mc:AlternateContent>
      <p:pic>
        <p:nvPicPr>
          <p:cNvPr id="916" name="picture 916"/>
          <p:cNvPicPr>
            <a:picLocks noChangeAspect="1"/>
          </p:cNvPicPr>
          <p:nvPr/>
        </p:nvPicPr>
        <p:blipFill>
          <a:blip r:embed="rId5"/>
          <a:stretch>
            <a:fillRect/>
          </a:stretch>
        </p:blipFill>
        <p:spPr>
          <a:xfrm>
            <a:off x="2667000" y="4610100"/>
            <a:ext cx="390525" cy="590550"/>
          </a:xfrm>
          <a:prstGeom prst="rect">
            <a:avLst/>
          </a:prstGeom>
        </p:spPr>
      </p:pic>
      <p:sp>
        <p:nvSpPr>
          <p:cNvPr id="918" name="textbox 918"/>
          <p:cNvSpPr/>
          <p:nvPr/>
        </p:nvSpPr>
        <p:spPr>
          <a:xfrm>
            <a:off x="3209925" y="4772025"/>
            <a:ext cx="866775" cy="257175"/>
          </a:xfrm>
          <a:prstGeom prst="rect">
            <a:avLst/>
          </a:prstGeom>
          <a:noFill/>
          <a:ln w="0" cap="flat">
            <a:noFill/>
            <a:prstDash val="solid"/>
            <a:miter lim="0"/>
          </a:ln>
        </p:spPr>
        <p:txBody>
          <a:bodyPr vert="horz" wrap="none" lIns="0" tIns="0" rIns="0" bIns="0"/>
          <a:lstStyle/>
          <a:p>
            <a:pPr algn="l" rtl="0" eaLnBrk="0"/>
            <a:r>
              <a:rPr sz="1600" b="1" kern="0" spc="0" dirty="0">
                <a:solidFill>
                  <a:srgbClr val="17375E">
                    <a:alpha val="100000"/>
                  </a:srgbClr>
                </a:solidFill>
                <a:latin typeface="微软雅黑" panose="020B0503020204020204" charset="-122"/>
                <a:ea typeface="微软雅黑" panose="020B0503020204020204" charset="-122"/>
                <a:cs typeface="微软雅黑" panose="020B0503020204020204" charset="-122"/>
              </a:rPr>
              <a:t>加和形式</a:t>
            </a:r>
            <a:endParaRPr sz="1600" dirty="0"/>
          </a:p>
        </p:txBody>
      </p:sp>
      <p:pic>
        <p:nvPicPr>
          <p:cNvPr id="922" name="picture 922"/>
          <p:cNvPicPr>
            <a:picLocks noChangeAspect="1"/>
          </p:cNvPicPr>
          <p:nvPr/>
        </p:nvPicPr>
        <p:blipFill>
          <a:blip r:embed="rId6"/>
          <a:stretch>
            <a:fillRect/>
          </a:stretch>
        </p:blipFill>
        <p:spPr>
          <a:xfrm>
            <a:off x="8763000" y="4610100"/>
            <a:ext cx="390525" cy="590550"/>
          </a:xfrm>
          <a:prstGeom prst="rect">
            <a:avLst/>
          </a:prstGeom>
        </p:spPr>
      </p:pic>
      <p:sp>
        <p:nvSpPr>
          <p:cNvPr id="924" name="textbox 924"/>
          <p:cNvSpPr/>
          <p:nvPr/>
        </p:nvSpPr>
        <p:spPr>
          <a:xfrm>
            <a:off x="9267825" y="4772025"/>
            <a:ext cx="876300" cy="257175"/>
          </a:xfrm>
          <a:prstGeom prst="rect">
            <a:avLst/>
          </a:prstGeom>
          <a:noFill/>
          <a:ln w="0" cap="flat">
            <a:noFill/>
            <a:prstDash val="solid"/>
            <a:miter lim="0"/>
          </a:ln>
        </p:spPr>
        <p:txBody>
          <a:bodyPr vert="horz" wrap="none" lIns="0" tIns="0" rIns="0" bIns="0"/>
          <a:lstStyle/>
          <a:p>
            <a:pPr algn="l" rtl="0" eaLnBrk="0"/>
            <a:r>
              <a:rPr sz="1600" b="1" kern="0" spc="0" dirty="0">
                <a:solidFill>
                  <a:srgbClr val="17375E">
                    <a:alpha val="100000"/>
                  </a:srgbClr>
                </a:solidFill>
                <a:latin typeface="微软雅黑" panose="020B0503020204020204" charset="-122"/>
                <a:ea typeface="微软雅黑" panose="020B0503020204020204" charset="-122"/>
                <a:cs typeface="微软雅黑" panose="020B0503020204020204" charset="-122"/>
              </a:rPr>
              <a:t>乘积形式</a:t>
            </a:r>
            <a:endParaRPr sz="1600" dirty="0"/>
          </a:p>
        </p:txBody>
      </p:sp>
      <mc:AlternateContent xmlns:mc="http://schemas.openxmlformats.org/markup-compatibility/2006">
        <mc:Choice xmlns:a14="http://schemas.microsoft.com/office/drawing/2010/main" Requires="a14">
          <p:sp>
            <p:nvSpPr>
              <p:cNvPr id="926" name="textbox 926"/>
              <p:cNvSpPr/>
              <p:nvPr/>
            </p:nvSpPr>
            <p:spPr>
              <a:xfrm>
                <a:off x="876300" y="5334000"/>
                <a:ext cx="5494655" cy="7810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sz="1800">
                          <a:latin typeface="Cambria Math" panose="02040503050406030204" charset="0"/>
                        </a:rPr>
                        <m:t>Z</m:t>
                      </m:r>
                      <m:r>
                        <a:rPr sz="1800">
                          <a:latin typeface="Cambria Math" panose="02040503050406030204" charset="0"/>
                        </a:rPr>
                        <m:t>=</m:t>
                      </m:r>
                      <m:r>
                        <m:rPr>
                          <m:sty m:val="p"/>
                        </m:rPr>
                        <a:rPr sz="1800">
                          <a:latin typeface="Cambria Math" panose="02040503050406030204" charset="0"/>
                        </a:rPr>
                        <m:t>G</m:t>
                      </m:r>
                      <m:r>
                        <a:rPr sz="1800">
                          <a:latin typeface="Cambria Math" panose="02040503050406030204" charset="0"/>
                        </a:rPr>
                        <m:t>(</m:t>
                      </m:r>
                      <m:r>
                        <a:rPr sz="1800">
                          <a:latin typeface="Cambria Math" panose="02040503050406030204" charset="0"/>
                        </a:rPr>
                        <m:t>𝚯</m:t>
                      </m:r>
                      <m:r>
                        <a:rPr sz="1800">
                          <a:latin typeface="Cambria Math" panose="02040503050406030204" charset="0"/>
                        </a:rPr>
                        <m:t>)=</m:t>
                      </m:r>
                      <m:nary>
                        <m:naryPr>
                          <m:chr m:val="∑"/>
                          <m:limLoc m:val="subSup"/>
                          <m:ctrlPr>
                            <a:rPr/>
                          </m:ctrlPr>
                        </m:naryPr>
                        <m:sub>
                          <m:r>
                            <m:rPr>
                              <m:sty m:val="p"/>
                            </m:rPr>
                            <a:rPr sz="1800">
                              <a:latin typeface="Cambria Math" panose="02040503050406030204" charset="0"/>
                            </a:rPr>
                            <m:t>i</m:t>
                          </m:r>
                          <m:r>
                            <a:rPr sz="1800">
                              <a:latin typeface="Cambria Math" panose="02040503050406030204" charset="0"/>
                            </a:rPr>
                            <m:t>=</m:t>
                          </m:r>
                          <m:r>
                            <a:rPr sz="1800">
                              <a:latin typeface="Cambria Math" panose="02040503050406030204" charset="0"/>
                            </a:rPr>
                            <m:t>1</m:t>
                          </m:r>
                        </m:sub>
                        <m:sup>
                          <m:sSub>
                            <m:sSubPr>
                              <m:ctrlPr>
                                <a:rPr/>
                              </m:ctrlPr>
                            </m:sSubPr>
                            <m:e>
                              <m:r>
                                <m:rPr>
                                  <m:sty m:val="p"/>
                                </m:rPr>
                                <a:rPr sz="1800">
                                  <a:latin typeface="Cambria Math" panose="02040503050406030204" charset="0"/>
                                </a:rPr>
                                <m:t>p</m:t>
                              </m:r>
                            </m:e>
                            <m:sub>
                              <m:r>
                                <m:rPr>
                                  <m:sty m:val="p"/>
                                </m:rPr>
                                <a:rPr sz="1800">
                                  <a:latin typeface="Cambria Math" panose="02040503050406030204" charset="0"/>
                                </a:rPr>
                                <m:t>t</m:t>
                              </m:r>
                            </m:sub>
                          </m:sSub>
                        </m:sup>
                        <m:e>
                          <m:sSub>
                            <m:sSubPr>
                              <m:ctrlPr>
                                <a:rPr/>
                              </m:ctrlPr>
                            </m:sSubPr>
                            <m:e>
                              <m:r>
                                <m:rPr>
                                  <m:sty m:val="p"/>
                                </m:rPr>
                                <a:rPr sz="1800">
                                  <a:latin typeface="Cambria Math" panose="02040503050406030204" charset="0"/>
                                </a:rPr>
                                <m:t>G</m:t>
                              </m:r>
                            </m:e>
                            <m:sub>
                              <m:r>
                                <m:rPr>
                                  <m:sty m:val="p"/>
                                </m:rPr>
                                <a:rPr sz="1800">
                                  <a:latin typeface="Cambria Math" panose="02040503050406030204" charset="0"/>
                                </a:rPr>
                                <m:t>i</m:t>
                              </m:r>
                            </m:sub>
                          </m:sSub>
                          <m:r>
                            <a:rPr sz="1800">
                              <a:latin typeface="Cambria Math" panose="02040503050406030204" charset="0"/>
                            </a:rPr>
                            <m:t>(</m:t>
                          </m:r>
                          <m:sSub>
                            <m:sSubPr>
                              <m:ctrlPr>
                                <a:rPr/>
                              </m:ctrlPr>
                            </m:sSubPr>
                            <m:e>
                              <m:r>
                                <a:rPr sz="1800">
                                  <a:latin typeface="Cambria Math" panose="02040503050406030204" charset="0"/>
                                </a:rPr>
                                <m:t>𝚯</m:t>
                              </m:r>
                            </m:e>
                            <m:sub>
                              <m:sSub>
                                <m:sSubPr>
                                  <m:ctrlPr>
                                    <a:rPr/>
                                  </m:ctrlPr>
                                </m:sSubPr>
                                <m:e>
                                  <m:r>
                                    <m:rPr>
                                      <m:sty m:val="p"/>
                                    </m:rPr>
                                    <a:rPr sz="1800">
                                      <a:latin typeface="Cambria Math" panose="02040503050406030204" charset="0"/>
                                    </a:rPr>
                                    <m:t>S</m:t>
                                  </m:r>
                                </m:e>
                                <m:sub>
                                  <m:r>
                                    <m:rPr>
                                      <m:sty m:val="p"/>
                                    </m:rPr>
                                    <a:rPr sz="1800">
                                      <a:latin typeface="Cambria Math" panose="02040503050406030204" charset="0"/>
                                    </a:rPr>
                                    <m:t>i</m:t>
                                  </m:r>
                                </m:sub>
                              </m:sSub>
                            </m:sub>
                          </m:sSub>
                          <m:r>
                            <a:rPr sz="1800">
                              <a:latin typeface="Cambria Math" panose="02040503050406030204" charset="0"/>
                            </a:rPr>
                            <m:t>)+(</m:t>
                          </m:r>
                          <m:r>
                            <a:rPr sz="1800">
                              <a:latin typeface="Cambria Math" panose="02040503050406030204" charset="0"/>
                            </a:rPr>
                            <m:t>1</m:t>
                          </m:r>
                          <m:r>
                            <a:rPr sz="1800">
                              <a:latin typeface="Cambria Math" panose="02040503050406030204" charset="0"/>
                            </a:rPr>
                            <m:t>−</m:t>
                          </m:r>
                          <m:sSub>
                            <m:sSubPr>
                              <m:ctrlPr>
                                <a:rPr/>
                              </m:ctrlPr>
                            </m:sSubPr>
                            <m:e>
                              <m:r>
                                <m:rPr>
                                  <m:sty m:val="p"/>
                                </m:rPr>
                                <a:rPr sz="1800">
                                  <a:latin typeface="Cambria Math" panose="02040503050406030204" charset="0"/>
                                </a:rPr>
                                <m:t>p</m:t>
                              </m:r>
                            </m:e>
                            <m:sub>
                              <m:r>
                                <m:rPr>
                                  <m:sty m:val="p"/>
                                </m:rPr>
                                <a:rPr sz="1800">
                                  <a:latin typeface="Cambria Math" panose="02040503050406030204" charset="0"/>
                                </a:rPr>
                                <m:t>t</m:t>
                              </m:r>
                            </m:sub>
                          </m:sSub>
                          <m:r>
                            <a:rPr sz="1800">
                              <a:latin typeface="Cambria Math" panose="02040503050406030204" charset="0"/>
                            </a:rPr>
                            <m:t>)</m:t>
                          </m:r>
                          <m:r>
                            <m:rPr>
                              <m:sty m:val="p"/>
                            </m:rPr>
                            <a:rPr sz="1800">
                              <a:latin typeface="Cambria Math" panose="02040503050406030204" charset="0"/>
                            </a:rPr>
                            <m:t>G</m:t>
                          </m:r>
                          <m:r>
                            <a:rPr sz="1800">
                              <a:latin typeface="Cambria Math" panose="02040503050406030204" charset="0"/>
                            </a:rPr>
                            <m:t>(</m:t>
                          </m:r>
                          <m:sSub>
                            <m:sSubPr>
                              <m:ctrlPr>
                                <a:rPr/>
                              </m:ctrlPr>
                            </m:sSubPr>
                            <m:e>
                              <m:r>
                                <a:rPr sz="1800">
                                  <a:latin typeface="Cambria Math" panose="02040503050406030204" charset="0"/>
                                </a:rPr>
                                <m:t>𝛉</m:t>
                              </m:r>
                            </m:e>
                            <m:sub>
                              <m:sSub>
                                <m:sSubPr>
                                  <m:ctrlPr>
                                    <a:rPr/>
                                  </m:ctrlPr>
                                </m:sSubPr>
                                <m:e>
                                  <m:r>
                                    <m:rPr>
                                      <m:sty m:val="p"/>
                                    </m:rPr>
                                    <a:rPr sz="1800">
                                      <a:latin typeface="Cambria Math" panose="02040503050406030204" charset="0"/>
                                    </a:rPr>
                                    <m:t>S</m:t>
                                  </m:r>
                                </m:e>
                                <m:sub>
                                  <m:r>
                                    <m:rPr>
                                      <m:sty m:val="p"/>
                                    </m:rPr>
                                    <a:rPr sz="1800">
                                      <a:latin typeface="Cambria Math" panose="02040503050406030204" charset="0"/>
                                    </a:rPr>
                                    <m:t>c</m:t>
                                  </m:r>
                                </m:sub>
                              </m:sSub>
                            </m:sub>
                          </m:sSub>
                          <m:r>
                            <a:rPr sz="1800">
                              <a:latin typeface="Cambria Math" panose="02040503050406030204" charset="0"/>
                            </a:rPr>
                            <m:t>)</m:t>
                          </m:r>
                        </m:e>
                      </m:nary>
                    </m:oMath>
                  </m:oMathPara>
                </a14:m>
                <a:endParaRPr sz="600" dirty="0"/>
              </a:p>
            </p:txBody>
          </p:sp>
        </mc:Choice>
        <mc:Fallback>
          <p:sp>
            <p:nvSpPr>
              <p:cNvPr id="926" name="textbox 926"/>
              <p:cNvSpPr>
                <a:spLocks noRot="1" noChangeAspect="1" noMove="1" noResize="1" noEditPoints="1" noAdjustHandles="1" noChangeArrowheads="1" noChangeShapeType="1" noTextEdit="1"/>
              </p:cNvSpPr>
              <p:nvPr/>
            </p:nvSpPr>
            <p:spPr>
              <a:xfrm>
                <a:off x="876300" y="5334000"/>
                <a:ext cx="5494655" cy="781050"/>
              </a:xfrm>
              <a:prstGeom prst="rect">
                <a:avLst/>
              </a:prstGeom>
              <a:blipFill rotWithShape="1">
                <a:blip r:embed="rId7"/>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28" name="textbox 928"/>
              <p:cNvSpPr/>
              <p:nvPr/>
            </p:nvSpPr>
            <p:spPr>
              <a:xfrm>
                <a:off x="6657975" y="5324475"/>
                <a:ext cx="4238625" cy="7905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sz="1800">
                          <a:latin typeface="Cambria Math" panose="02040503050406030204" charset="0"/>
                        </a:rPr>
                        <m:t>Z</m:t>
                      </m:r>
                      <m:r>
                        <a:rPr sz="1800">
                          <a:latin typeface="Cambria Math" panose="02040503050406030204" charset="0"/>
                        </a:rPr>
                        <m:t>=</m:t>
                      </m:r>
                      <m:r>
                        <m:rPr>
                          <m:sty m:val="p"/>
                        </m:rPr>
                        <a:rPr sz="1800">
                          <a:latin typeface="Cambria Math" panose="02040503050406030204" charset="0"/>
                        </a:rPr>
                        <m:t>G</m:t>
                      </m:r>
                      <m:r>
                        <a:rPr sz="1800">
                          <a:latin typeface="Cambria Math" panose="02040503050406030204" charset="0"/>
                        </a:rPr>
                        <m:t>(</m:t>
                      </m:r>
                      <m:r>
                        <a:rPr sz="1800">
                          <a:latin typeface="Cambria Math" panose="02040503050406030204" charset="0"/>
                        </a:rPr>
                        <m:t>𝚯</m:t>
                      </m:r>
                      <m:r>
                        <a:rPr sz="1800">
                          <a:latin typeface="Cambria Math" panose="02040503050406030204" charset="0"/>
                        </a:rPr>
                        <m:t>)=</m:t>
                      </m:r>
                      <m:r>
                        <m:rPr>
                          <m:sty m:val="p"/>
                        </m:rPr>
                        <a:rPr sz="1800">
                          <a:latin typeface="Cambria Math" panose="02040503050406030204" charset="0"/>
                        </a:rPr>
                        <m:t>G</m:t>
                      </m:r>
                      <m:r>
                        <a:rPr sz="1800">
                          <a:latin typeface="Cambria Math" panose="02040503050406030204" charset="0"/>
                        </a:rPr>
                        <m:t>(</m:t>
                      </m:r>
                      <m:sSub>
                        <m:sSubPr>
                          <m:ctrlPr>
                            <a:rPr/>
                          </m:ctrlPr>
                        </m:sSubPr>
                        <m:e>
                          <m:r>
                            <a:rPr sz="1800">
                              <a:latin typeface="Cambria Math" panose="02040503050406030204" charset="0"/>
                            </a:rPr>
                            <m:t>𝛉</m:t>
                          </m:r>
                        </m:e>
                        <m:sub>
                          <m:sSub>
                            <m:sSubPr>
                              <m:ctrlPr>
                                <a:rPr/>
                              </m:ctrlPr>
                            </m:sSubPr>
                            <m:e>
                              <m:r>
                                <m:rPr>
                                  <m:sty m:val="p"/>
                                </m:rPr>
                                <a:rPr sz="1800">
                                  <a:latin typeface="Cambria Math" panose="02040503050406030204" charset="0"/>
                                </a:rPr>
                                <m:t>S</m:t>
                              </m:r>
                            </m:e>
                            <m:sub>
                              <m:r>
                                <m:rPr>
                                  <m:sty m:val="p"/>
                                </m:rPr>
                                <a:rPr sz="1800">
                                  <a:latin typeface="Cambria Math" panose="02040503050406030204" charset="0"/>
                                </a:rPr>
                                <m:t>c</m:t>
                              </m:r>
                            </m:sub>
                          </m:sSub>
                        </m:sub>
                      </m:sSub>
                      <m:sSup>
                        <m:sSupPr>
                          <m:ctrlPr>
                            <a:rPr/>
                          </m:ctrlPr>
                        </m:sSupPr>
                        <m:e>
                          <m:r>
                            <a:rPr sz="1800">
                              <a:latin typeface="Cambria Math" panose="02040503050406030204" charset="0"/>
                            </a:rPr>
                            <m:t>)</m:t>
                          </m:r>
                        </m:e>
                        <m:sup>
                          <m:r>
                            <a:rPr sz="1800">
                              <a:latin typeface="Cambria Math" panose="02040503050406030204" charset="0"/>
                            </a:rPr>
                            <m:t>(</m:t>
                          </m:r>
                          <m:r>
                            <a:rPr sz="1800">
                              <a:latin typeface="Cambria Math" panose="02040503050406030204" charset="0"/>
                            </a:rPr>
                            <m:t>1</m:t>
                          </m:r>
                          <m:r>
                            <a:rPr sz="1800">
                              <a:latin typeface="Cambria Math" panose="02040503050406030204" charset="0"/>
                            </a:rPr>
                            <m:t>−</m:t>
                          </m:r>
                          <m:sSub>
                            <m:sSubPr>
                              <m:ctrlPr>
                                <a:rPr/>
                              </m:ctrlPr>
                            </m:sSubPr>
                            <m:e>
                              <m:r>
                                <m:rPr>
                                  <m:sty m:val="p"/>
                                </m:rPr>
                                <a:rPr sz="1800">
                                  <a:latin typeface="Cambria Math" panose="02040503050406030204" charset="0"/>
                                </a:rPr>
                                <m:t>p</m:t>
                              </m:r>
                            </m:e>
                            <m:sub>
                              <m:r>
                                <m:rPr>
                                  <m:sty m:val="p"/>
                                </m:rPr>
                                <a:rPr sz="1800">
                                  <a:latin typeface="Cambria Math" panose="02040503050406030204" charset="0"/>
                                </a:rPr>
                                <m:t>t</m:t>
                              </m:r>
                            </m:sub>
                          </m:sSub>
                          <m:r>
                            <a:rPr sz="1800">
                              <a:latin typeface="Cambria Math" panose="02040503050406030204" charset="0"/>
                            </a:rPr>
                            <m:t>)</m:t>
                          </m:r>
                        </m:sup>
                      </m:sSup>
                      <m:nary>
                        <m:naryPr>
                          <m:chr m:val="∏"/>
                          <m:limLoc m:val="subSup"/>
                          <m:ctrlPr>
                            <a:rPr/>
                          </m:ctrlPr>
                        </m:naryPr>
                        <m:sub>
                          <m:r>
                            <m:rPr>
                              <m:sty m:val="p"/>
                            </m:rPr>
                            <a:rPr sz="1800">
                              <a:latin typeface="Cambria Math" panose="02040503050406030204" charset="0"/>
                            </a:rPr>
                            <m:t>i</m:t>
                          </m:r>
                          <m:r>
                            <a:rPr sz="1800">
                              <a:latin typeface="Cambria Math" panose="02040503050406030204" charset="0"/>
                            </a:rPr>
                            <m:t>=</m:t>
                          </m:r>
                          <m:r>
                            <a:rPr sz="1800">
                              <a:latin typeface="Cambria Math" panose="02040503050406030204" charset="0"/>
                            </a:rPr>
                            <m:t>1</m:t>
                          </m:r>
                        </m:sub>
                        <m:sup>
                          <m:sSub>
                            <m:sSubPr>
                              <m:ctrlPr>
                                <a:rPr/>
                              </m:ctrlPr>
                            </m:sSubPr>
                            <m:e>
                              <m:r>
                                <m:rPr>
                                  <m:sty m:val="p"/>
                                </m:rPr>
                                <a:rPr sz="1800">
                                  <a:latin typeface="Cambria Math" panose="02040503050406030204" charset="0"/>
                                </a:rPr>
                                <m:t>p</m:t>
                              </m:r>
                            </m:e>
                            <m:sub>
                              <m:r>
                                <m:rPr>
                                  <m:sty m:val="p"/>
                                </m:rPr>
                                <a:rPr sz="1800">
                                  <a:latin typeface="Cambria Math" panose="02040503050406030204" charset="0"/>
                                </a:rPr>
                                <m:t>t</m:t>
                              </m:r>
                            </m:sub>
                          </m:sSub>
                        </m:sup>
                        <m:e>
                          <m:sSub>
                            <m:sSubPr>
                              <m:ctrlPr>
                                <a:rPr/>
                              </m:ctrlPr>
                            </m:sSubPr>
                            <m:e>
                              <m:r>
                                <m:rPr>
                                  <m:sty m:val="p"/>
                                </m:rPr>
                                <a:rPr sz="1800">
                                  <a:latin typeface="Cambria Math" panose="02040503050406030204" charset="0"/>
                                </a:rPr>
                                <m:t>G</m:t>
                              </m:r>
                            </m:e>
                            <m:sub>
                              <m:r>
                                <m:rPr>
                                  <m:sty m:val="p"/>
                                </m:rPr>
                                <a:rPr sz="1800">
                                  <a:latin typeface="Cambria Math" panose="02040503050406030204" charset="0"/>
                                </a:rPr>
                                <m:t>i</m:t>
                              </m:r>
                            </m:sub>
                          </m:sSub>
                          <m:r>
                            <a:rPr sz="1800">
                              <a:latin typeface="Cambria Math" panose="02040503050406030204" charset="0"/>
                            </a:rPr>
                            <m:t>(</m:t>
                          </m:r>
                          <m:sSub>
                            <m:sSubPr>
                              <m:ctrlPr>
                                <a:rPr/>
                              </m:ctrlPr>
                            </m:sSubPr>
                            <m:e>
                              <m:r>
                                <a:rPr sz="1800">
                                  <a:latin typeface="Cambria Math" panose="02040503050406030204" charset="0"/>
                                </a:rPr>
                                <m:t>𝚯</m:t>
                              </m:r>
                            </m:e>
                            <m:sub>
                              <m:sSub>
                                <m:sSubPr>
                                  <m:ctrlPr>
                                    <a:rPr/>
                                  </m:ctrlPr>
                                </m:sSubPr>
                                <m:e>
                                  <m:r>
                                    <m:rPr>
                                      <m:sty m:val="p"/>
                                    </m:rPr>
                                    <a:rPr sz="1800">
                                      <a:latin typeface="Cambria Math" panose="02040503050406030204" charset="0"/>
                                    </a:rPr>
                                    <m:t>S</m:t>
                                  </m:r>
                                </m:e>
                                <m:sub>
                                  <m:r>
                                    <m:rPr>
                                      <m:sty m:val="p"/>
                                    </m:rPr>
                                    <a:rPr sz="1800">
                                      <a:latin typeface="Cambria Math" panose="02040503050406030204" charset="0"/>
                                    </a:rPr>
                                    <m:t>i</m:t>
                                  </m:r>
                                </m:sub>
                              </m:sSub>
                            </m:sub>
                          </m:sSub>
                          <m:r>
                            <a:rPr sz="1800">
                              <a:latin typeface="Cambria Math" panose="02040503050406030204" charset="0"/>
                            </a:rPr>
                            <m:t>)</m:t>
                          </m:r>
                        </m:e>
                      </m:nary>
                    </m:oMath>
                  </m:oMathPara>
                </a14:m>
                <a:endParaRPr sz="600" dirty="0"/>
              </a:p>
            </p:txBody>
          </p:sp>
        </mc:Choice>
        <mc:Fallback>
          <p:sp>
            <p:nvSpPr>
              <p:cNvPr id="928" name="textbox 928"/>
              <p:cNvSpPr>
                <a:spLocks noRot="1" noChangeAspect="1" noMove="1" noResize="1" noEditPoints="1" noAdjustHandles="1" noChangeArrowheads="1" noChangeShapeType="1" noTextEdit="1"/>
              </p:cNvSpPr>
              <p:nvPr/>
            </p:nvSpPr>
            <p:spPr>
              <a:xfrm>
                <a:off x="6657975" y="5324475"/>
                <a:ext cx="4238625" cy="790575"/>
              </a:xfrm>
              <a:prstGeom prst="rect">
                <a:avLst/>
              </a:prstGeom>
              <a:blipFill rotWithShape="1">
                <a:blip r:embed="rId8"/>
                <a:stretch>
                  <a:fillRect/>
                </a:stretch>
              </a:blipFill>
              <a:ln w="0" cap="flat">
                <a:noFill/>
                <a:prstDash val="solid"/>
                <a:miter lim="0"/>
              </a:ln>
            </p:spPr>
            <p:txBody>
              <a:bodyPr/>
              <a:lstStyle/>
              <a:p>
                <a:r>
                  <a:rPr lang="zh-CN" altLang="en-US">
                    <a:noFill/>
                  </a:rPr>
                  <a:t> </a:t>
                </a:r>
              </a:p>
            </p:txBody>
          </p:sp>
        </mc:Fallback>
      </mc:AlternateContent>
      <p:sp>
        <p:nvSpPr>
          <p:cNvPr id="930" name="textbox 930"/>
          <p:cNvSpPr/>
          <p:nvPr/>
        </p:nvSpPr>
        <p:spPr>
          <a:xfrm>
            <a:off x="85725" y="6229350"/>
            <a:ext cx="11982450" cy="419100"/>
          </a:xfrm>
          <a:prstGeom prst="rect">
            <a:avLst/>
          </a:prstGeom>
          <a:noFill/>
          <a:ln w="0" cap="flat">
            <a:noFill/>
            <a:prstDash val="solid"/>
            <a:miter lim="0"/>
          </a:ln>
        </p:spPr>
        <p:txBody>
          <a:bodyPr vert="horz" wrap="none" lIns="0" tIns="0" rIns="0" bIns="0"/>
          <a:lstStyle/>
          <a:p>
            <a:pPr algn="l" rtl="0" eaLnBrk="0"/>
            <a:r>
              <a:rPr sz="1400" kern="0" spc="0" dirty="0">
                <a:solidFill>
                  <a:srgbClr val="073763">
                    <a:alpha val="100000"/>
                  </a:srgbClr>
                </a:solidFill>
                <a:latin typeface="Times New Roman" panose="02020603050405020304"/>
                <a:ea typeface="Times New Roman" panose="02020603050405020304"/>
                <a:cs typeface="Times New Roman" panose="02020603050405020304"/>
              </a:rPr>
              <a:t>Liu R, Fan W, Wang Y, Ang A H.-S., Li Z. Adaptive estimation for statistical moments of response based on the exact dimension reduction method in terms of vector.</a:t>
            </a:r>
            <a:endParaRPr sz="1400" dirty="0"/>
          </a:p>
          <a:p>
            <a:pPr algn="l" rtl="0" eaLnBrk="0"/>
            <a:r>
              <a:rPr sz="1400" kern="0" spc="0" dirty="0">
                <a:solidFill>
                  <a:srgbClr val="073763">
                    <a:alpha val="100000"/>
                  </a:srgbClr>
                </a:solidFill>
                <a:latin typeface="Times New Roman" panose="02020603050405020304"/>
                <a:ea typeface="Times New Roman" panose="02020603050405020304"/>
                <a:cs typeface="Times New Roman" panose="02020603050405020304"/>
              </a:rPr>
              <a:t>Mechanical Systems and Signal Processing, 2019, 126: 609-625.</a:t>
            </a:r>
            <a:endParaRPr sz="1400" dirty="0"/>
          </a:p>
        </p:txBody>
      </p:sp>
      <p:sp>
        <p:nvSpPr>
          <p:cNvPr id="932" name="textbox 932"/>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6" name="picture 936"/>
          <p:cNvPicPr>
            <a:picLocks noChangeAspect="1"/>
          </p:cNvPicPr>
          <p:nvPr/>
        </p:nvPicPr>
        <p:blipFill>
          <a:blip r:embed="rId1"/>
          <a:stretch>
            <a:fillRect/>
          </a:stretch>
        </p:blipFill>
        <p:spPr>
          <a:xfrm>
            <a:off x="0" y="0"/>
            <a:ext cx="12192000" cy="6858000"/>
          </a:xfrm>
          <a:prstGeom prst="rect">
            <a:avLst/>
          </a:prstGeom>
        </p:spPr>
      </p:pic>
      <p:sp>
        <p:nvSpPr>
          <p:cNvPr id="938" name="textbox 938"/>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940" name="textbox 940"/>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942" name="textbox 94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946" name="picture 946"/>
          <p:cNvPicPr>
            <a:picLocks noChangeAspect="1"/>
          </p:cNvPicPr>
          <p:nvPr/>
        </p:nvPicPr>
        <p:blipFill>
          <a:blip r:embed="rId2"/>
          <a:stretch>
            <a:fillRect/>
          </a:stretch>
        </p:blipFill>
        <p:spPr>
          <a:xfrm>
            <a:off x="295275" y="247650"/>
            <a:ext cx="733425" cy="666750"/>
          </a:xfrm>
          <a:prstGeom prst="rect">
            <a:avLst/>
          </a:prstGeom>
        </p:spPr>
      </p:pic>
      <p:sp>
        <p:nvSpPr>
          <p:cNvPr id="948" name="textbox 948"/>
          <p:cNvSpPr/>
          <p:nvPr/>
        </p:nvSpPr>
        <p:spPr>
          <a:xfrm>
            <a:off x="1447800" y="333375"/>
            <a:ext cx="377190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降维模型的分类和表达</a:t>
            </a:r>
            <a:endParaRPr sz="2800" dirty="0"/>
          </a:p>
        </p:txBody>
      </p:sp>
      <p:sp>
        <p:nvSpPr>
          <p:cNvPr id="950" name="textbox 950"/>
          <p:cNvSpPr/>
          <p:nvPr/>
        </p:nvSpPr>
        <p:spPr>
          <a:xfrm>
            <a:off x="1447800" y="752475"/>
            <a:ext cx="5829300" cy="200025"/>
          </a:xfrm>
          <a:prstGeom prst="rect">
            <a:avLst/>
          </a:prstGeom>
          <a:noFill/>
          <a:ln w="0" cap="flat">
            <a:noFill/>
            <a:prstDash val="solid"/>
            <a:miter lim="0"/>
          </a:ln>
        </p:spPr>
        <p:txBody>
          <a:bodyPr vert="horz" wrap="none" lIns="0" tIns="0" rIns="0" bIns="0"/>
          <a:lstStyle/>
          <a:p>
            <a:pPr algn="l" rtl="0" eaLnBrk="0"/>
            <a:r>
              <a:rPr sz="1400" kern="0" spc="0" dirty="0">
                <a:solidFill>
                  <a:srgbClr val="D0EBF7">
                    <a:alpha val="100000"/>
                  </a:srgbClr>
                </a:solidFill>
                <a:latin typeface="Arial" panose="020B0604020202020204"/>
                <a:ea typeface="Arial" panose="020B0604020202020204"/>
                <a:cs typeface="Arial" panose="020B0604020202020204"/>
              </a:rPr>
              <a:t>Categorization and Formulations of Dimension-Reduction Models (DRMs)</a:t>
            </a:r>
            <a:endParaRPr sz="1400" dirty="0"/>
          </a:p>
        </p:txBody>
      </p:sp>
      <p:sp>
        <p:nvSpPr>
          <p:cNvPr id="952" name="textbox 952"/>
          <p:cNvSpPr/>
          <p:nvPr/>
        </p:nvSpPr>
        <p:spPr>
          <a:xfrm>
            <a:off x="1419225" y="1152525"/>
            <a:ext cx="16764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混合降维模型</a:t>
            </a:r>
            <a:endParaRPr sz="2000" dirty="0"/>
          </a:p>
        </p:txBody>
      </p:sp>
      <p:sp>
        <p:nvSpPr>
          <p:cNvPr id="954" name="textbox 954"/>
          <p:cNvSpPr/>
          <p:nvPr/>
        </p:nvSpPr>
        <p:spPr>
          <a:xfrm>
            <a:off x="1447800" y="1504950"/>
            <a:ext cx="2362200" cy="152400"/>
          </a:xfrm>
          <a:prstGeom prst="rect">
            <a:avLst/>
          </a:prstGeom>
          <a:noFill/>
          <a:ln w="0" cap="flat">
            <a:noFill/>
            <a:prstDash val="solid"/>
            <a:miter lim="0"/>
          </a:ln>
        </p:spPr>
        <p:txBody>
          <a:bodyPr vert="horz" wrap="none" lIns="0" tIns="0" rIns="0" bIns="0"/>
          <a:lstStyle/>
          <a:p>
            <a:pPr algn="l" rtl="0" eaLnBrk="0"/>
            <a:r>
              <a:rPr sz="1000" kern="0" spc="0" dirty="0">
                <a:solidFill>
                  <a:srgbClr val="2980B9">
                    <a:alpha val="100000"/>
                  </a:srgbClr>
                </a:solidFill>
                <a:latin typeface="Times New Roman" panose="02020603050405020304"/>
                <a:ea typeface="Times New Roman" panose="02020603050405020304"/>
                <a:cs typeface="Times New Roman" panose="02020603050405020304"/>
              </a:rPr>
              <a:t>Hybrid dimension-reduction model (H-DRM)</a:t>
            </a:r>
            <a:endParaRPr sz="1000" dirty="0"/>
          </a:p>
        </p:txBody>
      </p:sp>
      <p:sp>
        <p:nvSpPr>
          <p:cNvPr id="956" name="textbox 956"/>
          <p:cNvSpPr/>
          <p:nvPr/>
        </p:nvSpPr>
        <p:spPr>
          <a:xfrm>
            <a:off x="400050" y="1752600"/>
            <a:ext cx="2343150" cy="276225"/>
          </a:xfrm>
          <a:prstGeom prst="rect">
            <a:avLst/>
          </a:prstGeom>
          <a:noFill/>
          <a:ln w="0" cap="flat">
            <a:noFill/>
            <a:prstDash val="solid"/>
            <a:miter lim="0"/>
          </a:ln>
        </p:spPr>
        <p:txBody>
          <a:bodyPr vert="horz" wrap="none" lIns="0" tIns="0" rIns="0" bIns="0"/>
          <a:lstStyle/>
          <a:p>
            <a:pPr marL="419100" indent="-390525" algn="l" rtl="0" eaLnBrk="0">
              <a:buChar char="•"/>
            </a:pP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响应函数表现形式：</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962" name="textbox 962"/>
          <p:cNvSpPr/>
          <p:nvPr/>
        </p:nvSpPr>
        <p:spPr>
          <a:xfrm>
            <a:off x="390525" y="4581525"/>
            <a:ext cx="4610100" cy="285750"/>
          </a:xfrm>
          <a:prstGeom prst="rect">
            <a:avLst/>
          </a:prstGeom>
          <a:noFill/>
          <a:ln w="0" cap="flat">
            <a:noFill/>
            <a:prstDash val="solid"/>
            <a:miter lim="0"/>
          </a:ln>
        </p:spPr>
        <p:txBody>
          <a:bodyPr vert="horz" wrap="none" lIns="0" tIns="0" rIns="0" bIns="0"/>
          <a:lstStyle/>
          <a:p>
            <a:pPr algn="l" rtl="0" eaLnBrk="0"/>
            <a:r>
              <a:rPr sz="1800" kern="0" spc="0" dirty="0">
                <a:solidFill>
                  <a:srgbClr val="B68C02">
                    <a:alpha val="100000"/>
                  </a:srgbClr>
                </a:solidFill>
                <a:latin typeface="Calibri" panose="020F0502020204030204"/>
                <a:ea typeface="Calibri" panose="020F0502020204030204"/>
                <a:cs typeface="Calibri" panose="020F0502020204030204"/>
              </a:rPr>
              <a:t>◦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对于高阶子向量，引入广义相互作用指标：</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966" name="textbox 966"/>
          <p:cNvSpPr/>
          <p:nvPr/>
        </p:nvSpPr>
        <p:spPr>
          <a:xfrm>
            <a:off x="95250" y="6229350"/>
            <a:ext cx="11963400" cy="419100"/>
          </a:xfrm>
          <a:prstGeom prst="rect">
            <a:avLst/>
          </a:prstGeom>
          <a:noFill/>
          <a:ln w="0" cap="flat">
            <a:noFill/>
            <a:prstDash val="solid"/>
            <a:miter lim="0"/>
          </a:ln>
        </p:spPr>
        <p:txBody>
          <a:bodyPr vert="horz" wrap="none" lIns="0" tIns="0" rIns="0" bIns="0"/>
          <a:lstStyle/>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Wang T, Lu D G*, Tan Y Q. Refined dimension-reduction integration method for uncertainty propagation in stochastic systems: Estimation of statistical moments.</a:t>
            </a:r>
            <a:endParaRPr sz="1400" dirty="0"/>
          </a:p>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Reliability Engineering &amp; System Safety, 2025, 256: 110753.</a:t>
            </a:r>
            <a:endParaRPr sz="1400" dirty="0"/>
          </a:p>
        </p:txBody>
      </p:sp>
      <p:sp>
        <p:nvSpPr>
          <p:cNvPr id="968" name="textbox 968"/>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pic>
        <p:nvPicPr>
          <p:cNvPr id="2" name="picture 2"/>
          <p:cNvPicPr>
            <a:picLocks noChangeAspect="1"/>
          </p:cNvPicPr>
          <p:nvPr/>
        </p:nvPicPr>
        <p:blipFill>
          <a:blip r:embed="rId3"/>
          <a:stretch>
            <a:fillRect/>
          </a:stretch>
        </p:blipFill>
        <p:spPr>
          <a:xfrm rot="21600000">
            <a:off x="622318" y="2190765"/>
            <a:ext cx="11067981" cy="1092178"/>
          </a:xfrm>
          <a:prstGeom prst="rect">
            <a:avLst/>
          </a:prstGeom>
        </p:spPr>
      </p:pic>
      <p:pic>
        <p:nvPicPr>
          <p:cNvPr id="12" name="picture 12"/>
          <p:cNvPicPr>
            <a:picLocks noChangeAspect="1"/>
          </p:cNvPicPr>
          <p:nvPr/>
        </p:nvPicPr>
        <p:blipFill>
          <a:blip r:embed="rId4"/>
          <a:stretch>
            <a:fillRect/>
          </a:stretch>
        </p:blipFill>
        <p:spPr>
          <a:xfrm rot="21600000">
            <a:off x="793415" y="3536496"/>
            <a:ext cx="9887542" cy="711643"/>
          </a:xfrm>
          <a:prstGeom prst="rect">
            <a:avLst/>
          </a:prstGeom>
        </p:spPr>
      </p:pic>
      <p:pic>
        <p:nvPicPr>
          <p:cNvPr id="14" name="picture 14"/>
          <p:cNvPicPr>
            <a:picLocks noChangeAspect="1"/>
          </p:cNvPicPr>
          <p:nvPr/>
        </p:nvPicPr>
        <p:blipFill>
          <a:blip r:embed="rId5"/>
          <a:stretch>
            <a:fillRect/>
          </a:stretch>
        </p:blipFill>
        <p:spPr>
          <a:xfrm rot="21600000">
            <a:off x="800161" y="5060948"/>
            <a:ext cx="8286658" cy="74292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 name="picture 972"/>
          <p:cNvPicPr>
            <a:picLocks noChangeAspect="1"/>
          </p:cNvPicPr>
          <p:nvPr/>
        </p:nvPicPr>
        <p:blipFill>
          <a:blip r:embed="rId1"/>
          <a:stretch>
            <a:fillRect/>
          </a:stretch>
        </p:blipFill>
        <p:spPr>
          <a:xfrm>
            <a:off x="0" y="0"/>
            <a:ext cx="12192000" cy="6858000"/>
          </a:xfrm>
          <a:prstGeom prst="rect">
            <a:avLst/>
          </a:prstGeom>
        </p:spPr>
      </p:pic>
      <p:pic>
        <p:nvPicPr>
          <p:cNvPr id="976" name="picture 976"/>
          <p:cNvPicPr>
            <a:picLocks noChangeAspect="1"/>
          </p:cNvPicPr>
          <p:nvPr/>
        </p:nvPicPr>
        <p:blipFill>
          <a:blip r:embed="rId2"/>
          <a:stretch>
            <a:fillRect/>
          </a:stretch>
        </p:blipFill>
        <p:spPr>
          <a:xfrm>
            <a:off x="1228725" y="752475"/>
            <a:ext cx="1285875" cy="1181100"/>
          </a:xfrm>
          <a:prstGeom prst="rect">
            <a:avLst/>
          </a:prstGeom>
        </p:spPr>
      </p:pic>
      <p:sp>
        <p:nvSpPr>
          <p:cNvPr id="978" name="textbox 978"/>
          <p:cNvSpPr/>
          <p:nvPr/>
        </p:nvSpPr>
        <p:spPr>
          <a:xfrm>
            <a:off x="1676400" y="3086100"/>
            <a:ext cx="390525" cy="561975"/>
          </a:xfrm>
          <a:prstGeom prst="rect">
            <a:avLst/>
          </a:prstGeom>
          <a:noFill/>
          <a:ln w="0" cap="flat">
            <a:noFill/>
            <a:prstDash val="solid"/>
            <a:miter lim="0"/>
          </a:ln>
        </p:spPr>
        <p:txBody>
          <a:bodyPr vert="horz" wrap="none" lIns="0" tIns="0" rIns="0" bIns="0"/>
          <a:lstStyle/>
          <a:p>
            <a:pPr algn="l" rtl="0" eaLnBrk="0"/>
            <a:r>
              <a:rPr sz="5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3</a:t>
            </a:r>
            <a:endParaRPr sz="5400" dirty="0"/>
          </a:p>
        </p:txBody>
      </p:sp>
      <p:sp>
        <p:nvSpPr>
          <p:cNvPr id="980" name="textbox 980"/>
          <p:cNvSpPr/>
          <p:nvPr/>
        </p:nvSpPr>
        <p:spPr>
          <a:xfrm>
            <a:off x="4572000" y="2628900"/>
            <a:ext cx="6953250" cy="666750"/>
          </a:xfrm>
          <a:prstGeom prst="rect">
            <a:avLst/>
          </a:prstGeom>
          <a:noFill/>
          <a:ln w="0" cap="flat">
            <a:noFill/>
            <a:prstDash val="solid"/>
            <a:miter lim="0"/>
          </a:ln>
        </p:spPr>
        <p:txBody>
          <a:bodyPr vert="horz" wrap="none" lIns="0" tIns="0" rIns="0" bIns="0"/>
          <a:lstStyle/>
          <a:p>
            <a:pPr algn="l" rtl="0" eaLnBrk="0"/>
            <a:r>
              <a:rPr sz="4800" b="1" kern="0" spc="0" dirty="0">
                <a:solidFill>
                  <a:srgbClr val="192C55">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4800" dirty="0"/>
          </a:p>
        </p:txBody>
      </p:sp>
      <p:sp>
        <p:nvSpPr>
          <p:cNvPr id="982" name="textbox 982"/>
          <p:cNvSpPr/>
          <p:nvPr/>
        </p:nvSpPr>
        <p:spPr>
          <a:xfrm>
            <a:off x="5657850" y="3543300"/>
            <a:ext cx="4819650" cy="285750"/>
          </a:xfrm>
          <a:prstGeom prst="rect">
            <a:avLst/>
          </a:prstGeom>
          <a:noFill/>
          <a:ln w="0" cap="flat">
            <a:noFill/>
            <a:prstDash val="solid"/>
            <a:miter lim="0"/>
          </a:ln>
        </p:spPr>
        <p:txBody>
          <a:bodyPr vert="horz" wrap="none" lIns="0" tIns="0" rIns="0" bIns="0"/>
          <a:lstStyle/>
          <a:p>
            <a:pPr algn="l" rtl="0" eaLnBrk="0"/>
            <a:r>
              <a:rPr sz="2000" kern="0" spc="0" dirty="0">
                <a:solidFill>
                  <a:srgbClr val="1A2E3D">
                    <a:alpha val="100000"/>
                  </a:srgbClr>
                </a:solidFill>
                <a:latin typeface="Helvetica"/>
                <a:ea typeface="Helvetica"/>
                <a:cs typeface="Helvetica"/>
              </a:rPr>
              <a:t>Dimension-Reduction Integration Methods</a:t>
            </a:r>
            <a:endParaRPr sz="2000" dirty="0"/>
          </a:p>
        </p:txBody>
      </p:sp>
      <p:sp>
        <p:nvSpPr>
          <p:cNvPr id="984" name="textbox 984"/>
          <p:cNvSpPr/>
          <p:nvPr/>
        </p:nvSpPr>
        <p:spPr>
          <a:xfrm>
            <a:off x="800100" y="3990975"/>
            <a:ext cx="2162175" cy="323850"/>
          </a:xfrm>
          <a:prstGeom prst="rect">
            <a:avLst/>
          </a:prstGeom>
          <a:noFill/>
          <a:ln w="0" cap="flat">
            <a:noFill/>
            <a:prstDash val="solid"/>
            <a:miter lim="0"/>
          </a:ln>
        </p:spPr>
        <p:txBody>
          <a:bodyPr vert="horz" wrap="none" lIns="0" tIns="0" rIns="0" bIns="0"/>
          <a:lstStyle/>
          <a:p>
            <a:pPr algn="l" rtl="0" eaLnBrk="0"/>
            <a:r>
              <a:rPr sz="2600" kern="0" spc="0" dirty="0">
                <a:solidFill>
                  <a:srgbClr val="FFFFFF">
                    <a:alpha val="100000"/>
                  </a:srgbClr>
                </a:solidFill>
                <a:latin typeface="Arial" panose="020B0604020202020204"/>
                <a:ea typeface="Arial" panose="020B0604020202020204"/>
                <a:cs typeface="Arial" panose="020B0604020202020204"/>
              </a:rPr>
              <a:t>PART THREE</a:t>
            </a:r>
            <a:endParaRPr sz="2600" dirty="0"/>
          </a:p>
        </p:txBody>
      </p:sp>
      <p:sp>
        <p:nvSpPr>
          <p:cNvPr id="986" name="textbox 986"/>
          <p:cNvSpPr/>
          <p:nvPr/>
        </p:nvSpPr>
        <p:spPr>
          <a:xfrm>
            <a:off x="6153150" y="4000500"/>
            <a:ext cx="3876675" cy="276225"/>
          </a:xfrm>
          <a:prstGeom prst="rect">
            <a:avLst/>
          </a:prstGeom>
          <a:noFill/>
          <a:ln w="0" cap="flat">
            <a:noFill/>
            <a:prstDash val="solid"/>
            <a:miter lim="0"/>
          </a:ln>
        </p:spPr>
        <p:txBody>
          <a:bodyPr vert="horz" wrap="none" lIns="0" tIns="0" rIns="0" bIns="0"/>
          <a:lstStyle/>
          <a:p>
            <a:pPr algn="l" rtl="0" eaLnBrk="0"/>
            <a:r>
              <a:rPr sz="2000" kern="0" spc="0" dirty="0">
                <a:solidFill>
                  <a:srgbClr val="1A2E3D">
                    <a:alpha val="100000"/>
                  </a:srgbClr>
                </a:solidFill>
                <a:latin typeface="Arial" panose="020B0604020202020204"/>
                <a:ea typeface="Arial" panose="020B0604020202020204"/>
                <a:cs typeface="Arial" panose="020B0604020202020204"/>
              </a:rPr>
              <a:t>for Statistical Moments Estimation</a:t>
            </a:r>
            <a:endParaRPr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0" name="picture 990"/>
          <p:cNvPicPr>
            <a:picLocks noChangeAspect="1"/>
          </p:cNvPicPr>
          <p:nvPr/>
        </p:nvPicPr>
        <p:blipFill>
          <a:blip r:embed="rId1"/>
          <a:stretch>
            <a:fillRect/>
          </a:stretch>
        </p:blipFill>
        <p:spPr>
          <a:xfrm>
            <a:off x="0" y="0"/>
            <a:ext cx="12192000" cy="6858000"/>
          </a:xfrm>
          <a:prstGeom prst="rect">
            <a:avLst/>
          </a:prstGeom>
        </p:spPr>
      </p:pic>
      <p:sp>
        <p:nvSpPr>
          <p:cNvPr id="992" name="textbox 992"/>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994" name="textbox 994"/>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996" name="textbox 99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000" name="picture 1000"/>
          <p:cNvPicPr>
            <a:picLocks noChangeAspect="1"/>
          </p:cNvPicPr>
          <p:nvPr/>
        </p:nvPicPr>
        <p:blipFill>
          <a:blip r:embed="rId2"/>
          <a:stretch>
            <a:fillRect/>
          </a:stretch>
        </p:blipFill>
        <p:spPr>
          <a:xfrm>
            <a:off x="295275" y="247650"/>
            <a:ext cx="733425" cy="666750"/>
          </a:xfrm>
          <a:prstGeom prst="rect">
            <a:avLst/>
          </a:prstGeom>
        </p:spPr>
      </p:pic>
      <p:sp>
        <p:nvSpPr>
          <p:cNvPr id="1002" name="textbox 1002"/>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004" name="textbox 1004"/>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006" name="textbox 1006"/>
          <p:cNvSpPr/>
          <p:nvPr/>
        </p:nvSpPr>
        <p:spPr>
          <a:xfrm>
            <a:off x="1457325" y="1133475"/>
            <a:ext cx="3438525"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基于Va-DRMs的降维积分法</a:t>
            </a:r>
            <a:endParaRPr sz="2000" dirty="0"/>
          </a:p>
        </p:txBody>
      </p:sp>
      <p:sp>
        <p:nvSpPr>
          <p:cNvPr id="1008" name="textbox 1008"/>
          <p:cNvSpPr/>
          <p:nvPr/>
        </p:nvSpPr>
        <p:spPr>
          <a:xfrm>
            <a:off x="1466850" y="1495425"/>
            <a:ext cx="3028950"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Va-DRMs-based dimension-reduction integration methods</a:t>
            </a:r>
            <a:endParaRPr sz="1000" dirty="0"/>
          </a:p>
        </p:txBody>
      </p:sp>
      <p:sp>
        <p:nvSpPr>
          <p:cNvPr id="1010" name="textbox 1010"/>
          <p:cNvSpPr/>
          <p:nvPr/>
        </p:nvSpPr>
        <p:spPr>
          <a:xfrm>
            <a:off x="1466850" y="1895475"/>
            <a:ext cx="2667000" cy="266700"/>
          </a:xfrm>
          <a:prstGeom prst="rect">
            <a:avLst/>
          </a:prstGeom>
          <a:noFill/>
          <a:ln w="0" cap="flat">
            <a:noFill/>
            <a:prstDash val="solid"/>
            <a:miter lim="0"/>
          </a:ln>
        </p:spPr>
        <p:txBody>
          <a:bodyPr vert="horz" wrap="none" lIns="0" tIns="0" rIns="0" bIns="0"/>
          <a:lstStyle/>
          <a:p>
            <a:pPr marL="428625" indent="-400050" algn="l" rtl="0" eaLnBrk="0">
              <a:buChar char="•"/>
            </a:pP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响应函数</a:t>
            </a:r>
            <a:r>
              <a:rPr sz="1800" b="1" kern="0" spc="0" dirty="0">
                <a:solidFill>
                  <a:srgbClr val="002060">
                    <a:alpha val="100000"/>
                  </a:srgbClr>
                </a:solidFill>
                <a:latin typeface="宋体" panose="02010600030101010101" pitchFamily="2" charset="-122"/>
                <a:ea typeface="宋体" panose="02010600030101010101" pitchFamily="2" charset="-122"/>
                <a:cs typeface="宋体" panose="02010600030101010101" pitchFamily="2" charset="-122"/>
              </a:rPr>
              <a:t> Z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的均值为：</a:t>
            </a:r>
            <a:endParaRPr sz="1800" dirty="0"/>
          </a:p>
        </p:txBody>
      </p:sp>
      <mc:AlternateContent xmlns:mc="http://schemas.openxmlformats.org/markup-compatibility/2006">
        <mc:Choice xmlns:a14="http://schemas.microsoft.com/office/drawing/2010/main" Requires="a14">
          <p:sp>
            <p:nvSpPr>
              <p:cNvPr id="1012" name="textbox 1012"/>
              <p:cNvSpPr/>
              <p:nvPr/>
            </p:nvSpPr>
            <p:spPr>
              <a:xfrm>
                <a:off x="1905000" y="2562225"/>
                <a:ext cx="7267575" cy="7715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sz="2000"/>
                          </m:ctrlPr>
                        </m:sSubPr>
                        <m:e>
                          <m:r>
                            <a:rPr sz="2000">
                              <a:latin typeface="Cambria Math" panose="02040503050406030204" charset="0"/>
                            </a:rPr>
                            <m:t>𝜇</m:t>
                          </m:r>
                        </m:e>
                        <m:sub>
                          <m:r>
                            <m:rPr>
                              <m:sty m:val="p"/>
                            </m:rPr>
                            <a:rPr sz="2000">
                              <a:latin typeface="Cambria Math" panose="02040503050406030204" charset="0"/>
                            </a:rPr>
                            <m:t>Z</m:t>
                          </m:r>
                        </m:sub>
                      </m:sSub>
                      <m:r>
                        <a:rPr sz="2000">
                          <a:latin typeface="Cambria Math" panose="02040503050406030204" charset="0"/>
                        </a:rPr>
                        <m:t>≈</m:t>
                      </m:r>
                      <m:nary>
                        <m:naryPr>
                          <m:chr m:val="∑"/>
                          <m:limLoc m:val="subSup"/>
                          <m:ctrlPr>
                            <a:rPr sz="2000"/>
                          </m:ctrlPr>
                        </m:naryPr>
                        <m:sub>
                          <m:r>
                            <m:rPr>
                              <m:sty m:val="p"/>
                            </m:rPr>
                            <a:rPr sz="2000">
                              <a:latin typeface="Cambria Math" panose="02040503050406030204" charset="0"/>
                            </a:rPr>
                            <m:t>k</m:t>
                          </m:r>
                          <m:r>
                            <a:rPr sz="2000">
                              <a:latin typeface="Cambria Math" panose="02040503050406030204" charset="0"/>
                            </a:rPr>
                            <m:t>=</m:t>
                          </m:r>
                          <m:r>
                            <a:rPr sz="2000">
                              <a:latin typeface="Cambria Math" panose="02040503050406030204" charset="0"/>
                            </a:rPr>
                            <m:t>0</m:t>
                          </m:r>
                        </m:sub>
                        <m:sup>
                          <m:r>
                            <m:rPr>
                              <m:sty m:val="p"/>
                            </m:rPr>
                            <a:rPr sz="2000">
                              <a:latin typeface="Cambria Math" panose="02040503050406030204" charset="0"/>
                            </a:rPr>
                            <m:t>s</m:t>
                          </m:r>
                        </m:sup>
                        <m:e>
                          <m:r>
                            <a:rPr sz="2000">
                              <a:latin typeface="Cambria Math" panose="02040503050406030204" charset="0"/>
                            </a:rPr>
                            <m:t>(−</m:t>
                          </m:r>
                          <m:r>
                            <a:rPr sz="2000">
                              <a:latin typeface="Cambria Math" panose="02040503050406030204" charset="0"/>
                            </a:rPr>
                            <m:t>1</m:t>
                          </m:r>
                          <m:sSup>
                            <m:sSupPr>
                              <m:ctrlPr>
                                <a:rPr sz="2000"/>
                              </m:ctrlPr>
                            </m:sSupPr>
                            <m:e>
                              <m:r>
                                <a:rPr sz="2000">
                                  <a:latin typeface="Cambria Math" panose="02040503050406030204" charset="0"/>
                                </a:rPr>
                                <m:t>)</m:t>
                              </m:r>
                            </m:e>
                            <m:sup>
                              <m:r>
                                <m:rPr>
                                  <m:sty m:val="p"/>
                                </m:rPr>
                                <a:rPr sz="2000">
                                  <a:latin typeface="Cambria Math" panose="02040503050406030204" charset="0"/>
                                </a:rPr>
                                <m:t>i</m:t>
                              </m:r>
                            </m:sup>
                          </m:sSup>
                          <m:d>
                            <m:dPr>
                              <m:ctrlPr>
                                <a:rPr sz="2000"/>
                              </m:ctrlPr>
                            </m:dPr>
                            <m:e>
                              <m:f>
                                <m:fPr>
                                  <m:type m:val="noBar"/>
                                  <m:ctrlPr>
                                    <a:rPr sz="2000"/>
                                  </m:ctrlPr>
                                </m:fPr>
                                <m:num>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r>
                                    <a:rPr sz="2000">
                                      <a:latin typeface="Cambria Math" panose="02040503050406030204" charset="0"/>
                                    </a:rPr>
                                    <m:t>−</m:t>
                                  </m:r>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r>
                                    <a:rPr sz="2000">
                                      <a:latin typeface="Cambria Math" panose="02040503050406030204" charset="0"/>
                                    </a:rPr>
                                    <m:t>−</m:t>
                                  </m:r>
                                  <m:r>
                                    <a:rPr sz="2000">
                                      <a:latin typeface="Cambria Math" panose="02040503050406030204" charset="0"/>
                                    </a:rPr>
                                    <m:t>1</m:t>
                                  </m:r>
                                </m:num>
                                <m:den>
                                  <m:r>
                                    <m:rPr>
                                      <m:sty m:val="p"/>
                                    </m:rPr>
                                    <a:rPr sz="2000">
                                      <a:latin typeface="Cambria Math" panose="02040503050406030204" charset="0"/>
                                    </a:rPr>
                                    <m:t>k</m:t>
                                  </m:r>
                                </m:den>
                              </m:f>
                            </m:e>
                          </m:d>
                        </m:e>
                      </m:nary>
                      <m:nary>
                        <m:naryPr>
                          <m:chr m:val="∑"/>
                          <m:limLoc m:val="subSup"/>
                          <m:supHide m:val="on"/>
                          <m:ctrlPr>
                            <a:rPr sz="2000"/>
                          </m:ctrlPr>
                        </m:naryPr>
                        <m:sub>
                          <m:sSub>
                            <m:sSubPr>
                              <m:ctrlPr>
                                <a:rPr sz="2000"/>
                              </m:ctrlPr>
                            </m:sSubPr>
                            <m:e>
                              <m:r>
                                <m:rPr>
                                  <m:sty m:val="p"/>
                                </m:rPr>
                                <a:rPr sz="2000">
                                  <a:latin typeface="Cambria Math" panose="02040503050406030204" charset="0"/>
                                </a:rPr>
                                <m:t>i</m:t>
                              </m:r>
                            </m:e>
                            <m:sub>
                              <m:r>
                                <a:rPr sz="2000">
                                  <a:latin typeface="Cambria Math" panose="02040503050406030204" charset="0"/>
                                </a:rPr>
                                <m:t>1</m:t>
                              </m:r>
                            </m:sub>
                          </m:sSub>
                          <m:r>
                            <a:rPr sz="2000">
                              <a:latin typeface="Cambria Math" panose="02040503050406030204" charset="0"/>
                            </a:rPr>
                            <m:t>&lt;</m:t>
                          </m:r>
                          <m:sSub>
                            <m:sSubPr>
                              <m:ctrlPr>
                                <a:rPr sz="2000"/>
                              </m:ctrlPr>
                            </m:sSubPr>
                            <m:e>
                              <m:r>
                                <m:rPr>
                                  <m:sty m:val="p"/>
                                </m:rPr>
                                <a:rPr sz="2000">
                                  <a:latin typeface="Cambria Math" panose="02040503050406030204" charset="0"/>
                                </a:rPr>
                                <m:t>i</m:t>
                              </m:r>
                            </m:e>
                            <m:sub>
                              <m:r>
                                <a:rPr sz="2000">
                                  <a:latin typeface="Cambria Math" panose="02040503050406030204" charset="0"/>
                                </a:rPr>
                                <m:t>2</m:t>
                              </m:r>
                            </m:sub>
                          </m:sSub>
                          <m:r>
                            <a:rPr sz="2000">
                              <a:latin typeface="Cambria Math" panose="02040503050406030204" charset="0"/>
                            </a:rPr>
                            <m:t>&lt;</m:t>
                          </m:r>
                          <m:sSub>
                            <m:sSubPr>
                              <m:ctrlPr>
                                <a:rPr sz="2000"/>
                              </m:ctrlPr>
                            </m:sSubPr>
                            <m:e>
                              <m:r>
                                <m:rPr>
                                  <m:sty m:val="p"/>
                                </m:rPr>
                                <a:rPr sz="2000">
                                  <a:latin typeface="Cambria Math" panose="02040503050406030204" charset="0"/>
                                </a:rPr>
                                <m:t>i</m:t>
                              </m:r>
                            </m:e>
                            <m:sub>
                              <m:r>
                                <a:rPr sz="2000">
                                  <a:latin typeface="Cambria Math" panose="02040503050406030204" charset="0"/>
                                </a:rPr>
                                <m:t>3</m:t>
                              </m:r>
                            </m:sub>
                          </m:sSub>
                          <m:r>
                            <a:rPr sz="2000">
                              <a:latin typeface="Cambria Math" panose="02040503050406030204" charset="0"/>
                            </a:rPr>
                            <m:t>,…,&lt;</m:t>
                          </m:r>
                          <m:sSub>
                            <m:sSubPr>
                              <m:ctrlPr>
                                <a:rPr sz="2000"/>
                              </m:ctrlPr>
                            </m:sSubPr>
                            <m:e>
                              <m:r>
                                <m:rPr>
                                  <m:sty m:val="p"/>
                                </m:rPr>
                                <a:rPr sz="2000">
                                  <a:latin typeface="Cambria Math" panose="02040503050406030204" charset="0"/>
                                </a:rPr>
                                <m:t>i</m:t>
                              </m:r>
                            </m:e>
                            <m:sub>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sub>
                          </m:sSub>
                        </m:sub>
                        <m:sup/>
                        <m:e>
                          <m:r>
                            <m:rPr>
                              <m:sty m:val="p"/>
                            </m:rPr>
                            <a:rPr sz="2000">
                              <a:latin typeface="Cambria Math" panose="02040503050406030204" charset="0"/>
                            </a:rPr>
                            <m:t>E</m:t>
                          </m:r>
                          <m:d>
                            <m:dPr>
                              <m:begChr m:val="["/>
                              <m:endChr m:val="]"/>
                              <m:ctrlPr>
                                <a:rPr sz="2000"/>
                              </m:ctrlPr>
                            </m:dPr>
                            <m:e>
                              <m:r>
                                <m:rPr>
                                  <m:sty m:val="p"/>
                                </m:rPr>
                                <a:rPr sz="2000">
                                  <a:latin typeface="Cambria Math" panose="02040503050406030204" charset="0"/>
                                </a:rPr>
                                <m:t>G</m:t>
                              </m:r>
                              <m:r>
                                <a:rPr sz="2000">
                                  <a:latin typeface="Cambria Math" panose="02040503050406030204" charset="0"/>
                                </a:rPr>
                                <m:t>(</m:t>
                              </m:r>
                              <m:sSub>
                                <m:sSubPr>
                                  <m:ctrlPr>
                                    <a:rPr sz="2000"/>
                                  </m:ctrlPr>
                                </m:sSubPr>
                                <m:e>
                                  <m:r>
                                    <a:rPr sz="2000">
                                      <a:latin typeface="Cambria Math" panose="02040503050406030204" charset="0"/>
                                    </a:rPr>
                                    <m:t>𝛩</m:t>
                                  </m:r>
                                </m:e>
                                <m:sub>
                                  <m:sSub>
                                    <m:sSubPr>
                                      <m:ctrlPr>
                                        <a:rPr sz="2000"/>
                                      </m:ctrlPr>
                                    </m:sSubPr>
                                    <m:e>
                                      <m:r>
                                        <m:rPr>
                                          <m:sty m:val="p"/>
                                        </m:rPr>
                                        <a:rPr sz="2000">
                                          <a:latin typeface="Cambria Math" panose="02040503050406030204" charset="0"/>
                                        </a:rPr>
                                        <m:t>i</m:t>
                                      </m:r>
                                    </m:e>
                                    <m:sub>
                                      <m:r>
                                        <a:rPr sz="2000">
                                          <a:latin typeface="Cambria Math" panose="02040503050406030204" charset="0"/>
                                        </a:rPr>
                                        <m:t>1</m:t>
                                      </m:r>
                                    </m:sub>
                                  </m:sSub>
                                </m:sub>
                              </m:sSub>
                              <m:r>
                                <a:rPr sz="2000">
                                  <a:latin typeface="Cambria Math" panose="02040503050406030204" charset="0"/>
                                </a:rPr>
                                <m:t>,</m:t>
                              </m:r>
                              <m:sSub>
                                <m:sSubPr>
                                  <m:ctrlPr>
                                    <a:rPr sz="2000"/>
                                  </m:ctrlPr>
                                </m:sSubPr>
                                <m:e>
                                  <m:r>
                                    <a:rPr sz="2000">
                                      <a:latin typeface="Cambria Math" panose="02040503050406030204" charset="0"/>
                                    </a:rPr>
                                    <m:t>𝛩</m:t>
                                  </m:r>
                                </m:e>
                                <m:sub>
                                  <m:sSub>
                                    <m:sSubPr>
                                      <m:ctrlPr>
                                        <a:rPr sz="2000"/>
                                      </m:ctrlPr>
                                    </m:sSubPr>
                                    <m:e>
                                      <m:r>
                                        <m:rPr>
                                          <m:sty m:val="p"/>
                                        </m:rPr>
                                        <a:rPr sz="2000">
                                          <a:latin typeface="Cambria Math" panose="02040503050406030204" charset="0"/>
                                        </a:rPr>
                                        <m:t>i</m:t>
                                      </m:r>
                                    </m:e>
                                    <m:sub>
                                      <m:r>
                                        <a:rPr sz="2000">
                                          <a:latin typeface="Cambria Math" panose="02040503050406030204" charset="0"/>
                                        </a:rPr>
                                        <m:t>2</m:t>
                                      </m:r>
                                    </m:sub>
                                  </m:sSub>
                                </m:sub>
                              </m:sSub>
                              <m:r>
                                <a:rPr sz="2000">
                                  <a:latin typeface="Cambria Math" panose="02040503050406030204" charset="0"/>
                                </a:rPr>
                                <m:t>,…,</m:t>
                              </m:r>
                              <m:sSub>
                                <m:sSubPr>
                                  <m:ctrlPr>
                                    <a:rPr sz="2000"/>
                                  </m:ctrlPr>
                                </m:sSubPr>
                                <m:e>
                                  <m:r>
                                    <a:rPr sz="2000">
                                      <a:latin typeface="Cambria Math" panose="02040503050406030204" charset="0"/>
                                    </a:rPr>
                                    <m:t>𝛩</m:t>
                                  </m:r>
                                </m:e>
                                <m:sub>
                                  <m:sSub>
                                    <m:sSubPr>
                                      <m:ctrlPr>
                                        <a:rPr sz="2000"/>
                                      </m:ctrlPr>
                                    </m:sSubPr>
                                    <m:e>
                                      <m:r>
                                        <m:rPr>
                                          <m:sty m:val="p"/>
                                        </m:rPr>
                                        <a:rPr sz="2000">
                                          <a:latin typeface="Cambria Math" panose="02040503050406030204" charset="0"/>
                                        </a:rPr>
                                        <m:t>i</m:t>
                                      </m:r>
                                    </m:e>
                                    <m:sub>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sub>
                                  </m:sSub>
                                </m:sub>
                              </m:sSub>
                              <m:r>
                                <a:rPr sz="2000">
                                  <a:latin typeface="Cambria Math" panose="02040503050406030204" charset="0"/>
                                </a:rPr>
                                <m:t>,</m:t>
                              </m:r>
                              <m:sSub>
                                <m:sSubPr>
                                  <m:ctrlPr>
                                    <a:rPr sz="2000"/>
                                  </m:ctrlPr>
                                </m:sSubPr>
                                <m:e>
                                  <m:acc>
                                    <m:accPr>
                                      <m:ctrlPr>
                                        <a:rPr sz="2000"/>
                                      </m:ctrlPr>
                                    </m:accPr>
                                    <m:e>
                                      <m:r>
                                        <a:rPr sz="2000">
                                          <a:latin typeface="Cambria Math" panose="02040503050406030204" charset="0"/>
                                        </a:rPr>
                                        <m:t>𝛉</m:t>
                                      </m:r>
                                    </m:e>
                                  </m:acc>
                                </m:e>
                                <m:sub>
                                  <m:sSub>
                                    <m:sSubPr>
                                      <m:ctrlPr>
                                        <a:rPr sz="2000"/>
                                      </m:ctrlPr>
                                    </m:sSubPr>
                                    <m:e>
                                      <m:r>
                                        <m:rPr>
                                          <m:sty m:val="p"/>
                                        </m:rPr>
                                        <a:rPr sz="2000">
                                          <a:latin typeface="Cambria Math" panose="02040503050406030204" charset="0"/>
                                        </a:rPr>
                                        <m:t>i</m:t>
                                      </m:r>
                                    </m:e>
                                    <m:sub>
                                      <m:r>
                                        <a:rPr sz="2000">
                                          <a:latin typeface="Cambria Math" panose="02040503050406030204" charset="0"/>
                                        </a:rPr>
                                        <m:t>1</m:t>
                                      </m:r>
                                    </m:sub>
                                  </m:sSub>
                                  <m:sSub>
                                    <m:sSubPr>
                                      <m:ctrlPr>
                                        <a:rPr sz="2000"/>
                                      </m:ctrlPr>
                                    </m:sSubPr>
                                    <m:e>
                                      <m:r>
                                        <m:rPr>
                                          <m:sty m:val="p"/>
                                        </m:rPr>
                                        <a:rPr sz="2000">
                                          <a:latin typeface="Cambria Math" panose="02040503050406030204" charset="0"/>
                                        </a:rPr>
                                        <m:t>i</m:t>
                                      </m:r>
                                    </m:e>
                                    <m:sub>
                                      <m:r>
                                        <a:rPr sz="2000">
                                          <a:latin typeface="Cambria Math" panose="02040503050406030204" charset="0"/>
                                        </a:rPr>
                                        <m:t>2</m:t>
                                      </m:r>
                                    </m:sub>
                                  </m:sSub>
                                  <m:r>
                                    <a:rPr sz="2000">
                                      <a:latin typeface="Cambria Math" panose="02040503050406030204" charset="0"/>
                                    </a:rPr>
                                    <m:t>…</m:t>
                                  </m:r>
                                  <m:sSub>
                                    <m:sSubPr>
                                      <m:ctrlPr>
                                        <a:rPr sz="2000"/>
                                      </m:ctrlPr>
                                    </m:sSubPr>
                                    <m:e>
                                      <m:r>
                                        <m:rPr>
                                          <m:sty m:val="p"/>
                                        </m:rPr>
                                        <a:rPr sz="2000">
                                          <a:latin typeface="Cambria Math" panose="02040503050406030204" charset="0"/>
                                        </a:rPr>
                                        <m:t>i</m:t>
                                      </m:r>
                                    </m:e>
                                    <m:sub>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sub>
                                  </m:sSub>
                                  <m:r>
                                    <a:rPr sz="2000">
                                      <a:latin typeface="Cambria Math" panose="02040503050406030204" charset="0"/>
                                    </a:rPr>
                                    <m:t>,</m:t>
                                  </m:r>
                                  <m:r>
                                    <m:rPr>
                                      <m:sty m:val="p"/>
                                    </m:rPr>
                                    <a:rPr sz="2000">
                                      <a:latin typeface="Cambria Math" panose="02040503050406030204" charset="0"/>
                                    </a:rPr>
                                    <m:t>c</m:t>
                                  </m:r>
                                </m:sub>
                              </m:sSub>
                              <m:r>
                                <a:rPr sz="2000">
                                  <a:latin typeface="Cambria Math" panose="02040503050406030204" charset="0"/>
                                </a:rPr>
                                <m:t>)</m:t>
                              </m:r>
                            </m:e>
                          </m:d>
                        </m:e>
                      </m:nary>
                    </m:oMath>
                  </m:oMathPara>
                </a14:m>
                <a:endParaRPr sz="2000"/>
              </a:p>
            </p:txBody>
          </p:sp>
        </mc:Choice>
        <mc:Fallback>
          <p:sp>
            <p:nvSpPr>
              <p:cNvPr id="1012" name="textbox 1012"/>
              <p:cNvSpPr>
                <a:spLocks noRot="1" noChangeAspect="1" noMove="1" noResize="1" noEditPoints="1" noAdjustHandles="1" noChangeArrowheads="1" noChangeShapeType="1" noTextEdit="1"/>
              </p:cNvSpPr>
              <p:nvPr/>
            </p:nvSpPr>
            <p:spPr>
              <a:xfrm>
                <a:off x="1905000" y="2562225"/>
                <a:ext cx="7267575" cy="771525"/>
              </a:xfrm>
              <a:prstGeom prst="rect">
                <a:avLst/>
              </a:prstGeom>
              <a:blipFill rotWithShape="1">
                <a:blip r:embed="rId3"/>
                <a:stretch>
                  <a:fillRect r="-31411"/>
                </a:stretch>
              </a:blipFill>
              <a:ln w="0" cap="flat">
                <a:noFill/>
                <a:prstDash val="solid"/>
                <a:miter lim="0"/>
              </a:ln>
            </p:spPr>
            <p:txBody>
              <a:bodyPr/>
              <a:lstStyle/>
              <a:p>
                <a:r>
                  <a:rPr lang="zh-CN" altLang="en-US">
                    <a:noFill/>
                  </a:rPr>
                  <a:t> </a:t>
                </a:r>
              </a:p>
            </p:txBody>
          </p:sp>
        </mc:Fallback>
      </mc:AlternateContent>
      <p:sp>
        <p:nvSpPr>
          <p:cNvPr id="1014" name="textbox 1014"/>
          <p:cNvSpPr/>
          <p:nvPr/>
        </p:nvSpPr>
        <p:spPr>
          <a:xfrm>
            <a:off x="1466850" y="3838575"/>
            <a:ext cx="3638550" cy="285750"/>
          </a:xfrm>
          <a:prstGeom prst="rect">
            <a:avLst/>
          </a:prstGeom>
          <a:noFill/>
          <a:ln w="0" cap="flat">
            <a:noFill/>
            <a:prstDash val="solid"/>
            <a:miter lim="0"/>
          </a:ln>
        </p:spPr>
        <p:txBody>
          <a:bodyPr vert="horz" wrap="none" lIns="0" tIns="0" rIns="0" bIns="0"/>
          <a:lstStyle/>
          <a:p>
            <a:pPr algn="l" rtl="0" eaLnBrk="0"/>
            <a:r>
              <a:rPr sz="1800" kern="0" spc="0" dirty="0">
                <a:solidFill>
                  <a:srgbClr val="795D01">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响应函数</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 Z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的第</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 q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阶中心矩为：</a:t>
            </a:r>
            <a:endParaRPr sz="1800" dirty="0"/>
          </a:p>
        </p:txBody>
      </p:sp>
      <mc:AlternateContent xmlns:mc="http://schemas.openxmlformats.org/markup-compatibility/2006">
        <mc:Choice xmlns:a14="http://schemas.microsoft.com/office/drawing/2010/main" Requires="a14">
          <p:sp>
            <p:nvSpPr>
              <p:cNvPr id="1016" name="textbox 1016"/>
              <p:cNvSpPr/>
              <p:nvPr/>
            </p:nvSpPr>
            <p:spPr>
              <a:xfrm>
                <a:off x="1905000" y="4524375"/>
                <a:ext cx="8229600" cy="7715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sz="2000"/>
                          </m:ctrlPr>
                        </m:sSubPr>
                        <m:e>
                          <m:r>
                            <m:rPr>
                              <m:sty m:val="p"/>
                            </m:rPr>
                            <a:rPr sz="2000">
                              <a:latin typeface="Cambria Math" panose="02040503050406030204" charset="0"/>
                            </a:rPr>
                            <m:t>m</m:t>
                          </m:r>
                        </m:e>
                        <m:sub>
                          <m:r>
                            <m:rPr>
                              <m:sty m:val="p"/>
                            </m:rPr>
                            <a:rPr sz="2000">
                              <a:latin typeface="Cambria Math" panose="02040503050406030204" charset="0"/>
                            </a:rPr>
                            <m:t>Z</m:t>
                          </m:r>
                          <m:r>
                            <a:rPr sz="2000">
                              <a:latin typeface="Cambria Math" panose="02040503050406030204" charset="0"/>
                            </a:rPr>
                            <m:t>,</m:t>
                          </m:r>
                          <m:r>
                            <m:rPr>
                              <m:sty m:val="p"/>
                            </m:rPr>
                            <a:rPr sz="2000">
                              <a:latin typeface="Cambria Math" panose="02040503050406030204" charset="0"/>
                            </a:rPr>
                            <m:t>q</m:t>
                          </m:r>
                        </m:sub>
                      </m:sSub>
                      <m:r>
                        <a:rPr sz="2000">
                          <a:latin typeface="Cambria Math" panose="02040503050406030204" charset="0"/>
                        </a:rPr>
                        <m:t>≈</m:t>
                      </m:r>
                      <m:nary>
                        <m:naryPr>
                          <m:chr m:val="∑"/>
                          <m:limLoc m:val="subSup"/>
                          <m:ctrlPr>
                            <a:rPr sz="2000"/>
                          </m:ctrlPr>
                        </m:naryPr>
                        <m:sub>
                          <m:r>
                            <m:rPr>
                              <m:sty m:val="p"/>
                            </m:rPr>
                            <a:rPr sz="2000">
                              <a:latin typeface="Cambria Math" panose="02040503050406030204" charset="0"/>
                            </a:rPr>
                            <m:t>k</m:t>
                          </m:r>
                          <m:r>
                            <a:rPr sz="2000">
                              <a:latin typeface="Cambria Math" panose="02040503050406030204" charset="0"/>
                            </a:rPr>
                            <m:t>=</m:t>
                          </m:r>
                          <m:r>
                            <a:rPr sz="2000">
                              <a:latin typeface="Cambria Math" panose="02040503050406030204" charset="0"/>
                            </a:rPr>
                            <m:t>0</m:t>
                          </m:r>
                        </m:sub>
                        <m:sup>
                          <m:r>
                            <m:rPr>
                              <m:sty m:val="p"/>
                            </m:rPr>
                            <a:rPr sz="2000">
                              <a:latin typeface="Cambria Math" panose="02040503050406030204" charset="0"/>
                            </a:rPr>
                            <m:t>s</m:t>
                          </m:r>
                        </m:sup>
                        <m:e>
                          <m:r>
                            <a:rPr sz="2000">
                              <a:latin typeface="Cambria Math" panose="02040503050406030204" charset="0"/>
                            </a:rPr>
                            <m:t>(−</m:t>
                          </m:r>
                          <m:r>
                            <a:rPr sz="2000">
                              <a:latin typeface="Cambria Math" panose="02040503050406030204" charset="0"/>
                            </a:rPr>
                            <m:t>1</m:t>
                          </m:r>
                          <m:sSup>
                            <m:sSupPr>
                              <m:ctrlPr>
                                <a:rPr sz="2000"/>
                              </m:ctrlPr>
                            </m:sSupPr>
                            <m:e>
                              <m:r>
                                <a:rPr sz="2000">
                                  <a:latin typeface="Cambria Math" panose="02040503050406030204" charset="0"/>
                                </a:rPr>
                                <m:t>)</m:t>
                              </m:r>
                            </m:e>
                            <m:sup>
                              <m:r>
                                <m:rPr>
                                  <m:sty m:val="p"/>
                                </m:rPr>
                                <a:rPr sz="2000">
                                  <a:latin typeface="Cambria Math" panose="02040503050406030204" charset="0"/>
                                </a:rPr>
                                <m:t>i</m:t>
                              </m:r>
                            </m:sup>
                          </m:sSup>
                          <m:d>
                            <m:dPr>
                              <m:ctrlPr>
                                <a:rPr sz="2000"/>
                              </m:ctrlPr>
                            </m:dPr>
                            <m:e>
                              <m:f>
                                <m:fPr>
                                  <m:type m:val="noBar"/>
                                  <m:ctrlPr>
                                    <a:rPr sz="2000"/>
                                  </m:ctrlPr>
                                </m:fPr>
                                <m:num>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r>
                                    <a:rPr sz="2000">
                                      <a:latin typeface="Cambria Math" panose="02040503050406030204" charset="0"/>
                                    </a:rPr>
                                    <m:t>−</m:t>
                                  </m:r>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r>
                                    <a:rPr sz="2000">
                                      <a:latin typeface="Cambria Math" panose="02040503050406030204" charset="0"/>
                                    </a:rPr>
                                    <m:t>−</m:t>
                                  </m:r>
                                  <m:r>
                                    <a:rPr sz="2000">
                                      <a:latin typeface="Cambria Math" panose="02040503050406030204" charset="0"/>
                                    </a:rPr>
                                    <m:t>1</m:t>
                                  </m:r>
                                </m:num>
                                <m:den>
                                  <m:r>
                                    <m:rPr>
                                      <m:sty m:val="p"/>
                                    </m:rPr>
                                    <a:rPr sz="2000">
                                      <a:latin typeface="Cambria Math" panose="02040503050406030204" charset="0"/>
                                    </a:rPr>
                                    <m:t>k</m:t>
                                  </m:r>
                                </m:den>
                              </m:f>
                            </m:e>
                          </m:d>
                        </m:e>
                      </m:nary>
                      <m:nary>
                        <m:naryPr>
                          <m:chr m:val="∑"/>
                          <m:limLoc m:val="subSup"/>
                          <m:supHide m:val="on"/>
                          <m:ctrlPr>
                            <a:rPr sz="2000"/>
                          </m:ctrlPr>
                        </m:naryPr>
                        <m:sub>
                          <m:sSub>
                            <m:sSubPr>
                              <m:ctrlPr>
                                <a:rPr sz="2000"/>
                              </m:ctrlPr>
                            </m:sSubPr>
                            <m:e>
                              <m:r>
                                <m:rPr>
                                  <m:sty m:val="p"/>
                                </m:rPr>
                                <a:rPr sz="2000">
                                  <a:latin typeface="Cambria Math" panose="02040503050406030204" charset="0"/>
                                </a:rPr>
                                <m:t>i</m:t>
                              </m:r>
                            </m:e>
                            <m:sub>
                              <m:r>
                                <a:rPr sz="2000">
                                  <a:latin typeface="Cambria Math" panose="02040503050406030204" charset="0"/>
                                </a:rPr>
                                <m:t>1</m:t>
                              </m:r>
                            </m:sub>
                          </m:sSub>
                          <m:r>
                            <a:rPr sz="2000">
                              <a:latin typeface="Cambria Math" panose="02040503050406030204" charset="0"/>
                            </a:rPr>
                            <m:t>&lt;</m:t>
                          </m:r>
                          <m:sSub>
                            <m:sSubPr>
                              <m:ctrlPr>
                                <a:rPr sz="2000"/>
                              </m:ctrlPr>
                            </m:sSubPr>
                            <m:e>
                              <m:r>
                                <m:rPr>
                                  <m:sty m:val="p"/>
                                </m:rPr>
                                <a:rPr sz="2000">
                                  <a:latin typeface="Cambria Math" panose="02040503050406030204" charset="0"/>
                                </a:rPr>
                                <m:t>i</m:t>
                              </m:r>
                            </m:e>
                            <m:sub>
                              <m:r>
                                <a:rPr sz="2000">
                                  <a:latin typeface="Cambria Math" panose="02040503050406030204" charset="0"/>
                                </a:rPr>
                                <m:t>2</m:t>
                              </m:r>
                            </m:sub>
                          </m:sSub>
                          <m:r>
                            <a:rPr sz="2000">
                              <a:latin typeface="Cambria Math" panose="02040503050406030204" charset="0"/>
                            </a:rPr>
                            <m:t>&lt;</m:t>
                          </m:r>
                          <m:sSub>
                            <m:sSubPr>
                              <m:ctrlPr>
                                <a:rPr sz="2000"/>
                              </m:ctrlPr>
                            </m:sSubPr>
                            <m:e>
                              <m:r>
                                <m:rPr>
                                  <m:sty m:val="p"/>
                                </m:rPr>
                                <a:rPr sz="2000">
                                  <a:latin typeface="Cambria Math" panose="02040503050406030204" charset="0"/>
                                </a:rPr>
                                <m:t>i</m:t>
                              </m:r>
                            </m:e>
                            <m:sub>
                              <m:r>
                                <a:rPr sz="2000">
                                  <a:latin typeface="Cambria Math" panose="02040503050406030204" charset="0"/>
                                </a:rPr>
                                <m:t>3</m:t>
                              </m:r>
                            </m:sub>
                          </m:sSub>
                          <m:r>
                            <a:rPr sz="2000">
                              <a:latin typeface="Cambria Math" panose="02040503050406030204" charset="0"/>
                            </a:rPr>
                            <m:t>,…,</m:t>
                          </m:r>
                          <m:r>
                            <a:rPr sz="2000">
                              <a:latin typeface="Cambria Math" panose="02040503050406030204" charset="0"/>
                            </a:rPr>
                            <m:t>&lt;</m:t>
                          </m:r>
                          <m:sSub>
                            <m:sSubPr>
                              <m:ctrlPr>
                                <a:rPr sz="2000"/>
                              </m:ctrlPr>
                            </m:sSubPr>
                            <m:e>
                              <m:r>
                                <m:rPr>
                                  <m:sty m:val="p"/>
                                </m:rPr>
                                <a:rPr sz="2000">
                                  <a:latin typeface="Cambria Math" panose="02040503050406030204" charset="0"/>
                                </a:rPr>
                                <m:t>i</m:t>
                              </m:r>
                            </m:e>
                            <m:sub>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sub>
                          </m:sSub>
                        </m:sub>
                        <m:sup/>
                        <m:e>
                          <m:r>
                            <m:rPr>
                              <m:sty m:val="p"/>
                            </m:rPr>
                            <a:rPr sz="2000">
                              <a:latin typeface="Cambria Math" panose="02040503050406030204" charset="0"/>
                            </a:rPr>
                            <m:t>E</m:t>
                          </m:r>
                          <m:d>
                            <m:dPr>
                              <m:begChr m:val="["/>
                              <m:endChr m:val="]"/>
                              <m:ctrlPr>
                                <a:rPr sz="2000"/>
                              </m:ctrlPr>
                            </m:dPr>
                            <m:e>
                              <m:sSup>
                                <m:sSupPr>
                                  <m:ctrlPr>
                                    <a:rPr sz="2000"/>
                                  </m:ctrlPr>
                                </m:sSupPr>
                                <m:e>
                                  <m:d>
                                    <m:dPr>
                                      <m:ctrlPr>
                                        <a:rPr sz="2000"/>
                                      </m:ctrlPr>
                                    </m:dPr>
                                    <m:e>
                                      <m:r>
                                        <m:rPr>
                                          <m:sty m:val="p"/>
                                        </m:rPr>
                                        <a:rPr sz="2000">
                                          <a:latin typeface="Cambria Math" panose="02040503050406030204" charset="0"/>
                                        </a:rPr>
                                        <m:t>G</m:t>
                                      </m:r>
                                      <m:r>
                                        <a:rPr sz="2000">
                                          <a:latin typeface="Cambria Math" panose="02040503050406030204" charset="0"/>
                                        </a:rPr>
                                        <m:t>(</m:t>
                                      </m:r>
                                      <m:sSub>
                                        <m:sSubPr>
                                          <m:ctrlPr>
                                            <a:rPr sz="2000"/>
                                          </m:ctrlPr>
                                        </m:sSubPr>
                                        <m:e>
                                          <m:r>
                                            <m:rPr>
                                              <m:sty m:val="p"/>
                                            </m:rPr>
                                            <a:rPr sz="2000">
                                              <a:latin typeface="Cambria Math" panose="02040503050406030204" charset="0"/>
                                            </a:rPr>
                                            <m:t>O</m:t>
                                          </m:r>
                                        </m:e>
                                        <m:sub>
                                          <m:sSub>
                                            <m:sSubPr>
                                              <m:ctrlPr>
                                                <a:rPr sz="2000"/>
                                              </m:ctrlPr>
                                            </m:sSubPr>
                                            <m:e>
                                              <m:r>
                                                <m:rPr>
                                                  <m:sty m:val="p"/>
                                                </m:rPr>
                                                <a:rPr sz="2000">
                                                  <a:latin typeface="Cambria Math" panose="02040503050406030204" charset="0"/>
                                                </a:rPr>
                                                <m:t>i</m:t>
                                              </m:r>
                                            </m:e>
                                            <m:sub>
                                              <m:r>
                                                <a:rPr sz="2000">
                                                  <a:latin typeface="Cambria Math" panose="02040503050406030204" charset="0"/>
                                                </a:rPr>
                                                <m:t>1</m:t>
                                              </m:r>
                                            </m:sub>
                                          </m:sSub>
                                        </m:sub>
                                      </m:sSub>
                                      <m:r>
                                        <a:rPr sz="2000">
                                          <a:latin typeface="Cambria Math" panose="02040503050406030204" charset="0"/>
                                        </a:rPr>
                                        <m:t>,</m:t>
                                      </m:r>
                                      <m:sSub>
                                        <m:sSubPr>
                                          <m:ctrlPr>
                                            <a:rPr sz="2000"/>
                                          </m:ctrlPr>
                                        </m:sSubPr>
                                        <m:e>
                                          <m:r>
                                            <m:rPr>
                                              <m:sty m:val="p"/>
                                            </m:rPr>
                                            <a:rPr sz="2000">
                                              <a:latin typeface="Cambria Math" panose="02040503050406030204" charset="0"/>
                                            </a:rPr>
                                            <m:t>O</m:t>
                                          </m:r>
                                        </m:e>
                                        <m:sub>
                                          <m:sSub>
                                            <m:sSubPr>
                                              <m:ctrlPr>
                                                <a:rPr sz="2000"/>
                                              </m:ctrlPr>
                                            </m:sSubPr>
                                            <m:e>
                                              <m:r>
                                                <m:rPr>
                                                  <m:sty m:val="p"/>
                                                </m:rPr>
                                                <a:rPr sz="2000">
                                                  <a:latin typeface="Cambria Math" panose="02040503050406030204" charset="0"/>
                                                </a:rPr>
                                                <m:t>i</m:t>
                                              </m:r>
                                            </m:e>
                                            <m:sub>
                                              <m:r>
                                                <a:rPr sz="2000">
                                                  <a:latin typeface="Cambria Math" panose="02040503050406030204" charset="0"/>
                                                </a:rPr>
                                                <m:t>2</m:t>
                                              </m:r>
                                            </m:sub>
                                          </m:sSub>
                                        </m:sub>
                                      </m:sSub>
                                      <m:r>
                                        <a:rPr sz="2000">
                                          <a:latin typeface="Cambria Math" panose="02040503050406030204" charset="0"/>
                                        </a:rPr>
                                        <m:t>,…,</m:t>
                                      </m:r>
                                      <m:sSub>
                                        <m:sSubPr>
                                          <m:ctrlPr>
                                            <a:rPr sz="2000"/>
                                          </m:ctrlPr>
                                        </m:sSubPr>
                                        <m:e>
                                          <m:r>
                                            <m:rPr>
                                              <m:sty m:val="p"/>
                                            </m:rPr>
                                            <a:rPr sz="2000">
                                              <a:latin typeface="Cambria Math" panose="02040503050406030204" charset="0"/>
                                            </a:rPr>
                                            <m:t>O</m:t>
                                          </m:r>
                                        </m:e>
                                        <m:sub>
                                          <m:sSub>
                                            <m:sSubPr>
                                              <m:ctrlPr>
                                                <a:rPr sz="2000"/>
                                              </m:ctrlPr>
                                            </m:sSubPr>
                                            <m:e>
                                              <m:r>
                                                <m:rPr>
                                                  <m:sty m:val="p"/>
                                                </m:rPr>
                                                <a:rPr sz="2000">
                                                  <a:latin typeface="Cambria Math" panose="02040503050406030204" charset="0"/>
                                                </a:rPr>
                                                <m:t>i</m:t>
                                              </m:r>
                                            </m:e>
                                            <m:sub>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sub>
                                          </m:sSub>
                                        </m:sub>
                                      </m:sSub>
                                      <m:r>
                                        <a:rPr sz="2000">
                                          <a:latin typeface="Cambria Math" panose="02040503050406030204" charset="0"/>
                                        </a:rPr>
                                        <m:t>,</m:t>
                                      </m:r>
                                      <m:sSub>
                                        <m:sSubPr>
                                          <m:ctrlPr>
                                            <a:rPr sz="2000"/>
                                          </m:ctrlPr>
                                        </m:sSubPr>
                                        <m:e>
                                          <m:acc>
                                            <m:accPr>
                                              <m:ctrlPr>
                                                <a:rPr sz="2000"/>
                                              </m:ctrlPr>
                                            </m:accPr>
                                            <m:e>
                                              <m:r>
                                                <a:rPr sz="2000">
                                                  <a:latin typeface="Cambria Math" panose="02040503050406030204" charset="0"/>
                                                </a:rPr>
                                                <m:t>𝛉</m:t>
                                              </m:r>
                                            </m:e>
                                          </m:acc>
                                        </m:e>
                                        <m:sub>
                                          <m:sSub>
                                            <m:sSubPr>
                                              <m:ctrlPr>
                                                <a:rPr sz="2000"/>
                                              </m:ctrlPr>
                                            </m:sSubPr>
                                            <m:e>
                                              <m:r>
                                                <m:rPr>
                                                  <m:sty m:val="p"/>
                                                </m:rPr>
                                                <a:rPr sz="2000">
                                                  <a:latin typeface="Cambria Math" panose="02040503050406030204" charset="0"/>
                                                </a:rPr>
                                                <m:t>i</m:t>
                                              </m:r>
                                            </m:e>
                                            <m:sub>
                                              <m:r>
                                                <a:rPr sz="2000">
                                                  <a:latin typeface="Cambria Math" panose="02040503050406030204" charset="0"/>
                                                </a:rPr>
                                                <m:t>1</m:t>
                                              </m:r>
                                            </m:sub>
                                          </m:sSub>
                                          <m:sSub>
                                            <m:sSubPr>
                                              <m:ctrlPr>
                                                <a:rPr sz="2000"/>
                                              </m:ctrlPr>
                                            </m:sSubPr>
                                            <m:e>
                                              <m:r>
                                                <m:rPr>
                                                  <m:sty m:val="p"/>
                                                </m:rPr>
                                                <a:rPr sz="2000">
                                                  <a:latin typeface="Cambria Math" panose="02040503050406030204" charset="0"/>
                                                </a:rPr>
                                                <m:t>i</m:t>
                                              </m:r>
                                            </m:e>
                                            <m:sub>
                                              <m:r>
                                                <a:rPr sz="2000">
                                                  <a:latin typeface="Cambria Math" panose="02040503050406030204" charset="0"/>
                                                </a:rPr>
                                                <m:t>2</m:t>
                                              </m:r>
                                            </m:sub>
                                          </m:sSub>
                                          <m:r>
                                            <a:rPr sz="2000">
                                              <a:latin typeface="Cambria Math" panose="02040503050406030204" charset="0"/>
                                            </a:rPr>
                                            <m:t>…</m:t>
                                          </m:r>
                                          <m:sSub>
                                            <m:sSubPr>
                                              <m:ctrlPr>
                                                <a:rPr sz="2000"/>
                                              </m:ctrlPr>
                                            </m:sSubPr>
                                            <m:e>
                                              <m:r>
                                                <m:rPr>
                                                  <m:sty m:val="p"/>
                                                </m:rPr>
                                                <a:rPr sz="2000">
                                                  <a:latin typeface="Cambria Math" panose="02040503050406030204" charset="0"/>
                                                </a:rPr>
                                                <m:t>i</m:t>
                                              </m:r>
                                            </m:e>
                                            <m:sub>
                                              <m:r>
                                                <m:rPr>
                                                  <m:sty m:val="p"/>
                                                </m:rPr>
                                                <a:rPr sz="2000">
                                                  <a:latin typeface="Cambria Math" panose="02040503050406030204" charset="0"/>
                                                </a:rPr>
                                                <m:t>s</m:t>
                                              </m:r>
                                              <m:r>
                                                <a:rPr sz="2000">
                                                  <a:latin typeface="Cambria Math" panose="02040503050406030204" charset="0"/>
                                                </a:rPr>
                                                <m:t>−</m:t>
                                              </m:r>
                                              <m:r>
                                                <m:rPr>
                                                  <m:sty m:val="p"/>
                                                </m:rPr>
                                                <a:rPr sz="2000">
                                                  <a:latin typeface="Cambria Math" panose="02040503050406030204" charset="0"/>
                                                </a:rPr>
                                                <m:t>k</m:t>
                                              </m:r>
                                            </m:sub>
                                          </m:sSub>
                                          <m:r>
                                            <a:rPr sz="2000">
                                              <a:latin typeface="Cambria Math" panose="02040503050406030204" charset="0"/>
                                            </a:rPr>
                                            <m:t>,</m:t>
                                          </m:r>
                                          <m:r>
                                            <m:rPr>
                                              <m:sty m:val="p"/>
                                            </m:rPr>
                                            <a:rPr sz="2000">
                                              <a:latin typeface="Cambria Math" panose="02040503050406030204" charset="0"/>
                                            </a:rPr>
                                            <m:t>c</m:t>
                                          </m:r>
                                        </m:sub>
                                      </m:sSub>
                                      <m:r>
                                        <a:rPr sz="2000">
                                          <a:latin typeface="Cambria Math" panose="02040503050406030204" charset="0"/>
                                        </a:rPr>
                                        <m:t>)−</m:t>
                                      </m:r>
                                      <m:sSub>
                                        <m:sSubPr>
                                          <m:ctrlPr>
                                            <a:rPr sz="2000"/>
                                          </m:ctrlPr>
                                        </m:sSubPr>
                                        <m:e>
                                          <m:r>
                                            <a:rPr sz="2000">
                                              <a:latin typeface="Cambria Math" panose="02040503050406030204" charset="0"/>
                                            </a:rPr>
                                            <m:t>𝜇</m:t>
                                          </m:r>
                                        </m:e>
                                        <m:sub>
                                          <m:r>
                                            <m:rPr>
                                              <m:sty m:val="p"/>
                                            </m:rPr>
                                            <a:rPr sz="2000">
                                              <a:latin typeface="Cambria Math" panose="02040503050406030204" charset="0"/>
                                            </a:rPr>
                                            <m:t>Z</m:t>
                                          </m:r>
                                        </m:sub>
                                      </m:sSub>
                                    </m:e>
                                  </m:d>
                                </m:e>
                                <m:sup>
                                  <m:r>
                                    <m:rPr>
                                      <m:sty m:val="p"/>
                                    </m:rPr>
                                    <a:rPr sz="2000">
                                      <a:latin typeface="Cambria Math" panose="02040503050406030204" charset="0"/>
                                    </a:rPr>
                                    <m:t>q</m:t>
                                  </m:r>
                                </m:sup>
                              </m:sSup>
                            </m:e>
                          </m:d>
                        </m:e>
                      </m:nary>
                    </m:oMath>
                  </m:oMathPara>
                </a14:m>
                <a:endParaRPr sz="600" dirty="0">
                  <a:latin typeface="Arial" panose="020B0604020202020204" pitchFamily="34" charset="0"/>
                  <a:cs typeface="Arial" panose="020B0604020202020204" pitchFamily="34" charset="0"/>
                </a:endParaRPr>
              </a:p>
            </p:txBody>
          </p:sp>
        </mc:Choice>
        <mc:Fallback>
          <p:sp>
            <p:nvSpPr>
              <p:cNvPr id="1016" name="textbox 1016"/>
              <p:cNvSpPr>
                <a:spLocks noRot="1" noChangeAspect="1" noMove="1" noResize="1" noEditPoints="1" noAdjustHandles="1" noChangeArrowheads="1" noChangeShapeType="1" noTextEdit="1"/>
              </p:cNvSpPr>
              <p:nvPr/>
            </p:nvSpPr>
            <p:spPr>
              <a:xfrm>
                <a:off x="1905000" y="4524375"/>
                <a:ext cx="8229600" cy="771525"/>
              </a:xfrm>
              <a:prstGeom prst="rect">
                <a:avLst/>
              </a:prstGeom>
              <a:blipFill rotWithShape="1">
                <a:blip r:embed="rId4"/>
                <a:stretch>
                  <a:fillRect r="-29715"/>
                </a:stretch>
              </a:blipFill>
              <a:ln w="0" cap="flat">
                <a:noFill/>
                <a:prstDash val="solid"/>
                <a:miter lim="0"/>
              </a:ln>
            </p:spPr>
            <p:txBody>
              <a:bodyPr/>
              <a:lstStyle/>
              <a:p>
                <a:r>
                  <a:rPr lang="zh-CN" altLang="en-US">
                    <a:noFill/>
                  </a:rPr>
                  <a:t> </a:t>
                </a:r>
              </a:p>
            </p:txBody>
          </p:sp>
        </mc:Fallback>
      </mc:AlternateContent>
      <p:sp>
        <p:nvSpPr>
          <p:cNvPr id="1018" name="textbox 101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020" name="textbox 1020"/>
          <p:cNvSpPr/>
          <p:nvPr/>
        </p:nvSpPr>
        <p:spPr>
          <a:xfrm>
            <a:off x="11753850" y="6743700"/>
            <a:ext cx="171450" cy="104775"/>
          </a:xfrm>
          <a:prstGeom prst="rect">
            <a:avLst/>
          </a:prstGeom>
          <a:noFill/>
          <a:ln w="0" cap="flat">
            <a:noFill/>
            <a:prstDash val="solid"/>
            <a:miter lim="0"/>
          </a:ln>
        </p:spPr>
        <p:txBody>
          <a:bodyPr vert="horz" wrap="none" lIns="0" tIns="0" rIns="0" bIns="0"/>
          <a:lstStyle/>
          <a:p>
            <a:pPr algn="l" rtl="0" eaLnBrk="0"/>
            <a:r>
              <a:rPr sz="1000" kern="0" spc="0" dirty="0">
                <a:solidFill>
                  <a:srgbClr val="96DAC1">
                    <a:alpha val="100000"/>
                  </a:srgbClr>
                </a:solidFill>
                <a:latin typeface="Arial" panose="020B0604020202020204"/>
                <a:ea typeface="Arial" panose="020B0604020202020204"/>
                <a:cs typeface="Arial" panose="020B0604020202020204"/>
              </a:rPr>
              <a:t>25</a:t>
            </a:r>
            <a:endParaRPr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 name="picture 1024"/>
          <p:cNvPicPr>
            <a:picLocks noChangeAspect="1"/>
          </p:cNvPicPr>
          <p:nvPr/>
        </p:nvPicPr>
        <p:blipFill>
          <a:blip r:embed="rId1"/>
          <a:stretch>
            <a:fillRect/>
          </a:stretch>
        </p:blipFill>
        <p:spPr>
          <a:xfrm>
            <a:off x="0" y="0"/>
            <a:ext cx="12192000" cy="6858000"/>
          </a:xfrm>
          <a:prstGeom prst="rect">
            <a:avLst/>
          </a:prstGeom>
        </p:spPr>
      </p:pic>
      <p:sp>
        <p:nvSpPr>
          <p:cNvPr id="1026" name="textbox 1026"/>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028" name="textbox 1028"/>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030" name="textbox 103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034" name="picture 1034"/>
          <p:cNvPicPr>
            <a:picLocks noChangeAspect="1"/>
          </p:cNvPicPr>
          <p:nvPr/>
        </p:nvPicPr>
        <p:blipFill>
          <a:blip r:embed="rId2"/>
          <a:stretch>
            <a:fillRect/>
          </a:stretch>
        </p:blipFill>
        <p:spPr>
          <a:xfrm>
            <a:off x="295275" y="247650"/>
            <a:ext cx="733425" cy="666750"/>
          </a:xfrm>
          <a:prstGeom prst="rect">
            <a:avLst/>
          </a:prstGeom>
        </p:spPr>
      </p:pic>
      <p:sp>
        <p:nvSpPr>
          <p:cNvPr id="1036" name="textbox 1036"/>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038" name="textbox 1038"/>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040" name="textbox 1040"/>
          <p:cNvSpPr/>
          <p:nvPr/>
        </p:nvSpPr>
        <p:spPr>
          <a:xfrm>
            <a:off x="1457325" y="1133475"/>
            <a:ext cx="3438525"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基于Va-DRMs的降维积分法</a:t>
            </a:r>
            <a:endParaRPr sz="2000" dirty="0"/>
          </a:p>
        </p:txBody>
      </p:sp>
      <p:sp>
        <p:nvSpPr>
          <p:cNvPr id="1042" name="textbox 1042"/>
          <p:cNvSpPr/>
          <p:nvPr/>
        </p:nvSpPr>
        <p:spPr>
          <a:xfrm>
            <a:off x="1466850" y="1485900"/>
            <a:ext cx="3038475"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Va-DRMs-based dimension-reduction integration methods</a:t>
            </a:r>
            <a:endParaRPr sz="1000" dirty="0"/>
          </a:p>
        </p:txBody>
      </p:sp>
      <p:sp>
        <p:nvSpPr>
          <p:cNvPr id="1044" name="textbox 1044"/>
          <p:cNvSpPr/>
          <p:nvPr/>
        </p:nvSpPr>
        <p:spPr>
          <a:xfrm>
            <a:off x="1504950" y="1800225"/>
            <a:ext cx="6534150" cy="247650"/>
          </a:xfrm>
          <a:prstGeom prst="rect">
            <a:avLst/>
          </a:prstGeom>
          <a:noFill/>
          <a:ln w="0" cap="flat">
            <a:noFill/>
            <a:prstDash val="solid"/>
            <a:miter lim="0"/>
          </a:ln>
        </p:spPr>
        <p:txBody>
          <a:bodyPr vert="horz" wrap="none" lIns="0" tIns="0" rIns="0" bIns="0"/>
          <a:lstStyle/>
          <a:p>
            <a:pPr algn="l" rtl="0" eaLnBrk="0"/>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通常情况下，截断阶数 </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s</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=1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或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2</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，对应</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UDRIM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和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BDRIM</a:t>
            </a:r>
            <a:endParaRPr sz="1800" dirty="0"/>
          </a:p>
        </p:txBody>
      </p:sp>
      <p:sp>
        <p:nvSpPr>
          <p:cNvPr id="1046" name="textbox 1046"/>
          <p:cNvSpPr/>
          <p:nvPr/>
        </p:nvSpPr>
        <p:spPr>
          <a:xfrm>
            <a:off x="1466850" y="2314575"/>
            <a:ext cx="4600575" cy="304800"/>
          </a:xfrm>
          <a:prstGeom prst="rect">
            <a:avLst/>
          </a:prstGeom>
          <a:noFill/>
          <a:ln w="0" cap="flat">
            <a:noFill/>
            <a:prstDash val="solid"/>
            <a:miter lim="0"/>
          </a:ln>
        </p:spPr>
        <p:txBody>
          <a:bodyPr vert="horz" wrap="none" lIns="0" tIns="0" rIns="0" bIns="0"/>
          <a:lstStyle/>
          <a:p>
            <a:pPr algn="l" rtl="0" eaLnBrk="0"/>
            <a:r>
              <a:rPr sz="1800" kern="0" spc="0" dirty="0">
                <a:solidFill>
                  <a:srgbClr val="795D01">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UDRIM (</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s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 1)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对应的均值和 </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q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阶矩为：</a:t>
            </a:r>
            <a:endParaRPr sz="1800" dirty="0"/>
          </a:p>
        </p:txBody>
      </p:sp>
      <mc:AlternateContent xmlns:mc="http://schemas.openxmlformats.org/markup-compatibility/2006">
        <mc:Choice xmlns:a14="http://schemas.microsoft.com/office/drawing/2010/main" Requires="a14">
          <p:sp>
            <p:nvSpPr>
              <p:cNvPr id="1048" name="textbox 1048"/>
              <p:cNvSpPr/>
              <p:nvPr/>
            </p:nvSpPr>
            <p:spPr>
              <a:xfrm>
                <a:off x="1819275" y="2733675"/>
                <a:ext cx="4200525" cy="7239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2400" dirty="0">
                              <a:latin typeface="Cambria Math" panose="02040503050406030204"/>
                              <a:ea typeface="Cambria Math" panose="02040503050406030204"/>
                            </a:rPr>
                            <m:t>𝜇</m:t>
                          </m:r>
                        </m:e>
                        <m:sub>
                          <m:r>
                            <m:rPr>
                              <m:sty m:val="p"/>
                            </m:rPr>
                            <a:rPr lang="en-US" sz="2400" dirty="0">
                              <a:latin typeface="Cambria Math" panose="02040503050406030204"/>
                              <a:ea typeface="Cambria Math" panose="02040503050406030204"/>
                            </a:rPr>
                            <m:t>Z</m:t>
                          </m:r>
                        </m:sub>
                      </m:sSub>
                      <m:r>
                        <a:rPr lang="en-US" sz="2400" dirty="0">
                          <a:latin typeface="Cambria Math" panose="02040503050406030204"/>
                          <a:ea typeface="Cambria Math" panose="02040503050406030204"/>
                        </a:rPr>
                        <m:t>≈</m:t>
                      </m:r>
                      <m:nary>
                        <m:naryPr>
                          <m:chr m:val="∑"/>
                          <m:limLoc m:val="subSup"/>
                          <m:ctrlPr>
                            <a:rPr/>
                          </m:ctrlPr>
                        </m:naryPr>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sub>
                        <m:sup>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sup>
                        <m:e>
                          <m:r>
                            <m:rPr>
                              <m:sty m:val="p"/>
                            </m:rPr>
                            <a:rPr lang="en-US" sz="2400" dirty="0">
                              <a:latin typeface="Cambria Math" panose="02040503050406030204"/>
                              <a:ea typeface="Cambria Math" panose="02040503050406030204"/>
                            </a:rPr>
                            <m:t>E</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𝛉</m:t>
                              </m:r>
                            </m:e>
                            <m:sub>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e>
                      </m:nary>
                    </m:oMath>
                  </m:oMathPara>
                </a14:m>
                <a:endParaRPr sz="600" dirty="0"/>
              </a:p>
            </p:txBody>
          </p:sp>
        </mc:Choice>
        <mc:Fallback>
          <p:sp>
            <p:nvSpPr>
              <p:cNvPr id="1048" name="textbox 1048"/>
              <p:cNvSpPr>
                <a:spLocks noRot="1" noChangeAspect="1" noMove="1" noResize="1" noEditPoints="1" noAdjustHandles="1" noChangeArrowheads="1" noChangeShapeType="1" noTextEdit="1"/>
              </p:cNvSpPr>
              <p:nvPr/>
            </p:nvSpPr>
            <p:spPr>
              <a:xfrm>
                <a:off x="1819275" y="2733675"/>
                <a:ext cx="4200525" cy="723900"/>
              </a:xfrm>
              <a:prstGeom prst="rect">
                <a:avLst/>
              </a:prstGeom>
              <a:blipFill rotWithShape="1">
                <a:blip r:embed="rId3"/>
                <a:stretch>
                  <a:fillRect r="-35646"/>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50" name="textbox 1050"/>
              <p:cNvSpPr/>
              <p:nvPr/>
            </p:nvSpPr>
            <p:spPr>
              <a:xfrm>
                <a:off x="1828800" y="3514725"/>
                <a:ext cx="9020175" cy="9810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sz="2000"/>
                          </m:ctrlPr>
                        </m:sSubPr>
                        <m:e>
                          <m:r>
                            <m:rPr>
                              <m:sty m:val="p"/>
                            </m:rPr>
                            <a:rPr sz="2000">
                              <a:latin typeface="Cambria Math" panose="02040503050406030204" charset="0"/>
                            </a:rPr>
                            <m:t>m</m:t>
                          </m:r>
                        </m:e>
                        <m:sub>
                          <m:r>
                            <m:rPr>
                              <m:sty m:val="p"/>
                            </m:rPr>
                            <a:rPr sz="2000">
                              <a:latin typeface="Cambria Math" panose="02040503050406030204" charset="0"/>
                            </a:rPr>
                            <m:t>Z</m:t>
                          </m:r>
                          <m:r>
                            <a:rPr sz="2000">
                              <a:latin typeface="Cambria Math" panose="02040503050406030204" charset="0"/>
                            </a:rPr>
                            <m:t>,</m:t>
                          </m:r>
                          <m:r>
                            <m:rPr>
                              <m:sty m:val="p"/>
                            </m:rPr>
                            <a:rPr sz="2000">
                              <a:latin typeface="Cambria Math" panose="02040503050406030204" charset="0"/>
                            </a:rPr>
                            <m:t>q</m:t>
                          </m:r>
                        </m:sub>
                      </m:sSub>
                      <m:r>
                        <a:rPr sz="2000">
                          <a:latin typeface="Cambria Math" panose="02040503050406030204" charset="0"/>
                        </a:rPr>
                        <m:t>≈</m:t>
                      </m:r>
                      <m:r>
                        <m:rPr>
                          <m:sty m:val="p"/>
                        </m:rPr>
                        <a:rPr sz="2000">
                          <a:latin typeface="Cambria Math" panose="02040503050406030204" charset="0"/>
                        </a:rPr>
                        <m:t>E</m:t>
                      </m:r>
                      <m:d>
                        <m:dPr>
                          <m:begChr m:val="["/>
                          <m:endChr m:val="]"/>
                          <m:ctrlPr>
                            <a:rPr sz="2000"/>
                          </m:ctrlPr>
                        </m:dPr>
                        <m:e>
                          <m:sSup>
                            <m:sSupPr>
                              <m:ctrlPr>
                                <a:rPr sz="2000"/>
                              </m:ctrlPr>
                            </m:sSupPr>
                            <m:e>
                              <m:d>
                                <m:dPr>
                                  <m:ctrlPr>
                                    <a:rPr sz="2000"/>
                                  </m:ctrlPr>
                                </m:dPr>
                                <m:e>
                                  <m:nary>
                                    <m:naryPr>
                                      <m:chr m:val="∑"/>
                                      <m:limLoc m:val="subSup"/>
                                      <m:ctrlPr>
                                        <a:rPr sz="2000"/>
                                      </m:ctrlPr>
                                    </m:naryPr>
                                    <m:sub>
                                      <m:r>
                                        <m:rPr>
                                          <m:sty m:val="p"/>
                                        </m:rPr>
                                        <a:rPr sz="2000">
                                          <a:latin typeface="Cambria Math" panose="02040503050406030204" charset="0"/>
                                        </a:rPr>
                                        <m:t>i</m:t>
                                      </m:r>
                                      <m:r>
                                        <a:rPr sz="2000">
                                          <a:latin typeface="Cambria Math" panose="02040503050406030204" charset="0"/>
                                        </a:rPr>
                                        <m:t>=</m:t>
                                      </m:r>
                                      <m:r>
                                        <a:rPr sz="2000">
                                          <a:latin typeface="Cambria Math" panose="02040503050406030204" charset="0"/>
                                        </a:rPr>
                                        <m:t>1</m:t>
                                      </m:r>
                                    </m:sub>
                                    <m:sup>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sup>
                                    <m:e>
                                      <m:r>
                                        <m:rPr>
                                          <m:sty m:val="p"/>
                                        </m:rPr>
                                        <a:rPr sz="2000">
                                          <a:latin typeface="Cambria Math" panose="02040503050406030204" charset="0"/>
                                        </a:rPr>
                                        <m:t>G</m:t>
                                      </m:r>
                                      <m:r>
                                        <a:rPr sz="2000">
                                          <a:latin typeface="Cambria Math" panose="02040503050406030204" charset="0"/>
                                        </a:rPr>
                                        <m:t>(</m:t>
                                      </m:r>
                                      <m:sSub>
                                        <m:sSubPr>
                                          <m:ctrlPr>
                                            <a:rPr sz="2000"/>
                                          </m:ctrlPr>
                                        </m:sSubPr>
                                        <m:e>
                                          <m:r>
                                            <a:rPr sz="2000">
                                              <a:latin typeface="Cambria Math" panose="02040503050406030204" charset="0"/>
                                            </a:rPr>
                                            <m:t>𝚯</m:t>
                                          </m:r>
                                        </m:e>
                                        <m:sub>
                                          <m:r>
                                            <m:rPr>
                                              <m:sty m:val="p"/>
                                            </m:rPr>
                                            <a:rPr sz="2000">
                                              <a:latin typeface="Cambria Math" panose="02040503050406030204" charset="0"/>
                                            </a:rPr>
                                            <m:t>i</m:t>
                                          </m:r>
                                        </m:sub>
                                      </m:sSub>
                                      <m:r>
                                        <a:rPr sz="2000">
                                          <a:latin typeface="Cambria Math" panose="02040503050406030204" charset="0"/>
                                        </a:rPr>
                                        <m:t>,</m:t>
                                      </m:r>
                                      <m:sSub>
                                        <m:sSubPr>
                                          <m:ctrlPr>
                                            <a:rPr sz="2000"/>
                                          </m:ctrlPr>
                                        </m:sSubPr>
                                        <m:e>
                                          <m:acc>
                                            <m:accPr>
                                              <m:ctrlPr>
                                                <a:rPr sz="2000"/>
                                              </m:ctrlPr>
                                            </m:accPr>
                                            <m:e>
                                              <m:r>
                                                <a:rPr sz="2000">
                                                  <a:latin typeface="Cambria Math" panose="02040503050406030204" charset="0"/>
                                                </a:rPr>
                                                <m:t>𝛉</m:t>
                                              </m:r>
                                            </m:e>
                                          </m:acc>
                                        </m:e>
                                        <m:sub>
                                          <m:r>
                                            <m:rPr>
                                              <m:sty m:val="p"/>
                                            </m:rPr>
                                            <a:rPr sz="2000">
                                              <a:latin typeface="Cambria Math" panose="02040503050406030204" charset="0"/>
                                            </a:rPr>
                                            <m:t>i</m:t>
                                          </m:r>
                                          <m:r>
                                            <a:rPr sz="2000">
                                              <a:latin typeface="Cambria Math" panose="02040503050406030204" charset="0"/>
                                            </a:rPr>
                                            <m:t>,</m:t>
                                          </m:r>
                                          <m:r>
                                            <m:rPr>
                                              <m:sty m:val="p"/>
                                            </m:rPr>
                                            <a:rPr sz="2000">
                                              <a:latin typeface="Cambria Math" panose="02040503050406030204" charset="0"/>
                                            </a:rPr>
                                            <m:t>c</m:t>
                                          </m:r>
                                        </m:sub>
                                      </m:sSub>
                                      <m:r>
                                        <a:rPr sz="2000">
                                          <a:latin typeface="Cambria Math" panose="02040503050406030204" charset="0"/>
                                        </a:rPr>
                                        <m:t>)−(</m:t>
                                      </m:r>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r>
                                        <a:rPr sz="2000">
                                          <a:latin typeface="Cambria Math" panose="02040503050406030204" charset="0"/>
                                        </a:rPr>
                                        <m:t>−</m:t>
                                      </m:r>
                                      <m:r>
                                        <a:rPr sz="2000">
                                          <a:latin typeface="Cambria Math" panose="02040503050406030204" charset="0"/>
                                        </a:rPr>
                                        <m:t>1</m:t>
                                      </m:r>
                                      <m:r>
                                        <a:rPr sz="2000">
                                          <a:latin typeface="Cambria Math" panose="02040503050406030204" charset="0"/>
                                        </a:rPr>
                                        <m:t>)</m:t>
                                      </m:r>
                                      <m:r>
                                        <m:rPr>
                                          <m:sty m:val="p"/>
                                        </m:rPr>
                                        <a:rPr sz="2000">
                                          <a:latin typeface="Cambria Math" panose="02040503050406030204" charset="0"/>
                                        </a:rPr>
                                        <m:t>G</m:t>
                                      </m:r>
                                      <m:r>
                                        <a:rPr sz="2000">
                                          <a:latin typeface="Cambria Math" panose="02040503050406030204" charset="0"/>
                                        </a:rPr>
                                        <m:t>(</m:t>
                                      </m:r>
                                      <m:sSub>
                                        <m:sSubPr>
                                          <m:ctrlPr>
                                            <a:rPr sz="2000"/>
                                          </m:ctrlPr>
                                        </m:sSubPr>
                                        <m:e>
                                          <m:r>
                                            <a:rPr sz="2000">
                                              <a:latin typeface="Cambria Math" panose="02040503050406030204" charset="0"/>
                                            </a:rPr>
                                            <m:t>𝛉</m:t>
                                          </m:r>
                                        </m:e>
                                        <m:sub>
                                          <m:r>
                                            <m:rPr>
                                              <m:sty m:val="p"/>
                                            </m:rPr>
                                            <a:rPr sz="2000">
                                              <a:latin typeface="Cambria Math" panose="02040503050406030204" charset="0"/>
                                            </a:rPr>
                                            <m:t>c</m:t>
                                          </m:r>
                                        </m:sub>
                                      </m:sSub>
                                      <m:r>
                                        <a:rPr sz="2000">
                                          <a:latin typeface="Cambria Math" panose="02040503050406030204" charset="0"/>
                                        </a:rPr>
                                        <m:t>)−</m:t>
                                      </m:r>
                                      <m:sSub>
                                        <m:sSubPr>
                                          <m:ctrlPr>
                                            <a:rPr sz="2000"/>
                                          </m:ctrlPr>
                                        </m:sSubPr>
                                        <m:e>
                                          <m:r>
                                            <a:rPr sz="2000">
                                              <a:latin typeface="Cambria Math" panose="02040503050406030204" charset="0"/>
                                            </a:rPr>
                                            <m:t>𝜇</m:t>
                                          </m:r>
                                        </m:e>
                                        <m:sub>
                                          <m:r>
                                            <m:rPr>
                                              <m:sty m:val="p"/>
                                            </m:rPr>
                                            <a:rPr sz="2000">
                                              <a:latin typeface="Cambria Math" panose="02040503050406030204" charset="0"/>
                                            </a:rPr>
                                            <m:t>Z</m:t>
                                          </m:r>
                                        </m:sub>
                                      </m:sSub>
                                    </m:e>
                                  </m:nary>
                                </m:e>
                              </m:d>
                            </m:e>
                            <m:sup>
                              <m:r>
                                <m:rPr>
                                  <m:sty m:val="p"/>
                                </m:rPr>
                                <a:rPr sz="2000">
                                  <a:latin typeface="Cambria Math" panose="02040503050406030204" charset="0"/>
                                </a:rPr>
                                <m:t>q</m:t>
                              </m:r>
                            </m:sup>
                          </m:sSup>
                        </m:e>
                      </m:d>
                      <m:r>
                        <a:rPr sz="2000">
                          <a:latin typeface="Cambria Math" panose="02040503050406030204" charset="0"/>
                        </a:rPr>
                        <m:t>=</m:t>
                      </m:r>
                      <m:nary>
                        <m:naryPr>
                          <m:chr m:val="∑"/>
                          <m:limLoc m:val="subSup"/>
                          <m:ctrlPr>
                            <a:rPr sz="2000"/>
                          </m:ctrlPr>
                        </m:naryPr>
                        <m:sub>
                          <m:r>
                            <m:rPr>
                              <m:sty m:val="p"/>
                            </m:rPr>
                            <a:rPr sz="2000">
                              <a:latin typeface="Cambria Math" panose="02040503050406030204" charset="0"/>
                            </a:rPr>
                            <m:t>i</m:t>
                          </m:r>
                          <m:r>
                            <a:rPr sz="2000">
                              <a:latin typeface="Cambria Math" panose="02040503050406030204" charset="0"/>
                            </a:rPr>
                            <m:t>=</m:t>
                          </m:r>
                          <m:r>
                            <a:rPr sz="2000">
                              <a:latin typeface="Cambria Math" panose="02040503050406030204" charset="0"/>
                            </a:rPr>
                            <m:t>0</m:t>
                          </m:r>
                        </m:sub>
                        <m:sup>
                          <m:r>
                            <m:rPr>
                              <m:sty m:val="p"/>
                            </m:rPr>
                            <a:rPr sz="2000">
                              <a:latin typeface="Cambria Math" panose="02040503050406030204" charset="0"/>
                            </a:rPr>
                            <m:t>q</m:t>
                          </m:r>
                        </m:sup>
                        <m:e>
                          <m:d>
                            <m:dPr>
                              <m:ctrlPr>
                                <a:rPr sz="2000"/>
                              </m:ctrlPr>
                            </m:dPr>
                            <m:e>
                              <m:f>
                                <m:fPr>
                                  <m:type m:val="noBar"/>
                                  <m:ctrlPr>
                                    <a:rPr sz="2000"/>
                                  </m:ctrlPr>
                                </m:fPr>
                                <m:num>
                                  <m:r>
                                    <m:rPr>
                                      <m:sty m:val="p"/>
                                    </m:rPr>
                                    <a:rPr sz="2000">
                                      <a:latin typeface="Cambria Math" panose="02040503050406030204" charset="0"/>
                                    </a:rPr>
                                    <m:t>q</m:t>
                                  </m:r>
                                </m:num>
                                <m:den>
                                  <m:r>
                                    <m:rPr>
                                      <m:sty m:val="p"/>
                                    </m:rPr>
                                    <a:rPr sz="2000">
                                      <a:latin typeface="Cambria Math" panose="02040503050406030204" charset="0"/>
                                    </a:rPr>
                                    <m:t>i</m:t>
                                  </m:r>
                                </m:den>
                              </m:f>
                            </m:e>
                          </m:d>
                          <m:sSubSup>
                            <m:sSubSupPr>
                              <m:ctrlPr>
                                <a:rPr sz="2000"/>
                              </m:ctrlPr>
                            </m:sSubSupPr>
                            <m:e>
                              <m:r>
                                <m:rPr>
                                  <m:sty m:val="p"/>
                                </m:rPr>
                                <a:rPr sz="2000">
                                  <a:latin typeface="Cambria Math" panose="02040503050406030204" charset="0"/>
                                </a:rPr>
                                <m:t>s</m:t>
                              </m:r>
                            </m:e>
                            <m:sub>
                              <m:r>
                                <m:rPr>
                                  <m:sty m:val="p"/>
                                </m:rPr>
                                <a:rPr sz="2000">
                                  <a:latin typeface="Cambria Math" panose="02040503050406030204" charset="0"/>
                                </a:rPr>
                                <m:t>n</m:t>
                              </m:r>
                            </m:sub>
                            <m:sup>
                              <m:r>
                                <m:rPr>
                                  <m:sty m:val="p"/>
                                </m:rPr>
                                <a:rPr sz="2000">
                                  <a:latin typeface="Cambria Math" panose="02040503050406030204" charset="0"/>
                                </a:rPr>
                                <m:t>i</m:t>
                              </m:r>
                            </m:sup>
                          </m:sSubSup>
                          <m:sSup>
                            <m:sSupPr>
                              <m:ctrlPr>
                                <a:rPr sz="2000"/>
                              </m:ctrlPr>
                            </m:sSupPr>
                            <m:e>
                              <m:d>
                                <m:dPr>
                                  <m:begChr m:val="["/>
                                  <m:endChr m:val="]"/>
                                  <m:ctrlPr>
                                    <a:rPr sz="2000"/>
                                  </m:ctrlPr>
                                </m:dPr>
                                <m:e>
                                  <m:r>
                                    <a:rPr sz="2000">
                                      <a:latin typeface="Cambria Math" panose="02040503050406030204" charset="0"/>
                                    </a:rPr>
                                    <m:t>−(</m:t>
                                  </m:r>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r>
                                    <a:rPr sz="2000">
                                      <a:latin typeface="Cambria Math" panose="02040503050406030204" charset="0"/>
                                    </a:rPr>
                                    <m:t>−</m:t>
                                  </m:r>
                                  <m:r>
                                    <a:rPr sz="2000">
                                      <a:latin typeface="Cambria Math" panose="02040503050406030204" charset="0"/>
                                    </a:rPr>
                                    <m:t>1</m:t>
                                  </m:r>
                                  <m:r>
                                    <a:rPr sz="2000">
                                      <a:latin typeface="Cambria Math" panose="02040503050406030204" charset="0"/>
                                    </a:rPr>
                                    <m:t>)</m:t>
                                  </m:r>
                                  <m:r>
                                    <m:rPr>
                                      <m:sty m:val="p"/>
                                    </m:rPr>
                                    <a:rPr sz="2000">
                                      <a:latin typeface="Cambria Math" panose="02040503050406030204" charset="0"/>
                                    </a:rPr>
                                    <m:t>G</m:t>
                                  </m:r>
                                  <m:r>
                                    <a:rPr sz="2000">
                                      <a:latin typeface="Cambria Math" panose="02040503050406030204" charset="0"/>
                                    </a:rPr>
                                    <m:t>(</m:t>
                                  </m:r>
                                  <m:sSub>
                                    <m:sSubPr>
                                      <m:ctrlPr>
                                        <a:rPr sz="2000"/>
                                      </m:ctrlPr>
                                    </m:sSubPr>
                                    <m:e>
                                      <m:r>
                                        <a:rPr sz="2000">
                                          <a:latin typeface="Cambria Math" panose="02040503050406030204" charset="0"/>
                                        </a:rPr>
                                        <m:t>𝛉</m:t>
                                      </m:r>
                                    </m:e>
                                    <m:sub>
                                      <m:r>
                                        <m:rPr>
                                          <m:sty m:val="p"/>
                                        </m:rPr>
                                        <a:rPr sz="2000">
                                          <a:latin typeface="Cambria Math" panose="02040503050406030204" charset="0"/>
                                        </a:rPr>
                                        <m:t>c</m:t>
                                      </m:r>
                                    </m:sub>
                                  </m:sSub>
                                  <m:r>
                                    <a:rPr sz="2000">
                                      <a:latin typeface="Cambria Math" panose="02040503050406030204" charset="0"/>
                                    </a:rPr>
                                    <m:t>)−</m:t>
                                  </m:r>
                                  <m:sSub>
                                    <m:sSubPr>
                                      <m:ctrlPr>
                                        <a:rPr sz="2000"/>
                                      </m:ctrlPr>
                                    </m:sSubPr>
                                    <m:e>
                                      <m:r>
                                        <a:rPr sz="2000">
                                          <a:latin typeface="Cambria Math" panose="02040503050406030204" charset="0"/>
                                        </a:rPr>
                                        <m:t>𝜇</m:t>
                                      </m:r>
                                    </m:e>
                                    <m:sub>
                                      <m:r>
                                        <m:rPr>
                                          <m:sty m:val="p"/>
                                        </m:rPr>
                                        <a:rPr sz="2000">
                                          <a:latin typeface="Cambria Math" panose="02040503050406030204" charset="0"/>
                                        </a:rPr>
                                        <m:t>Z</m:t>
                                      </m:r>
                                    </m:sub>
                                  </m:sSub>
                                </m:e>
                              </m:d>
                            </m:e>
                            <m:sup>
                              <m:r>
                                <m:rPr>
                                  <m:sty m:val="p"/>
                                </m:rPr>
                                <a:rPr sz="2000">
                                  <a:latin typeface="Cambria Math" panose="02040503050406030204" charset="0"/>
                                </a:rPr>
                                <m:t>q</m:t>
                              </m:r>
                              <m:r>
                                <a:rPr sz="2000">
                                  <a:latin typeface="Cambria Math" panose="02040503050406030204" charset="0"/>
                                </a:rPr>
                                <m:t>−</m:t>
                              </m:r>
                              <m:r>
                                <m:rPr>
                                  <m:sty m:val="p"/>
                                </m:rPr>
                                <a:rPr sz="2000">
                                  <a:latin typeface="Cambria Math" panose="02040503050406030204" charset="0"/>
                                </a:rPr>
                                <m:t>i</m:t>
                              </m:r>
                            </m:sup>
                          </m:sSup>
                        </m:e>
                      </m:nary>
                    </m:oMath>
                  </m:oMathPara>
                </a14:m>
                <a:endParaRPr sz="600" dirty="0"/>
              </a:p>
            </p:txBody>
          </p:sp>
        </mc:Choice>
        <mc:Fallback>
          <p:sp>
            <p:nvSpPr>
              <p:cNvPr id="1050" name="textbox 1050"/>
              <p:cNvSpPr>
                <a:spLocks noRot="1" noChangeAspect="1" noMove="1" noResize="1" noEditPoints="1" noAdjustHandles="1" noChangeArrowheads="1" noChangeShapeType="1" noTextEdit="1"/>
              </p:cNvSpPr>
              <p:nvPr/>
            </p:nvSpPr>
            <p:spPr>
              <a:xfrm>
                <a:off x="1828800" y="3514725"/>
                <a:ext cx="9020175" cy="981075"/>
              </a:xfrm>
              <a:prstGeom prst="rect">
                <a:avLst/>
              </a:prstGeom>
              <a:blipFill rotWithShape="1">
                <a:blip r:embed="rId4"/>
                <a:stretch>
                  <a:fillRect r="-20936"/>
                </a:stretch>
              </a:blipFill>
              <a:ln w="0" cap="flat">
                <a:noFill/>
                <a:prstDash val="solid"/>
                <a:miter lim="0"/>
              </a:ln>
            </p:spPr>
            <p:txBody>
              <a:bodyPr/>
              <a:lstStyle/>
              <a:p>
                <a:r>
                  <a:rPr lang="zh-CN" altLang="en-US">
                    <a:noFill/>
                  </a:rPr>
                  <a:t> </a:t>
                </a:r>
              </a:p>
            </p:txBody>
          </p:sp>
        </mc:Fallback>
      </mc:AlternateContent>
      <p:sp>
        <p:nvSpPr>
          <p:cNvPr id="1052" name="textbox 1052"/>
          <p:cNvSpPr/>
          <p:nvPr/>
        </p:nvSpPr>
        <p:spPr>
          <a:xfrm>
            <a:off x="1485900" y="4648200"/>
            <a:ext cx="4543425" cy="304800"/>
          </a:xfrm>
          <a:prstGeom prst="rect">
            <a:avLst/>
          </a:prstGeom>
          <a:noFill/>
          <a:ln w="0" cap="flat">
            <a:noFill/>
            <a:prstDash val="solid"/>
            <a:miter lim="0"/>
          </a:ln>
        </p:spPr>
        <p:txBody>
          <a:bodyPr vert="horz" wrap="none" lIns="0" tIns="0" rIns="0" bIns="0"/>
          <a:lstStyle/>
          <a:p>
            <a:pPr algn="l" rtl="0" eaLnBrk="0"/>
            <a:r>
              <a:rPr sz="1800" kern="0" spc="0" dirty="0">
                <a:solidFill>
                  <a:srgbClr val="B68C02">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BDRIM (</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s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 2)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对应的均值和</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 q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阶矩为：</a:t>
            </a:r>
            <a:endParaRPr sz="1800" dirty="0"/>
          </a:p>
        </p:txBody>
      </p:sp>
      <mc:AlternateContent xmlns:mc="http://schemas.openxmlformats.org/markup-compatibility/2006">
        <mc:Choice xmlns:a14="http://schemas.microsoft.com/office/drawing/2010/main" Requires="a14">
          <p:sp>
            <p:nvSpPr>
              <p:cNvPr id="1054" name="textbox 1054"/>
              <p:cNvSpPr/>
              <p:nvPr/>
            </p:nvSpPr>
            <p:spPr>
              <a:xfrm>
                <a:off x="333375" y="5048250"/>
                <a:ext cx="8858250" cy="7429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sz="2000"/>
                          </m:ctrlPr>
                        </m:sSubPr>
                        <m:e>
                          <m:r>
                            <a:rPr sz="2000">
                              <a:latin typeface="Cambria Math" panose="02040503050406030204" charset="0"/>
                            </a:rPr>
                            <m:t>𝜇</m:t>
                          </m:r>
                        </m:e>
                        <m:sub>
                          <m:r>
                            <m:rPr>
                              <m:sty m:val="p"/>
                            </m:rPr>
                            <a:rPr sz="2000">
                              <a:latin typeface="Cambria Math" panose="02040503050406030204" charset="0"/>
                            </a:rPr>
                            <m:t>Z</m:t>
                          </m:r>
                        </m:sub>
                      </m:sSub>
                      <m:r>
                        <a:rPr sz="2000">
                          <a:latin typeface="Cambria Math" panose="02040503050406030204" charset="0"/>
                        </a:rPr>
                        <m:t>≈</m:t>
                      </m:r>
                      <m:nary>
                        <m:naryPr>
                          <m:chr m:val="∑"/>
                          <m:limLoc m:val="subSup"/>
                          <m:supHide m:val="on"/>
                          <m:ctrlPr>
                            <a:rPr sz="2000"/>
                          </m:ctrlPr>
                        </m:naryPr>
                        <m:sub>
                          <m:r>
                            <m:rPr>
                              <m:sty m:val="p"/>
                            </m:rPr>
                            <a:rPr sz="2000">
                              <a:latin typeface="Cambria Math" panose="02040503050406030204" charset="0"/>
                            </a:rPr>
                            <m:t>i</m:t>
                          </m:r>
                          <m:r>
                            <a:rPr sz="2000">
                              <a:latin typeface="Cambria Math" panose="02040503050406030204" charset="0"/>
                            </a:rPr>
                            <m:t>&lt;</m:t>
                          </m:r>
                          <m:r>
                            <m:rPr>
                              <m:sty m:val="p"/>
                            </m:rPr>
                            <a:rPr sz="2000">
                              <a:latin typeface="Cambria Math" panose="02040503050406030204" charset="0"/>
                            </a:rPr>
                            <m:t>j</m:t>
                          </m:r>
                        </m:sub>
                        <m:sup/>
                        <m:e>
                          <m:r>
                            <m:rPr>
                              <m:sty m:val="p"/>
                            </m:rPr>
                            <a:rPr sz="2000">
                              <a:latin typeface="Cambria Math" panose="02040503050406030204" charset="0"/>
                            </a:rPr>
                            <m:t>E</m:t>
                          </m:r>
                          <m:d>
                            <m:dPr>
                              <m:begChr m:val="["/>
                              <m:endChr m:val="]"/>
                              <m:ctrlPr>
                                <a:rPr sz="2000"/>
                              </m:ctrlPr>
                            </m:dPr>
                            <m:e>
                              <m:r>
                                <m:rPr>
                                  <m:sty m:val="p"/>
                                </m:rPr>
                                <a:rPr sz="2000">
                                  <a:latin typeface="Cambria Math" panose="02040503050406030204" charset="0"/>
                                </a:rPr>
                                <m:t>G</m:t>
                              </m:r>
                              <m:r>
                                <a:rPr sz="2000">
                                  <a:latin typeface="Cambria Math" panose="02040503050406030204" charset="0"/>
                                </a:rPr>
                                <m:t>(</m:t>
                              </m:r>
                              <m:sSub>
                                <m:sSubPr>
                                  <m:ctrlPr>
                                    <a:rPr sz="2000"/>
                                  </m:ctrlPr>
                                </m:sSubPr>
                                <m:e>
                                  <m:r>
                                    <a:rPr sz="2000">
                                      <a:latin typeface="Cambria Math" panose="02040503050406030204" charset="0"/>
                                    </a:rPr>
                                    <m:t>𝚯</m:t>
                                  </m:r>
                                </m:e>
                                <m:sub>
                                  <m:r>
                                    <m:rPr>
                                      <m:sty m:val="p"/>
                                    </m:rPr>
                                    <a:rPr sz="2000">
                                      <a:latin typeface="Cambria Math" panose="02040503050406030204" charset="0"/>
                                    </a:rPr>
                                    <m:t>i</m:t>
                                  </m:r>
                                </m:sub>
                              </m:sSub>
                              <m:r>
                                <a:rPr sz="2000">
                                  <a:latin typeface="Cambria Math" panose="02040503050406030204" charset="0"/>
                                </a:rPr>
                                <m:t>,</m:t>
                              </m:r>
                              <m:sSub>
                                <m:sSubPr>
                                  <m:ctrlPr>
                                    <a:rPr sz="2000"/>
                                  </m:ctrlPr>
                                </m:sSubPr>
                                <m:e>
                                  <m:r>
                                    <a:rPr sz="2000">
                                      <a:latin typeface="Cambria Math" panose="02040503050406030204" charset="0"/>
                                    </a:rPr>
                                    <m:t>𝚯</m:t>
                                  </m:r>
                                </m:e>
                                <m:sub>
                                  <m:r>
                                    <m:rPr>
                                      <m:sty m:val="p"/>
                                    </m:rPr>
                                    <a:rPr sz="2000">
                                      <a:latin typeface="Cambria Math" panose="02040503050406030204" charset="0"/>
                                    </a:rPr>
                                    <m:t>j</m:t>
                                  </m:r>
                                </m:sub>
                              </m:sSub>
                              <m:r>
                                <a:rPr sz="2000">
                                  <a:latin typeface="Cambria Math" panose="02040503050406030204" charset="0"/>
                                </a:rPr>
                                <m:t>,</m:t>
                              </m:r>
                              <m:sSub>
                                <m:sSubPr>
                                  <m:ctrlPr>
                                    <a:rPr sz="2000"/>
                                  </m:ctrlPr>
                                </m:sSubPr>
                                <m:e>
                                  <m:acc>
                                    <m:accPr>
                                      <m:ctrlPr>
                                        <a:rPr sz="2000"/>
                                      </m:ctrlPr>
                                    </m:accPr>
                                    <m:e>
                                      <m:r>
                                        <a:rPr sz="2000">
                                          <a:latin typeface="Cambria Math" panose="02040503050406030204" charset="0"/>
                                        </a:rPr>
                                        <m:t>𝛉</m:t>
                                      </m:r>
                                    </m:e>
                                  </m:acc>
                                </m:e>
                                <m:sub>
                                  <m:r>
                                    <m:rPr>
                                      <m:sty m:val="p"/>
                                    </m:rPr>
                                    <a:rPr sz="2000">
                                      <a:latin typeface="Cambria Math" panose="02040503050406030204" charset="0"/>
                                    </a:rPr>
                                    <m:t>ij</m:t>
                                  </m:r>
                                  <m:r>
                                    <a:rPr sz="2000">
                                      <a:latin typeface="Cambria Math" panose="02040503050406030204" charset="0"/>
                                    </a:rPr>
                                    <m:t>,</m:t>
                                  </m:r>
                                  <m:r>
                                    <m:rPr>
                                      <m:sty m:val="p"/>
                                    </m:rPr>
                                    <a:rPr sz="2000">
                                      <a:latin typeface="Cambria Math" panose="02040503050406030204" charset="0"/>
                                    </a:rPr>
                                    <m:t>c</m:t>
                                  </m:r>
                                </m:sub>
                              </m:sSub>
                              <m:r>
                                <a:rPr sz="2000">
                                  <a:latin typeface="Cambria Math" panose="02040503050406030204" charset="0"/>
                                </a:rPr>
                                <m:t>)</m:t>
                              </m:r>
                            </m:e>
                          </m:d>
                          <m:r>
                            <a:rPr sz="2000">
                              <a:latin typeface="Cambria Math" panose="02040503050406030204" charset="0"/>
                            </a:rPr>
                            <m:t>−(</m:t>
                          </m:r>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r>
                            <a:rPr sz="2000">
                              <a:latin typeface="Cambria Math" panose="02040503050406030204" charset="0"/>
                            </a:rPr>
                            <m:t>−</m:t>
                          </m:r>
                          <m:r>
                            <a:rPr sz="2000">
                              <a:latin typeface="Cambria Math" panose="02040503050406030204" charset="0"/>
                            </a:rPr>
                            <m:t>2</m:t>
                          </m:r>
                          <m:r>
                            <a:rPr sz="2000">
                              <a:latin typeface="Cambria Math" panose="02040503050406030204" charset="0"/>
                            </a:rPr>
                            <m:t>)</m:t>
                          </m:r>
                        </m:e>
                      </m:nary>
                      <m:nary>
                        <m:naryPr>
                          <m:chr m:val="∑"/>
                          <m:limLoc m:val="subSup"/>
                          <m:ctrlPr>
                            <a:rPr sz="2000"/>
                          </m:ctrlPr>
                        </m:naryPr>
                        <m:sub>
                          <m:r>
                            <m:rPr>
                              <m:sty m:val="p"/>
                            </m:rPr>
                            <a:rPr sz="2000">
                              <a:latin typeface="Cambria Math" panose="02040503050406030204" charset="0"/>
                            </a:rPr>
                            <m:t>k</m:t>
                          </m:r>
                          <m:r>
                            <a:rPr sz="2000">
                              <a:latin typeface="Cambria Math" panose="02040503050406030204" charset="0"/>
                            </a:rPr>
                            <m:t>=</m:t>
                          </m:r>
                          <m:r>
                            <a:rPr sz="2000">
                              <a:latin typeface="Cambria Math" panose="02040503050406030204" charset="0"/>
                            </a:rPr>
                            <m:t>1</m:t>
                          </m:r>
                        </m:sub>
                        <m:sup>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sup>
                        <m:e>
                          <m:r>
                            <m:rPr>
                              <m:sty m:val="p"/>
                            </m:rPr>
                            <a:rPr sz="2000">
                              <a:latin typeface="Cambria Math" panose="02040503050406030204" charset="0"/>
                            </a:rPr>
                            <m:t>E</m:t>
                          </m:r>
                          <m:d>
                            <m:dPr>
                              <m:begChr m:val="["/>
                              <m:endChr m:val="]"/>
                              <m:ctrlPr>
                                <a:rPr sz="2000"/>
                              </m:ctrlPr>
                            </m:dPr>
                            <m:e>
                              <m:r>
                                <m:rPr>
                                  <m:sty m:val="p"/>
                                </m:rPr>
                                <a:rPr sz="2000">
                                  <a:latin typeface="Cambria Math" panose="02040503050406030204" charset="0"/>
                                </a:rPr>
                                <m:t>G</m:t>
                              </m:r>
                              <m:r>
                                <a:rPr sz="2000">
                                  <a:latin typeface="Cambria Math" panose="02040503050406030204" charset="0"/>
                                </a:rPr>
                                <m:t>(</m:t>
                              </m:r>
                              <m:sSub>
                                <m:sSubPr>
                                  <m:ctrlPr>
                                    <a:rPr sz="2000"/>
                                  </m:ctrlPr>
                                </m:sSubPr>
                                <m:e>
                                  <m:r>
                                    <a:rPr sz="2000">
                                      <a:latin typeface="Cambria Math" panose="02040503050406030204" charset="0"/>
                                    </a:rPr>
                                    <m:t>𝚯</m:t>
                                  </m:r>
                                </m:e>
                                <m:sub>
                                  <m:r>
                                    <m:rPr>
                                      <m:sty m:val="p"/>
                                    </m:rPr>
                                    <a:rPr sz="2000">
                                      <a:latin typeface="Cambria Math" panose="02040503050406030204" charset="0"/>
                                    </a:rPr>
                                    <m:t>k</m:t>
                                  </m:r>
                                </m:sub>
                              </m:sSub>
                              <m:r>
                                <a:rPr sz="2000">
                                  <a:latin typeface="Cambria Math" panose="02040503050406030204" charset="0"/>
                                </a:rPr>
                                <m:t>,</m:t>
                              </m:r>
                              <m:sSub>
                                <m:sSubPr>
                                  <m:ctrlPr>
                                    <a:rPr sz="2000"/>
                                  </m:ctrlPr>
                                </m:sSubPr>
                                <m:e>
                                  <m:acc>
                                    <m:accPr>
                                      <m:ctrlPr>
                                        <a:rPr sz="2000"/>
                                      </m:ctrlPr>
                                    </m:accPr>
                                    <m:e>
                                      <m:r>
                                        <a:rPr sz="2000">
                                          <a:latin typeface="Cambria Math" panose="02040503050406030204" charset="0"/>
                                        </a:rPr>
                                        <m:t>𝛉</m:t>
                                      </m:r>
                                    </m:e>
                                  </m:acc>
                                </m:e>
                                <m:sub>
                                  <m:r>
                                    <m:rPr>
                                      <m:sty m:val="p"/>
                                    </m:rPr>
                                    <a:rPr sz="2000">
                                      <a:latin typeface="Cambria Math" panose="02040503050406030204" charset="0"/>
                                    </a:rPr>
                                    <m:t>k</m:t>
                                  </m:r>
                                  <m:r>
                                    <a:rPr sz="2000">
                                      <a:latin typeface="Cambria Math" panose="02040503050406030204" charset="0"/>
                                    </a:rPr>
                                    <m:t>,</m:t>
                                  </m:r>
                                  <m:r>
                                    <m:rPr>
                                      <m:sty m:val="p"/>
                                    </m:rPr>
                                    <a:rPr sz="2000">
                                      <a:latin typeface="Cambria Math" panose="02040503050406030204" charset="0"/>
                                    </a:rPr>
                                    <m:t>c</m:t>
                                  </m:r>
                                </m:sub>
                              </m:sSub>
                              <m:r>
                                <a:rPr sz="2000">
                                  <a:latin typeface="Cambria Math" panose="02040503050406030204" charset="0"/>
                                </a:rPr>
                                <m:t>)</m:t>
                              </m:r>
                            </m:e>
                          </m:d>
                          <m:r>
                            <a:rPr sz="2000">
                              <a:latin typeface="Cambria Math" panose="02040503050406030204" charset="0"/>
                            </a:rPr>
                            <m:t>+</m:t>
                          </m:r>
                          <m:f>
                            <m:fPr>
                              <m:ctrlPr>
                                <a:rPr sz="2000"/>
                              </m:ctrlPr>
                            </m:fPr>
                            <m:num>
                              <m:r>
                                <a:rPr sz="2000">
                                  <a:latin typeface="Cambria Math" panose="02040503050406030204" charset="0"/>
                                </a:rPr>
                                <m:t>(</m:t>
                              </m:r>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r>
                                <a:rPr sz="2000">
                                  <a:latin typeface="Cambria Math" panose="02040503050406030204" charset="0"/>
                                </a:rPr>
                                <m:t>−</m:t>
                              </m:r>
                              <m:r>
                                <a:rPr sz="2000">
                                  <a:latin typeface="Cambria Math" panose="02040503050406030204" charset="0"/>
                                </a:rPr>
                                <m:t>1</m:t>
                              </m:r>
                              <m:r>
                                <a:rPr sz="2000">
                                  <a:latin typeface="Cambria Math" panose="02040503050406030204" charset="0"/>
                                </a:rPr>
                                <m:t>)(</m:t>
                              </m:r>
                              <m:sSub>
                                <m:sSubPr>
                                  <m:ctrlPr>
                                    <a:rPr sz="2000"/>
                                  </m:ctrlPr>
                                </m:sSubPr>
                                <m:e>
                                  <m:r>
                                    <m:rPr>
                                      <m:sty m:val="p"/>
                                    </m:rPr>
                                    <a:rPr sz="2000">
                                      <a:latin typeface="Cambria Math" panose="02040503050406030204" charset="0"/>
                                    </a:rPr>
                                    <m:t>N</m:t>
                                  </m:r>
                                </m:e>
                                <m:sub>
                                  <m:r>
                                    <m:rPr>
                                      <m:sty m:val="p"/>
                                    </m:rPr>
                                    <a:rPr sz="2000">
                                      <a:latin typeface="Cambria Math" panose="02040503050406030204" charset="0"/>
                                    </a:rPr>
                                    <m:t>dim</m:t>
                                  </m:r>
                                </m:sub>
                              </m:sSub>
                              <m:r>
                                <a:rPr sz="2000">
                                  <a:latin typeface="Cambria Math" panose="02040503050406030204" charset="0"/>
                                </a:rPr>
                                <m:t>−</m:t>
                              </m:r>
                              <m:r>
                                <a:rPr sz="2000">
                                  <a:latin typeface="Cambria Math" panose="02040503050406030204" charset="0"/>
                                </a:rPr>
                                <m:t>2</m:t>
                              </m:r>
                              <m:r>
                                <a:rPr sz="2000">
                                  <a:latin typeface="Cambria Math" panose="02040503050406030204" charset="0"/>
                                </a:rPr>
                                <m:t>)</m:t>
                              </m:r>
                            </m:num>
                            <m:den>
                              <m:r>
                                <a:rPr sz="2000">
                                  <a:latin typeface="Cambria Math" panose="02040503050406030204" charset="0"/>
                                </a:rPr>
                                <m:t>2</m:t>
                              </m:r>
                            </m:den>
                          </m:f>
                          <m:r>
                            <m:rPr>
                              <m:sty m:val="p"/>
                            </m:rPr>
                            <a:rPr sz="2000">
                              <a:latin typeface="Cambria Math" panose="02040503050406030204" charset="0"/>
                            </a:rPr>
                            <m:t>G</m:t>
                          </m:r>
                          <m:r>
                            <a:rPr sz="2000">
                              <a:latin typeface="Cambria Math" panose="02040503050406030204" charset="0"/>
                            </a:rPr>
                            <m:t>(</m:t>
                          </m:r>
                          <m:sSub>
                            <m:sSubPr>
                              <m:ctrlPr>
                                <a:rPr sz="2000"/>
                              </m:ctrlPr>
                            </m:sSubPr>
                            <m:e>
                              <m:r>
                                <a:rPr sz="2000">
                                  <a:latin typeface="Cambria Math" panose="02040503050406030204" charset="0"/>
                                </a:rPr>
                                <m:t>𝛉</m:t>
                              </m:r>
                            </m:e>
                            <m:sub>
                              <m:r>
                                <m:rPr>
                                  <m:sty m:val="p"/>
                                </m:rPr>
                                <a:rPr sz="2000">
                                  <a:latin typeface="Cambria Math" panose="02040503050406030204" charset="0"/>
                                </a:rPr>
                                <m:t>c</m:t>
                              </m:r>
                            </m:sub>
                          </m:sSub>
                          <m:r>
                            <a:rPr sz="2000">
                              <a:latin typeface="Cambria Math" panose="02040503050406030204" charset="0"/>
                            </a:rPr>
                            <m:t>)</m:t>
                          </m:r>
                        </m:e>
                      </m:nary>
                    </m:oMath>
                  </m:oMathPara>
                </a14:m>
                <a:endParaRPr sz="600" dirty="0"/>
              </a:p>
            </p:txBody>
          </p:sp>
        </mc:Choice>
        <mc:Fallback>
          <p:sp>
            <p:nvSpPr>
              <p:cNvPr id="1054" name="textbox 1054"/>
              <p:cNvSpPr>
                <a:spLocks noRot="1" noChangeAspect="1" noMove="1" noResize="1" noEditPoints="1" noAdjustHandles="1" noChangeArrowheads="1" noChangeShapeType="1" noTextEdit="1"/>
              </p:cNvSpPr>
              <p:nvPr/>
            </p:nvSpPr>
            <p:spPr>
              <a:xfrm>
                <a:off x="333375" y="5048250"/>
                <a:ext cx="8858250" cy="742950"/>
              </a:xfrm>
              <a:prstGeom prst="rect">
                <a:avLst/>
              </a:prstGeom>
              <a:blipFill rotWithShape="1">
                <a:blip r:embed="rId5"/>
                <a:stretch>
                  <a:fillRect r="-15097"/>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56" name="textbox 1056"/>
              <p:cNvSpPr/>
              <p:nvPr/>
            </p:nvSpPr>
            <p:spPr>
              <a:xfrm>
                <a:off x="333375" y="5867400"/>
                <a:ext cx="11410950" cy="7429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a:latin typeface="Cambria Math" panose="02040503050406030204" charset="0"/>
                            </a:rPr>
                            <m:t>m</m:t>
                          </m:r>
                        </m:e>
                        <m:sub>
                          <m:r>
                            <m:rPr>
                              <m:sty m:val="p"/>
                            </m:rPr>
                            <a:rPr>
                              <a:latin typeface="Cambria Math" panose="02040503050406030204" charset="0"/>
                            </a:rPr>
                            <m:t>Z</m:t>
                          </m:r>
                          <m:r>
                            <a:rPr>
                              <a:latin typeface="Cambria Math" panose="02040503050406030204" charset="0"/>
                            </a:rPr>
                            <m:t>,</m:t>
                          </m:r>
                          <m:r>
                            <m:rPr>
                              <m:sty m:val="p"/>
                            </m:rPr>
                            <a:rPr>
                              <a:latin typeface="Cambria Math" panose="02040503050406030204" charset="0"/>
                            </a:rPr>
                            <m:t>q</m:t>
                          </m:r>
                        </m:sub>
                      </m:sSub>
                      <m:r>
                        <a:rPr>
                          <a:latin typeface="Cambria Math" panose="02040503050406030204" charset="0"/>
                        </a:rPr>
                        <m:t>≈</m:t>
                      </m:r>
                      <m:nary>
                        <m:naryPr>
                          <m:chr m:val="∑"/>
                          <m:limLoc m:val="subSup"/>
                          <m:supHide m:val="on"/>
                          <m:ctrlPr>
                            <a:rPr/>
                          </m:ctrlPr>
                        </m:naryPr>
                        <m:sub>
                          <m:r>
                            <m:rPr>
                              <m:sty m:val="p"/>
                            </m:rPr>
                            <a:rPr>
                              <a:latin typeface="Cambria Math" panose="02040503050406030204" charset="0"/>
                            </a:rPr>
                            <m:t>i</m:t>
                          </m:r>
                          <m:r>
                            <a:rPr>
                              <a:latin typeface="Cambria Math" panose="02040503050406030204" charset="0"/>
                            </a:rPr>
                            <m:t>&lt;</m:t>
                          </m:r>
                          <m:r>
                            <m:rPr>
                              <m:sty m:val="p"/>
                            </m:rPr>
                            <a:rPr>
                              <a:latin typeface="Cambria Math" panose="02040503050406030204" charset="0"/>
                            </a:rPr>
                            <m:t>j</m:t>
                          </m:r>
                        </m:sub>
                        <m:sup/>
                        <m:e>
                          <m:r>
                            <m:rPr>
                              <m:sty m:val="p"/>
                            </m:rPr>
                            <a:rPr>
                              <a:latin typeface="Cambria Math" panose="02040503050406030204" charset="0"/>
                            </a:rPr>
                            <m:t>E</m:t>
                          </m:r>
                          <m:d>
                            <m:dPr>
                              <m:begChr m:val="["/>
                              <m:endChr m:val="]"/>
                              <m:ctrlPr>
                                <a:rPr/>
                              </m:ctrlPr>
                            </m:dPr>
                            <m:e>
                              <m:sSup>
                                <m:sSupPr>
                                  <m:ctrlPr>
                                    <a:rPr/>
                                  </m:ctrlPr>
                                </m:sSupPr>
                                <m:e>
                                  <m:d>
                                    <m:dPr>
                                      <m:ctrlPr>
                                        <a:rPr/>
                                      </m:ctrlPr>
                                    </m:dPr>
                                    <m:e>
                                      <m:r>
                                        <m:rPr>
                                          <m:sty m:val="p"/>
                                        </m:rPr>
                                        <a:rPr>
                                          <a:latin typeface="Cambria Math" panose="02040503050406030204" charset="0"/>
                                        </a:rPr>
                                        <m:t>G</m:t>
                                      </m:r>
                                      <m:r>
                                        <a:rPr>
                                          <a:latin typeface="Cambria Math" panose="02040503050406030204" charset="0"/>
                                        </a:rPr>
                                        <m:t>(</m:t>
                                      </m:r>
                                      <m:sSub>
                                        <m:sSubPr>
                                          <m:ctrlPr>
                                            <a:rPr/>
                                          </m:ctrlPr>
                                        </m:sSubPr>
                                        <m:e>
                                          <m:r>
                                            <a:rPr>
                                              <a:latin typeface="Cambria Math" panose="02040503050406030204" charset="0"/>
                                            </a:rPr>
                                            <m:t>𝚯</m:t>
                                          </m:r>
                                        </m:e>
                                        <m:sub>
                                          <m:r>
                                            <m:rPr>
                                              <m:sty m:val="p"/>
                                            </m:rPr>
                                            <a:rPr>
                                              <a:latin typeface="Cambria Math" panose="02040503050406030204" charset="0"/>
                                            </a:rPr>
                                            <m:t>i</m:t>
                                          </m:r>
                                        </m:sub>
                                      </m:sSub>
                                      <m:r>
                                        <a:rPr>
                                          <a:latin typeface="Cambria Math" panose="02040503050406030204" charset="0"/>
                                        </a:rPr>
                                        <m:t>,</m:t>
                                      </m:r>
                                      <m:sSub>
                                        <m:sSubPr>
                                          <m:ctrlPr>
                                            <a:rPr/>
                                          </m:ctrlPr>
                                        </m:sSubPr>
                                        <m:e>
                                          <m:r>
                                            <a:rPr>
                                              <a:latin typeface="Cambria Math" panose="02040503050406030204" charset="0"/>
                                            </a:rPr>
                                            <m:t>𝚯</m:t>
                                          </m:r>
                                        </m:e>
                                        <m:sub>
                                          <m:r>
                                            <m:rPr>
                                              <m:sty m:val="p"/>
                                            </m:rPr>
                                            <a:rPr>
                                              <a:latin typeface="Cambria Math" panose="02040503050406030204" charset="0"/>
                                            </a:rPr>
                                            <m:t>j</m:t>
                                          </m:r>
                                        </m:sub>
                                      </m:sSub>
                                      <m:r>
                                        <a:rPr>
                                          <a:latin typeface="Cambria Math" panose="02040503050406030204" charset="0"/>
                                        </a:rPr>
                                        <m:t>,</m:t>
                                      </m:r>
                                      <m:sSub>
                                        <m:sSubPr>
                                          <m:ctrlPr>
                                            <a:rPr/>
                                          </m:ctrlPr>
                                        </m:sSubPr>
                                        <m:e>
                                          <m:acc>
                                            <m:accPr>
                                              <m:ctrlPr>
                                                <a:rPr/>
                                              </m:ctrlPr>
                                            </m:accPr>
                                            <m:e>
                                              <m:r>
                                                <a:rPr>
                                                  <a:latin typeface="Cambria Math" panose="02040503050406030204" charset="0"/>
                                                </a:rPr>
                                                <m:t>𝛉</m:t>
                                              </m:r>
                                            </m:e>
                                          </m:acc>
                                        </m:e>
                                        <m:sub>
                                          <m:r>
                                            <m:rPr>
                                              <m:sty m:val="p"/>
                                            </m:rPr>
                                            <a:rPr>
                                              <a:latin typeface="Cambria Math" panose="02040503050406030204" charset="0"/>
                                            </a:rPr>
                                            <m:t>ij</m:t>
                                          </m:r>
                                          <m:r>
                                            <a:rPr>
                                              <a:latin typeface="Cambria Math" panose="02040503050406030204" charset="0"/>
                                            </a:rPr>
                                            <m:t>,</m:t>
                                          </m:r>
                                          <m:r>
                                            <m:rPr>
                                              <m:sty m:val="p"/>
                                            </m:rPr>
                                            <a:rPr>
                                              <a:latin typeface="Cambria Math" panose="02040503050406030204" charset="0"/>
                                            </a:rPr>
                                            <m:t>c</m:t>
                                          </m:r>
                                        </m:sub>
                                      </m:sSub>
                                      <m:r>
                                        <a:rPr>
                                          <a:latin typeface="Cambria Math" panose="02040503050406030204" charset="0"/>
                                        </a:rPr>
                                        <m:t>)−</m:t>
                                      </m:r>
                                      <m:sSub>
                                        <m:sSubPr>
                                          <m:ctrlPr>
                                            <a:rPr/>
                                          </m:ctrlPr>
                                        </m:sSubPr>
                                        <m:e>
                                          <m:r>
                                            <a:rPr>
                                              <a:latin typeface="Cambria Math" panose="02040503050406030204" charset="0"/>
                                            </a:rPr>
                                            <m:t>𝜇</m:t>
                                          </m:r>
                                        </m:e>
                                        <m:sub>
                                          <m:r>
                                            <m:rPr>
                                              <m:sty m:val="p"/>
                                            </m:rPr>
                                            <a:rPr>
                                              <a:latin typeface="Cambria Math" panose="02040503050406030204" charset="0"/>
                                            </a:rPr>
                                            <m:t>Z</m:t>
                                          </m:r>
                                        </m:sub>
                                      </m:sSub>
                                    </m:e>
                                  </m:d>
                                </m:e>
                                <m:sup>
                                  <m:r>
                                    <m:rPr>
                                      <m:sty m:val="p"/>
                                    </m:rPr>
                                    <a:rPr>
                                      <a:latin typeface="Cambria Math" panose="02040503050406030204" charset="0"/>
                                    </a:rPr>
                                    <m:t>q</m:t>
                                  </m:r>
                                </m:sup>
                              </m:sSup>
                            </m:e>
                          </m:d>
                          <m:r>
                            <a:rPr>
                              <a:latin typeface="Cambria Math" panose="02040503050406030204" charset="0"/>
                            </a:rPr>
                            <m:t>−(</m:t>
                          </m:r>
                          <m:sSub>
                            <m:sSubPr>
                              <m:ctrlPr>
                                <a:rPr/>
                              </m:ctrlPr>
                            </m:sSubPr>
                            <m:e>
                              <m:r>
                                <m:rPr>
                                  <m:sty m:val="p"/>
                                </m:rPr>
                                <a:rPr>
                                  <a:latin typeface="Cambria Math" panose="02040503050406030204" charset="0"/>
                                </a:rPr>
                                <m:t>N</m:t>
                              </m:r>
                            </m:e>
                            <m:sub>
                              <m:r>
                                <m:rPr>
                                  <m:sty m:val="p"/>
                                </m:rPr>
                                <a:rPr>
                                  <a:latin typeface="Cambria Math" panose="02040503050406030204" charset="0"/>
                                </a:rPr>
                                <m:t>dim</m:t>
                              </m:r>
                            </m:sub>
                          </m:sSub>
                          <m:r>
                            <a:rPr>
                              <a:latin typeface="Cambria Math" panose="02040503050406030204" charset="0"/>
                            </a:rPr>
                            <m:t>−</m:t>
                          </m:r>
                          <m:r>
                            <a:rPr>
                              <a:latin typeface="Cambria Math" panose="02040503050406030204" charset="0"/>
                            </a:rPr>
                            <m:t>2</m:t>
                          </m:r>
                          <m:r>
                            <a:rPr>
                              <a:latin typeface="Cambria Math" panose="02040503050406030204" charset="0"/>
                            </a:rPr>
                            <m:t>)</m:t>
                          </m:r>
                        </m:e>
                      </m:nary>
                      <m:nary>
                        <m:naryPr>
                          <m:chr m:val="∑"/>
                          <m:limLoc m:val="subSup"/>
                          <m:ctrlPr>
                            <a:rPr/>
                          </m:ctrlPr>
                        </m:naryPr>
                        <m:sub>
                          <m:r>
                            <m:rPr>
                              <m:sty m:val="p"/>
                            </m:rPr>
                            <a:rPr>
                              <a:latin typeface="Cambria Math" panose="02040503050406030204" charset="0"/>
                            </a:rPr>
                            <m:t>k</m:t>
                          </m:r>
                          <m:r>
                            <a:rPr>
                              <a:latin typeface="Cambria Math" panose="02040503050406030204" charset="0"/>
                            </a:rPr>
                            <m:t>=</m:t>
                          </m:r>
                          <m:r>
                            <a:rPr>
                              <a:latin typeface="Cambria Math" panose="02040503050406030204" charset="0"/>
                            </a:rPr>
                            <m:t>1</m:t>
                          </m:r>
                        </m:sub>
                        <m:sup>
                          <m:sSub>
                            <m:sSubPr>
                              <m:ctrlPr>
                                <a:rPr/>
                              </m:ctrlPr>
                            </m:sSubPr>
                            <m:e>
                              <m:r>
                                <m:rPr>
                                  <m:sty m:val="p"/>
                                </m:rPr>
                                <a:rPr>
                                  <a:latin typeface="Cambria Math" panose="02040503050406030204" charset="0"/>
                                </a:rPr>
                                <m:t>N</m:t>
                              </m:r>
                            </m:e>
                            <m:sub>
                              <m:r>
                                <m:rPr>
                                  <m:sty m:val="p"/>
                                </m:rPr>
                                <a:rPr>
                                  <a:latin typeface="Cambria Math" panose="02040503050406030204" charset="0"/>
                                </a:rPr>
                                <m:t>dim</m:t>
                              </m:r>
                            </m:sub>
                          </m:sSub>
                        </m:sup>
                        <m:e>
                          <m:r>
                            <m:rPr>
                              <m:sty m:val="p"/>
                            </m:rPr>
                            <a:rPr>
                              <a:latin typeface="Cambria Math" panose="02040503050406030204" charset="0"/>
                            </a:rPr>
                            <m:t>E</m:t>
                          </m:r>
                          <m:d>
                            <m:dPr>
                              <m:begChr m:val="["/>
                              <m:endChr m:val="]"/>
                              <m:ctrlPr>
                                <a:rPr/>
                              </m:ctrlPr>
                            </m:dPr>
                            <m:e>
                              <m:sSup>
                                <m:sSupPr>
                                  <m:ctrlPr>
                                    <a:rPr/>
                                  </m:ctrlPr>
                                </m:sSupPr>
                                <m:e>
                                  <m:d>
                                    <m:dPr>
                                      <m:ctrlPr>
                                        <a:rPr/>
                                      </m:ctrlPr>
                                    </m:dPr>
                                    <m:e>
                                      <m:r>
                                        <m:rPr>
                                          <m:sty m:val="p"/>
                                        </m:rPr>
                                        <a:rPr>
                                          <a:latin typeface="Cambria Math" panose="02040503050406030204" charset="0"/>
                                        </a:rPr>
                                        <m:t>G</m:t>
                                      </m:r>
                                      <m:r>
                                        <a:rPr>
                                          <a:latin typeface="Cambria Math" panose="02040503050406030204" charset="0"/>
                                        </a:rPr>
                                        <m:t>(</m:t>
                                      </m:r>
                                      <m:sSub>
                                        <m:sSubPr>
                                          <m:ctrlPr>
                                            <a:rPr/>
                                          </m:ctrlPr>
                                        </m:sSubPr>
                                        <m:e>
                                          <m:r>
                                            <a:rPr>
                                              <a:latin typeface="Cambria Math" panose="02040503050406030204" charset="0"/>
                                            </a:rPr>
                                            <m:t>𝚯</m:t>
                                          </m:r>
                                        </m:e>
                                        <m:sub>
                                          <m:r>
                                            <m:rPr>
                                              <m:sty m:val="p"/>
                                            </m:rPr>
                                            <a:rPr>
                                              <a:latin typeface="Cambria Math" panose="02040503050406030204" charset="0"/>
                                            </a:rPr>
                                            <m:t>k</m:t>
                                          </m:r>
                                        </m:sub>
                                      </m:sSub>
                                      <m:r>
                                        <a:rPr>
                                          <a:latin typeface="Cambria Math" panose="02040503050406030204" charset="0"/>
                                        </a:rPr>
                                        <m:t>,</m:t>
                                      </m:r>
                                      <m:sSub>
                                        <m:sSubPr>
                                          <m:ctrlPr>
                                            <a:rPr/>
                                          </m:ctrlPr>
                                        </m:sSubPr>
                                        <m:e>
                                          <m:acc>
                                            <m:accPr>
                                              <m:ctrlPr>
                                                <a:rPr/>
                                              </m:ctrlPr>
                                            </m:accPr>
                                            <m:e>
                                              <m:r>
                                                <a:rPr>
                                                  <a:latin typeface="Cambria Math" panose="02040503050406030204" charset="0"/>
                                                </a:rPr>
                                                <m:t>𝛉</m:t>
                                              </m:r>
                                            </m:e>
                                          </m:acc>
                                        </m:e>
                                        <m:sub>
                                          <m:r>
                                            <m:rPr>
                                              <m:sty m:val="p"/>
                                            </m:rPr>
                                            <a:rPr>
                                              <a:latin typeface="Cambria Math" panose="02040503050406030204" charset="0"/>
                                            </a:rPr>
                                            <m:t>k</m:t>
                                          </m:r>
                                          <m:r>
                                            <a:rPr>
                                              <a:latin typeface="Cambria Math" panose="02040503050406030204" charset="0"/>
                                            </a:rPr>
                                            <m:t>,</m:t>
                                          </m:r>
                                          <m:r>
                                            <m:rPr>
                                              <m:sty m:val="p"/>
                                            </m:rPr>
                                            <a:rPr>
                                              <a:latin typeface="Cambria Math" panose="02040503050406030204" charset="0"/>
                                            </a:rPr>
                                            <m:t>c</m:t>
                                          </m:r>
                                        </m:sub>
                                      </m:sSub>
                                      <m:r>
                                        <a:rPr>
                                          <a:latin typeface="Cambria Math" panose="02040503050406030204" charset="0"/>
                                        </a:rPr>
                                        <m:t>)−</m:t>
                                      </m:r>
                                      <m:sSub>
                                        <m:sSubPr>
                                          <m:ctrlPr>
                                            <a:rPr/>
                                          </m:ctrlPr>
                                        </m:sSubPr>
                                        <m:e>
                                          <m:r>
                                            <a:rPr>
                                              <a:latin typeface="Cambria Math" panose="02040503050406030204" charset="0"/>
                                            </a:rPr>
                                            <m:t>𝜇</m:t>
                                          </m:r>
                                        </m:e>
                                        <m:sub>
                                          <m:r>
                                            <m:rPr>
                                              <m:sty m:val="p"/>
                                            </m:rPr>
                                            <a:rPr>
                                              <a:latin typeface="Cambria Math" panose="02040503050406030204" charset="0"/>
                                            </a:rPr>
                                            <m:t>Z</m:t>
                                          </m:r>
                                        </m:sub>
                                      </m:sSub>
                                    </m:e>
                                  </m:d>
                                </m:e>
                                <m:sup>
                                  <m:r>
                                    <m:rPr>
                                      <m:sty m:val="p"/>
                                    </m:rPr>
                                    <a:rPr>
                                      <a:latin typeface="Cambria Math" panose="02040503050406030204" charset="0"/>
                                    </a:rPr>
                                    <m:t>q</m:t>
                                  </m:r>
                                </m:sup>
                              </m:sSup>
                            </m:e>
                          </m:d>
                          <m:r>
                            <a:rPr>
                              <a:latin typeface="Cambria Math" panose="02040503050406030204" charset="0"/>
                            </a:rPr>
                            <m:t>+</m:t>
                          </m:r>
                          <m:f>
                            <m:fPr>
                              <m:ctrlPr>
                                <a:rPr/>
                              </m:ctrlPr>
                            </m:fPr>
                            <m:num>
                              <m:r>
                                <a:rPr>
                                  <a:latin typeface="Cambria Math" panose="02040503050406030204" charset="0"/>
                                </a:rPr>
                                <m:t>(</m:t>
                              </m:r>
                              <m:sSub>
                                <m:sSubPr>
                                  <m:ctrlPr>
                                    <a:rPr/>
                                  </m:ctrlPr>
                                </m:sSubPr>
                                <m:e>
                                  <m:r>
                                    <m:rPr>
                                      <m:sty m:val="p"/>
                                    </m:rPr>
                                    <a:rPr>
                                      <a:latin typeface="Cambria Math" panose="02040503050406030204" charset="0"/>
                                    </a:rPr>
                                    <m:t>N</m:t>
                                  </m:r>
                                </m:e>
                                <m:sub>
                                  <m:r>
                                    <m:rPr>
                                      <m:sty m:val="p"/>
                                    </m:rPr>
                                    <a:rPr>
                                      <a:latin typeface="Cambria Math" panose="02040503050406030204" charset="0"/>
                                    </a:rPr>
                                    <m:t>dim</m:t>
                                  </m:r>
                                </m:sub>
                              </m:sSub>
                              <m:r>
                                <a:rPr>
                                  <a:latin typeface="Cambria Math" panose="02040503050406030204" charset="0"/>
                                </a:rPr>
                                <m:t>−</m:t>
                              </m:r>
                              <m:r>
                                <a:rPr>
                                  <a:latin typeface="Cambria Math" panose="02040503050406030204" charset="0"/>
                                </a:rPr>
                                <m:t>1</m:t>
                              </m:r>
                              <m:r>
                                <a:rPr>
                                  <a:latin typeface="Cambria Math" panose="02040503050406030204" charset="0"/>
                                </a:rPr>
                                <m:t>)(</m:t>
                              </m:r>
                              <m:sSub>
                                <m:sSubPr>
                                  <m:ctrlPr>
                                    <a:rPr/>
                                  </m:ctrlPr>
                                </m:sSubPr>
                                <m:e>
                                  <m:r>
                                    <m:rPr>
                                      <m:sty m:val="p"/>
                                    </m:rPr>
                                    <a:rPr>
                                      <a:latin typeface="Cambria Math" panose="02040503050406030204" charset="0"/>
                                    </a:rPr>
                                    <m:t>N</m:t>
                                  </m:r>
                                </m:e>
                                <m:sub>
                                  <m:r>
                                    <m:rPr>
                                      <m:sty m:val="p"/>
                                    </m:rPr>
                                    <a:rPr>
                                      <a:latin typeface="Cambria Math" panose="02040503050406030204" charset="0"/>
                                    </a:rPr>
                                    <m:t>dim</m:t>
                                  </m:r>
                                </m:sub>
                              </m:sSub>
                              <m:r>
                                <a:rPr>
                                  <a:latin typeface="Cambria Math" panose="02040503050406030204" charset="0"/>
                                </a:rPr>
                                <m:t>−</m:t>
                              </m:r>
                              <m:r>
                                <a:rPr>
                                  <a:latin typeface="Cambria Math" panose="02040503050406030204" charset="0"/>
                                </a:rPr>
                                <m:t>2</m:t>
                              </m:r>
                              <m:r>
                                <a:rPr>
                                  <a:latin typeface="Cambria Math" panose="02040503050406030204" charset="0"/>
                                </a:rPr>
                                <m:t>)</m:t>
                              </m:r>
                            </m:num>
                            <m:den>
                              <m:r>
                                <a:rPr>
                                  <a:latin typeface="Cambria Math" panose="02040503050406030204" charset="0"/>
                                </a:rPr>
                                <m:t>2</m:t>
                              </m:r>
                            </m:den>
                          </m:f>
                          <m:r>
                            <a:rPr>
                              <a:latin typeface="Cambria Math" panose="02040503050406030204" charset="0"/>
                            </a:rPr>
                            <m:t>(</m:t>
                          </m:r>
                          <m:r>
                            <m:rPr>
                              <m:sty m:val="p"/>
                            </m:rPr>
                            <a:rPr>
                              <a:latin typeface="Cambria Math" panose="02040503050406030204" charset="0"/>
                            </a:rPr>
                            <m:t>G</m:t>
                          </m:r>
                          <m:r>
                            <a:rPr>
                              <a:latin typeface="Cambria Math" panose="02040503050406030204" charset="0"/>
                            </a:rPr>
                            <m:t>(</m:t>
                          </m:r>
                          <m:sSub>
                            <m:sSubPr>
                              <m:ctrlPr>
                                <a:rPr/>
                              </m:ctrlPr>
                            </m:sSubPr>
                            <m:e>
                              <m:r>
                                <a:rPr>
                                  <a:latin typeface="Cambria Math" panose="02040503050406030204" charset="0"/>
                                </a:rPr>
                                <m:t>𝛉</m:t>
                              </m:r>
                            </m:e>
                            <m:sub>
                              <m:r>
                                <m:rPr>
                                  <m:sty m:val="p"/>
                                </m:rPr>
                                <a:rPr>
                                  <a:latin typeface="Cambria Math" panose="02040503050406030204" charset="0"/>
                                </a:rPr>
                                <m:t>c</m:t>
                              </m:r>
                            </m:sub>
                          </m:sSub>
                          <m:r>
                            <a:rPr>
                              <a:latin typeface="Cambria Math" panose="02040503050406030204" charset="0"/>
                            </a:rPr>
                            <m:t>)−</m:t>
                          </m:r>
                          <m:sSub>
                            <m:sSubPr>
                              <m:ctrlPr>
                                <a:rPr/>
                              </m:ctrlPr>
                            </m:sSubPr>
                            <m:e>
                              <m:r>
                                <a:rPr>
                                  <a:latin typeface="Cambria Math" panose="02040503050406030204" charset="0"/>
                                </a:rPr>
                                <m:t>𝜇</m:t>
                              </m:r>
                            </m:e>
                            <m:sub>
                              <m:r>
                                <m:rPr>
                                  <m:sty m:val="p"/>
                                </m:rPr>
                                <a:rPr>
                                  <a:latin typeface="Cambria Math" panose="02040503050406030204" charset="0"/>
                                </a:rPr>
                                <m:t>Z</m:t>
                              </m:r>
                            </m:sub>
                          </m:sSub>
                          <m:sSup>
                            <m:sSupPr>
                              <m:ctrlPr>
                                <a:rPr/>
                              </m:ctrlPr>
                            </m:sSupPr>
                            <m:e>
                              <m:r>
                                <a:rPr>
                                  <a:latin typeface="Cambria Math" panose="02040503050406030204" charset="0"/>
                                </a:rPr>
                                <m:t>)</m:t>
                              </m:r>
                            </m:e>
                            <m:sup>
                              <m:r>
                                <m:rPr>
                                  <m:sty m:val="p"/>
                                </m:rPr>
                                <a:rPr>
                                  <a:latin typeface="Cambria Math" panose="02040503050406030204" charset="0"/>
                                </a:rPr>
                                <m:t>q</m:t>
                              </m:r>
                            </m:sup>
                          </m:sSup>
                        </m:e>
                      </m:nary>
                    </m:oMath>
                  </m:oMathPara>
                </a14:m>
                <a:endParaRPr dirty="0"/>
              </a:p>
            </p:txBody>
          </p:sp>
        </mc:Choice>
        <mc:Fallback>
          <p:sp>
            <p:nvSpPr>
              <p:cNvPr id="1056" name="textbox 1056"/>
              <p:cNvSpPr>
                <a:spLocks noRot="1" noChangeAspect="1" noMove="1" noResize="1" noEditPoints="1" noAdjustHandles="1" noChangeArrowheads="1" noChangeShapeType="1" noTextEdit="1"/>
              </p:cNvSpPr>
              <p:nvPr/>
            </p:nvSpPr>
            <p:spPr>
              <a:xfrm>
                <a:off x="333375" y="5867400"/>
                <a:ext cx="11410950" cy="742950"/>
              </a:xfrm>
              <a:prstGeom prst="rect">
                <a:avLst/>
              </a:prstGeom>
              <a:blipFill rotWithShape="1">
                <a:blip r:embed="rId6"/>
                <a:stretch>
                  <a:fillRect r="-4535"/>
                </a:stretch>
              </a:blipFill>
              <a:ln w="0" cap="flat">
                <a:noFill/>
                <a:prstDash val="solid"/>
                <a:miter lim="0"/>
              </a:ln>
            </p:spPr>
            <p:txBody>
              <a:bodyPr/>
              <a:lstStyle/>
              <a:p>
                <a:r>
                  <a:rPr lang="zh-CN" altLang="en-US">
                    <a:noFill/>
                  </a:rPr>
                  <a:t> </a:t>
                </a:r>
              </a:p>
            </p:txBody>
          </p:sp>
        </mc:Fallback>
      </mc:AlternateContent>
      <p:sp>
        <p:nvSpPr>
          <p:cNvPr id="1058" name="textbox 1058"/>
          <p:cNvSpPr/>
          <p:nvPr/>
        </p:nvSpPr>
        <p:spPr>
          <a:xfrm>
            <a:off x="228600" y="6724650"/>
            <a:ext cx="7467600" cy="12382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FFFFFF">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
        <p:nvSpPr>
          <p:cNvPr id="1060" name="textbox 1060"/>
          <p:cNvSpPr/>
          <p:nvPr/>
        </p:nvSpPr>
        <p:spPr>
          <a:xfrm>
            <a:off x="11753850" y="6734175"/>
            <a:ext cx="180975" cy="114300"/>
          </a:xfrm>
          <a:prstGeom prst="rect">
            <a:avLst/>
          </a:prstGeom>
          <a:noFill/>
          <a:ln w="0" cap="flat">
            <a:noFill/>
            <a:prstDash val="solid"/>
            <a:miter lim="0"/>
          </a:ln>
        </p:spPr>
        <p:txBody>
          <a:bodyPr vert="horz" wrap="none" lIns="0" tIns="0" rIns="0" bIns="0"/>
          <a:lstStyle/>
          <a:p>
            <a:pPr algn="l" rtl="0" eaLnBrk="0"/>
            <a:r>
              <a:rPr sz="1000" kern="0" spc="300" dirty="0">
                <a:solidFill>
                  <a:srgbClr val="FFFFFF">
                    <a:alpha val="100000"/>
                  </a:srgbClr>
                </a:solidFill>
                <a:latin typeface="Arial" panose="020B0604020202020204"/>
                <a:ea typeface="Arial" panose="020B0604020202020204"/>
                <a:cs typeface="Arial" panose="020B0604020202020204"/>
              </a:rPr>
              <a:t>26</a:t>
            </a:r>
            <a:endParaRPr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 name="picture 1064"/>
          <p:cNvPicPr>
            <a:picLocks noChangeAspect="1"/>
          </p:cNvPicPr>
          <p:nvPr/>
        </p:nvPicPr>
        <p:blipFill>
          <a:blip r:embed="rId1"/>
          <a:stretch>
            <a:fillRect/>
          </a:stretch>
        </p:blipFill>
        <p:spPr>
          <a:xfrm>
            <a:off x="0" y="0"/>
            <a:ext cx="12192000" cy="6858000"/>
          </a:xfrm>
          <a:prstGeom prst="rect">
            <a:avLst/>
          </a:prstGeom>
        </p:spPr>
      </p:pic>
      <p:sp>
        <p:nvSpPr>
          <p:cNvPr id="1066" name="textbox 1066"/>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068" name="textbox 1068"/>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070" name="textbox 107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074" name="picture 1074"/>
          <p:cNvPicPr>
            <a:picLocks noChangeAspect="1"/>
          </p:cNvPicPr>
          <p:nvPr/>
        </p:nvPicPr>
        <p:blipFill>
          <a:blip r:embed="rId2"/>
          <a:stretch>
            <a:fillRect/>
          </a:stretch>
        </p:blipFill>
        <p:spPr>
          <a:xfrm>
            <a:off x="295275" y="247650"/>
            <a:ext cx="733425" cy="666750"/>
          </a:xfrm>
          <a:prstGeom prst="rect">
            <a:avLst/>
          </a:prstGeom>
        </p:spPr>
      </p:pic>
      <p:sp>
        <p:nvSpPr>
          <p:cNvPr id="1076" name="textbox 1076"/>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078" name="textbox 1078"/>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080" name="textbox 1080"/>
          <p:cNvSpPr/>
          <p:nvPr/>
        </p:nvSpPr>
        <p:spPr>
          <a:xfrm>
            <a:off x="1457325" y="1114425"/>
            <a:ext cx="34385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基于Va-DRMs的降维积分法</a:t>
            </a:r>
            <a:endParaRPr sz="2000" dirty="0"/>
          </a:p>
        </p:txBody>
      </p:sp>
      <p:sp>
        <p:nvSpPr>
          <p:cNvPr id="1082" name="textbox 1082"/>
          <p:cNvSpPr/>
          <p:nvPr/>
        </p:nvSpPr>
        <p:spPr>
          <a:xfrm>
            <a:off x="1466850" y="1485900"/>
            <a:ext cx="3028950"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Va-DRMs-based dimension-reduction integration methods</a:t>
            </a:r>
            <a:endParaRPr sz="1000" dirty="0"/>
          </a:p>
        </p:txBody>
      </p:sp>
      <p:sp>
        <p:nvSpPr>
          <p:cNvPr id="1084" name="textbox 1084"/>
          <p:cNvSpPr/>
          <p:nvPr/>
        </p:nvSpPr>
        <p:spPr>
          <a:xfrm>
            <a:off x="276225" y="1895475"/>
            <a:ext cx="5334000" cy="952500"/>
          </a:xfrm>
          <a:prstGeom prst="rect">
            <a:avLst/>
          </a:prstGeom>
          <a:noFill/>
          <a:ln w="0" cap="flat">
            <a:noFill/>
            <a:prstDash val="solid"/>
            <a:miter lim="0"/>
          </a:ln>
        </p:spPr>
        <p:txBody>
          <a:bodyPr vert="horz" wrap="none" lIns="0" tIns="0" rIns="0" bIns="0"/>
          <a:lstStyle/>
          <a:p>
            <a:pPr algn="l" rtl="0" eaLnBrk="0"/>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与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UDRIM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和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BDRIM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类似，从</a:t>
            </a: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乘积单变量</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和</a:t>
            </a: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乘</a:t>
            </a:r>
            <a:endParaRPr sz="1800" dirty="0"/>
          </a:p>
          <a:p>
            <a:pPr marL="381000" algn="l" rtl="0" eaLnBrk="0">
              <a:spcBef>
                <a:spcPts val="750"/>
              </a:spcBef>
            </a:pP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积双变量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DRM</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M-UDRM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和 </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M-BDRM</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）得出</a:t>
            </a:r>
            <a:endParaRPr sz="1800" dirty="0"/>
          </a:p>
          <a:p>
            <a:pPr marL="371475" algn="l" rtl="0" eaLnBrk="0">
              <a:spcBef>
                <a:spcPts val="750"/>
              </a:spcBef>
            </a:pP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的 </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Z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的 </a:t>
            </a:r>
            <a:r>
              <a:rPr sz="1800" b="1" i="1" kern="0" spc="0" dirty="0">
                <a:solidFill>
                  <a:srgbClr val="002060">
                    <a:alpha val="100000"/>
                  </a:srgbClr>
                </a:solidFill>
                <a:latin typeface="Times New Roman" panose="02020603050405020304"/>
                <a:ea typeface="Times New Roman" panose="02020603050405020304"/>
                <a:cs typeface="Times New Roman" panose="02020603050405020304"/>
              </a:rPr>
              <a:t>q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阶原点矩分别为</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a:t>
            </a:r>
            <a:endParaRPr sz="1800" dirty="0"/>
          </a:p>
        </p:txBody>
      </p:sp>
      <p:sp>
        <p:nvSpPr>
          <p:cNvPr id="1086" name="textbox 1086"/>
          <p:cNvSpPr/>
          <p:nvPr/>
        </p:nvSpPr>
        <p:spPr>
          <a:xfrm>
            <a:off x="6191250" y="2085975"/>
            <a:ext cx="3190875" cy="276225"/>
          </a:xfrm>
          <a:prstGeom prst="rect">
            <a:avLst/>
          </a:prstGeom>
          <a:noFill/>
          <a:ln w="0" cap="flat">
            <a:noFill/>
            <a:prstDash val="solid"/>
            <a:miter lim="0"/>
          </a:ln>
        </p:spPr>
        <p:txBody>
          <a:bodyPr vert="horz" wrap="none" lIns="0" tIns="0" rIns="0" bIns="0"/>
          <a:lstStyle/>
          <a:p>
            <a:pPr algn="l" rtl="0" eaLnBrk="0"/>
            <a:r>
              <a:rPr sz="1800" kern="0" spc="0" dirty="0">
                <a:solidFill>
                  <a:srgbClr val="795D01">
                    <a:alpha val="100000"/>
                  </a:srgbClr>
                </a:solidFill>
                <a:latin typeface="微软雅黑" panose="020B0503020204020204" charset="-122"/>
                <a:ea typeface="微软雅黑" panose="020B0503020204020204" charset="-122"/>
                <a:cs typeface="微软雅黑" panose="020B0503020204020204" charset="-122"/>
              </a:rPr>
              <a:t>◦ </a:t>
            </a:r>
            <a:r>
              <a:rPr sz="1800" b="1" kern="0" spc="0" dirty="0">
                <a:solidFill>
                  <a:srgbClr val="FF0000">
                    <a:alpha val="100000"/>
                  </a:srgbClr>
                </a:solidFill>
                <a:latin typeface="微软雅黑" panose="020B0503020204020204" charset="-122"/>
                <a:ea typeface="微软雅黑" panose="020B0503020204020204" charset="-122"/>
                <a:cs typeface="微软雅黑" panose="020B0503020204020204" charset="-122"/>
              </a:rPr>
              <a:t>问题：</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以下分量不一定独立</a:t>
            </a:r>
            <a:endParaRPr sz="1800" dirty="0"/>
          </a:p>
        </p:txBody>
      </p:sp>
      <mc:AlternateContent xmlns:mc="http://schemas.openxmlformats.org/markup-compatibility/2006">
        <mc:Choice xmlns:a14="http://schemas.microsoft.com/office/drawing/2010/main" Requires="a14">
          <p:sp>
            <p:nvSpPr>
              <p:cNvPr id="1088" name="textbox 1088"/>
              <p:cNvSpPr/>
              <p:nvPr/>
            </p:nvSpPr>
            <p:spPr>
              <a:xfrm>
                <a:off x="6105525" y="2657475"/>
                <a:ext cx="2206625" cy="6223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1600" dirty="0">
                          <a:latin typeface="Cambria Math" panose="02040503050406030204" charset="0"/>
                          <a:ea typeface="Cambria Math" panose="02040503050406030204"/>
                          <a:cs typeface="Cambria Math" panose="02040503050406030204" charset="0"/>
                        </a:rPr>
                        <m:t>G</m:t>
                      </m:r>
                      <m:r>
                        <a:rPr lang="en-US" sz="1600" dirty="0">
                          <a:latin typeface="Cambria Math" panose="02040503050406030204" charset="0"/>
                          <a:ea typeface="MS Mincho" charset="0"/>
                          <a:cs typeface="Cambria Math" panose="02040503050406030204" charset="0"/>
                        </a:rPr>
                        <m:t>(</m:t>
                      </m:r>
                      <m:sSub>
                        <m:sSubPr>
                          <m:ctrlPr>
                            <a:rPr sz="1600">
                              <a:latin typeface="Cambria Math" panose="02040503050406030204" charset="0"/>
                              <a:cs typeface="Cambria Math" panose="02040503050406030204" charset="0"/>
                            </a:rPr>
                          </m:ctrlPr>
                        </m:sSubPr>
                        <m:e>
                          <m:r>
                            <a:rPr lang="en-US" sz="1600" dirty="0">
                              <a:latin typeface="Cambria Math" panose="02040503050406030204" charset="0"/>
                              <a:ea typeface="MS Mincho" charset="0"/>
                              <a:cs typeface="Cambria Math" panose="02040503050406030204" charset="0"/>
                            </a:rPr>
                            <m:t>𝚯</m:t>
                          </m:r>
                        </m:e>
                        <m:sub>
                          <m:sSub>
                            <m:sSubPr>
                              <m:ctrlPr>
                                <a:rPr sz="1600">
                                  <a:latin typeface="Cambria Math" panose="02040503050406030204" charset="0"/>
                                  <a:cs typeface="Cambria Math" panose="02040503050406030204" charset="0"/>
                                </a:rPr>
                              </m:ctrlPr>
                            </m:sSubPr>
                            <m:e>
                              <m:r>
                                <m:rPr>
                                  <m:sty m:val="p"/>
                                </m:rPr>
                                <a:rPr lang="en-US" sz="1600" dirty="0">
                                  <a:latin typeface="Cambria Math" panose="02040503050406030204" charset="0"/>
                                  <a:ea typeface="Cambria Math" panose="02040503050406030204"/>
                                  <a:cs typeface="Cambria Math" panose="02040503050406030204" charset="0"/>
                                </a:rPr>
                                <m:t>i</m:t>
                              </m:r>
                            </m:e>
                            <m:sub>
                              <m:r>
                                <a:rPr lang="en-US" sz="1600" dirty="0">
                                  <a:latin typeface="Cambria Math" panose="02040503050406030204" charset="0"/>
                                  <a:ea typeface="MS Mincho" charset="0"/>
                                  <a:cs typeface="Cambria Math" panose="02040503050406030204" charset="0"/>
                                </a:rPr>
                                <m:t>1</m:t>
                              </m:r>
                            </m:sub>
                          </m:sSub>
                        </m:sub>
                      </m:sSub>
                      <m:r>
                        <a:rPr lang="en-US" sz="1600" dirty="0">
                          <a:latin typeface="Cambria Math" panose="02040503050406030204" charset="0"/>
                          <a:ea typeface="MS Mincho" charset="0"/>
                          <a:cs typeface="Cambria Math" panose="02040503050406030204" charset="0"/>
                        </a:rPr>
                        <m:t>,</m:t>
                      </m:r>
                      <m:sSub>
                        <m:sSubPr>
                          <m:ctrlPr>
                            <a:rPr sz="1600">
                              <a:latin typeface="Cambria Math" panose="02040503050406030204" charset="0"/>
                              <a:cs typeface="Cambria Math" panose="02040503050406030204" charset="0"/>
                            </a:rPr>
                          </m:ctrlPr>
                        </m:sSubPr>
                        <m:e>
                          <m:r>
                            <a:rPr lang="en-US" sz="1600" dirty="0">
                              <a:latin typeface="Cambria Math" panose="02040503050406030204" charset="0"/>
                              <a:ea typeface="MS Mincho" charset="0"/>
                              <a:cs typeface="Cambria Math" panose="02040503050406030204" charset="0"/>
                            </a:rPr>
                            <m:t>𝚯</m:t>
                          </m:r>
                        </m:e>
                        <m:sub>
                          <m:sSub>
                            <m:sSubPr>
                              <m:ctrlPr>
                                <a:rPr sz="1600">
                                  <a:latin typeface="Cambria Math" panose="02040503050406030204" charset="0"/>
                                  <a:cs typeface="Cambria Math" panose="02040503050406030204" charset="0"/>
                                </a:rPr>
                              </m:ctrlPr>
                            </m:sSubPr>
                            <m:e>
                              <m:r>
                                <m:rPr>
                                  <m:sty m:val="p"/>
                                </m:rPr>
                                <a:rPr lang="en-US" sz="1600" dirty="0">
                                  <a:latin typeface="Cambria Math" panose="02040503050406030204" charset="0"/>
                                  <a:ea typeface="Cambria Math" panose="02040503050406030204"/>
                                  <a:cs typeface="Cambria Math" panose="02040503050406030204" charset="0"/>
                                </a:rPr>
                                <m:t>i</m:t>
                              </m:r>
                            </m:e>
                            <m:sub>
                              <m:r>
                                <a:rPr lang="en-US" sz="1600" dirty="0">
                                  <a:latin typeface="Cambria Math" panose="02040503050406030204" charset="0"/>
                                  <a:ea typeface="MS Mincho" charset="0"/>
                                  <a:cs typeface="Cambria Math" panose="02040503050406030204" charset="0"/>
                                </a:rPr>
                                <m:t>2</m:t>
                              </m:r>
                            </m:sub>
                          </m:sSub>
                        </m:sub>
                      </m:sSub>
                      <m:r>
                        <a:rPr lang="en-US" sz="1600" dirty="0">
                          <a:latin typeface="Cambria Math" panose="02040503050406030204" charset="0"/>
                          <a:ea typeface="MS Mincho" charset="0"/>
                          <a:cs typeface="Cambria Math" panose="02040503050406030204" charset="0"/>
                        </a:rPr>
                        <m:t>,</m:t>
                      </m:r>
                      <m:sSub>
                        <m:sSubPr>
                          <m:ctrlPr>
                            <a:rPr sz="1600">
                              <a:latin typeface="Cambria Math" panose="02040503050406030204" charset="0"/>
                              <a:cs typeface="Cambria Math" panose="02040503050406030204" charset="0"/>
                            </a:rPr>
                          </m:ctrlPr>
                        </m:sSubPr>
                        <m:e>
                          <m:acc>
                            <m:accPr>
                              <m:ctrlPr>
                                <a:rPr sz="1600">
                                  <a:latin typeface="Cambria Math" panose="02040503050406030204" charset="0"/>
                                  <a:cs typeface="Cambria Math" panose="02040503050406030204" charset="0"/>
                                </a:rPr>
                              </m:ctrlPr>
                            </m:accPr>
                            <m:e>
                              <m:r>
                                <a:rPr lang="en-US" sz="1600" dirty="0">
                                  <a:latin typeface="Cambria Math" panose="02040503050406030204" charset="0"/>
                                  <a:ea typeface="MS Mincho" charset="0"/>
                                  <a:cs typeface="Cambria Math" panose="02040503050406030204" charset="0"/>
                                </a:rPr>
                                <m:t>𝛉</m:t>
                              </m:r>
                            </m:e>
                          </m:acc>
                        </m:e>
                        <m:sub>
                          <m:sSub>
                            <m:sSubPr>
                              <m:ctrlPr>
                                <a:rPr sz="1600">
                                  <a:latin typeface="Cambria Math" panose="02040503050406030204" charset="0"/>
                                  <a:cs typeface="Cambria Math" panose="02040503050406030204" charset="0"/>
                                </a:rPr>
                              </m:ctrlPr>
                            </m:sSubPr>
                            <m:e>
                              <m:r>
                                <m:rPr>
                                  <m:sty m:val="p"/>
                                </m:rPr>
                                <a:rPr lang="en-US" sz="1600" dirty="0">
                                  <a:latin typeface="Cambria Math" panose="02040503050406030204" charset="0"/>
                                  <a:ea typeface="Cambria Math" panose="02040503050406030204"/>
                                  <a:cs typeface="Cambria Math" panose="02040503050406030204" charset="0"/>
                                </a:rPr>
                                <m:t>i</m:t>
                              </m:r>
                            </m:e>
                            <m:sub>
                              <m:r>
                                <a:rPr lang="en-US" sz="1600" dirty="0">
                                  <a:latin typeface="Cambria Math" panose="02040503050406030204" charset="0"/>
                                  <a:ea typeface="MS Mincho" charset="0"/>
                                  <a:cs typeface="Cambria Math" panose="02040503050406030204" charset="0"/>
                                </a:rPr>
                                <m:t>1</m:t>
                              </m:r>
                            </m:sub>
                          </m:sSub>
                          <m:sSub>
                            <m:sSubPr>
                              <m:ctrlPr>
                                <a:rPr sz="1600">
                                  <a:latin typeface="Cambria Math" panose="02040503050406030204" charset="0"/>
                                  <a:cs typeface="Cambria Math" panose="02040503050406030204" charset="0"/>
                                </a:rPr>
                              </m:ctrlPr>
                            </m:sSubPr>
                            <m:e>
                              <m:r>
                                <m:rPr>
                                  <m:sty m:val="p"/>
                                </m:rPr>
                                <a:rPr lang="en-US" sz="1600" dirty="0">
                                  <a:latin typeface="Cambria Math" panose="02040503050406030204" charset="0"/>
                                  <a:ea typeface="Cambria Math" panose="02040503050406030204"/>
                                  <a:cs typeface="Cambria Math" panose="02040503050406030204" charset="0"/>
                                </a:rPr>
                                <m:t>i</m:t>
                              </m:r>
                            </m:e>
                            <m:sub>
                              <m:r>
                                <a:rPr lang="en-US" sz="1600" dirty="0">
                                  <a:latin typeface="Cambria Math" panose="02040503050406030204" charset="0"/>
                                  <a:ea typeface="MS Mincho" charset="0"/>
                                  <a:cs typeface="Cambria Math" panose="02040503050406030204" charset="0"/>
                                </a:rPr>
                                <m:t>2</m:t>
                              </m:r>
                            </m:sub>
                          </m:sSub>
                          <m:r>
                            <a:rPr lang="en-US" sz="1600" dirty="0">
                              <a:latin typeface="Cambria Math" panose="02040503050406030204" charset="0"/>
                              <a:ea typeface="MS Mincho" charset="0"/>
                              <a:cs typeface="Cambria Math" panose="02040503050406030204" charset="0"/>
                            </a:rPr>
                            <m:t>,</m:t>
                          </m:r>
                          <m:r>
                            <m:rPr>
                              <m:sty m:val="p"/>
                            </m:rPr>
                            <a:rPr lang="en-US" sz="1600" dirty="0">
                              <a:latin typeface="Cambria Math" panose="02040503050406030204" charset="0"/>
                              <a:ea typeface="Cambria Math" panose="02040503050406030204"/>
                              <a:cs typeface="Cambria Math" panose="02040503050406030204" charset="0"/>
                            </a:rPr>
                            <m:t>c</m:t>
                          </m:r>
                        </m:sub>
                      </m:sSub>
                      <m:r>
                        <a:rPr lang="en-US" sz="1600" dirty="0">
                          <a:latin typeface="Cambria Math" panose="02040503050406030204" charset="0"/>
                          <a:ea typeface="MS Mincho" charset="0"/>
                          <a:cs typeface="Cambria Math" panose="02040503050406030204" charset="0"/>
                        </a:rPr>
                        <m:t>),</m:t>
                      </m:r>
                      <m:r>
                        <a:rPr lang="en-US" sz="1600" dirty="0">
                          <a:latin typeface="Cambria Math" panose="02040503050406030204" charset="0"/>
                          <a:ea typeface="MS Mincho" charset="0"/>
                          <a:cs typeface="Cambria Math" panose="02040503050406030204" charset="0"/>
                        </a:rPr>
                        <m:t>1</m:t>
                      </m:r>
                      <m:r>
                        <m:rPr>
                          <m:sty m:val="p"/>
                        </m:rPr>
                        <a:rPr lang="en-US" sz="1600" dirty="0">
                          <a:latin typeface="Cambria Math" panose="02040503050406030204" charset="0"/>
                          <a:ea typeface="Cambria Math" panose="02040503050406030204"/>
                          <a:cs typeface="Cambria Math" panose="02040503050406030204" charset="0"/>
                        </a:rPr>
                        <m:t>le</m:t>
                      </m:r>
                      <m:sSub>
                        <m:sSubPr>
                          <m:ctrlPr>
                            <a:rPr sz="1600">
                              <a:latin typeface="Cambria Math" panose="02040503050406030204" charset="0"/>
                              <a:cs typeface="Cambria Math" panose="02040503050406030204" charset="0"/>
                            </a:rPr>
                          </m:ctrlPr>
                        </m:sSubPr>
                        <m:e>
                          <m:r>
                            <m:rPr>
                              <m:sty m:val="p"/>
                            </m:rPr>
                            <a:rPr lang="en-US" sz="1600" dirty="0">
                              <a:latin typeface="Cambria Math" panose="02040503050406030204" charset="0"/>
                              <a:ea typeface="Cambria Math" panose="02040503050406030204"/>
                              <a:cs typeface="Cambria Math" panose="02040503050406030204" charset="0"/>
                            </a:rPr>
                            <m:t>i</m:t>
                          </m:r>
                        </m:e>
                        <m:sub>
                          <m:r>
                            <a:rPr lang="en-US" sz="1600" dirty="0">
                              <a:latin typeface="Cambria Math" panose="02040503050406030204" charset="0"/>
                              <a:ea typeface="MS Mincho" charset="0"/>
                              <a:cs typeface="Cambria Math" panose="02040503050406030204" charset="0"/>
                            </a:rPr>
                            <m:t>1</m:t>
                          </m:r>
                        </m:sub>
                      </m:sSub>
                      <m:r>
                        <a:rPr lang="en-US" sz="1600" dirty="0">
                          <a:latin typeface="Cambria Math" panose="02040503050406030204" charset="0"/>
                          <a:ea typeface="MS Mincho" charset="0"/>
                          <a:cs typeface="Cambria Math" panose="02040503050406030204" charset="0"/>
                        </a:rPr>
                        <m:t>&lt;</m:t>
                      </m:r>
                      <m:sSub>
                        <m:sSubPr>
                          <m:ctrlPr>
                            <a:rPr sz="1600">
                              <a:latin typeface="Cambria Math" panose="02040503050406030204" charset="0"/>
                              <a:cs typeface="Cambria Math" panose="02040503050406030204" charset="0"/>
                            </a:rPr>
                          </m:ctrlPr>
                        </m:sSubPr>
                        <m:e>
                          <m:r>
                            <m:rPr>
                              <m:sty m:val="p"/>
                            </m:rPr>
                            <a:rPr lang="en-US" sz="1600" dirty="0">
                              <a:latin typeface="Cambria Math" panose="02040503050406030204" charset="0"/>
                              <a:ea typeface="Cambria Math" panose="02040503050406030204"/>
                              <a:cs typeface="Cambria Math" panose="02040503050406030204" charset="0"/>
                            </a:rPr>
                            <m:t>i</m:t>
                          </m:r>
                        </m:e>
                        <m:sub>
                          <m:r>
                            <a:rPr lang="en-US" sz="1600" dirty="0">
                              <a:latin typeface="Cambria Math" panose="02040503050406030204" charset="0"/>
                              <a:ea typeface="MS Mincho" charset="0"/>
                              <a:cs typeface="Cambria Math" panose="02040503050406030204" charset="0"/>
                            </a:rPr>
                            <m:t>2</m:t>
                          </m:r>
                        </m:sub>
                      </m:sSub>
                      <m:r>
                        <m:rPr>
                          <m:sty m:val="p"/>
                        </m:rPr>
                        <a:rPr lang="en-US" sz="1600" dirty="0">
                          <a:latin typeface="Cambria Math" panose="02040503050406030204" charset="0"/>
                          <a:ea typeface="Cambria Math" panose="02040503050406030204"/>
                          <a:cs typeface="Cambria Math" panose="02040503050406030204" charset="0"/>
                        </a:rPr>
                        <m:t>le</m:t>
                      </m:r>
                      <m:sSub>
                        <m:sSubPr>
                          <m:ctrlPr>
                            <a:rPr sz="1600">
                              <a:latin typeface="Cambria Math" panose="02040503050406030204" charset="0"/>
                              <a:cs typeface="Cambria Math" panose="02040503050406030204" charset="0"/>
                            </a:rPr>
                          </m:ctrlPr>
                        </m:sSubPr>
                        <m:e>
                          <m:r>
                            <m:rPr>
                              <m:sty m:val="p"/>
                            </m:rPr>
                            <a:rPr lang="en-US" sz="1600" dirty="0">
                              <a:latin typeface="Cambria Math" panose="02040503050406030204" charset="0"/>
                              <a:ea typeface="Cambria Math" panose="02040503050406030204"/>
                              <a:cs typeface="Cambria Math" panose="02040503050406030204" charset="0"/>
                            </a:rPr>
                            <m:t>N</m:t>
                          </m:r>
                        </m:e>
                        <m:sub>
                          <m:r>
                            <m:rPr>
                              <m:sty m:val="p"/>
                            </m:rPr>
                            <a:rPr lang="en-US" sz="1600" dirty="0">
                              <a:latin typeface="Cambria Math" panose="02040503050406030204" charset="0"/>
                              <a:ea typeface="Cambria Math" panose="02040503050406030204"/>
                              <a:cs typeface="Cambria Math" panose="02040503050406030204" charset="0"/>
                            </a:rPr>
                            <m:t>dim</m:t>
                          </m:r>
                        </m:sub>
                      </m:sSub>
                    </m:oMath>
                  </m:oMathPara>
                </a14:m>
                <a:endParaRPr sz="1600" dirty="0">
                  <a:latin typeface="Arial" panose="020B0604020202020204" pitchFamily="34" charset="0"/>
                  <a:cs typeface="Arial" panose="020B0604020202020204" pitchFamily="34" charset="0"/>
                </a:endParaRPr>
              </a:p>
            </p:txBody>
          </p:sp>
        </mc:Choice>
        <mc:Fallback>
          <p:sp>
            <p:nvSpPr>
              <p:cNvPr id="1088" name="textbox 1088"/>
              <p:cNvSpPr>
                <a:spLocks noRot="1" noChangeAspect="1" noMove="1" noResize="1" noEditPoints="1" noAdjustHandles="1" noChangeArrowheads="1" noChangeShapeType="1" noTextEdit="1"/>
              </p:cNvSpPr>
              <p:nvPr/>
            </p:nvSpPr>
            <p:spPr>
              <a:xfrm>
                <a:off x="6105525" y="2657475"/>
                <a:ext cx="2206625" cy="622300"/>
              </a:xfrm>
              <a:prstGeom prst="rect">
                <a:avLst/>
              </a:prstGeom>
              <a:blipFill rotWithShape="1">
                <a:blip r:embed="rId3"/>
                <a:stretch>
                  <a:fillRect r="-36432"/>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90" name="textbox 1090"/>
              <p:cNvSpPr/>
              <p:nvPr/>
            </p:nvSpPr>
            <p:spPr>
              <a:xfrm>
                <a:off x="9382125" y="2628265"/>
                <a:ext cx="2581275" cy="3905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sz="1600">
                          <a:latin typeface="Cambria Math" panose="02040503050406030204" charset="0"/>
                          <a:cs typeface="Cambria Math" panose="02040503050406030204" charset="0"/>
                        </a:rPr>
                        <m:t>G</m:t>
                      </m:r>
                      <m:r>
                        <a:rPr sz="1600">
                          <a:latin typeface="Cambria Math" panose="02040503050406030204" charset="0"/>
                          <a:cs typeface="Cambria Math" panose="02040503050406030204" charset="0"/>
                        </a:rPr>
                        <m:t>(</m:t>
                      </m:r>
                      <m:sSub>
                        <m:sSubPr>
                          <m:ctrlPr>
                            <a:rPr sz="1600">
                              <a:latin typeface="Cambria Math" panose="02040503050406030204" charset="0"/>
                              <a:cs typeface="Cambria Math" panose="02040503050406030204" charset="0"/>
                            </a:rPr>
                          </m:ctrlPr>
                        </m:sSubPr>
                        <m:e>
                          <m:r>
                            <a:rPr sz="1600">
                              <a:latin typeface="Cambria Math" panose="02040503050406030204" charset="0"/>
                              <a:cs typeface="Cambria Math" panose="02040503050406030204" charset="0"/>
                            </a:rPr>
                            <m:t>𝚯</m:t>
                          </m:r>
                        </m:e>
                        <m:sub>
                          <m:r>
                            <m:rPr>
                              <m:sty m:val="p"/>
                            </m:rPr>
                            <a:rPr sz="1600">
                              <a:latin typeface="Cambria Math" panose="02040503050406030204" charset="0"/>
                              <a:cs typeface="Cambria Math" panose="02040503050406030204" charset="0"/>
                            </a:rPr>
                            <m:t>i</m:t>
                          </m:r>
                        </m:sub>
                      </m:sSub>
                      <m:r>
                        <a:rPr sz="1600">
                          <a:latin typeface="Cambria Math" panose="02040503050406030204" charset="0"/>
                          <a:cs typeface="Cambria Math" panose="02040503050406030204" charset="0"/>
                        </a:rPr>
                        <m:t>,</m:t>
                      </m:r>
                      <m:sSub>
                        <m:sSubPr>
                          <m:ctrlPr>
                            <a:rPr sz="1600">
                              <a:latin typeface="Cambria Math" panose="02040503050406030204" charset="0"/>
                              <a:cs typeface="Cambria Math" panose="02040503050406030204" charset="0"/>
                            </a:rPr>
                          </m:ctrlPr>
                        </m:sSubPr>
                        <m:e>
                          <m:acc>
                            <m:accPr>
                              <m:ctrlPr>
                                <a:rPr sz="1600">
                                  <a:latin typeface="Cambria Math" panose="02040503050406030204" charset="0"/>
                                  <a:cs typeface="Cambria Math" panose="02040503050406030204" charset="0"/>
                                </a:rPr>
                              </m:ctrlPr>
                            </m:accPr>
                            <m:e>
                              <m:r>
                                <a:rPr sz="1600">
                                  <a:latin typeface="Cambria Math" panose="02040503050406030204" charset="0"/>
                                  <a:cs typeface="Cambria Math" panose="02040503050406030204" charset="0"/>
                                </a:rPr>
                                <m:t>𝛉</m:t>
                              </m:r>
                            </m:e>
                          </m:acc>
                        </m:e>
                        <m:sub>
                          <m:r>
                            <m:rPr>
                              <m:sty m:val="p"/>
                            </m:rPr>
                            <a:rPr sz="1600">
                              <a:latin typeface="Cambria Math" panose="02040503050406030204" charset="0"/>
                              <a:cs typeface="Cambria Math" panose="02040503050406030204" charset="0"/>
                            </a:rPr>
                            <m:t>i</m:t>
                          </m:r>
                          <m:r>
                            <a:rPr sz="1600">
                              <a:latin typeface="Cambria Math" panose="02040503050406030204" charset="0"/>
                              <a:cs typeface="Cambria Math" panose="02040503050406030204" charset="0"/>
                            </a:rPr>
                            <m:t>,</m:t>
                          </m:r>
                          <m:r>
                            <m:rPr>
                              <m:sty m:val="p"/>
                            </m:rPr>
                            <a:rPr sz="1600">
                              <a:latin typeface="Cambria Math" panose="02040503050406030204" charset="0"/>
                              <a:cs typeface="Cambria Math" panose="02040503050406030204" charset="0"/>
                            </a:rPr>
                            <m:t>c</m:t>
                          </m:r>
                        </m:sub>
                      </m:sSub>
                      <m:r>
                        <a:rPr sz="1600">
                          <a:latin typeface="Cambria Math" panose="02040503050406030204" charset="0"/>
                          <a:cs typeface="Cambria Math" panose="02040503050406030204" charset="0"/>
                        </a:rPr>
                        <m:t>),</m:t>
                      </m:r>
                      <m:r>
                        <m:rPr>
                          <m:sty m:val="p"/>
                        </m:rPr>
                        <a:rPr sz="1600">
                          <a:latin typeface="Cambria Math" panose="02040503050406030204" charset="0"/>
                          <a:cs typeface="Cambria Math" panose="02040503050406030204" charset="0"/>
                        </a:rPr>
                        <m:t>i</m:t>
                      </m:r>
                      <m:r>
                        <a:rPr sz="1600">
                          <a:latin typeface="Cambria Math" panose="02040503050406030204" charset="0"/>
                          <a:cs typeface="Cambria Math" panose="02040503050406030204" charset="0"/>
                        </a:rPr>
                        <m:t>=</m:t>
                      </m:r>
                      <m:r>
                        <a:rPr sz="1600">
                          <a:latin typeface="Cambria Math" panose="02040503050406030204" charset="0"/>
                          <a:cs typeface="Cambria Math" panose="02040503050406030204" charset="0"/>
                        </a:rPr>
                        <m:t>1</m:t>
                      </m:r>
                      <m:r>
                        <a:rPr sz="1600">
                          <a:latin typeface="Cambria Math" panose="02040503050406030204" charset="0"/>
                          <a:cs typeface="Cambria Math" panose="02040503050406030204" charset="0"/>
                        </a:rPr>
                        <m:t>,</m:t>
                      </m:r>
                      <m:r>
                        <a:rPr sz="1600">
                          <a:latin typeface="Cambria Math" panose="02040503050406030204" charset="0"/>
                          <a:cs typeface="Cambria Math" panose="02040503050406030204" charset="0"/>
                        </a:rPr>
                        <m:t>2</m:t>
                      </m:r>
                      <m:r>
                        <a:rPr sz="1600">
                          <a:latin typeface="Cambria Math" panose="02040503050406030204" charset="0"/>
                          <a:cs typeface="Cambria Math" panose="02040503050406030204" charset="0"/>
                        </a:rPr>
                        <m:t>,</m:t>
                      </m:r>
                      <m:r>
                        <m:rPr>
                          <m:sty m:val="p"/>
                        </m:rPr>
                        <a:rPr sz="1600">
                          <a:latin typeface="Cambria Math" panose="02040503050406030204" charset="0"/>
                          <a:cs typeface="Cambria Math" panose="02040503050406030204" charset="0"/>
                        </a:rPr>
                        <m:t>dots</m:t>
                      </m:r>
                      <m:r>
                        <a:rPr sz="1600">
                          <a:latin typeface="Cambria Math" panose="02040503050406030204" charset="0"/>
                          <a:cs typeface="Cambria Math" panose="02040503050406030204" charset="0"/>
                        </a:rPr>
                        <m:t>,</m:t>
                      </m:r>
                      <m:sSub>
                        <m:sSubPr>
                          <m:ctrlPr>
                            <a:rPr sz="1600">
                              <a:latin typeface="Cambria Math" panose="02040503050406030204" charset="0"/>
                              <a:cs typeface="Cambria Math" panose="02040503050406030204" charset="0"/>
                            </a:rPr>
                          </m:ctrlPr>
                        </m:sSubPr>
                        <m:e>
                          <m:r>
                            <m:rPr>
                              <m:sty m:val="p"/>
                            </m:rPr>
                            <a:rPr sz="1600">
                              <a:latin typeface="Cambria Math" panose="02040503050406030204" charset="0"/>
                              <a:cs typeface="Cambria Math" panose="02040503050406030204" charset="0"/>
                            </a:rPr>
                            <m:t>N</m:t>
                          </m:r>
                        </m:e>
                        <m:sub>
                          <m:r>
                            <m:rPr>
                              <m:sty m:val="p"/>
                            </m:rPr>
                            <a:rPr sz="1600">
                              <a:latin typeface="Cambria Math" panose="02040503050406030204" charset="0"/>
                              <a:cs typeface="Cambria Math" panose="02040503050406030204" charset="0"/>
                            </a:rPr>
                            <m:t>dim</m:t>
                          </m:r>
                        </m:sub>
                      </m:sSub>
                    </m:oMath>
                  </m:oMathPara>
                </a14:m>
                <a:endParaRPr sz="600" dirty="0"/>
              </a:p>
            </p:txBody>
          </p:sp>
        </mc:Choice>
        <mc:Fallback>
          <p:sp>
            <p:nvSpPr>
              <p:cNvPr id="1090" name="textbox 1090"/>
              <p:cNvSpPr>
                <a:spLocks noRot="1" noChangeAspect="1" noMove="1" noResize="1" noEditPoints="1" noAdjustHandles="1" noChangeArrowheads="1" noChangeShapeType="1" noTextEdit="1"/>
              </p:cNvSpPr>
              <p:nvPr/>
            </p:nvSpPr>
            <p:spPr>
              <a:xfrm>
                <a:off x="9382125" y="2628265"/>
                <a:ext cx="2581275" cy="390525"/>
              </a:xfrm>
              <a:prstGeom prst="rect">
                <a:avLst/>
              </a:prstGeom>
              <a:blipFill rotWithShape="1">
                <a:blip r:embed="rId4"/>
                <a:stretch>
                  <a:fillRect/>
                </a:stretch>
              </a:blipFill>
              <a:ln w="0" cap="flat">
                <a:noFill/>
                <a:prstDash val="solid"/>
                <a:miter lim="0"/>
              </a:ln>
            </p:spPr>
            <p:txBody>
              <a:bodyPr/>
              <a:lstStyle/>
              <a:p>
                <a:r>
                  <a:rPr lang="zh-CN" altLang="en-US">
                    <a:noFill/>
                  </a:rPr>
                  <a:t> </a:t>
                </a:r>
              </a:p>
            </p:txBody>
          </p:sp>
        </mc:Fallback>
      </mc:AlternateContent>
      <p:pic>
        <p:nvPicPr>
          <p:cNvPr id="1096" name="picture 1096"/>
          <p:cNvPicPr>
            <a:picLocks noChangeAspect="1"/>
          </p:cNvPicPr>
          <p:nvPr/>
        </p:nvPicPr>
        <p:blipFill>
          <a:blip r:embed="rId5"/>
          <a:stretch>
            <a:fillRect/>
          </a:stretch>
        </p:blipFill>
        <p:spPr>
          <a:xfrm>
            <a:off x="9048750" y="3209925"/>
            <a:ext cx="390525" cy="685800"/>
          </a:xfrm>
          <a:prstGeom prst="rect">
            <a:avLst/>
          </a:prstGeom>
        </p:spPr>
      </p:pic>
      <p:sp>
        <p:nvSpPr>
          <p:cNvPr id="1100" name="textbox 1100"/>
          <p:cNvSpPr/>
          <p:nvPr/>
        </p:nvSpPr>
        <p:spPr>
          <a:xfrm>
            <a:off x="85725" y="6210300"/>
            <a:ext cx="11991975" cy="438150"/>
          </a:xfrm>
          <a:prstGeom prst="rect">
            <a:avLst/>
          </a:prstGeom>
          <a:noFill/>
          <a:ln w="0" cap="flat">
            <a:noFill/>
            <a:prstDash val="solid"/>
            <a:miter lim="0"/>
          </a:ln>
        </p:spPr>
        <p:txBody>
          <a:bodyPr vert="horz" wrap="none" lIns="0" tIns="0" rIns="0" bIns="0"/>
          <a:lstStyle/>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Wang T, Li Z L, Fan W L, Ang A. H.-S. Structural system reliability assessment using generalized factorized dimensional reduction method and iterative maximum</a:t>
            </a:r>
            <a:endParaRPr sz="1400" dirty="0"/>
          </a:p>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entropy method. Structure and Infrastructure Engineering, 2024, 20(5): 607-618.</a:t>
            </a:r>
            <a:endParaRPr sz="1400" dirty="0"/>
          </a:p>
        </p:txBody>
      </p:sp>
      <p:sp>
        <p:nvSpPr>
          <p:cNvPr id="1102" name="textbox 1102"/>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哈尔滨工业大学水利工程学院，可靠性与韧性工程研究团队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1104" name="textbox 1104"/>
          <p:cNvSpPr/>
          <p:nvPr/>
        </p:nvSpPr>
        <p:spPr>
          <a:xfrm>
            <a:off x="11753850" y="6734175"/>
            <a:ext cx="15240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27</a:t>
            </a:r>
            <a:endParaRPr sz="1000" dirty="0"/>
          </a:p>
        </p:txBody>
      </p:sp>
      <p:pic>
        <p:nvPicPr>
          <p:cNvPr id="2" name="picture 2"/>
          <p:cNvPicPr>
            <a:picLocks noChangeAspect="1"/>
          </p:cNvPicPr>
          <p:nvPr/>
        </p:nvPicPr>
        <p:blipFill>
          <a:blip r:embed="rId6"/>
          <a:stretch>
            <a:fillRect/>
          </a:stretch>
        </p:blipFill>
        <p:spPr>
          <a:xfrm rot="21600000">
            <a:off x="165079" y="3632202"/>
            <a:ext cx="5943600" cy="2349482"/>
          </a:xfrm>
          <a:prstGeom prst="rect">
            <a:avLst/>
          </a:prstGeom>
        </p:spPr>
      </p:pic>
      <p:pic>
        <p:nvPicPr>
          <p:cNvPr id="12" name="picture 12"/>
          <p:cNvPicPr>
            <a:picLocks noChangeAspect="1"/>
          </p:cNvPicPr>
          <p:nvPr/>
        </p:nvPicPr>
        <p:blipFill>
          <a:blip r:embed="rId7"/>
          <a:stretch>
            <a:fillRect/>
          </a:stretch>
        </p:blipFill>
        <p:spPr>
          <a:xfrm rot="21600000">
            <a:off x="6400800" y="4127487"/>
            <a:ext cx="5626120" cy="159386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8" name="picture 1108"/>
          <p:cNvPicPr>
            <a:picLocks noChangeAspect="1"/>
          </p:cNvPicPr>
          <p:nvPr/>
        </p:nvPicPr>
        <p:blipFill>
          <a:blip r:embed="rId1"/>
          <a:stretch>
            <a:fillRect/>
          </a:stretch>
        </p:blipFill>
        <p:spPr>
          <a:xfrm>
            <a:off x="0" y="0"/>
            <a:ext cx="12192000" cy="6858000"/>
          </a:xfrm>
          <a:prstGeom prst="rect">
            <a:avLst/>
          </a:prstGeom>
        </p:spPr>
      </p:pic>
      <p:sp>
        <p:nvSpPr>
          <p:cNvPr id="1110" name="textbox 1110"/>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112" name="textbox 1112"/>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114" name="textbox 111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118" name="picture 1118"/>
          <p:cNvPicPr>
            <a:picLocks noChangeAspect="1"/>
          </p:cNvPicPr>
          <p:nvPr/>
        </p:nvPicPr>
        <p:blipFill>
          <a:blip r:embed="rId2"/>
          <a:stretch>
            <a:fillRect/>
          </a:stretch>
        </p:blipFill>
        <p:spPr>
          <a:xfrm>
            <a:off x="295275" y="247650"/>
            <a:ext cx="733425" cy="666750"/>
          </a:xfrm>
          <a:prstGeom prst="rect">
            <a:avLst/>
          </a:prstGeom>
        </p:spPr>
      </p:pic>
      <p:sp>
        <p:nvSpPr>
          <p:cNvPr id="1120" name="textbox 1120"/>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122" name="textbox 1122"/>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124" name="textbox 1124"/>
          <p:cNvSpPr/>
          <p:nvPr/>
        </p:nvSpPr>
        <p:spPr>
          <a:xfrm>
            <a:off x="1447800" y="1133475"/>
            <a:ext cx="344805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基于Va-DRMs的降维积分法</a:t>
            </a:r>
            <a:endParaRPr sz="2000" dirty="0"/>
          </a:p>
        </p:txBody>
      </p:sp>
      <p:sp>
        <p:nvSpPr>
          <p:cNvPr id="1126" name="textbox 1126"/>
          <p:cNvSpPr/>
          <p:nvPr/>
        </p:nvSpPr>
        <p:spPr>
          <a:xfrm>
            <a:off x="1466850" y="1485900"/>
            <a:ext cx="3038475"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Va-DRMs-based dimension-reduction integration methods</a:t>
            </a:r>
            <a:endParaRPr sz="1000" dirty="0"/>
          </a:p>
        </p:txBody>
      </p:sp>
      <p:sp>
        <p:nvSpPr>
          <p:cNvPr id="1128" name="textbox 1128"/>
          <p:cNvSpPr/>
          <p:nvPr/>
        </p:nvSpPr>
        <p:spPr>
          <a:xfrm>
            <a:off x="1485900" y="1800225"/>
            <a:ext cx="9267825"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解决方法：广义因子分解降维积分法(GF-DRIM)，将乘法降维模型直接应用于原始响应函数</a:t>
            </a:r>
            <a:endParaRPr sz="1800" dirty="0"/>
          </a:p>
        </p:txBody>
      </p:sp>
      <p:sp>
        <p:nvSpPr>
          <p:cNvPr id="1152" name="textbox 1152"/>
          <p:cNvSpPr/>
          <p:nvPr/>
        </p:nvSpPr>
        <p:spPr>
          <a:xfrm>
            <a:off x="11753850" y="5286375"/>
            <a:ext cx="419100" cy="219075"/>
          </a:xfrm>
          <a:prstGeom prst="rect">
            <a:avLst/>
          </a:prstGeom>
          <a:noFill/>
          <a:ln w="0" cap="flat">
            <a:noFill/>
            <a:prstDash val="solid"/>
            <a:miter lim="0"/>
          </a:ln>
        </p:spPr>
        <p:txBody>
          <a:bodyPr vert="horz" wrap="none" lIns="0" tIns="0" rIns="0" bIns="0"/>
          <a:lstStyle/>
          <a:p>
            <a:pPr algn="l" rtl="0" eaLnBrk="0"/>
            <a:r>
              <a:rPr sz="1400" i="1" kern="0" spc="225" dirty="0">
                <a:solidFill>
                  <a:srgbClr val="000000">
                    <a:alpha val="100000"/>
                  </a:srgbClr>
                </a:solidFill>
                <a:latin typeface="Times New Roman" panose="02020603050405020304"/>
                <a:ea typeface="Times New Roman" panose="02020603050405020304"/>
                <a:cs typeface="Times New Roman" panose="02020603050405020304"/>
              </a:rPr>
              <a:t>s</a:t>
            </a:r>
            <a:r>
              <a:rPr sz="1400" kern="0" spc="225" dirty="0">
                <a:solidFill>
                  <a:srgbClr val="000000">
                    <a:alpha val="100000"/>
                  </a:srgbClr>
                </a:solidFill>
                <a:latin typeface="Times New Roman" panose="02020603050405020304"/>
                <a:ea typeface="Times New Roman" panose="02020603050405020304"/>
                <a:cs typeface="Times New Roman" panose="02020603050405020304"/>
              </a:rPr>
              <a:t>=3.</a:t>
            </a:r>
            <a:endParaRPr sz="1400" dirty="0"/>
          </a:p>
        </p:txBody>
      </p:sp>
      <p:sp>
        <p:nvSpPr>
          <p:cNvPr id="1154" name="textbox 1154"/>
          <p:cNvSpPr/>
          <p:nvPr/>
        </p:nvSpPr>
        <p:spPr>
          <a:xfrm>
            <a:off x="85725" y="6229350"/>
            <a:ext cx="11991975" cy="419100"/>
          </a:xfrm>
          <a:prstGeom prst="rect">
            <a:avLst/>
          </a:prstGeom>
          <a:noFill/>
          <a:ln w="0" cap="flat">
            <a:noFill/>
            <a:prstDash val="solid"/>
            <a:miter lim="0"/>
          </a:ln>
        </p:spPr>
        <p:txBody>
          <a:bodyPr vert="horz" wrap="none" lIns="0" tIns="0" rIns="0" bIns="0"/>
          <a:lstStyle/>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Wang T, Lu D G*, Tan Y Q. Refined dimension-reduction integration method for uncertainty propagation in stochastic systems: Estimation of statistical moments.</a:t>
            </a:r>
            <a:endParaRPr sz="1400" dirty="0"/>
          </a:p>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Reliability Engineering &amp; System Safety, 2025, 256: 110753.</a:t>
            </a:r>
            <a:endParaRPr sz="1400" dirty="0"/>
          </a:p>
        </p:txBody>
      </p:sp>
      <p:sp>
        <p:nvSpPr>
          <p:cNvPr id="1156" name="textbox 1156"/>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158" name="textbox 1158"/>
          <p:cNvSpPr/>
          <p:nvPr/>
        </p:nvSpPr>
        <p:spPr>
          <a:xfrm>
            <a:off x="11772900" y="6743700"/>
            <a:ext cx="133350" cy="95250"/>
          </a:xfrm>
          <a:prstGeom prst="rect">
            <a:avLst/>
          </a:prstGeom>
          <a:noFill/>
          <a:ln w="0" cap="flat">
            <a:noFill/>
            <a:prstDash val="solid"/>
            <a:miter lim="0"/>
          </a:ln>
        </p:spPr>
        <p:txBody>
          <a:bodyPr vert="horz" wrap="none" lIns="0" tIns="0" rIns="0" bIns="0"/>
          <a:lstStyle/>
          <a:p>
            <a:pPr algn="l" rtl="0" eaLnBrk="0"/>
            <a:r>
              <a:rPr sz="800" kern="0" spc="0" dirty="0">
                <a:solidFill>
                  <a:srgbClr val="FFFFFF">
                    <a:alpha val="100000"/>
                  </a:srgbClr>
                </a:solidFill>
                <a:latin typeface="Arial" panose="020B0604020202020204"/>
                <a:ea typeface="Arial" panose="020B0604020202020204"/>
                <a:cs typeface="Arial" panose="020B0604020202020204"/>
              </a:rPr>
              <a:t>78</a:t>
            </a:r>
            <a:endParaRPr sz="800" dirty="0"/>
          </a:p>
        </p:txBody>
      </p:sp>
      <p:pic>
        <p:nvPicPr>
          <p:cNvPr id="2" name="picture 2"/>
          <p:cNvPicPr>
            <a:picLocks noChangeAspect="1"/>
          </p:cNvPicPr>
          <p:nvPr/>
        </p:nvPicPr>
        <p:blipFill>
          <a:blip r:embed="rId3"/>
          <a:stretch>
            <a:fillRect/>
          </a:stretch>
        </p:blipFill>
        <p:spPr>
          <a:xfrm rot="21600000">
            <a:off x="171419" y="3409934"/>
            <a:ext cx="11398300" cy="2686088"/>
          </a:xfrm>
          <a:prstGeom prst="rect">
            <a:avLst/>
          </a:prstGeom>
        </p:spPr>
      </p:pic>
      <p:pic>
        <p:nvPicPr>
          <p:cNvPr id="12" name="picture 12"/>
          <p:cNvPicPr>
            <a:picLocks noChangeAspect="1"/>
          </p:cNvPicPr>
          <p:nvPr/>
        </p:nvPicPr>
        <p:blipFill>
          <a:blip r:embed="rId4"/>
          <a:stretch>
            <a:fillRect/>
          </a:stretch>
        </p:blipFill>
        <p:spPr>
          <a:xfrm rot="21600000">
            <a:off x="184099" y="2171674"/>
            <a:ext cx="6457980" cy="98427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2" name="picture 1162"/>
          <p:cNvPicPr>
            <a:picLocks noChangeAspect="1"/>
          </p:cNvPicPr>
          <p:nvPr/>
        </p:nvPicPr>
        <p:blipFill>
          <a:blip r:embed="rId1"/>
          <a:stretch>
            <a:fillRect/>
          </a:stretch>
        </p:blipFill>
        <p:spPr>
          <a:xfrm>
            <a:off x="0" y="0"/>
            <a:ext cx="12192000" cy="6858000"/>
          </a:xfrm>
          <a:prstGeom prst="rect">
            <a:avLst/>
          </a:prstGeom>
        </p:spPr>
      </p:pic>
      <p:sp>
        <p:nvSpPr>
          <p:cNvPr id="1164" name="textbox 1164"/>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166" name="textbox 1166"/>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168" name="textbox 116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172" name="picture 1172"/>
          <p:cNvPicPr>
            <a:picLocks noChangeAspect="1"/>
          </p:cNvPicPr>
          <p:nvPr/>
        </p:nvPicPr>
        <p:blipFill>
          <a:blip r:embed="rId2"/>
          <a:stretch>
            <a:fillRect/>
          </a:stretch>
        </p:blipFill>
        <p:spPr>
          <a:xfrm>
            <a:off x="295275" y="247650"/>
            <a:ext cx="733425" cy="666750"/>
          </a:xfrm>
          <a:prstGeom prst="rect">
            <a:avLst/>
          </a:prstGeom>
        </p:spPr>
      </p:pic>
      <p:sp>
        <p:nvSpPr>
          <p:cNvPr id="1174" name="textbox 1174"/>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176" name="textbox 1176"/>
          <p:cNvSpPr/>
          <p:nvPr/>
        </p:nvSpPr>
        <p:spPr>
          <a:xfrm>
            <a:off x="1447800" y="752475"/>
            <a:ext cx="525780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178" name="textbox 1178"/>
          <p:cNvSpPr/>
          <p:nvPr/>
        </p:nvSpPr>
        <p:spPr>
          <a:xfrm>
            <a:off x="1457325" y="1133475"/>
            <a:ext cx="343852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D6ECF">
                    <a:alpha val="100000"/>
                  </a:srgbClr>
                </a:solidFill>
                <a:latin typeface="微软雅黑" panose="020B0503020204020204" charset="-122"/>
                <a:ea typeface="微软雅黑" panose="020B0503020204020204" charset="-122"/>
                <a:cs typeface="微软雅黑" panose="020B0503020204020204" charset="-122"/>
              </a:rPr>
              <a:t>基于Ve-DRMs的降维积分法</a:t>
            </a:r>
            <a:endParaRPr sz="2000" dirty="0"/>
          </a:p>
        </p:txBody>
      </p:sp>
      <p:sp>
        <p:nvSpPr>
          <p:cNvPr id="1180" name="textbox 1180"/>
          <p:cNvSpPr/>
          <p:nvPr/>
        </p:nvSpPr>
        <p:spPr>
          <a:xfrm>
            <a:off x="1009650" y="1209675"/>
            <a:ext cx="133350" cy="180975"/>
          </a:xfrm>
          <a:prstGeom prst="rect">
            <a:avLst/>
          </a:prstGeom>
          <a:noFill/>
          <a:ln w="0" cap="flat">
            <a:noFill/>
            <a:prstDash val="solid"/>
            <a:miter lim="0"/>
          </a:ln>
        </p:spPr>
        <p:txBody>
          <a:bodyPr vert="horz" wrap="none" lIns="0" tIns="0" rIns="0" bIns="0"/>
          <a:lstStyle/>
          <a:p>
            <a:pPr algn="l" rtl="0" eaLnBrk="0"/>
            <a:r>
              <a:rPr sz="16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1600" dirty="0"/>
          </a:p>
        </p:txBody>
      </p:sp>
      <p:sp>
        <p:nvSpPr>
          <p:cNvPr id="1182" name="textbox 1182"/>
          <p:cNvSpPr/>
          <p:nvPr/>
        </p:nvSpPr>
        <p:spPr>
          <a:xfrm>
            <a:off x="1466850" y="1485900"/>
            <a:ext cx="3028950"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Ve-DRMs-based dimension-reduction integration methods</a:t>
            </a:r>
            <a:endParaRPr sz="1000" dirty="0"/>
          </a:p>
        </p:txBody>
      </p:sp>
      <p:sp>
        <p:nvSpPr>
          <p:cNvPr id="1184" name="textbox 1184"/>
          <p:cNvSpPr/>
          <p:nvPr/>
        </p:nvSpPr>
        <p:spPr>
          <a:xfrm>
            <a:off x="180975" y="1962150"/>
            <a:ext cx="4114800" cy="247650"/>
          </a:xfrm>
          <a:prstGeom prst="rect">
            <a:avLst/>
          </a:prstGeom>
          <a:noFill/>
          <a:ln w="0" cap="flat">
            <a:noFill/>
            <a:prstDash val="solid"/>
            <a:miter lim="0"/>
          </a:ln>
        </p:spPr>
        <p:txBody>
          <a:bodyPr vert="horz" wrap="none" lIns="0" tIns="0" rIns="0" bIns="0"/>
          <a:lstStyle/>
          <a:p>
            <a:pPr marL="409575" indent="-371475" algn="l" rtl="0" eaLnBrk="0">
              <a:buChar char="•"/>
            </a:pP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根据求和形式</a:t>
            </a:r>
            <a:r>
              <a:rPr sz="1600" b="1" kern="0" spc="0" dirty="0">
                <a:solidFill>
                  <a:srgbClr val="0070BC">
                    <a:alpha val="100000"/>
                  </a:srgbClr>
                </a:solidFill>
                <a:latin typeface="Times New Roman" panose="02020603050405020304"/>
                <a:ea typeface="Times New Roman" panose="02020603050405020304"/>
                <a:cs typeface="Times New Roman" panose="02020603050405020304"/>
              </a:rPr>
              <a:t> Ve-DRM</a:t>
            </a: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，函数</a:t>
            </a:r>
            <a:r>
              <a:rPr sz="1600" b="1" i="1" kern="0" spc="0" dirty="0">
                <a:solidFill>
                  <a:srgbClr val="0070BC">
                    <a:alpha val="100000"/>
                  </a:srgbClr>
                </a:solidFill>
                <a:latin typeface="Times New Roman" panose="02020603050405020304"/>
                <a:ea typeface="Times New Roman" panose="02020603050405020304"/>
                <a:cs typeface="Times New Roman" panose="02020603050405020304"/>
              </a:rPr>
              <a:t> Z </a:t>
            </a: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的矩为：</a:t>
            </a:r>
            <a:endPar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188" name="textbox 1188"/>
              <p:cNvSpPr/>
              <p:nvPr/>
            </p:nvSpPr>
            <p:spPr>
              <a:xfrm>
                <a:off x="180975" y="3429000"/>
                <a:ext cx="4057650" cy="314325"/>
              </a:xfrm>
              <a:prstGeom prst="rect">
                <a:avLst/>
              </a:prstGeom>
              <a:noFill/>
              <a:ln w="0" cap="flat">
                <a:noFill/>
                <a:prstDash val="solid"/>
                <a:miter lim="0"/>
              </a:ln>
            </p:spPr>
            <p:txBody>
              <a:bodyPr vert="horz" wrap="none" lIns="0" tIns="0" rIns="0" bIns="0"/>
              <a:lstStyle/>
              <a:p>
                <a:pPr marL="409575" indent="-371475" algn="l" rtl="0" eaLnBrk="0">
                  <a:buChar char="•"/>
                </a:pP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当 </a:t>
                </a:r>
                <a14:m>
                  <m:oMath xmlns:m="http://schemas.openxmlformats.org/officeDocument/2006/math">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G</m:t>
                        </m:r>
                      </m:e>
                      <m:sub>
                        <m:r>
                          <m:rPr>
                            <m:sty m:val="p"/>
                          </m:rPr>
                          <a:rPr lang="en-US" sz="1600" dirty="0">
                            <a:solidFill>
                              <a:srgbClr val="0070BC"/>
                            </a:solidFill>
                            <a:latin typeface="Cambria Math" panose="02040503050406030204"/>
                            <a:ea typeface="Cambria Math" panose="02040503050406030204"/>
                          </a:rPr>
                          <m:t>i</m:t>
                        </m:r>
                      </m:sub>
                    </m:sSub>
                    <m:r>
                      <a:rPr lang="en-US" sz="1600" dirty="0">
                        <a:solidFill>
                          <a:srgbClr val="0070BC"/>
                        </a:solidFill>
                        <a:latin typeface="Cambria Math" panose="02040503050406030204"/>
                        <a:ea typeface="Cambria Math" panose="02040503050406030204"/>
                      </a:rPr>
                      <m:t>(</m:t>
                    </m:r>
                    <m:sSub>
                      <m:sSubPr>
                        <m:ctrlPr>
                          <a:rPr>
                            <a:solidFill>
                              <a:srgbClr val="0070BC"/>
                            </a:solidFill>
                          </a:rPr>
                        </m:ctrlPr>
                      </m:sSubPr>
                      <m:e>
                        <m:r>
                          <a:rPr lang="en-US" sz="1600" dirty="0">
                            <a:solidFill>
                              <a:srgbClr val="0070BC"/>
                            </a:solidFill>
                            <a:latin typeface="Cambria Math" panose="02040503050406030204"/>
                            <a:ea typeface="Cambria Math" panose="02040503050406030204"/>
                          </a:rPr>
                          <m:t>𝚯</m:t>
                        </m:r>
                      </m:e>
                      <m:sub>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S</m:t>
                            </m:r>
                          </m:e>
                          <m:sub>
                            <m:r>
                              <m:rPr>
                                <m:sty m:val="p"/>
                              </m:rPr>
                              <a:rPr lang="en-US" sz="1600" dirty="0">
                                <a:solidFill>
                                  <a:srgbClr val="0070BC"/>
                                </a:solidFill>
                                <a:latin typeface="Cambria Math" panose="02040503050406030204"/>
                                <a:ea typeface="Cambria Math" panose="02040503050406030204"/>
                              </a:rPr>
                              <m:t>i</m:t>
                            </m:r>
                          </m:sub>
                        </m:sSub>
                      </m:sub>
                    </m:sSub>
                    <m:r>
                      <a:rPr lang="en-US" sz="1600" dirty="0">
                        <a:solidFill>
                          <a:srgbClr val="0070BC"/>
                        </a:solidFill>
                        <a:latin typeface="Cambria Math" panose="02040503050406030204"/>
                        <a:ea typeface="Cambria Math" panose="02040503050406030204"/>
                      </a:rPr>
                      <m:t>)</m:t>
                    </m:r>
                  </m:oMath>
                </a14:m>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为单变量函数时，</a:t>
                </a:r>
                <a:r>
                  <a:rPr sz="1600" b="1"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的矩为：</a:t>
                </a:r>
                <a:endPar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1188" name="textbox 1188"/>
              <p:cNvSpPr>
                <a:spLocks noRot="1" noChangeAspect="1" noMove="1" noResize="1" noEditPoints="1" noAdjustHandles="1" noChangeArrowheads="1" noChangeShapeType="1" noTextEdit="1"/>
              </p:cNvSpPr>
              <p:nvPr/>
            </p:nvSpPr>
            <p:spPr>
              <a:xfrm>
                <a:off x="180975" y="3429000"/>
                <a:ext cx="4057650" cy="314325"/>
              </a:xfrm>
              <a:prstGeom prst="rect">
                <a:avLst/>
              </a:prstGeom>
              <a:blipFill rotWithShape="1">
                <a:blip r:embed="rId3"/>
                <a:stretch>
                  <a:fillRect r="-1064" b="-9495"/>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92" name="textbox 1192"/>
              <p:cNvSpPr/>
              <p:nvPr/>
            </p:nvSpPr>
            <p:spPr>
              <a:xfrm>
                <a:off x="190500" y="4686300"/>
                <a:ext cx="4048125" cy="304800"/>
              </a:xfrm>
              <a:prstGeom prst="rect">
                <a:avLst/>
              </a:prstGeom>
              <a:noFill/>
              <a:ln w="0" cap="flat">
                <a:noFill/>
                <a:prstDash val="solid"/>
                <a:miter lim="0"/>
              </a:ln>
            </p:spPr>
            <p:txBody>
              <a:bodyPr vert="horz" wrap="none" lIns="0" tIns="0" rIns="0" bIns="0"/>
              <a:lstStyle/>
              <a:p>
                <a:pPr marL="400050" indent="-371475" algn="l" rtl="0" eaLnBrk="0">
                  <a:buChar char="•"/>
                </a:pP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当 </a:t>
                </a:r>
                <a14:m>
                  <m:oMath xmlns:m="http://schemas.openxmlformats.org/officeDocument/2006/math">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G</m:t>
                        </m:r>
                      </m:e>
                      <m:sub>
                        <m:r>
                          <m:rPr>
                            <m:sty m:val="p"/>
                          </m:rPr>
                          <a:rPr lang="en-US" sz="1600" dirty="0">
                            <a:solidFill>
                              <a:srgbClr val="0070BC"/>
                            </a:solidFill>
                            <a:latin typeface="Cambria Math" panose="02040503050406030204"/>
                            <a:ea typeface="Cambria Math" panose="02040503050406030204"/>
                          </a:rPr>
                          <m:t>i</m:t>
                        </m:r>
                      </m:sub>
                    </m:sSub>
                    <m:r>
                      <a:rPr lang="en-US" sz="1600" dirty="0">
                        <a:solidFill>
                          <a:srgbClr val="0070BC"/>
                        </a:solidFill>
                        <a:latin typeface="Cambria Math" panose="02040503050406030204"/>
                        <a:ea typeface="Cambria Math" panose="02040503050406030204"/>
                      </a:rPr>
                      <m:t>(</m:t>
                    </m:r>
                    <m:sSub>
                      <m:sSubPr>
                        <m:ctrlPr>
                          <a:rPr>
                            <a:solidFill>
                              <a:srgbClr val="0070BC"/>
                            </a:solidFill>
                          </a:rPr>
                        </m:ctrlPr>
                      </m:sSubPr>
                      <m:e>
                        <m:r>
                          <a:rPr lang="en-US" sz="1600" dirty="0">
                            <a:solidFill>
                              <a:srgbClr val="0070BC"/>
                            </a:solidFill>
                            <a:latin typeface="Cambria Math" panose="02040503050406030204"/>
                            <a:ea typeface="Cambria Math" panose="02040503050406030204"/>
                          </a:rPr>
                          <m:t>𝚯</m:t>
                        </m:r>
                      </m:e>
                      <m:sub>
                        <m:r>
                          <m:rPr>
                            <m:sty m:val="p"/>
                          </m:rPr>
                          <a:rPr lang="en-US" sz="1600" dirty="0">
                            <a:solidFill>
                              <a:srgbClr val="0070BC"/>
                            </a:solidFill>
                            <a:latin typeface="Cambria Math" panose="02040503050406030204"/>
                            <a:ea typeface="Cambria Math" panose="02040503050406030204"/>
                          </a:rPr>
                          <m:t>Si</m:t>
                        </m:r>
                      </m:sub>
                    </m:sSub>
                    <m:r>
                      <a:rPr lang="en-US" sz="1600" dirty="0">
                        <a:solidFill>
                          <a:srgbClr val="0070BC"/>
                        </a:solidFill>
                        <a:latin typeface="Cambria Math" panose="02040503050406030204"/>
                        <a:ea typeface="Cambria Math" panose="02040503050406030204"/>
                      </a:rPr>
                      <m:t>)</m:t>
                    </m:r>
                  </m:oMath>
                </a14:m>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为多变量函数时，</a:t>
                </a:r>
                <a:r>
                  <a:rPr sz="1600" b="1"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的矩为：</a:t>
                </a:r>
                <a:endPar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1192" name="textbox 1192"/>
              <p:cNvSpPr>
                <a:spLocks noRot="1" noChangeAspect="1" noMove="1" noResize="1" noEditPoints="1" noAdjustHandles="1" noChangeArrowheads="1" noChangeShapeType="1" noTextEdit="1"/>
              </p:cNvSpPr>
              <p:nvPr/>
            </p:nvSpPr>
            <p:spPr>
              <a:xfrm>
                <a:off x="190500" y="4686300"/>
                <a:ext cx="4048125" cy="304800"/>
              </a:xfrm>
              <a:prstGeom prst="rect">
                <a:avLst/>
              </a:prstGeom>
              <a:blipFill rotWithShape="1">
                <a:blip r:embed="rId4"/>
                <a:stretch>
                  <a:fillRect r="-1020" b="-417"/>
                </a:stretch>
              </a:blipFill>
              <a:ln w="0" cap="flat">
                <a:noFill/>
                <a:prstDash val="solid"/>
                <a:miter lim="0"/>
              </a:ln>
            </p:spPr>
            <p:txBody>
              <a:bodyPr/>
              <a:lstStyle/>
              <a:p>
                <a:r>
                  <a:rPr lang="zh-CN" altLang="en-US">
                    <a:noFill/>
                  </a:rPr>
                  <a:t> </a:t>
                </a:r>
              </a:p>
            </p:txBody>
          </p:sp>
        </mc:Fallback>
      </mc:AlternateContent>
      <p:sp>
        <p:nvSpPr>
          <p:cNvPr id="1196" name="textbox 1196"/>
          <p:cNvSpPr/>
          <p:nvPr/>
        </p:nvSpPr>
        <p:spPr>
          <a:xfrm>
            <a:off x="228600" y="6724650"/>
            <a:ext cx="7467600" cy="12382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FFFFFF">
                    <a:alpha val="100000"/>
                  </a:srgbClr>
                </a:solidFill>
                <a:latin typeface="Times New Roman" panose="02020603050405020304"/>
                <a:ea typeface="Times New Roman" panose="02020603050405020304"/>
                <a:cs typeface="Times New Roman" panose="02020603050405020304"/>
              </a:rPr>
              <a:t> (fReliability And Resilience Engineering Research Group, RARE @HIT)</a:t>
            </a:r>
            <a:endParaRPr sz="1000" dirty="0"/>
          </a:p>
        </p:txBody>
      </p:sp>
      <p:sp>
        <p:nvSpPr>
          <p:cNvPr id="1198" name="textbox 1198"/>
          <p:cNvSpPr/>
          <p:nvPr/>
        </p:nvSpPr>
        <p:spPr>
          <a:xfrm>
            <a:off x="11772900" y="6743700"/>
            <a:ext cx="133350" cy="95250"/>
          </a:xfrm>
          <a:prstGeom prst="rect">
            <a:avLst/>
          </a:prstGeom>
          <a:noFill/>
          <a:ln w="0" cap="flat">
            <a:noFill/>
            <a:prstDash val="solid"/>
            <a:miter lim="0"/>
          </a:ln>
        </p:spPr>
        <p:txBody>
          <a:bodyPr vert="horz" wrap="none" lIns="0" tIns="0" rIns="0" bIns="0"/>
          <a:lstStyle/>
          <a:p>
            <a:pPr algn="l" rtl="0" eaLnBrk="0"/>
            <a:r>
              <a:rPr sz="700" kern="0" spc="225" dirty="0">
                <a:solidFill>
                  <a:srgbClr val="FFFFFF">
                    <a:alpha val="100000"/>
                  </a:srgbClr>
                </a:solidFill>
                <a:latin typeface="Arial" panose="020B0604020202020204"/>
                <a:ea typeface="Arial" panose="020B0604020202020204"/>
                <a:cs typeface="Arial" panose="020B0604020202020204"/>
              </a:rPr>
              <a:t>70</a:t>
            </a:r>
            <a:endParaRPr sz="700" dirty="0"/>
          </a:p>
        </p:txBody>
      </p:sp>
      <p:pic>
        <p:nvPicPr>
          <p:cNvPr id="2" name="picture 2"/>
          <p:cNvPicPr>
            <a:picLocks noChangeAspect="1"/>
          </p:cNvPicPr>
          <p:nvPr/>
        </p:nvPicPr>
        <p:blipFill>
          <a:blip r:embed="rId5"/>
          <a:stretch>
            <a:fillRect/>
          </a:stretch>
        </p:blipFill>
        <p:spPr>
          <a:xfrm rot="21600000">
            <a:off x="4603699" y="1485926"/>
            <a:ext cx="6388540" cy="3473429"/>
          </a:xfrm>
          <a:prstGeom prst="rect">
            <a:avLst/>
          </a:prstGeom>
        </p:spPr>
      </p:pic>
      <p:pic>
        <p:nvPicPr>
          <p:cNvPr id="4" name="picture 4"/>
          <p:cNvPicPr>
            <a:picLocks noChangeAspect="1"/>
          </p:cNvPicPr>
          <p:nvPr/>
        </p:nvPicPr>
        <p:blipFill>
          <a:blip r:embed="rId6"/>
          <a:stretch>
            <a:fillRect/>
          </a:stretch>
        </p:blipFill>
        <p:spPr>
          <a:xfrm rot="21600000">
            <a:off x="1695419" y="5022851"/>
            <a:ext cx="9588520" cy="160653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2" name="picture 1202"/>
          <p:cNvPicPr>
            <a:picLocks noChangeAspect="1"/>
          </p:cNvPicPr>
          <p:nvPr/>
        </p:nvPicPr>
        <p:blipFill>
          <a:blip r:embed="rId1"/>
          <a:stretch>
            <a:fillRect/>
          </a:stretch>
        </p:blipFill>
        <p:spPr>
          <a:xfrm>
            <a:off x="0" y="0"/>
            <a:ext cx="12192000" cy="6858000"/>
          </a:xfrm>
          <a:prstGeom prst="rect">
            <a:avLst/>
          </a:prstGeom>
        </p:spPr>
      </p:pic>
      <p:sp>
        <p:nvSpPr>
          <p:cNvPr id="1204" name="textbox 1204"/>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1206" name="textbox 1206"/>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208" name="textbox 120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212" name="picture 1212"/>
          <p:cNvPicPr>
            <a:picLocks noChangeAspect="1"/>
          </p:cNvPicPr>
          <p:nvPr/>
        </p:nvPicPr>
        <p:blipFill>
          <a:blip r:embed="rId2"/>
          <a:stretch>
            <a:fillRect/>
          </a:stretch>
        </p:blipFill>
        <p:spPr>
          <a:xfrm>
            <a:off x="295275" y="247650"/>
            <a:ext cx="733425" cy="666750"/>
          </a:xfrm>
          <a:prstGeom prst="rect">
            <a:avLst/>
          </a:prstGeom>
        </p:spPr>
      </p:pic>
      <p:sp>
        <p:nvSpPr>
          <p:cNvPr id="1214" name="textbox 1214"/>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216" name="textbox 1216"/>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218" name="textbox 1218"/>
          <p:cNvSpPr/>
          <p:nvPr/>
        </p:nvSpPr>
        <p:spPr>
          <a:xfrm>
            <a:off x="1457325" y="1133475"/>
            <a:ext cx="3324225"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D6EDB">
                    <a:alpha val="100000"/>
                  </a:srgbClr>
                </a:solidFill>
                <a:latin typeface="微软雅黑" panose="020B0503020204020204" charset="-122"/>
                <a:ea typeface="微软雅黑" panose="020B0503020204020204" charset="-122"/>
                <a:cs typeface="微软雅黑" panose="020B0503020204020204" charset="-122"/>
              </a:rPr>
              <a:t>基于</a:t>
            </a:r>
            <a:r>
              <a:rPr sz="2000" b="1" kern="0" spc="0" dirty="0">
                <a:solidFill>
                  <a:srgbClr val="0D6EDB">
                    <a:alpha val="100000"/>
                  </a:srgbClr>
                </a:solidFill>
                <a:latin typeface="Arial" panose="020B0604020202020204"/>
                <a:ea typeface="Arial" panose="020B0604020202020204"/>
                <a:cs typeface="Arial" panose="020B0604020202020204"/>
              </a:rPr>
              <a:t>H-DRMs</a:t>
            </a:r>
            <a:r>
              <a:rPr sz="2000" b="1" kern="0" spc="0" dirty="0">
                <a:solidFill>
                  <a:srgbClr val="0D6EDB">
                    <a:alpha val="100000"/>
                  </a:srgbClr>
                </a:solidFill>
                <a:latin typeface="微软雅黑" panose="020B0503020204020204" charset="-122"/>
                <a:ea typeface="微软雅黑" panose="020B0503020204020204" charset="-122"/>
                <a:cs typeface="微软雅黑" panose="020B0503020204020204" charset="-122"/>
              </a:rPr>
              <a:t>的降维积分法</a:t>
            </a:r>
            <a:endParaRPr sz="2000" dirty="0"/>
          </a:p>
        </p:txBody>
      </p:sp>
      <p:sp>
        <p:nvSpPr>
          <p:cNvPr id="1220" name="textbox 1220"/>
          <p:cNvSpPr/>
          <p:nvPr/>
        </p:nvSpPr>
        <p:spPr>
          <a:xfrm>
            <a:off x="1447800" y="1485900"/>
            <a:ext cx="2990850"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H-DRMs-based dimension-reduction integration methods</a:t>
            </a:r>
            <a:endParaRPr sz="1000" dirty="0"/>
          </a:p>
        </p:txBody>
      </p:sp>
      <mc:AlternateContent xmlns:mc="http://schemas.openxmlformats.org/markup-compatibility/2006">
        <mc:Choice xmlns:a14="http://schemas.microsoft.com/office/drawing/2010/main" Requires="a14">
          <p:sp>
            <p:nvSpPr>
              <p:cNvPr id="1222" name="textbox 1222"/>
              <p:cNvSpPr/>
              <p:nvPr/>
            </p:nvSpPr>
            <p:spPr>
              <a:xfrm>
                <a:off x="962025" y="1809750"/>
                <a:ext cx="3781425" cy="266700"/>
              </a:xfrm>
              <a:prstGeom prst="rect">
                <a:avLst/>
              </a:prstGeom>
              <a:noFill/>
              <a:ln w="0" cap="flat">
                <a:noFill/>
                <a:prstDash val="solid"/>
                <a:miter lim="0"/>
              </a:ln>
            </p:spPr>
            <p:txBody>
              <a:bodyPr vert="horz" wrap="none" lIns="0" tIns="0" rIns="0" bIns="0"/>
              <a:lstStyle/>
              <a:p>
                <a:pPr marL="419100" indent="-381000" algn="l" rtl="0" eaLnBrk="0">
                  <a:buChar char="•"/>
                </a:pP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系统响应</a:t>
                </a:r>
                <a:r>
                  <a:rPr sz="1600" b="1" i="1" kern="0" spc="0" dirty="0">
                    <a:solidFill>
                      <a:srgbClr val="0070BC">
                        <a:alpha val="100000"/>
                      </a:srgbClr>
                    </a:solidFill>
                    <a:latin typeface="Times New Roman" panose="02020603050405020304"/>
                    <a:ea typeface="Times New Roman" panose="02020603050405020304"/>
                    <a:cs typeface="Times New Roman" panose="02020603050405020304"/>
                  </a:rPr>
                  <a:t> Z </a:t>
                </a: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的第</a:t>
                </a:r>
                <a:r>
                  <a:rPr sz="1600" b="1" i="1" kern="0" spc="0" dirty="0">
                    <a:solidFill>
                      <a:srgbClr val="0070BC">
                        <a:alpha val="100000"/>
                      </a:srgbClr>
                    </a:solidFill>
                    <a:latin typeface="Times New Roman" panose="02020603050405020304"/>
                    <a:ea typeface="Times New Roman" panose="02020603050405020304"/>
                    <a:cs typeface="Times New Roman" panose="02020603050405020304"/>
                  </a:rPr>
                  <a:t> q </a:t>
                </a: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阶原点矩 </a:t>
                </a:r>
                <a14:m>
                  <m:oMath xmlns:m="http://schemas.openxmlformats.org/officeDocument/2006/math">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M</m:t>
                        </m:r>
                      </m:e>
                      <m:sub>
                        <m:r>
                          <m:rPr>
                            <m:sty m:val="p"/>
                          </m:rPr>
                          <a:rPr lang="en-US" sz="1600" dirty="0">
                            <a:solidFill>
                              <a:srgbClr val="0070BC"/>
                            </a:solidFill>
                            <a:latin typeface="Cambria Math" panose="02040503050406030204"/>
                            <a:ea typeface="Cambria Math" panose="02040503050406030204"/>
                          </a:rPr>
                          <m:t>Zq</m:t>
                        </m:r>
                      </m:sub>
                    </m:sSub>
                  </m:oMath>
                </a14:m>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为：</a:t>
                </a:r>
                <a:endPar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1222" name="textbox 1222"/>
              <p:cNvSpPr>
                <a:spLocks noRot="1" noChangeAspect="1" noMove="1" noResize="1" noEditPoints="1" noAdjustHandles="1" noChangeArrowheads="1" noChangeShapeType="1" noTextEdit="1"/>
              </p:cNvSpPr>
              <p:nvPr/>
            </p:nvSpPr>
            <p:spPr>
              <a:xfrm>
                <a:off x="962025" y="1809750"/>
                <a:ext cx="3781425" cy="266700"/>
              </a:xfrm>
              <a:prstGeom prst="rect">
                <a:avLst/>
              </a:prstGeom>
              <a:blipFill rotWithShape="1">
                <a:blip r:embed="rId3"/>
                <a:stretch>
                  <a:fillRect r="-957" b="-27619"/>
                </a:stretch>
              </a:blipFill>
              <a:ln w="0" cap="flat">
                <a:noFill/>
                <a:prstDash val="solid"/>
                <a:miter lim="0"/>
              </a:ln>
            </p:spPr>
            <p:txBody>
              <a:bodyPr/>
              <a:lstStyle/>
              <a:p>
                <a:r>
                  <a:rPr lang="zh-CN" altLang="en-US">
                    <a:noFill/>
                  </a:rPr>
                  <a:t> </a:t>
                </a:r>
              </a:p>
            </p:txBody>
          </p:sp>
        </mc:Fallback>
      </mc:AlternateContent>
      <p:sp>
        <p:nvSpPr>
          <p:cNvPr id="1224" name="textbox 1224"/>
          <p:cNvSpPr/>
          <p:nvPr/>
        </p:nvSpPr>
        <p:spPr>
          <a:xfrm>
            <a:off x="333375" y="2276475"/>
            <a:ext cx="11515725" cy="838200"/>
          </a:xfrm>
          <a:prstGeom prst="rect">
            <a:avLst/>
          </a:prstGeom>
          <a:noFill/>
          <a:ln w="0" cap="flat">
            <a:noFill/>
            <a:prstDash val="solid"/>
            <a:miter lim="0"/>
          </a:ln>
        </p:spPr>
        <p:txBody>
          <a:bodyPr vert="horz" wrap="none" lIns="0" tIns="0" rIns="0" bIns="0"/>
          <a:lstStyle/>
          <a:p>
            <a:pPr algn="l" rtl="0" eaLnBrk="0"/>
            <a:endParaRPr sz="600" dirty="0"/>
          </a:p>
        </p:txBody>
      </p:sp>
      <mc:AlternateContent xmlns:mc="http://schemas.openxmlformats.org/markup-compatibility/2006">
        <mc:Choice xmlns:a14="http://schemas.microsoft.com/office/drawing/2010/main" Requires="a14">
          <p:sp>
            <p:nvSpPr>
              <p:cNvPr id="1226" name="textbox 1226"/>
              <p:cNvSpPr/>
              <p:nvPr/>
            </p:nvSpPr>
            <p:spPr>
              <a:xfrm>
                <a:off x="962025" y="3390900"/>
                <a:ext cx="5562600" cy="571500"/>
              </a:xfrm>
              <a:prstGeom prst="rect">
                <a:avLst/>
              </a:prstGeom>
              <a:noFill/>
              <a:ln w="0" cap="flat">
                <a:noFill/>
                <a:prstDash val="solid"/>
                <a:miter lim="0"/>
              </a:ln>
            </p:spPr>
            <p:txBody>
              <a:bodyPr vert="horz" wrap="none" lIns="0" tIns="0" rIns="0" bIns="0"/>
              <a:lstStyle/>
              <a:p>
                <a:pPr algn="l" rtl="0" eaLnBrk="0"/>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解上式需要计算积分 </a:t>
                </a:r>
                <a14:m>
                  <m:oMath xmlns:m="http://schemas.openxmlformats.org/officeDocument/2006/math">
                    <m:sSubSup>
                      <m:sSubSupPr>
                        <m:ctrlPr>
                          <a:rPr>
                            <a:solidFill>
                              <a:srgbClr val="0070BC"/>
                            </a:solidFill>
                          </a:rPr>
                        </m:ctrlPr>
                      </m:sSubSupPr>
                      <m:e>
                        <m:r>
                          <m:rPr>
                            <m:sty m:val="p"/>
                          </m:rPr>
                          <a:rPr lang="en-US" sz="1600" dirty="0">
                            <a:solidFill>
                              <a:srgbClr val="0070BC"/>
                            </a:solidFill>
                            <a:latin typeface="Cambria Math" panose="02040503050406030204"/>
                            <a:ea typeface="Cambria Math" panose="02040503050406030204"/>
                          </a:rPr>
                          <m:t>G</m:t>
                        </m:r>
                      </m:e>
                      <m:sub>
                        <m:r>
                          <m:rPr>
                            <m:sty m:val="p"/>
                          </m:rPr>
                          <a:rPr lang="en-US" sz="1600" dirty="0">
                            <a:solidFill>
                              <a:srgbClr val="0070BC"/>
                            </a:solidFill>
                            <a:latin typeface="Cambria Math" panose="02040503050406030204"/>
                            <a:ea typeface="Cambria Math" panose="02040503050406030204"/>
                          </a:rPr>
                          <m:t>i</m:t>
                        </m:r>
                      </m:sub>
                      <m:sup>
                        <m:r>
                          <m:rPr>
                            <m:sty m:val="p"/>
                          </m:rPr>
                          <a:rPr lang="en-US" sz="1600" dirty="0">
                            <a:solidFill>
                              <a:srgbClr val="0070BC"/>
                            </a:solidFill>
                            <a:latin typeface="Cambria Math" panose="02040503050406030204"/>
                            <a:ea typeface="Cambria Math" panose="02040503050406030204"/>
                          </a:rPr>
                          <m:t>vec</m:t>
                        </m:r>
                      </m:sup>
                    </m:sSubSup>
                    <m:r>
                      <a:rPr lang="en-US" sz="1600" dirty="0">
                        <a:solidFill>
                          <a:srgbClr val="0070BC"/>
                        </a:solidFill>
                        <a:latin typeface="Cambria Math" panose="02040503050406030204"/>
                        <a:ea typeface="Cambria Math" panose="02040503050406030204"/>
                      </a:rPr>
                      <m:t>+</m:t>
                    </m:r>
                    <m:f>
                      <m:fPr>
                        <m:ctrlPr>
                          <a:rPr>
                            <a:solidFill>
                              <a:srgbClr val="0070BC"/>
                            </a:solidFill>
                          </a:rPr>
                        </m:ctrlPr>
                      </m:fPr>
                      <m:num>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G</m:t>
                            </m:r>
                          </m:e>
                          <m:sub>
                            <m:r>
                              <m:rPr>
                                <m:sty m:val="p"/>
                              </m:rPr>
                              <a:rPr lang="en-US" sz="1600" dirty="0">
                                <a:solidFill>
                                  <a:srgbClr val="0070BC"/>
                                </a:solidFill>
                                <a:latin typeface="Cambria Math" panose="02040503050406030204"/>
                                <a:ea typeface="Cambria Math" panose="02040503050406030204"/>
                              </a:rPr>
                              <m:t>con</m:t>
                            </m:r>
                          </m:sub>
                        </m:sSub>
                      </m:num>
                      <m:den>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p</m:t>
                            </m:r>
                          </m:e>
                          <m:sub>
                            <m:r>
                              <m:rPr>
                                <m:sty m:val="p"/>
                              </m:rPr>
                              <a:rPr lang="en-US" sz="1600" dirty="0">
                                <a:solidFill>
                                  <a:srgbClr val="0070BC"/>
                                </a:solidFill>
                                <a:latin typeface="Cambria Math" panose="02040503050406030204"/>
                                <a:ea typeface="Cambria Math" panose="02040503050406030204"/>
                              </a:rPr>
                              <m:t>t</m:t>
                            </m:r>
                          </m:sub>
                        </m:sSub>
                      </m:den>
                    </m:f>
                  </m:oMath>
                </a14:m>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和 </a:t>
                </a:r>
                <a14:m>
                  <m:oMath xmlns:m="http://schemas.openxmlformats.org/officeDocument/2006/math">
                    <m:sSubSup>
                      <m:sSubSupPr>
                        <m:ctrlPr>
                          <a:rPr>
                            <a:solidFill>
                              <a:srgbClr val="0070BC"/>
                            </a:solidFill>
                          </a:rPr>
                        </m:ctrlPr>
                      </m:sSubSupPr>
                      <m:e>
                        <m:r>
                          <m:rPr>
                            <m:sty m:val="p"/>
                          </m:rPr>
                          <a:rPr lang="en-US" sz="1600" dirty="0">
                            <a:solidFill>
                              <a:srgbClr val="0070BC"/>
                            </a:solidFill>
                            <a:latin typeface="Cambria Math" panose="02040503050406030204"/>
                            <a:ea typeface="Cambria Math" panose="02040503050406030204"/>
                          </a:rPr>
                          <m:t>G</m:t>
                        </m:r>
                      </m:e>
                      <m:sub>
                        <m:r>
                          <m:rPr>
                            <m:sty m:val="p"/>
                          </m:rPr>
                          <a:rPr lang="en-US" sz="1600" dirty="0">
                            <a:solidFill>
                              <a:srgbClr val="0070BC"/>
                            </a:solidFill>
                            <a:latin typeface="Cambria Math" panose="02040503050406030204"/>
                            <a:ea typeface="Cambria Math" panose="02040503050406030204"/>
                          </a:rPr>
                          <m:t>i</m:t>
                        </m:r>
                      </m:sub>
                      <m:sup>
                        <m:r>
                          <m:rPr>
                            <m:sty m:val="p"/>
                          </m:rPr>
                          <a:rPr lang="en-US" sz="1600" dirty="0">
                            <a:solidFill>
                              <a:srgbClr val="0070BC"/>
                            </a:solidFill>
                            <a:latin typeface="Cambria Math" panose="02040503050406030204"/>
                            <a:ea typeface="Cambria Math" panose="02040503050406030204"/>
                          </a:rPr>
                          <m:t>var</m:t>
                        </m:r>
                      </m:sup>
                    </m:sSubSup>
                    <m:r>
                      <a:rPr lang="en-US" sz="1600" dirty="0">
                        <a:solidFill>
                          <a:srgbClr val="0070BC"/>
                        </a:solidFill>
                        <a:latin typeface="Cambria Math" panose="02040503050406030204"/>
                        <a:ea typeface="Cambria Math" panose="02040503050406030204"/>
                      </a:rPr>
                      <m:t>+</m:t>
                    </m:r>
                    <m:f>
                      <m:fPr>
                        <m:ctrlPr>
                          <a:rPr>
                            <a:solidFill>
                              <a:srgbClr val="0070BC"/>
                            </a:solidFill>
                          </a:rPr>
                        </m:ctrlPr>
                      </m:fPr>
                      <m:num>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G</m:t>
                            </m:r>
                          </m:e>
                          <m:sub>
                            <m:r>
                              <m:rPr>
                                <m:sty m:val="p"/>
                              </m:rPr>
                              <a:rPr lang="en-US" sz="1600" dirty="0">
                                <a:solidFill>
                                  <a:srgbClr val="0070BC"/>
                                </a:solidFill>
                                <a:latin typeface="Cambria Math" panose="02040503050406030204"/>
                                <a:ea typeface="Cambria Math" panose="02040503050406030204"/>
                              </a:rPr>
                              <m:t>con</m:t>
                            </m:r>
                          </m:sub>
                        </m:sSub>
                      </m:num>
                      <m:den>
                        <m:sSub>
                          <m:sSubPr>
                            <m:ctrlPr>
                              <a:rPr>
                                <a:solidFill>
                                  <a:srgbClr val="0070BC"/>
                                </a:solidFill>
                              </a:rPr>
                            </m:ctrlPr>
                          </m:sSubPr>
                          <m:e>
                            <m:r>
                              <m:rPr>
                                <m:sty m:val="p"/>
                              </m:rPr>
                              <a:rPr lang="en-US" sz="1600" dirty="0">
                                <a:solidFill>
                                  <a:srgbClr val="0070BC"/>
                                </a:solidFill>
                                <a:latin typeface="Cambria Math" panose="02040503050406030204"/>
                                <a:ea typeface="Cambria Math" panose="02040503050406030204"/>
                              </a:rPr>
                              <m:t>p</m:t>
                            </m:r>
                          </m:e>
                          <m:sub>
                            <m:r>
                              <m:rPr>
                                <m:sty m:val="p"/>
                              </m:rPr>
                              <a:rPr lang="en-US" sz="1600" dirty="0">
                                <a:solidFill>
                                  <a:srgbClr val="0070BC"/>
                                </a:solidFill>
                                <a:latin typeface="Cambria Math" panose="02040503050406030204"/>
                                <a:ea typeface="Cambria Math" panose="02040503050406030204"/>
                              </a:rPr>
                              <m:t>t</m:t>
                            </m:r>
                          </m:sub>
                        </m:sSub>
                      </m:den>
                    </m:f>
                  </m:oMath>
                </a14:m>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，分别为：</a:t>
                </a:r>
                <a:endPar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1226" name="textbox 1226"/>
              <p:cNvSpPr>
                <a:spLocks noRot="1" noChangeAspect="1" noMove="1" noResize="1" noEditPoints="1" noAdjustHandles="1" noChangeArrowheads="1" noChangeShapeType="1" noTextEdit="1"/>
              </p:cNvSpPr>
              <p:nvPr/>
            </p:nvSpPr>
            <p:spPr>
              <a:xfrm>
                <a:off x="962025" y="3390900"/>
                <a:ext cx="5562600" cy="571500"/>
              </a:xfrm>
              <a:prstGeom prst="rect">
                <a:avLst/>
              </a:prstGeom>
              <a:blipFill rotWithShape="1">
                <a:blip r:embed="rId4"/>
                <a:stretch>
                  <a:fillRect/>
                </a:stretch>
              </a:blipFill>
              <a:ln w="0" cap="flat">
                <a:noFill/>
                <a:prstDash val="solid"/>
                <a:miter lim="0"/>
              </a:ln>
            </p:spPr>
            <p:txBody>
              <a:bodyPr/>
              <a:lstStyle/>
              <a:p>
                <a:r>
                  <a:rPr lang="zh-CN" altLang="en-US">
                    <a:noFill/>
                  </a:rPr>
                  <a:t> </a:t>
                </a:r>
              </a:p>
            </p:txBody>
          </p:sp>
        </mc:Fallback>
      </mc:AlternateContent>
      <p:sp>
        <p:nvSpPr>
          <p:cNvPr id="1232" name="textbox 1232"/>
          <p:cNvSpPr/>
          <p:nvPr/>
        </p:nvSpPr>
        <p:spPr>
          <a:xfrm>
            <a:off x="266700" y="6724650"/>
            <a:ext cx="74104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哈尔滨工业大学土木工程学院，可靠性与韧性工程研究团队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1234" name="textbox 1234"/>
          <p:cNvSpPr/>
          <p:nvPr/>
        </p:nvSpPr>
        <p:spPr>
          <a:xfrm>
            <a:off x="11772900" y="6734175"/>
            <a:ext cx="13335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30</a:t>
            </a:r>
            <a:endParaRPr sz="1000" dirty="0"/>
          </a:p>
        </p:txBody>
      </p:sp>
      <p:pic>
        <p:nvPicPr>
          <p:cNvPr id="10" name="picture 10"/>
          <p:cNvPicPr>
            <a:picLocks noChangeAspect="1"/>
          </p:cNvPicPr>
          <p:nvPr/>
        </p:nvPicPr>
        <p:blipFill>
          <a:blip r:embed="rId5"/>
          <a:stretch>
            <a:fillRect/>
          </a:stretch>
        </p:blipFill>
        <p:spPr>
          <a:xfrm rot="21600000">
            <a:off x="298460" y="2292355"/>
            <a:ext cx="11576059" cy="800122"/>
          </a:xfrm>
          <a:prstGeom prst="rect">
            <a:avLst/>
          </a:prstGeom>
        </p:spPr>
      </p:pic>
      <p:pic>
        <p:nvPicPr>
          <p:cNvPr id="12" name="picture 12"/>
          <p:cNvPicPr>
            <a:picLocks noChangeAspect="1"/>
          </p:cNvPicPr>
          <p:nvPr/>
        </p:nvPicPr>
        <p:blipFill>
          <a:blip r:embed="rId6"/>
          <a:stretch>
            <a:fillRect/>
          </a:stretch>
        </p:blipFill>
        <p:spPr>
          <a:xfrm rot="21600000">
            <a:off x="857219" y="5149878"/>
            <a:ext cx="5670620" cy="1365222"/>
          </a:xfrm>
          <a:prstGeom prst="rect">
            <a:avLst/>
          </a:prstGeom>
        </p:spPr>
      </p:pic>
      <p:pic>
        <p:nvPicPr>
          <p:cNvPr id="14" name="picture 14"/>
          <p:cNvPicPr>
            <a:picLocks noChangeAspect="1"/>
          </p:cNvPicPr>
          <p:nvPr/>
        </p:nvPicPr>
        <p:blipFill>
          <a:blip r:embed="rId7"/>
          <a:stretch>
            <a:fillRect/>
          </a:stretch>
        </p:blipFill>
        <p:spPr>
          <a:xfrm rot="21600000">
            <a:off x="1225539" y="4057672"/>
            <a:ext cx="7359700" cy="87624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8" name="picture 1238"/>
          <p:cNvPicPr>
            <a:picLocks noChangeAspect="1"/>
          </p:cNvPicPr>
          <p:nvPr/>
        </p:nvPicPr>
        <p:blipFill>
          <a:blip r:embed="rId1"/>
          <a:stretch>
            <a:fillRect/>
          </a:stretch>
        </p:blipFill>
        <p:spPr>
          <a:xfrm>
            <a:off x="0" y="0"/>
            <a:ext cx="12192000" cy="6858000"/>
          </a:xfrm>
          <a:prstGeom prst="rect">
            <a:avLst/>
          </a:prstGeom>
        </p:spPr>
      </p:pic>
      <p:pic>
        <p:nvPicPr>
          <p:cNvPr id="1242" name="picture 1242"/>
          <p:cNvPicPr>
            <a:picLocks noChangeAspect="1"/>
          </p:cNvPicPr>
          <p:nvPr/>
        </p:nvPicPr>
        <p:blipFill>
          <a:blip r:embed="rId2"/>
          <a:stretch>
            <a:fillRect/>
          </a:stretch>
        </p:blipFill>
        <p:spPr>
          <a:xfrm>
            <a:off x="1228725" y="752475"/>
            <a:ext cx="1285875" cy="1181100"/>
          </a:xfrm>
          <a:prstGeom prst="rect">
            <a:avLst/>
          </a:prstGeom>
        </p:spPr>
      </p:pic>
      <p:sp>
        <p:nvSpPr>
          <p:cNvPr id="1244" name="textbox 1244"/>
          <p:cNvSpPr/>
          <p:nvPr/>
        </p:nvSpPr>
        <p:spPr>
          <a:xfrm>
            <a:off x="1676400" y="3105150"/>
            <a:ext cx="400050" cy="523875"/>
          </a:xfrm>
          <a:prstGeom prst="rect">
            <a:avLst/>
          </a:prstGeom>
          <a:noFill/>
          <a:ln w="0" cap="flat">
            <a:noFill/>
            <a:prstDash val="solid"/>
            <a:miter lim="0"/>
          </a:ln>
        </p:spPr>
        <p:txBody>
          <a:bodyPr vert="horz" wrap="none" lIns="0" tIns="0" rIns="0" bIns="0"/>
          <a:lstStyle/>
          <a:p>
            <a:pPr algn="l" rtl="0" eaLnBrk="0"/>
            <a:r>
              <a:rPr sz="5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4</a:t>
            </a:r>
            <a:endParaRPr sz="5400" dirty="0"/>
          </a:p>
        </p:txBody>
      </p:sp>
      <p:sp>
        <p:nvSpPr>
          <p:cNvPr id="1246" name="textbox 1246"/>
          <p:cNvSpPr/>
          <p:nvPr/>
        </p:nvSpPr>
        <p:spPr>
          <a:xfrm>
            <a:off x="5181600" y="1809750"/>
            <a:ext cx="5695950" cy="1504950"/>
          </a:xfrm>
          <a:prstGeom prst="rect">
            <a:avLst/>
          </a:prstGeom>
          <a:noFill/>
          <a:ln w="0" cap="flat">
            <a:noFill/>
            <a:prstDash val="solid"/>
            <a:miter lim="0"/>
          </a:ln>
        </p:spPr>
        <p:txBody>
          <a:bodyPr vert="horz" wrap="none" lIns="0" tIns="0" rIns="0" bIns="0"/>
          <a:lstStyle/>
          <a:p>
            <a:pPr marL="323850" algn="l" rtl="0" eaLnBrk="0"/>
            <a:r>
              <a:rPr sz="4800" b="1" kern="0" spc="0" dirty="0">
                <a:solidFill>
                  <a:srgbClr val="1F2D52">
                    <a:alpha val="100000"/>
                  </a:srgbClr>
                </a:solidFill>
                <a:latin typeface="微软雅黑" panose="020B0503020204020204" charset="-122"/>
                <a:ea typeface="微软雅黑" panose="020B0503020204020204" charset="-122"/>
                <a:cs typeface="微软雅黑" panose="020B0503020204020204" charset="-122"/>
              </a:rPr>
              <a:t>降维积分法与先进</a:t>
            </a:r>
            <a:endParaRPr sz="4800" dirty="0"/>
          </a:p>
          <a:p>
            <a:pPr algn="l" rtl="0" eaLnBrk="0">
              <a:spcBef>
                <a:spcPts val="1200"/>
              </a:spcBef>
            </a:pPr>
            <a:r>
              <a:rPr sz="4800" b="1" kern="0" spc="0" dirty="0">
                <a:solidFill>
                  <a:srgbClr val="1F2D52">
                    <a:alpha val="100000"/>
                  </a:srgbClr>
                </a:solidFill>
                <a:latin typeface="微软雅黑" panose="020B0503020204020204" charset="-122"/>
                <a:ea typeface="微软雅黑" panose="020B0503020204020204" charset="-122"/>
                <a:cs typeface="微软雅黑" panose="020B0503020204020204" charset="-122"/>
              </a:rPr>
              <a:t>数值积分算法的融合</a:t>
            </a:r>
            <a:endParaRPr sz="4800" dirty="0"/>
          </a:p>
        </p:txBody>
      </p:sp>
      <p:sp>
        <p:nvSpPr>
          <p:cNvPr id="1248" name="textbox 1248"/>
          <p:cNvSpPr/>
          <p:nvPr/>
        </p:nvSpPr>
        <p:spPr>
          <a:xfrm>
            <a:off x="4610100" y="3924300"/>
            <a:ext cx="6829425" cy="762000"/>
          </a:xfrm>
          <a:prstGeom prst="rect">
            <a:avLst/>
          </a:prstGeom>
          <a:noFill/>
          <a:ln w="0" cap="flat">
            <a:noFill/>
            <a:prstDash val="solid"/>
            <a:miter lim="0"/>
          </a:ln>
        </p:spPr>
        <p:txBody>
          <a:bodyPr vert="horz" wrap="none" lIns="0" tIns="0" rIns="0" bIns="0"/>
          <a:lstStyle/>
          <a:p>
            <a:pPr algn="l" rtl="0" eaLnBrk="0"/>
            <a:r>
              <a:rPr sz="2000" kern="0" spc="0" dirty="0">
                <a:solidFill>
                  <a:srgbClr val="22315E">
                    <a:alpha val="100000"/>
                  </a:srgbClr>
                </a:solidFill>
                <a:latin typeface="Arial" panose="020B0604020202020204"/>
                <a:ea typeface="Arial" panose="020B0604020202020204"/>
                <a:cs typeface="Arial" panose="020B0604020202020204"/>
              </a:rPr>
              <a:t>Integration of Dimension-Reduction Integration Methods with</a:t>
            </a:r>
            <a:endParaRPr sz="2000" dirty="0"/>
          </a:p>
          <a:p>
            <a:pPr marL="952500" algn="l" rtl="0" eaLnBrk="0">
              <a:spcBef>
                <a:spcPts val="1425"/>
              </a:spcBef>
            </a:pPr>
            <a:r>
              <a:rPr sz="2000" kern="0" spc="0" dirty="0">
                <a:solidFill>
                  <a:srgbClr val="22315E">
                    <a:alpha val="100000"/>
                  </a:srgbClr>
                </a:solidFill>
                <a:latin typeface="Arial" panose="020B0604020202020204"/>
                <a:ea typeface="Arial" panose="020B0604020202020204"/>
                <a:cs typeface="Arial" panose="020B0604020202020204"/>
              </a:rPr>
              <a:t>Advanced Numerical Integration Algorithms</a:t>
            </a:r>
            <a:endParaRPr sz="2000" dirty="0"/>
          </a:p>
        </p:txBody>
      </p:sp>
      <p:sp>
        <p:nvSpPr>
          <p:cNvPr id="1250" name="textbox 1250"/>
          <p:cNvSpPr/>
          <p:nvPr/>
        </p:nvSpPr>
        <p:spPr>
          <a:xfrm>
            <a:off x="914400" y="3990975"/>
            <a:ext cx="1943100" cy="323850"/>
          </a:xfrm>
          <a:prstGeom prst="rect">
            <a:avLst/>
          </a:prstGeom>
          <a:noFill/>
          <a:ln w="0" cap="flat">
            <a:noFill/>
            <a:prstDash val="solid"/>
            <a:miter lim="0"/>
          </a:ln>
        </p:spPr>
        <p:txBody>
          <a:bodyPr vert="horz" wrap="none" lIns="0" tIns="0" rIns="0" bIns="0"/>
          <a:lstStyle/>
          <a:p>
            <a:pPr algn="l" rtl="0" eaLnBrk="0"/>
            <a:r>
              <a:rPr sz="2700" kern="0" spc="0" dirty="0">
                <a:solidFill>
                  <a:srgbClr val="FFFFFF">
                    <a:alpha val="100000"/>
                  </a:srgbClr>
                </a:solidFill>
                <a:latin typeface="Arial" panose="020B0604020202020204"/>
                <a:ea typeface="Arial" panose="020B0604020202020204"/>
                <a:cs typeface="Arial" panose="020B0604020202020204"/>
              </a:rPr>
              <a:t>PART FOUR</a:t>
            </a:r>
            <a:endParaRPr sz="2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4" name="picture 1254"/>
          <p:cNvPicPr>
            <a:picLocks noChangeAspect="1"/>
          </p:cNvPicPr>
          <p:nvPr/>
        </p:nvPicPr>
        <p:blipFill>
          <a:blip r:embed="rId1"/>
          <a:stretch>
            <a:fillRect/>
          </a:stretch>
        </p:blipFill>
        <p:spPr>
          <a:xfrm>
            <a:off x="0" y="0"/>
            <a:ext cx="12192000" cy="6858000"/>
          </a:xfrm>
          <a:prstGeom prst="rect">
            <a:avLst/>
          </a:prstGeom>
        </p:spPr>
      </p:pic>
      <p:sp>
        <p:nvSpPr>
          <p:cNvPr id="1256" name="textbox 1256"/>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258" name="textbox 1258"/>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汉仪楷体简"/>
                <a:ea typeface="汉仪楷体简"/>
                <a:cs typeface="汉仪楷体简"/>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汉仪楷体简"/>
                <a:ea typeface="汉仪楷体简"/>
                <a:cs typeface="汉仪楷体简"/>
              </a:rPr>
              <a:t>研究进展</a:t>
            </a:r>
            <a:endParaRPr sz="1000" dirty="0"/>
          </a:p>
        </p:txBody>
      </p:sp>
      <p:sp>
        <p:nvSpPr>
          <p:cNvPr id="1260" name="textbox 126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264" name="picture 1264"/>
          <p:cNvPicPr>
            <a:picLocks noChangeAspect="1"/>
          </p:cNvPicPr>
          <p:nvPr/>
        </p:nvPicPr>
        <p:blipFill>
          <a:blip r:embed="rId2"/>
          <a:stretch>
            <a:fillRect/>
          </a:stretch>
        </p:blipFill>
        <p:spPr>
          <a:xfrm>
            <a:off x="295275" y="247650"/>
            <a:ext cx="733425" cy="666750"/>
          </a:xfrm>
          <a:prstGeom prst="rect">
            <a:avLst/>
          </a:prstGeom>
        </p:spPr>
      </p:pic>
      <p:sp>
        <p:nvSpPr>
          <p:cNvPr id="1266" name="textbox 1266"/>
          <p:cNvSpPr/>
          <p:nvPr/>
        </p:nvSpPr>
        <p:spPr>
          <a:xfrm>
            <a:off x="1457325" y="333375"/>
            <a:ext cx="412432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268" name="textbox 1268"/>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270" name="textbox 1270"/>
          <p:cNvSpPr/>
          <p:nvPr/>
        </p:nvSpPr>
        <p:spPr>
          <a:xfrm>
            <a:off x="4791075" y="1371600"/>
            <a:ext cx="2295525" cy="342900"/>
          </a:xfrm>
          <a:prstGeom prst="rect">
            <a:avLst/>
          </a:prstGeom>
          <a:noFill/>
          <a:ln w="0" cap="flat">
            <a:noFill/>
            <a:prstDash val="solid"/>
            <a:miter lim="0"/>
          </a:ln>
        </p:spPr>
        <p:txBody>
          <a:bodyPr vert="horz" wrap="none" lIns="0" tIns="0" rIns="0" bIns="0"/>
          <a:lstStyle/>
          <a:p>
            <a:pPr algn="l" rtl="0" eaLnBrk="0"/>
            <a:r>
              <a:rPr sz="24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高阶无迹变换法</a:t>
            </a:r>
            <a:endParaRPr sz="2400" dirty="0"/>
          </a:p>
        </p:txBody>
      </p:sp>
      <p:sp>
        <p:nvSpPr>
          <p:cNvPr id="1272" name="textbox 1272"/>
          <p:cNvSpPr/>
          <p:nvPr/>
        </p:nvSpPr>
        <p:spPr>
          <a:xfrm>
            <a:off x="4191000" y="1914525"/>
            <a:ext cx="3324225" cy="161925"/>
          </a:xfrm>
          <a:prstGeom prst="rect">
            <a:avLst/>
          </a:prstGeom>
          <a:noFill/>
          <a:ln w="0" cap="flat">
            <a:noFill/>
            <a:prstDash val="solid"/>
            <a:miter lim="0"/>
          </a:ln>
        </p:spPr>
        <p:txBody>
          <a:bodyPr vert="horz" wrap="none" lIns="0" tIns="0" rIns="0" bIns="0"/>
          <a:lstStyle/>
          <a:p>
            <a:pPr algn="l" rtl="0" eaLnBrk="0"/>
            <a:r>
              <a:rPr sz="1200" kern="0" spc="0" dirty="0">
                <a:solidFill>
                  <a:srgbClr val="7030A0">
                    <a:alpha val="100000"/>
                  </a:srgbClr>
                </a:solidFill>
                <a:latin typeface="Times New Roman" panose="02020603050405020304"/>
                <a:ea typeface="Times New Roman" panose="02020603050405020304"/>
                <a:cs typeface="Times New Roman" panose="02020603050405020304"/>
              </a:rPr>
              <a:t>High-order Unscented Transformation (HUT) Method</a:t>
            </a:r>
            <a:endParaRPr sz="1200" dirty="0"/>
          </a:p>
        </p:txBody>
      </p:sp>
      <p:sp>
        <p:nvSpPr>
          <p:cNvPr id="1274" name="textbox 1274"/>
          <p:cNvSpPr/>
          <p:nvPr/>
        </p:nvSpPr>
        <p:spPr>
          <a:xfrm>
            <a:off x="638175" y="3371850"/>
            <a:ext cx="1571625" cy="40957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融合算法</a:t>
            </a:r>
            <a:r>
              <a:rPr sz="2800" b="1" kern="0" spc="0" dirty="0">
                <a:solidFill>
                  <a:srgbClr val="FFFFFF">
                    <a:alpha val="100000"/>
                  </a:srgbClr>
                </a:solidFill>
                <a:latin typeface="Times New Roman" panose="02020603050405020304"/>
                <a:ea typeface="Times New Roman" panose="02020603050405020304"/>
                <a:cs typeface="Times New Roman" panose="02020603050405020304"/>
              </a:rPr>
              <a:t>:</a:t>
            </a:r>
            <a:endParaRPr sz="2800" dirty="0"/>
          </a:p>
        </p:txBody>
      </p:sp>
      <p:sp>
        <p:nvSpPr>
          <p:cNvPr id="1276" name="textbox 1276"/>
          <p:cNvSpPr/>
          <p:nvPr/>
        </p:nvSpPr>
        <p:spPr>
          <a:xfrm>
            <a:off x="666750" y="3810000"/>
            <a:ext cx="1504950"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Times New Roman" panose="02020603050405020304"/>
                <a:ea typeface="Times New Roman" panose="02020603050405020304"/>
                <a:cs typeface="Times New Roman" panose="02020603050405020304"/>
              </a:rPr>
              <a:t>Integration Methods</a:t>
            </a:r>
            <a:endParaRPr sz="1400" dirty="0"/>
          </a:p>
        </p:txBody>
      </p:sp>
      <p:sp>
        <p:nvSpPr>
          <p:cNvPr id="1278" name="textbox 1278"/>
          <p:cNvSpPr/>
          <p:nvPr/>
        </p:nvSpPr>
        <p:spPr>
          <a:xfrm>
            <a:off x="4819650" y="3248025"/>
            <a:ext cx="2286000" cy="352425"/>
          </a:xfrm>
          <a:prstGeom prst="rect">
            <a:avLst/>
          </a:prstGeom>
          <a:noFill/>
          <a:ln w="0" cap="flat">
            <a:noFill/>
            <a:prstDash val="solid"/>
            <a:miter lim="0"/>
          </a:ln>
        </p:spPr>
        <p:txBody>
          <a:bodyPr vert="horz" wrap="none" lIns="0" tIns="0" rIns="0" bIns="0"/>
          <a:lstStyle/>
          <a:p>
            <a:pPr algn="l" rtl="0" eaLnBrk="0"/>
            <a:r>
              <a:rPr sz="24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共轭无迹变换法</a:t>
            </a:r>
            <a:endParaRPr sz="2400" dirty="0"/>
          </a:p>
        </p:txBody>
      </p:sp>
      <p:sp>
        <p:nvSpPr>
          <p:cNvPr id="1280" name="textbox 1280"/>
          <p:cNvSpPr/>
          <p:nvPr/>
        </p:nvSpPr>
        <p:spPr>
          <a:xfrm>
            <a:off x="4476750" y="3762375"/>
            <a:ext cx="2990850" cy="161925"/>
          </a:xfrm>
          <a:prstGeom prst="rect">
            <a:avLst/>
          </a:prstGeom>
          <a:noFill/>
          <a:ln w="0" cap="flat">
            <a:noFill/>
            <a:prstDash val="solid"/>
            <a:miter lim="0"/>
          </a:ln>
        </p:spPr>
        <p:txBody>
          <a:bodyPr vert="horz" wrap="none" lIns="0" tIns="0" rIns="0" bIns="0"/>
          <a:lstStyle/>
          <a:p>
            <a:pPr algn="l" rtl="0" eaLnBrk="0"/>
            <a:r>
              <a:rPr sz="1200" kern="0" spc="0" dirty="0">
                <a:solidFill>
                  <a:srgbClr val="630072">
                    <a:alpha val="100000"/>
                  </a:srgbClr>
                </a:solidFill>
                <a:latin typeface="Times New Roman" panose="02020603050405020304"/>
                <a:ea typeface="Times New Roman" panose="02020603050405020304"/>
                <a:cs typeface="Times New Roman" panose="02020603050405020304"/>
              </a:rPr>
              <a:t>Conjugate Unscented Transform (CUT) Method</a:t>
            </a:r>
            <a:endParaRPr sz="1200" dirty="0"/>
          </a:p>
        </p:txBody>
      </p:sp>
      <p:pic>
        <p:nvPicPr>
          <p:cNvPr id="1284" name="picture 1284"/>
          <p:cNvPicPr>
            <a:picLocks noChangeAspect="1"/>
          </p:cNvPicPr>
          <p:nvPr/>
        </p:nvPicPr>
        <p:blipFill>
          <a:blip r:embed="rId3"/>
          <a:stretch>
            <a:fillRect/>
          </a:stretch>
        </p:blipFill>
        <p:spPr>
          <a:xfrm>
            <a:off x="8791575" y="2085975"/>
            <a:ext cx="381000" cy="3286125"/>
          </a:xfrm>
          <a:prstGeom prst="rect">
            <a:avLst/>
          </a:prstGeom>
        </p:spPr>
      </p:pic>
      <p:sp>
        <p:nvSpPr>
          <p:cNvPr id="1286" name="textbox 1286"/>
          <p:cNvSpPr/>
          <p:nvPr/>
        </p:nvSpPr>
        <p:spPr>
          <a:xfrm>
            <a:off x="9286875" y="3314700"/>
            <a:ext cx="2571750" cy="676275"/>
          </a:xfrm>
          <a:prstGeom prst="rect">
            <a:avLst/>
          </a:prstGeom>
          <a:noFill/>
          <a:ln w="0" cap="flat">
            <a:noFill/>
            <a:prstDash val="solid"/>
            <a:miter lim="0"/>
          </a:ln>
        </p:spPr>
        <p:txBody>
          <a:bodyPr vert="horz" wrap="none" lIns="0" tIns="0" rIns="0" bIns="0"/>
          <a:lstStyle/>
          <a:p>
            <a:pPr algn="l" rtl="0" eaLnBrk="0"/>
            <a:r>
              <a:rPr sz="18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用于高效精确地估计随机</a:t>
            </a:r>
            <a:endParaRPr sz="1800" dirty="0">
              <a:solidFill>
                <a:srgbClr val="0070BC"/>
              </a:solidFill>
            </a:endParaRPr>
          </a:p>
          <a:p>
            <a:pPr algn="l" rtl="0" eaLnBrk="0">
              <a:spcBef>
                <a:spcPts val="1275"/>
              </a:spcBef>
            </a:pPr>
            <a:r>
              <a:rPr sz="18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系统响应函数 </a:t>
            </a:r>
            <a:r>
              <a:rPr sz="1800"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8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的统计矩</a:t>
            </a:r>
            <a:endParaRPr sz="18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288" name="textbox 1288"/>
          <p:cNvSpPr/>
          <p:nvPr/>
        </p:nvSpPr>
        <p:spPr>
          <a:xfrm>
            <a:off x="4781550" y="5372100"/>
            <a:ext cx="2305050" cy="342900"/>
          </a:xfrm>
          <a:prstGeom prst="rect">
            <a:avLst/>
          </a:prstGeom>
          <a:noFill/>
          <a:ln w="0" cap="flat">
            <a:noFill/>
            <a:prstDash val="solid"/>
            <a:miter lim="0"/>
          </a:ln>
        </p:spPr>
        <p:txBody>
          <a:bodyPr vert="horz" wrap="none" lIns="0" tIns="0" rIns="0" bIns="0"/>
          <a:lstStyle/>
          <a:p>
            <a:pPr algn="l" rtl="0" eaLnBrk="0"/>
            <a:r>
              <a:rPr sz="24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稀疏网格积分法</a:t>
            </a:r>
            <a:endParaRPr sz="2400" dirty="0"/>
          </a:p>
        </p:txBody>
      </p:sp>
      <p:sp>
        <p:nvSpPr>
          <p:cNvPr id="1290" name="textbox 1290"/>
          <p:cNvSpPr/>
          <p:nvPr/>
        </p:nvSpPr>
        <p:spPr>
          <a:xfrm>
            <a:off x="4762500" y="5857875"/>
            <a:ext cx="2371725" cy="190500"/>
          </a:xfrm>
          <a:prstGeom prst="rect">
            <a:avLst/>
          </a:prstGeom>
          <a:noFill/>
          <a:ln w="0" cap="flat">
            <a:noFill/>
            <a:prstDash val="solid"/>
            <a:miter lim="0"/>
          </a:ln>
        </p:spPr>
        <p:txBody>
          <a:bodyPr vert="horz" wrap="none" lIns="0" tIns="0" rIns="0" bIns="0"/>
          <a:lstStyle/>
          <a:p>
            <a:pPr algn="l" rtl="0" eaLnBrk="0"/>
            <a:r>
              <a:rPr sz="1200" kern="0" spc="0" dirty="0">
                <a:solidFill>
                  <a:srgbClr val="7030A0">
                    <a:alpha val="100000"/>
                  </a:srgbClr>
                </a:solidFill>
                <a:latin typeface="Times New Roman" panose="02020603050405020304"/>
                <a:ea typeface="Times New Roman" panose="02020603050405020304"/>
                <a:cs typeface="Times New Roman" panose="02020603050405020304"/>
              </a:rPr>
              <a:t>Sparse Grid Integration (SGI) Method</a:t>
            </a:r>
            <a:endParaRPr sz="1200" dirty="0"/>
          </a:p>
        </p:txBody>
      </p:sp>
      <p:sp>
        <p:nvSpPr>
          <p:cNvPr id="1292" name="textbox 129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
        <p:nvSpPr>
          <p:cNvPr id="1294" name="textbox 1294"/>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7F7F7F">
                    <a:alpha val="100000"/>
                  </a:srgbClr>
                </a:solidFill>
                <a:latin typeface="Arial" panose="020B0604020202020204"/>
                <a:ea typeface="Arial" panose="020B0604020202020204"/>
                <a:cs typeface="Arial" panose="020B0604020202020204"/>
              </a:rPr>
              <a:t>32</a:t>
            </a:r>
            <a:endParaRPr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8" name="picture 1298"/>
          <p:cNvPicPr>
            <a:picLocks noChangeAspect="1"/>
          </p:cNvPicPr>
          <p:nvPr/>
        </p:nvPicPr>
        <p:blipFill>
          <a:blip r:embed="rId1"/>
          <a:stretch>
            <a:fillRect/>
          </a:stretch>
        </p:blipFill>
        <p:spPr>
          <a:xfrm>
            <a:off x="0" y="0"/>
            <a:ext cx="12192000" cy="6858000"/>
          </a:xfrm>
          <a:prstGeom prst="rect">
            <a:avLst/>
          </a:prstGeom>
        </p:spPr>
      </p:pic>
      <p:sp>
        <p:nvSpPr>
          <p:cNvPr id="1300" name="textbox 1300"/>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1302" name="textbox 1302"/>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华文新魏" panose="02010800040101010101" charset="-122"/>
                <a:ea typeface="华文新魏" panose="02010800040101010101" charset="-122"/>
                <a:cs typeface="华文新魏" panose="0201080004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华文新魏" panose="02010800040101010101" charset="-122"/>
                <a:ea typeface="华文新魏" panose="02010800040101010101" charset="-122"/>
                <a:cs typeface="华文新魏" panose="02010800040101010101" charset="-122"/>
              </a:rPr>
              <a:t>研究进展</a:t>
            </a:r>
            <a:endParaRPr sz="1000" dirty="0"/>
          </a:p>
        </p:txBody>
      </p:sp>
      <p:sp>
        <p:nvSpPr>
          <p:cNvPr id="1304" name="textbox 130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56C94">
                    <a:alpha val="100000"/>
                  </a:srgbClr>
                </a:solidFill>
                <a:latin typeface="华文楷体" panose="02010600040101010101" charset="-122"/>
                <a:ea typeface="华文楷体" panose="02010600040101010101" charset="-122"/>
                <a:cs typeface="华文楷体" panose="02010600040101010101" charset="-122"/>
              </a:rPr>
              <a:t>第三届复杂装备可靠性工程与科学研讨会暨第十二届模型验证与确认专题研讨会</a:t>
            </a:r>
            <a:endParaRPr sz="1000" dirty="0"/>
          </a:p>
        </p:txBody>
      </p:sp>
      <p:pic>
        <p:nvPicPr>
          <p:cNvPr id="1308" name="picture 1308"/>
          <p:cNvPicPr>
            <a:picLocks noChangeAspect="1"/>
          </p:cNvPicPr>
          <p:nvPr/>
        </p:nvPicPr>
        <p:blipFill>
          <a:blip r:embed="rId2"/>
          <a:stretch>
            <a:fillRect/>
          </a:stretch>
        </p:blipFill>
        <p:spPr>
          <a:xfrm>
            <a:off x="295275" y="247650"/>
            <a:ext cx="733425" cy="666750"/>
          </a:xfrm>
          <a:prstGeom prst="rect">
            <a:avLst/>
          </a:prstGeom>
        </p:spPr>
      </p:pic>
      <p:sp>
        <p:nvSpPr>
          <p:cNvPr id="1310" name="textbox 1310"/>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312" name="textbox 1312"/>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pic>
        <p:nvPicPr>
          <p:cNvPr id="1316" name="picture 1316"/>
          <p:cNvPicPr>
            <a:picLocks noChangeAspect="1"/>
          </p:cNvPicPr>
          <p:nvPr/>
        </p:nvPicPr>
        <p:blipFill>
          <a:blip r:embed="rId3"/>
          <a:stretch>
            <a:fillRect/>
          </a:stretch>
        </p:blipFill>
        <p:spPr>
          <a:xfrm>
            <a:off x="781050" y="1085850"/>
            <a:ext cx="400050" cy="400050"/>
          </a:xfrm>
          <a:prstGeom prst="rect">
            <a:avLst/>
          </a:prstGeom>
        </p:spPr>
      </p:pic>
      <p:sp>
        <p:nvSpPr>
          <p:cNvPr id="1318" name="textbox 1318"/>
          <p:cNvSpPr/>
          <p:nvPr/>
        </p:nvSpPr>
        <p:spPr>
          <a:xfrm>
            <a:off x="1466850" y="1123950"/>
            <a:ext cx="1114425" cy="285750"/>
          </a:xfrm>
          <a:prstGeom prst="rect">
            <a:avLst/>
          </a:prstGeom>
          <a:noFill/>
          <a:ln w="0" cap="flat">
            <a:noFill/>
            <a:prstDash val="solid"/>
            <a:miter lim="0"/>
          </a:ln>
        </p:spPr>
        <p:txBody>
          <a:bodyPr vert="horz" wrap="none" lIns="0" tIns="0" rIns="0" bIns="0"/>
          <a:lstStyle/>
          <a:p>
            <a:pPr algn="l" rtl="0" eaLnBrk="0"/>
            <a:r>
              <a:rPr sz="2100" b="1" kern="0" spc="0" dirty="0">
                <a:solidFill>
                  <a:srgbClr val="0066CC">
                    <a:alpha val="100000"/>
                  </a:srgbClr>
                </a:solidFill>
                <a:latin typeface="黑体" panose="02010609060101010101" charset="-122"/>
                <a:ea typeface="黑体" panose="02010609060101010101" charset="-122"/>
                <a:cs typeface="黑体" panose="02010609060101010101" charset="-122"/>
              </a:rPr>
              <a:t>无迹变换</a:t>
            </a:r>
            <a:endParaRPr sz="2100" dirty="0"/>
          </a:p>
        </p:txBody>
      </p:sp>
      <p:sp>
        <p:nvSpPr>
          <p:cNvPr id="1320" name="textbox 1320"/>
          <p:cNvSpPr/>
          <p:nvPr/>
        </p:nvSpPr>
        <p:spPr>
          <a:xfrm>
            <a:off x="1466850" y="1466850"/>
            <a:ext cx="2028825"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About Unscented Transformation (UT)</a:t>
            </a:r>
            <a:endParaRPr sz="1000" dirty="0"/>
          </a:p>
        </p:txBody>
      </p:sp>
      <p:sp>
        <p:nvSpPr>
          <p:cNvPr id="1322" name="textbox 1322"/>
          <p:cNvSpPr/>
          <p:nvPr/>
        </p:nvSpPr>
        <p:spPr>
          <a:xfrm>
            <a:off x="1447800" y="1743075"/>
            <a:ext cx="1962150" cy="247650"/>
          </a:xfrm>
          <a:prstGeom prst="rect">
            <a:avLst/>
          </a:prstGeom>
          <a:noFill/>
          <a:ln w="0" cap="flat">
            <a:noFill/>
            <a:prstDash val="solid"/>
            <a:miter lim="0"/>
          </a:ln>
        </p:spPr>
        <p:txBody>
          <a:bodyPr vert="horz" wrap="none" lIns="0" tIns="0" rIns="0" bIns="0"/>
          <a:lstStyle/>
          <a:p>
            <a:pPr algn="l" rtl="0" eaLnBrk="0"/>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非线性系统状态估计：</a:t>
            </a:r>
            <a:endPar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24" name="textbox 1324"/>
          <p:cNvSpPr/>
          <p:nvPr/>
        </p:nvSpPr>
        <p:spPr>
          <a:xfrm>
            <a:off x="1457325" y="2152650"/>
            <a:ext cx="9191625" cy="228600"/>
          </a:xfrm>
          <a:prstGeom prst="rect">
            <a:avLst/>
          </a:prstGeom>
          <a:noFill/>
          <a:ln w="0" cap="flat">
            <a:noFill/>
            <a:prstDash val="solid"/>
            <a:miter lim="0"/>
          </a:ln>
        </p:spPr>
        <p:txBody>
          <a:bodyPr vert="horz" wrap="none" lIns="0" tIns="0" rIns="0" bIns="0"/>
          <a:lstStyle/>
          <a:p>
            <a:pPr marL="285750" indent="-257175" algn="l" rtl="0" eaLnBrk="0">
              <a:buChar char="•"/>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传统方法：线性化（如 EKF）通过一阶泰勒展开近似非线性函数，但在高度非线性情况下误差较大。</a:t>
            </a:r>
            <a:endPar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26" name="textbox 1326"/>
          <p:cNvSpPr/>
          <p:nvPr/>
        </p:nvSpPr>
        <p:spPr>
          <a:xfrm>
            <a:off x="1447800" y="2533650"/>
            <a:ext cx="10267950" cy="571500"/>
          </a:xfrm>
          <a:prstGeom prst="rect">
            <a:avLst/>
          </a:prstGeom>
          <a:noFill/>
          <a:ln w="0" cap="flat">
            <a:noFill/>
            <a:prstDash val="solid"/>
            <a:miter lim="0"/>
          </a:ln>
        </p:spPr>
        <p:txBody>
          <a:bodyPr vert="horz" wrap="none" lIns="0" tIns="0" rIns="0" bIns="0"/>
          <a:lstStyle/>
          <a:p>
            <a:pPr marL="295275" indent="-266700" algn="l" rtl="0" eaLnBrk="0">
              <a:buChar char="•"/>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无迹变换：通过在输入分布上选择一组有代表性的“采样点”（Sigma points），将这些点通过非线性函数映射，</a:t>
            </a:r>
            <a:endParaRPr sz="1600" dirty="0">
              <a:solidFill>
                <a:srgbClr val="0070BC"/>
              </a:solidFill>
            </a:endParaRPr>
          </a:p>
          <a:p>
            <a:pPr marL="276225" algn="l" rtl="0" eaLnBrk="0">
              <a:spcBef>
                <a:spcPts val="750"/>
              </a:spcBef>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再用加权和来逼近输出分布，形成无迹卡尔曼滤波（UKF），提升对非线性系统的跟踪精度。</a:t>
            </a:r>
            <a:endPar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330" name="picture 1330"/>
          <p:cNvPicPr>
            <a:picLocks noChangeAspect="1"/>
          </p:cNvPicPr>
          <p:nvPr/>
        </p:nvPicPr>
        <p:blipFill>
          <a:blip r:embed="rId4"/>
          <a:stretch>
            <a:fillRect/>
          </a:stretch>
        </p:blipFill>
        <p:spPr>
          <a:xfrm>
            <a:off x="5314950" y="3267075"/>
            <a:ext cx="3086100" cy="3343275"/>
          </a:xfrm>
          <a:prstGeom prst="rect">
            <a:avLst/>
          </a:prstGeom>
        </p:spPr>
      </p:pic>
      <p:pic>
        <p:nvPicPr>
          <p:cNvPr id="1334" name="picture 1334"/>
          <p:cNvPicPr>
            <a:picLocks noChangeAspect="1"/>
          </p:cNvPicPr>
          <p:nvPr/>
        </p:nvPicPr>
        <p:blipFill>
          <a:blip r:embed="rId5"/>
          <a:stretch>
            <a:fillRect/>
          </a:stretch>
        </p:blipFill>
        <p:spPr>
          <a:xfrm>
            <a:off x="8486775" y="3267075"/>
            <a:ext cx="3095625" cy="3343275"/>
          </a:xfrm>
          <a:prstGeom prst="rect">
            <a:avLst/>
          </a:prstGeom>
        </p:spPr>
      </p:pic>
      <p:sp>
        <p:nvSpPr>
          <p:cNvPr id="1336" name="textbox 1336"/>
          <p:cNvSpPr/>
          <p:nvPr/>
        </p:nvSpPr>
        <p:spPr>
          <a:xfrm>
            <a:off x="285750" y="4019550"/>
            <a:ext cx="4552950" cy="552450"/>
          </a:xfrm>
          <a:prstGeom prst="rect">
            <a:avLst/>
          </a:prstGeom>
          <a:noFill/>
          <a:ln w="0" cap="flat">
            <a:noFill/>
            <a:prstDash val="solid"/>
            <a:miter lim="0"/>
          </a:ln>
        </p:spPr>
        <p:txBody>
          <a:bodyPr vert="horz" wrap="none" lIns="0" tIns="0" rIns="0" bIns="0"/>
          <a:lstStyle/>
          <a:p>
            <a:pPr marL="409575" indent="-381000" algn="l" rtl="0" eaLnBrk="0">
              <a:buChar char="•"/>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无迹变换 </a:t>
            </a:r>
            <a:r>
              <a:rPr sz="1600" kern="0" spc="0" dirty="0">
                <a:solidFill>
                  <a:srgbClr val="0070BC">
                    <a:alpha val="100000"/>
                  </a:srgbClr>
                </a:solidFill>
                <a:latin typeface="Times New Roman" panose="02020603050405020304"/>
                <a:ea typeface="Times New Roman" panose="02020603050405020304"/>
                <a:cs typeface="Times New Roman" panose="02020603050405020304"/>
              </a:rPr>
              <a:t>(UT): </a:t>
            </a: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通过有限 </a:t>
            </a:r>
            <a:r>
              <a:rPr sz="1600" kern="0" spc="0" dirty="0">
                <a:solidFill>
                  <a:srgbClr val="0070BC">
                    <a:alpha val="100000"/>
                  </a:srgbClr>
                </a:solidFill>
                <a:latin typeface="Times New Roman" panose="02020603050405020304"/>
                <a:ea typeface="Times New Roman" panose="02020603050405020304"/>
                <a:cs typeface="Times New Roman" panose="02020603050405020304"/>
              </a:rPr>
              <a:t>Sigma </a:t>
            </a: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点传播分布</a:t>
            </a:r>
            <a:r>
              <a:rPr sz="1600" kern="0" spc="0" dirty="0">
                <a:solidFill>
                  <a:srgbClr val="0070BC">
                    <a:alpha val="100000"/>
                  </a:srgbClr>
                </a:solidFill>
                <a:latin typeface="Times New Roman" panose="02020603050405020304"/>
                <a:ea typeface="Times New Roman" panose="02020603050405020304"/>
                <a:cs typeface="Times New Roman" panose="02020603050405020304"/>
              </a:rPr>
              <a:t>,</a:t>
            </a:r>
            <a:endParaRPr sz="1600" dirty="0">
              <a:solidFill>
                <a:srgbClr val="0070BC"/>
              </a:solidFill>
            </a:endParaRPr>
          </a:p>
          <a:p>
            <a:pPr marL="400050" algn="l" rtl="0" eaLnBrk="0">
              <a:spcBef>
                <a:spcPts val="675"/>
              </a:spcBef>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精确到二阶矩，适合低维非线性系统。</a:t>
            </a:r>
            <a:endPar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38" name="textbox 1338"/>
          <p:cNvSpPr/>
          <p:nvPr/>
        </p:nvSpPr>
        <p:spPr>
          <a:xfrm>
            <a:off x="276225" y="4933950"/>
            <a:ext cx="4581525" cy="561975"/>
          </a:xfrm>
          <a:prstGeom prst="rect">
            <a:avLst/>
          </a:prstGeom>
          <a:noFill/>
          <a:ln w="0" cap="flat">
            <a:noFill/>
            <a:prstDash val="solid"/>
            <a:miter lim="0"/>
          </a:ln>
        </p:spPr>
        <p:txBody>
          <a:bodyPr vert="horz" wrap="none" lIns="0" tIns="0" rIns="0" bIns="0"/>
          <a:lstStyle/>
          <a:p>
            <a:pPr marL="419100" indent="-390525" algn="l" rtl="0" eaLnBrk="0">
              <a:buChar char="•"/>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共轭无迹变换 </a:t>
            </a:r>
            <a:r>
              <a:rPr sz="1600" kern="0" spc="0" dirty="0">
                <a:solidFill>
                  <a:srgbClr val="0070BC">
                    <a:alpha val="100000"/>
                  </a:srgbClr>
                </a:solidFill>
                <a:latin typeface="Times New Roman" panose="02020603050405020304"/>
                <a:ea typeface="Times New Roman" panose="02020603050405020304"/>
                <a:cs typeface="Times New Roman" panose="02020603050405020304"/>
              </a:rPr>
              <a:t>(CUT)</a:t>
            </a: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：利用对称点集结构，在</a:t>
            </a:r>
            <a:endParaRPr sz="1600" dirty="0">
              <a:solidFill>
                <a:srgbClr val="0070BC"/>
              </a:solidFill>
            </a:endParaRPr>
          </a:p>
          <a:p>
            <a:pPr marL="409575" algn="l" rtl="0" eaLnBrk="0">
              <a:spcBef>
                <a:spcPts val="675"/>
              </a:spcBef>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高维下减少采样点并保证高阶精度，更高效。</a:t>
            </a:r>
            <a:endPar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40" name="textbox 1340"/>
          <p:cNvSpPr/>
          <p:nvPr/>
        </p:nvSpPr>
        <p:spPr>
          <a:xfrm>
            <a:off x="257175" y="6724650"/>
            <a:ext cx="7439025" cy="1238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哈尔滨工业大学土木工程学院。可靠性与韧性工程研究团队 (Reliability And Resilience Engineering Research Group, RARE @HIT)</a:t>
            </a:r>
            <a:endParaRPr sz="1000" dirty="0"/>
          </a:p>
        </p:txBody>
      </p:sp>
      <p:sp>
        <p:nvSpPr>
          <p:cNvPr id="1342" name="textbox 1342"/>
          <p:cNvSpPr/>
          <p:nvPr/>
        </p:nvSpPr>
        <p:spPr>
          <a:xfrm>
            <a:off x="11763375" y="6734175"/>
            <a:ext cx="171450" cy="114300"/>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33</a:t>
            </a:r>
            <a:endParaRPr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6" name="picture 1346"/>
          <p:cNvPicPr>
            <a:picLocks noChangeAspect="1"/>
          </p:cNvPicPr>
          <p:nvPr/>
        </p:nvPicPr>
        <p:blipFill>
          <a:blip r:embed="rId1"/>
          <a:stretch>
            <a:fillRect/>
          </a:stretch>
        </p:blipFill>
        <p:spPr>
          <a:xfrm>
            <a:off x="0" y="0"/>
            <a:ext cx="12192000" cy="6858000"/>
          </a:xfrm>
          <a:prstGeom prst="rect">
            <a:avLst/>
          </a:prstGeom>
        </p:spPr>
      </p:pic>
      <p:sp>
        <p:nvSpPr>
          <p:cNvPr id="1348" name="textbox 1348"/>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1350" name="textbox 1350"/>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352" name="textbox 135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A709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356" name="picture 1356"/>
          <p:cNvPicPr>
            <a:picLocks noChangeAspect="1"/>
          </p:cNvPicPr>
          <p:nvPr/>
        </p:nvPicPr>
        <p:blipFill>
          <a:blip r:embed="rId2"/>
          <a:stretch>
            <a:fillRect/>
          </a:stretch>
        </p:blipFill>
        <p:spPr>
          <a:xfrm>
            <a:off x="295275" y="247650"/>
            <a:ext cx="733425" cy="666750"/>
          </a:xfrm>
          <a:prstGeom prst="rect">
            <a:avLst/>
          </a:prstGeom>
        </p:spPr>
      </p:pic>
      <p:sp>
        <p:nvSpPr>
          <p:cNvPr id="1358" name="textbox 1358"/>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360" name="textbox 1360"/>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362" name="textbox 1362"/>
          <p:cNvSpPr/>
          <p:nvPr/>
        </p:nvSpPr>
        <p:spPr>
          <a:xfrm>
            <a:off x="1447800" y="1104900"/>
            <a:ext cx="19526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高阶无迹变换法</a:t>
            </a:r>
            <a:endParaRPr sz="2000" dirty="0"/>
          </a:p>
        </p:txBody>
      </p:sp>
      <p:sp>
        <p:nvSpPr>
          <p:cNvPr id="1364" name="textbox 1364"/>
          <p:cNvSpPr/>
          <p:nvPr/>
        </p:nvSpPr>
        <p:spPr>
          <a:xfrm>
            <a:off x="1457325" y="1466850"/>
            <a:ext cx="2809875"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High-order Unscented Transformation (HUT) Method</a:t>
            </a:r>
            <a:endParaRPr sz="1000" dirty="0"/>
          </a:p>
        </p:txBody>
      </p:sp>
      <p:sp>
        <p:nvSpPr>
          <p:cNvPr id="1366" name="textbox 1366"/>
          <p:cNvSpPr/>
          <p:nvPr/>
        </p:nvSpPr>
        <p:spPr>
          <a:xfrm>
            <a:off x="971550" y="1866900"/>
            <a:ext cx="10210800" cy="238125"/>
          </a:xfrm>
          <a:prstGeom prst="rect">
            <a:avLst/>
          </a:prstGeom>
          <a:noFill/>
          <a:ln w="0" cap="flat">
            <a:noFill/>
            <a:prstDash val="solid"/>
            <a:miter lim="0"/>
          </a:ln>
        </p:spPr>
        <p:txBody>
          <a:bodyPr vert="horz" wrap="none" lIns="0" tIns="0" rIns="0" bIns="0"/>
          <a:lstStyle/>
          <a:p>
            <a:pPr algn="l" rtl="0" eaLnBrk="0"/>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高阶无迹变换 </a:t>
            </a:r>
            <a:r>
              <a:rPr sz="1600" b="1" kern="0" spc="0" dirty="0">
                <a:solidFill>
                  <a:srgbClr val="0070BC">
                    <a:alpha val="100000"/>
                  </a:srgbClr>
                </a:solidFill>
                <a:latin typeface="Times New Roman" panose="02020603050405020304"/>
                <a:ea typeface="Times New Roman" panose="02020603050405020304"/>
                <a:cs typeface="Times New Roman" panose="02020603050405020304"/>
              </a:rPr>
              <a:t>(Higher-order UT, HUT) </a:t>
            </a:r>
            <a:r>
              <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通过引入更多的点和权重，使得对更高阶多项式的积分逼近是精确的。</a:t>
            </a:r>
            <a:endParaRPr sz="16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68" name="textbox 1368"/>
          <p:cNvSpPr/>
          <p:nvPr/>
        </p:nvSpPr>
        <p:spPr>
          <a:xfrm>
            <a:off x="1390650" y="2247900"/>
            <a:ext cx="2590800" cy="257175"/>
          </a:xfrm>
          <a:prstGeom prst="rect">
            <a:avLst/>
          </a:prstGeom>
          <a:noFill/>
          <a:ln w="0" cap="flat">
            <a:noFill/>
            <a:prstDash val="solid"/>
            <a:miter lim="0"/>
          </a:ln>
        </p:spPr>
        <p:txBody>
          <a:bodyPr vert="horz" wrap="none" lIns="0" tIns="0" rIns="0" bIns="0"/>
          <a:lstStyle/>
          <a:p>
            <a:pPr marL="304800" indent="-257175" algn="l" rtl="0" eaLnBrk="0">
              <a:buChar char="•"/>
            </a:pP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标准</a:t>
            </a:r>
            <a:r>
              <a:rPr sz="1600" kern="0" spc="0" dirty="0">
                <a:solidFill>
                  <a:srgbClr val="0070BC">
                    <a:alpha val="100000"/>
                  </a:srgbClr>
                </a:solidFill>
                <a:latin typeface="Times New Roman" panose="02020603050405020304"/>
                <a:ea typeface="Times New Roman" panose="02020603050405020304"/>
                <a:cs typeface="Times New Roman" panose="02020603050405020304"/>
              </a:rPr>
              <a:t> UT</a:t>
            </a: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：保证到二阶矩。</a:t>
            </a:r>
            <a:endPar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70" name="textbox 1370"/>
          <p:cNvSpPr/>
          <p:nvPr/>
        </p:nvSpPr>
        <p:spPr>
          <a:xfrm>
            <a:off x="1419225" y="2628900"/>
            <a:ext cx="6505575" cy="266700"/>
          </a:xfrm>
          <a:prstGeom prst="rect">
            <a:avLst/>
          </a:prstGeom>
          <a:noFill/>
          <a:ln w="0" cap="flat">
            <a:noFill/>
            <a:prstDash val="solid"/>
            <a:miter lim="0"/>
          </a:ln>
        </p:spPr>
        <p:txBody>
          <a:bodyPr vert="horz" wrap="none" lIns="0" tIns="0" rIns="0" bIns="0"/>
          <a:lstStyle/>
          <a:p>
            <a:pPr marL="276225" indent="-247650" algn="l" rtl="0" eaLnBrk="0">
              <a:buChar char="•"/>
            </a:pPr>
            <a:r>
              <a:rPr sz="1600" kern="0" spc="0" dirty="0">
                <a:solidFill>
                  <a:srgbClr val="0070BC">
                    <a:alpha val="100000"/>
                  </a:srgbClr>
                </a:solidFill>
                <a:latin typeface="Times New Roman" panose="02020603050405020304"/>
                <a:ea typeface="Times New Roman" panose="02020603050405020304"/>
                <a:cs typeface="Times New Roman" panose="02020603050405020304"/>
              </a:rPr>
              <a:t>HUT</a:t>
            </a:r>
            <a:r>
              <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：保证到四阶矩甚至更高，即能够捕捉分布的偏度、峰度等特征。</a:t>
            </a:r>
            <a:endParaRPr sz="16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72" name="textbox 1372"/>
          <p:cNvSpPr/>
          <p:nvPr/>
        </p:nvSpPr>
        <p:spPr>
          <a:xfrm>
            <a:off x="228600" y="3400425"/>
            <a:ext cx="1066800" cy="180975"/>
          </a:xfrm>
          <a:prstGeom prst="rect">
            <a:avLst/>
          </a:prstGeom>
          <a:noFill/>
          <a:ln w="0" cap="flat">
            <a:noFill/>
            <a:prstDash val="solid"/>
            <a:miter lim="0"/>
          </a:ln>
        </p:spPr>
        <p:txBody>
          <a:bodyPr vert="horz" wrap="none" lIns="0" tIns="0" rIns="0" bIns="0"/>
          <a:lstStyle/>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给定高斯随机变量：</a:t>
            </a:r>
            <a:endParaRPr sz="900" dirty="0"/>
          </a:p>
        </p:txBody>
      </p:sp>
      <mc:AlternateContent xmlns:mc="http://schemas.openxmlformats.org/markup-compatibility/2006">
        <mc:Choice xmlns:a14="http://schemas.microsoft.com/office/drawing/2010/main" Requires="a14">
          <p:sp>
            <p:nvSpPr>
              <p:cNvPr id="1374" name="textbox 1374"/>
              <p:cNvSpPr/>
              <p:nvPr/>
            </p:nvSpPr>
            <p:spPr>
              <a:xfrm>
                <a:off x="2695575" y="3686175"/>
                <a:ext cx="838200" cy="2095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1400" dirty="0">
                          <a:latin typeface="Cambria Math" panose="02040503050406030204"/>
                          <a:ea typeface="Cambria Math" panose="02040503050406030204"/>
                        </a:rPr>
                        <m:t>x</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N</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𝜇</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𝛴</m:t>
                      </m:r>
                      <m:r>
                        <a:rPr lang="en-US" sz="1400" dirty="0">
                          <a:latin typeface="Cambria Math" panose="02040503050406030204"/>
                          <a:ea typeface="Cambria Math" panose="02040503050406030204"/>
                        </a:rPr>
                        <m:t>)</m:t>
                      </m:r>
                    </m:oMath>
                  </m:oMathPara>
                </a14:m>
                <a:endParaRPr sz="600" dirty="0"/>
              </a:p>
            </p:txBody>
          </p:sp>
        </mc:Choice>
        <mc:Fallback>
          <p:sp>
            <p:nvSpPr>
              <p:cNvPr id="1374" name="textbox 1374"/>
              <p:cNvSpPr>
                <a:spLocks noRot="1" noChangeAspect="1" noMove="1" noResize="1" noEditPoints="1" noAdjustHandles="1" noChangeArrowheads="1" noChangeShapeType="1" noTextEdit="1"/>
              </p:cNvSpPr>
              <p:nvPr/>
            </p:nvSpPr>
            <p:spPr>
              <a:xfrm>
                <a:off x="2695575" y="3686175"/>
                <a:ext cx="838200" cy="209550"/>
              </a:xfrm>
              <a:prstGeom prst="rect">
                <a:avLst/>
              </a:prstGeom>
              <a:blipFill rotWithShape="1">
                <a:blip r:embed="rId3"/>
                <a:stretch>
                  <a:fillRect r="-3712" b="-1818"/>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76" name="textbox 1376"/>
              <p:cNvSpPr/>
              <p:nvPr/>
            </p:nvSpPr>
            <p:spPr>
              <a:xfrm>
                <a:off x="238125" y="4019550"/>
                <a:ext cx="2085975" cy="200025"/>
              </a:xfrm>
              <a:prstGeom prst="rect">
                <a:avLst/>
              </a:prstGeom>
              <a:noFill/>
              <a:ln w="0" cap="flat">
                <a:noFill/>
                <a:prstDash val="solid"/>
                <a:miter lim="0"/>
              </a:ln>
            </p:spPr>
            <p:txBody>
              <a:bodyPr vert="horz" wrap="none" lIns="0" tIns="0" rIns="0" bIns="0"/>
              <a:lstStyle/>
              <a:p>
                <a:pPr algn="l" rtl="0" eaLnBrk="0"/>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我们寻找一组采样点 </a:t>
                </a:r>
                <a14:m>
                  <m:oMath xmlns:m="http://schemas.openxmlformats.org/officeDocument/2006/math">
                    <m:r>
                      <a:rPr lang="en-US" sz="1000" dirty="0">
                        <a:latin typeface="Cambria Math" panose="02040503050406030204"/>
                        <a:ea typeface="Cambria Math" panose="02040503050406030204"/>
                      </a:rPr>
                      <m:t>{</m:t>
                    </m:r>
                    <m:sSub>
                      <m:sSubPr>
                        <m:ctrlPr>
                          <a:rPr/>
                        </m:ctrlPr>
                      </m:sSubPr>
                      <m:e>
                        <m:r>
                          <m:rPr>
                            <m:sty m:val="p"/>
                          </m:rPr>
                          <a:rPr lang="en-US" sz="1000" dirty="0">
                            <a:latin typeface="Cambria Math" panose="02040503050406030204"/>
                            <a:ea typeface="Cambria Math" panose="02040503050406030204"/>
                          </a:rPr>
                          <m:t>X</m:t>
                        </m:r>
                      </m:e>
                      <m:sub>
                        <m:r>
                          <m:rPr>
                            <m:sty m:val="p"/>
                          </m:rPr>
                          <a:rPr lang="en-US" sz="1000" dirty="0">
                            <a:latin typeface="Cambria Math" panose="02040503050406030204"/>
                            <a:ea typeface="Cambria Math" panose="02040503050406030204"/>
                          </a:rPr>
                          <m:t>i</m:t>
                        </m:r>
                      </m:sub>
                    </m:sSub>
                    <m:r>
                      <a:rPr lang="en-US" sz="1000" dirty="0">
                        <a:latin typeface="Cambria Math" panose="02040503050406030204"/>
                        <a:ea typeface="Cambria Math" panose="02040503050406030204"/>
                      </a:rPr>
                      <m:t>,</m:t>
                    </m:r>
                    <m:sSub>
                      <m:sSubPr>
                        <m:ctrlPr>
                          <a:rPr/>
                        </m:ctrlPr>
                      </m:sSubPr>
                      <m:e>
                        <m:r>
                          <m:rPr>
                            <m:sty m:val="p"/>
                          </m:rPr>
                          <a:rPr lang="en-US" sz="1000" dirty="0">
                            <a:latin typeface="Cambria Math" panose="02040503050406030204"/>
                            <a:ea typeface="Cambria Math" panose="02040503050406030204"/>
                          </a:rPr>
                          <m:t>w</m:t>
                        </m:r>
                      </m:e>
                      <m:sub>
                        <m:r>
                          <m:rPr>
                            <m:sty m:val="p"/>
                          </m:rPr>
                          <a:rPr lang="en-US" sz="1000" dirty="0">
                            <a:latin typeface="Cambria Math" panose="02040503050406030204"/>
                            <a:ea typeface="Cambria Math" panose="02040503050406030204"/>
                          </a:rPr>
                          <m:t>i</m:t>
                        </m:r>
                      </m:sub>
                    </m:sSub>
                    <m:r>
                      <a:rPr lang="en-US" sz="1000" dirty="0">
                        <a:latin typeface="Cambria Math" panose="02040503050406030204"/>
                        <a:ea typeface="Cambria Math" panose="02040503050406030204"/>
                      </a:rPr>
                      <m:t>}</m:t>
                    </m:r>
                  </m:oMath>
                </a14:m>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。使得：</a:t>
                </a:r>
                <a:endParaRPr sz="1000" dirty="0"/>
              </a:p>
            </p:txBody>
          </p:sp>
        </mc:Choice>
        <mc:Fallback>
          <p:sp>
            <p:nvSpPr>
              <p:cNvPr id="1376" name="textbox 1376"/>
              <p:cNvSpPr>
                <a:spLocks noRot="1" noChangeAspect="1" noMove="1" noResize="1" noEditPoints="1" noAdjustHandles="1" noChangeArrowheads="1" noChangeShapeType="1" noTextEdit="1"/>
              </p:cNvSpPr>
              <p:nvPr/>
            </p:nvSpPr>
            <p:spPr>
              <a:xfrm>
                <a:off x="238125" y="4019550"/>
                <a:ext cx="2085975" cy="200025"/>
              </a:xfrm>
              <a:prstGeom prst="rect">
                <a:avLst/>
              </a:prstGeom>
              <a:blipFill rotWithShape="1">
                <a:blip r:embed="rId4"/>
                <a:stretch>
                  <a:fillRect t="-5397" r="-60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78" name="textbox 1378"/>
              <p:cNvSpPr/>
              <p:nvPr/>
            </p:nvSpPr>
            <p:spPr>
              <a:xfrm>
                <a:off x="1076325" y="4305300"/>
                <a:ext cx="4095750" cy="4286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1400" dirty="0">
                          <a:latin typeface="Cambria Math" panose="02040503050406030204"/>
                          <a:ea typeface="Cambria Math" panose="02040503050406030204"/>
                        </a:rPr>
                        <m:t>E</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f</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x</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m:t>
                      </m:r>
                      <m:nary>
                        <m:naryPr>
                          <m:limLoc m:val="subSup"/>
                          <m:supHide m:val="on"/>
                          <m:ctrlPr>
                            <a:rPr/>
                          </m:ctrlPr>
                        </m:naryPr>
                        <m:sub>
                          <m:sSup>
                            <m:sSupPr>
                              <m:ctrlPr>
                                <a:rPr/>
                              </m:ctrlPr>
                            </m:sSupPr>
                            <m:e>
                              <m:r>
                                <m:rPr>
                                  <m:sty m:val="p"/>
                                </m:rPr>
                                <a:rPr lang="en-US" sz="1400" dirty="0">
                                  <a:latin typeface="Cambria Math" panose="02040503050406030204"/>
                                  <a:ea typeface="Cambria Math" panose="02040503050406030204"/>
                                </a:rPr>
                                <m:t>R</m:t>
                              </m:r>
                            </m:e>
                            <m:sup>
                              <m:r>
                                <m:rPr>
                                  <m:sty m:val="p"/>
                                </m:rPr>
                                <a:rPr lang="en-US" sz="1400" dirty="0">
                                  <a:latin typeface="Cambria Math" panose="02040503050406030204"/>
                                  <a:ea typeface="Cambria Math" panose="02040503050406030204"/>
                                </a:rPr>
                                <m:t>d</m:t>
                              </m:r>
                            </m:sup>
                          </m:sSup>
                        </m:sub>
                        <m:sup/>
                        <m:e>
                          <m:r>
                            <m:rPr>
                              <m:sty m:val="p"/>
                            </m:rPr>
                            <a:rPr lang="en-US" sz="1400" dirty="0">
                              <a:latin typeface="Cambria Math" panose="02040503050406030204"/>
                              <a:ea typeface="Cambria Math" panose="02040503050406030204"/>
                            </a:rPr>
                            <m:t>f</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x</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N</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x</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𝜇</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𝛴</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 </m:t>
                          </m:r>
                          <m:r>
                            <m:rPr>
                              <m:sty m:val="p"/>
                            </m:rPr>
                            <a:rPr lang="en-US" sz="1400" dirty="0">
                              <a:latin typeface="Cambria Math" panose="02040503050406030204"/>
                              <a:ea typeface="Cambria Math" panose="02040503050406030204"/>
                            </a:rPr>
                            <m:t>d</m:t>
                          </m:r>
                          <m:r>
                            <m:rPr>
                              <m:sty m:val="p"/>
                            </m:rPr>
                            <a:rPr lang="en-US" sz="1400" dirty="0">
                              <a:latin typeface="Cambria Math" panose="02040503050406030204"/>
                              <a:ea typeface="Cambria Math" panose="02040503050406030204"/>
                            </a:rPr>
                            <m:t>x</m:t>
                          </m:r>
                          <m:r>
                            <a:rPr lang="en-US" sz="1400" dirty="0">
                              <a:latin typeface="Cambria Math" panose="02040503050406030204"/>
                              <a:ea typeface="Cambria Math" panose="02040503050406030204"/>
                            </a:rPr>
                            <m:t>≈</m:t>
                          </m:r>
                        </m:e>
                      </m:nary>
                      <m:nary>
                        <m:naryPr>
                          <m:chr m:val="∑"/>
                          <m:limLoc m:val="subSup"/>
                          <m:supHide m:val="on"/>
                          <m:ctrlPr>
                            <a:rPr/>
                          </m:ctrlPr>
                        </m:naryPr>
                        <m:sub>
                          <m:r>
                            <m:rPr>
                              <m:sty m:val="p"/>
                            </m:rPr>
                            <a:rPr lang="en-US" sz="1400" dirty="0">
                              <a:latin typeface="Cambria Math" panose="02040503050406030204"/>
                              <a:ea typeface="Cambria Math" panose="02040503050406030204"/>
                            </a:rPr>
                            <m:t>i</m:t>
                          </m:r>
                        </m:sub>
                        <m:sup/>
                        <m:e>
                          <m:sSub>
                            <m:sSubPr>
                              <m:ctrlPr>
                                <a:rPr/>
                              </m:ctrlPr>
                            </m:sSubPr>
                            <m:e>
                              <m:r>
                                <m:rPr>
                                  <m:sty m:val="p"/>
                                </m:rPr>
                                <a:rPr lang="en-US" sz="1400" dirty="0">
                                  <a:latin typeface="Cambria Math" panose="02040503050406030204"/>
                                  <a:ea typeface="Cambria Math" panose="02040503050406030204"/>
                                </a:rPr>
                                <m:t>w</m:t>
                              </m:r>
                            </m:e>
                            <m:sub>
                              <m:r>
                                <m:rPr>
                                  <m:sty m:val="p"/>
                                </m:rPr>
                                <a:rPr lang="en-US" sz="1400" dirty="0">
                                  <a:latin typeface="Cambria Math" panose="02040503050406030204"/>
                                  <a:ea typeface="Cambria Math" panose="02040503050406030204"/>
                                </a:rPr>
                                <m:t>i</m:t>
                              </m:r>
                            </m:sub>
                          </m:sSub>
                          <m:r>
                            <m:rPr>
                              <m:sty m:val="p"/>
                            </m:rPr>
                            <a:rPr lang="en-US" sz="1400" dirty="0">
                              <a:latin typeface="Cambria Math" panose="02040503050406030204"/>
                              <a:ea typeface="Cambria Math" panose="02040503050406030204"/>
                            </a:rPr>
                            <m:t>f</m:t>
                          </m:r>
                          <m:r>
                            <a:rPr lang="en-US" sz="1400" dirty="0">
                              <a:latin typeface="Cambria Math" panose="02040503050406030204"/>
                              <a:ea typeface="Cambria Math" panose="02040503050406030204"/>
                            </a:rPr>
                            <m:t>(</m:t>
                          </m:r>
                          <m:sSub>
                            <m:sSubPr>
                              <m:ctrlPr>
                                <a:rPr/>
                              </m:ctrlPr>
                            </m:sSubPr>
                            <m:e>
                              <m:r>
                                <m:rPr>
                                  <m:sty m:val="p"/>
                                </m:rPr>
                                <a:rPr lang="en-US" sz="1400" dirty="0">
                                  <a:latin typeface="Cambria Math" panose="02040503050406030204"/>
                                  <a:ea typeface="Cambria Math" panose="02040503050406030204"/>
                                </a:rPr>
                                <m:t>X</m:t>
                              </m:r>
                            </m:e>
                            <m:sub>
                              <m:r>
                                <m:rPr>
                                  <m:sty m:val="p"/>
                                </m:rPr>
                                <a:rPr lang="en-US" sz="1400" dirty="0">
                                  <a:latin typeface="Cambria Math" panose="02040503050406030204"/>
                                  <a:ea typeface="Cambria Math" panose="02040503050406030204"/>
                                </a:rPr>
                                <m:t>i</m:t>
                              </m:r>
                            </m:sub>
                          </m:sSub>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 </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f</m:t>
                          </m:r>
                          <m:r>
                            <a:rPr lang="en-US" sz="1400" dirty="0">
                              <a:latin typeface="Cambria Math" panose="02040503050406030204"/>
                              <a:ea typeface="Cambria Math" panose="02040503050406030204"/>
                            </a:rPr>
                            <m:t>(</m:t>
                          </m:r>
                          <m:r>
                            <m:rPr>
                              <m:sty m:val="p"/>
                            </m:rPr>
                            <a:rPr lang="en-US" sz="1400" dirty="0">
                              <a:latin typeface="Cambria Math" panose="02040503050406030204"/>
                              <a:ea typeface="Cambria Math" panose="02040503050406030204"/>
                            </a:rPr>
                            <m:t>x</m:t>
                          </m:r>
                          <m:r>
                            <a:rPr lang="en-US" sz="1400" dirty="0">
                              <a:latin typeface="Cambria Math" panose="02040503050406030204"/>
                              <a:ea typeface="Cambria Math" panose="02040503050406030204"/>
                            </a:rPr>
                            <m:t>)</m:t>
                          </m:r>
                          <m:r>
                            <a:rPr lang="en-US" sz="1400" dirty="0">
                              <a:latin typeface="Cambria Math" panose="02040503050406030204"/>
                              <a:ea typeface="Cambria Math" panose="02040503050406030204"/>
                            </a:rPr>
                            <m:t>∈</m:t>
                          </m:r>
                          <m:sSub>
                            <m:sSubPr>
                              <m:ctrlPr>
                                <a:rPr/>
                              </m:ctrlPr>
                            </m:sSubPr>
                            <m:e>
                              <m:r>
                                <m:rPr>
                                  <m:sty m:val="p"/>
                                </m:rPr>
                                <a:rPr lang="en-US" sz="1400" dirty="0">
                                  <a:latin typeface="Cambria Math" panose="02040503050406030204"/>
                                  <a:ea typeface="Cambria Math" panose="02040503050406030204"/>
                                </a:rPr>
                                <m:t>P</m:t>
                              </m:r>
                            </m:e>
                            <m:sub>
                              <m:r>
                                <m:rPr>
                                  <m:sty m:val="p"/>
                                </m:rPr>
                                <a:rPr lang="en-US" sz="1400" dirty="0">
                                  <a:latin typeface="Cambria Math" panose="02040503050406030204"/>
                                  <a:ea typeface="Cambria Math" panose="02040503050406030204"/>
                                </a:rPr>
                                <m:t>k</m:t>
                              </m:r>
                            </m:sub>
                          </m:sSub>
                        </m:e>
                      </m:nary>
                    </m:oMath>
                  </m:oMathPara>
                </a14:m>
                <a:endParaRPr sz="600" dirty="0"/>
              </a:p>
            </p:txBody>
          </p:sp>
        </mc:Choice>
        <mc:Fallback>
          <p:sp>
            <p:nvSpPr>
              <p:cNvPr id="1378" name="textbox 1378"/>
              <p:cNvSpPr>
                <a:spLocks noRot="1" noChangeAspect="1" noMove="1" noResize="1" noEditPoints="1" noAdjustHandles="1" noChangeArrowheads="1" noChangeShapeType="1" noTextEdit="1"/>
              </p:cNvSpPr>
              <p:nvPr/>
            </p:nvSpPr>
            <p:spPr>
              <a:xfrm>
                <a:off x="1076325" y="4305300"/>
                <a:ext cx="4095750" cy="428625"/>
              </a:xfrm>
              <a:prstGeom prst="rect">
                <a:avLst/>
              </a:prstGeom>
              <a:blipFill rotWithShape="1">
                <a:blip r:embed="rId5"/>
                <a:stretch>
                  <a:fillRect r="-2295" b="-1185"/>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80" name="textbox 1380"/>
              <p:cNvSpPr/>
              <p:nvPr/>
            </p:nvSpPr>
            <p:spPr>
              <a:xfrm>
                <a:off x="238125" y="4857750"/>
                <a:ext cx="2257425" cy="180975"/>
              </a:xfrm>
              <a:prstGeom prst="rect">
                <a:avLst/>
              </a:prstGeom>
              <a:noFill/>
              <a:ln w="0" cap="flat">
                <a:noFill/>
                <a:prstDash val="solid"/>
                <a:miter lim="0"/>
              </a:ln>
            </p:spPr>
            <p:txBody>
              <a:bodyPr vert="horz" wrap="none" lIns="0" tIns="0" rIns="0" bIns="0"/>
              <a:lstStyle/>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其中 </a:t>
                </a:r>
                <a14:m>
                  <m:oMath xmlns:m="http://schemas.openxmlformats.org/officeDocument/2006/math">
                    <m:sSub>
                      <m:sSubPr>
                        <m:ctrlPr>
                          <a:rPr/>
                        </m:ctrlPr>
                      </m:sSubPr>
                      <m:e>
                        <m:r>
                          <m:rPr>
                            <m:sty m:val="p"/>
                          </m:rPr>
                          <a:rPr lang="en-US" sz="900" dirty="0">
                            <a:latin typeface="Cambria Math" panose="02040503050406030204"/>
                            <a:ea typeface="Cambria Math" panose="02040503050406030204"/>
                          </a:rPr>
                          <m:t>P</m:t>
                        </m:r>
                      </m:e>
                      <m:sub>
                        <m:r>
                          <m:rPr>
                            <m:sty m:val="p"/>
                          </m:rPr>
                          <a:rPr lang="en-US" sz="900" dirty="0">
                            <a:latin typeface="Cambria Math" panose="02040503050406030204"/>
                            <a:ea typeface="Cambria Math" panose="02040503050406030204"/>
                          </a:rPr>
                          <m:t>k</m:t>
                        </m:r>
                      </m:sub>
                    </m:sSub>
                  </m:oMath>
                </a14:m>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表示所有次数不超过 </a:t>
                </a:r>
                <a:r>
                  <a:rPr sz="900" i="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k </a:t>
                </a:r>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的多项式。</a:t>
                </a:r>
                <a:endParaRPr sz="900" dirty="0"/>
              </a:p>
            </p:txBody>
          </p:sp>
        </mc:Choice>
        <mc:Fallback>
          <p:sp>
            <p:nvSpPr>
              <p:cNvPr id="1380" name="textbox 1380"/>
              <p:cNvSpPr>
                <a:spLocks noRot="1" noChangeAspect="1" noMove="1" noResize="1" noEditPoints="1" noAdjustHandles="1" noChangeArrowheads="1" noChangeShapeType="1" noTextEdit="1"/>
              </p:cNvSpPr>
              <p:nvPr/>
            </p:nvSpPr>
            <p:spPr>
              <a:xfrm>
                <a:off x="238125" y="4857750"/>
                <a:ext cx="2257425" cy="180975"/>
              </a:xfrm>
              <a:prstGeom prst="rect">
                <a:avLst/>
              </a:prstGeom>
              <a:blipFill rotWithShape="1">
                <a:blip r:embed="rId6"/>
                <a:stretch>
                  <a:fillRect b="-69123"/>
                </a:stretch>
              </a:blipFill>
              <a:ln w="0" cap="flat">
                <a:noFill/>
                <a:prstDash val="solid"/>
                <a:miter lim="0"/>
              </a:ln>
            </p:spPr>
            <p:txBody>
              <a:bodyPr/>
              <a:lstStyle/>
              <a:p>
                <a:r>
                  <a:rPr lang="zh-CN" altLang="en-US">
                    <a:noFill/>
                  </a:rPr>
                  <a:t> </a:t>
                </a:r>
              </a:p>
            </p:txBody>
          </p:sp>
        </mc:Fallback>
      </mc:AlternateContent>
      <p:sp>
        <p:nvSpPr>
          <p:cNvPr id="1382" name="textbox 1382"/>
          <p:cNvSpPr/>
          <p:nvPr/>
        </p:nvSpPr>
        <p:spPr>
          <a:xfrm>
            <a:off x="304800" y="5105400"/>
            <a:ext cx="2133600" cy="171450"/>
          </a:xfrm>
          <a:prstGeom prst="rect">
            <a:avLst/>
          </a:prstGeom>
          <a:noFill/>
          <a:ln w="0" cap="flat">
            <a:noFill/>
            <a:prstDash val="solid"/>
            <a:miter lim="0"/>
          </a:ln>
        </p:spPr>
        <p:txBody>
          <a:bodyPr vert="horz" wrap="none" lIns="0" tIns="0" rIns="0" bIns="0"/>
          <a:lstStyle/>
          <a:p>
            <a:pPr marL="200025" indent="-152400" algn="l" rtl="0" eaLnBrk="0">
              <a:buChar char="•"/>
            </a:pPr>
            <a:r>
              <a:rPr sz="1000" b="1" kern="0" spc="0" dirty="0">
                <a:solidFill>
                  <a:srgbClr val="000000">
                    <a:alpha val="100000"/>
                  </a:srgbClr>
                </a:solidFill>
                <a:latin typeface="Calibri" panose="020F0502020204030204"/>
                <a:ea typeface="Calibri" panose="020F0502020204030204"/>
                <a:cs typeface="Calibri" panose="020F0502020204030204"/>
              </a:rPr>
              <a:t>UT</a:t>
            </a:r>
            <a:r>
              <a:rPr sz="1000" kern="0" spc="0" dirty="0">
                <a:solidFill>
                  <a:srgbClr val="000000">
                    <a:alpha val="100000"/>
                  </a:srgbClr>
                </a:solidFill>
                <a:latin typeface="Calibri" panose="020F0502020204030204"/>
                <a:ea typeface="Calibri" panose="020F0502020204030204"/>
                <a:cs typeface="Calibri" panose="020F0502020204030204"/>
              </a:rPr>
              <a:t>: </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精确到</a:t>
            </a:r>
            <a:r>
              <a:rPr sz="1000" kern="0" spc="0" dirty="0">
                <a:solidFill>
                  <a:srgbClr val="000000">
                    <a:alpha val="100000"/>
                  </a:srgbClr>
                </a:solidFill>
                <a:latin typeface="Calibri" panose="020F0502020204030204"/>
                <a:ea typeface="Calibri" panose="020F0502020204030204"/>
                <a:cs typeface="Calibri" panose="020F0502020204030204"/>
              </a:rPr>
              <a:t> k ≤ 3 (</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均值。协方差</a:t>
            </a:r>
            <a:r>
              <a:rPr sz="1000" kern="0" spc="0" dirty="0">
                <a:solidFill>
                  <a:srgbClr val="000000">
                    <a:alpha val="100000"/>
                  </a:srgbClr>
                </a:solidFill>
                <a:latin typeface="Calibri" panose="020F0502020204030204"/>
                <a:ea typeface="Calibri" panose="020F0502020204030204"/>
                <a:cs typeface="Calibri" panose="020F0502020204030204"/>
              </a:rPr>
              <a:t>)</a:t>
            </a:r>
            <a:endParaRPr sz="1000" dirty="0"/>
          </a:p>
        </p:txBody>
      </p:sp>
      <p:sp>
        <p:nvSpPr>
          <p:cNvPr id="1384" name="textbox 1384"/>
          <p:cNvSpPr/>
          <p:nvPr/>
        </p:nvSpPr>
        <p:spPr>
          <a:xfrm>
            <a:off x="342900" y="5305425"/>
            <a:ext cx="4171950" cy="171450"/>
          </a:xfrm>
          <a:prstGeom prst="rect">
            <a:avLst/>
          </a:prstGeom>
          <a:noFill/>
          <a:ln w="0" cap="flat">
            <a:noFill/>
            <a:prstDash val="solid"/>
            <a:miter lim="0"/>
          </a:ln>
        </p:spPr>
        <p:txBody>
          <a:bodyPr vert="horz" wrap="none" lIns="0" tIns="0" rIns="0" bIns="0"/>
          <a:lstStyle/>
          <a:p>
            <a:pPr marL="171450" indent="-161925" algn="l" rtl="0" eaLnBrk="0">
              <a:buChar char="•"/>
            </a:pPr>
            <a:r>
              <a:rPr sz="1000" b="1" kern="0" spc="0" dirty="0">
                <a:solidFill>
                  <a:srgbClr val="000000">
                    <a:alpha val="100000"/>
                  </a:srgbClr>
                </a:solidFill>
                <a:latin typeface="Tahoma" panose="020B0604030504040204"/>
                <a:ea typeface="Tahoma" panose="020B0604030504040204"/>
                <a:cs typeface="Tahoma" panose="020B0604030504040204"/>
              </a:rPr>
              <a:t>HUT</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：扩展采样点集，可精确到更高阶</a:t>
            </a:r>
            <a:r>
              <a:rPr sz="1000" i="1" kern="0" spc="0" dirty="0">
                <a:solidFill>
                  <a:srgbClr val="000000">
                    <a:alpha val="100000"/>
                  </a:srgbClr>
                </a:solidFill>
                <a:latin typeface="Times New Roman" panose="02020603050405020304"/>
                <a:ea typeface="Times New Roman" panose="02020603050405020304"/>
                <a:cs typeface="Times New Roman" panose="02020603050405020304"/>
              </a:rPr>
              <a:t> k</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（可捕捉偏度、峰度等高阶统计量）</a:t>
            </a:r>
            <a:endParaRPr sz="1000" dirty="0"/>
          </a:p>
        </p:txBody>
      </p:sp>
      <p:pic>
        <p:nvPicPr>
          <p:cNvPr id="1388" name="picture 1388"/>
          <p:cNvPicPr>
            <a:picLocks noChangeAspect="1"/>
          </p:cNvPicPr>
          <p:nvPr/>
        </p:nvPicPr>
        <p:blipFill>
          <a:blip r:embed="rId7"/>
          <a:stretch>
            <a:fillRect/>
          </a:stretch>
        </p:blipFill>
        <p:spPr>
          <a:xfrm>
            <a:off x="5362575" y="3238500"/>
            <a:ext cx="3314700" cy="3314700"/>
          </a:xfrm>
          <a:prstGeom prst="rect">
            <a:avLst/>
          </a:prstGeom>
        </p:spPr>
      </p:pic>
      <p:sp>
        <p:nvSpPr>
          <p:cNvPr id="1390" name="textbox 1390"/>
          <p:cNvSpPr/>
          <p:nvPr/>
        </p:nvSpPr>
        <p:spPr>
          <a:xfrm>
            <a:off x="9020175" y="3238500"/>
            <a:ext cx="2876550" cy="323850"/>
          </a:xfrm>
          <a:prstGeom prst="rect">
            <a:avLst/>
          </a:prstGeom>
          <a:noFill/>
          <a:ln w="0" cap="flat">
            <a:noFill/>
            <a:prstDash val="solid"/>
            <a:miter lim="0"/>
          </a:ln>
        </p:spPr>
        <p:txBody>
          <a:bodyPr vert="horz" wrap="none" lIns="0" tIns="0" rIns="0" bIns="0"/>
          <a:lstStyle/>
          <a:p>
            <a:pPr algn="l" rtl="0" eaLnBrk="0"/>
            <a:r>
              <a:rPr sz="10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2D Higher-Order Unscented Transform (HUT)</a:t>
            </a:r>
            <a:endParaRPr sz="1000" dirty="0"/>
          </a:p>
          <a:p>
            <a:pPr marL="542925" algn="l" rtl="0" eaLnBrk="0"/>
            <a:r>
              <a:rPr sz="10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Expanded Conjugate Points</a:t>
            </a:r>
            <a:endParaRPr sz="1000" dirty="0"/>
          </a:p>
        </p:txBody>
      </p:sp>
      <p:pic>
        <p:nvPicPr>
          <p:cNvPr id="1394" name="picture 1394"/>
          <p:cNvPicPr>
            <a:picLocks noChangeAspect="1"/>
          </p:cNvPicPr>
          <p:nvPr/>
        </p:nvPicPr>
        <p:blipFill>
          <a:blip r:embed="rId8"/>
          <a:stretch>
            <a:fillRect/>
          </a:stretch>
        </p:blipFill>
        <p:spPr>
          <a:xfrm>
            <a:off x="9067800" y="3562350"/>
            <a:ext cx="2543175" cy="2990850"/>
          </a:xfrm>
          <a:prstGeom prst="rect">
            <a:avLst/>
          </a:prstGeom>
        </p:spPr>
      </p:pic>
      <p:sp>
        <p:nvSpPr>
          <p:cNvPr id="1396" name="textbox 1396"/>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1398" name="textbox 1398"/>
          <p:cNvSpPr/>
          <p:nvPr/>
        </p:nvSpPr>
        <p:spPr>
          <a:xfrm>
            <a:off x="11753850" y="6724650"/>
            <a:ext cx="180975" cy="123825"/>
          </a:xfrm>
          <a:prstGeom prst="rect">
            <a:avLst/>
          </a:prstGeom>
          <a:noFill/>
          <a:ln w="0" cap="flat">
            <a:noFill/>
            <a:prstDash val="solid"/>
            <a:miter lim="0"/>
          </a:ln>
        </p:spPr>
        <p:txBody>
          <a:bodyPr vert="horz" wrap="none" lIns="0" tIns="0" rIns="0" bIns="0"/>
          <a:lstStyle/>
          <a:p>
            <a:pPr algn="l" rtl="0" eaLnBrk="0"/>
            <a:r>
              <a:rPr sz="900" kern="0" spc="375" dirty="0">
                <a:solidFill>
                  <a:srgbClr val="FFFFFF">
                    <a:alpha val="100000"/>
                  </a:srgbClr>
                </a:solidFill>
                <a:latin typeface="Arial" panose="020B0604020202020204"/>
                <a:ea typeface="Arial" panose="020B0604020202020204"/>
                <a:cs typeface="Arial" panose="020B0604020202020204"/>
              </a:rPr>
              <a:t>34</a:t>
            </a:r>
            <a:endParaRPr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 name="picture 1402"/>
          <p:cNvPicPr>
            <a:picLocks noChangeAspect="1"/>
          </p:cNvPicPr>
          <p:nvPr/>
        </p:nvPicPr>
        <p:blipFill>
          <a:blip r:embed="rId1"/>
          <a:stretch>
            <a:fillRect/>
          </a:stretch>
        </p:blipFill>
        <p:spPr>
          <a:xfrm>
            <a:off x="0" y="0"/>
            <a:ext cx="12192000" cy="6858000"/>
          </a:xfrm>
          <a:prstGeom prst="rect">
            <a:avLst/>
          </a:prstGeom>
        </p:spPr>
      </p:pic>
      <p:sp>
        <p:nvSpPr>
          <p:cNvPr id="1404" name="textbox 1404"/>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1406" name="textbox 1406"/>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408" name="textbox 140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628BB3">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412" name="picture 1412"/>
          <p:cNvPicPr>
            <a:picLocks noChangeAspect="1"/>
          </p:cNvPicPr>
          <p:nvPr/>
        </p:nvPicPr>
        <p:blipFill>
          <a:blip r:embed="rId2"/>
          <a:stretch>
            <a:fillRect/>
          </a:stretch>
        </p:blipFill>
        <p:spPr>
          <a:xfrm>
            <a:off x="295275" y="247650"/>
            <a:ext cx="733425" cy="666750"/>
          </a:xfrm>
          <a:prstGeom prst="rect">
            <a:avLst/>
          </a:prstGeom>
        </p:spPr>
      </p:pic>
      <p:sp>
        <p:nvSpPr>
          <p:cNvPr id="1414" name="textbox 1414"/>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416" name="textbox 1416"/>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418" name="textbox 1418"/>
          <p:cNvSpPr/>
          <p:nvPr/>
        </p:nvSpPr>
        <p:spPr>
          <a:xfrm>
            <a:off x="1447800" y="1114425"/>
            <a:ext cx="19526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高阶无迹变换法</a:t>
            </a:r>
            <a:endParaRPr sz="2000" dirty="0"/>
          </a:p>
        </p:txBody>
      </p:sp>
      <p:sp>
        <p:nvSpPr>
          <p:cNvPr id="1420" name="textbox 1420"/>
          <p:cNvSpPr/>
          <p:nvPr/>
        </p:nvSpPr>
        <p:spPr>
          <a:xfrm>
            <a:off x="1457325" y="1466850"/>
            <a:ext cx="2790825" cy="152400"/>
          </a:xfrm>
          <a:prstGeom prst="rect">
            <a:avLst/>
          </a:prstGeom>
          <a:noFill/>
          <a:ln w="0" cap="flat">
            <a:noFill/>
            <a:prstDash val="solid"/>
            <a:miter lim="0"/>
          </a:ln>
        </p:spPr>
        <p:txBody>
          <a:bodyPr vert="horz" wrap="none" lIns="0" tIns="0" rIns="0" bIns="0"/>
          <a:lstStyle/>
          <a:p>
            <a:pPr algn="l" rtl="0" eaLnBrk="0"/>
            <a:r>
              <a:rPr sz="1000" kern="0" spc="0" dirty="0">
                <a:solidFill>
                  <a:srgbClr val="BCDDEF">
                    <a:alpha val="100000"/>
                  </a:srgbClr>
                </a:solidFill>
                <a:latin typeface="Times New Roman" panose="02020603050405020304"/>
                <a:ea typeface="Times New Roman" panose="02020603050405020304"/>
                <a:cs typeface="Times New Roman" panose="02020603050405020304"/>
              </a:rPr>
              <a:t>High-order Unscented Transformation (HUT) Method</a:t>
            </a:r>
            <a:endParaRPr sz="1000" dirty="0"/>
          </a:p>
        </p:txBody>
      </p:sp>
      <p:sp>
        <p:nvSpPr>
          <p:cNvPr id="1422" name="textbox 1422"/>
          <p:cNvSpPr/>
          <p:nvPr/>
        </p:nvSpPr>
        <p:spPr>
          <a:xfrm>
            <a:off x="1000125" y="1866900"/>
            <a:ext cx="4343400" cy="247650"/>
          </a:xfrm>
          <a:prstGeom prst="rect">
            <a:avLst/>
          </a:prstGeom>
          <a:noFill/>
          <a:ln w="0" cap="flat">
            <a:noFill/>
            <a:prstDash val="solid"/>
            <a:miter lim="0"/>
          </a:ln>
        </p:spPr>
        <p:txBody>
          <a:bodyPr vert="horz" wrap="none" lIns="0" tIns="0" rIns="0" bIns="0"/>
          <a:lstStyle/>
          <a:p>
            <a:pPr algn="l" rtl="0" eaLnBrk="0"/>
            <a:r>
              <a:rPr sz="16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基于 </a:t>
            </a:r>
            <a:r>
              <a:rPr sz="1600" b="1" kern="0" spc="0" dirty="0">
                <a:solidFill>
                  <a:srgbClr val="002060">
                    <a:alpha val="100000"/>
                  </a:srgbClr>
                </a:solidFill>
                <a:latin typeface="Times New Roman" panose="02020603050405020304"/>
                <a:ea typeface="Times New Roman" panose="02020603050405020304"/>
                <a:cs typeface="Times New Roman" panose="02020603050405020304"/>
              </a:rPr>
              <a:t>HUT </a:t>
            </a:r>
            <a:r>
              <a:rPr sz="16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选点的降维积分法 </a:t>
            </a:r>
            <a:r>
              <a:rPr sz="1600" b="1" kern="0" spc="0" dirty="0">
                <a:solidFill>
                  <a:srgbClr val="002060">
                    <a:alpha val="100000"/>
                  </a:srgbClr>
                </a:solidFill>
                <a:latin typeface="Times New Roman" panose="02020603050405020304"/>
                <a:ea typeface="Times New Roman" panose="02020603050405020304"/>
                <a:cs typeface="Times New Roman" panose="02020603050405020304"/>
              </a:rPr>
              <a:t>(HUT-DRIM)</a:t>
            </a:r>
            <a:endParaRPr sz="1600" dirty="0"/>
          </a:p>
        </p:txBody>
      </p:sp>
      <p:sp>
        <p:nvSpPr>
          <p:cNvPr id="1424" name="textbox 1424"/>
          <p:cNvSpPr/>
          <p:nvPr/>
        </p:nvSpPr>
        <p:spPr>
          <a:xfrm>
            <a:off x="1390650" y="2314575"/>
            <a:ext cx="3190875" cy="257175"/>
          </a:xfrm>
          <a:prstGeom prst="rect">
            <a:avLst/>
          </a:prstGeom>
          <a:noFill/>
          <a:ln w="0" cap="flat">
            <a:noFill/>
            <a:prstDash val="solid"/>
            <a:miter lim="0"/>
          </a:ln>
        </p:spPr>
        <p:txBody>
          <a:bodyPr vert="horz" wrap="none" lIns="0" tIns="0" rIns="0" bIns="0"/>
          <a:lstStyle/>
          <a:p>
            <a:pPr algn="l" rtl="0" eaLnBrk="0"/>
            <a:r>
              <a:rPr sz="1600"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在 </a:t>
            </a:r>
            <a:r>
              <a:rPr sz="1600" kern="0" spc="0" dirty="0">
                <a:solidFill>
                  <a:srgbClr val="002060">
                    <a:alpha val="100000"/>
                  </a:srgbClr>
                </a:solidFill>
                <a:latin typeface="Times New Roman" panose="02020603050405020304"/>
                <a:ea typeface="Times New Roman" panose="02020603050405020304"/>
                <a:cs typeface="Times New Roman" panose="02020603050405020304"/>
              </a:rPr>
              <a:t>BDRIM </a:t>
            </a:r>
            <a:r>
              <a:rPr sz="1600"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框架内，</a:t>
            </a:r>
            <a:r>
              <a:rPr sz="1600" i="1" kern="0" spc="0" dirty="0">
                <a:solidFill>
                  <a:srgbClr val="002060">
                    <a:alpha val="100000"/>
                  </a:srgbClr>
                </a:solidFill>
                <a:latin typeface="Times New Roman" panose="02020603050405020304"/>
                <a:ea typeface="Times New Roman" panose="02020603050405020304"/>
                <a:cs typeface="Times New Roman" panose="02020603050405020304"/>
              </a:rPr>
              <a:t>Z </a:t>
            </a:r>
            <a:r>
              <a:rPr sz="1600"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的原点矩为：</a:t>
            </a:r>
            <a:endParaRPr sz="1600" dirty="0"/>
          </a:p>
        </p:txBody>
      </p:sp>
      <mc:AlternateContent xmlns:mc="http://schemas.openxmlformats.org/markup-compatibility/2006">
        <mc:Choice xmlns:a14="http://schemas.microsoft.com/office/drawing/2010/main" Requires="a14">
          <p:sp>
            <p:nvSpPr>
              <p:cNvPr id="1426" name="textbox 1426"/>
              <p:cNvSpPr/>
              <p:nvPr/>
            </p:nvSpPr>
            <p:spPr>
              <a:xfrm>
                <a:off x="1314450" y="2657475"/>
                <a:ext cx="9744075" cy="7429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2400" dirty="0">
                              <a:latin typeface="Cambria Math" panose="02040503050406030204"/>
                              <a:ea typeface="Cambria Math" panose="02040503050406030204"/>
                            </a:rPr>
                            <m:t>M</m:t>
                          </m:r>
                        </m:e>
                        <m:sub>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q</m:t>
                          </m:r>
                        </m:sub>
                      </m:sSub>
                      <m:r>
                        <a:rPr lang="en-US" sz="2400" dirty="0">
                          <a:latin typeface="Cambria Math" panose="02040503050406030204"/>
                          <a:ea typeface="Cambria Math" panose="02040503050406030204"/>
                        </a:rPr>
                        <m:t>≈</m:t>
                      </m:r>
                      <m:nary>
                        <m:naryPr>
                          <m:chr m:val="∑"/>
                          <m:limLoc m:val="subSup"/>
                          <m:supHide m:val="on"/>
                          <m:ctrlPr>
                            <a:rPr/>
                          </m:ctrlPr>
                        </m:naryPr>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&lt;</m:t>
                          </m:r>
                          <m:r>
                            <m:rPr>
                              <m:sty m:val="p"/>
                            </m:rPr>
                            <a:rPr lang="en-US" sz="2400" dirty="0">
                              <a:latin typeface="Cambria Math" panose="02040503050406030204"/>
                              <a:ea typeface="Cambria Math" panose="02040503050406030204"/>
                            </a:rPr>
                            <m:t>j</m:t>
                          </m:r>
                        </m:sub>
                        <m:sup/>
                        <m:e>
                          <m:r>
                            <m:rPr>
                              <m:sty m:val="p"/>
                            </m:rPr>
                            <a:rPr lang="en-US" sz="2400" dirty="0">
                              <a:latin typeface="Cambria Math" panose="02040503050406030204"/>
                              <a:ea typeface="Cambria Math" panose="02040503050406030204"/>
                            </a:rPr>
                            <m:t>E</m:t>
                          </m:r>
                          <m:d>
                            <m:dPr>
                              <m:begChr m:val="["/>
                              <m:endChr m:val="]"/>
                              <m:ctrlPr>
                                <a:rPr/>
                              </m:ctrlPr>
                            </m:dPr>
                            <m:e>
                              <m:sSup>
                                <m:sSupPr>
                                  <m:ctrlPr>
                                    <a:rPr/>
                                  </m:ctrlPr>
                                </m:sSupPr>
                                <m:e>
                                  <m:d>
                                    <m:dPr>
                                      <m:ctrlPr>
                                        <a:rPr/>
                                      </m:ctrlPr>
                                    </m:dPr>
                                    <m:e>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j</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j</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e>
                                  </m:d>
                                </m:e>
                                <m:sup>
                                  <m:r>
                                    <m:rPr>
                                      <m:sty m:val="p"/>
                                    </m:rPr>
                                    <a:rPr lang="en-US" sz="2400" dirty="0">
                                      <a:latin typeface="Cambria Math" panose="02040503050406030204"/>
                                      <a:ea typeface="Cambria Math" panose="02040503050406030204"/>
                                    </a:rPr>
                                    <m:t>q</m:t>
                                  </m:r>
                                </m:sup>
                              </m:sSup>
                            </m:e>
                          </m:d>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e>
                      </m:nary>
                      <m:nary>
                        <m:naryPr>
                          <m:chr m:val="∑"/>
                          <m:limLoc m:val="subSup"/>
                          <m:ctrlPr>
                            <a:rPr/>
                          </m:ctrlPr>
                        </m:naryPr>
                        <m:sub>
                          <m:r>
                            <m:rPr>
                              <m:sty m:val="p"/>
                            </m:rPr>
                            <a:rPr lang="en-US" sz="2400" dirty="0">
                              <a:latin typeface="Cambria Math" panose="02040503050406030204"/>
                              <a:ea typeface="Cambria Math" panose="02040503050406030204"/>
                            </a:rPr>
                            <m:t>k</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sub>
                        <m:sup>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sup>
                        <m:e>
                          <m:r>
                            <m:rPr>
                              <m:sty m:val="p"/>
                            </m:rPr>
                            <a:rPr lang="en-US" sz="2400" dirty="0">
                              <a:latin typeface="Cambria Math" panose="02040503050406030204"/>
                              <a:ea typeface="Cambria Math" panose="02040503050406030204"/>
                            </a:rPr>
                            <m:t>E</m:t>
                          </m:r>
                          <m:d>
                            <m:dPr>
                              <m:begChr m:val="["/>
                              <m:endChr m:val="]"/>
                              <m:ctrlPr>
                                <a:rPr/>
                              </m:ctrlPr>
                            </m:dPr>
                            <m:e>
                              <m:sSup>
                                <m:sSupPr>
                                  <m:ctrlPr>
                                    <a:rPr/>
                                  </m:ctrlPr>
                                </m:sSupPr>
                                <m:e>
                                  <m:d>
                                    <m:dPr>
                                      <m:ctrlPr>
                                        <a:rPr/>
                                      </m:ctrlPr>
                                    </m:dPr>
                                    <m:e>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k</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m:rPr>
                                              <m:sty m:val="p"/>
                                            </m:rPr>
                                            <a:rPr lang="en-US" sz="2400" dirty="0">
                                              <a:latin typeface="Cambria Math" panose="02040503050406030204"/>
                                              <a:ea typeface="Cambria Math" panose="02040503050406030204"/>
                                            </a:rPr>
                                            <m:t>k</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e>
                                  </m:d>
                                </m:e>
                                <m:sup>
                                  <m:r>
                                    <m:rPr>
                                      <m:sty m:val="p"/>
                                    </m:rPr>
                                    <a:rPr lang="en-US" sz="2400" dirty="0">
                                      <a:latin typeface="Cambria Math" panose="02040503050406030204"/>
                                      <a:ea typeface="Cambria Math" panose="02040503050406030204"/>
                                    </a:rPr>
                                    <m:t>q</m:t>
                                  </m:r>
                                </m:sup>
                              </m:sSup>
                            </m:e>
                          </m:d>
                          <m:r>
                            <a:rPr lang="en-US" sz="2400" dirty="0">
                              <a:latin typeface="Cambria Math" panose="02040503050406030204"/>
                              <a:ea typeface="Cambria Math" panose="02040503050406030204"/>
                            </a:rPr>
                            <m:t>+</m:t>
                          </m:r>
                          <m:f>
                            <m:fPr>
                              <m:ctrlPr>
                                <a:rPr/>
                              </m:ctrlPr>
                            </m:fPr>
                            <m:num>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num>
                            <m:den>
                              <m:r>
                                <a:rPr lang="en-US" sz="2400" dirty="0">
                                  <a:latin typeface="Cambria Math" panose="02040503050406030204"/>
                                  <a:ea typeface="Cambria Math" panose="02040503050406030204"/>
                                </a:rPr>
                                <m:t>2</m:t>
                              </m:r>
                            </m:den>
                          </m:f>
                          <m:sSup>
                            <m:sSupPr>
                              <m:ctrlPr>
                                <a:rPr/>
                              </m:ctrlPr>
                            </m:sSupPr>
                            <m:e>
                              <m:r>
                                <m:rPr>
                                  <m:sty m:val="p"/>
                                </m:rPr>
                                <a:rPr lang="en-US" sz="2400" dirty="0">
                                  <a:latin typeface="Cambria Math" panose="02040503050406030204"/>
                                  <a:ea typeface="Cambria Math" panose="02040503050406030204"/>
                                </a:rPr>
                                <m:t>G</m:t>
                              </m:r>
                            </m:e>
                            <m:sup>
                              <m:r>
                                <m:rPr>
                                  <m:sty m:val="p"/>
                                </m:rPr>
                                <a:rPr lang="en-US" sz="2400" dirty="0">
                                  <a:latin typeface="Cambria Math" panose="02040503050406030204"/>
                                  <a:ea typeface="Cambria Math" panose="02040503050406030204"/>
                                </a:rPr>
                                <m:t>q</m:t>
                              </m:r>
                            </m:sup>
                          </m:sSup>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𝛉</m:t>
                              </m:r>
                            </m:e>
                            <m:sub>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e>
                      </m:nary>
                    </m:oMath>
                  </m:oMathPara>
                </a14:m>
                <a:endParaRPr sz="600" dirty="0"/>
              </a:p>
            </p:txBody>
          </p:sp>
        </mc:Choice>
        <mc:Fallback>
          <p:sp>
            <p:nvSpPr>
              <p:cNvPr id="1426" name="textbox 1426"/>
              <p:cNvSpPr>
                <a:spLocks noRot="1" noChangeAspect="1" noMove="1" noResize="1" noEditPoints="1" noAdjustHandles="1" noChangeArrowheads="1" noChangeShapeType="1" noTextEdit="1"/>
              </p:cNvSpPr>
              <p:nvPr/>
            </p:nvSpPr>
            <p:spPr>
              <a:xfrm>
                <a:off x="1314450" y="2657475"/>
                <a:ext cx="9744075" cy="742950"/>
              </a:xfrm>
              <a:prstGeom prst="rect">
                <a:avLst/>
              </a:prstGeom>
              <a:blipFill rotWithShape="1">
                <a:blip r:embed="rId3"/>
                <a:stretch>
                  <a:fillRect r="-31769"/>
                </a:stretch>
              </a:blipFill>
              <a:ln w="0" cap="flat">
                <a:noFill/>
                <a:prstDash val="solid"/>
                <a:miter lim="0"/>
              </a:ln>
            </p:spPr>
            <p:txBody>
              <a:bodyPr/>
              <a:lstStyle/>
              <a:p>
                <a:r>
                  <a:rPr lang="zh-CN" altLang="en-US">
                    <a:noFill/>
                  </a:rPr>
                  <a:t> </a:t>
                </a:r>
              </a:p>
            </p:txBody>
          </p:sp>
        </mc:Fallback>
      </mc:AlternateContent>
      <p:pic>
        <p:nvPicPr>
          <p:cNvPr id="1430" name="picture 1430"/>
          <p:cNvPicPr>
            <a:picLocks noChangeAspect="1"/>
          </p:cNvPicPr>
          <p:nvPr/>
        </p:nvPicPr>
        <p:blipFill>
          <a:blip r:embed="rId4"/>
          <a:stretch>
            <a:fillRect/>
          </a:stretch>
        </p:blipFill>
        <p:spPr>
          <a:xfrm>
            <a:off x="3171825" y="3552825"/>
            <a:ext cx="485775" cy="447675"/>
          </a:xfrm>
          <a:prstGeom prst="rect">
            <a:avLst/>
          </a:prstGeom>
        </p:spPr>
      </p:pic>
      <p:pic>
        <p:nvPicPr>
          <p:cNvPr id="1434" name="picture 1434"/>
          <p:cNvPicPr>
            <a:picLocks noChangeAspect="1"/>
          </p:cNvPicPr>
          <p:nvPr/>
        </p:nvPicPr>
        <p:blipFill>
          <a:blip r:embed="rId5"/>
          <a:stretch>
            <a:fillRect/>
          </a:stretch>
        </p:blipFill>
        <p:spPr>
          <a:xfrm>
            <a:off x="6877050" y="3552825"/>
            <a:ext cx="485775" cy="447675"/>
          </a:xfrm>
          <a:prstGeom prst="rect">
            <a:avLst/>
          </a:prstGeom>
        </p:spPr>
      </p:pic>
      <p:sp>
        <p:nvSpPr>
          <p:cNvPr id="1436" name="textbox 1436"/>
          <p:cNvSpPr/>
          <p:nvPr/>
        </p:nvSpPr>
        <p:spPr>
          <a:xfrm>
            <a:off x="1143000" y="4143375"/>
            <a:ext cx="2933700" cy="247650"/>
          </a:xfrm>
          <a:prstGeom prst="rect">
            <a:avLst/>
          </a:prstGeom>
          <a:noFill/>
          <a:ln w="0" cap="flat">
            <a:noFill/>
            <a:prstDash val="solid"/>
            <a:miter lim="0"/>
          </a:ln>
        </p:spPr>
        <p:txBody>
          <a:bodyPr vert="horz" wrap="none" lIns="0" tIns="0" rIns="0" bIns="0"/>
          <a:lstStyle/>
          <a:p>
            <a:pPr marL="295275" indent="-257175" algn="l" rtl="0" eaLnBrk="0">
              <a:buChar char="►"/>
            </a:pPr>
            <a:r>
              <a:rPr sz="1600"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二维积分使用 </a:t>
            </a:r>
            <a:r>
              <a:rPr sz="1600" kern="0" spc="0" dirty="0">
                <a:solidFill>
                  <a:srgbClr val="002060">
                    <a:alpha val="100000"/>
                  </a:srgbClr>
                </a:solidFill>
                <a:latin typeface="Times New Roman" panose="02020603050405020304"/>
                <a:ea typeface="Times New Roman" panose="02020603050405020304"/>
                <a:cs typeface="Times New Roman" panose="02020603050405020304"/>
              </a:rPr>
              <a:t>HUT </a:t>
            </a:r>
            <a:r>
              <a:rPr sz="1600"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方法计算</a:t>
            </a:r>
            <a:endParaRPr sz="1600" dirty="0"/>
          </a:p>
        </p:txBody>
      </p:sp>
      <p:sp>
        <p:nvSpPr>
          <p:cNvPr id="1438" name="textbox 1438"/>
          <p:cNvSpPr/>
          <p:nvPr/>
        </p:nvSpPr>
        <p:spPr>
          <a:xfrm>
            <a:off x="5162550" y="4267200"/>
            <a:ext cx="4324350" cy="257175"/>
          </a:xfrm>
          <a:prstGeom prst="rect">
            <a:avLst/>
          </a:prstGeom>
          <a:noFill/>
          <a:ln w="0" cap="flat">
            <a:noFill/>
            <a:prstDash val="solid"/>
            <a:miter lim="0"/>
          </a:ln>
        </p:spPr>
        <p:txBody>
          <a:bodyPr vert="horz" wrap="none" lIns="0" tIns="0" rIns="0" bIns="0"/>
          <a:lstStyle/>
          <a:p>
            <a:pPr algn="l" rtl="0" eaLnBrk="0"/>
            <a:r>
              <a:rPr sz="1600"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一维积分通过五点 </a:t>
            </a:r>
            <a:r>
              <a:rPr sz="1600" kern="0" spc="0" dirty="0">
                <a:solidFill>
                  <a:srgbClr val="002060">
                    <a:alpha val="100000"/>
                  </a:srgbClr>
                </a:solidFill>
                <a:latin typeface="Times New Roman" panose="02020603050405020304"/>
                <a:ea typeface="Times New Roman" panose="02020603050405020304"/>
                <a:cs typeface="Times New Roman" panose="02020603050405020304"/>
              </a:rPr>
              <a:t>Gauss-Hermite </a:t>
            </a:r>
            <a:r>
              <a:rPr sz="1600"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求积规则计算</a:t>
            </a:r>
            <a:endParaRPr sz="1600" dirty="0"/>
          </a:p>
        </p:txBody>
      </p:sp>
      <p:sp>
        <p:nvSpPr>
          <p:cNvPr id="1440" name="textbox 1440"/>
          <p:cNvSpPr/>
          <p:nvPr/>
        </p:nvSpPr>
        <p:spPr>
          <a:xfrm>
            <a:off x="1143000" y="4543425"/>
            <a:ext cx="2943225" cy="542925"/>
          </a:xfrm>
          <a:prstGeom prst="rect">
            <a:avLst/>
          </a:prstGeom>
          <a:noFill/>
          <a:ln w="0" cap="flat">
            <a:noFill/>
            <a:prstDash val="solid"/>
            <a:miter lim="0"/>
          </a:ln>
        </p:spPr>
        <p:txBody>
          <a:bodyPr vert="horz" wrap="none" lIns="0" tIns="0" rIns="0" bIns="0"/>
          <a:lstStyle/>
          <a:p>
            <a:pPr marL="295275" indent="-257175" algn="l" rtl="0" eaLnBrk="0">
              <a:buChar char="►"/>
            </a:pPr>
            <a:r>
              <a:rPr sz="1600" kern="0" spc="0" dirty="0">
                <a:solidFill>
                  <a:srgbClr val="001C54">
                    <a:alpha val="100000"/>
                  </a:srgbClr>
                </a:solidFill>
                <a:latin typeface="微软雅黑" panose="020B0503020204020204" charset="-122"/>
                <a:ea typeface="微软雅黑" panose="020B0503020204020204" charset="-122"/>
                <a:cs typeface="微软雅黑" panose="020B0503020204020204" charset="-122"/>
              </a:rPr>
              <a:t>采用三种不同类别的积分点及</a:t>
            </a:r>
            <a:endParaRPr sz="1600" dirty="0"/>
          </a:p>
          <a:p>
            <a:pPr marL="247650" algn="l" rtl="0" eaLnBrk="0">
              <a:spcBef>
                <a:spcPts val="525"/>
              </a:spcBef>
            </a:pPr>
            <a:r>
              <a:rPr sz="1600" kern="0" spc="0" dirty="0">
                <a:solidFill>
                  <a:srgbClr val="001C54">
                    <a:alpha val="100000"/>
                  </a:srgbClr>
                </a:solidFill>
                <a:latin typeface="微软雅黑" panose="020B0503020204020204" charset="-122"/>
                <a:ea typeface="微软雅黑" panose="020B0503020204020204" charset="-122"/>
                <a:cs typeface="微软雅黑" panose="020B0503020204020204" charset="-122"/>
              </a:rPr>
              <a:t>其相关权重：</a:t>
            </a:r>
            <a:endParaRPr sz="1600" dirty="0"/>
          </a:p>
        </p:txBody>
      </p:sp>
      <p:sp>
        <p:nvSpPr>
          <p:cNvPr id="1442" name="textbox 1442"/>
          <p:cNvSpPr/>
          <p:nvPr/>
        </p:nvSpPr>
        <p:spPr>
          <a:xfrm>
            <a:off x="1428750" y="5257800"/>
            <a:ext cx="1276350" cy="238125"/>
          </a:xfrm>
          <a:prstGeom prst="rect">
            <a:avLst/>
          </a:prstGeom>
          <a:noFill/>
          <a:ln w="0" cap="flat">
            <a:noFill/>
            <a:prstDash val="solid"/>
            <a:miter lim="0"/>
          </a:ln>
        </p:spPr>
        <p:txBody>
          <a:bodyPr vert="horz" wrap="none" lIns="0" tIns="0" rIns="0" bIns="0"/>
          <a:lstStyle/>
          <a:p>
            <a:pPr marL="295275" indent="-257175" algn="l" rtl="0" eaLnBrk="0">
              <a:buChar char="•"/>
            </a:pPr>
            <a:r>
              <a:rPr sz="1600" kern="0" spc="0" dirty="0">
                <a:solidFill>
                  <a:srgbClr val="002060">
                    <a:alpha val="100000"/>
                  </a:srgbClr>
                </a:solidFill>
                <a:latin typeface="Times New Roman" panose="02020603050405020304"/>
                <a:ea typeface="Times New Roman" panose="02020603050405020304"/>
                <a:cs typeface="Times New Roman" panose="02020603050405020304"/>
              </a:rPr>
              <a:t>Category I</a:t>
            </a:r>
            <a:endParaRPr sz="1600" dirty="0"/>
          </a:p>
        </p:txBody>
      </p:sp>
      <p:sp>
        <p:nvSpPr>
          <p:cNvPr id="1444" name="textbox 1444"/>
          <p:cNvSpPr/>
          <p:nvPr/>
        </p:nvSpPr>
        <p:spPr>
          <a:xfrm>
            <a:off x="1428750" y="5638800"/>
            <a:ext cx="1343025" cy="247650"/>
          </a:xfrm>
          <a:prstGeom prst="rect">
            <a:avLst/>
          </a:prstGeom>
          <a:noFill/>
          <a:ln w="0" cap="flat">
            <a:noFill/>
            <a:prstDash val="solid"/>
            <a:miter lim="0"/>
          </a:ln>
        </p:spPr>
        <p:txBody>
          <a:bodyPr vert="horz" wrap="none" lIns="0" tIns="0" rIns="0" bIns="0"/>
          <a:lstStyle/>
          <a:p>
            <a:pPr marL="304800" indent="-266700" algn="l" rtl="0" eaLnBrk="0">
              <a:buChar char="•"/>
            </a:pPr>
            <a:r>
              <a:rPr sz="1600" kern="0" spc="0" dirty="0">
                <a:solidFill>
                  <a:srgbClr val="1E386B">
                    <a:alpha val="100000"/>
                  </a:srgbClr>
                </a:solidFill>
                <a:latin typeface="Times New Roman" panose="02020603050405020304"/>
                <a:ea typeface="Times New Roman" panose="02020603050405020304"/>
                <a:cs typeface="Times New Roman" panose="02020603050405020304"/>
              </a:rPr>
              <a:t>Category II</a:t>
            </a:r>
            <a:endParaRPr sz="1600" dirty="0"/>
          </a:p>
        </p:txBody>
      </p:sp>
      <p:graphicFrame>
        <p:nvGraphicFramePr>
          <p:cNvPr id="1446" name="table 1446"/>
          <p:cNvGraphicFramePr>
            <a:graphicFrameLocks noGrp="1"/>
          </p:cNvGraphicFramePr>
          <p:nvPr/>
        </p:nvGraphicFramePr>
        <p:xfrm>
          <a:off x="5095875" y="4714875"/>
          <a:ext cx="6543675" cy="1228725"/>
        </p:xfrm>
        <a:graphic>
          <a:graphicData uri="http://schemas.openxmlformats.org/drawingml/2006/table">
            <a:tbl>
              <a:tblPr/>
              <a:tblGrid>
                <a:gridCol w="857250"/>
                <a:gridCol w="1295400"/>
                <a:gridCol w="1200150"/>
                <a:gridCol w="666750"/>
                <a:gridCol w="1266825"/>
                <a:gridCol w="1257300"/>
              </a:tblGrid>
              <a:tr h="371475">
                <a:tc>
                  <a:txBody>
                    <a:bodyPr/>
                    <a:lstStyle/>
                    <a:p>
                      <a:pPr algn="l" rtl="0" eaLnBrk="0"/>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69C3ED"/>
                    </a:solidFill>
                  </a:tcPr>
                </a:tc>
                <a:tc>
                  <a:txBody>
                    <a:bodyPr/>
                    <a:lstStyle/>
                    <a:p>
                      <a:pPr algn="ctr" rtl="0" eaLnBrk="0"/>
                      <a:r>
                        <a:rPr sz="1200" b="1" kern="0" spc="0" dirty="0">
                          <a:solidFill>
                            <a:srgbClr val="F2F2F2">
                              <a:alpha val="100000"/>
                            </a:srgbClr>
                          </a:solidFill>
                          <a:latin typeface="微软雅黑" panose="020B0503020204020204" charset="-122"/>
                          <a:ea typeface="微软雅黑" panose="020B0503020204020204" charset="-122"/>
                          <a:cs typeface="微软雅黑" panose="020B0503020204020204" charset="-122"/>
                        </a:rPr>
                        <a:t>1</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69C3ED"/>
                    </a:solidFill>
                  </a:tcPr>
                </a:tc>
                <a:tc>
                  <a:txBody>
                    <a:bodyPr/>
                    <a:lstStyle/>
                    <a:p>
                      <a:pPr algn="ctr" rtl="0" eaLnBrk="0"/>
                      <a:r>
                        <a:rPr sz="1200" b="1" kern="0" spc="0" dirty="0">
                          <a:solidFill>
                            <a:srgbClr val="F2F2F2">
                              <a:alpha val="100000"/>
                            </a:srgbClr>
                          </a:solidFill>
                          <a:latin typeface="微软雅黑" panose="020B0503020204020204" charset="-122"/>
                          <a:ea typeface="微软雅黑" panose="020B0503020204020204" charset="-122"/>
                          <a:cs typeface="微软雅黑" panose="020B0503020204020204" charset="-122"/>
                        </a:rPr>
                        <a:t>2</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69C4EC"/>
                    </a:solidFill>
                  </a:tcPr>
                </a:tc>
                <a:tc>
                  <a:txBody>
                    <a:bodyPr/>
                    <a:lstStyle/>
                    <a:p>
                      <a:pPr algn="ctr" rtl="0" eaLnBrk="0"/>
                      <a:r>
                        <a:rPr sz="1200" b="1" kern="0" spc="0" dirty="0">
                          <a:solidFill>
                            <a:srgbClr val="F2F2F2">
                              <a:alpha val="100000"/>
                            </a:srgbClr>
                          </a:solidFill>
                          <a:latin typeface="微软雅黑" panose="020B0503020204020204" charset="-122"/>
                          <a:ea typeface="微软雅黑" panose="020B0503020204020204" charset="-122"/>
                          <a:cs typeface="微软雅黑" panose="020B0503020204020204" charset="-122"/>
                        </a:rPr>
                        <a:t>3</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69C3ED"/>
                    </a:solidFill>
                  </a:tcPr>
                </a:tc>
                <a:tc>
                  <a:txBody>
                    <a:bodyPr/>
                    <a:lstStyle/>
                    <a:p>
                      <a:pPr algn="ctr" rtl="0" eaLnBrk="0"/>
                      <a:r>
                        <a:rPr sz="12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4</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69C4ED"/>
                    </a:solidFill>
                  </a:tcPr>
                </a:tc>
                <a:tc>
                  <a:txBody>
                    <a:bodyPr/>
                    <a:lstStyle/>
                    <a:p>
                      <a:pPr algn="ctr" rtl="0" eaLnBrk="0"/>
                      <a:r>
                        <a:rPr sz="12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5</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69C4EC"/>
                    </a:solidFill>
                  </a:tcPr>
                </a:tc>
              </a:tr>
              <a:tr h="466725">
                <a:tc>
                  <a:txBody>
                    <a:bodyPr/>
                    <a:lstStyle/>
                    <a:p>
                      <a:pPr algn="ctr" rtl="0" eaLnBrk="0"/>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积分点</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D3EAF6"/>
                    </a:solidFill>
                  </a:tcPr>
                </a:tc>
                <a:tc>
                  <a:txBody>
                    <a:bodyPr/>
                    <a:lstStyle/>
                    <a:p>
                      <a:pPr algn="ctr" rtl="0" eaLnBrk="0"/>
                      <a:r>
                        <a:rPr sz="1300" kern="0" spc="0" dirty="0">
                          <a:solidFill>
                            <a:srgbClr val="000000">
                              <a:alpha val="100000"/>
                            </a:srgbClr>
                          </a:solidFill>
                          <a:latin typeface="Georgia" panose="02040502050405020303"/>
                          <a:ea typeface="Georgia" panose="02040502050405020303"/>
                          <a:cs typeface="Georgia" panose="02040502050405020303"/>
                        </a:rPr>
                        <a:t>-√5+√10</a:t>
                      </a:r>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D4EAF6"/>
                    </a:solidFill>
                  </a:tcPr>
                </a:tc>
                <a:tc>
                  <a:txBody>
                    <a:bodyPr/>
                    <a:lstStyle/>
                    <a:p>
                      <a:pPr algn="ctr" rtl="0" eaLnBrk="0"/>
                      <a:r>
                        <a:rPr sz="1400" kern="0" spc="0" dirty="0">
                          <a:solidFill>
                            <a:srgbClr val="000000">
                              <a:alpha val="100000"/>
                            </a:srgbClr>
                          </a:solidFill>
                          <a:latin typeface="Georgia" panose="02040502050405020303"/>
                          <a:ea typeface="Georgia" panose="02040502050405020303"/>
                          <a:cs typeface="Georgia" panose="02040502050405020303"/>
                        </a:rPr>
                        <a:t>-√5-√10</a:t>
                      </a:r>
                      <a:endParaRPr sz="14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D4EAF5"/>
                    </a:solidFill>
                  </a:tcPr>
                </a:tc>
                <a:tc>
                  <a:txBody>
                    <a:bodyPr/>
                    <a:lstStyle/>
                    <a:p>
                      <a:pPr algn="ctr" rtl="0" eaLnBrk="0"/>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D4EAF7"/>
                    </a:solidFill>
                  </a:tcPr>
                </a:tc>
                <a:tc>
                  <a:txBody>
                    <a:bodyPr/>
                    <a:lstStyle/>
                    <a:p>
                      <a:pPr algn="ctr" rtl="0" eaLnBrk="0"/>
                      <a:r>
                        <a:rPr sz="1300" kern="0" spc="0" dirty="0">
                          <a:solidFill>
                            <a:srgbClr val="404040">
                              <a:alpha val="100000"/>
                            </a:srgbClr>
                          </a:solidFill>
                          <a:latin typeface="Georgia" panose="02040502050405020303"/>
                          <a:ea typeface="Georgia" panose="02040502050405020303"/>
                          <a:cs typeface="Georgia" panose="02040502050405020303"/>
                        </a:rPr>
                        <a:t>√5-√10</a:t>
                      </a:r>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D4EAF6"/>
                    </a:solidFill>
                  </a:tcPr>
                </a:tc>
                <a:tc>
                  <a:txBody>
                    <a:bodyPr/>
                    <a:lstStyle/>
                    <a:p>
                      <a:pPr algn="ctr" rtl="0" eaLnBrk="0"/>
                      <a:r>
                        <a:rPr sz="1300" kern="0" spc="0" dirty="0">
                          <a:solidFill>
                            <a:srgbClr val="404040">
                              <a:alpha val="100000"/>
                            </a:srgbClr>
                          </a:solidFill>
                          <a:latin typeface="Georgia" panose="02040502050405020303"/>
                          <a:ea typeface="Georgia" panose="02040502050405020303"/>
                          <a:cs typeface="Georgia" panose="02040502050405020303"/>
                        </a:rPr>
                        <a:t>√5+√10</a:t>
                      </a:r>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D4EAF5"/>
                    </a:solidFill>
                  </a:tcPr>
                </a:tc>
              </a:tr>
              <a:tr h="390525">
                <a:tc>
                  <a:txBody>
                    <a:bodyPr/>
                    <a:lstStyle/>
                    <a:p>
                      <a:pPr algn="ctr" rtl="0" eaLnBrk="0"/>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权重</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ECF4FB"/>
                    </a:solidFill>
                  </a:tcPr>
                </a:tc>
                <a:tc>
                  <a:txBody>
                    <a:bodyPr/>
                    <a:lstStyle/>
                    <a:p>
                      <a:pPr algn="ctr" rtl="0" eaLnBrk="0"/>
                      <a:r>
                        <a:rPr sz="1300" kern="0" spc="0" dirty="0">
                          <a:solidFill>
                            <a:srgbClr val="000000">
                              <a:alpha val="100000"/>
                            </a:srgbClr>
                          </a:solidFill>
                          <a:latin typeface="Georgia" panose="02040502050405020303"/>
                          <a:ea typeface="Georgia" panose="02040502050405020303"/>
                          <a:cs typeface="Georgia" panose="02040502050405020303"/>
                        </a:rPr>
                        <a:t>(7-2√10)/60</a:t>
                      </a:r>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EBF4FA"/>
                    </a:solidFill>
                  </a:tcPr>
                </a:tc>
                <a:tc>
                  <a:txBody>
                    <a:bodyPr/>
                    <a:lstStyle/>
                    <a:p>
                      <a:pPr algn="l" rtl="0" eaLnBrk="0"/>
                      <a:r>
                        <a:rPr sz="1300" kern="0" spc="0" dirty="0">
                          <a:solidFill>
                            <a:srgbClr val="000000">
                              <a:alpha val="100000"/>
                            </a:srgbClr>
                          </a:solidFill>
                          <a:latin typeface="Georgia" panose="02040502050405020303"/>
                          <a:ea typeface="Georgia" panose="02040502050405020303"/>
                          <a:cs typeface="Georgia" panose="02040502050405020303"/>
                        </a:rPr>
                        <a:t>(7+2√10)/60</a:t>
                      </a:r>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EBF4FA"/>
                    </a:solidFill>
                  </a:tcPr>
                </a:tc>
                <a:tc>
                  <a:txBody>
                    <a:bodyPr/>
                    <a:lstStyle/>
                    <a:p>
                      <a:pPr algn="ctr" rtl="0" eaLnBrk="0"/>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8/15</a:t>
                      </a:r>
                      <a:endParaRPr sz="12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ECF5FC"/>
                    </a:solidFill>
                  </a:tcPr>
                </a:tc>
                <a:tc>
                  <a:txBody>
                    <a:bodyPr/>
                    <a:lstStyle/>
                    <a:p>
                      <a:pPr algn="ctr" rtl="0" eaLnBrk="0"/>
                      <a:r>
                        <a:rPr sz="1300" kern="0" spc="0" dirty="0">
                          <a:solidFill>
                            <a:srgbClr val="404040">
                              <a:alpha val="100000"/>
                            </a:srgbClr>
                          </a:solidFill>
                          <a:latin typeface="Georgia" panose="02040502050405020303"/>
                          <a:ea typeface="Georgia" panose="02040502050405020303"/>
                          <a:cs typeface="Georgia" panose="02040502050405020303"/>
                        </a:rPr>
                        <a:t>(7+2√10)/60</a:t>
                      </a:r>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EBF4FA"/>
                    </a:solidFill>
                  </a:tcPr>
                </a:tc>
                <a:tc>
                  <a:txBody>
                    <a:bodyPr/>
                    <a:lstStyle/>
                    <a:p>
                      <a:pPr algn="ctr" rtl="0" eaLnBrk="0"/>
                      <a:r>
                        <a:rPr sz="1300" kern="0" spc="0" dirty="0">
                          <a:solidFill>
                            <a:srgbClr val="404040">
                              <a:alpha val="100000"/>
                            </a:srgbClr>
                          </a:solidFill>
                          <a:latin typeface="Georgia" panose="02040502050405020303"/>
                          <a:ea typeface="Georgia" panose="02040502050405020303"/>
                          <a:cs typeface="Georgia" panose="02040502050405020303"/>
                        </a:rPr>
                        <a:t>(7-2√10)/60</a:t>
                      </a:r>
                      <a:endParaRPr sz="1300" dirty="0"/>
                    </a:p>
                  </a:txBody>
                  <a:tcPr marL="0" marR="0" marT="0" marB="0" vert="horz" anchor="ctr">
                    <a:lnL w="19050" cap="flat" cmpd="sng" algn="ctr">
                      <a:solidFill>
                        <a:srgbClr val="A0E9FD"/>
                      </a:solidFill>
                      <a:prstDash val="solid"/>
                      <a:round/>
                      <a:headEnd type="none" w="med" len="med"/>
                      <a:tailEnd type="none" w="med" len="med"/>
                    </a:lnL>
                    <a:lnR w="19050" cap="flat" cmpd="sng" algn="ctr">
                      <a:solidFill>
                        <a:srgbClr val="A0E9FD"/>
                      </a:solidFill>
                      <a:prstDash val="solid"/>
                      <a:round/>
                      <a:headEnd type="none" w="med" len="med"/>
                      <a:tailEnd type="none" w="med" len="med"/>
                    </a:lnR>
                    <a:lnT w="19050" cap="flat" cmpd="sng" algn="ctr">
                      <a:solidFill>
                        <a:srgbClr val="A0E9FD"/>
                      </a:solidFill>
                      <a:prstDash val="solid"/>
                      <a:round/>
                      <a:headEnd type="none" w="med" len="med"/>
                      <a:tailEnd type="none" w="med" len="med"/>
                    </a:lnT>
                    <a:lnB w="19050" cap="flat" cmpd="sng" algn="ctr">
                      <a:solidFill>
                        <a:srgbClr val="A0E9FD"/>
                      </a:solidFill>
                      <a:prstDash val="solid"/>
                      <a:round/>
                      <a:headEnd type="none" w="med" len="med"/>
                      <a:tailEnd type="none" w="med" len="med"/>
                    </a:lnB>
                    <a:solidFill>
                      <a:srgbClr val="EBF4FB"/>
                    </a:solidFill>
                  </a:tcPr>
                </a:tc>
              </a:tr>
            </a:tbl>
          </a:graphicData>
        </a:graphic>
      </p:graphicFrame>
      <p:sp>
        <p:nvSpPr>
          <p:cNvPr id="1448" name="textbox 1448"/>
          <p:cNvSpPr/>
          <p:nvPr/>
        </p:nvSpPr>
        <p:spPr>
          <a:xfrm>
            <a:off x="1428750" y="6019800"/>
            <a:ext cx="1438275" cy="247650"/>
          </a:xfrm>
          <a:prstGeom prst="rect">
            <a:avLst/>
          </a:prstGeom>
          <a:noFill/>
          <a:ln w="0" cap="flat">
            <a:noFill/>
            <a:prstDash val="solid"/>
            <a:miter lim="0"/>
          </a:ln>
        </p:spPr>
        <p:txBody>
          <a:bodyPr vert="horz" wrap="none" lIns="0" tIns="0" rIns="0" bIns="0"/>
          <a:lstStyle/>
          <a:p>
            <a:pPr marL="304800" indent="-266700" algn="l" rtl="0" eaLnBrk="0">
              <a:buChar char="•"/>
            </a:pPr>
            <a:r>
              <a:rPr sz="1600" kern="0" spc="0" dirty="0">
                <a:solidFill>
                  <a:srgbClr val="44546A">
                    <a:alpha val="100000"/>
                  </a:srgbClr>
                </a:solidFill>
                <a:latin typeface="Times New Roman" panose="02020603050405020304"/>
                <a:ea typeface="Times New Roman" panose="02020603050405020304"/>
                <a:cs typeface="Times New Roman" panose="02020603050405020304"/>
              </a:rPr>
              <a:t>Category III</a:t>
            </a:r>
            <a:endParaRPr sz="1600" dirty="0"/>
          </a:p>
        </p:txBody>
      </p:sp>
      <p:sp>
        <p:nvSpPr>
          <p:cNvPr id="1450" name="textbox 1450"/>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452" name="textbox 1452"/>
          <p:cNvSpPr/>
          <p:nvPr/>
        </p:nvSpPr>
        <p:spPr>
          <a:xfrm>
            <a:off x="11753850" y="6734175"/>
            <a:ext cx="180975" cy="114300"/>
          </a:xfrm>
          <a:prstGeom prst="rect">
            <a:avLst/>
          </a:prstGeom>
          <a:noFill/>
          <a:ln w="0" cap="flat">
            <a:noFill/>
            <a:prstDash val="solid"/>
            <a:miter lim="0"/>
          </a:ln>
        </p:spPr>
        <p:txBody>
          <a:bodyPr vert="horz" wrap="none" lIns="0" tIns="0" rIns="0" bIns="0"/>
          <a:lstStyle/>
          <a:p>
            <a:pPr algn="l" rtl="0" eaLnBrk="0"/>
            <a:r>
              <a:rPr sz="900" kern="0" spc="375" dirty="0">
                <a:solidFill>
                  <a:srgbClr val="FFFFFF">
                    <a:alpha val="100000"/>
                  </a:srgbClr>
                </a:solidFill>
                <a:latin typeface="Arial" panose="020B0604020202020204"/>
                <a:ea typeface="Arial" panose="020B0604020202020204"/>
                <a:cs typeface="Arial" panose="020B0604020202020204"/>
              </a:rPr>
              <a:t>35</a:t>
            </a:r>
            <a:endParaRPr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6" name="picture 1456"/>
          <p:cNvPicPr>
            <a:picLocks noChangeAspect="1"/>
          </p:cNvPicPr>
          <p:nvPr/>
        </p:nvPicPr>
        <p:blipFill>
          <a:blip r:embed="rId1"/>
          <a:stretch>
            <a:fillRect/>
          </a:stretch>
        </p:blipFill>
        <p:spPr>
          <a:xfrm>
            <a:off x="0" y="0"/>
            <a:ext cx="12192000" cy="6858000"/>
          </a:xfrm>
          <a:prstGeom prst="rect">
            <a:avLst/>
          </a:prstGeom>
        </p:spPr>
      </p:pic>
      <p:sp>
        <p:nvSpPr>
          <p:cNvPr id="1458" name="textbox 1458"/>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460" name="textbox 1460"/>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462" name="textbox 146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466" name="picture 1466"/>
          <p:cNvPicPr>
            <a:picLocks noChangeAspect="1"/>
          </p:cNvPicPr>
          <p:nvPr/>
        </p:nvPicPr>
        <p:blipFill>
          <a:blip r:embed="rId2"/>
          <a:stretch>
            <a:fillRect/>
          </a:stretch>
        </p:blipFill>
        <p:spPr>
          <a:xfrm>
            <a:off x="295275" y="247650"/>
            <a:ext cx="733425" cy="666750"/>
          </a:xfrm>
          <a:prstGeom prst="rect">
            <a:avLst/>
          </a:prstGeom>
        </p:spPr>
      </p:pic>
      <p:sp>
        <p:nvSpPr>
          <p:cNvPr id="1468" name="textbox 1468"/>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470" name="textbox 1470"/>
          <p:cNvSpPr/>
          <p:nvPr/>
        </p:nvSpPr>
        <p:spPr>
          <a:xfrm>
            <a:off x="1447800" y="752475"/>
            <a:ext cx="525780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472" name="textbox 1472"/>
          <p:cNvSpPr/>
          <p:nvPr/>
        </p:nvSpPr>
        <p:spPr>
          <a:xfrm>
            <a:off x="1447800" y="1104900"/>
            <a:ext cx="1952625" cy="314325"/>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高阶无迹变换法</a:t>
            </a:r>
            <a:endParaRPr sz="2000" dirty="0"/>
          </a:p>
        </p:txBody>
      </p:sp>
      <p:sp>
        <p:nvSpPr>
          <p:cNvPr id="1474" name="textbox 1474"/>
          <p:cNvSpPr/>
          <p:nvPr/>
        </p:nvSpPr>
        <p:spPr>
          <a:xfrm>
            <a:off x="1457325" y="1466850"/>
            <a:ext cx="2790825" cy="152400"/>
          </a:xfrm>
          <a:prstGeom prst="rect">
            <a:avLst/>
          </a:prstGeom>
          <a:noFill/>
          <a:ln w="0" cap="flat">
            <a:noFill/>
            <a:prstDash val="solid"/>
            <a:miter lim="0"/>
          </a:ln>
        </p:spPr>
        <p:txBody>
          <a:bodyPr vert="horz" wrap="none" lIns="0" tIns="0" rIns="0" bIns="0"/>
          <a:lstStyle/>
          <a:p>
            <a:pPr algn="l" rtl="0" eaLnBrk="0"/>
            <a:r>
              <a:rPr sz="1000" kern="0" spc="0" dirty="0">
                <a:solidFill>
                  <a:srgbClr val="00B0F0">
                    <a:alpha val="100000"/>
                  </a:srgbClr>
                </a:solidFill>
                <a:latin typeface="Times New Roman" panose="02020603050405020304"/>
                <a:ea typeface="Times New Roman" panose="02020603050405020304"/>
                <a:cs typeface="Times New Roman" panose="02020603050405020304"/>
              </a:rPr>
              <a:t>High-order Unscented Transformation (HUT) Method</a:t>
            </a:r>
            <a:endParaRPr sz="1000" dirty="0"/>
          </a:p>
        </p:txBody>
      </p:sp>
      <p:pic>
        <p:nvPicPr>
          <p:cNvPr id="1480" name="picture 1480"/>
          <p:cNvPicPr>
            <a:picLocks noChangeAspect="1"/>
          </p:cNvPicPr>
          <p:nvPr/>
        </p:nvPicPr>
        <p:blipFill>
          <a:blip r:embed="rId3"/>
          <a:stretch>
            <a:fillRect/>
          </a:stretch>
        </p:blipFill>
        <p:spPr>
          <a:xfrm>
            <a:off x="704850" y="3143250"/>
            <a:ext cx="4305300" cy="3057525"/>
          </a:xfrm>
          <a:prstGeom prst="rect">
            <a:avLst/>
          </a:prstGeom>
        </p:spPr>
      </p:pic>
      <p:sp>
        <p:nvSpPr>
          <p:cNvPr id="1482" name="textbox 1482"/>
          <p:cNvSpPr/>
          <p:nvPr/>
        </p:nvSpPr>
        <p:spPr>
          <a:xfrm>
            <a:off x="1657350" y="6305550"/>
            <a:ext cx="2438400" cy="247650"/>
          </a:xfrm>
          <a:prstGeom prst="rect">
            <a:avLst/>
          </a:prstGeom>
          <a:noFill/>
          <a:ln w="0" cap="flat">
            <a:noFill/>
            <a:prstDash val="solid"/>
            <a:miter lim="0"/>
          </a:ln>
        </p:spPr>
        <p:txBody>
          <a:bodyPr vert="horz" wrap="none" lIns="0" tIns="0" rIns="0" bIns="0"/>
          <a:lstStyle/>
          <a:p>
            <a:pPr algn="l" rtl="0" eaLnBrk="0"/>
            <a:r>
              <a:rPr sz="1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HUT 方法的二维空间积分点</a:t>
            </a:r>
            <a:endParaRPr sz="1500" dirty="0"/>
          </a:p>
        </p:txBody>
      </p:sp>
      <p:pic>
        <p:nvPicPr>
          <p:cNvPr id="1486" name="picture 1486"/>
          <p:cNvPicPr>
            <a:picLocks noChangeAspect="1"/>
          </p:cNvPicPr>
          <p:nvPr/>
        </p:nvPicPr>
        <p:blipFill>
          <a:blip r:embed="rId4"/>
          <a:stretch>
            <a:fillRect/>
          </a:stretch>
        </p:blipFill>
        <p:spPr>
          <a:xfrm>
            <a:off x="5534025" y="1095375"/>
            <a:ext cx="5905500" cy="2324100"/>
          </a:xfrm>
          <a:prstGeom prst="rect">
            <a:avLst/>
          </a:prstGeom>
        </p:spPr>
      </p:pic>
      <p:sp>
        <p:nvSpPr>
          <p:cNvPr id="1490" name="textbox 1490"/>
          <p:cNvSpPr/>
          <p:nvPr/>
        </p:nvSpPr>
        <p:spPr>
          <a:xfrm>
            <a:off x="5387975" y="2112010"/>
            <a:ext cx="1210310" cy="487680"/>
          </a:xfrm>
          <a:prstGeom prst="rect">
            <a:avLst/>
          </a:prstGeom>
          <a:noFill/>
          <a:ln w="0" cap="flat">
            <a:noFill/>
            <a:prstDash val="solid"/>
            <a:miter lim="0"/>
          </a:ln>
        </p:spPr>
        <p:txBody>
          <a:bodyPr vert="horz" wrap="none" lIns="0" tIns="0" rIns="0" bIns="0"/>
          <a:lstStyle/>
          <a:p>
            <a:pPr marL="333375" indent="-333375" algn="l" rtl="0" eaLnBrk="0">
              <a:buChar char="•"/>
            </a:pPr>
            <a:r>
              <a:rPr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类型2: </a:t>
            </a:r>
            <a:endParaRPr sz="2000" dirty="0"/>
          </a:p>
        </p:txBody>
      </p:sp>
      <p:sp>
        <p:nvSpPr>
          <p:cNvPr id="1496" name="textbox 1496"/>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498" name="textbox 1498"/>
          <p:cNvSpPr/>
          <p:nvPr/>
        </p:nvSpPr>
        <p:spPr>
          <a:xfrm>
            <a:off x="11753850" y="6734175"/>
            <a:ext cx="180975" cy="114300"/>
          </a:xfrm>
          <a:prstGeom prst="rect">
            <a:avLst/>
          </a:prstGeom>
          <a:noFill/>
          <a:ln w="0" cap="flat">
            <a:noFill/>
            <a:prstDash val="solid"/>
            <a:miter lim="0"/>
          </a:ln>
        </p:spPr>
        <p:txBody>
          <a:bodyPr vert="horz" wrap="none" lIns="0" tIns="0" rIns="0" bIns="0"/>
          <a:lstStyle/>
          <a:p>
            <a:pPr algn="l" rtl="0" eaLnBrk="0"/>
            <a:r>
              <a:rPr sz="900" kern="0" spc="375" dirty="0">
                <a:solidFill>
                  <a:srgbClr val="FFFFFF">
                    <a:alpha val="100000"/>
                  </a:srgbClr>
                </a:solidFill>
                <a:latin typeface="Arial" panose="020B0604020202020204"/>
                <a:ea typeface="Arial" panose="020B0604020202020204"/>
                <a:cs typeface="Arial" panose="020B0604020202020204"/>
              </a:rPr>
              <a:t>36</a:t>
            </a:r>
            <a:endParaRPr sz="900" dirty="0"/>
          </a:p>
        </p:txBody>
      </p:sp>
      <p:pic>
        <p:nvPicPr>
          <p:cNvPr id="6" name="picture 6"/>
          <p:cNvPicPr>
            <a:picLocks noChangeAspect="1"/>
          </p:cNvPicPr>
          <p:nvPr/>
        </p:nvPicPr>
        <p:blipFill>
          <a:blip r:embed="rId5"/>
          <a:stretch>
            <a:fillRect/>
          </a:stretch>
        </p:blipFill>
        <p:spPr>
          <a:xfrm rot="21600000">
            <a:off x="6457980" y="1054089"/>
            <a:ext cx="5156118" cy="2374928"/>
          </a:xfrm>
          <a:prstGeom prst="rect">
            <a:avLst/>
          </a:prstGeom>
        </p:spPr>
      </p:pic>
      <p:pic>
        <p:nvPicPr>
          <p:cNvPr id="18" name="picture 18"/>
          <p:cNvPicPr>
            <a:picLocks noChangeAspect="1"/>
          </p:cNvPicPr>
          <p:nvPr/>
        </p:nvPicPr>
        <p:blipFill>
          <a:blip r:embed="rId6"/>
          <a:stretch>
            <a:fillRect/>
          </a:stretch>
        </p:blipFill>
        <p:spPr>
          <a:xfrm rot="21600000">
            <a:off x="1225539" y="1784319"/>
            <a:ext cx="4000560" cy="1143051"/>
          </a:xfrm>
          <a:prstGeom prst="rect">
            <a:avLst/>
          </a:prstGeom>
        </p:spPr>
      </p:pic>
      <p:pic>
        <p:nvPicPr>
          <p:cNvPr id="16" name="picture 16"/>
          <p:cNvPicPr>
            <a:picLocks noChangeAspect="1"/>
          </p:cNvPicPr>
          <p:nvPr/>
        </p:nvPicPr>
        <p:blipFill>
          <a:blip r:embed="rId7"/>
          <a:stretch>
            <a:fillRect/>
          </a:stretch>
        </p:blipFill>
        <p:spPr>
          <a:xfrm rot="21600000">
            <a:off x="6629400" y="3740178"/>
            <a:ext cx="2781361" cy="2838409"/>
          </a:xfrm>
          <a:prstGeom prst="rect">
            <a:avLst/>
          </a:prstGeom>
        </p:spPr>
      </p:pic>
      <p:sp>
        <p:nvSpPr>
          <p:cNvPr id="3" name="textbox 1490"/>
          <p:cNvSpPr/>
          <p:nvPr/>
        </p:nvSpPr>
        <p:spPr>
          <a:xfrm>
            <a:off x="161925" y="2131695"/>
            <a:ext cx="1210310" cy="487680"/>
          </a:xfrm>
          <a:prstGeom prst="rect">
            <a:avLst/>
          </a:prstGeom>
          <a:noFill/>
          <a:ln w="0" cap="flat">
            <a:noFill/>
            <a:prstDash val="solid"/>
            <a:miter lim="0"/>
          </a:ln>
        </p:spPr>
        <p:txBody>
          <a:bodyPr vert="horz" wrap="none" lIns="0" tIns="0" rIns="0" bIns="0"/>
          <a:lstStyle/>
          <a:p>
            <a:pPr marL="333375" indent="-333375" algn="l" rtl="0" eaLnBrk="0">
              <a:buChar char="•"/>
            </a:pPr>
            <a:r>
              <a:rPr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类型</a:t>
            </a:r>
            <a:r>
              <a:rPr lang="en-US"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2000" dirty="0"/>
          </a:p>
        </p:txBody>
      </p:sp>
      <p:sp>
        <p:nvSpPr>
          <p:cNvPr id="4" name="textbox 1490"/>
          <p:cNvSpPr/>
          <p:nvPr/>
        </p:nvSpPr>
        <p:spPr>
          <a:xfrm>
            <a:off x="5387975" y="4915535"/>
            <a:ext cx="1210310" cy="487680"/>
          </a:xfrm>
          <a:prstGeom prst="rect">
            <a:avLst/>
          </a:prstGeom>
          <a:noFill/>
          <a:ln w="0" cap="flat">
            <a:noFill/>
            <a:prstDash val="solid"/>
            <a:miter lim="0"/>
          </a:ln>
        </p:spPr>
        <p:txBody>
          <a:bodyPr vert="horz" wrap="none" lIns="0" tIns="0" rIns="0" bIns="0"/>
          <a:lstStyle/>
          <a:p>
            <a:pPr marL="333375" indent="-333375" algn="l" rtl="0" eaLnBrk="0">
              <a:buChar char="•"/>
            </a:pPr>
            <a:r>
              <a:rPr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类型</a:t>
            </a:r>
            <a:r>
              <a:rPr lang="en-US"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2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2" name="picture 1502"/>
          <p:cNvPicPr>
            <a:picLocks noChangeAspect="1"/>
          </p:cNvPicPr>
          <p:nvPr/>
        </p:nvPicPr>
        <p:blipFill>
          <a:blip r:embed="rId1"/>
          <a:stretch>
            <a:fillRect/>
          </a:stretch>
        </p:blipFill>
        <p:spPr>
          <a:xfrm>
            <a:off x="0" y="0"/>
            <a:ext cx="12192000" cy="6858000"/>
          </a:xfrm>
          <a:prstGeom prst="rect">
            <a:avLst/>
          </a:prstGeom>
        </p:spPr>
      </p:pic>
      <p:sp>
        <p:nvSpPr>
          <p:cNvPr id="1504" name="textbox 1504"/>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506" name="textbox 1506"/>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508" name="textbox 150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A709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512" name="picture 1512"/>
          <p:cNvPicPr>
            <a:picLocks noChangeAspect="1"/>
          </p:cNvPicPr>
          <p:nvPr/>
        </p:nvPicPr>
        <p:blipFill>
          <a:blip r:embed="rId2"/>
          <a:stretch>
            <a:fillRect/>
          </a:stretch>
        </p:blipFill>
        <p:spPr>
          <a:xfrm>
            <a:off x="295275" y="247650"/>
            <a:ext cx="733425" cy="666750"/>
          </a:xfrm>
          <a:prstGeom prst="rect">
            <a:avLst/>
          </a:prstGeom>
        </p:spPr>
      </p:pic>
      <p:sp>
        <p:nvSpPr>
          <p:cNvPr id="1514" name="textbox 1514"/>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516" name="textbox 1516"/>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518" name="textbox 1518"/>
          <p:cNvSpPr/>
          <p:nvPr/>
        </p:nvSpPr>
        <p:spPr>
          <a:xfrm>
            <a:off x="1447800" y="1104900"/>
            <a:ext cx="19526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共轭无迹变换法</a:t>
            </a:r>
            <a:endParaRPr sz="2000" dirty="0"/>
          </a:p>
        </p:txBody>
      </p:sp>
      <p:sp>
        <p:nvSpPr>
          <p:cNvPr id="1520" name="textbox 1520"/>
          <p:cNvSpPr/>
          <p:nvPr/>
        </p:nvSpPr>
        <p:spPr>
          <a:xfrm>
            <a:off x="876300" y="1171575"/>
            <a:ext cx="209550" cy="24765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2000" dirty="0"/>
          </a:p>
        </p:txBody>
      </p:sp>
      <p:sp>
        <p:nvSpPr>
          <p:cNvPr id="1522" name="textbox 1522"/>
          <p:cNvSpPr/>
          <p:nvPr/>
        </p:nvSpPr>
        <p:spPr>
          <a:xfrm>
            <a:off x="1457325" y="1466850"/>
            <a:ext cx="2505075"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Conjugate Unscented Transform (CUT) Method</a:t>
            </a:r>
            <a:endParaRPr sz="1000" dirty="0"/>
          </a:p>
        </p:txBody>
      </p:sp>
      <p:sp>
        <p:nvSpPr>
          <p:cNvPr id="1524" name="textbox 1524"/>
          <p:cNvSpPr/>
          <p:nvPr/>
        </p:nvSpPr>
        <p:spPr>
          <a:xfrm>
            <a:off x="885825" y="1743075"/>
            <a:ext cx="4829175"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基于 </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CUT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选点的降维积分法 </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(CUT-DRIM)</a:t>
            </a:r>
            <a:endParaRPr sz="1800" b="1" kern="0" spc="0" dirty="0">
              <a:solidFill>
                <a:srgbClr val="0070BC">
                  <a:alpha val="100000"/>
                </a:srgbClr>
              </a:solidFill>
              <a:latin typeface="Times New Roman" panose="02020603050405020304"/>
              <a:ea typeface="Times New Roman" panose="02020603050405020304"/>
              <a:cs typeface="Times New Roman" panose="02020603050405020304"/>
            </a:endParaRPr>
          </a:p>
        </p:txBody>
      </p:sp>
      <mc:AlternateContent xmlns:mc="http://schemas.openxmlformats.org/markup-compatibility/2006">
        <mc:Choice xmlns:a14="http://schemas.microsoft.com/office/drawing/2010/main" Requires="a14">
          <p:sp>
            <p:nvSpPr>
              <p:cNvPr id="1530" name="textbox 1530"/>
              <p:cNvSpPr/>
              <p:nvPr/>
            </p:nvSpPr>
            <p:spPr>
              <a:xfrm>
                <a:off x="1381125" y="4581525"/>
                <a:ext cx="4381500" cy="304800"/>
              </a:xfrm>
              <a:prstGeom prst="rect">
                <a:avLst/>
              </a:prstGeom>
              <a:noFill/>
              <a:ln w="0" cap="flat">
                <a:noFill/>
                <a:prstDash val="solid"/>
                <a:miter lim="0"/>
              </a:ln>
            </p:spPr>
            <p:txBody>
              <a:bodyPr vert="horz" wrap="none" lIns="0" tIns="0" rIns="0" bIns="0"/>
              <a:lstStyle/>
              <a:p>
                <a:pPr marL="295275" indent="-295275" algn="l" rtl="0" eaLnBrk="0">
                  <a:buChar char="•"/>
                </a:pPr>
                <a14:m>
                  <m:oMath xmlns:m="http://schemas.openxmlformats.org/officeDocument/2006/math">
                    <m:sSubSup>
                      <m:sSubSupPr>
                        <m:ctrlPr>
                          <a:rPr b="1"/>
                        </m:ctrlPr>
                      </m:sSubSupPr>
                      <m:e>
                        <m:r>
                          <a:rPr lang="en-US" sz="1600" b="1" dirty="0">
                            <a:latin typeface="Cambria Math" panose="02040503050406030204"/>
                            <a:ea typeface="Cambria Math" panose="02040503050406030204"/>
                          </a:rPr>
                          <m:t>𝐰</m:t>
                        </m:r>
                      </m:e>
                      <m:sub>
                        <m:r>
                          <a:rPr lang="en-US" sz="1600" b="1" dirty="0">
                            <a:latin typeface="Cambria Math" panose="02040503050406030204"/>
                            <a:ea typeface="Cambria Math" panose="02040503050406030204"/>
                          </a:rPr>
                          <m:t>𝐢</m:t>
                        </m:r>
                      </m:sub>
                      <m:sup>
                        <m:r>
                          <a:rPr lang="en-US" sz="1600" b="1" dirty="0">
                            <a:latin typeface="Cambria Math" panose="02040503050406030204"/>
                            <a:ea typeface="Cambria Math" panose="02040503050406030204"/>
                          </a:rPr>
                          <m:t>𝐜</m:t>
                        </m:r>
                      </m:sup>
                    </m:sSubSup>
                  </m:oMath>
                </a14:m>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是权重系数， </a:t>
                </a:r>
                <a14:m>
                  <m:oMath xmlns:m="http://schemas.openxmlformats.org/officeDocument/2006/math">
                    <m:sSubSup>
                      <m:sSubSupPr>
                        <m:ctrlPr>
                          <a:rPr b="1"/>
                        </m:ctrlPr>
                      </m:sSubSupPr>
                      <m:e>
                        <m:r>
                          <a:rPr lang="en-US" sz="1600" b="1" dirty="0">
                            <a:latin typeface="Cambria Math" panose="02040503050406030204"/>
                            <a:ea typeface="Cambria Math" panose="02040503050406030204"/>
                          </a:rPr>
                          <m:t>𝐮</m:t>
                        </m:r>
                      </m:e>
                      <m:sub>
                        <m:r>
                          <a:rPr lang="en-US" sz="1600" b="1" dirty="0">
                            <a:latin typeface="Cambria Math" panose="02040503050406030204"/>
                            <a:ea typeface="Cambria Math" panose="02040503050406030204"/>
                          </a:rPr>
                          <m:t>𝐢</m:t>
                        </m:r>
                      </m:sub>
                      <m:sup>
                        <m:r>
                          <a:rPr lang="en-US" sz="1600" b="1" dirty="0">
                            <a:latin typeface="Cambria Math" panose="02040503050406030204"/>
                            <a:ea typeface="Cambria Math" panose="02040503050406030204"/>
                          </a:rPr>
                          <m:t>𝐜</m:t>
                        </m:r>
                      </m:sup>
                    </m:sSubSup>
                  </m:oMath>
                </a14:m>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是响应函数的基本变量</a:t>
                </a:r>
                <a:endParaRPr sz="1600" b="1" dirty="0"/>
              </a:p>
            </p:txBody>
          </p:sp>
        </mc:Choice>
        <mc:Fallback>
          <p:sp>
            <p:nvSpPr>
              <p:cNvPr id="1530" name="textbox 1530"/>
              <p:cNvSpPr>
                <a:spLocks noRot="1" noChangeAspect="1" noMove="1" noResize="1" noEditPoints="1" noAdjustHandles="1" noChangeArrowheads="1" noChangeShapeType="1" noTextEdit="1"/>
              </p:cNvSpPr>
              <p:nvPr/>
            </p:nvSpPr>
            <p:spPr>
              <a:xfrm>
                <a:off x="1381125" y="4581525"/>
                <a:ext cx="4381500" cy="304800"/>
              </a:xfrm>
              <a:prstGeom prst="rect">
                <a:avLst/>
              </a:prstGeom>
              <a:blipFill rotWithShape="1">
                <a:blip r:embed="rId3"/>
                <a:stretch>
                  <a:fillRect b="-417"/>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32" name="textbox 1532"/>
              <p:cNvSpPr/>
              <p:nvPr/>
            </p:nvSpPr>
            <p:spPr>
              <a:xfrm>
                <a:off x="1343025" y="5372100"/>
                <a:ext cx="1590675" cy="276225"/>
              </a:xfrm>
              <a:prstGeom prst="rect">
                <a:avLst/>
              </a:prstGeom>
              <a:noFill/>
              <a:ln w="0" cap="flat">
                <a:noFill/>
                <a:prstDash val="solid"/>
                <a:miter lim="0"/>
              </a:ln>
            </p:spPr>
            <p:txBody>
              <a:bodyPr vert="horz" wrap="none" lIns="0" tIns="0" rIns="0" bIns="0"/>
              <a:lstStyle/>
              <a:p>
                <a:pPr marL="323850" indent="-276225" algn="l" rtl="0" eaLnBrk="0">
                  <a:buChar char="•"/>
                </a:pPr>
                <a14:m>
                  <m:oMath xmlns:m="http://schemas.openxmlformats.org/officeDocument/2006/math">
                    <m:sSub>
                      <m:sSubPr>
                        <m:ctrlPr>
                          <a:rPr b="1"/>
                        </m:ctrlPr>
                      </m:sSubPr>
                      <m:e>
                        <m:r>
                          <a:rPr lang="en-US" sz="1600" b="1" dirty="0">
                            <a:latin typeface="Cambria Math" panose="02040503050406030204"/>
                            <a:ea typeface="Cambria Math" panose="02040503050406030204"/>
                          </a:rPr>
                          <m:t>𝐫</m:t>
                        </m:r>
                      </m:e>
                      <m:sub>
                        <m:r>
                          <a:rPr lang="en-US" sz="1600" b="1" dirty="0">
                            <a:latin typeface="Cambria Math" panose="02040503050406030204"/>
                            <a:ea typeface="Cambria Math" panose="02040503050406030204"/>
                          </a:rPr>
                          <m:t>𝐢</m:t>
                        </m:r>
                      </m:sub>
                    </m:sSub>
                  </m:oMath>
                </a14:m>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的定义为</a:t>
                </a:r>
                <a:r>
                  <a:rPr sz="1600" b="1"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600" b="1" dirty="0"/>
              </a:p>
            </p:txBody>
          </p:sp>
        </mc:Choice>
        <mc:Fallback>
          <p:sp>
            <p:nvSpPr>
              <p:cNvPr id="1532" name="textbox 1532"/>
              <p:cNvSpPr>
                <a:spLocks noRot="1" noChangeAspect="1" noMove="1" noResize="1" noEditPoints="1" noAdjustHandles="1" noChangeArrowheads="1" noChangeShapeType="1" noTextEdit="1"/>
              </p:cNvSpPr>
              <p:nvPr/>
            </p:nvSpPr>
            <p:spPr>
              <a:xfrm>
                <a:off x="1343025" y="5372100"/>
                <a:ext cx="1590675" cy="276225"/>
              </a:xfrm>
              <a:prstGeom prst="rect">
                <a:avLst/>
              </a:prstGeom>
              <a:blipFill rotWithShape="1">
                <a:blip r:embed="rId4"/>
                <a:stretch>
                  <a:fillRect b="-10805"/>
                </a:stretch>
              </a:blipFill>
              <a:ln w="0" cap="flat">
                <a:noFill/>
                <a:prstDash val="solid"/>
                <a:miter lim="0"/>
              </a:ln>
            </p:spPr>
            <p:txBody>
              <a:bodyPr/>
              <a:lstStyle/>
              <a:p>
                <a:r>
                  <a:rPr lang="zh-CN" altLang="en-US">
                    <a:noFill/>
                  </a:rPr>
                  <a:t> </a:t>
                </a:r>
              </a:p>
            </p:txBody>
          </p:sp>
        </mc:Fallback>
      </mc:AlternateContent>
      <p:sp>
        <p:nvSpPr>
          <p:cNvPr id="1536" name="textbox 1536"/>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1538" name="textbox 1538"/>
          <p:cNvSpPr/>
          <p:nvPr/>
        </p:nvSpPr>
        <p:spPr>
          <a:xfrm>
            <a:off x="11753850" y="6734175"/>
            <a:ext cx="15240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37</a:t>
            </a:r>
            <a:endParaRPr sz="1000" dirty="0"/>
          </a:p>
        </p:txBody>
      </p:sp>
      <p:pic>
        <p:nvPicPr>
          <p:cNvPr id="10" name="picture 10"/>
          <p:cNvPicPr>
            <a:picLocks noChangeAspect="1"/>
          </p:cNvPicPr>
          <p:nvPr/>
        </p:nvPicPr>
        <p:blipFill>
          <a:blip r:embed="rId5"/>
          <a:stretch>
            <a:fillRect/>
          </a:stretch>
        </p:blipFill>
        <p:spPr>
          <a:xfrm rot="21600000">
            <a:off x="2235159" y="3213110"/>
            <a:ext cx="7689861" cy="831807"/>
          </a:xfrm>
          <a:prstGeom prst="rect">
            <a:avLst/>
          </a:prstGeom>
        </p:spPr>
      </p:pic>
      <p:pic>
        <p:nvPicPr>
          <p:cNvPr id="14" name="picture 14"/>
          <p:cNvPicPr>
            <a:picLocks noChangeAspect="1"/>
          </p:cNvPicPr>
          <p:nvPr/>
        </p:nvPicPr>
        <p:blipFill>
          <a:blip r:embed="rId6"/>
          <a:stretch>
            <a:fillRect/>
          </a:stretch>
        </p:blipFill>
        <p:spPr>
          <a:xfrm rot="21600000">
            <a:off x="2216139" y="2285977"/>
            <a:ext cx="6019800" cy="781057"/>
          </a:xfrm>
          <a:prstGeom prst="rect">
            <a:avLst/>
          </a:prstGeom>
        </p:spPr>
      </p:pic>
      <p:pic>
        <p:nvPicPr>
          <p:cNvPr id="12" name="picture 12"/>
          <p:cNvPicPr>
            <a:picLocks noChangeAspect="1"/>
          </p:cNvPicPr>
          <p:nvPr/>
        </p:nvPicPr>
        <p:blipFill>
          <a:blip r:embed="rId7"/>
          <a:stretch>
            <a:fillRect/>
          </a:stretch>
        </p:blipFill>
        <p:spPr>
          <a:xfrm rot="21600000">
            <a:off x="6311920" y="4572023"/>
            <a:ext cx="2851099" cy="170174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2" name="picture 1542"/>
          <p:cNvPicPr>
            <a:picLocks noChangeAspect="1"/>
          </p:cNvPicPr>
          <p:nvPr/>
        </p:nvPicPr>
        <p:blipFill>
          <a:blip r:embed="rId1"/>
          <a:stretch>
            <a:fillRect/>
          </a:stretch>
        </p:blipFill>
        <p:spPr>
          <a:xfrm>
            <a:off x="0" y="0"/>
            <a:ext cx="12192000" cy="6858000"/>
          </a:xfrm>
          <a:prstGeom prst="rect">
            <a:avLst/>
          </a:prstGeom>
        </p:spPr>
      </p:pic>
      <p:sp>
        <p:nvSpPr>
          <p:cNvPr id="1544" name="textbox 1544"/>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546" name="textbox 1546"/>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548" name="textbox 154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552" name="picture 1552"/>
          <p:cNvPicPr>
            <a:picLocks noChangeAspect="1"/>
          </p:cNvPicPr>
          <p:nvPr/>
        </p:nvPicPr>
        <p:blipFill>
          <a:blip r:embed="rId2"/>
          <a:stretch>
            <a:fillRect/>
          </a:stretch>
        </p:blipFill>
        <p:spPr>
          <a:xfrm>
            <a:off x="295275" y="247650"/>
            <a:ext cx="733425" cy="666750"/>
          </a:xfrm>
          <a:prstGeom prst="rect">
            <a:avLst/>
          </a:prstGeom>
        </p:spPr>
      </p:pic>
      <p:sp>
        <p:nvSpPr>
          <p:cNvPr id="1554" name="textbox 1554"/>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556" name="textbox 1556"/>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558" name="textbox 1558"/>
          <p:cNvSpPr/>
          <p:nvPr/>
        </p:nvSpPr>
        <p:spPr>
          <a:xfrm>
            <a:off x="1447800" y="1104900"/>
            <a:ext cx="19526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共轭无迹变换法</a:t>
            </a:r>
            <a:endParaRPr sz="2000" dirty="0"/>
          </a:p>
        </p:txBody>
      </p:sp>
      <p:sp>
        <p:nvSpPr>
          <p:cNvPr id="1560" name="textbox 1560"/>
          <p:cNvSpPr/>
          <p:nvPr/>
        </p:nvSpPr>
        <p:spPr>
          <a:xfrm>
            <a:off x="876300" y="1171575"/>
            <a:ext cx="209550" cy="24765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2000" dirty="0"/>
          </a:p>
        </p:txBody>
      </p:sp>
      <p:sp>
        <p:nvSpPr>
          <p:cNvPr id="1562" name="textbox 1562"/>
          <p:cNvSpPr/>
          <p:nvPr/>
        </p:nvSpPr>
        <p:spPr>
          <a:xfrm>
            <a:off x="1447800" y="1466850"/>
            <a:ext cx="2514600"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Conjugate Unscented Transform (CUT) Method</a:t>
            </a:r>
            <a:endParaRPr sz="1000" dirty="0"/>
          </a:p>
        </p:txBody>
      </p:sp>
      <mc:AlternateContent xmlns:mc="http://schemas.openxmlformats.org/markup-compatibility/2006">
        <mc:Choice xmlns:a14="http://schemas.microsoft.com/office/drawing/2010/main" Requires="a14">
          <p:sp>
            <p:nvSpPr>
              <p:cNvPr id="1564" name="textbox 1564"/>
              <p:cNvSpPr/>
              <p:nvPr/>
            </p:nvSpPr>
            <p:spPr>
              <a:xfrm>
                <a:off x="876300" y="1743075"/>
                <a:ext cx="2952750" cy="285750"/>
              </a:xfrm>
              <a:prstGeom prst="rect">
                <a:avLst/>
              </a:prstGeom>
              <a:noFill/>
              <a:ln w="0" cap="flat">
                <a:noFill/>
                <a:prstDash val="solid"/>
                <a:miter lim="0"/>
              </a:ln>
            </p:spPr>
            <p:txBody>
              <a:bodyPr vert="horz" wrap="none" lIns="0" tIns="0" rIns="0" bIns="0"/>
              <a:lstStyle/>
              <a:p>
                <a:pPr marL="400050" indent="-371475" algn="l" rtl="0" eaLnBrk="0">
                  <a:buChar char="•"/>
                </a:pP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基本变量 </a:t>
                </a:r>
                <a14:m>
                  <m:oMath xmlns:m="http://schemas.openxmlformats.org/officeDocument/2006/math">
                    <m:sSubSup>
                      <m:sSubSupPr>
                        <m:ctrlPr>
                          <a:rPr/>
                        </m:ctrlPr>
                      </m:sSubSupPr>
                      <m:e>
                        <m:r>
                          <m:rPr>
                            <m:sty m:val="p"/>
                          </m:rPr>
                          <a:rPr lang="en-US" sz="1800" dirty="0">
                            <a:latin typeface="Cambria Math" panose="02040503050406030204"/>
                            <a:ea typeface="Cambria Math" panose="02040503050406030204"/>
                          </a:rPr>
                          <m:t>u</m:t>
                        </m:r>
                      </m:e>
                      <m:sub>
                        <m:r>
                          <m:rPr>
                            <m:sty m:val="p"/>
                          </m:rPr>
                          <a:rPr lang="en-US" sz="1800" dirty="0">
                            <a:latin typeface="Cambria Math" panose="02040503050406030204"/>
                            <a:ea typeface="Cambria Math" panose="02040503050406030204"/>
                          </a:rPr>
                          <m:t>i</m:t>
                        </m:r>
                      </m:sub>
                      <m:sup>
                        <m:r>
                          <m:rPr>
                            <m:sty m:val="p"/>
                          </m:rPr>
                          <a:rPr lang="en-US" sz="1800" dirty="0">
                            <a:latin typeface="Cambria Math" panose="02040503050406030204"/>
                            <a:ea typeface="Cambria Math" panose="02040503050406030204"/>
                          </a:rPr>
                          <m:t>c</m:t>
                        </m:r>
                      </m:sup>
                    </m:sSubSup>
                  </m:oMath>
                </a14:m>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的表达式为：</a:t>
                </a:r>
                <a:endParaRPr sz="1800" dirty="0"/>
              </a:p>
            </p:txBody>
          </p:sp>
        </mc:Choice>
        <mc:Fallback>
          <p:sp>
            <p:nvSpPr>
              <p:cNvPr id="1564" name="textbox 1564"/>
              <p:cNvSpPr>
                <a:spLocks noRot="1" noChangeAspect="1" noMove="1" noResize="1" noEditPoints="1" noAdjustHandles="1" noChangeArrowheads="1" noChangeShapeType="1" noTextEdit="1"/>
              </p:cNvSpPr>
              <p:nvPr/>
            </p:nvSpPr>
            <p:spPr>
              <a:xfrm>
                <a:off x="876300" y="1743075"/>
                <a:ext cx="2952750" cy="285750"/>
              </a:xfrm>
              <a:prstGeom prst="rect">
                <a:avLst/>
              </a:prstGeom>
              <a:blipFill rotWithShape="1">
                <a:blip r:embed="rId3"/>
                <a:stretch>
                  <a:fillRect r="-2366" b="-10222"/>
                </a:stretch>
              </a:blipFill>
              <a:ln w="0" cap="flat">
                <a:noFill/>
                <a:prstDash val="solid"/>
                <a:miter lim="0"/>
              </a:ln>
            </p:spPr>
            <p:txBody>
              <a:bodyPr/>
              <a:lstStyle/>
              <a:p>
                <a:r>
                  <a:rPr lang="zh-CN" altLang="en-US">
                    <a:noFill/>
                  </a:rPr>
                  <a:t> </a:t>
                </a:r>
              </a:p>
            </p:txBody>
          </p:sp>
        </mc:Fallback>
      </mc:AlternateContent>
      <p:sp>
        <p:nvSpPr>
          <p:cNvPr id="1566" name="textbox 1566"/>
          <p:cNvSpPr/>
          <p:nvPr/>
        </p:nvSpPr>
        <p:spPr>
          <a:xfrm>
            <a:off x="7553325" y="1771650"/>
            <a:ext cx="4038600" cy="276225"/>
          </a:xfrm>
          <a:prstGeom prst="rect">
            <a:avLst/>
          </a:prstGeom>
          <a:noFill/>
          <a:ln w="0" cap="flat">
            <a:noFill/>
            <a:prstDash val="solid"/>
            <a:miter lim="0"/>
          </a:ln>
        </p:spPr>
        <p:txBody>
          <a:bodyPr vert="horz" wrap="none" lIns="0" tIns="0" rIns="0" bIns="0"/>
          <a:lstStyle/>
          <a:p>
            <a:pPr algn="l" rtl="0" eaLnBrk="0"/>
            <a:r>
              <a:rPr sz="1800" b="1" kern="0" spc="0" dirty="0">
                <a:solidFill>
                  <a:srgbClr val="002060">
                    <a:alpha val="100000"/>
                  </a:srgbClr>
                </a:solidFill>
                <a:latin typeface="Times New Roman" panose="02020603050405020304"/>
                <a:ea typeface="Times New Roman" panose="02020603050405020304"/>
                <a:cs typeface="Times New Roman" panose="02020603050405020304"/>
              </a:rPr>
              <a:t>CUT </a:t>
            </a:r>
            <a:r>
              <a:rPr sz="18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法的二维空间坐标轴和参考点</a:t>
            </a:r>
            <a:r>
              <a:rPr sz="1800" b="1" kern="0" spc="0" dirty="0">
                <a:solidFill>
                  <a:srgbClr val="002060">
                    <a:alpha val="100000"/>
                  </a:srgbClr>
                </a:solidFill>
                <a:latin typeface="Times New Roman" panose="02020603050405020304"/>
                <a:ea typeface="Times New Roman" panose="02020603050405020304"/>
                <a:cs typeface="Times New Roman" panose="02020603050405020304"/>
              </a:rPr>
              <a:t>:</a:t>
            </a:r>
            <a:endParaRPr sz="1800" dirty="0"/>
          </a:p>
        </p:txBody>
      </p:sp>
      <p:pic>
        <p:nvPicPr>
          <p:cNvPr id="1570" name="picture 1570"/>
          <p:cNvPicPr>
            <a:picLocks noChangeAspect="1"/>
          </p:cNvPicPr>
          <p:nvPr/>
        </p:nvPicPr>
        <p:blipFill>
          <a:blip r:embed="rId4"/>
          <a:stretch>
            <a:fillRect/>
          </a:stretch>
        </p:blipFill>
        <p:spPr>
          <a:xfrm>
            <a:off x="1171575" y="2305050"/>
            <a:ext cx="6781800" cy="3019425"/>
          </a:xfrm>
          <a:prstGeom prst="rect">
            <a:avLst/>
          </a:prstGeom>
        </p:spPr>
      </p:pic>
      <mc:AlternateContent xmlns:mc="http://schemas.openxmlformats.org/markup-compatibility/2006">
        <mc:Choice xmlns:a14="http://schemas.microsoft.com/office/drawing/2010/main" Requires="a14">
          <p:sp>
            <p:nvSpPr>
              <p:cNvPr id="1572" name="textbox 1572"/>
              <p:cNvSpPr/>
              <p:nvPr/>
            </p:nvSpPr>
            <p:spPr>
              <a:xfrm>
                <a:off x="1219200" y="2314575"/>
                <a:ext cx="1571625" cy="3524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nary>
                        <m:naryPr>
                          <m:limLoc m:val="subSup"/>
                          <m:subHide m:val="on"/>
                          <m:supHide m:val="on"/>
                          <m:ctrlPr>
                            <a:rPr/>
                          </m:ctrlPr>
                        </m:naryPr>
                        <m:sub/>
                        <m:sup/>
                        <m:e>
                          <m:sSubSup>
                            <m:sSubSupPr>
                              <m:ctrlPr>
                                <a:rPr/>
                              </m:ctrlPr>
                            </m:sSubSupPr>
                            <m:e>
                              <m:r>
                                <a:rPr lang="en-US" sz="2000" dirty="0">
                                  <a:latin typeface="Cambria Math" panose="02040503050406030204"/>
                                  <a:ea typeface="Cambria Math" panose="02040503050406030204"/>
                                </a:rPr>
                                <m:t>𝐮</m:t>
                              </m:r>
                            </m:e>
                            <m:sub>
                              <m:r>
                                <a:rPr lang="en-US" sz="2000" dirty="0">
                                  <a:latin typeface="Cambria Math" panose="02040503050406030204"/>
                                  <a:ea typeface="Cambria Math" panose="02040503050406030204"/>
                                </a:rPr>
                                <m:t>0</m:t>
                              </m:r>
                            </m:sub>
                            <m:sup>
                              <m:r>
                                <m:rPr>
                                  <m:sty m:val="p"/>
                                </m:rPr>
                                <a:rPr lang="en-US" sz="2000" dirty="0">
                                  <a:latin typeface="Cambria Math" panose="02040503050406030204"/>
                                  <a:ea typeface="Cambria Math" panose="02040503050406030204"/>
                                </a:rPr>
                                <m:t>c</m:t>
                              </m:r>
                            </m:sup>
                          </m:sSubSup>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𝟎</m:t>
                          </m:r>
                          <m:r>
                            <a:rPr lang="en-US" sz="2000" dirty="0">
                              <a:latin typeface="Cambria Math" panose="02040503050406030204"/>
                              <a:ea typeface="Cambria Math" panose="02040503050406030204"/>
                            </a:rPr>
                            <m:t>,</m:t>
                          </m:r>
                          <m:sSubSup>
                            <m:sSubSupPr>
                              <m:ctrlPr>
                                <a:rPr/>
                              </m:ctrlPr>
                            </m:sSubSupPr>
                            <m:e>
                              <m:r>
                                <m:rPr>
                                  <m:sty m:val="p"/>
                                </m:rPr>
                                <a:rPr lang="en-US" sz="2000" dirty="0">
                                  <a:latin typeface="Cambria Math" panose="02040503050406030204"/>
                                  <a:ea typeface="Cambria Math" panose="02040503050406030204"/>
                                </a:rPr>
                                <m:t>w</m:t>
                              </m:r>
                            </m:e>
                            <m:sub>
                              <m:r>
                                <a:rPr lang="en-US" sz="2000" dirty="0">
                                  <a:latin typeface="Cambria Math" panose="02040503050406030204"/>
                                  <a:ea typeface="Cambria Math" panose="02040503050406030204"/>
                                </a:rPr>
                                <m:t>0</m:t>
                              </m:r>
                            </m:sub>
                            <m:sup>
                              <m:r>
                                <m:rPr>
                                  <m:sty m:val="p"/>
                                </m:rPr>
                                <a:rPr lang="en-US" sz="2000" dirty="0">
                                  <a:latin typeface="Cambria Math" panose="02040503050406030204"/>
                                  <a:ea typeface="Cambria Math" panose="02040503050406030204"/>
                                </a:rPr>
                                <m:t>c</m:t>
                              </m:r>
                            </m:sup>
                          </m:sSubSup>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w</m:t>
                              </m:r>
                            </m:e>
                            <m:sub>
                              <m:r>
                                <a:rPr lang="en-US" sz="2000" dirty="0">
                                  <a:latin typeface="Cambria Math" panose="02040503050406030204"/>
                                  <a:ea typeface="Cambria Math" panose="02040503050406030204"/>
                                </a:rPr>
                                <m:t>0</m:t>
                              </m:r>
                            </m:sub>
                          </m:sSub>
                          <m:r>
                            <a:rPr lang="en-US" sz="2000" dirty="0">
                              <a:latin typeface="Cambria Math" panose="02040503050406030204"/>
                              <a:ea typeface="Cambria Math" panose="02040503050406030204"/>
                            </a:rPr>
                            <m:t>;</m:t>
                          </m:r>
                        </m:e>
                      </m:nary>
                    </m:oMath>
                  </m:oMathPara>
                </a14:m>
                <a:endParaRPr sz="2000" dirty="0"/>
              </a:p>
            </p:txBody>
          </p:sp>
        </mc:Choice>
        <mc:Fallback>
          <p:sp>
            <p:nvSpPr>
              <p:cNvPr id="1572" name="textbox 1572"/>
              <p:cNvSpPr>
                <a:spLocks noRot="1" noChangeAspect="1" noMove="1" noResize="1" noEditPoints="1" noAdjustHandles="1" noChangeArrowheads="1" noChangeShapeType="1" noTextEdit="1"/>
              </p:cNvSpPr>
              <p:nvPr/>
            </p:nvSpPr>
            <p:spPr>
              <a:xfrm>
                <a:off x="1219200" y="2314575"/>
                <a:ext cx="1571625" cy="352425"/>
              </a:xfrm>
              <a:prstGeom prst="rect">
                <a:avLst/>
              </a:prstGeom>
              <a:blipFill rotWithShape="1">
                <a:blip r:embed="rId5"/>
                <a:stretch>
                  <a:fillRect r="-34747" b="-47748"/>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74" name="textbox 1574"/>
              <p:cNvSpPr/>
              <p:nvPr/>
            </p:nvSpPr>
            <p:spPr>
              <a:xfrm>
                <a:off x="1266825" y="2714625"/>
                <a:ext cx="3343275" cy="3143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Sup>
                        <m:sSubSupPr>
                          <m:ctrlPr>
                            <a:rPr/>
                          </m:ctrlPr>
                        </m:sSubSupPr>
                        <m:e>
                          <m:r>
                            <a:rPr lang="en-US" sz="1800" dirty="0">
                              <a:latin typeface="Cambria Math" panose="02040503050406030204"/>
                              <a:ea typeface="Cambria Math" panose="02040503050406030204"/>
                            </a:rPr>
                            <m:t>𝐮</m:t>
                          </m:r>
                        </m:e>
                        <m:sub>
                          <m:r>
                            <m:rPr>
                              <m:sty m:val="p"/>
                            </m:rPr>
                            <a:rPr lang="en-US" sz="1800" dirty="0">
                              <a:latin typeface="Cambria Math" panose="02040503050406030204"/>
                              <a:ea typeface="Cambria Math" panose="02040503050406030204"/>
                            </a:rPr>
                            <m:t>i</m:t>
                          </m:r>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r</m:t>
                          </m:r>
                        </m:e>
                        <m:sub>
                          <m:r>
                            <a:rPr lang="en-US" sz="1800" dirty="0">
                              <a:latin typeface="Cambria Math" panose="02040503050406030204"/>
                              <a:ea typeface="Cambria Math" panose="02040503050406030204"/>
                            </a:rPr>
                            <m:t>1</m:t>
                          </m:r>
                        </m:sub>
                      </m:sSub>
                      <m:sSub>
                        <m:sSubPr>
                          <m:ctrlPr>
                            <a:rPr/>
                          </m:ctrlPr>
                        </m:sSubPr>
                        <m:e>
                          <m:r>
                            <a:rPr lang="en-US" sz="1800" dirty="0">
                              <a:latin typeface="Cambria Math" panose="02040503050406030204"/>
                              <a:ea typeface="Cambria Math" panose="02040503050406030204"/>
                            </a:rPr>
                            <m:t>𝛔</m:t>
                          </m:r>
                        </m:e>
                        <m:sub>
                          <m:r>
                            <m:rPr>
                              <m:sty m:val="p"/>
                            </m:rPr>
                            <a:rPr lang="en-US" sz="1800" dirty="0">
                              <a:latin typeface="Cambria Math" panose="02040503050406030204"/>
                              <a:ea typeface="Cambria Math" panose="02040503050406030204"/>
                            </a:rPr>
                            <m:t>i</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 </m:t>
                      </m:r>
                      <m:sSubSup>
                        <m:sSubSupPr>
                          <m:ctrlPr>
                            <a:rPr/>
                          </m:ctrlPr>
                        </m:sSubSupPr>
                        <m:e>
                          <m:r>
                            <m:rPr>
                              <m:sty m:val="p"/>
                            </m:rPr>
                            <a:rPr lang="en-US" sz="1800" dirty="0">
                              <a:latin typeface="Cambria Math" panose="02040503050406030204"/>
                              <a:ea typeface="Cambria Math" panose="02040503050406030204"/>
                            </a:rPr>
                            <m:t>w</m:t>
                          </m:r>
                        </m:e>
                        <m:sub>
                          <m:r>
                            <m:rPr>
                              <m:sty m:val="p"/>
                            </m:rPr>
                            <a:rPr lang="en-US" sz="1800" dirty="0">
                              <a:latin typeface="Cambria Math" panose="02040503050406030204"/>
                              <a:ea typeface="Cambria Math" panose="02040503050406030204"/>
                            </a:rPr>
                            <m:t>i</m:t>
                          </m:r>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w</m:t>
                          </m:r>
                        </m:e>
                        <m:sub>
                          <m:r>
                            <a:rPr lang="en-US" sz="1800" dirty="0">
                              <a:latin typeface="Cambria Math" panose="02040503050406030204"/>
                              <a:ea typeface="Cambria Math" panose="02040503050406030204"/>
                            </a:rPr>
                            <m:t>1</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 </m:t>
                      </m:r>
                      <m:r>
                        <m:rPr>
                          <m:sty m:val="p"/>
                        </m:rPr>
                        <a:rPr lang="en-US" sz="1800" dirty="0">
                          <a:latin typeface="Cambria Math" panose="02040503050406030204"/>
                          <a:ea typeface="Cambria Math" panose="02040503050406030204"/>
                        </a:rPr>
                        <m:t>f</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r</m:t>
                      </m:r>
                      <m:r>
                        <a:rPr lang="en-US" sz="1800" dirty="0">
                          <a:latin typeface="Cambria Math" panose="02040503050406030204"/>
                          <a:ea typeface="Cambria Math" panose="02040503050406030204"/>
                        </a:rPr>
                        <m:t>1</m:t>
                      </m:r>
                      <m:r>
                        <m:rPr>
                          <m:sty m:val="p"/>
                        </m:rPr>
                        <a:rPr lang="en-US" sz="1800" dirty="0">
                          <a:latin typeface="Cambria Math" panose="02040503050406030204"/>
                          <a:ea typeface="Cambria Math" panose="02040503050406030204"/>
                        </a:rPr>
                        <m:t>le</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le</m:t>
                      </m:r>
                      <m:r>
                        <a:rPr lang="en-US" sz="1800" dirty="0">
                          <a:latin typeface="Cambria Math" panose="02040503050406030204"/>
                          <a:ea typeface="Cambria Math" panose="02040503050406030204"/>
                        </a:rPr>
                        <m:t>2</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oMath>
                  </m:oMathPara>
                </a14:m>
                <a:endParaRPr sz="1800" dirty="0"/>
              </a:p>
            </p:txBody>
          </p:sp>
        </mc:Choice>
        <mc:Fallback>
          <p:sp>
            <p:nvSpPr>
              <p:cNvPr id="1574" name="textbox 1574"/>
              <p:cNvSpPr>
                <a:spLocks noRot="1" noChangeAspect="1" noMove="1" noResize="1" noEditPoints="1" noAdjustHandles="1" noChangeArrowheads="1" noChangeShapeType="1" noTextEdit="1"/>
              </p:cNvSpPr>
              <p:nvPr/>
            </p:nvSpPr>
            <p:spPr>
              <a:xfrm>
                <a:off x="1266825" y="2714625"/>
                <a:ext cx="3343275" cy="314325"/>
              </a:xfrm>
              <a:prstGeom prst="rect">
                <a:avLst/>
              </a:prstGeom>
              <a:blipFill rotWithShape="1">
                <a:blip r:embed="rId6"/>
                <a:stretch>
                  <a:fillRect b="-202"/>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76" name="textbox 1576"/>
              <p:cNvSpPr/>
              <p:nvPr/>
            </p:nvSpPr>
            <p:spPr>
              <a:xfrm>
                <a:off x="1276350" y="3086100"/>
                <a:ext cx="3733800" cy="3429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Sup>
                        <m:sSubSupPr>
                          <m:ctrlPr>
                            <a:rPr/>
                          </m:ctrlPr>
                        </m:sSubSupPr>
                        <m:e>
                          <m:r>
                            <a:rPr lang="en-US" sz="1800" dirty="0">
                              <a:latin typeface="Cambria Math" panose="02040503050406030204"/>
                              <a:ea typeface="Cambria Math" panose="02040503050406030204"/>
                            </a:rPr>
                            <m:t>𝐮</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r</m:t>
                          </m:r>
                        </m:e>
                        <m:sub>
                          <m:r>
                            <a:rPr lang="en-US" sz="1800" dirty="0">
                              <a:latin typeface="Cambria Math" panose="02040503050406030204"/>
                              <a:ea typeface="Cambria Math" panose="02040503050406030204"/>
                            </a:rPr>
                            <m:t>2</m:t>
                          </m:r>
                        </m:sub>
                      </m:sSub>
                      <m:sSubSup>
                        <m:sSubSupPr>
                          <m:ctrlPr>
                            <a:rPr/>
                          </m:ctrlPr>
                        </m:sSubSupPr>
                        <m:e>
                          <m:r>
                            <m:rPr>
                              <m:sty m:val="p"/>
                            </m:rPr>
                            <a:rPr lang="en-US" sz="1800" dirty="0">
                              <a:latin typeface="Cambria Math" panose="02040503050406030204"/>
                              <a:ea typeface="Cambria Math" panose="02040503050406030204"/>
                            </a:rPr>
                            <m:t>c</m:t>
                          </m:r>
                        </m:e>
                        <m:sub>
                          <m:r>
                            <m:rPr>
                              <m:sty m:val="p"/>
                            </m:rPr>
                            <a:rPr lang="en-US" sz="1800" dirty="0">
                              <a:latin typeface="Cambria Math" panose="02040503050406030204"/>
                              <a:ea typeface="Cambria Math" panose="02040503050406030204"/>
                            </a:rPr>
                            <m:t>i</m:t>
                          </m:r>
                        </m:sub>
                        <m:sup>
                          <m:r>
                            <m:rPr>
                              <m:sty m:val="p"/>
                            </m:rPr>
                            <a:rPr lang="en-US" sz="1800" dirty="0">
                              <a:latin typeface="Cambria Math" panose="02040503050406030204"/>
                              <a:ea typeface="Cambria Math" panose="02040503050406030204"/>
                            </a:rPr>
                            <m:t>n</m:t>
                          </m:r>
                        </m:sup>
                      </m:sSubSup>
                      <m:r>
                        <a:rPr lang="en-US" sz="1800" dirty="0">
                          <a:latin typeface="Cambria Math" panose="02040503050406030204"/>
                          <a:ea typeface="Cambria Math" panose="02040503050406030204"/>
                        </a:rPr>
                        <m:t>,</m:t>
                      </m:r>
                      <m:sSubSup>
                        <m:sSubSupPr>
                          <m:ctrlPr>
                            <a:rPr/>
                          </m:ctrlPr>
                        </m:sSubSupPr>
                        <m:e>
                          <m:r>
                            <m:rPr>
                              <m:sty m:val="p"/>
                            </m:rPr>
                            <a:rPr lang="en-US" sz="1800" dirty="0">
                              <a:latin typeface="Cambria Math" panose="02040503050406030204"/>
                              <a:ea typeface="Cambria Math" panose="02040503050406030204"/>
                            </a:rPr>
                            <m:t>w</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w</m:t>
                          </m:r>
                        </m:e>
                        <m:sub>
                          <m:r>
                            <a:rPr lang="en-US" sz="1800" dirty="0">
                              <a:latin typeface="Cambria Math" panose="02040503050406030204"/>
                              <a:ea typeface="Cambria Math" panose="02040503050406030204"/>
                            </a:rPr>
                            <m:t>2</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 </m:t>
                      </m:r>
                      <m:r>
                        <m:rPr>
                          <m:sty m:val="p"/>
                        </m:rPr>
                        <a:rPr lang="en-US" sz="1800" dirty="0">
                          <a:latin typeface="Cambria Math" panose="02040503050406030204"/>
                          <a:ea typeface="Cambria Math" panose="02040503050406030204"/>
                        </a:rPr>
                        <m:t>f</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r</m:t>
                      </m:r>
                      <m:r>
                        <a:rPr lang="en-US" sz="1800" dirty="0">
                          <a:latin typeface="Cambria Math" panose="02040503050406030204"/>
                          <a:ea typeface="Cambria Math" panose="02040503050406030204"/>
                        </a:rPr>
                        <m:t>1</m:t>
                      </m:r>
                      <m:r>
                        <m:rPr>
                          <m:sty m:val="p"/>
                        </m:rPr>
                        <a:rPr lang="en-US" sz="1800" dirty="0">
                          <a:latin typeface="Cambria Math" panose="02040503050406030204"/>
                          <a:ea typeface="Cambria Math" panose="02040503050406030204"/>
                        </a:rPr>
                        <m:t>le</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le</m:t>
                      </m:r>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p>
                      <m:r>
                        <a:rPr lang="en-US" sz="1800" dirty="0">
                          <a:latin typeface="Cambria Math" panose="02040503050406030204"/>
                          <a:ea typeface="Cambria Math" panose="02040503050406030204"/>
                        </a:rPr>
                        <m:t>;</m:t>
                      </m:r>
                    </m:oMath>
                  </m:oMathPara>
                </a14:m>
                <a:endParaRPr sz="1800" dirty="0"/>
              </a:p>
            </p:txBody>
          </p:sp>
        </mc:Choice>
        <mc:Fallback>
          <p:sp>
            <p:nvSpPr>
              <p:cNvPr id="1576" name="textbox 1576"/>
              <p:cNvSpPr>
                <a:spLocks noRot="1" noChangeAspect="1" noMove="1" noResize="1" noEditPoints="1" noAdjustHandles="1" noChangeArrowheads="1" noChangeShapeType="1" noTextEdit="1"/>
              </p:cNvSpPr>
              <p:nvPr/>
            </p:nvSpPr>
            <p:spPr>
              <a:xfrm>
                <a:off x="1276350" y="3086100"/>
                <a:ext cx="3733800" cy="342900"/>
              </a:xfrm>
              <a:prstGeom prst="rect">
                <a:avLst/>
              </a:prstGeom>
              <a:blipFill rotWithShape="1">
                <a:blip r:embed="rId7"/>
                <a:stretch>
                  <a:fillRect r="-5952"/>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78" name="textbox 1578"/>
              <p:cNvSpPr/>
              <p:nvPr/>
            </p:nvSpPr>
            <p:spPr>
              <a:xfrm>
                <a:off x="1266825" y="3448050"/>
                <a:ext cx="4943475" cy="4095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Sup>
                        <m:sSubSupPr>
                          <m:ctrlPr>
                            <a:rPr/>
                          </m:ctrlPr>
                        </m:sSubSupPr>
                        <m:e>
                          <m:r>
                            <a:rPr lang="en-US" sz="1800" dirty="0">
                              <a:latin typeface="Cambria Math" panose="02040503050406030204"/>
                              <a:ea typeface="Cambria Math" panose="02040503050406030204"/>
                            </a:rPr>
                            <m:t>𝐮</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p>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r</m:t>
                          </m:r>
                        </m:e>
                        <m:sub>
                          <m:r>
                            <a:rPr lang="en-US" sz="1800" dirty="0">
                              <a:latin typeface="Cambria Math" panose="02040503050406030204"/>
                              <a:ea typeface="Cambria Math" panose="02040503050406030204"/>
                            </a:rPr>
                            <m:t>3</m:t>
                          </m:r>
                        </m:sub>
                      </m:sSub>
                      <m:sSubSup>
                        <m:sSubSupPr>
                          <m:ctrlPr>
                            <a:rPr/>
                          </m:ctrlPr>
                        </m:sSubSupPr>
                        <m:e>
                          <m:r>
                            <m:rPr>
                              <m:sty m:val="p"/>
                            </m:rPr>
                            <a:rPr lang="en-US" sz="1800" dirty="0">
                              <a:latin typeface="Cambria Math" panose="02040503050406030204"/>
                              <a:ea typeface="Cambria Math" panose="02040503050406030204"/>
                            </a:rPr>
                            <m:t>c</m:t>
                          </m:r>
                        </m:e>
                        <m:sub>
                          <m:r>
                            <m:rPr>
                              <m:sty m:val="p"/>
                            </m:rPr>
                            <a:rPr lang="en-US" sz="1800" dirty="0">
                              <a:latin typeface="Cambria Math" panose="02040503050406030204"/>
                              <a:ea typeface="Cambria Math" panose="02040503050406030204"/>
                            </a:rPr>
                            <m:t>i</m:t>
                          </m:r>
                        </m:sub>
                        <m:sup>
                          <m:r>
                            <a:rPr lang="en-US" sz="1800" dirty="0">
                              <a:latin typeface="Cambria Math" panose="02040503050406030204"/>
                              <a:ea typeface="Cambria Math" panose="02040503050406030204"/>
                            </a:rPr>
                            <m:t>2</m:t>
                          </m:r>
                        </m:sup>
                      </m:sSubSup>
                      <m:r>
                        <a:rPr lang="en-US" sz="1800" dirty="0">
                          <a:latin typeface="Cambria Math" panose="02040503050406030204"/>
                          <a:ea typeface="Cambria Math" panose="02040503050406030204"/>
                        </a:rPr>
                        <m:t>,</m:t>
                      </m:r>
                      <m:sSubSup>
                        <m:sSubSupPr>
                          <m:ctrlPr>
                            <a:rPr/>
                          </m:ctrlPr>
                        </m:sSubSupPr>
                        <m:e>
                          <m:r>
                            <m:rPr>
                              <m:sty m:val="p"/>
                            </m:rPr>
                            <a:rPr lang="en-US" sz="1800" dirty="0">
                              <a:latin typeface="Cambria Math" panose="02040503050406030204"/>
                              <a:ea typeface="Cambria Math" panose="02040503050406030204"/>
                            </a:rPr>
                            <m:t>w</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p>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w</m:t>
                          </m:r>
                        </m:e>
                        <m:sub>
                          <m:r>
                            <a:rPr lang="en-US" sz="1800" dirty="0">
                              <a:latin typeface="Cambria Math" panose="02040503050406030204"/>
                              <a:ea typeface="Cambria Math" panose="02040503050406030204"/>
                            </a:rPr>
                            <m:t>3</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 </m:t>
                      </m:r>
                      <m:r>
                        <m:rPr>
                          <m:sty m:val="p"/>
                        </m:rPr>
                        <a:rPr lang="en-US" sz="1800" dirty="0">
                          <a:latin typeface="Cambria Math" panose="02040503050406030204"/>
                          <a:ea typeface="Cambria Math" panose="02040503050406030204"/>
                        </a:rPr>
                        <m:t>f</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r</m:t>
                      </m:r>
                      <m:r>
                        <a:rPr lang="en-US" sz="1800" dirty="0">
                          <a:latin typeface="Cambria Math" panose="02040503050406030204"/>
                          <a:ea typeface="Cambria Math" panose="02040503050406030204"/>
                        </a:rPr>
                        <m:t>1</m:t>
                      </m:r>
                      <m:r>
                        <m:rPr>
                          <m:sty m:val="p"/>
                        </m:rPr>
                        <a:rPr lang="en-US" sz="1800" dirty="0">
                          <a:latin typeface="Cambria Math" panose="02040503050406030204"/>
                          <a:ea typeface="Cambria Math" panose="02040503050406030204"/>
                        </a:rPr>
                        <m:t>le</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le</m:t>
                      </m:r>
                      <m:r>
                        <a:rPr lang="en-US" sz="1800" dirty="0">
                          <a:latin typeface="Cambria Math" panose="02040503050406030204"/>
                          <a:ea typeface="Cambria Math" panose="02040503050406030204"/>
                        </a:rPr>
                        <m:t>2</m:t>
                      </m:r>
                      <m:sSubSup>
                        <m:sSubSupPr>
                          <m:ctrlPr>
                            <a:rPr/>
                          </m:ctrlPr>
                        </m:sSubSup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up>
                          <m:r>
                            <a:rPr lang="en-US" sz="1800" dirty="0">
                              <a:latin typeface="Cambria Math" panose="02040503050406030204"/>
                              <a:ea typeface="Cambria Math" panose="02040503050406030204"/>
                            </a:rPr>
                            <m:t>2</m:t>
                          </m:r>
                        </m:sup>
                      </m:sSubSup>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oMath>
                  </m:oMathPara>
                </a14:m>
                <a:endParaRPr sz="1800" dirty="0"/>
              </a:p>
            </p:txBody>
          </p:sp>
        </mc:Choice>
        <mc:Fallback>
          <p:sp>
            <p:nvSpPr>
              <p:cNvPr id="1578" name="textbox 1578"/>
              <p:cNvSpPr>
                <a:spLocks noRot="1" noChangeAspect="1" noMove="1" noResize="1" noEditPoints="1" noAdjustHandles="1" noChangeArrowheads="1" noChangeShapeType="1" noTextEdit="1"/>
              </p:cNvSpPr>
              <p:nvPr/>
            </p:nvSpPr>
            <p:spPr>
              <a:xfrm>
                <a:off x="1266825" y="3448050"/>
                <a:ext cx="4943475" cy="409575"/>
              </a:xfrm>
              <a:prstGeom prst="rect">
                <a:avLst/>
              </a:prstGeom>
              <a:blipFill rotWithShape="1">
                <a:blip r:embed="rId8"/>
                <a:stretch>
                  <a:fillRect r="-8902"/>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80" name="textbox 1580"/>
              <p:cNvSpPr/>
              <p:nvPr/>
            </p:nvSpPr>
            <p:spPr>
              <a:xfrm>
                <a:off x="1266825" y="3876675"/>
                <a:ext cx="4657725" cy="4095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Sup>
                        <m:sSubSupPr>
                          <m:ctrlPr>
                            <a:rPr/>
                          </m:ctrlPr>
                        </m:sSubSupPr>
                        <m:e>
                          <m:r>
                            <a:rPr lang="en-US" sz="1800" dirty="0">
                              <a:latin typeface="Cambria Math" panose="02040503050406030204"/>
                              <a:ea typeface="Cambria Math" panose="02040503050406030204"/>
                            </a:rPr>
                            <m:t>𝐮</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p>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Sup>
                            <m:sSubSupPr>
                              <m:ctrlPr>
                                <a:rPr/>
                              </m:ctrlPr>
                            </m:sSubSup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up>
                              <m:r>
                                <a:rPr lang="en-US" sz="1800" dirty="0">
                                  <a:latin typeface="Cambria Math" panose="02040503050406030204"/>
                                  <a:ea typeface="Cambria Math" panose="02040503050406030204"/>
                                </a:rPr>
                                <m:t>2</m:t>
                              </m:r>
                            </m:sup>
                          </m:sSubSup>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r</m:t>
                          </m:r>
                        </m:e>
                        <m:sub>
                          <m:r>
                            <a:rPr lang="en-US" sz="1800" dirty="0">
                              <a:latin typeface="Cambria Math" panose="02040503050406030204"/>
                              <a:ea typeface="Cambria Math" panose="02040503050406030204"/>
                            </a:rPr>
                            <m:t>4</m:t>
                          </m:r>
                        </m:sub>
                      </m:sSub>
                      <m:sSubSup>
                        <m:sSubSupPr>
                          <m:ctrlPr>
                            <a:rPr/>
                          </m:ctrlPr>
                        </m:sSubSupPr>
                        <m:e>
                          <m:r>
                            <m:rPr>
                              <m:sty m:val="p"/>
                            </m:rPr>
                            <a:rPr lang="en-US" sz="1800" dirty="0">
                              <a:latin typeface="Cambria Math" panose="02040503050406030204"/>
                              <a:ea typeface="Cambria Math" panose="02040503050406030204"/>
                            </a:rPr>
                            <m:t>c</m:t>
                          </m:r>
                        </m:e>
                        <m:sub>
                          <m:r>
                            <m:rPr>
                              <m:sty m:val="p"/>
                            </m:rPr>
                            <a:rPr lang="en-US" sz="1800" dirty="0">
                              <a:latin typeface="Cambria Math" panose="02040503050406030204"/>
                              <a:ea typeface="Cambria Math" panose="02040503050406030204"/>
                            </a:rPr>
                            <m:t>i</m:t>
                          </m:r>
                        </m:sub>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bSup>
                      <m:r>
                        <a:rPr lang="en-US" sz="1800" dirty="0">
                          <a:latin typeface="Cambria Math" panose="02040503050406030204"/>
                          <a:ea typeface="Cambria Math" panose="02040503050406030204"/>
                        </a:rPr>
                        <m:t>,</m:t>
                      </m:r>
                      <m:sSubSup>
                        <m:sSubSupPr>
                          <m:ctrlPr>
                            <a:rPr/>
                          </m:ctrlPr>
                        </m:sSubSupPr>
                        <m:e>
                          <m:r>
                            <m:rPr>
                              <m:sty m:val="p"/>
                            </m:rPr>
                            <a:rPr lang="en-US" sz="1800" dirty="0">
                              <a:latin typeface="Cambria Math" panose="02040503050406030204"/>
                              <a:ea typeface="Cambria Math" panose="02040503050406030204"/>
                            </a:rPr>
                            <m:t>w</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p>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Sup>
                            <m:sSubSupPr>
                              <m:ctrlPr>
                                <a:rPr/>
                              </m:ctrlPr>
                            </m:sSubSup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up>
                              <m:r>
                                <a:rPr lang="en-US" sz="1800" dirty="0">
                                  <a:latin typeface="Cambria Math" panose="02040503050406030204"/>
                                  <a:ea typeface="Cambria Math" panose="02040503050406030204"/>
                                </a:rPr>
                                <m:t>2</m:t>
                              </m:r>
                            </m:sup>
                          </m:sSubSup>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w</m:t>
                          </m:r>
                        </m:e>
                        <m:sub>
                          <m:r>
                            <a:rPr lang="en-US" sz="1800" dirty="0">
                              <a:latin typeface="Cambria Math" panose="02040503050406030204"/>
                              <a:ea typeface="Cambria Math" panose="02040503050406030204"/>
                            </a:rPr>
                            <m:t>4</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 </m:t>
                      </m:r>
                      <m:r>
                        <m:rPr>
                          <m:sty m:val="p"/>
                        </m:rPr>
                        <a:rPr lang="en-US" sz="1800" dirty="0">
                          <a:latin typeface="Cambria Math" panose="02040503050406030204"/>
                          <a:ea typeface="Cambria Math" panose="02040503050406030204"/>
                        </a:rPr>
                        <m:t>f</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r</m:t>
                      </m:r>
                      <m:r>
                        <a:rPr lang="en-US" sz="1800" dirty="0">
                          <a:latin typeface="Cambria Math" panose="02040503050406030204"/>
                          <a:ea typeface="Cambria Math" panose="02040503050406030204"/>
                        </a:rPr>
                        <m:t>1</m:t>
                      </m:r>
                      <m:r>
                        <m:rPr>
                          <m:sty m:val="p"/>
                        </m:rPr>
                        <a:rPr lang="en-US" sz="1800" dirty="0">
                          <a:latin typeface="Cambria Math" panose="02040503050406030204"/>
                          <a:ea typeface="Cambria Math" panose="02040503050406030204"/>
                        </a:rPr>
                        <m:t>le</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le</m:t>
                      </m:r>
                      <m:sSup>
                        <m:sSupPr>
                          <m:ctrlPr>
                            <a:rPr/>
                          </m:ctrlPr>
                        </m:sSupPr>
                        <m:e>
                          <m:r>
                            <a:rPr lang="en-US" sz="1800" dirty="0">
                              <a:latin typeface="Cambria Math" panose="02040503050406030204"/>
                              <a:ea typeface="Cambria Math" panose="02040503050406030204"/>
                            </a:rPr>
                            <m:t>2</m:t>
                          </m:r>
                        </m:e>
                        <m:sup>
                          <m:r>
                            <m:rPr>
                              <m:sty m:val="p"/>
                            </m:rPr>
                            <a:rPr lang="en-US" sz="1800" dirty="0">
                              <a:latin typeface="Cambria Math" panose="02040503050406030204"/>
                              <a:ea typeface="Cambria Math" panose="02040503050406030204"/>
                            </a:rPr>
                            <m:t>n</m:t>
                          </m:r>
                        </m:sup>
                      </m:s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oMath>
                  </m:oMathPara>
                </a14:m>
                <a:endParaRPr sz="1800" dirty="0"/>
              </a:p>
            </p:txBody>
          </p:sp>
        </mc:Choice>
        <mc:Fallback>
          <p:sp>
            <p:nvSpPr>
              <p:cNvPr id="1580" name="textbox 1580"/>
              <p:cNvSpPr>
                <a:spLocks noRot="1" noChangeAspect="1" noMove="1" noResize="1" noEditPoints="1" noAdjustHandles="1" noChangeArrowheads="1" noChangeShapeType="1" noTextEdit="1"/>
              </p:cNvSpPr>
              <p:nvPr/>
            </p:nvSpPr>
            <p:spPr>
              <a:xfrm>
                <a:off x="1266825" y="3876675"/>
                <a:ext cx="4657725" cy="409575"/>
              </a:xfrm>
              <a:prstGeom prst="rect">
                <a:avLst/>
              </a:prstGeom>
              <a:blipFill rotWithShape="1">
                <a:blip r:embed="rId9"/>
                <a:stretch>
                  <a:fillRect r="-663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82" name="textbox 1582"/>
              <p:cNvSpPr/>
              <p:nvPr/>
            </p:nvSpPr>
            <p:spPr>
              <a:xfrm>
                <a:off x="1238250" y="4314825"/>
                <a:ext cx="6696075" cy="5715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Sup>
                        <m:sSubSupPr>
                          <m:ctrlPr>
                            <a:rPr/>
                          </m:ctrlPr>
                        </m:sSubSupPr>
                        <m:e>
                          <m:r>
                            <a:rPr lang="en-US" sz="2000" dirty="0">
                              <a:latin typeface="Cambria Math" panose="02040503050406030204"/>
                              <a:ea typeface="Cambria Math" panose="02040503050406030204"/>
                            </a:rPr>
                            <m:t>𝐮</m:t>
                          </m:r>
                        </m:e>
                        <m:sub>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sSup>
                            <m:sSupPr>
                              <m:ctrlPr>
                                <a:rPr/>
                              </m:ctrlPr>
                            </m:sSupPr>
                            <m:e>
                              <m:r>
                                <a:rPr lang="en-US" sz="2000" dirty="0">
                                  <a:latin typeface="Cambria Math" panose="02040503050406030204"/>
                                  <a:ea typeface="Cambria Math" panose="02040503050406030204"/>
                                </a:rPr>
                                <m:t>2</m:t>
                              </m:r>
                            </m:e>
                            <m:sup>
                              <m:sSub>
                                <m:sSubPr>
                                  <m:ctrlPr>
                                    <a:rPr/>
                                  </m:ctrlPr>
                                </m:sSub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p>
                          </m:sSup>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sSubSup>
                            <m:sSubSupPr>
                              <m:ctrlPr>
                                <a:rPr/>
                              </m:ctrlPr>
                            </m:sSubSup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up>
                              <m:r>
                                <a:rPr lang="en-US" sz="2000" dirty="0">
                                  <a:latin typeface="Cambria Math" panose="02040503050406030204"/>
                                  <a:ea typeface="Cambria Math" panose="02040503050406030204"/>
                                </a:rPr>
                                <m:t>2</m:t>
                              </m:r>
                            </m:sup>
                          </m:sSubSup>
                        </m:sub>
                        <m:sup>
                          <m:r>
                            <m:rPr>
                              <m:sty m:val="p"/>
                            </m:rPr>
                            <a:rPr lang="en-US" sz="2000" dirty="0">
                              <a:latin typeface="Cambria Math" panose="02040503050406030204"/>
                              <a:ea typeface="Cambria Math" panose="02040503050406030204"/>
                            </a:rPr>
                            <m:t>c</m:t>
                          </m:r>
                        </m:sup>
                      </m:sSubSup>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r</m:t>
                          </m:r>
                        </m:e>
                        <m:sub>
                          <m:r>
                            <a:rPr lang="en-US" sz="2000" dirty="0">
                              <a:latin typeface="Cambria Math" panose="02040503050406030204"/>
                              <a:ea typeface="Cambria Math" panose="02040503050406030204"/>
                            </a:rPr>
                            <m:t>5</m:t>
                          </m:r>
                        </m:sub>
                      </m:sSub>
                      <m:sSubSup>
                        <m:sSubSupPr>
                          <m:ctrlPr>
                            <a:rPr/>
                          </m:ctrlPr>
                        </m:sSubSupPr>
                        <m:e>
                          <m:r>
                            <m:rPr>
                              <m:sty m:val="p"/>
                            </m:rPr>
                            <a:rPr lang="en-US" sz="2000" dirty="0">
                              <a:latin typeface="Cambria Math" panose="02040503050406030204"/>
                              <a:ea typeface="Cambria Math" panose="02040503050406030204"/>
                            </a:rPr>
                            <m:t>c</m:t>
                          </m:r>
                        </m:e>
                        <m:sub>
                          <m:r>
                            <m:rPr>
                              <m:sty m:val="p"/>
                            </m:rPr>
                            <a:rPr lang="en-US" sz="2000" dirty="0">
                              <a:latin typeface="Cambria Math" panose="02040503050406030204"/>
                              <a:ea typeface="Cambria Math" panose="02040503050406030204"/>
                            </a:rPr>
                            <m:t>i</m:t>
                          </m:r>
                        </m:sub>
                        <m:sup>
                          <m:sSub>
                            <m:sSubPr>
                              <m:ctrlPr>
                                <a:rPr/>
                              </m:ctrlPr>
                            </m:sSub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Sub>
                        </m:sup>
                      </m:sSubSup>
                      <m:r>
                        <a:rPr lang="en-US" sz="2000" dirty="0">
                          <a:latin typeface="Cambria Math" panose="02040503050406030204"/>
                          <a:ea typeface="Cambria Math" panose="02040503050406030204"/>
                        </a:rPr>
                        <m:t>,</m:t>
                      </m:r>
                      <m:sSubSup>
                        <m:sSubSupPr>
                          <m:ctrlPr>
                            <a:rPr/>
                          </m:ctrlPr>
                        </m:sSubSupPr>
                        <m:e>
                          <m:r>
                            <m:rPr>
                              <m:sty m:val="p"/>
                            </m:rPr>
                            <a:rPr lang="en-US" sz="2000" dirty="0">
                              <a:latin typeface="Cambria Math" panose="02040503050406030204"/>
                              <a:ea typeface="Cambria Math" panose="02040503050406030204"/>
                            </a:rPr>
                            <m:t>w</m:t>
                          </m:r>
                        </m:e>
                        <m:sub>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sSup>
                            <m:sSupPr>
                              <m:ctrlPr>
                                <a:rPr/>
                              </m:ctrlPr>
                            </m:sSupPr>
                            <m:e>
                              <m:r>
                                <a:rPr lang="en-US" sz="2000" dirty="0">
                                  <a:latin typeface="Cambria Math" panose="02040503050406030204"/>
                                  <a:ea typeface="Cambria Math" panose="02040503050406030204"/>
                                </a:rPr>
                                <m:t>2</m:t>
                              </m:r>
                            </m:e>
                            <m:sup>
                              <m:sSub>
                                <m:sSubPr>
                                  <m:ctrlPr>
                                    <a:rPr/>
                                  </m:ctrlPr>
                                </m:sSub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p>
                          </m:sSup>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sSubSup>
                            <m:sSubSupPr>
                              <m:ctrlPr>
                                <a:rPr/>
                              </m:ctrlPr>
                            </m:sSubSup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up>
                              <m:r>
                                <a:rPr lang="en-US" sz="2000" dirty="0">
                                  <a:latin typeface="Cambria Math" panose="02040503050406030204"/>
                                  <a:ea typeface="Cambria Math" panose="02040503050406030204"/>
                                </a:rPr>
                                <m:t>2</m:t>
                              </m:r>
                            </m:sup>
                          </m:sSubSup>
                        </m:sub>
                        <m:sup>
                          <m:r>
                            <m:rPr>
                              <m:sty m:val="p"/>
                            </m:rPr>
                            <a:rPr lang="en-US" sz="2000" dirty="0">
                              <a:latin typeface="Cambria Math" panose="02040503050406030204"/>
                              <a:ea typeface="Cambria Math" panose="02040503050406030204"/>
                            </a:rPr>
                            <m:t>c</m:t>
                          </m:r>
                        </m:sup>
                      </m:sSubSup>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w</m:t>
                          </m:r>
                        </m:e>
                        <m:sub>
                          <m:r>
                            <a:rPr lang="en-US" sz="2000" dirty="0">
                              <a:latin typeface="Cambria Math" panose="02040503050406030204"/>
                              <a:ea typeface="Cambria Math" panose="02040503050406030204"/>
                            </a:rPr>
                            <m:t>5</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 </m:t>
                      </m:r>
                      <m:r>
                        <m:rPr>
                          <m:sty m:val="p"/>
                        </m:rPr>
                        <a:rPr lang="en-US" sz="2000" dirty="0">
                          <a:latin typeface="Cambria Math" panose="02040503050406030204"/>
                          <a:ea typeface="Cambria Math" panose="02040503050406030204"/>
                        </a:rPr>
                        <m:t>f</m:t>
                      </m:r>
                      <m:r>
                        <m:rPr>
                          <m:sty m:val="p"/>
                        </m:rPr>
                        <a:rPr lang="en-US" sz="2000" dirty="0">
                          <a:latin typeface="Cambria Math" panose="02040503050406030204"/>
                          <a:ea typeface="Cambria Math" panose="02040503050406030204"/>
                        </a:rPr>
                        <m:t>o</m:t>
                      </m:r>
                      <m:r>
                        <m:rPr>
                          <m:sty m:val="p"/>
                        </m:rPr>
                        <a:rPr lang="en-US" sz="2000" dirty="0">
                          <a:latin typeface="Cambria Math" panose="02040503050406030204"/>
                          <a:ea typeface="Cambria Math" panose="02040503050406030204"/>
                        </a:rPr>
                        <m:t>r</m:t>
                      </m:r>
                      <m:r>
                        <a:rPr lang="en-US" sz="2000" dirty="0">
                          <a:latin typeface="Cambria Math" panose="02040503050406030204"/>
                          <a:ea typeface="Cambria Math" panose="02040503050406030204"/>
                        </a:rPr>
                        <m:t>1</m:t>
                      </m:r>
                      <m:r>
                        <m:rPr>
                          <m:sty m:val="p"/>
                        </m:rPr>
                        <a:rPr lang="en-US" sz="2000" dirty="0">
                          <a:latin typeface="Cambria Math" panose="02040503050406030204"/>
                          <a:ea typeface="Cambria Math" panose="02040503050406030204"/>
                        </a:rPr>
                        <m:t>le</m:t>
                      </m:r>
                      <m:r>
                        <m:rPr>
                          <m:sty m:val="p"/>
                        </m:rPr>
                        <a:rPr lang="en-US" sz="2000" dirty="0">
                          <a:latin typeface="Cambria Math" panose="02040503050406030204"/>
                          <a:ea typeface="Cambria Math" panose="02040503050406030204"/>
                        </a:rPr>
                        <m:t>i</m:t>
                      </m:r>
                      <m:r>
                        <m:rPr>
                          <m:sty m:val="p"/>
                        </m:rPr>
                        <a:rPr lang="en-US" sz="2000" dirty="0">
                          <a:latin typeface="Cambria Math" panose="02040503050406030204"/>
                          <a:ea typeface="Cambria Math" panose="02040503050406030204"/>
                        </a:rPr>
                        <m:t>le</m:t>
                      </m:r>
                      <m:sSub>
                        <m:sSubPr>
                          <m:ctrlPr>
                            <a:rPr/>
                          </m:ctrlPr>
                        </m:sSubPr>
                        <m:e>
                          <m:r>
                            <m:rPr>
                              <m:sty m:val="p"/>
                            </m:rPr>
                            <a:rPr lang="en-US" sz="2000" dirty="0">
                              <a:latin typeface="Cambria Math" panose="02040503050406030204"/>
                              <a:ea typeface="Cambria Math" panose="02040503050406030204"/>
                            </a:rPr>
                            <m:t>n</m:t>
                          </m:r>
                        </m:e>
                        <m:sub>
                          <m:r>
                            <a:rPr lang="en-US" sz="2000" dirty="0">
                              <a:latin typeface="Cambria Math" panose="02040503050406030204"/>
                              <a:ea typeface="Cambria Math" panose="02040503050406030204"/>
                            </a:rPr>
                            <m:t>1</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n</m:t>
                          </m:r>
                        </m:e>
                        <m:sub>
                          <m:r>
                            <a:rPr lang="en-US" sz="2000" dirty="0">
                              <a:latin typeface="Cambria Math" panose="02040503050406030204"/>
                              <a:ea typeface="Cambria Math" panose="02040503050406030204"/>
                            </a:rPr>
                            <m:t>1</m:t>
                          </m:r>
                        </m:sub>
                      </m:sSub>
                      <m:r>
                        <a:rPr lang="en-US" sz="2000" dirty="0">
                          <a:latin typeface="Cambria Math" panose="02040503050406030204"/>
                          <a:ea typeface="Cambria Math" panose="02040503050406030204"/>
                        </a:rPr>
                        <m:t>=</m:t>
                      </m:r>
                      <m:f>
                        <m:fPr>
                          <m:ctrlPr>
                            <a:rPr/>
                          </m:ctrlPr>
                        </m:fPr>
                        <m:num>
                          <m:r>
                            <a:rPr lang="en-US" sz="2000" dirty="0">
                              <a:latin typeface="Cambria Math" panose="02040503050406030204"/>
                              <a:ea typeface="Cambria Math" panose="02040503050406030204"/>
                            </a:rPr>
                            <m:t>4</m:t>
                          </m:r>
                          <m:sSub>
                            <m:sSubPr>
                              <m:ctrlPr>
                                <a:rPr/>
                              </m:ctrlPr>
                            </m:sSub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Sub>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n</m:t>
                              </m:r>
                            </m:e>
                            <m:sub>
                              <m:r>
                                <m:rPr>
                                  <m:sty m:val="p"/>
                                </m:rPr>
                                <a:rPr lang="en-US" sz="2000" dirty="0">
                                  <a:latin typeface="Cambria Math" panose="02040503050406030204"/>
                                  <a:ea typeface="Cambria Math" panose="02040503050406030204"/>
                                </a:rPr>
                                <m:t>s</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r>
                            <a:rPr lang="en-US" sz="2000" dirty="0">
                              <a:latin typeface="Cambria Math" panose="02040503050406030204"/>
                              <a:ea typeface="Cambria Math" panose="02040503050406030204"/>
                            </a:rPr>
                            <m:t>)</m:t>
                          </m:r>
                        </m:num>
                        <m:den>
                          <m:r>
                            <a:rPr lang="en-US" sz="2000" dirty="0">
                              <a:latin typeface="Cambria Math" panose="02040503050406030204"/>
                              <a:ea typeface="Cambria Math" panose="02040503050406030204"/>
                            </a:rPr>
                            <m:t>3</m:t>
                          </m:r>
                        </m:den>
                      </m:f>
                      <m:r>
                        <a:rPr lang="en-US" sz="2000" dirty="0">
                          <a:latin typeface="Cambria Math" panose="02040503050406030204"/>
                          <a:ea typeface="Cambria Math" panose="02040503050406030204"/>
                        </a:rPr>
                        <m:t>;</m:t>
                      </m:r>
                    </m:oMath>
                  </m:oMathPara>
                </a14:m>
                <a:endParaRPr sz="2000" dirty="0"/>
              </a:p>
            </p:txBody>
          </p:sp>
        </mc:Choice>
        <mc:Fallback>
          <p:sp>
            <p:nvSpPr>
              <p:cNvPr id="1582" name="textbox 1582"/>
              <p:cNvSpPr>
                <a:spLocks noRot="1" noChangeAspect="1" noMove="1" noResize="1" noEditPoints="1" noAdjustHandles="1" noChangeArrowheads="1" noChangeShapeType="1" noTextEdit="1"/>
              </p:cNvSpPr>
              <p:nvPr/>
            </p:nvSpPr>
            <p:spPr>
              <a:xfrm>
                <a:off x="1238250" y="4314825"/>
                <a:ext cx="6696075" cy="571500"/>
              </a:xfrm>
              <a:prstGeom prst="rect">
                <a:avLst/>
              </a:prstGeom>
              <a:blipFill rotWithShape="1">
                <a:blip r:embed="rId10"/>
                <a:stretch>
                  <a:fillRect r="-2716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84" name="textbox 1584"/>
              <p:cNvSpPr/>
              <p:nvPr/>
            </p:nvSpPr>
            <p:spPr>
              <a:xfrm>
                <a:off x="1257300" y="4895850"/>
                <a:ext cx="5600700" cy="4191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Sup>
                        <m:sSubSupPr>
                          <m:ctrlPr>
                            <a:rPr/>
                          </m:ctrlPr>
                        </m:sSubSupPr>
                        <m:e>
                          <m:r>
                            <m:rPr>
                              <m:sty m:val="p"/>
                            </m:rPr>
                            <a:rPr lang="en-US" sz="1800" dirty="0">
                              <a:latin typeface="Cambria Math" panose="02040503050406030204"/>
                              <a:ea typeface="Cambria Math" panose="02040503050406030204"/>
                            </a:rPr>
                            <m:t>u</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n</m:t>
                              </m:r>
                            </m:e>
                            <m:sub>
                              <m:r>
                                <a:rPr lang="en-US" sz="1800" dirty="0">
                                  <a:latin typeface="Cambria Math" panose="02040503050406030204"/>
                                  <a:ea typeface="Cambria Math" panose="02040503050406030204"/>
                                </a:rPr>
                                <m:t>1</m:t>
                              </m:r>
                            </m:sub>
                          </m:sSub>
                          <m:r>
                            <a:rPr lang="en-US" sz="1800" dirty="0">
                              <a:latin typeface="Cambria Math" panose="02040503050406030204"/>
                              <a:ea typeface="Cambria Math" panose="02040503050406030204"/>
                            </a:rPr>
                            <m:t>+</m:t>
                          </m:r>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sup>
                          </m:sSup>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Sup>
                            <m:sSubSupPr>
                              <m:ctrlPr>
                                <a:rPr/>
                              </m:ctrlPr>
                            </m:sSubSup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up>
                              <m:r>
                                <a:rPr lang="en-US" sz="1800" dirty="0">
                                  <a:latin typeface="Cambria Math" panose="02040503050406030204"/>
                                  <a:ea typeface="Cambria Math" panose="02040503050406030204"/>
                                </a:rPr>
                                <m:t>2</m:t>
                              </m:r>
                            </m:sup>
                          </m:sSubSup>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r</m:t>
                          </m:r>
                        </m:e>
                        <m:sub>
                          <m:r>
                            <a:rPr lang="en-US" sz="1800" dirty="0">
                              <a:latin typeface="Cambria Math" panose="02040503050406030204"/>
                              <a:ea typeface="Cambria Math" panose="02040503050406030204"/>
                            </a:rPr>
                            <m:t>6</m:t>
                          </m:r>
                        </m:sub>
                      </m:sSub>
                      <m:sSubSup>
                        <m:sSubSupPr>
                          <m:ctrlPr>
                            <a:rPr/>
                          </m:ctrlPr>
                        </m:sSubSupPr>
                        <m:e>
                          <m:r>
                            <m:rPr>
                              <m:sty m:val="p"/>
                            </m:rPr>
                            <a:rPr lang="en-US" sz="1800" dirty="0">
                              <a:latin typeface="Cambria Math" panose="02040503050406030204"/>
                              <a:ea typeface="Cambria Math" panose="02040503050406030204"/>
                            </a:rPr>
                            <m:t>s</m:t>
                          </m:r>
                        </m:e>
                        <m:sub>
                          <m:r>
                            <m:rPr>
                              <m:sty m:val="p"/>
                            </m:rPr>
                            <a:rPr lang="en-US" sz="1800" dirty="0">
                              <a:latin typeface="Cambria Math" panose="02040503050406030204"/>
                              <a:ea typeface="Cambria Math" panose="02040503050406030204"/>
                            </a:rPr>
                            <m:t>i</m:t>
                          </m:r>
                        </m:sub>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h</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sSubSup>
                        <m:sSubSupPr>
                          <m:ctrlPr>
                            <a:rPr/>
                          </m:ctrlPr>
                        </m:sSubSupPr>
                        <m:e>
                          <m:r>
                            <m:rPr>
                              <m:sty m:val="p"/>
                            </m:rPr>
                            <a:rPr lang="en-US" sz="1800" dirty="0">
                              <a:latin typeface="Cambria Math" panose="02040503050406030204"/>
                              <a:ea typeface="Cambria Math" panose="02040503050406030204"/>
                            </a:rPr>
                            <m:t>w</m:t>
                          </m:r>
                        </m:e>
                        <m:sub>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n</m:t>
                              </m:r>
                            </m:e>
                            <m:sub>
                              <m:r>
                                <a:rPr lang="en-US" sz="1800" dirty="0">
                                  <a:latin typeface="Cambria Math" panose="02040503050406030204"/>
                                  <a:ea typeface="Cambria Math" panose="02040503050406030204"/>
                                </a:rPr>
                                <m:t>1</m:t>
                              </m:r>
                            </m:sub>
                          </m:sSub>
                          <m:r>
                            <a:rPr lang="en-US" sz="1800" dirty="0">
                              <a:latin typeface="Cambria Math" panose="02040503050406030204"/>
                              <a:ea typeface="Cambria Math" panose="02040503050406030204"/>
                            </a:rPr>
                            <m:t>+</m:t>
                          </m:r>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sup>
                          </m:sSup>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sSubSup>
                            <m:sSubSupPr>
                              <m:ctrlPr>
                                <a:rPr/>
                              </m:ctrlPr>
                            </m:sSubSup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up>
                              <m:r>
                                <a:rPr lang="en-US" sz="1800" dirty="0">
                                  <a:latin typeface="Cambria Math" panose="02040503050406030204"/>
                                  <a:ea typeface="Cambria Math" panose="02040503050406030204"/>
                                </a:rPr>
                                <m:t>2</m:t>
                              </m:r>
                            </m:sup>
                          </m:sSubSup>
                        </m:sub>
                        <m:sup>
                          <m:r>
                            <m:rPr>
                              <m:sty m:val="p"/>
                            </m:rPr>
                            <a:rPr lang="en-US" sz="1800" dirty="0">
                              <a:latin typeface="Cambria Math" panose="02040503050406030204"/>
                              <a:ea typeface="Cambria Math" panose="02040503050406030204"/>
                            </a:rPr>
                            <m:t>c</m:t>
                          </m:r>
                        </m:sup>
                      </m:sSubSup>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w</m:t>
                          </m:r>
                        </m:e>
                        <m:sub>
                          <m:r>
                            <a:rPr lang="en-US" sz="1800" dirty="0">
                              <a:latin typeface="Cambria Math" panose="02040503050406030204"/>
                              <a:ea typeface="Cambria Math" panose="02040503050406030204"/>
                            </a:rPr>
                            <m:t>6</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 </m:t>
                      </m:r>
                      <m:r>
                        <m:rPr>
                          <m:sty m:val="p"/>
                        </m:rPr>
                        <a:rPr lang="en-US" sz="1800" dirty="0">
                          <a:latin typeface="Cambria Math" panose="02040503050406030204"/>
                          <a:ea typeface="Cambria Math" panose="02040503050406030204"/>
                        </a:rPr>
                        <m:t>f</m:t>
                      </m:r>
                      <m:r>
                        <m:rPr>
                          <m:sty m:val="p"/>
                        </m:rPr>
                        <a:rPr lang="en-US" sz="1800" dirty="0">
                          <a:latin typeface="Cambria Math" panose="02040503050406030204"/>
                          <a:ea typeface="Cambria Math" panose="02040503050406030204"/>
                        </a:rPr>
                        <m:t>o</m:t>
                      </m:r>
                      <m:r>
                        <m:rPr>
                          <m:sty m:val="p"/>
                        </m:rPr>
                        <a:rPr lang="en-US" sz="1800" dirty="0">
                          <a:latin typeface="Cambria Math" panose="02040503050406030204"/>
                          <a:ea typeface="Cambria Math" panose="02040503050406030204"/>
                        </a:rPr>
                        <m:t>r</m:t>
                      </m:r>
                      <m:r>
                        <a:rPr lang="en-US" sz="1800" dirty="0">
                          <a:latin typeface="Cambria Math" panose="02040503050406030204"/>
                          <a:ea typeface="Cambria Math" panose="02040503050406030204"/>
                        </a:rPr>
                        <m:t>1</m:t>
                      </m:r>
                      <m:r>
                        <m:rPr>
                          <m:sty m:val="p"/>
                        </m:rPr>
                        <a:rPr lang="en-US" sz="1800" dirty="0">
                          <a:latin typeface="Cambria Math" panose="02040503050406030204"/>
                          <a:ea typeface="Cambria Math" panose="02040503050406030204"/>
                        </a:rPr>
                        <m:t>le</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le</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Sup>
                        <m:sSupPr>
                          <m:ctrlPr>
                            <a:rPr/>
                          </m:ctrlPr>
                        </m:sSupPr>
                        <m:e>
                          <m:r>
                            <a:rPr lang="en-US" sz="1800" dirty="0">
                              <a:latin typeface="Cambria Math" panose="02040503050406030204"/>
                              <a:ea typeface="Cambria Math" panose="02040503050406030204"/>
                            </a:rPr>
                            <m:t>2</m:t>
                          </m:r>
                        </m:e>
                        <m:sup>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s</m:t>
                              </m:r>
                            </m:sub>
                          </m:sSub>
                        </m:sup>
                      </m:sSup>
                      <m:r>
                        <a:rPr lang="en-US" sz="1800" dirty="0">
                          <a:latin typeface="Cambria Math" panose="02040503050406030204"/>
                          <a:ea typeface="Cambria Math" panose="02040503050406030204"/>
                        </a:rPr>
                        <m:t>.</m:t>
                      </m:r>
                    </m:oMath>
                  </m:oMathPara>
                </a14:m>
                <a:endParaRPr sz="1800" dirty="0"/>
              </a:p>
            </p:txBody>
          </p:sp>
        </mc:Choice>
        <mc:Fallback>
          <p:sp>
            <p:nvSpPr>
              <p:cNvPr id="1584" name="textbox 1584"/>
              <p:cNvSpPr>
                <a:spLocks noRot="1" noChangeAspect="1" noMove="1" noResize="1" noEditPoints="1" noAdjustHandles="1" noChangeArrowheads="1" noChangeShapeType="1" noTextEdit="1"/>
              </p:cNvSpPr>
              <p:nvPr/>
            </p:nvSpPr>
            <p:spPr>
              <a:xfrm>
                <a:off x="1257300" y="4895850"/>
                <a:ext cx="5600700" cy="419100"/>
              </a:xfrm>
              <a:prstGeom prst="rect">
                <a:avLst/>
              </a:prstGeom>
              <a:blipFill rotWithShape="1">
                <a:blip r:embed="rId11"/>
                <a:stretch>
                  <a:fillRect r="-14218"/>
                </a:stretch>
              </a:blipFill>
              <a:ln w="0" cap="flat">
                <a:noFill/>
                <a:prstDash val="solid"/>
                <a:miter lim="0"/>
              </a:ln>
            </p:spPr>
            <p:txBody>
              <a:bodyPr/>
              <a:lstStyle/>
              <a:p>
                <a:r>
                  <a:rPr lang="zh-CN" altLang="en-US">
                    <a:noFill/>
                  </a:rPr>
                  <a:t> </a:t>
                </a:r>
              </a:p>
            </p:txBody>
          </p:sp>
        </mc:Fallback>
      </mc:AlternateContent>
      <p:pic>
        <p:nvPicPr>
          <p:cNvPr id="1588" name="picture 1588"/>
          <p:cNvPicPr>
            <a:picLocks noChangeAspect="1"/>
          </p:cNvPicPr>
          <p:nvPr/>
        </p:nvPicPr>
        <p:blipFill>
          <a:blip r:embed="rId12"/>
          <a:stretch>
            <a:fillRect/>
          </a:stretch>
        </p:blipFill>
        <p:spPr>
          <a:xfrm>
            <a:off x="8220075" y="2390775"/>
            <a:ext cx="3067050" cy="2876550"/>
          </a:xfrm>
          <a:prstGeom prst="rect">
            <a:avLst/>
          </a:prstGeom>
        </p:spPr>
      </p:pic>
      <mc:AlternateContent xmlns:mc="http://schemas.openxmlformats.org/markup-compatibility/2006">
        <mc:Choice xmlns:a14="http://schemas.microsoft.com/office/drawing/2010/main" Requires="a14">
          <p:sp>
            <p:nvSpPr>
              <p:cNvPr id="1590" name="textbox 1590"/>
              <p:cNvSpPr/>
              <p:nvPr/>
            </p:nvSpPr>
            <p:spPr>
              <a:xfrm>
                <a:off x="10248900" y="2438400"/>
                <a:ext cx="971550" cy="228600"/>
              </a:xfrm>
              <a:prstGeom prst="rect">
                <a:avLst/>
              </a:prstGeom>
              <a:noFill/>
              <a:ln w="0" cap="flat">
                <a:noFill/>
                <a:prstDash val="solid"/>
                <a:miter lim="0"/>
              </a:ln>
            </p:spPr>
            <p:txBody>
              <a:bodyPr vert="horz" wrap="none" lIns="0" tIns="0" rIns="0" bIns="0"/>
              <a:lstStyle/>
              <a:p>
                <a:pPr algn="l" rtl="0" eaLnBrk="0"/>
                <a14:m>
                  <m:oMath xmlns:m="http://schemas.openxmlformats.org/officeDocument/2006/math">
                    <m:sSup>
                      <m:sSupPr>
                        <m:ctrlPr>
                          <a:rPr/>
                        </m:ctrlPr>
                      </m:sSupPr>
                      <m:e>
                        <m:r>
                          <m:rPr>
                            <m:sty m:val="p"/>
                          </m:rPr>
                          <a:rPr lang="en-US" sz="1200" dirty="0">
                            <a:latin typeface="Cambria Math" panose="02040503050406030204"/>
                            <a:ea typeface="Cambria Math" panose="02040503050406030204"/>
                          </a:rPr>
                          <m:t>S</m:t>
                        </m:r>
                      </m:e>
                      <m:sup>
                        <m:r>
                          <a:rPr lang="en-US" sz="1200" dirty="0">
                            <a:latin typeface="Cambria Math" panose="02040503050406030204"/>
                            <a:ea typeface="Cambria Math" panose="02040503050406030204"/>
                          </a:rPr>
                          <m:t>2</m:t>
                        </m:r>
                      </m:sup>
                    </m:sSup>
                  </m:oMath>
                </a14:m>
                <a:r>
                  <a:rPr sz="800" kern="0" spc="0" dirty="0">
                    <a:solidFill>
                      <a:srgbClr val="000000">
                        <a:alpha val="100000"/>
                      </a:srgbClr>
                    </a:solidFill>
                    <a:latin typeface="Times New Roman" panose="02020603050405020304"/>
                    <a:ea typeface="Times New Roman" panose="02020603050405020304"/>
                    <a:cs typeface="Times New Roman" panose="02020603050405020304"/>
                  </a:rPr>
                  <a:t> • CUT points</a:t>
                </a:r>
                <a:endParaRPr sz="1200" dirty="0"/>
              </a:p>
            </p:txBody>
          </p:sp>
        </mc:Choice>
        <mc:Fallback>
          <p:sp>
            <p:nvSpPr>
              <p:cNvPr id="1590" name="textbox 1590"/>
              <p:cNvSpPr>
                <a:spLocks noRot="1" noChangeAspect="1" noMove="1" noResize="1" noEditPoints="1" noAdjustHandles="1" noChangeArrowheads="1" noChangeShapeType="1" noTextEdit="1"/>
              </p:cNvSpPr>
              <p:nvPr/>
            </p:nvSpPr>
            <p:spPr>
              <a:xfrm>
                <a:off x="10248900" y="2438400"/>
                <a:ext cx="971550" cy="228600"/>
              </a:xfrm>
              <a:prstGeom prst="rect">
                <a:avLst/>
              </a:prstGeom>
              <a:blipFill rotWithShape="1">
                <a:blip r:embed="rId13"/>
                <a:stretch>
                  <a:fillRect b="-3388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92" name="textbox 1592"/>
              <p:cNvSpPr/>
              <p:nvPr/>
            </p:nvSpPr>
            <p:spPr>
              <a:xfrm>
                <a:off x="9734550" y="2505075"/>
                <a:ext cx="228600" cy="2381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1600" dirty="0">
                              <a:latin typeface="Cambria Math" panose="02040503050406030204"/>
                              <a:ea typeface="Cambria Math" panose="02040503050406030204"/>
                            </a:rPr>
                            <m:t>U</m:t>
                          </m:r>
                        </m:e>
                        <m:sub>
                          <m:r>
                            <a:rPr lang="en-US" sz="1600" dirty="0">
                              <a:latin typeface="Cambria Math" panose="02040503050406030204"/>
                              <a:ea typeface="Cambria Math" panose="02040503050406030204"/>
                            </a:rPr>
                            <m:t>2</m:t>
                          </m:r>
                        </m:sub>
                      </m:sSub>
                    </m:oMath>
                  </m:oMathPara>
                </a14:m>
                <a:endParaRPr sz="1600" dirty="0"/>
              </a:p>
            </p:txBody>
          </p:sp>
        </mc:Choice>
        <mc:Fallback>
          <p:sp>
            <p:nvSpPr>
              <p:cNvPr id="1592" name="textbox 1592"/>
              <p:cNvSpPr>
                <a:spLocks noRot="1" noChangeAspect="1" noMove="1" noResize="1" noEditPoints="1" noAdjustHandles="1" noChangeArrowheads="1" noChangeShapeType="1" noTextEdit="1"/>
              </p:cNvSpPr>
              <p:nvPr/>
            </p:nvSpPr>
            <p:spPr>
              <a:xfrm>
                <a:off x="9734550" y="2505075"/>
                <a:ext cx="228600" cy="238125"/>
              </a:xfrm>
              <a:prstGeom prst="rect">
                <a:avLst/>
              </a:prstGeom>
              <a:blipFill rotWithShape="1">
                <a:blip r:embed="rId14"/>
                <a:stretch>
                  <a:fillRect r="-18889" b="-28533"/>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94" name="textbox 1594"/>
              <p:cNvSpPr/>
              <p:nvPr/>
            </p:nvSpPr>
            <p:spPr>
              <a:xfrm>
                <a:off x="10744200" y="2752725"/>
                <a:ext cx="161925" cy="1714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p>
                        <m:sSupPr>
                          <m:ctrlPr>
                            <a:rPr/>
                          </m:ctrlPr>
                        </m:sSupPr>
                        <m:e>
                          <m:r>
                            <m:rPr>
                              <m:sty m:val="p"/>
                            </m:rPr>
                            <a:rPr lang="en-US" sz="1200" dirty="0">
                              <a:latin typeface="Cambria Math" panose="02040503050406030204"/>
                              <a:ea typeface="Cambria Math" panose="02040503050406030204"/>
                            </a:rPr>
                            <m:t>c</m:t>
                          </m:r>
                        </m:e>
                        <m:sup>
                          <m:r>
                            <a:rPr lang="en-US" sz="1200" dirty="0">
                              <a:latin typeface="Cambria Math" panose="02040503050406030204"/>
                              <a:ea typeface="Cambria Math" panose="02040503050406030204"/>
                            </a:rPr>
                            <m:t>2</m:t>
                          </m:r>
                        </m:sup>
                      </m:sSup>
                    </m:oMath>
                  </m:oMathPara>
                </a14:m>
                <a:endParaRPr sz="1200" dirty="0"/>
              </a:p>
            </p:txBody>
          </p:sp>
        </mc:Choice>
        <mc:Fallback>
          <p:sp>
            <p:nvSpPr>
              <p:cNvPr id="1594" name="textbox 1594"/>
              <p:cNvSpPr>
                <a:spLocks noRot="1" noChangeAspect="1" noMove="1" noResize="1" noEditPoints="1" noAdjustHandles="1" noChangeArrowheads="1" noChangeShapeType="1" noTextEdit="1"/>
              </p:cNvSpPr>
              <p:nvPr/>
            </p:nvSpPr>
            <p:spPr>
              <a:xfrm>
                <a:off x="10744200" y="2752725"/>
                <a:ext cx="161925" cy="171450"/>
              </a:xfrm>
              <a:prstGeom prst="rect">
                <a:avLst/>
              </a:prstGeom>
              <a:blipFill rotWithShape="1">
                <a:blip r:embed="rId15"/>
                <a:stretch>
                  <a:fillRect r="-13333" b="-7851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96" name="textbox 1596"/>
              <p:cNvSpPr/>
              <p:nvPr/>
            </p:nvSpPr>
            <p:spPr>
              <a:xfrm>
                <a:off x="11049000" y="3209925"/>
                <a:ext cx="152400" cy="1619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p>
                        <m:sSupPr>
                          <m:ctrlPr>
                            <a:rPr/>
                          </m:ctrlPr>
                        </m:sSupPr>
                        <m:e>
                          <m:r>
                            <m:rPr>
                              <m:sty m:val="p"/>
                            </m:rPr>
                            <a:rPr lang="en-US" sz="1000" dirty="0">
                              <a:latin typeface="Cambria Math" panose="02040503050406030204"/>
                              <a:ea typeface="Cambria Math" panose="02040503050406030204"/>
                            </a:rPr>
                            <m:t>S</m:t>
                          </m:r>
                        </m:e>
                        <m:sup>
                          <m:r>
                            <a:rPr lang="en-US" sz="1000" dirty="0">
                              <a:latin typeface="Cambria Math" panose="02040503050406030204"/>
                              <a:ea typeface="Cambria Math" panose="02040503050406030204"/>
                            </a:rPr>
                            <m:t>2</m:t>
                          </m:r>
                        </m:sup>
                      </m:sSup>
                    </m:oMath>
                  </m:oMathPara>
                </a14:m>
                <a:endParaRPr sz="1000" dirty="0"/>
              </a:p>
            </p:txBody>
          </p:sp>
        </mc:Choice>
        <mc:Fallback>
          <p:sp>
            <p:nvSpPr>
              <p:cNvPr id="1596" name="textbox 1596"/>
              <p:cNvSpPr>
                <a:spLocks noRot="1" noChangeAspect="1" noMove="1" noResize="1" noEditPoints="1" noAdjustHandles="1" noChangeArrowheads="1" noChangeShapeType="1" noTextEdit="1"/>
              </p:cNvSpPr>
              <p:nvPr/>
            </p:nvSpPr>
            <p:spPr>
              <a:xfrm>
                <a:off x="11049000" y="3209925"/>
                <a:ext cx="152400" cy="161925"/>
              </a:xfrm>
              <a:prstGeom prst="rect">
                <a:avLst/>
              </a:prstGeom>
              <a:blipFill rotWithShape="1">
                <a:blip r:embed="rId16"/>
                <a:stretch>
                  <a:fillRect r="-8750" b="-89020"/>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98" name="textbox 1598"/>
              <p:cNvSpPr/>
              <p:nvPr/>
            </p:nvSpPr>
            <p:spPr>
              <a:xfrm>
                <a:off x="10982325" y="3667125"/>
                <a:ext cx="295275" cy="2095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acc>
                        <m:accPr>
                          <m:ctrlPr>
                            <a:rPr/>
                          </m:ctrlPr>
                        </m:accPr>
                        <m:e>
                          <m:sSub>
                            <m:sSubPr>
                              <m:ctrlPr>
                                <a:rPr/>
                              </m:ctrlPr>
                            </m:sSubPr>
                            <m:e>
                              <m:r>
                                <m:rPr>
                                  <m:sty m:val="p"/>
                                </m:rPr>
                                <a:rPr lang="en-US" sz="1000" dirty="0">
                                  <a:latin typeface="Cambria Math" panose="02040503050406030204"/>
                                  <a:ea typeface="Cambria Math" panose="02040503050406030204"/>
                                </a:rPr>
                                <m:t>U</m:t>
                              </m:r>
                            </m:e>
                            <m:sub>
                              <m:r>
                                <a:rPr lang="en-US" sz="1000" dirty="0">
                                  <a:latin typeface="Cambria Math" panose="02040503050406030204"/>
                                  <a:ea typeface="Cambria Math" panose="02040503050406030204"/>
                                </a:rPr>
                                <m:t>1</m:t>
                              </m:r>
                              <m:r>
                                <a:rPr lang="en-US" sz="1000" dirty="0">
                                  <a:latin typeface="Cambria Math" panose="02040503050406030204"/>
                                  <a:ea typeface="Cambria Math" panose="02040503050406030204"/>
                                </a:rPr>
                                <m:t>𝜎</m:t>
                              </m:r>
                            </m:sub>
                          </m:sSub>
                        </m:e>
                      </m:acc>
                    </m:oMath>
                  </m:oMathPara>
                </a14:m>
                <a:endParaRPr sz="1000" dirty="0"/>
              </a:p>
            </p:txBody>
          </p:sp>
        </mc:Choice>
        <mc:Fallback>
          <p:sp>
            <p:nvSpPr>
              <p:cNvPr id="1598" name="textbox 1598"/>
              <p:cNvSpPr>
                <a:spLocks noRot="1" noChangeAspect="1" noMove="1" noResize="1" noEditPoints="1" noAdjustHandles="1" noChangeArrowheads="1" noChangeShapeType="1" noTextEdit="1"/>
              </p:cNvSpPr>
              <p:nvPr/>
            </p:nvSpPr>
            <p:spPr>
              <a:xfrm>
                <a:off x="10982325" y="3667125"/>
                <a:ext cx="295275" cy="209550"/>
              </a:xfrm>
              <a:prstGeom prst="rect">
                <a:avLst/>
              </a:prstGeom>
              <a:blipFill rotWithShape="1">
                <a:blip r:embed="rId17"/>
                <a:stretch>
                  <a:fillRect b="-46061"/>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00" name="textbox 1600"/>
              <p:cNvSpPr/>
              <p:nvPr/>
            </p:nvSpPr>
            <p:spPr>
              <a:xfrm>
                <a:off x="11049000" y="4267200"/>
                <a:ext cx="152400" cy="1619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p>
                        <m:sSupPr>
                          <m:ctrlPr>
                            <a:rPr/>
                          </m:ctrlPr>
                        </m:sSupPr>
                        <m:e>
                          <m:r>
                            <m:rPr>
                              <m:sty m:val="p"/>
                            </m:rPr>
                            <a:rPr lang="en-US" sz="1000" dirty="0">
                              <a:latin typeface="Cambria Math" panose="02040503050406030204"/>
                              <a:ea typeface="Cambria Math" panose="02040503050406030204"/>
                            </a:rPr>
                            <m:t>s</m:t>
                          </m:r>
                        </m:e>
                        <m:sup>
                          <m:r>
                            <a:rPr lang="en-US" sz="1000" dirty="0">
                              <a:latin typeface="Cambria Math" panose="02040503050406030204"/>
                              <a:ea typeface="Cambria Math" panose="02040503050406030204"/>
                            </a:rPr>
                            <m:t>2</m:t>
                          </m:r>
                        </m:sup>
                      </m:sSup>
                    </m:oMath>
                  </m:oMathPara>
                </a14:m>
                <a:endParaRPr sz="1000" dirty="0"/>
              </a:p>
            </p:txBody>
          </p:sp>
        </mc:Choice>
        <mc:Fallback>
          <p:sp>
            <p:nvSpPr>
              <p:cNvPr id="1600" name="textbox 1600"/>
              <p:cNvSpPr>
                <a:spLocks noRot="1" noChangeAspect="1" noMove="1" noResize="1" noEditPoints="1" noAdjustHandles="1" noChangeArrowheads="1" noChangeShapeType="1" noTextEdit="1"/>
              </p:cNvSpPr>
              <p:nvPr/>
            </p:nvSpPr>
            <p:spPr>
              <a:xfrm>
                <a:off x="11049000" y="4267200"/>
                <a:ext cx="152400" cy="161925"/>
              </a:xfrm>
              <a:prstGeom prst="rect">
                <a:avLst/>
              </a:prstGeom>
              <a:blipFill rotWithShape="1">
                <a:blip r:embed="rId18"/>
                <a:stretch>
                  <a:fillRect r="-5833" b="-89020"/>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02" name="textbox 1602"/>
              <p:cNvSpPr/>
              <p:nvPr/>
            </p:nvSpPr>
            <p:spPr>
              <a:xfrm>
                <a:off x="10744200" y="4724400"/>
                <a:ext cx="152400" cy="1524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p>
                        <m:sSupPr>
                          <m:ctrlPr>
                            <a:rPr/>
                          </m:ctrlPr>
                        </m:sSupPr>
                        <m:e>
                          <m:r>
                            <m:rPr>
                              <m:sty m:val="p"/>
                            </m:rPr>
                            <a:rPr lang="en-US" sz="1400" dirty="0">
                              <a:latin typeface="Cambria Math" panose="02040503050406030204"/>
                              <a:ea typeface="Cambria Math" panose="02040503050406030204"/>
                            </a:rPr>
                            <m:t>c</m:t>
                          </m:r>
                        </m:e>
                        <m:sup>
                          <m:r>
                            <a:rPr lang="en-US" sz="1400" dirty="0">
                              <a:latin typeface="Cambria Math" panose="02040503050406030204"/>
                              <a:ea typeface="Cambria Math" panose="02040503050406030204"/>
                            </a:rPr>
                            <m:t>2</m:t>
                          </m:r>
                        </m:sup>
                      </m:sSup>
                    </m:oMath>
                  </m:oMathPara>
                </a14:m>
                <a:endParaRPr sz="1400" dirty="0"/>
              </a:p>
            </p:txBody>
          </p:sp>
        </mc:Choice>
        <mc:Fallback>
          <p:sp>
            <p:nvSpPr>
              <p:cNvPr id="1602" name="textbox 1602"/>
              <p:cNvSpPr>
                <a:spLocks noRot="1" noChangeAspect="1" noMove="1" noResize="1" noEditPoints="1" noAdjustHandles="1" noChangeArrowheads="1" noChangeShapeType="1" noTextEdit="1"/>
              </p:cNvSpPr>
              <p:nvPr/>
            </p:nvSpPr>
            <p:spPr>
              <a:xfrm>
                <a:off x="10744200" y="4724400"/>
                <a:ext cx="152400" cy="152400"/>
              </a:xfrm>
              <a:prstGeom prst="rect">
                <a:avLst/>
              </a:prstGeom>
              <a:blipFill rotWithShape="1">
                <a:blip r:embed="rId19"/>
                <a:stretch>
                  <a:fillRect r="-31250" b="-100833"/>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04" name="textbox 1604"/>
              <p:cNvSpPr/>
              <p:nvPr/>
            </p:nvSpPr>
            <p:spPr>
              <a:xfrm>
                <a:off x="10248900" y="5010150"/>
                <a:ext cx="152400" cy="1619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p>
                        <m:sSupPr>
                          <m:ctrlPr>
                            <a:rPr/>
                          </m:ctrlPr>
                        </m:sSupPr>
                        <m:e>
                          <m:r>
                            <m:rPr>
                              <m:sty m:val="p"/>
                            </m:rPr>
                            <a:rPr lang="en-US" sz="1000" dirty="0">
                              <a:latin typeface="Cambria Math" panose="02040503050406030204"/>
                              <a:ea typeface="Cambria Math" panose="02040503050406030204"/>
                            </a:rPr>
                            <m:t>S</m:t>
                          </m:r>
                        </m:e>
                        <m:sup>
                          <m:r>
                            <a:rPr lang="en-US" sz="1000" dirty="0">
                              <a:latin typeface="Cambria Math" panose="02040503050406030204"/>
                              <a:ea typeface="Cambria Math" panose="02040503050406030204"/>
                            </a:rPr>
                            <m:t>2</m:t>
                          </m:r>
                        </m:sup>
                      </m:sSup>
                    </m:oMath>
                  </m:oMathPara>
                </a14:m>
                <a:endParaRPr sz="1000" dirty="0"/>
              </a:p>
            </p:txBody>
          </p:sp>
        </mc:Choice>
        <mc:Fallback>
          <p:sp>
            <p:nvSpPr>
              <p:cNvPr id="1604" name="textbox 1604"/>
              <p:cNvSpPr>
                <a:spLocks noRot="1" noChangeAspect="1" noMove="1" noResize="1" noEditPoints="1" noAdjustHandles="1" noChangeArrowheads="1" noChangeShapeType="1" noTextEdit="1"/>
              </p:cNvSpPr>
              <p:nvPr/>
            </p:nvSpPr>
            <p:spPr>
              <a:xfrm>
                <a:off x="10248900" y="5010150"/>
                <a:ext cx="152400" cy="161925"/>
              </a:xfrm>
              <a:prstGeom prst="rect">
                <a:avLst/>
              </a:prstGeom>
              <a:blipFill rotWithShape="1">
                <a:blip r:embed="rId16"/>
                <a:stretch>
                  <a:fillRect r="-8750" b="-89020"/>
                </a:stretch>
              </a:blipFill>
              <a:ln w="0" cap="flat">
                <a:noFill/>
                <a:prstDash val="solid"/>
                <a:miter lim="0"/>
              </a:ln>
            </p:spPr>
            <p:txBody>
              <a:bodyPr/>
              <a:lstStyle/>
              <a:p>
                <a:r>
                  <a:rPr lang="zh-CN" altLang="en-US">
                    <a:noFill/>
                  </a:rPr>
                  <a:t> </a:t>
                </a:r>
              </a:p>
            </p:txBody>
          </p:sp>
        </mc:Fallback>
      </mc:AlternateContent>
      <p:sp>
        <p:nvSpPr>
          <p:cNvPr id="1606" name="textbox 1606"/>
          <p:cNvSpPr/>
          <p:nvPr/>
        </p:nvSpPr>
        <p:spPr>
          <a:xfrm>
            <a:off x="1200150" y="6105525"/>
            <a:ext cx="9286875" cy="228600"/>
          </a:xfrm>
          <a:prstGeom prst="rect">
            <a:avLst/>
          </a:prstGeom>
          <a:noFill/>
          <a:ln w="0" cap="flat">
            <a:noFill/>
            <a:prstDash val="solid"/>
            <a:miter lim="0"/>
          </a:ln>
        </p:spPr>
        <p:txBody>
          <a:bodyPr vert="horz" wrap="none" lIns="0" tIns="0" rIns="0" bIns="0"/>
          <a:lstStyle/>
          <a:p>
            <a:pPr algn="l" rtl="0" eaLnBrk="0"/>
            <a:r>
              <a:rPr sz="14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王涛, 李正良, 范文亮. 基于改进统计矩点估计法和最大熵原理的结构整体可靠度分析. 工程力学, 2022, 39(3): 193-200.</a:t>
            </a:r>
            <a:endParaRPr sz="14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608" name="textbox 1608"/>
          <p:cNvSpPr/>
          <p:nvPr/>
        </p:nvSpPr>
        <p:spPr>
          <a:xfrm>
            <a:off x="1200150" y="6419850"/>
            <a:ext cx="8553450" cy="219075"/>
          </a:xfrm>
          <a:prstGeom prst="rect">
            <a:avLst/>
          </a:prstGeom>
          <a:noFill/>
          <a:ln w="0" cap="flat">
            <a:noFill/>
            <a:prstDash val="solid"/>
            <a:miter lim="0"/>
          </a:ln>
        </p:spPr>
        <p:txBody>
          <a:bodyPr vert="horz" wrap="none" lIns="0" tIns="0" rIns="0" bIns="0"/>
          <a:lstStyle/>
          <a:p>
            <a:pPr algn="l" rtl="0" eaLnBrk="0"/>
            <a:r>
              <a:rPr sz="14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王涛, 李正良, 范文亮. 基于扩展型共轭无迹变换的随机不确定性传播分析方法. 工程力学, 2021, 38(8): 15-23.</a:t>
            </a:r>
            <a:endParaRPr sz="14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610" name="textbox 1610"/>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612" name="textbox 1612"/>
          <p:cNvSpPr/>
          <p:nvPr/>
        </p:nvSpPr>
        <p:spPr>
          <a:xfrm>
            <a:off x="11753850" y="6734175"/>
            <a:ext cx="171450" cy="114300"/>
          </a:xfrm>
          <a:prstGeom prst="rect">
            <a:avLst/>
          </a:prstGeom>
          <a:noFill/>
          <a:ln w="0" cap="flat">
            <a:noFill/>
            <a:prstDash val="solid"/>
            <a:miter lim="0"/>
          </a:ln>
        </p:spPr>
        <p:txBody>
          <a:bodyPr vert="horz" wrap="none" lIns="0" tIns="0" rIns="0" bIns="0"/>
          <a:lstStyle/>
          <a:p>
            <a:pPr algn="l" rtl="0" eaLnBrk="0"/>
            <a:r>
              <a:rPr sz="900" kern="0" spc="300" dirty="0">
                <a:solidFill>
                  <a:srgbClr val="FFFFFF">
                    <a:alpha val="100000"/>
                  </a:srgbClr>
                </a:solidFill>
                <a:latin typeface="Arial" panose="020B0604020202020204"/>
                <a:ea typeface="Arial" panose="020B0604020202020204"/>
                <a:cs typeface="Arial" panose="020B0604020202020204"/>
              </a:rPr>
              <a:t>38</a:t>
            </a:r>
            <a:endParaRPr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6" name="picture 1616"/>
          <p:cNvPicPr>
            <a:picLocks noChangeAspect="1"/>
          </p:cNvPicPr>
          <p:nvPr/>
        </p:nvPicPr>
        <p:blipFill>
          <a:blip r:embed="rId1"/>
          <a:stretch>
            <a:fillRect/>
          </a:stretch>
        </p:blipFill>
        <p:spPr>
          <a:xfrm>
            <a:off x="0" y="0"/>
            <a:ext cx="12192000" cy="6858000"/>
          </a:xfrm>
          <a:prstGeom prst="rect">
            <a:avLst/>
          </a:prstGeom>
        </p:spPr>
      </p:pic>
      <p:sp>
        <p:nvSpPr>
          <p:cNvPr id="1618" name="textbox 1618"/>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620" name="textbox 1620"/>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622" name="textbox 162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66D9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626" name="picture 1626"/>
          <p:cNvPicPr>
            <a:picLocks noChangeAspect="1"/>
          </p:cNvPicPr>
          <p:nvPr/>
        </p:nvPicPr>
        <p:blipFill>
          <a:blip r:embed="rId2"/>
          <a:stretch>
            <a:fillRect/>
          </a:stretch>
        </p:blipFill>
        <p:spPr>
          <a:xfrm>
            <a:off x="295275" y="247650"/>
            <a:ext cx="733425" cy="666750"/>
          </a:xfrm>
          <a:prstGeom prst="rect">
            <a:avLst/>
          </a:prstGeom>
        </p:spPr>
      </p:pic>
      <p:sp>
        <p:nvSpPr>
          <p:cNvPr id="1628" name="textbox 1628"/>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630" name="textbox 1630"/>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632" name="textbox 1632"/>
          <p:cNvSpPr/>
          <p:nvPr/>
        </p:nvSpPr>
        <p:spPr>
          <a:xfrm>
            <a:off x="1447800" y="1104900"/>
            <a:ext cx="19526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共轭无迹变换法</a:t>
            </a:r>
            <a:endParaRPr sz="2000" dirty="0"/>
          </a:p>
        </p:txBody>
      </p:sp>
      <p:sp>
        <p:nvSpPr>
          <p:cNvPr id="1634" name="textbox 1634"/>
          <p:cNvSpPr/>
          <p:nvPr/>
        </p:nvSpPr>
        <p:spPr>
          <a:xfrm>
            <a:off x="876300" y="1152525"/>
            <a:ext cx="228600" cy="26670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Calibri" panose="020F0502020204030204"/>
                <a:ea typeface="Calibri" panose="020F0502020204030204"/>
                <a:cs typeface="Calibri" panose="020F0502020204030204"/>
              </a:rPr>
              <a:t>2</a:t>
            </a:r>
            <a:endParaRPr sz="2000" dirty="0"/>
          </a:p>
        </p:txBody>
      </p:sp>
      <p:sp>
        <p:nvSpPr>
          <p:cNvPr id="1636" name="textbox 1636"/>
          <p:cNvSpPr/>
          <p:nvPr/>
        </p:nvSpPr>
        <p:spPr>
          <a:xfrm>
            <a:off x="1457325" y="1466850"/>
            <a:ext cx="2505075"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Conjugate Unscented Transform (CUT) Method</a:t>
            </a:r>
            <a:endParaRPr sz="1000" dirty="0"/>
          </a:p>
        </p:txBody>
      </p:sp>
      <mc:AlternateContent xmlns:mc="http://schemas.openxmlformats.org/markup-compatibility/2006">
        <mc:Choice xmlns:a14="http://schemas.microsoft.com/office/drawing/2010/main" Requires="a14">
          <p:sp>
            <p:nvSpPr>
              <p:cNvPr id="1638" name="textbox 1638"/>
              <p:cNvSpPr/>
              <p:nvPr/>
            </p:nvSpPr>
            <p:spPr>
              <a:xfrm>
                <a:off x="885825" y="1743075"/>
                <a:ext cx="7991475" cy="34290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当 </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G</m:t>
                        </m:r>
                      </m:e>
                      <m:sub>
                        <m:r>
                          <m:rPr>
                            <m:sty m:val="p"/>
                          </m:rPr>
                          <a:rPr lang="en-US" sz="1800" dirty="0">
                            <a:solidFill>
                              <a:srgbClr val="0070BC"/>
                            </a:solidFill>
                            <a:latin typeface="Cambria Math" panose="02040503050406030204"/>
                            <a:ea typeface="Cambria Math" panose="02040503050406030204"/>
                          </a:rPr>
                          <m:t>i</m:t>
                        </m:r>
                      </m:sub>
                    </m:sSub>
                    <m:r>
                      <a:rPr lang="en-US" sz="1800" dirty="0">
                        <a:solidFill>
                          <a:srgbClr val="0070BC"/>
                        </a:solidFill>
                        <a:latin typeface="Cambria Math" panose="02040503050406030204"/>
                        <a:ea typeface="Cambria Math" panose="02040503050406030204"/>
                      </a:rPr>
                      <m:t>(</m:t>
                    </m:r>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𝚯</m:t>
                        </m:r>
                      </m:e>
                      <m:sub>
                        <m:r>
                          <m:rPr>
                            <m:sty m:val="p"/>
                          </m:rPr>
                          <a:rPr lang="en-US" sz="1800" dirty="0">
                            <a:solidFill>
                              <a:srgbClr val="0070BC"/>
                            </a:solidFill>
                            <a:latin typeface="Cambria Math" panose="02040503050406030204"/>
                            <a:ea typeface="Cambria Math" panose="02040503050406030204"/>
                          </a:rPr>
                          <m:t>Si</m:t>
                        </m:r>
                      </m:sub>
                    </m:sSub>
                    <m:r>
                      <a:rPr lang="en-US" sz="1800" dirty="0">
                        <a:solidFill>
                          <a:srgbClr val="0070BC"/>
                        </a:solidFill>
                        <a:latin typeface="Cambria Math" panose="02040503050406030204"/>
                        <a:ea typeface="Cambria Math" panose="02040503050406030204"/>
                      </a:rPr>
                      <m:t>)</m:t>
                    </m:r>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的维度仍大于 </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CUT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方法的维度限制时，</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G</m:t>
                        </m:r>
                      </m:e>
                      <m:sub>
                        <m:r>
                          <m:rPr>
                            <m:sty m:val="p"/>
                          </m:rPr>
                          <a:rPr lang="en-US" sz="1800" dirty="0">
                            <a:solidFill>
                              <a:srgbClr val="0070BC"/>
                            </a:solidFill>
                            <a:latin typeface="Cambria Math" panose="02040503050406030204"/>
                            <a:ea typeface="Cambria Math" panose="02040503050406030204"/>
                          </a:rPr>
                          <m:t>i</m:t>
                        </m:r>
                      </m:sub>
                    </m:sSub>
                    <m:r>
                      <a:rPr lang="en-US" sz="1800" dirty="0">
                        <a:solidFill>
                          <a:srgbClr val="0070BC"/>
                        </a:solidFill>
                        <a:latin typeface="Cambria Math" panose="02040503050406030204"/>
                        <a:ea typeface="Cambria Math" panose="02040503050406030204"/>
                      </a:rPr>
                      <m:t>(</m:t>
                    </m:r>
                    <m:sSub>
                      <m:sSubPr>
                        <m:ctrlPr>
                          <a:rPr>
                            <a:solidFill>
                              <a:srgbClr val="0070BC"/>
                            </a:solidFill>
                          </a:rPr>
                        </m:ctrlPr>
                      </m:sSubPr>
                      <m:e>
                        <m:r>
                          <a:rPr lang="en-US" sz="1800" dirty="0">
                            <a:solidFill>
                              <a:srgbClr val="0070BC"/>
                            </a:solidFill>
                            <a:latin typeface="Cambria Math" panose="02040503050406030204"/>
                            <a:ea typeface="Cambria Math" panose="02040503050406030204"/>
                          </a:rPr>
                          <m:t>𝚯</m:t>
                        </m:r>
                      </m:e>
                      <m:sub>
                        <m:r>
                          <m:rPr>
                            <m:sty m:val="p"/>
                          </m:rPr>
                          <a:rPr lang="en-US" sz="1800" dirty="0">
                            <a:solidFill>
                              <a:srgbClr val="0070BC"/>
                            </a:solidFill>
                            <a:latin typeface="Cambria Math" panose="02040503050406030204"/>
                            <a:ea typeface="Cambria Math" panose="02040503050406030204"/>
                          </a:rPr>
                          <m:t>Si</m:t>
                        </m:r>
                      </m:sub>
                    </m:sSub>
                    <m:r>
                      <a:rPr lang="en-US" sz="1800" dirty="0">
                        <a:solidFill>
                          <a:srgbClr val="0070BC"/>
                        </a:solidFill>
                        <a:latin typeface="Cambria Math" panose="02040503050406030204"/>
                        <a:ea typeface="Cambria Math" panose="02040503050406030204"/>
                      </a:rPr>
                      <m:t>)</m:t>
                    </m:r>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 的矩由下式计算</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1638" name="textbox 1638"/>
              <p:cNvSpPr>
                <a:spLocks noRot="1" noChangeAspect="1" noMove="1" noResize="1" noEditPoints="1" noAdjustHandles="1" noChangeArrowheads="1" noChangeShapeType="1" noTextEdit="1"/>
              </p:cNvSpPr>
              <p:nvPr/>
            </p:nvSpPr>
            <p:spPr>
              <a:xfrm>
                <a:off x="885825" y="1743075"/>
                <a:ext cx="7991475" cy="342900"/>
              </a:xfrm>
              <a:prstGeom prst="rect">
                <a:avLst/>
              </a:prstGeom>
              <a:blipFill rotWithShape="1">
                <a:blip r:embed="rId3"/>
                <a:stretch>
                  <a:fillRect t="-556"/>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0" name="textbox 1640"/>
              <p:cNvSpPr/>
              <p:nvPr/>
            </p:nvSpPr>
            <p:spPr>
              <a:xfrm>
                <a:off x="1181100" y="2371725"/>
                <a:ext cx="6819900" cy="5619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2400" dirty="0">
                              <a:latin typeface="Cambria Math" panose="02040503050406030204"/>
                              <a:ea typeface="Cambria Math" panose="02040503050406030204"/>
                            </a:rPr>
                            <m:t>𝜇</m:t>
                          </m:r>
                        </m:e>
                        <m:sub>
                          <m:sSub>
                            <m:sSubPr>
                              <m:ctrlPr>
                                <a:rPr/>
                              </m:ctrlPr>
                            </m:sSubPr>
                            <m:e>
                              <m:r>
                                <m:rPr>
                                  <m:sty m:val="p"/>
                                </m:rPr>
                                <a:rPr lang="en-US" sz="2400" dirty="0">
                                  <a:latin typeface="Cambria Math" panose="02040503050406030204"/>
                                  <a:ea typeface="Cambria Math" panose="02040503050406030204"/>
                                </a:rPr>
                                <m:t>G</m:t>
                              </m:r>
                            </m:e>
                            <m:sub>
                              <m:r>
                                <m:rPr>
                                  <m:sty m:val="p"/>
                                </m:rPr>
                                <a:rPr lang="en-US" sz="2400" dirty="0">
                                  <a:latin typeface="Cambria Math" panose="02040503050406030204"/>
                                  <a:ea typeface="Cambria Math" panose="02040503050406030204"/>
                                </a:rPr>
                                <m:t>i</m:t>
                              </m:r>
                            </m:sub>
                          </m:sSub>
                        </m:sub>
                      </m:sSub>
                      <m:r>
                        <a:rPr lang="en-US" sz="2400" dirty="0">
                          <a:latin typeface="Cambria Math" panose="02040503050406030204"/>
                          <a:ea typeface="Cambria Math" panose="02040503050406030204"/>
                        </a:rPr>
                        <m:t>≈</m:t>
                      </m:r>
                      <m:nary>
                        <m:naryPr>
                          <m:chr m:val="∑"/>
                          <m:limLoc m:val="subSup"/>
                          <m:supHide m:val="on"/>
                          <m:ctrlPr>
                            <a:rPr/>
                          </m:ctrlPr>
                        </m:naryPr>
                        <m:sub>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&lt;</m:t>
                          </m:r>
                          <m:r>
                            <a:rPr lang="en-US" sz="2400" dirty="0">
                              <a:latin typeface="Cambria Math" panose="02040503050406030204"/>
                              <a:ea typeface="Cambria Math" panose="02040503050406030204"/>
                            </a:rPr>
                            <m:t>𝜁</m:t>
                          </m:r>
                        </m:sub>
                        <m:sup/>
                        <m:e>
                          <m:r>
                            <m:rPr>
                              <m:sty m:val="p"/>
                            </m:rPr>
                            <a:rPr lang="en-US" sz="2400" dirty="0">
                              <a:latin typeface="Cambria Math" panose="02040503050406030204"/>
                              <a:ea typeface="Cambria Math" panose="02040503050406030204"/>
                            </a:rPr>
                            <m:t>E</m:t>
                          </m:r>
                          <m:d>
                            <m:dPr>
                              <m:begChr m:val="["/>
                              <m:endChr m:val="]"/>
                              <m:ctrlPr>
                                <a:rPr/>
                              </m:ctrlPr>
                            </m:dPr>
                            <m:e>
                              <m:sSub>
                                <m:sSubPr>
                                  <m:ctrlPr>
                                    <a:rPr/>
                                  </m:ctrlPr>
                                </m:sSubPr>
                                <m:e>
                                  <m:r>
                                    <m:rPr>
                                      <m:sty m:val="p"/>
                                    </m:rPr>
                                    <a:rPr lang="en-US" sz="2400" dirty="0">
                                      <a:latin typeface="Cambria Math" panose="02040503050406030204"/>
                                      <a:ea typeface="Cambria Math" panose="02040503050406030204"/>
                                    </a:rPr>
                                    <m:t>Q</m:t>
                                  </m:r>
                                </m:e>
                                <m:sub>
                                  <m:r>
                                    <m:rPr>
                                      <m:sty m:val="p"/>
                                    </m:rPr>
                                    <a:rPr lang="en-US" sz="2400" dirty="0">
                                      <a:latin typeface="Cambria Math" panose="02040503050406030204"/>
                                      <a:ea typeface="Cambria Math" panose="02040503050406030204"/>
                                    </a:rPr>
                                    <m:t>G</m:t>
                                  </m:r>
                                </m:sub>
                              </m:sSub>
                              <m:d>
                                <m:dPr>
                                  <m:ctrlPr>
                                    <a:rPr/>
                                  </m:ctrlPr>
                                </m:dPr>
                                <m:e>
                                  <m:sSub>
                                    <m:sSubPr>
                                      <m:ctrlPr>
                                        <a:rPr/>
                                      </m:ctrlPr>
                                    </m:sSubPr>
                                    <m:e>
                                      <m:r>
                                        <a:rPr lang="en-US" sz="2400" dirty="0">
                                          <a:latin typeface="Cambria Math" panose="02040503050406030204"/>
                                          <a:ea typeface="Cambria Math" panose="02040503050406030204"/>
                                        </a:rPr>
                                        <m:t>𝛩</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𝛩</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e>
                              </m:d>
                              <m:r>
                                <m:rPr>
                                  <m:sty m:val="p"/>
                                </m:rPr>
                                <a:rPr lang="en-US" sz="2400" dirty="0">
                                  <a:latin typeface="Cambria Math" panose="02040503050406030204"/>
                                  <a:ea typeface="Cambria Math" panose="02040503050406030204"/>
                                </a:rPr>
                                <m:t>G</m:t>
                              </m:r>
                              <m:d>
                                <m:dPr>
                                  <m:ctrlPr>
                                    <a:rPr/>
                                  </m:ctrlPr>
                                </m:dPr>
                                <m:e>
                                  <m:sSub>
                                    <m:sSubPr>
                                      <m:ctrlPr>
                                        <a:rPr/>
                                      </m:ctrlPr>
                                    </m:sSubPr>
                                    <m:e>
                                      <m:r>
                                        <a:rPr lang="en-US" sz="2400" dirty="0">
                                          <a:latin typeface="Cambria Math" panose="02040503050406030204"/>
                                          <a:ea typeface="Cambria Math" panose="02040503050406030204"/>
                                        </a:rPr>
                                        <m:t>𝛩</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𝛩</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𝜃</m:t>
                                          </m:r>
                                        </m:e>
                                      </m:acc>
                                    </m:e>
                                    <m:sub>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m:rPr>
                                              <m:sty m:val="p"/>
                                            </m:rPr>
                                            <a:rPr lang="en-US" sz="2400" dirty="0">
                                              <a:latin typeface="Cambria Math" panose="02040503050406030204"/>
                                              <a:ea typeface="Cambria Math" panose="02040503050406030204"/>
                                            </a:rPr>
                                            <m:t>v</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e>
                              </m:d>
                              <m:r>
                                <a:rPr lang="en-US" sz="2400" dirty="0">
                                  <a:latin typeface="Cambria Math" panose="02040503050406030204"/>
                                  <a:ea typeface="Cambria Math" panose="02040503050406030204"/>
                                </a:rPr>
                                <m:t>+</m:t>
                              </m:r>
                              <m:d>
                                <m:dPr>
                                  <m:ctrlPr>
                                    <a:rPr/>
                                  </m:ctrlPr>
                                </m:dPr>
                                <m:e>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Q</m:t>
                                      </m:r>
                                    </m:e>
                                    <m:sub>
                                      <m:r>
                                        <m:rPr>
                                          <m:sty m:val="p"/>
                                        </m:rPr>
                                        <a:rPr lang="en-US" sz="2400" dirty="0">
                                          <a:latin typeface="Cambria Math" panose="02040503050406030204"/>
                                          <a:ea typeface="Cambria Math" panose="02040503050406030204"/>
                                        </a:rPr>
                                        <m:t>G</m:t>
                                      </m:r>
                                    </m:sub>
                                  </m:sSub>
                                  <m:d>
                                    <m:dPr>
                                      <m:ctrlPr>
                                        <a:rPr/>
                                      </m:ctrlPr>
                                    </m:dPr>
                                    <m:e>
                                      <m:sSub>
                                        <m:sSubPr>
                                          <m:ctrlPr>
                                            <a:rPr/>
                                          </m:ctrlPr>
                                        </m:sSubPr>
                                        <m:e>
                                          <m:r>
                                            <a:rPr lang="en-US" sz="2400" dirty="0">
                                              <a:latin typeface="Cambria Math" panose="02040503050406030204"/>
                                              <a:ea typeface="Cambria Math" panose="02040503050406030204"/>
                                            </a:rPr>
                                            <m:t>𝛩</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𝛩</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e>
                                  </m:d>
                                </m:e>
                              </m:d>
                            </m:e>
                          </m:d>
                        </m:e>
                      </m:nary>
                    </m:oMath>
                  </m:oMathPara>
                </a14:m>
                <a:endParaRPr sz="600" dirty="0"/>
              </a:p>
            </p:txBody>
          </p:sp>
        </mc:Choice>
        <mc:Fallback>
          <p:sp>
            <p:nvSpPr>
              <p:cNvPr id="1640" name="textbox 1640"/>
              <p:cNvSpPr>
                <a:spLocks noRot="1" noChangeAspect="1" noMove="1" noResize="1" noEditPoints="1" noAdjustHandles="1" noChangeArrowheads="1" noChangeShapeType="1" noTextEdit="1"/>
              </p:cNvSpPr>
              <p:nvPr/>
            </p:nvSpPr>
            <p:spPr>
              <a:xfrm>
                <a:off x="1181100" y="2371725"/>
                <a:ext cx="6819900" cy="561975"/>
              </a:xfrm>
              <a:prstGeom prst="rect">
                <a:avLst/>
              </a:prstGeom>
              <a:blipFill rotWithShape="1">
                <a:blip r:embed="rId4"/>
                <a:stretch>
                  <a:fillRect r="-43287" b="-1243"/>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2" name="textbox 1642"/>
              <p:cNvSpPr/>
              <p:nvPr/>
            </p:nvSpPr>
            <p:spPr>
              <a:xfrm>
                <a:off x="1743075" y="2990850"/>
                <a:ext cx="6191250" cy="4476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d>
                        <m:dPr>
                          <m:ctrlPr>
                            <a:rPr/>
                          </m:ctrlPr>
                        </m:dPr>
                        <m:e>
                          <m:r>
                            <m:rPr>
                              <m:sty m:val="p"/>
                            </m:rPr>
                            <a:rPr lang="en-US" sz="2400" dirty="0">
                              <a:latin typeface="Cambria Math" panose="02040503050406030204"/>
                              <a:ea typeface="Cambria Math" panose="02040503050406030204"/>
                            </a:rPr>
                            <m:t>G</m:t>
                          </m:r>
                          <m:d>
                            <m:dPr>
                              <m:ctrlPr>
                                <a:rPr/>
                              </m:ctrlPr>
                            </m:dPr>
                            <m:e>
                              <m:sSub>
                                <m:sSubPr>
                                  <m:ctrlPr>
                                    <a:rPr/>
                                  </m:ctrlPr>
                                </m:sSubPr>
                                <m:e>
                                  <m:r>
                                    <m:rPr>
                                      <m:sty m:val="p"/>
                                    </m:rPr>
                                    <a:rPr lang="en-US" sz="2400" dirty="0">
                                      <a:latin typeface="Cambria Math" panose="02040503050406030204"/>
                                      <a:ea typeface="Cambria Math" panose="02040503050406030204"/>
                                    </a:rPr>
                                    <m:t>O</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𝐯</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e>
                          </m:d>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G</m:t>
                          </m:r>
                          <m:d>
                            <m:dPr>
                              <m:ctrlPr>
                                <a:rPr/>
                              </m:ctrlPr>
                            </m:dPr>
                            <m:e>
                              <m:sSub>
                                <m:sSubPr>
                                  <m:ctrlPr>
                                    <a:rPr/>
                                  </m:ctrlPr>
                                </m:sSubPr>
                                <m:e>
                                  <m:r>
                                    <m:rPr>
                                      <m:sty m:val="p"/>
                                    </m:rPr>
                                    <a:rPr lang="en-US" sz="2400" dirty="0">
                                      <a:latin typeface="Cambria Math" panose="02040503050406030204"/>
                                      <a:ea typeface="Cambria Math" panose="02040503050406030204"/>
                                    </a:rPr>
                                    <m:t>O</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𝐯</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e>
                          </m:d>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G</m:t>
                          </m:r>
                          <m:d>
                            <m:dPr>
                              <m:ctrlPr>
                                <a:rPr/>
                              </m:ctrlPr>
                            </m:dPr>
                            <m:e>
                              <m:sSub>
                                <m:sSubPr>
                                  <m:ctrlPr>
                                    <a:rPr/>
                                  </m:ctrlPr>
                                </m:sSubPr>
                                <m:e>
                                  <m:acc>
                                    <m:accPr>
                                      <m:ctrlPr>
                                        <a:rPr/>
                                      </m:ctrlPr>
                                    </m:accPr>
                                    <m:e>
                                      <m:r>
                                        <a:rPr lang="en-US" sz="2400" dirty="0">
                                          <a:latin typeface="Cambria Math" panose="02040503050406030204"/>
                                          <a:ea typeface="Cambria Math" panose="02040503050406030204"/>
                                        </a:rPr>
                                        <m:t>𝛉</m:t>
                                      </m:r>
                                    </m:e>
                                  </m:acc>
                                </m:e>
                                <m:sub>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𝐯</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e>
                          </m:d>
                        </m:e>
                      </m:d>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N</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oMath>
                  </m:oMathPara>
                </a14:m>
                <a:endParaRPr sz="600" dirty="0"/>
              </a:p>
            </p:txBody>
          </p:sp>
        </mc:Choice>
        <mc:Fallback>
          <p:sp>
            <p:nvSpPr>
              <p:cNvPr id="1642" name="textbox 1642"/>
              <p:cNvSpPr>
                <a:spLocks noRot="1" noChangeAspect="1" noMove="1" noResize="1" noEditPoints="1" noAdjustHandles="1" noChangeArrowheads="1" noChangeShapeType="1" noTextEdit="1"/>
              </p:cNvSpPr>
              <p:nvPr/>
            </p:nvSpPr>
            <p:spPr>
              <a:xfrm>
                <a:off x="1743075" y="2990850"/>
                <a:ext cx="6191250" cy="447675"/>
              </a:xfrm>
              <a:prstGeom prst="rect">
                <a:avLst/>
              </a:prstGeom>
              <a:blipFill rotWithShape="1">
                <a:blip r:embed="rId5"/>
                <a:stretch>
                  <a:fillRect r="-32482" b="-12766"/>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4" name="textbox 1644"/>
              <p:cNvSpPr/>
              <p:nvPr/>
            </p:nvSpPr>
            <p:spPr>
              <a:xfrm>
                <a:off x="1714500" y="3524250"/>
                <a:ext cx="4648200" cy="6000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nary>
                        <m:naryPr>
                          <m:chr m:val="∑"/>
                          <m:limLoc m:val="subSup"/>
                          <m:ctrlPr>
                            <a:rPr/>
                          </m:ctrlPr>
                        </m:naryPr>
                        <m:sub>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sub>
                        <m:sup>
                          <m:sSub>
                            <m:sSubPr>
                              <m:ctrlPr>
                                <a:rPr/>
                              </m:ctrlPr>
                            </m:sSubPr>
                            <m:e>
                              <m:r>
                                <a:rPr lang="en-US" sz="2400" dirty="0">
                                  <a:latin typeface="Cambria Math" panose="02040503050406030204"/>
                                  <a:ea typeface="Cambria Math" panose="02040503050406030204"/>
                                </a:rPr>
                                <m:t>𝛾</m:t>
                              </m:r>
                            </m:e>
                            <m:sub>
                              <m:r>
                                <m:rPr>
                                  <m:sty m:val="p"/>
                                </m:rPr>
                                <a:rPr lang="en-US" sz="2400" dirty="0">
                                  <a:latin typeface="Cambria Math" panose="02040503050406030204"/>
                                  <a:ea typeface="Cambria Math" panose="02040503050406030204"/>
                                </a:rPr>
                                <m:t>i</m:t>
                              </m:r>
                            </m:sub>
                          </m:sSub>
                        </m:sup>
                        <m:e>
                          <m:r>
                            <m:rPr>
                              <m:sty m:val="p"/>
                            </m:rPr>
                            <a:rPr lang="en-US" sz="2400" dirty="0">
                              <a:latin typeface="Cambria Math" panose="02040503050406030204"/>
                              <a:ea typeface="Cambria Math" panose="02040503050406030204"/>
                            </a:rPr>
                            <m:t>E</m:t>
                          </m:r>
                          <m:d>
                            <m:dPr>
                              <m:begChr m:val="["/>
                              <m:endChr m:val="]"/>
                              <m:ctrlPr>
                                <a:rPr/>
                              </m:ctrlPr>
                            </m:dPr>
                            <m:e>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𝐯</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e>
                          </m:d>
                          <m:r>
                            <a:rPr lang="en-US" sz="2400" dirty="0">
                              <a:latin typeface="Cambria Math" panose="02040503050406030204"/>
                              <a:ea typeface="Cambria Math" panose="02040503050406030204"/>
                            </a:rPr>
                            <m:t>+</m:t>
                          </m:r>
                          <m:f>
                            <m:fPr>
                              <m:ctrlPr>
                                <a:rPr/>
                              </m:ctrlPr>
                            </m:fPr>
                            <m:num>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N</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N</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num>
                            <m:den>
                              <m:r>
                                <a:rPr lang="en-US" sz="2400" dirty="0">
                                  <a:latin typeface="Cambria Math" panose="02040503050406030204"/>
                                  <a:ea typeface="Cambria Math" panose="02040503050406030204"/>
                                </a:rPr>
                                <m:t>2</m:t>
                              </m:r>
                            </m:den>
                          </m:f>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𝛉</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e>
                      </m:nary>
                    </m:oMath>
                  </m:oMathPara>
                </a14:m>
                <a:endParaRPr sz="600" dirty="0"/>
              </a:p>
            </p:txBody>
          </p:sp>
        </mc:Choice>
        <mc:Fallback>
          <p:sp>
            <p:nvSpPr>
              <p:cNvPr id="1644" name="textbox 1644"/>
              <p:cNvSpPr>
                <a:spLocks noRot="1" noChangeAspect="1" noMove="1" noResize="1" noEditPoints="1" noAdjustHandles="1" noChangeArrowheads="1" noChangeShapeType="1" noTextEdit="1"/>
              </p:cNvSpPr>
              <p:nvPr/>
            </p:nvSpPr>
            <p:spPr>
              <a:xfrm>
                <a:off x="1714500" y="3524250"/>
                <a:ext cx="4648200" cy="600075"/>
              </a:xfrm>
              <a:prstGeom prst="rect">
                <a:avLst/>
              </a:prstGeom>
              <a:blipFill rotWithShape="1">
                <a:blip r:embed="rId6"/>
                <a:stretch>
                  <a:fillRect r="-39536" b="-1376"/>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6" name="textbox 1646"/>
              <p:cNvSpPr/>
              <p:nvPr/>
            </p:nvSpPr>
            <p:spPr>
              <a:xfrm>
                <a:off x="1181100" y="4524375"/>
                <a:ext cx="6991350" cy="5619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2000" dirty="0">
                              <a:latin typeface="Cambria Math" panose="02040503050406030204"/>
                              <a:ea typeface="Cambria Math" panose="02040503050406030204"/>
                            </a:rPr>
                            <m:t>m</m:t>
                          </m:r>
                        </m:e>
                        <m:sub>
                          <m:sSub>
                            <m:sSubPr>
                              <m:ctrlPr>
                                <a:rPr/>
                              </m:ctrlPr>
                            </m:sSubPr>
                            <m:e>
                              <m:r>
                                <m:rPr>
                                  <m:sty m:val="p"/>
                                </m:rPr>
                                <a:rPr lang="en-US" sz="2000" dirty="0">
                                  <a:latin typeface="Cambria Math" panose="02040503050406030204"/>
                                  <a:ea typeface="Cambria Math" panose="02040503050406030204"/>
                                </a:rPr>
                                <m:t>G</m:t>
                              </m:r>
                            </m:e>
                            <m:sub>
                              <m:r>
                                <m:rPr>
                                  <m:sty m:val="p"/>
                                </m:rPr>
                                <a:rPr lang="en-US" sz="2000" dirty="0">
                                  <a:latin typeface="Cambria Math" panose="02040503050406030204"/>
                                  <a:ea typeface="Cambria Math" panose="02040503050406030204"/>
                                </a:rPr>
                                <m:t>i</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q</m:t>
                          </m:r>
                        </m:sub>
                      </m:sSub>
                      <m:r>
                        <a:rPr lang="en-US" sz="2000" dirty="0">
                          <a:latin typeface="Cambria Math" panose="02040503050406030204"/>
                          <a:ea typeface="Cambria Math" panose="02040503050406030204"/>
                        </a:rPr>
                        <m:t>≈</m:t>
                      </m:r>
                      <m:nary>
                        <m:naryPr>
                          <m:chr m:val="∑"/>
                          <m:limLoc m:val="subSup"/>
                          <m:supHide m:val="on"/>
                          <m:ctrlPr>
                            <a:rPr/>
                          </m:ctrlPr>
                        </m:naryPr>
                        <m:sub>
                          <m:r>
                            <a:rPr lang="en-US" sz="2000" dirty="0">
                              <a:latin typeface="Cambria Math" panose="02040503050406030204"/>
                              <a:ea typeface="Cambria Math" panose="02040503050406030204"/>
                            </a:rPr>
                            <m:t>𝜁</m:t>
                          </m:r>
                          <m:r>
                            <a:rPr lang="en-US" sz="2000" dirty="0">
                              <a:latin typeface="Cambria Math" panose="02040503050406030204"/>
                              <a:ea typeface="Cambria Math" panose="02040503050406030204"/>
                            </a:rPr>
                            <m:t>&lt;</m:t>
                          </m:r>
                          <m:r>
                            <a:rPr lang="en-US" sz="2000" dirty="0">
                              <a:latin typeface="Cambria Math" panose="02040503050406030204"/>
                              <a:ea typeface="Cambria Math" panose="02040503050406030204"/>
                            </a:rPr>
                            <m:t>𝜁</m:t>
                          </m:r>
                        </m:sub>
                        <m:sup/>
                        <m:e>
                          <m:r>
                            <m:rPr>
                              <m:sty m:val="p"/>
                            </m:rPr>
                            <a:rPr lang="en-US" sz="2000" dirty="0">
                              <a:latin typeface="Cambria Math" panose="02040503050406030204"/>
                              <a:ea typeface="Cambria Math" panose="02040503050406030204"/>
                            </a:rPr>
                            <m:t>E</m:t>
                          </m:r>
                          <m:d>
                            <m:dPr>
                              <m:begChr m:val="["/>
                              <m:endChr m:val="]"/>
                              <m:ctrlPr>
                                <a:rPr/>
                              </m:ctrlPr>
                            </m:dPr>
                            <m:e>
                              <m:d>
                                <m:dPr>
                                  <m:ctrlPr>
                                    <a:rPr/>
                                  </m:ctrlPr>
                                </m:dPr>
                                <m:e>
                                  <m:sSub>
                                    <m:sSubPr>
                                      <m:ctrlPr>
                                        <a:rPr/>
                                      </m:ctrlPr>
                                    </m:sSubPr>
                                    <m:e>
                                      <m:r>
                                        <m:rPr>
                                          <m:sty m:val="p"/>
                                        </m:rPr>
                                        <a:rPr lang="en-US" sz="2000" dirty="0">
                                          <a:latin typeface="Cambria Math" panose="02040503050406030204"/>
                                          <a:ea typeface="Cambria Math" panose="02040503050406030204"/>
                                        </a:rPr>
                                        <m:t>Q</m:t>
                                      </m:r>
                                    </m:e>
                                    <m:sub>
                                      <m:r>
                                        <m:rPr>
                                          <m:sty m:val="p"/>
                                        </m:rPr>
                                        <a:rPr lang="en-US" sz="2000" dirty="0">
                                          <a:latin typeface="Cambria Math" panose="02040503050406030204"/>
                                          <a:ea typeface="Cambria Math" panose="02040503050406030204"/>
                                        </a:rPr>
                                        <m:t>G</m:t>
                                      </m:r>
                                    </m:sub>
                                  </m:sSub>
                                  <m:d>
                                    <m:dPr>
                                      <m:ctrlPr>
                                        <a:rPr/>
                                      </m:ctrlPr>
                                    </m:dPr>
                                    <m:e>
                                      <m:sSub>
                                        <m:sSubPr>
                                          <m:ctrlPr>
                                            <a:rPr/>
                                          </m:ctrlPr>
                                        </m:sSubPr>
                                        <m:e>
                                          <m:r>
                                            <a:rPr lang="en-US" sz="2000" dirty="0">
                                              <a:latin typeface="Cambria Math" panose="02040503050406030204"/>
                                              <a:ea typeface="Cambria Math" panose="02040503050406030204"/>
                                            </a:rPr>
                                            <m:t>𝛩</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𝜁</m:t>
                                          </m:r>
                                        </m:sub>
                                      </m:sSub>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𝛩</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𝜁</m:t>
                                          </m:r>
                                        </m:sub>
                                      </m:sSub>
                                    </m:e>
                                  </m:d>
                                  <m:r>
                                    <m:rPr>
                                      <m:sty m:val="p"/>
                                    </m:rPr>
                                    <a:rPr lang="en-US" sz="2000" dirty="0">
                                      <a:latin typeface="Cambria Math" panose="02040503050406030204"/>
                                      <a:ea typeface="Cambria Math" panose="02040503050406030204"/>
                                    </a:rPr>
                                    <m:t>G</m:t>
                                  </m:r>
                                  <m:d>
                                    <m:dPr>
                                      <m:ctrlPr>
                                        <a:rPr/>
                                      </m:ctrlPr>
                                    </m:dPr>
                                    <m:e>
                                      <m:sSub>
                                        <m:sSubPr>
                                          <m:ctrlPr>
                                            <a:rPr/>
                                          </m:ctrlPr>
                                        </m:sSubPr>
                                        <m:e>
                                          <m:r>
                                            <a:rPr lang="en-US" sz="2000" dirty="0">
                                              <a:latin typeface="Cambria Math" panose="02040503050406030204"/>
                                              <a:ea typeface="Cambria Math" panose="02040503050406030204"/>
                                            </a:rPr>
                                            <m:t>𝛩</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𝜁</m:t>
                                          </m:r>
                                        </m:sub>
                                      </m:sSub>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𝛩</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𝜁</m:t>
                                          </m:r>
                                        </m:sub>
                                      </m:sSub>
                                      <m:r>
                                        <a:rPr lang="en-US" sz="2000" dirty="0">
                                          <a:latin typeface="Cambria Math" panose="02040503050406030204"/>
                                          <a:ea typeface="Cambria Math" panose="02040503050406030204"/>
                                        </a:rPr>
                                        <m:t>,</m:t>
                                      </m:r>
                                      <m:sSub>
                                        <m:sSubPr>
                                          <m:ctrlPr>
                                            <a:rPr/>
                                          </m:ctrlPr>
                                        </m:sSubPr>
                                        <m:e>
                                          <m:acc>
                                            <m:accPr>
                                              <m:ctrlPr>
                                                <a:rPr/>
                                              </m:ctrlPr>
                                            </m:accPr>
                                            <m:e>
                                              <m:r>
                                                <a:rPr lang="en-US" sz="2000" dirty="0">
                                                  <a:latin typeface="Cambria Math" panose="02040503050406030204"/>
                                                  <a:ea typeface="Cambria Math" panose="02040503050406030204"/>
                                                </a:rPr>
                                                <m:t>𝛉</m:t>
                                              </m:r>
                                            </m:e>
                                          </m:acc>
                                        </m:e>
                                        <m:sub>
                                          <m:r>
                                            <a:rPr lang="en-US" sz="2000" dirty="0">
                                              <a:latin typeface="Cambria Math" panose="02040503050406030204"/>
                                              <a:ea typeface="Cambria Math" panose="02040503050406030204"/>
                                            </a:rPr>
                                            <m:t>𝜁</m:t>
                                          </m:r>
                                          <m:r>
                                            <a:rPr lang="en-US" sz="2000" dirty="0">
                                              <a:latin typeface="Cambria Math" panose="02040503050406030204"/>
                                              <a:ea typeface="Cambria Math" panose="02040503050406030204"/>
                                            </a:rPr>
                                            <m:t>𝜁</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i</m:t>
                                          </m:r>
                                          <m:r>
                                            <m:rPr>
                                              <m:sty m:val="p"/>
                                            </m:rPr>
                                            <a:rPr lang="en-US" sz="2000" dirty="0">
                                              <a:latin typeface="Cambria Math" panose="02040503050406030204"/>
                                              <a:ea typeface="Cambria Math" panose="02040503050406030204"/>
                                            </a:rPr>
                                            <m:t>c</m:t>
                                          </m:r>
                                        </m:sub>
                                      </m:sSub>
                                      <m:r>
                                        <a:rPr lang="en-US" sz="2000" dirty="0">
                                          <a:latin typeface="Cambria Math" panose="02040503050406030204"/>
                                          <a:ea typeface="Cambria Math" panose="02040503050406030204"/>
                                        </a:rPr>
                                        <m:t>,</m:t>
                                      </m:r>
                                      <m:sSub>
                                        <m:sSubPr>
                                          <m:ctrlPr>
                                            <a:rPr/>
                                          </m:ctrlPr>
                                        </m:sSubPr>
                                        <m:e>
                                          <m:acc>
                                            <m:accPr>
                                              <m:ctrlPr>
                                                <a:rPr/>
                                              </m:ctrlPr>
                                            </m:accPr>
                                            <m:e>
                                              <m:r>
                                                <a:rPr lang="en-US" sz="2000" dirty="0">
                                                  <a:latin typeface="Cambria Math" panose="02040503050406030204"/>
                                                  <a:ea typeface="Cambria Math" panose="02040503050406030204"/>
                                                </a:rPr>
                                                <m:t>𝐯</m:t>
                                              </m:r>
                                            </m:e>
                                          </m:acc>
                                        </m:e>
                                        <m:sub>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c</m:t>
                                          </m:r>
                                        </m:sub>
                                      </m:sSub>
                                    </m:e>
                                  </m:d>
                                  <m:r>
                                    <a:rPr lang="en-US" sz="2000" dirty="0">
                                      <a:latin typeface="Cambria Math" panose="02040503050406030204"/>
                                      <a:ea typeface="Cambria Math" panose="02040503050406030204"/>
                                    </a:rPr>
                                    <m:t>+</m:t>
                                  </m:r>
                                  <m:d>
                                    <m:dPr>
                                      <m:ctrlPr>
                                        <a:rPr/>
                                      </m:ctrlPr>
                                    </m:dPr>
                                    <m:e>
                                      <m:r>
                                        <a:rPr lang="en-US" sz="2000" dirty="0">
                                          <a:latin typeface="Cambria Math" panose="02040503050406030204"/>
                                          <a:ea typeface="Cambria Math" panose="02040503050406030204"/>
                                        </a:rPr>
                                        <m:t>1</m:t>
                                      </m:r>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Q</m:t>
                                          </m:r>
                                        </m:e>
                                        <m:sub>
                                          <m:r>
                                            <m:rPr>
                                              <m:sty m:val="p"/>
                                            </m:rPr>
                                            <a:rPr lang="en-US" sz="2000" dirty="0">
                                              <a:latin typeface="Cambria Math" panose="02040503050406030204"/>
                                              <a:ea typeface="Cambria Math" panose="02040503050406030204"/>
                                            </a:rPr>
                                            <m:t>G</m:t>
                                          </m:r>
                                        </m:sub>
                                      </m:sSub>
                                      <m:d>
                                        <m:dPr>
                                          <m:ctrlPr>
                                            <a:rPr/>
                                          </m:ctrlPr>
                                        </m:dPr>
                                        <m:e>
                                          <m:sSub>
                                            <m:sSubPr>
                                              <m:ctrlPr>
                                                <a:rPr/>
                                              </m:ctrlPr>
                                            </m:sSubPr>
                                            <m:e>
                                              <m:r>
                                                <a:rPr lang="en-US" sz="2000" dirty="0">
                                                  <a:latin typeface="Cambria Math" panose="02040503050406030204"/>
                                                  <a:ea typeface="Cambria Math" panose="02040503050406030204"/>
                                                </a:rPr>
                                                <m:t>𝛩</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𝜁</m:t>
                                              </m:r>
                                            </m:sub>
                                          </m:sSub>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𝛩</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𝜁</m:t>
                                              </m:r>
                                            </m:sub>
                                          </m:sSub>
                                        </m:e>
                                      </m:d>
                                    </m:e>
                                  </m:d>
                                </m:e>
                              </m:d>
                            </m:e>
                          </m:d>
                        </m:e>
                      </m:nary>
                    </m:oMath>
                  </m:oMathPara>
                </a14:m>
                <a:endParaRPr sz="600" dirty="0"/>
              </a:p>
            </p:txBody>
          </p:sp>
        </mc:Choice>
        <mc:Fallback>
          <p:sp>
            <p:nvSpPr>
              <p:cNvPr id="1646" name="textbox 1646"/>
              <p:cNvSpPr>
                <a:spLocks noRot="1" noChangeAspect="1" noMove="1" noResize="1" noEditPoints="1" noAdjustHandles="1" noChangeArrowheads="1" noChangeShapeType="1" noTextEdit="1"/>
              </p:cNvSpPr>
              <p:nvPr/>
            </p:nvSpPr>
            <p:spPr>
              <a:xfrm>
                <a:off x="1181100" y="4524375"/>
                <a:ext cx="6991350" cy="561975"/>
              </a:xfrm>
              <a:prstGeom prst="rect">
                <a:avLst/>
              </a:prstGeom>
              <a:blipFill rotWithShape="1">
                <a:blip r:embed="rId7"/>
                <a:stretch>
                  <a:fillRect r="-25277"/>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48" name="textbox 1648"/>
              <p:cNvSpPr/>
              <p:nvPr/>
            </p:nvSpPr>
            <p:spPr>
              <a:xfrm>
                <a:off x="1905000" y="5143500"/>
                <a:ext cx="6067425" cy="5048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d>
                        <m:dPr>
                          <m:ctrlPr>
                            <a:rPr/>
                          </m:ctrlPr>
                        </m:dPr>
                        <m:e>
                          <m:r>
                            <m:rPr>
                              <m:sty m:val="p"/>
                            </m:rPr>
                            <a:rPr lang="en-US" sz="2400" dirty="0">
                              <a:latin typeface="Cambria Math" panose="02040503050406030204"/>
                              <a:ea typeface="Cambria Math" panose="02040503050406030204"/>
                            </a:rPr>
                            <m:t>G</m:t>
                          </m:r>
                          <m:d>
                            <m:dPr>
                              <m:ctrlPr>
                                <a:rPr/>
                              </m:ctrlPr>
                            </m:dPr>
                            <m:e>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𝐯</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e>
                          </m:d>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G</m:t>
                          </m:r>
                          <m:d>
                            <m:dPr>
                              <m:ctrlPr>
                                <a:rPr/>
                              </m:ctrlPr>
                            </m:dPr>
                            <m:e>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𝛉</m:t>
                                      </m:r>
                                    </m:e>
                                  </m:acc>
                                </m:e>
                                <m:sub>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𝐯</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e>
                          </m:d>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G</m:t>
                          </m:r>
                          <m:d>
                            <m:dPr>
                              <m:ctrlPr>
                                <a:rPr/>
                              </m:ctrlPr>
                            </m:dPr>
                            <m:e>
                              <m:sSub>
                                <m:sSubPr>
                                  <m:ctrlPr>
                                    <a:rPr/>
                                  </m:ctrlPr>
                                </m:sSubPr>
                                <m:e>
                                  <m:acc>
                                    <m:accPr>
                                      <m:ctrlPr>
                                        <a:rPr/>
                                      </m:ctrlPr>
                                    </m:accPr>
                                    <m:e>
                                      <m:r>
                                        <a:rPr lang="en-US" sz="2400" dirty="0">
                                          <a:latin typeface="Cambria Math" panose="02040503050406030204"/>
                                          <a:ea typeface="Cambria Math" panose="02040503050406030204"/>
                                        </a:rPr>
                                        <m:t>𝛉</m:t>
                                      </m:r>
                                    </m:e>
                                  </m:acc>
                                </m:e>
                                <m:sub>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acc>
                                    <m:accPr>
                                      <m:ctrlPr>
                                        <a:rPr/>
                                      </m:ctrlPr>
                                    </m:accPr>
                                    <m:e>
                                      <m:r>
                                        <a:rPr lang="en-US" sz="2400" dirty="0">
                                          <a:latin typeface="Cambria Math" panose="02040503050406030204"/>
                                          <a:ea typeface="Cambria Math" panose="02040503050406030204"/>
                                        </a:rPr>
                                        <m:t>𝐯</m:t>
                                      </m:r>
                                    </m:e>
                                  </m:acc>
                                </m:e>
                                <m:sub>
                                  <m:r>
                                    <m:rPr>
                                      <m:sty m:val="p"/>
                                    </m:rPr>
                                    <a:rPr lang="en-US" sz="2400" dirty="0">
                                      <a:latin typeface="Cambria Math" panose="02040503050406030204"/>
                                      <a:ea typeface="Cambria Math" panose="02040503050406030204"/>
                                    </a:rPr>
                                    <m:t>i</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c</m:t>
                                  </m:r>
                                </m:sub>
                              </m:sSub>
                            </m:e>
                          </m:d>
                        </m:e>
                      </m:d>
                      <m:r>
                        <a:rPr lang="en-US" sz="2400" dirty="0">
                          <a:latin typeface="Cambria Math" panose="02040503050406030204"/>
                          <a:ea typeface="Cambria Math" panose="02040503050406030204"/>
                        </a:rPr>
                        <m:t>−</m:t>
                      </m:r>
                      <m:sSubSup>
                        <m:sSubSupPr>
                          <m:ctrlPr>
                            <a:rPr/>
                          </m:ctrlPr>
                        </m:sSubSupPr>
                        <m:e>
                          <m:r>
                            <a:rPr lang="en-US" sz="2400" dirty="0">
                              <a:latin typeface="Cambria Math" panose="02040503050406030204"/>
                              <a:ea typeface="Cambria Math" panose="02040503050406030204"/>
                            </a:rPr>
                            <m:t>𝜇</m:t>
                          </m:r>
                        </m:e>
                        <m:sub>
                          <m:sSub>
                            <m:sSubPr>
                              <m:ctrlPr>
                                <a:rPr/>
                              </m:ctrlPr>
                            </m:sSubPr>
                            <m:e>
                              <m:r>
                                <m:rPr>
                                  <m:sty m:val="p"/>
                                </m:rPr>
                                <a:rPr lang="en-US" sz="2400" dirty="0">
                                  <a:latin typeface="Cambria Math" panose="02040503050406030204"/>
                                  <a:ea typeface="Cambria Math" panose="02040503050406030204"/>
                                </a:rPr>
                                <m:t>G</m:t>
                              </m:r>
                            </m:e>
                            <m:sub>
                              <m:r>
                                <m:rPr>
                                  <m:sty m:val="p"/>
                                </m:rPr>
                                <a:rPr lang="en-US" sz="2400" dirty="0">
                                  <a:latin typeface="Cambria Math" panose="02040503050406030204"/>
                                  <a:ea typeface="Cambria Math" panose="02040503050406030204"/>
                                </a:rPr>
                                <m:t>i</m:t>
                              </m:r>
                            </m:sub>
                          </m:sSub>
                        </m:sub>
                        <m:sup>
                          <m:r>
                            <m:rPr>
                              <m:sty m:val="p"/>
                            </m:rPr>
                            <a:rPr lang="en-US" sz="2400" dirty="0">
                              <a:latin typeface="Cambria Math" panose="02040503050406030204"/>
                              <a:ea typeface="Cambria Math" panose="02040503050406030204"/>
                            </a:rPr>
                            <m:t>q</m:t>
                          </m:r>
                        </m:sup>
                      </m:sSubSup>
                    </m:oMath>
                  </m:oMathPara>
                </a14:m>
                <a:endParaRPr sz="600" dirty="0"/>
              </a:p>
            </p:txBody>
          </p:sp>
        </mc:Choice>
        <mc:Fallback>
          <p:sp>
            <p:nvSpPr>
              <p:cNvPr id="1648" name="textbox 1648"/>
              <p:cNvSpPr>
                <a:spLocks noRot="1" noChangeAspect="1" noMove="1" noResize="1" noEditPoints="1" noAdjustHandles="1" noChangeArrowheads="1" noChangeShapeType="1" noTextEdit="1"/>
              </p:cNvSpPr>
              <p:nvPr/>
            </p:nvSpPr>
            <p:spPr>
              <a:xfrm>
                <a:off x="1905000" y="5143500"/>
                <a:ext cx="6067425" cy="504825"/>
              </a:xfrm>
              <a:prstGeom prst="rect">
                <a:avLst/>
              </a:prstGeom>
              <a:blipFill rotWithShape="1">
                <a:blip r:embed="rId8"/>
                <a:stretch>
                  <a:fillRect r="-26593" b="-2013"/>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50" name="textbox 1650"/>
              <p:cNvSpPr/>
              <p:nvPr/>
            </p:nvSpPr>
            <p:spPr>
              <a:xfrm>
                <a:off x="1905000" y="5734050"/>
                <a:ext cx="6296025" cy="6191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N</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r>
                        <a:rPr lang="en-US" sz="2000" dirty="0">
                          <a:latin typeface="Cambria Math" panose="02040503050406030204"/>
                          <a:ea typeface="Cambria Math" panose="02040503050406030204"/>
                        </a:rPr>
                        <m:t>)</m:t>
                      </m:r>
                      <m:nary>
                        <m:naryPr>
                          <m:chr m:val="∑"/>
                          <m:limLoc m:val="subSup"/>
                          <m:ctrlPr>
                            <a:rPr/>
                          </m:ctrlPr>
                        </m:naryPr>
                        <m:sub>
                          <m:r>
                            <m:rPr>
                              <m:sty m:val="p"/>
                            </m:rPr>
                            <a:rPr lang="en-US" sz="2000" dirty="0">
                              <a:latin typeface="Cambria Math" panose="02040503050406030204"/>
                              <a:ea typeface="Cambria Math" panose="02040503050406030204"/>
                            </a:rPr>
                            <m:t>t</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sub>
                        <m:sup>
                          <m:sSub>
                            <m:sSubPr>
                              <m:ctrlPr>
                                <a:rPr/>
                              </m:ctrlPr>
                            </m:sSubPr>
                            <m:e>
                              <m:r>
                                <a:rPr lang="en-US" sz="2000" dirty="0">
                                  <a:latin typeface="Cambria Math" panose="02040503050406030204"/>
                                  <a:ea typeface="Cambria Math" panose="02040503050406030204"/>
                                </a:rPr>
                                <m:t>𝛾</m:t>
                              </m:r>
                            </m:e>
                            <m:sub>
                              <m:r>
                                <m:rPr>
                                  <m:sty m:val="p"/>
                                </m:rPr>
                                <a:rPr lang="en-US" sz="2000" dirty="0">
                                  <a:latin typeface="Cambria Math" panose="02040503050406030204"/>
                                  <a:ea typeface="Cambria Math" panose="02040503050406030204"/>
                                </a:rPr>
                                <m:t>i</m:t>
                              </m:r>
                            </m:sub>
                          </m:sSub>
                        </m:sup>
                        <m:e>
                          <m:r>
                            <m:rPr>
                              <m:sty m:val="p"/>
                            </m:rPr>
                            <a:rPr lang="en-US" sz="2000" dirty="0">
                              <a:latin typeface="Cambria Math" panose="02040503050406030204"/>
                              <a:ea typeface="Cambria Math" panose="02040503050406030204"/>
                            </a:rPr>
                            <m:t>E</m:t>
                          </m:r>
                          <m:d>
                            <m:dPr>
                              <m:begChr m:val="["/>
                              <m:endChr m:val="]"/>
                              <m:ctrlPr>
                                <a:rPr/>
                              </m:ctrlPr>
                            </m:dPr>
                            <m:e>
                              <m:sSup>
                                <m:sSupPr>
                                  <m:ctrlPr>
                                    <a:rPr/>
                                  </m:ctrlPr>
                                </m:sSupPr>
                                <m:e>
                                  <m:d>
                                    <m:dPr>
                                      <m:ctrlPr>
                                        <a:rPr/>
                                      </m:ctrlPr>
                                    </m:dPr>
                                    <m:e>
                                      <m:r>
                                        <m:rPr>
                                          <m:sty m:val="p"/>
                                        </m:rPr>
                                        <a:rPr lang="en-US" sz="2000" dirty="0">
                                          <a:latin typeface="Cambria Math" panose="02040503050406030204"/>
                                          <a:ea typeface="Cambria Math" panose="02040503050406030204"/>
                                        </a:rPr>
                                        <m:t>G</m:t>
                                      </m:r>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𝚯</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t</m:t>
                                          </m:r>
                                        </m:sub>
                                      </m:sSub>
                                      <m:r>
                                        <a:rPr lang="en-US" sz="2000" dirty="0">
                                          <a:latin typeface="Cambria Math" panose="02040503050406030204"/>
                                          <a:ea typeface="Cambria Math" panose="02040503050406030204"/>
                                        </a:rPr>
                                        <m:t>,</m:t>
                                      </m:r>
                                      <m:sSub>
                                        <m:sSubPr>
                                          <m:ctrlPr>
                                            <a:rPr/>
                                          </m:ctrlPr>
                                        </m:sSubPr>
                                        <m:e>
                                          <m:acc>
                                            <m:accPr>
                                              <m:ctrlPr>
                                                <a:rPr/>
                                              </m:ctrlPr>
                                            </m:accPr>
                                            <m:e>
                                              <m:r>
                                                <a:rPr lang="en-US" sz="2000" dirty="0">
                                                  <a:latin typeface="Cambria Math" panose="02040503050406030204"/>
                                                  <a:ea typeface="Cambria Math" panose="02040503050406030204"/>
                                                </a:rPr>
                                                <m:t>𝛉</m:t>
                                              </m:r>
                                            </m:e>
                                          </m:acc>
                                        </m:e>
                                        <m:sub>
                                          <m:r>
                                            <m:rPr>
                                              <m:sty m:val="p"/>
                                            </m:rPr>
                                            <a:rPr lang="en-US" sz="2000" dirty="0">
                                              <a:latin typeface="Cambria Math" panose="02040503050406030204"/>
                                              <a:ea typeface="Cambria Math" panose="02040503050406030204"/>
                                            </a:rPr>
                                            <m:t>t</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i</m:t>
                                          </m:r>
                                          <m:r>
                                            <m:rPr>
                                              <m:sty m:val="p"/>
                                            </m:rPr>
                                            <a:rPr lang="en-US" sz="2000" dirty="0">
                                              <a:latin typeface="Cambria Math" panose="02040503050406030204"/>
                                              <a:ea typeface="Cambria Math" panose="02040503050406030204"/>
                                            </a:rPr>
                                            <m:t>c</m:t>
                                          </m:r>
                                        </m:sub>
                                      </m:sSub>
                                      <m:r>
                                        <a:rPr lang="en-US" sz="2000" dirty="0">
                                          <a:latin typeface="Cambria Math" panose="02040503050406030204"/>
                                          <a:ea typeface="Cambria Math" panose="02040503050406030204"/>
                                        </a:rPr>
                                        <m:t>,</m:t>
                                      </m:r>
                                      <m:sSub>
                                        <m:sSubPr>
                                          <m:ctrlPr>
                                            <a:rPr/>
                                          </m:ctrlPr>
                                        </m:sSubPr>
                                        <m:e>
                                          <m:acc>
                                            <m:accPr>
                                              <m:ctrlPr>
                                                <a:rPr/>
                                              </m:ctrlPr>
                                            </m:accPr>
                                            <m:e>
                                              <m:r>
                                                <a:rPr lang="en-US" sz="2000" dirty="0">
                                                  <a:latin typeface="Cambria Math" panose="02040503050406030204"/>
                                                  <a:ea typeface="Cambria Math" panose="02040503050406030204"/>
                                                </a:rPr>
                                                <m:t>𝐯</m:t>
                                              </m:r>
                                            </m:e>
                                          </m:acc>
                                        </m:e>
                                        <m:sub>
                                          <m:r>
                                            <m:rPr>
                                              <m:sty m:val="p"/>
                                            </m:rPr>
                                            <a:rPr lang="en-US" sz="2000" dirty="0">
                                              <a:latin typeface="Cambria Math" panose="02040503050406030204"/>
                                              <a:ea typeface="Cambria Math" panose="02040503050406030204"/>
                                            </a:rPr>
                                            <m:t>i</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c</m:t>
                                          </m:r>
                                        </m:sub>
                                      </m:sSub>
                                      <m:r>
                                        <a:rPr lang="en-US" sz="2000" dirty="0">
                                          <a:latin typeface="Cambria Math" panose="02040503050406030204"/>
                                          <a:ea typeface="Cambria Math" panose="02040503050406030204"/>
                                        </a:rPr>
                                        <m:t>)</m:t>
                                      </m:r>
                                    </m:e>
                                  </m:d>
                                </m:e>
                                <m:sup>
                                  <m:r>
                                    <m:rPr>
                                      <m:sty m:val="p"/>
                                    </m:rPr>
                                    <a:rPr lang="en-US" sz="2000" dirty="0">
                                      <a:latin typeface="Cambria Math" panose="02040503050406030204"/>
                                      <a:ea typeface="Cambria Math" panose="02040503050406030204"/>
                                    </a:rPr>
                                    <m:t>q</m:t>
                                  </m:r>
                                </m:sup>
                              </m:sSup>
                            </m:e>
                          </m:d>
                          <m:r>
                            <a:rPr lang="en-US" sz="2000" dirty="0">
                              <a:latin typeface="Cambria Math" panose="02040503050406030204"/>
                              <a:ea typeface="Cambria Math" panose="02040503050406030204"/>
                            </a:rPr>
                            <m:t>+</m:t>
                          </m:r>
                          <m:f>
                            <m:fPr>
                              <m:ctrlPr>
                                <a:rPr/>
                              </m:ctrlPr>
                            </m:fPr>
                            <m:num>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N</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1</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N</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2</m:t>
                              </m:r>
                              <m:r>
                                <a:rPr lang="en-US" sz="2000" dirty="0">
                                  <a:latin typeface="Cambria Math" panose="02040503050406030204"/>
                                  <a:ea typeface="Cambria Math" panose="02040503050406030204"/>
                                </a:rPr>
                                <m:t>)</m:t>
                              </m:r>
                            </m:num>
                            <m:den>
                              <m:r>
                                <a:rPr lang="en-US" sz="2000" dirty="0">
                                  <a:latin typeface="Cambria Math" panose="02040503050406030204"/>
                                  <a:ea typeface="Cambria Math" panose="02040503050406030204"/>
                                </a:rPr>
                                <m:t>2</m:t>
                              </m:r>
                            </m:den>
                          </m:f>
                          <m:sSup>
                            <m:sSupPr>
                              <m:ctrlPr>
                                <a:rPr/>
                              </m:ctrlPr>
                            </m:sSupPr>
                            <m:e>
                              <m:d>
                                <m:dPr>
                                  <m:ctrlPr>
                                    <a:rPr/>
                                  </m:ctrlPr>
                                </m:dPr>
                                <m:e>
                                  <m:r>
                                    <m:rPr>
                                      <m:sty m:val="p"/>
                                    </m:rPr>
                                    <a:rPr lang="en-US" sz="2000" dirty="0">
                                      <a:latin typeface="Cambria Math" panose="02040503050406030204"/>
                                      <a:ea typeface="Cambria Math" panose="02040503050406030204"/>
                                    </a:rPr>
                                    <m:t>G</m:t>
                                  </m:r>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𝛉</m:t>
                                      </m:r>
                                    </m:e>
                                    <m:sub>
                                      <m:r>
                                        <m:rPr>
                                          <m:sty m:val="p"/>
                                        </m:rPr>
                                        <a:rPr lang="en-US" sz="2000" dirty="0">
                                          <a:latin typeface="Cambria Math" panose="02040503050406030204"/>
                                          <a:ea typeface="Cambria Math" panose="02040503050406030204"/>
                                        </a:rPr>
                                        <m:t>S</m:t>
                                      </m:r>
                                      <m:r>
                                        <m:rPr>
                                          <m:sty m:val="p"/>
                                        </m:rPr>
                                        <a:rPr lang="en-US" sz="2000" dirty="0">
                                          <a:latin typeface="Cambria Math" panose="02040503050406030204"/>
                                          <a:ea typeface="Cambria Math" panose="02040503050406030204"/>
                                        </a:rPr>
                                        <m:t>c</m:t>
                                      </m:r>
                                    </m:sub>
                                  </m:sSub>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m:t>
                                  </m:r>
                                  <m:sSub>
                                    <m:sSubPr>
                                      <m:ctrlPr>
                                        <a:rPr/>
                                      </m:ctrlPr>
                                    </m:sSubPr>
                                    <m:e>
                                      <m:r>
                                        <a:rPr lang="en-US" sz="2000" dirty="0">
                                          <a:latin typeface="Cambria Math" panose="02040503050406030204"/>
                                          <a:ea typeface="Cambria Math" panose="02040503050406030204"/>
                                        </a:rPr>
                                        <m:t>𝛍</m:t>
                                      </m:r>
                                    </m:e>
                                    <m:sub>
                                      <m:sSub>
                                        <m:sSubPr>
                                          <m:ctrlPr>
                                            <a:rPr/>
                                          </m:ctrlPr>
                                        </m:sSubPr>
                                        <m:e>
                                          <m:r>
                                            <m:rPr>
                                              <m:sty m:val="p"/>
                                            </m:rPr>
                                            <a:rPr lang="en-US" sz="2000" dirty="0">
                                              <a:latin typeface="Cambria Math" panose="02040503050406030204"/>
                                              <a:ea typeface="Cambria Math" panose="02040503050406030204"/>
                                            </a:rPr>
                                            <m:t>G</m:t>
                                          </m:r>
                                        </m:e>
                                        <m:sub>
                                          <m:r>
                                            <m:rPr>
                                              <m:sty m:val="p"/>
                                            </m:rPr>
                                            <a:rPr lang="en-US" sz="2000" dirty="0">
                                              <a:latin typeface="Cambria Math" panose="02040503050406030204"/>
                                              <a:ea typeface="Cambria Math" panose="02040503050406030204"/>
                                            </a:rPr>
                                            <m:t>i</m:t>
                                          </m:r>
                                        </m:sub>
                                      </m:sSub>
                                    </m:sub>
                                  </m:sSub>
                                </m:e>
                              </m:d>
                            </m:e>
                            <m:sup>
                              <m:r>
                                <m:rPr>
                                  <m:sty m:val="p"/>
                                </m:rPr>
                                <a:rPr lang="en-US" sz="2000" dirty="0">
                                  <a:latin typeface="Cambria Math" panose="02040503050406030204"/>
                                  <a:ea typeface="Cambria Math" panose="02040503050406030204"/>
                                </a:rPr>
                                <m:t>q</m:t>
                              </m:r>
                            </m:sup>
                          </m:sSup>
                        </m:e>
                      </m:nary>
                    </m:oMath>
                  </m:oMathPara>
                </a14:m>
                <a:endParaRPr sz="600" dirty="0"/>
              </a:p>
            </p:txBody>
          </p:sp>
        </mc:Choice>
        <mc:Fallback>
          <p:sp>
            <p:nvSpPr>
              <p:cNvPr id="1650" name="textbox 1650"/>
              <p:cNvSpPr>
                <a:spLocks noRot="1" noChangeAspect="1" noMove="1" noResize="1" noEditPoints="1" noAdjustHandles="1" noChangeArrowheads="1" noChangeShapeType="1" noTextEdit="1"/>
              </p:cNvSpPr>
              <p:nvPr/>
            </p:nvSpPr>
            <p:spPr>
              <a:xfrm>
                <a:off x="1905000" y="5734050"/>
                <a:ext cx="6296025" cy="619125"/>
              </a:xfrm>
              <a:prstGeom prst="rect">
                <a:avLst/>
              </a:prstGeom>
              <a:blipFill rotWithShape="1">
                <a:blip r:embed="rId9"/>
                <a:stretch>
                  <a:fillRect r="-25668"/>
                </a:stretch>
              </a:blipFill>
              <a:ln w="0" cap="flat">
                <a:noFill/>
                <a:prstDash val="solid"/>
                <a:miter lim="0"/>
              </a:ln>
            </p:spPr>
            <p:txBody>
              <a:bodyPr/>
              <a:lstStyle/>
              <a:p>
                <a:r>
                  <a:rPr lang="zh-CN" altLang="en-US">
                    <a:noFill/>
                  </a:rPr>
                  <a:t> </a:t>
                </a:r>
              </a:p>
            </p:txBody>
          </p:sp>
        </mc:Fallback>
      </mc:AlternateContent>
      <p:sp>
        <p:nvSpPr>
          <p:cNvPr id="1652" name="textbox 165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654" name="textbox 1654"/>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A9E9E4">
                    <a:alpha val="100000"/>
                  </a:srgbClr>
                </a:solidFill>
                <a:latin typeface="Arial" panose="020B0604020202020204"/>
                <a:ea typeface="Arial" panose="020B0604020202020204"/>
                <a:cs typeface="Arial" panose="020B0604020202020204"/>
              </a:rPr>
              <a:t>39</a:t>
            </a:r>
            <a:endParaRPr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 name="picture 1658"/>
          <p:cNvPicPr>
            <a:picLocks noChangeAspect="1"/>
          </p:cNvPicPr>
          <p:nvPr/>
        </p:nvPicPr>
        <p:blipFill>
          <a:blip r:embed="rId1"/>
          <a:stretch>
            <a:fillRect/>
          </a:stretch>
        </p:blipFill>
        <p:spPr>
          <a:xfrm>
            <a:off x="0" y="0"/>
            <a:ext cx="12192000" cy="6858000"/>
          </a:xfrm>
          <a:prstGeom prst="rect">
            <a:avLst/>
          </a:prstGeom>
        </p:spPr>
      </p:pic>
      <p:sp>
        <p:nvSpPr>
          <p:cNvPr id="1660" name="textbox 1660"/>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1662" name="textbox 166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华文新魏" panose="02010800040101010101" charset="-122"/>
                <a:ea typeface="华文新魏" panose="02010800040101010101" charset="-122"/>
                <a:cs typeface="华文新魏" panose="0201080004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华文新魏" panose="02010800040101010101" charset="-122"/>
                <a:ea typeface="华文新魏" panose="02010800040101010101" charset="-122"/>
                <a:cs typeface="华文新魏" panose="02010800040101010101" charset="-122"/>
              </a:rPr>
              <a:t>研究进展</a:t>
            </a:r>
            <a:endParaRPr sz="1000" dirty="0"/>
          </a:p>
        </p:txBody>
      </p:sp>
      <p:sp>
        <p:nvSpPr>
          <p:cNvPr id="1664" name="textbox 166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C5781">
                    <a:alpha val="100000"/>
                  </a:srgbClr>
                </a:solidFill>
                <a:latin typeface="华文楷体" panose="02010600040101010101" charset="-122"/>
                <a:ea typeface="华文楷体" panose="02010600040101010101" charset="-122"/>
                <a:cs typeface="华文楷体" panose="02010600040101010101" charset="-122"/>
              </a:rPr>
              <a:t>第三届复杂装备可靠性工程与科学研讨会暨第十二届模型验证与确认专题研讨会</a:t>
            </a:r>
            <a:endParaRPr sz="1000" dirty="0"/>
          </a:p>
        </p:txBody>
      </p:sp>
      <p:pic>
        <p:nvPicPr>
          <p:cNvPr id="1668" name="picture 1668"/>
          <p:cNvPicPr>
            <a:picLocks noChangeAspect="1"/>
          </p:cNvPicPr>
          <p:nvPr/>
        </p:nvPicPr>
        <p:blipFill>
          <a:blip r:embed="rId2"/>
          <a:stretch>
            <a:fillRect/>
          </a:stretch>
        </p:blipFill>
        <p:spPr>
          <a:xfrm>
            <a:off x="295275" y="247650"/>
            <a:ext cx="733425" cy="666750"/>
          </a:xfrm>
          <a:prstGeom prst="rect">
            <a:avLst/>
          </a:prstGeom>
        </p:spPr>
      </p:pic>
      <p:sp>
        <p:nvSpPr>
          <p:cNvPr id="1670" name="textbox 1670"/>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672" name="textbox 1672"/>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674" name="textbox 1674"/>
          <p:cNvSpPr/>
          <p:nvPr/>
        </p:nvSpPr>
        <p:spPr>
          <a:xfrm>
            <a:off x="1447800" y="1104900"/>
            <a:ext cx="196215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稀疏网格积分法</a:t>
            </a:r>
            <a:endParaRPr sz="2000" dirty="0"/>
          </a:p>
        </p:txBody>
      </p:sp>
      <p:sp>
        <p:nvSpPr>
          <p:cNvPr id="1676" name="textbox 1676"/>
          <p:cNvSpPr/>
          <p:nvPr/>
        </p:nvSpPr>
        <p:spPr>
          <a:xfrm>
            <a:off x="885825" y="1171575"/>
            <a:ext cx="219075" cy="24765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Calibri" panose="020F0502020204030204"/>
                <a:ea typeface="Calibri" panose="020F0502020204030204"/>
                <a:cs typeface="Calibri" panose="020F0502020204030204"/>
              </a:rPr>
              <a:t>3</a:t>
            </a:r>
            <a:endParaRPr sz="2000" dirty="0"/>
          </a:p>
        </p:txBody>
      </p:sp>
      <p:sp>
        <p:nvSpPr>
          <p:cNvPr id="1678" name="textbox 1678"/>
          <p:cNvSpPr/>
          <p:nvPr/>
        </p:nvSpPr>
        <p:spPr>
          <a:xfrm>
            <a:off x="1457325" y="1466850"/>
            <a:ext cx="1981200"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Sparse Grid integration (SGI) Method</a:t>
            </a:r>
            <a:endParaRPr sz="1000" dirty="0"/>
          </a:p>
        </p:txBody>
      </p:sp>
      <p:sp>
        <p:nvSpPr>
          <p:cNvPr id="1680" name="textbox 1680"/>
          <p:cNvSpPr/>
          <p:nvPr/>
        </p:nvSpPr>
        <p:spPr>
          <a:xfrm>
            <a:off x="1219200" y="1752600"/>
            <a:ext cx="9839325" cy="295275"/>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传统 </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SGI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方法基于 </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Smolyak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算法，通过消除积分点来使精度最小化。稀疏网格点集的定义范围为</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682" name="textbox 1682"/>
              <p:cNvSpPr/>
              <p:nvPr/>
            </p:nvSpPr>
            <p:spPr>
              <a:xfrm>
                <a:off x="1276350" y="2181225"/>
                <a:ext cx="7705725" cy="6953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a:rPr lang="en-US" sz="2400" dirty="0">
                          <a:latin typeface="Cambria Math" panose="02040503050406030204"/>
                          <a:ea typeface="Cambria Math" panose="02040503050406030204"/>
                        </a:rPr>
                        <m:t>𝐍</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𝚯</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m:t>
                          </m:r>
                        </m:e>
                        <m:sub>
                          <m:r>
                            <a:rPr lang="en-US" sz="2400" dirty="0">
                              <a:latin typeface="Cambria Math" panose="02040503050406030204"/>
                              <a:ea typeface="Cambria Math" panose="02040503050406030204"/>
                            </a:rPr>
                            <m:t>𝜉</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r>
                            <m:rPr>
                              <m:sty m:val="p"/>
                            </m:rPr>
                            <a:rPr lang="en-US" sz="2400" dirty="0">
                              <a:latin typeface="Cambria Math" panose="02040503050406030204"/>
                              <a:ea typeface="Cambria Math" panose="02040503050406030204"/>
                            </a:rPr>
                            <m:t>le</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q</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le</m:t>
                          </m:r>
                          <m:r>
                            <a:rPr lang="en-US" sz="2400" dirty="0">
                              <a:latin typeface="Cambria Math" panose="02040503050406030204"/>
                              <a:ea typeface="Cambria Math" panose="02040503050406030204"/>
                            </a:rPr>
                            <m:t>𝜉</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sub>
                      </m:sSub>
                      <m:sSubSup>
                        <m:sSubSupPr>
                          <m:ctrlPr>
                            <a:rPr/>
                          </m:ctrlPr>
                        </m:sSubSupPr>
                        <m:e>
                          <m:r>
                            <a:rPr lang="en-US" sz="2400" dirty="0">
                              <a:latin typeface="Cambria Math" panose="02040503050406030204"/>
                              <a:ea typeface="Cambria Math" panose="02040503050406030204"/>
                            </a:rPr>
                            <m:t>𝐍</m:t>
                          </m:r>
                        </m:e>
                        <m:sub>
                          <m:r>
                            <a:rPr lang="en-US" sz="2400" dirty="0">
                              <a:latin typeface="Cambria Math" panose="02040503050406030204"/>
                              <a:ea typeface="Cambria Math" panose="02040503050406030204"/>
                            </a:rPr>
                            <m:t>1</m:t>
                          </m:r>
                        </m:sub>
                        <m:sup>
                          <m:r>
                            <a:rPr lang="en-US" sz="2400" dirty="0">
                              <a:latin typeface="Cambria Math" panose="02040503050406030204"/>
                              <a:ea typeface="Cambria Math" panose="02040503050406030204"/>
                            </a:rPr>
                            <m:t>𝜉</m:t>
                          </m:r>
                        </m:sup>
                      </m:sSubSup>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a:rPr lang="en-US" sz="2400" dirty="0">
                              <a:latin typeface="Cambria Math" panose="02040503050406030204"/>
                              <a:ea typeface="Cambria Math" panose="02040503050406030204"/>
                            </a:rPr>
                            <m:t>1</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Sup>
                        <m:sSubSupPr>
                          <m:ctrlPr>
                            <a:rPr/>
                          </m:ctrlPr>
                        </m:sSubSupPr>
                        <m:e>
                          <m:r>
                            <a:rPr lang="en-US" sz="2400" dirty="0">
                              <a:latin typeface="Cambria Math" panose="02040503050406030204"/>
                              <a:ea typeface="Cambria Math" panose="02040503050406030204"/>
                            </a:rPr>
                            <m:t>𝐍</m:t>
                          </m:r>
                        </m:e>
                        <m:sub>
                          <m:r>
                            <a:rPr lang="en-US" sz="2400" dirty="0">
                              <a:latin typeface="Cambria Math" panose="02040503050406030204"/>
                              <a:ea typeface="Cambria Math" panose="02040503050406030204"/>
                            </a:rPr>
                            <m:t>2</m:t>
                          </m:r>
                        </m:sub>
                        <m:sup>
                          <m:r>
                            <a:rPr lang="en-US" sz="2400" dirty="0">
                              <a:latin typeface="Cambria Math" panose="02040503050406030204"/>
                              <a:ea typeface="Cambria Math" panose="02040503050406030204"/>
                            </a:rPr>
                            <m:t>𝜉</m:t>
                          </m:r>
                        </m:sup>
                      </m:sSubSup>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a:rPr lang="en-US" sz="2400" dirty="0">
                              <a:latin typeface="Cambria Math" panose="02040503050406030204"/>
                              <a:ea typeface="Cambria Math" panose="02040503050406030204"/>
                            </a:rPr>
                            <m:t>2</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sSubSup>
                        <m:sSubSupPr>
                          <m:ctrlPr>
                            <a:rPr/>
                          </m:ctrlPr>
                        </m:sSubSupPr>
                        <m:e>
                          <m:r>
                            <a:rPr lang="en-US" sz="2400" dirty="0">
                              <a:latin typeface="Cambria Math" panose="02040503050406030204"/>
                              <a:ea typeface="Cambria Math" panose="02040503050406030204"/>
                            </a:rPr>
                            <m:t>𝐍</m:t>
                          </m:r>
                        </m:e>
                        <m:sub>
                          <m:r>
                            <m:rPr>
                              <m:sty m:val="p"/>
                            </m:rPr>
                            <a:rPr lang="en-US" sz="2400" dirty="0">
                              <a:latin typeface="Cambria Math" panose="02040503050406030204"/>
                              <a:ea typeface="Cambria Math" panose="02040503050406030204"/>
                            </a:rPr>
                            <m:t>i</m:t>
                          </m:r>
                        </m:sub>
                        <m:sup>
                          <m:r>
                            <a:rPr lang="en-US" sz="2400" dirty="0">
                              <a:latin typeface="Cambria Math" panose="02040503050406030204"/>
                              <a:ea typeface="Cambria Math" panose="02040503050406030204"/>
                            </a:rPr>
                            <m:t>𝜉</m:t>
                          </m:r>
                        </m:sup>
                      </m:sSubSup>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r>
                            <m:rPr>
                              <m:sty m:val="p"/>
                            </m:rPr>
                            <a:rPr lang="en-US" sz="2400" dirty="0">
                              <a:latin typeface="Cambria Math" panose="02040503050406030204"/>
                              <a:ea typeface="Cambria Math" panose="02040503050406030204"/>
                            </a:rPr>
                            <m:t>i</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dots</m:t>
                      </m:r>
                      <m:r>
                        <a:rPr lang="en-US" sz="2400" dirty="0">
                          <a:latin typeface="Cambria Math" panose="02040503050406030204"/>
                          <a:ea typeface="Cambria Math" panose="02040503050406030204"/>
                        </a:rPr>
                        <m:t>⊗</m:t>
                      </m:r>
                      <m:sSubSup>
                        <m:sSubSupPr>
                          <m:ctrlPr>
                            <a:rPr/>
                          </m:ctrlPr>
                        </m:sSubSupPr>
                        <m:e>
                          <m:r>
                            <a:rPr lang="en-US" sz="2400" dirty="0">
                              <a:latin typeface="Cambria Math" panose="02040503050406030204"/>
                              <a:ea typeface="Cambria Math" panose="02040503050406030204"/>
                            </a:rPr>
                            <m:t>𝐍</m:t>
                          </m:r>
                        </m:e>
                        <m:sub>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sub>
                        <m:sup>
                          <m:r>
                            <a:rPr lang="en-US" sz="2400" dirty="0">
                              <a:latin typeface="Cambria Math" panose="02040503050406030204"/>
                              <a:ea typeface="Cambria Math" panose="02040503050406030204"/>
                            </a:rPr>
                            <m:t>𝜉</m:t>
                          </m:r>
                        </m:sup>
                      </m:sSubSup>
                      <m:r>
                        <a:rPr lang="en-US" sz="2400" dirty="0">
                          <a:latin typeface="Cambria Math" panose="02040503050406030204"/>
                          <a:ea typeface="Cambria Math" panose="02040503050406030204"/>
                        </a:rPr>
                        <m:t>(</m:t>
                      </m:r>
                      <m:sSub>
                        <m:sSubPr>
                          <m:ctrlPr>
                            <a:rPr/>
                          </m:ctrlPr>
                        </m:sSubPr>
                        <m:e>
                          <m:r>
                            <a:rPr lang="en-US" sz="2400" dirty="0">
                              <a:latin typeface="Cambria Math" panose="02040503050406030204"/>
                              <a:ea typeface="Cambria Math" panose="02040503050406030204"/>
                            </a:rPr>
                            <m:t>𝚯</m:t>
                          </m:r>
                        </m:e>
                        <m:sub>
                          <m:sSub>
                            <m:sSubPr>
                              <m:ctrlPr>
                                <a:rPr/>
                              </m:ctrlPr>
                            </m:sSubPr>
                            <m:e>
                              <m:r>
                                <m:rPr>
                                  <m:sty m:val="p"/>
                                </m:rPr>
                                <a:rPr lang="en-US" sz="2400" dirty="0">
                                  <a:latin typeface="Cambria Math" panose="02040503050406030204"/>
                                  <a:ea typeface="Cambria Math" panose="02040503050406030204"/>
                                </a:rPr>
                                <m:t>N</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m</m:t>
                              </m:r>
                            </m:sub>
                          </m:sSub>
                        </m:sub>
                      </m:sSub>
                      <m:r>
                        <a:rPr lang="en-US" sz="2400" dirty="0">
                          <a:latin typeface="Cambria Math" panose="02040503050406030204"/>
                          <a:ea typeface="Cambria Math" panose="02040503050406030204"/>
                        </a:rPr>
                        <m:t>)</m:t>
                      </m:r>
                    </m:oMath>
                  </m:oMathPara>
                </a14:m>
                <a:endParaRPr sz="600" dirty="0"/>
              </a:p>
            </p:txBody>
          </p:sp>
        </mc:Choice>
        <mc:Fallback>
          <p:sp>
            <p:nvSpPr>
              <p:cNvPr id="1682" name="textbox 1682"/>
              <p:cNvSpPr>
                <a:spLocks noRot="1" noChangeAspect="1" noMove="1" noResize="1" noEditPoints="1" noAdjustHandles="1" noChangeArrowheads="1" noChangeShapeType="1" noTextEdit="1"/>
              </p:cNvSpPr>
              <p:nvPr/>
            </p:nvSpPr>
            <p:spPr>
              <a:xfrm>
                <a:off x="1276350" y="2181225"/>
                <a:ext cx="7705725" cy="695325"/>
              </a:xfrm>
              <a:prstGeom prst="rect">
                <a:avLst/>
              </a:prstGeom>
              <a:blipFill rotWithShape="1">
                <a:blip r:embed="rId3"/>
                <a:stretch>
                  <a:fillRect r="-35155"/>
                </a:stretch>
              </a:blipFill>
              <a:ln w="0" cap="flat">
                <a:noFill/>
                <a:prstDash val="solid"/>
                <a:miter lim="0"/>
              </a:ln>
            </p:spPr>
            <p:txBody>
              <a:bodyPr/>
              <a:lstStyle/>
              <a:p>
                <a:r>
                  <a:rPr lang="zh-CN" altLang="en-US">
                    <a:noFill/>
                  </a:rPr>
                  <a:t> </a:t>
                </a:r>
              </a:p>
            </p:txBody>
          </p:sp>
        </mc:Fallback>
      </mc:AlternateContent>
      <p:sp>
        <p:nvSpPr>
          <p:cNvPr id="1684" name="textbox 1684"/>
          <p:cNvSpPr/>
          <p:nvPr/>
        </p:nvSpPr>
        <p:spPr>
          <a:xfrm>
            <a:off x="7124700" y="2857500"/>
            <a:ext cx="3105150" cy="190500"/>
          </a:xfrm>
          <a:prstGeom prst="rect">
            <a:avLst/>
          </a:prstGeom>
          <a:noFill/>
          <a:ln w="0" cap="flat">
            <a:noFill/>
            <a:prstDash val="solid"/>
            <a:miter lim="0"/>
          </a:ln>
        </p:spPr>
        <p:txBody>
          <a:bodyPr vert="horz" wrap="none" lIns="0" tIns="0" rIns="0" bIns="0"/>
          <a:lstStyle/>
          <a:p>
            <a:pPr algn="l" rtl="0" eaLnBrk="0"/>
            <a:r>
              <a:rPr sz="1100" b="1" kern="0" spc="0" dirty="0">
                <a:solidFill>
                  <a:srgbClr val="000000">
                    <a:alpha val="100000"/>
                  </a:srgbClr>
                </a:solidFill>
                <a:latin typeface="Times New Roman" panose="02020603050405020304"/>
                <a:ea typeface="Times New Roman" panose="02020603050405020304"/>
                <a:cs typeface="Times New Roman" panose="02020603050405020304"/>
              </a:rPr>
              <a:t>Table 3 </a:t>
            </a:r>
            <a:r>
              <a:rPr sz="1100" kern="0" spc="0" dirty="0">
                <a:solidFill>
                  <a:srgbClr val="000000">
                    <a:alpha val="100000"/>
                  </a:srgbClr>
                </a:solidFill>
                <a:latin typeface="Times New Roman" panose="02020603050405020304"/>
                <a:ea typeface="Times New Roman" panose="02020603050405020304"/>
                <a:cs typeface="Times New Roman" panose="02020603050405020304"/>
              </a:rPr>
              <a:t>The number of sparse grid points for ξ=2 and 3</a:t>
            </a:r>
            <a:endParaRPr sz="1100" dirty="0"/>
          </a:p>
        </p:txBody>
      </p:sp>
      <p:sp>
        <p:nvSpPr>
          <p:cNvPr id="1686" name="textbox 1686"/>
          <p:cNvSpPr/>
          <p:nvPr/>
        </p:nvSpPr>
        <p:spPr>
          <a:xfrm>
            <a:off x="1238250" y="3438525"/>
            <a:ext cx="4533900" cy="1133475"/>
          </a:xfrm>
          <a:prstGeom prst="rect">
            <a:avLst/>
          </a:prstGeom>
          <a:noFill/>
          <a:ln w="0" cap="flat">
            <a:noFill/>
            <a:prstDash val="solid"/>
            <a:miter lim="0"/>
          </a:ln>
        </p:spPr>
        <p:txBody>
          <a:bodyPr vert="horz" wrap="none" lIns="0" tIns="0" rIns="0" bIns="0"/>
          <a:lstStyle/>
          <a:p>
            <a:pPr marL="276225" indent="-247650" algn="l" rtl="0" eaLnBrk="0">
              <a:buChar char="►"/>
            </a:pPr>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虽然传统的SGI方法采用了全张量积积分</a:t>
            </a:r>
            <a:endParaRPr sz="1800" dirty="0"/>
          </a:p>
          <a:p>
            <a:pPr marL="266700" algn="l" rtl="0" eaLnBrk="0">
              <a:spcBef>
                <a:spcPts val="1350"/>
              </a:spcBef>
            </a:pPr>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方法，但随着维度和精度要求的提升，计</a:t>
            </a:r>
            <a:endParaRPr sz="1800" dirty="0"/>
          </a:p>
          <a:p>
            <a:pPr marL="247650" algn="l" rtl="0" eaLnBrk="0">
              <a:spcBef>
                <a:spcPts val="1350"/>
              </a:spcBef>
            </a:pPr>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算成本仍显著增加。</a:t>
            </a:r>
            <a:endParaRPr sz="1800" dirty="0"/>
          </a:p>
        </p:txBody>
      </p:sp>
      <p:graphicFrame>
        <p:nvGraphicFramePr>
          <p:cNvPr id="1688" name="table 1688"/>
          <p:cNvGraphicFramePr>
            <a:graphicFrameLocks noGrp="1"/>
          </p:cNvGraphicFramePr>
          <p:nvPr/>
        </p:nvGraphicFramePr>
        <p:xfrm>
          <a:off x="6105525" y="3143250"/>
          <a:ext cx="5419725" cy="2914650"/>
        </p:xfrm>
        <a:graphic>
          <a:graphicData uri="http://schemas.openxmlformats.org/drawingml/2006/table">
            <a:tbl>
              <a:tblPr/>
              <a:tblGrid>
                <a:gridCol w="857250"/>
                <a:gridCol w="438150"/>
                <a:gridCol w="542925"/>
                <a:gridCol w="542925"/>
                <a:gridCol w="914400"/>
                <a:gridCol w="542925"/>
                <a:gridCol w="552450"/>
                <a:gridCol w="476250"/>
                <a:gridCol w="552450"/>
              </a:tblGrid>
              <a:tr h="428625">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kern="0" spc="0" baseline="-30000" dirty="0">
                          <a:solidFill>
                            <a:srgbClr val="000000">
                              <a:alpha val="100000"/>
                            </a:srgbClr>
                          </a:solidFill>
                          <a:latin typeface="Times New Roman" panose="02020603050405020304"/>
                          <a:ea typeface="Times New Roman" panose="02020603050405020304"/>
                          <a:cs typeface="Times New Roman" panose="02020603050405020304"/>
                        </a:rPr>
                        <a:t>max</a:t>
                      </a:r>
                      <a:r>
                        <a:rPr sz="1000" kern="0" spc="0" dirty="0">
                          <a:solidFill>
                            <a:srgbClr val="000000">
                              <a:alpha val="100000"/>
                            </a:srgbClr>
                          </a:solidFill>
                          <a:latin typeface="Times New Roman" panose="02020603050405020304"/>
                          <a:ea typeface="Times New Roman" panose="02020603050405020304"/>
                          <a:cs typeface="Times New Roman" panose="02020603050405020304"/>
                        </a:rPr>
                        <a:t>(ξ=2)</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kern="0" spc="0" baseline="-30000" dirty="0">
                          <a:solidFill>
                            <a:srgbClr val="000000">
                              <a:alpha val="100000"/>
                            </a:srgbClr>
                          </a:solidFill>
                          <a:latin typeface="Times New Roman" panose="02020603050405020304"/>
                          <a:ea typeface="Times New Roman" panose="02020603050405020304"/>
                          <a:cs typeface="Times New Roman" panose="02020603050405020304"/>
                        </a:rPr>
                        <a:t>M0.1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i="1" kern="0" spc="0" baseline="-30000" dirty="0">
                          <a:solidFill>
                            <a:srgbClr val="000000">
                              <a:alpha val="100000"/>
                            </a:srgbClr>
                          </a:solidFill>
                          <a:latin typeface="Times New Roman" panose="02020603050405020304"/>
                          <a:ea typeface="Times New Roman" panose="02020603050405020304"/>
                          <a:cs typeface="Times New Roman" panose="02020603050405020304"/>
                        </a:rPr>
                        <a:t>M0.2</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kern="0" spc="0" baseline="-30000" dirty="0">
                          <a:solidFill>
                            <a:srgbClr val="000000">
                              <a:alpha val="100000"/>
                            </a:srgbClr>
                          </a:solidFill>
                          <a:latin typeface="Times New Roman" panose="02020603050405020304"/>
                          <a:ea typeface="Times New Roman" panose="02020603050405020304"/>
                          <a:cs typeface="Times New Roman" panose="02020603050405020304"/>
                        </a:rPr>
                        <a:t>M0.3</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i="1" kern="0" spc="0" baseline="-30000" dirty="0">
                          <a:solidFill>
                            <a:srgbClr val="000000">
                              <a:alpha val="100000"/>
                            </a:srgbClr>
                          </a:solidFill>
                          <a:latin typeface="Times New Roman" panose="02020603050405020304"/>
                          <a:ea typeface="Times New Roman" panose="02020603050405020304"/>
                          <a:cs typeface="Times New Roman" panose="02020603050405020304"/>
                        </a:rPr>
                        <a:t>max</a:t>
                      </a:r>
                      <a:r>
                        <a:rPr sz="1000" kern="0" spc="0" dirty="0">
                          <a:solidFill>
                            <a:srgbClr val="000000">
                              <a:alpha val="100000"/>
                            </a:srgbClr>
                          </a:solidFill>
                          <a:latin typeface="Times New Roman" panose="02020603050405020304"/>
                          <a:ea typeface="Times New Roman" panose="02020603050405020304"/>
                          <a:cs typeface="Times New Roman" panose="02020603050405020304"/>
                        </a:rPr>
                        <a:t>(</a:t>
                      </a:r>
                      <a:r>
                        <a:rPr sz="1000" i="1" kern="0" spc="0" dirty="0">
                          <a:solidFill>
                            <a:srgbClr val="0D0D0D">
                              <a:alpha val="100000"/>
                            </a:srgbClr>
                          </a:solidFill>
                          <a:latin typeface="Times New Roman" panose="02020603050405020304"/>
                          <a:ea typeface="Times New Roman" panose="02020603050405020304"/>
                          <a:cs typeface="Times New Roman" panose="02020603050405020304"/>
                        </a:rPr>
                        <a:t>ξ</a:t>
                      </a:r>
                      <a:r>
                        <a:rPr sz="1000" kern="0" spc="0" dirty="0">
                          <a:solidFill>
                            <a:srgbClr val="000000">
                              <a:alpha val="100000"/>
                            </a:srgbClr>
                          </a:solidFill>
                          <a:latin typeface="Times New Roman" panose="02020603050405020304"/>
                          <a:ea typeface="Times New Roman" panose="02020603050405020304"/>
                          <a:cs typeface="Times New Roman" panose="02020603050405020304"/>
                        </a:rPr>
                        <a:t>=3)</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kern="0" spc="0" baseline="-30000" dirty="0">
                          <a:solidFill>
                            <a:srgbClr val="000000">
                              <a:alpha val="100000"/>
                            </a:srgbClr>
                          </a:solidFill>
                          <a:latin typeface="Times New Roman" panose="02020603050405020304"/>
                          <a:ea typeface="Times New Roman" panose="02020603050405020304"/>
                          <a:cs typeface="Times New Roman" panose="02020603050405020304"/>
                        </a:rPr>
                        <a:t>M0.1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kern="0" spc="0" baseline="-30000" dirty="0">
                          <a:solidFill>
                            <a:srgbClr val="000000">
                              <a:alpha val="100000"/>
                            </a:srgbClr>
                          </a:solidFill>
                          <a:latin typeface="Times New Roman" panose="02020603050405020304"/>
                          <a:ea typeface="Times New Roman" panose="02020603050405020304"/>
                          <a:cs typeface="Times New Roman" panose="02020603050405020304"/>
                        </a:rPr>
                        <a:t>M0.2</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kern="0" spc="0" baseline="-30000" dirty="0">
                          <a:solidFill>
                            <a:srgbClr val="000000">
                              <a:alpha val="100000"/>
                            </a:srgbClr>
                          </a:solidFill>
                          <a:latin typeface="Times New Roman" panose="02020603050405020304"/>
                          <a:ea typeface="Times New Roman" panose="02020603050405020304"/>
                          <a:cs typeface="Times New Roman" panose="02020603050405020304"/>
                        </a:rPr>
                        <a:t>M0.3</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000" i="1" kern="0" spc="0" baseline="-30000" dirty="0">
                          <a:solidFill>
                            <a:srgbClr val="000000">
                              <a:alpha val="100000"/>
                            </a:srgbClr>
                          </a:solidFill>
                          <a:latin typeface="Times New Roman" panose="02020603050405020304"/>
                          <a:ea typeface="Times New Roman" panose="02020603050405020304"/>
                          <a:cs typeface="Times New Roman" panose="02020603050405020304"/>
                        </a:rPr>
                        <a:t>M0.3</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r>
              <a:tr h="409575">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5</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61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40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5</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241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41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120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80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r>
              <a:tr h="409575">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221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41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180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1581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81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540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960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r>
              <a:tr h="438150">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15</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481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61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420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15</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5021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121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1260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3640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r>
              <a:tr h="409575">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841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81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760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11561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161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2280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9120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r>
              <a:tr h="409575">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25</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1301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101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1200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25</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22201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201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3600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18400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r>
              <a:tr h="409575">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1861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121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1740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37941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241</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5220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32480</a:t>
                      </a:r>
                      <a:endParaRPr sz="1000" dirty="0"/>
                    </a:p>
                  </a:txBody>
                  <a:tcPr marL="0" marR="0" marT="0" marB="0" vert="horz" anchor="ctr">
                    <a:lnL w="19050" cap="flat" cmpd="sng" algn="ctr">
                      <a:solidFill>
                        <a:srgbClr val="A7A7A7"/>
                      </a:solidFill>
                      <a:prstDash val="solid"/>
                      <a:round/>
                      <a:headEnd type="none" w="med" len="med"/>
                      <a:tailEnd type="none" w="med" len="med"/>
                    </a:lnL>
                    <a:lnR w="19050" cap="flat" cmpd="sng" algn="ctr">
                      <a:solidFill>
                        <a:srgbClr val="A7A7A7"/>
                      </a:solidFill>
                      <a:prstDash val="solid"/>
                      <a:round/>
                      <a:headEnd type="none" w="med" len="med"/>
                      <a:tailEnd type="none" w="med" len="med"/>
                    </a:lnR>
                    <a:lnT w="19050" cap="flat" cmpd="sng" algn="ctr">
                      <a:solidFill>
                        <a:srgbClr val="A7A7A7"/>
                      </a:solidFill>
                      <a:prstDash val="solid"/>
                      <a:round/>
                      <a:headEnd type="none" w="med" len="med"/>
                      <a:tailEnd type="none" w="med" len="med"/>
                    </a:lnT>
                    <a:lnB w="19050" cap="flat" cmpd="sng" algn="ctr">
                      <a:solidFill>
                        <a:srgbClr val="A7A7A7"/>
                      </a:solidFill>
                      <a:prstDash val="solid"/>
                      <a:round/>
                      <a:headEnd type="none" w="med" len="med"/>
                      <a:tailEnd type="none" w="med" len="med"/>
                    </a:lnB>
                  </a:tcPr>
                </a:tc>
              </a:tr>
            </a:tbl>
          </a:graphicData>
        </a:graphic>
      </p:graphicFrame>
      <p:sp>
        <p:nvSpPr>
          <p:cNvPr id="1690" name="textbox 1690"/>
          <p:cNvSpPr/>
          <p:nvPr/>
        </p:nvSpPr>
        <p:spPr>
          <a:xfrm>
            <a:off x="228600" y="6210300"/>
            <a:ext cx="11706225" cy="428625"/>
          </a:xfrm>
          <a:prstGeom prst="rect">
            <a:avLst/>
          </a:prstGeom>
          <a:noFill/>
          <a:ln w="0" cap="flat">
            <a:noFill/>
            <a:prstDash val="solid"/>
            <a:miter lim="0"/>
          </a:ln>
        </p:spPr>
        <p:txBody>
          <a:bodyPr vert="horz" wrap="none" lIns="0" tIns="0" rIns="0" bIns="0"/>
          <a:lstStyle/>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Wang T, Li J*, Lu D G, et al. A point mapping strategy-based sparse grid integration method for statistical moments estimation and structural reliability analysis.</a:t>
            </a:r>
            <a:endParaRPr sz="1400" dirty="0"/>
          </a:p>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Computer Methods in Applied Mechanics and Engineering, 2024, 430: 117238.</a:t>
            </a:r>
            <a:endParaRPr sz="1400" dirty="0"/>
          </a:p>
        </p:txBody>
      </p:sp>
      <p:sp>
        <p:nvSpPr>
          <p:cNvPr id="1692" name="textbox 1692"/>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F2F2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 (Reliability And Resilience Engineering Research Group, RARE @HIT)</a:t>
            </a:r>
            <a:endParaRPr sz="1000" dirty="0"/>
          </a:p>
        </p:txBody>
      </p:sp>
      <p:sp>
        <p:nvSpPr>
          <p:cNvPr id="1694" name="textbox 1694"/>
          <p:cNvSpPr/>
          <p:nvPr/>
        </p:nvSpPr>
        <p:spPr>
          <a:xfrm>
            <a:off x="1177290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FFFFFF">
                    <a:alpha val="100000"/>
                  </a:srgbClr>
                </a:solidFill>
                <a:latin typeface="Arial" panose="020B0604020202020204"/>
                <a:ea typeface="Arial" panose="020B0604020202020204"/>
                <a:cs typeface="Arial" panose="020B0604020202020204"/>
              </a:rPr>
              <a:t>40</a:t>
            </a:r>
            <a:endParaRPr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8" name="picture 1698"/>
          <p:cNvPicPr>
            <a:picLocks noChangeAspect="1"/>
          </p:cNvPicPr>
          <p:nvPr/>
        </p:nvPicPr>
        <p:blipFill>
          <a:blip r:embed="rId1"/>
          <a:stretch>
            <a:fillRect/>
          </a:stretch>
        </p:blipFill>
        <p:spPr>
          <a:xfrm>
            <a:off x="0" y="0"/>
            <a:ext cx="12192000" cy="6858000"/>
          </a:xfrm>
          <a:prstGeom prst="rect">
            <a:avLst/>
          </a:prstGeom>
        </p:spPr>
      </p:pic>
      <p:sp>
        <p:nvSpPr>
          <p:cNvPr id="1700" name="textbox 1700"/>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67297">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702" name="textbox 170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704" name="textbox 170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708" name="picture 1708"/>
          <p:cNvPicPr>
            <a:picLocks noChangeAspect="1"/>
          </p:cNvPicPr>
          <p:nvPr/>
        </p:nvPicPr>
        <p:blipFill>
          <a:blip r:embed="rId2"/>
          <a:stretch>
            <a:fillRect/>
          </a:stretch>
        </p:blipFill>
        <p:spPr>
          <a:xfrm>
            <a:off x="295275" y="247650"/>
            <a:ext cx="733425" cy="666750"/>
          </a:xfrm>
          <a:prstGeom prst="rect">
            <a:avLst/>
          </a:prstGeom>
        </p:spPr>
      </p:pic>
      <p:sp>
        <p:nvSpPr>
          <p:cNvPr id="1710" name="textbox 1710"/>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712" name="textbox 1712"/>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714" name="textbox 1714"/>
          <p:cNvSpPr/>
          <p:nvPr/>
        </p:nvSpPr>
        <p:spPr>
          <a:xfrm>
            <a:off x="1447800" y="1114425"/>
            <a:ext cx="195262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稀疏网格积分法</a:t>
            </a:r>
            <a:endParaRPr sz="2000" dirty="0"/>
          </a:p>
        </p:txBody>
      </p:sp>
      <p:sp>
        <p:nvSpPr>
          <p:cNvPr id="1716" name="textbox 1716"/>
          <p:cNvSpPr/>
          <p:nvPr/>
        </p:nvSpPr>
        <p:spPr>
          <a:xfrm>
            <a:off x="914400" y="1190625"/>
            <a:ext cx="152400" cy="18097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Times New Roman" panose="02020603050405020304"/>
                <a:ea typeface="Times New Roman" panose="02020603050405020304"/>
                <a:cs typeface="Times New Roman" panose="02020603050405020304"/>
              </a:rPr>
              <a:t>3</a:t>
            </a:r>
            <a:endParaRPr sz="1400" dirty="0"/>
          </a:p>
        </p:txBody>
      </p:sp>
      <p:sp>
        <p:nvSpPr>
          <p:cNvPr id="1718" name="textbox 1718"/>
          <p:cNvSpPr/>
          <p:nvPr/>
        </p:nvSpPr>
        <p:spPr>
          <a:xfrm>
            <a:off x="1457325" y="1466850"/>
            <a:ext cx="1981200"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Sparse Grid integration (SGI) Method</a:t>
            </a:r>
            <a:endParaRPr sz="1000" dirty="0"/>
          </a:p>
        </p:txBody>
      </p:sp>
      <p:sp>
        <p:nvSpPr>
          <p:cNvPr id="1720" name="textbox 1720"/>
          <p:cNvSpPr/>
          <p:nvPr/>
        </p:nvSpPr>
        <p:spPr>
          <a:xfrm>
            <a:off x="876300" y="1752600"/>
            <a:ext cx="10706100" cy="609600"/>
          </a:xfrm>
          <a:prstGeom prst="rect">
            <a:avLst/>
          </a:prstGeom>
          <a:noFill/>
          <a:ln w="0" cap="flat">
            <a:noFill/>
            <a:prstDash val="solid"/>
            <a:miter lim="0"/>
          </a:ln>
        </p:spPr>
        <p:txBody>
          <a:bodyPr vert="horz" wrap="none" lIns="0" tIns="0" rIns="0" bIns="0"/>
          <a:lstStyle/>
          <a:p>
            <a:pPr algn="l" rtl="0" eaLnBrk="0"/>
            <a:r>
              <a:rPr sz="1800" b="1" kern="0" spc="0" dirty="0">
                <a:solidFill>
                  <a:srgbClr val="7F7F7F">
                    <a:alpha val="100000"/>
                  </a:srgbClr>
                </a:solidFill>
                <a:latin typeface="微软雅黑" panose="020B0503020204020204" charset="-122"/>
                <a:ea typeface="微软雅黑" panose="020B0503020204020204" charset="-122"/>
                <a:cs typeface="微软雅黑" panose="020B0503020204020204" charset="-122"/>
              </a:rPr>
              <a:t>◦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为解决上述局限性，提出了点映射策略</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(PMS)</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。该方案通过将稀疏网格点集划分为互斥子集，并剔除非</a:t>
            </a:r>
            <a:endParaRPr sz="1800" dirty="0">
              <a:solidFill>
                <a:srgbClr val="0070BC"/>
              </a:solidFill>
            </a:endParaRPr>
          </a:p>
          <a:p>
            <a:pPr marL="390525" algn="l" rtl="0" eaLnBrk="0">
              <a:spcBef>
                <a:spcPts val="675"/>
              </a:spcBef>
            </a:pP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关键点，从而优化计算效率。</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724" name="picture 1724"/>
          <p:cNvPicPr>
            <a:picLocks noChangeAspect="1"/>
          </p:cNvPicPr>
          <p:nvPr/>
        </p:nvPicPr>
        <p:blipFill>
          <a:blip r:embed="rId3"/>
          <a:stretch>
            <a:fillRect/>
          </a:stretch>
        </p:blipFill>
        <p:spPr>
          <a:xfrm>
            <a:off x="295275" y="2657475"/>
            <a:ext cx="5876925" cy="3552825"/>
          </a:xfrm>
          <a:prstGeom prst="rect">
            <a:avLst/>
          </a:prstGeom>
        </p:spPr>
      </p:pic>
      <p:sp>
        <p:nvSpPr>
          <p:cNvPr id="1726" name="textbox 1726"/>
          <p:cNvSpPr/>
          <p:nvPr/>
        </p:nvSpPr>
        <p:spPr>
          <a:xfrm>
            <a:off x="1428750" y="2657475"/>
            <a:ext cx="1857375" cy="209550"/>
          </a:xfrm>
          <a:prstGeom prst="rect">
            <a:avLst/>
          </a:prstGeom>
          <a:noFill/>
          <a:ln w="0" cap="flat">
            <a:noFill/>
            <a:prstDash val="solid"/>
            <a:miter lim="0"/>
          </a:ln>
        </p:spPr>
        <p:txBody>
          <a:bodyPr vert="horz" wrap="none" lIns="0" tIns="0" rIns="0" bIns="0"/>
          <a:lstStyle/>
          <a:p>
            <a:pPr algn="l" rtl="0" eaLnBrk="0"/>
            <a:r>
              <a:rPr sz="1200" kern="0" spc="0" dirty="0">
                <a:solidFill>
                  <a:srgbClr val="C00000">
                    <a:alpha val="100000"/>
                  </a:srgbClr>
                </a:solidFill>
                <a:latin typeface="Times New Roman" panose="02020603050405020304"/>
                <a:ea typeface="Times New Roman" panose="02020603050405020304"/>
                <a:cs typeface="Times New Roman" panose="02020603050405020304"/>
              </a:rPr>
              <a:t>② </a:t>
            </a:r>
            <a:r>
              <a:rPr sz="1200" kern="0" spc="0" dirty="0">
                <a:solidFill>
                  <a:srgbClr val="000000">
                    <a:alpha val="100000"/>
                  </a:srgbClr>
                </a:solidFill>
                <a:latin typeface="Times New Roman" panose="02020603050405020304"/>
                <a:ea typeface="Times New Roman" panose="02020603050405020304"/>
                <a:cs typeface="Times New Roman" panose="02020603050405020304"/>
              </a:rPr>
              <a:t>Necessary reference points</a:t>
            </a:r>
            <a:endParaRPr sz="1200" dirty="0"/>
          </a:p>
        </p:txBody>
      </p:sp>
      <p:sp>
        <p:nvSpPr>
          <p:cNvPr id="1728" name="textbox 1728"/>
          <p:cNvSpPr/>
          <p:nvPr/>
        </p:nvSpPr>
        <p:spPr>
          <a:xfrm>
            <a:off x="3714750" y="2657475"/>
            <a:ext cx="1209675" cy="209550"/>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 Mapping points</a:t>
            </a:r>
            <a:endParaRPr sz="1200" dirty="0"/>
          </a:p>
        </p:txBody>
      </p:sp>
      <p:sp>
        <p:nvSpPr>
          <p:cNvPr id="1730" name="textbox 1730"/>
          <p:cNvSpPr/>
          <p:nvPr/>
        </p:nvSpPr>
        <p:spPr>
          <a:xfrm>
            <a:off x="3733800" y="4229100"/>
            <a:ext cx="2266950" cy="228600"/>
          </a:xfrm>
          <a:prstGeom prst="rect">
            <a:avLst/>
          </a:prstGeom>
          <a:noFill/>
          <a:ln w="0" cap="flat">
            <a:noFill/>
            <a:prstDash val="solid"/>
            <a:miter lim="0"/>
          </a:ln>
        </p:spPr>
        <p:txBody>
          <a:bodyPr vert="horz" wrap="none" lIns="0" tIns="0" rIns="0" bIns="0"/>
          <a:lstStyle/>
          <a:p>
            <a:pPr marL="219075" indent="-190500" algn="l" rtl="0" eaLnBrk="0">
              <a:buAutoNum type="alphaLcParenBoth" startAt="2"/>
            </a:pPr>
            <a:r>
              <a:rPr sz="1100" kern="0" spc="0" dirty="0">
                <a:solidFill>
                  <a:srgbClr val="000000">
                    <a:alpha val="100000"/>
                  </a:srgbClr>
                </a:solidFill>
                <a:latin typeface="Times New Roman" panose="02020603050405020304"/>
                <a:ea typeface="Times New Roman" panose="02020603050405020304"/>
                <a:cs typeface="Times New Roman" panose="02020603050405020304"/>
              </a:rPr>
              <a:t>PMS-based SGI: Weak interaction</a:t>
            </a:r>
            <a:endParaRPr sz="1100" dirty="0"/>
          </a:p>
        </p:txBody>
      </p:sp>
      <p:sp>
        <p:nvSpPr>
          <p:cNvPr id="1732" name="textbox 1732"/>
          <p:cNvSpPr/>
          <p:nvPr/>
        </p:nvSpPr>
        <p:spPr>
          <a:xfrm>
            <a:off x="1352550" y="4248150"/>
            <a:ext cx="1028700" cy="200025"/>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Traditional SGI</a:t>
            </a:r>
            <a:endParaRPr sz="1200" dirty="0"/>
          </a:p>
        </p:txBody>
      </p:sp>
      <p:sp>
        <p:nvSpPr>
          <p:cNvPr id="1734" name="textbox 1734"/>
          <p:cNvSpPr/>
          <p:nvPr/>
        </p:nvSpPr>
        <p:spPr>
          <a:xfrm>
            <a:off x="885825" y="6010275"/>
            <a:ext cx="2143125" cy="200025"/>
          </a:xfrm>
          <a:prstGeom prst="rect">
            <a:avLst/>
          </a:prstGeom>
          <a:noFill/>
          <a:ln w="0" cap="flat">
            <a:noFill/>
            <a:prstDash val="solid"/>
            <a:miter lim="0"/>
          </a:ln>
        </p:spPr>
        <p:txBody>
          <a:bodyPr vert="horz" wrap="none" lIns="0" tIns="0" rIns="0" bIns="0"/>
          <a:lstStyle/>
          <a:p>
            <a:pPr marL="266700" indent="-238125" algn="l" rtl="0" eaLnBrk="0">
              <a:buAutoNum type="alphaLcParenBoth"/>
            </a:pPr>
            <a:r>
              <a:rPr sz="1100" kern="0" spc="0" dirty="0">
                <a:solidFill>
                  <a:srgbClr val="000000">
                    <a:alpha val="100000"/>
                  </a:srgbClr>
                </a:solidFill>
                <a:latin typeface="Times New Roman" panose="02020603050405020304"/>
                <a:ea typeface="Times New Roman" panose="02020603050405020304"/>
                <a:cs typeface="Times New Roman" panose="02020603050405020304"/>
              </a:rPr>
              <a:t>PMS-based SGI: No interaction</a:t>
            </a:r>
            <a:endParaRPr sz="1100" dirty="0"/>
          </a:p>
        </p:txBody>
      </p:sp>
      <p:sp>
        <p:nvSpPr>
          <p:cNvPr id="1736" name="textbox 1736"/>
          <p:cNvSpPr/>
          <p:nvPr/>
        </p:nvSpPr>
        <p:spPr>
          <a:xfrm>
            <a:off x="3676650" y="6010275"/>
            <a:ext cx="2352675" cy="200025"/>
          </a:xfrm>
          <a:prstGeom prst="rect">
            <a:avLst/>
          </a:prstGeom>
          <a:noFill/>
          <a:ln w="0" cap="flat">
            <a:noFill/>
            <a:prstDash val="solid"/>
            <a:miter lim="0"/>
          </a:ln>
        </p:spPr>
        <p:txBody>
          <a:bodyPr vert="horz" wrap="none" lIns="0" tIns="0" rIns="0" bIns="0"/>
          <a:lstStyle/>
          <a:p>
            <a:pPr marL="266700" indent="-238125" algn="l" rtl="0" eaLnBrk="0">
              <a:buAutoNum type="alphaLcParenBoth" startAt="3"/>
            </a:pPr>
            <a:r>
              <a:rPr sz="1100" kern="0" spc="0" dirty="0">
                <a:solidFill>
                  <a:srgbClr val="000000">
                    <a:alpha val="100000"/>
                  </a:srgbClr>
                </a:solidFill>
                <a:latin typeface="Times New Roman" panose="02020603050405020304"/>
                <a:ea typeface="Times New Roman" panose="02020603050405020304"/>
                <a:cs typeface="Times New Roman" panose="02020603050405020304"/>
              </a:rPr>
              <a:t>PMS-based SGI: Strong interaction</a:t>
            </a:r>
            <a:endParaRPr sz="1100" dirty="0"/>
          </a:p>
        </p:txBody>
      </p:sp>
      <p:sp>
        <p:nvSpPr>
          <p:cNvPr id="1738" name="textbox 1738"/>
          <p:cNvSpPr/>
          <p:nvPr/>
        </p:nvSpPr>
        <p:spPr>
          <a:xfrm>
            <a:off x="1847850" y="6334125"/>
            <a:ext cx="2809875" cy="21907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 SGI 与 PMS 的 SGI 方法对比</a:t>
            </a:r>
            <a:endParaRPr sz="1400" dirty="0"/>
          </a:p>
        </p:txBody>
      </p:sp>
      <p:sp>
        <p:nvSpPr>
          <p:cNvPr id="1740" name="textbox 1740"/>
          <p:cNvSpPr/>
          <p:nvPr/>
        </p:nvSpPr>
        <p:spPr>
          <a:xfrm>
            <a:off x="6886575" y="2457450"/>
            <a:ext cx="1438275" cy="285750"/>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稀疏网格点集</a:t>
            </a:r>
            <a:endParaRPr sz="1800" dirty="0"/>
          </a:p>
        </p:txBody>
      </p:sp>
      <mc:AlternateContent xmlns:mc="http://schemas.openxmlformats.org/markup-compatibility/2006">
        <mc:Choice xmlns:a14="http://schemas.microsoft.com/office/drawing/2010/main" Requires="a14">
          <p:sp>
            <p:nvSpPr>
              <p:cNvPr id="1742" name="textbox 1742"/>
              <p:cNvSpPr/>
              <p:nvPr/>
            </p:nvSpPr>
            <p:spPr>
              <a:xfrm>
                <a:off x="6124575" y="2800350"/>
                <a:ext cx="5324475" cy="3810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a:rPr lang="en-US" sz="1800" dirty="0">
                          <a:latin typeface="Cambria Math" panose="02040503050406030204"/>
                          <a:ea typeface="Cambria Math" panose="02040503050406030204"/>
                        </a:rPr>
                        <m:t>𝐚</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𝜉</m:t>
                      </m:r>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d</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m</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r>
                        <m:rPr>
                          <m:sty m:val="p"/>
                        </m:rPr>
                        <a:rPr lang="en-US" sz="1800" dirty="0">
                          <a:latin typeface="Cambria Math" panose="02040503050406030204"/>
                          <a:ea typeface="Cambria Math" panose="02040503050406030204"/>
                        </a:rPr>
                        <m:t>le</m:t>
                      </m:r>
                      <m:sSub>
                        <m:sSubPr>
                          <m:ctrlPr>
                            <a:rPr/>
                          </m:ctrlPr>
                        </m:sSubPr>
                        <m:e>
                          <m:r>
                            <m:rPr>
                              <m:sty m:val="p"/>
                            </m:rPr>
                            <a:rPr lang="en-US" sz="1800" dirty="0">
                              <a:latin typeface="Cambria Math" panose="02040503050406030204"/>
                              <a:ea typeface="Cambria Math" panose="02040503050406030204"/>
                            </a:rPr>
                            <m:t>a</m:t>
                          </m:r>
                        </m:e>
                        <m:sub>
                          <m:r>
                            <m:rPr>
                              <m:sty m:val="p"/>
                            </m:rPr>
                            <a:rPr lang="en-US" sz="1800" dirty="0">
                              <a:latin typeface="Cambria Math" panose="02040503050406030204"/>
                              <a:ea typeface="Cambria Math" panose="02040503050406030204"/>
                            </a:rPr>
                            <m:t>i</m:t>
                          </m:r>
                        </m:sub>
                      </m:sSub>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N</m:t>
                          </m:r>
                        </m:e>
                        <m:sup>
                          <m:r>
                            <a:rPr lang="en-US" sz="1800" dirty="0">
                              <a:latin typeface="Cambria Math" panose="02040503050406030204"/>
                              <a:ea typeface="Cambria Math" panose="02040503050406030204"/>
                            </a:rPr>
                            <m:t>+</m:t>
                          </m:r>
                        </m:sup>
                      </m:sSup>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i</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dots</m:t>
                      </m:r>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d</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m</m:t>
                          </m:r>
                        </m:sub>
                      </m:sSub>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𝜉</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r>
                        <a:rPr lang="en-US" sz="1800" dirty="0">
                          <a:latin typeface="Cambria Math" panose="02040503050406030204"/>
                          <a:ea typeface="Cambria Math" panose="02040503050406030204"/>
                        </a:rPr>
                        <m:t>&lt;</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a</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le</m:t>
                      </m:r>
                      <m:r>
                        <a:rPr lang="en-US" sz="1800" dirty="0">
                          <a:latin typeface="Cambria Math" panose="02040503050406030204"/>
                          <a:ea typeface="Cambria Math" panose="02040503050406030204"/>
                        </a:rPr>
                        <m:t>𝜉</m:t>
                      </m:r>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N</m:t>
                          </m:r>
                        </m:e>
                        <m:sub>
                          <m:r>
                            <m:rPr>
                              <m:sty m:val="p"/>
                            </m:rPr>
                            <a:rPr lang="en-US" sz="1800" dirty="0">
                              <a:latin typeface="Cambria Math" panose="02040503050406030204"/>
                              <a:ea typeface="Cambria Math" panose="02040503050406030204"/>
                            </a:rPr>
                            <m:t>d</m:t>
                          </m:r>
                          <m:r>
                            <m:rPr>
                              <m:sty m:val="p"/>
                            </m:rPr>
                            <a:rPr lang="en-US" sz="1800" dirty="0">
                              <a:latin typeface="Cambria Math" panose="02040503050406030204"/>
                              <a:ea typeface="Cambria Math" panose="02040503050406030204"/>
                            </a:rPr>
                            <m:t>i</m:t>
                          </m:r>
                          <m:r>
                            <m:rPr>
                              <m:sty m:val="p"/>
                            </m:rPr>
                            <a:rPr lang="en-US" sz="1800" dirty="0">
                              <a:latin typeface="Cambria Math" panose="02040503050406030204"/>
                              <a:ea typeface="Cambria Math" panose="02040503050406030204"/>
                            </a:rPr>
                            <m:t>m</m:t>
                          </m:r>
                        </m:sub>
                      </m:sSub>
                      <m:r>
                        <a:rPr lang="en-US" sz="1800" dirty="0">
                          <a:latin typeface="Cambria Math" panose="02040503050406030204"/>
                          <a:ea typeface="Cambria Math" panose="02040503050406030204"/>
                        </a:rPr>
                        <m:t>}</m:t>
                      </m:r>
                    </m:oMath>
                  </m:oMathPara>
                </a14:m>
                <a:endParaRPr sz="600" dirty="0"/>
              </a:p>
            </p:txBody>
          </p:sp>
        </mc:Choice>
        <mc:Fallback>
          <p:sp>
            <p:nvSpPr>
              <p:cNvPr id="1742" name="textbox 1742"/>
              <p:cNvSpPr>
                <a:spLocks noRot="1" noChangeAspect="1" noMove="1" noResize="1" noEditPoints="1" noAdjustHandles="1" noChangeArrowheads="1" noChangeShapeType="1" noTextEdit="1"/>
              </p:cNvSpPr>
              <p:nvPr/>
            </p:nvSpPr>
            <p:spPr>
              <a:xfrm>
                <a:off x="6124575" y="2800350"/>
                <a:ext cx="5324475" cy="381000"/>
              </a:xfrm>
              <a:prstGeom prst="rect">
                <a:avLst/>
              </a:prstGeom>
              <a:blipFill rotWithShape="1">
                <a:blip r:embed="rId4"/>
                <a:stretch>
                  <a:fillRect r="-28670"/>
                </a:stretch>
              </a:blipFill>
              <a:ln w="0" cap="flat">
                <a:noFill/>
                <a:prstDash val="solid"/>
                <a:miter lim="0"/>
              </a:ln>
            </p:spPr>
            <p:txBody>
              <a:bodyPr/>
              <a:lstStyle/>
              <a:p>
                <a:r>
                  <a:rPr lang="zh-CN" altLang="en-US">
                    <a:noFill/>
                  </a:rPr>
                  <a:t> </a:t>
                </a:r>
              </a:p>
            </p:txBody>
          </p:sp>
        </mc:Fallback>
      </mc:AlternateContent>
      <p:pic>
        <p:nvPicPr>
          <p:cNvPr id="1750" name="picture 1750"/>
          <p:cNvPicPr>
            <a:picLocks noChangeAspect="1"/>
          </p:cNvPicPr>
          <p:nvPr/>
        </p:nvPicPr>
        <p:blipFill>
          <a:blip r:embed="rId5"/>
          <a:stretch>
            <a:fillRect/>
          </a:stretch>
        </p:blipFill>
        <p:spPr>
          <a:xfrm>
            <a:off x="6781800" y="5181600"/>
            <a:ext cx="361950" cy="619125"/>
          </a:xfrm>
          <a:prstGeom prst="rect">
            <a:avLst/>
          </a:prstGeom>
        </p:spPr>
      </p:pic>
      <p:sp>
        <p:nvSpPr>
          <p:cNvPr id="1752" name="textbox 1752"/>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754" name="textbox 1754"/>
          <p:cNvSpPr/>
          <p:nvPr/>
        </p:nvSpPr>
        <p:spPr>
          <a:xfrm>
            <a:off x="11772900" y="6743700"/>
            <a:ext cx="123825" cy="95250"/>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41</a:t>
            </a:r>
            <a:endParaRPr sz="1000" dirty="0"/>
          </a:p>
        </p:txBody>
      </p:sp>
      <p:pic>
        <p:nvPicPr>
          <p:cNvPr id="10" name="picture 10"/>
          <p:cNvPicPr>
            <a:picLocks noChangeAspect="1"/>
          </p:cNvPicPr>
          <p:nvPr/>
        </p:nvPicPr>
        <p:blipFill>
          <a:blip r:embed="rId6"/>
          <a:stretch>
            <a:fillRect/>
          </a:stretch>
        </p:blipFill>
        <p:spPr>
          <a:xfrm rot="21600000">
            <a:off x="6115019" y="3429017"/>
            <a:ext cx="5816682" cy="1689110"/>
          </a:xfrm>
          <a:prstGeom prst="rect">
            <a:avLst/>
          </a:prstGeom>
        </p:spPr>
      </p:pic>
      <p:pic>
        <p:nvPicPr>
          <p:cNvPr id="18" name="picture 18"/>
          <p:cNvPicPr>
            <a:picLocks noChangeAspect="1"/>
          </p:cNvPicPr>
          <p:nvPr/>
        </p:nvPicPr>
        <p:blipFill>
          <a:blip r:embed="rId7"/>
          <a:stretch>
            <a:fillRect/>
          </a:stretch>
        </p:blipFill>
        <p:spPr>
          <a:xfrm rot="21600000">
            <a:off x="6159520" y="5829274"/>
            <a:ext cx="5930920" cy="61600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8" name="picture 1758"/>
          <p:cNvPicPr>
            <a:picLocks noChangeAspect="1"/>
          </p:cNvPicPr>
          <p:nvPr/>
        </p:nvPicPr>
        <p:blipFill>
          <a:blip r:embed="rId1"/>
          <a:stretch>
            <a:fillRect/>
          </a:stretch>
        </p:blipFill>
        <p:spPr>
          <a:xfrm>
            <a:off x="0" y="0"/>
            <a:ext cx="12192000" cy="6858000"/>
          </a:xfrm>
          <a:prstGeom prst="rect">
            <a:avLst/>
          </a:prstGeom>
        </p:spPr>
      </p:pic>
      <p:sp>
        <p:nvSpPr>
          <p:cNvPr id="1760" name="textbox 1760"/>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1762" name="textbox 176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764" name="textbox 176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768" name="picture 1768"/>
          <p:cNvPicPr>
            <a:picLocks noChangeAspect="1"/>
          </p:cNvPicPr>
          <p:nvPr/>
        </p:nvPicPr>
        <p:blipFill>
          <a:blip r:embed="rId2"/>
          <a:stretch>
            <a:fillRect/>
          </a:stretch>
        </p:blipFill>
        <p:spPr>
          <a:xfrm>
            <a:off x="295275" y="247650"/>
            <a:ext cx="733425" cy="666750"/>
          </a:xfrm>
          <a:prstGeom prst="rect">
            <a:avLst/>
          </a:prstGeom>
        </p:spPr>
      </p:pic>
      <p:sp>
        <p:nvSpPr>
          <p:cNvPr id="1770" name="textbox 1770"/>
          <p:cNvSpPr/>
          <p:nvPr/>
        </p:nvSpPr>
        <p:spPr>
          <a:xfrm>
            <a:off x="1447800" y="333375"/>
            <a:ext cx="41338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统计矩估计的降维积分法</a:t>
            </a:r>
            <a:endParaRPr sz="2800" dirty="0"/>
          </a:p>
        </p:txBody>
      </p:sp>
      <p:sp>
        <p:nvSpPr>
          <p:cNvPr id="1772" name="textbox 1772"/>
          <p:cNvSpPr/>
          <p:nvPr/>
        </p:nvSpPr>
        <p:spPr>
          <a:xfrm>
            <a:off x="1447800" y="752475"/>
            <a:ext cx="52578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Dimension-Reduction Integration for Statistical Moment Estimation</a:t>
            </a:r>
            <a:endParaRPr sz="1400" dirty="0"/>
          </a:p>
        </p:txBody>
      </p:sp>
      <p:sp>
        <p:nvSpPr>
          <p:cNvPr id="1774" name="textbox 1774"/>
          <p:cNvSpPr/>
          <p:nvPr/>
        </p:nvSpPr>
        <p:spPr>
          <a:xfrm>
            <a:off x="1447800" y="1104900"/>
            <a:ext cx="19526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稀疏网格积分法</a:t>
            </a:r>
            <a:endParaRPr sz="2000" dirty="0"/>
          </a:p>
        </p:txBody>
      </p:sp>
      <p:sp>
        <p:nvSpPr>
          <p:cNvPr id="1776" name="textbox 1776"/>
          <p:cNvSpPr/>
          <p:nvPr/>
        </p:nvSpPr>
        <p:spPr>
          <a:xfrm>
            <a:off x="876300" y="1171575"/>
            <a:ext cx="209550" cy="238125"/>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3</a:t>
            </a:r>
            <a:endParaRPr sz="2000" dirty="0"/>
          </a:p>
        </p:txBody>
      </p:sp>
      <p:sp>
        <p:nvSpPr>
          <p:cNvPr id="1778" name="textbox 1778"/>
          <p:cNvSpPr/>
          <p:nvPr/>
        </p:nvSpPr>
        <p:spPr>
          <a:xfrm>
            <a:off x="1457325" y="1466850"/>
            <a:ext cx="1981200" cy="152400"/>
          </a:xfrm>
          <a:prstGeom prst="rect">
            <a:avLst/>
          </a:prstGeom>
          <a:noFill/>
          <a:ln w="0" cap="flat">
            <a:noFill/>
            <a:prstDash val="solid"/>
            <a:miter lim="0"/>
          </a:ln>
        </p:spPr>
        <p:txBody>
          <a:bodyPr vert="horz" wrap="none" lIns="0" tIns="0" rIns="0" bIns="0"/>
          <a:lstStyle/>
          <a:p>
            <a:pPr algn="l" rtl="0" eaLnBrk="0"/>
            <a:r>
              <a:rPr sz="1000" kern="0" spc="0" dirty="0">
                <a:solidFill>
                  <a:srgbClr val="0F6FC6">
                    <a:alpha val="100000"/>
                  </a:srgbClr>
                </a:solidFill>
                <a:latin typeface="Times New Roman" panose="02020603050405020304"/>
                <a:ea typeface="Times New Roman" panose="02020603050405020304"/>
                <a:cs typeface="Times New Roman" panose="02020603050405020304"/>
              </a:rPr>
              <a:t>Sparse Grid integration (SGI) Method</a:t>
            </a:r>
            <a:endParaRPr sz="1000" dirty="0"/>
          </a:p>
        </p:txBody>
      </p:sp>
      <mc:AlternateContent xmlns:mc="http://schemas.openxmlformats.org/markup-compatibility/2006">
        <mc:Choice xmlns:a14="http://schemas.microsoft.com/office/drawing/2010/main" Requires="a14">
          <p:sp>
            <p:nvSpPr>
              <p:cNvPr id="1780" name="textbox 1780"/>
              <p:cNvSpPr/>
              <p:nvPr/>
            </p:nvSpPr>
            <p:spPr>
              <a:xfrm>
                <a:off x="876300" y="1762125"/>
                <a:ext cx="10744200" cy="24765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基于</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PMS-SGI</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方法，</a:t>
                </a:r>
                <a14:m>
                  <m:oMath xmlns:m="http://schemas.openxmlformats.org/officeDocument/2006/math">
                    <m:sSub>
                      <m:sSubPr>
                        <m:ctrlPr>
                          <a:rPr>
                            <a:solidFill>
                              <a:srgbClr val="0070BC"/>
                            </a:solidFill>
                          </a:rPr>
                        </m:ctrlPr>
                      </m:sSubPr>
                      <m:e>
                        <m:r>
                          <m:rPr>
                            <m:sty m:val="p"/>
                          </m:rPr>
                          <a:rPr lang="en-US" sz="1800" dirty="0">
                            <a:solidFill>
                              <a:srgbClr val="0070BC"/>
                            </a:solidFill>
                            <a:latin typeface="Cambria Math" panose="02040503050406030204"/>
                            <a:ea typeface="Cambria Math" panose="02040503050406030204"/>
                          </a:rPr>
                          <m:t>M</m:t>
                        </m:r>
                      </m:e>
                      <m:sub>
                        <m:r>
                          <m:rPr>
                            <m:sty m:val="p"/>
                          </m:rPr>
                          <a:rPr lang="en-US" sz="1800" dirty="0">
                            <a:solidFill>
                              <a:srgbClr val="0070BC"/>
                            </a:solidFill>
                            <a:latin typeface="Cambria Math" panose="02040503050406030204"/>
                            <a:ea typeface="Cambria Math" panose="02040503050406030204"/>
                          </a:rPr>
                          <m:t>G</m:t>
                        </m:r>
                        <m:r>
                          <a:rPr lang="en-US" sz="1800" dirty="0">
                            <a:solidFill>
                              <a:srgbClr val="0070BC"/>
                            </a:solidFill>
                            <a:latin typeface="Cambria Math" panose="02040503050406030204"/>
                            <a:ea typeface="Cambria Math" panose="02040503050406030204"/>
                          </a:rPr>
                          <m:t>,</m:t>
                        </m:r>
                        <m:r>
                          <m:rPr>
                            <m:sty m:val="p"/>
                          </m:rPr>
                          <a:rPr lang="en-US" sz="1800" dirty="0">
                            <a:solidFill>
                              <a:srgbClr val="0070BC"/>
                            </a:solidFill>
                            <a:latin typeface="Cambria Math" panose="02040503050406030204"/>
                            <a:ea typeface="Cambria Math" panose="02040503050406030204"/>
                          </a:rPr>
                          <m:t>a</m:t>
                        </m:r>
                      </m:sub>
                    </m:sSub>
                  </m:oMath>
                </a14:m>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可表示为稀疏网格点集上多个积分的总和，这些网格点集具有不同的有效维度。</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Choice>
        <mc:Fallback>
          <p:sp>
            <p:nvSpPr>
              <p:cNvPr id="1780" name="textbox 1780"/>
              <p:cNvSpPr>
                <a:spLocks noRot="1" noChangeAspect="1" noMove="1" noResize="1" noEditPoints="1" noAdjustHandles="1" noChangeArrowheads="1" noChangeShapeType="1" noTextEdit="1"/>
              </p:cNvSpPr>
              <p:nvPr/>
            </p:nvSpPr>
            <p:spPr>
              <a:xfrm>
                <a:off x="876300" y="1762125"/>
                <a:ext cx="10744200" cy="247650"/>
              </a:xfrm>
              <a:prstGeom prst="rect">
                <a:avLst/>
              </a:prstGeom>
              <a:blipFill rotWithShape="1">
                <a:blip r:embed="rId3"/>
                <a:stretch>
                  <a:fillRect b="-33333"/>
                </a:stretch>
              </a:blipFill>
              <a:ln w="0" cap="flat">
                <a:noFill/>
                <a:prstDash val="solid"/>
                <a:miter lim="0"/>
              </a:ln>
            </p:spPr>
            <p:txBody>
              <a:bodyPr/>
              <a:lstStyle/>
              <a:p>
                <a:r>
                  <a:rPr lang="zh-CN" altLang="en-US">
                    <a:noFill/>
                  </a:rPr>
                  <a:t> </a:t>
                </a:r>
              </a:p>
            </p:txBody>
          </p:sp>
        </mc:Fallback>
      </mc:AlternateContent>
      <p:pic>
        <p:nvPicPr>
          <p:cNvPr id="1786" name="picture 1786"/>
          <p:cNvPicPr>
            <a:picLocks noChangeAspect="1"/>
          </p:cNvPicPr>
          <p:nvPr/>
        </p:nvPicPr>
        <p:blipFill>
          <a:blip r:embed="rId4"/>
          <a:stretch>
            <a:fillRect/>
          </a:stretch>
        </p:blipFill>
        <p:spPr>
          <a:xfrm>
            <a:off x="438150" y="3124200"/>
            <a:ext cx="11391900" cy="3019425"/>
          </a:xfrm>
          <a:prstGeom prst="rect">
            <a:avLst/>
          </a:prstGeom>
        </p:spPr>
      </p:pic>
      <p:sp>
        <p:nvSpPr>
          <p:cNvPr id="1804" name="textbox 1804"/>
          <p:cNvSpPr/>
          <p:nvPr/>
        </p:nvSpPr>
        <p:spPr>
          <a:xfrm>
            <a:off x="228600" y="6210300"/>
            <a:ext cx="11696700" cy="419100"/>
          </a:xfrm>
          <a:prstGeom prst="rect">
            <a:avLst/>
          </a:prstGeom>
          <a:noFill/>
          <a:ln w="0" cap="flat">
            <a:noFill/>
            <a:prstDash val="solid"/>
            <a:miter lim="0"/>
          </a:ln>
        </p:spPr>
        <p:txBody>
          <a:bodyPr vert="horz" wrap="none" lIns="0" tIns="0" rIns="0" bIns="0"/>
          <a:lstStyle/>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Wang T, Li J*, Lu D G, et al. A point mapping strategy-based sparse grid integration method for statistical moments estimation and structural reliability analysis.</a:t>
            </a:r>
            <a:endParaRPr sz="1400" dirty="0"/>
          </a:p>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Computer Methods in Applied Mechanics and Engineering, 2024, 430: 117238.</a:t>
            </a:r>
            <a:endParaRPr sz="1400" dirty="0"/>
          </a:p>
        </p:txBody>
      </p:sp>
      <p:sp>
        <p:nvSpPr>
          <p:cNvPr id="1806" name="textbox 1806"/>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1808" name="textbox 1808"/>
          <p:cNvSpPr/>
          <p:nvPr/>
        </p:nvSpPr>
        <p:spPr>
          <a:xfrm>
            <a:off x="11753850" y="6734175"/>
            <a:ext cx="17145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42</a:t>
            </a:r>
            <a:endParaRPr sz="1000" dirty="0"/>
          </a:p>
        </p:txBody>
      </p:sp>
      <p:pic>
        <p:nvPicPr>
          <p:cNvPr id="16" name="picture 16"/>
          <p:cNvPicPr>
            <a:picLocks noChangeAspect="1"/>
          </p:cNvPicPr>
          <p:nvPr/>
        </p:nvPicPr>
        <p:blipFill>
          <a:blip r:embed="rId5"/>
          <a:stretch>
            <a:fillRect/>
          </a:stretch>
        </p:blipFill>
        <p:spPr>
          <a:xfrm rot="21600000">
            <a:off x="750760" y="2329469"/>
            <a:ext cx="10209372" cy="756629"/>
          </a:xfrm>
          <a:prstGeom prst="rect">
            <a:avLst/>
          </a:prstGeom>
        </p:spPr>
      </p:pic>
      <p:pic>
        <p:nvPicPr>
          <p:cNvPr id="4" name="picture 4"/>
          <p:cNvPicPr>
            <a:picLocks noChangeAspect="1"/>
          </p:cNvPicPr>
          <p:nvPr/>
        </p:nvPicPr>
        <p:blipFill>
          <a:blip r:embed="rId6"/>
          <a:stretch>
            <a:fillRect/>
          </a:stretch>
        </p:blipFill>
        <p:spPr>
          <a:xfrm rot="21600000">
            <a:off x="5579008" y="3409935"/>
            <a:ext cx="6197682" cy="1562114"/>
          </a:xfrm>
          <a:prstGeom prst="rect">
            <a:avLst/>
          </a:prstGeom>
        </p:spPr>
      </p:pic>
      <p:pic>
        <p:nvPicPr>
          <p:cNvPr id="18" name="picture 18"/>
          <p:cNvPicPr>
            <a:picLocks noChangeAspect="1"/>
          </p:cNvPicPr>
          <p:nvPr/>
        </p:nvPicPr>
        <p:blipFill>
          <a:blip r:embed="rId7"/>
          <a:stretch>
            <a:fillRect/>
          </a:stretch>
        </p:blipFill>
        <p:spPr>
          <a:xfrm rot="21600000">
            <a:off x="495361" y="5447942"/>
            <a:ext cx="11182519" cy="679817"/>
          </a:xfrm>
          <a:prstGeom prst="rect">
            <a:avLst/>
          </a:prstGeom>
        </p:spPr>
      </p:pic>
      <p:pic>
        <p:nvPicPr>
          <p:cNvPr id="2" name="图片 1" descr="39179c4a8ad5f5ed55448f8ffc47c593"/>
          <p:cNvPicPr>
            <a:picLocks noChangeAspect="1"/>
          </p:cNvPicPr>
          <p:nvPr/>
        </p:nvPicPr>
        <p:blipFill>
          <a:blip r:embed="rId8"/>
          <a:stretch>
            <a:fillRect/>
          </a:stretch>
        </p:blipFill>
        <p:spPr>
          <a:xfrm>
            <a:off x="438150" y="3976370"/>
            <a:ext cx="2800350" cy="134302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 name="picture 1812"/>
          <p:cNvPicPr>
            <a:picLocks noChangeAspect="1"/>
          </p:cNvPicPr>
          <p:nvPr/>
        </p:nvPicPr>
        <p:blipFill>
          <a:blip r:embed="rId1"/>
          <a:stretch>
            <a:fillRect/>
          </a:stretch>
        </p:blipFill>
        <p:spPr>
          <a:xfrm>
            <a:off x="0" y="0"/>
            <a:ext cx="12192000" cy="6858000"/>
          </a:xfrm>
          <a:prstGeom prst="rect">
            <a:avLst/>
          </a:prstGeom>
        </p:spPr>
      </p:pic>
      <p:pic>
        <p:nvPicPr>
          <p:cNvPr id="1816" name="picture 1816"/>
          <p:cNvPicPr>
            <a:picLocks noChangeAspect="1"/>
          </p:cNvPicPr>
          <p:nvPr/>
        </p:nvPicPr>
        <p:blipFill>
          <a:blip r:embed="rId2"/>
          <a:stretch>
            <a:fillRect/>
          </a:stretch>
        </p:blipFill>
        <p:spPr>
          <a:xfrm>
            <a:off x="1228725" y="752475"/>
            <a:ext cx="1285875" cy="1181100"/>
          </a:xfrm>
          <a:prstGeom prst="rect">
            <a:avLst/>
          </a:prstGeom>
        </p:spPr>
      </p:pic>
      <p:sp>
        <p:nvSpPr>
          <p:cNvPr id="1818" name="textbox 1818"/>
          <p:cNvSpPr/>
          <p:nvPr/>
        </p:nvSpPr>
        <p:spPr>
          <a:xfrm>
            <a:off x="4562475" y="1885950"/>
            <a:ext cx="6943725" cy="1428750"/>
          </a:xfrm>
          <a:prstGeom prst="rect">
            <a:avLst/>
          </a:prstGeom>
          <a:noFill/>
          <a:ln w="0" cap="flat">
            <a:noFill/>
            <a:prstDash val="solid"/>
            <a:miter lim="0"/>
          </a:ln>
        </p:spPr>
        <p:txBody>
          <a:bodyPr vert="horz" wrap="none" lIns="0" tIns="0" rIns="0" bIns="0"/>
          <a:lstStyle/>
          <a:p>
            <a:pPr algn="l" rtl="0" eaLnBrk="0"/>
            <a:r>
              <a:rPr sz="4800" b="1" kern="0" spc="0" dirty="0">
                <a:solidFill>
                  <a:srgbClr val="172E57">
                    <a:alpha val="100000"/>
                  </a:srgbClr>
                </a:solidFill>
                <a:latin typeface="微软雅黑" panose="020B0503020204020204" charset="-122"/>
                <a:ea typeface="微软雅黑" panose="020B0503020204020204" charset="-122"/>
                <a:cs typeface="微软雅黑" panose="020B0503020204020204" charset="-122"/>
              </a:rPr>
              <a:t>基于降维积分的结构整体</a:t>
            </a:r>
            <a:endParaRPr sz="4800" dirty="0"/>
          </a:p>
          <a:p>
            <a:pPr marL="1876425" algn="l" rtl="0" eaLnBrk="0"/>
            <a:r>
              <a:rPr sz="4800" b="1" kern="0" spc="0" dirty="0">
                <a:solidFill>
                  <a:srgbClr val="172E57">
                    <a:alpha val="100000"/>
                  </a:srgbClr>
                </a:solidFill>
                <a:latin typeface="微软雅黑" panose="020B0503020204020204" charset="-122"/>
                <a:ea typeface="微软雅黑" panose="020B0503020204020204" charset="-122"/>
                <a:cs typeface="微软雅黑" panose="020B0503020204020204" charset="-122"/>
              </a:rPr>
              <a:t>可靠度分析</a:t>
            </a:r>
            <a:endParaRPr sz="4800" dirty="0"/>
          </a:p>
        </p:txBody>
      </p:sp>
      <p:sp>
        <p:nvSpPr>
          <p:cNvPr id="1820" name="textbox 1820"/>
          <p:cNvSpPr/>
          <p:nvPr/>
        </p:nvSpPr>
        <p:spPr>
          <a:xfrm>
            <a:off x="1597025" y="2523490"/>
            <a:ext cx="1033145" cy="1054735"/>
          </a:xfrm>
          <a:prstGeom prst="rect">
            <a:avLst/>
          </a:prstGeom>
          <a:noFill/>
          <a:ln w="0" cap="flat">
            <a:noFill/>
            <a:prstDash val="solid"/>
            <a:miter lim="0"/>
          </a:ln>
        </p:spPr>
        <p:txBody>
          <a:bodyPr vert="horz" wrap="none" lIns="0" tIns="0" rIns="0" bIns="0"/>
          <a:lstStyle/>
          <a:p>
            <a:pPr algn="l" rtl="0" eaLnBrk="0"/>
            <a:endParaRPr sz="5400" dirty="0"/>
          </a:p>
        </p:txBody>
      </p:sp>
      <p:sp>
        <p:nvSpPr>
          <p:cNvPr id="1822" name="textbox 1822"/>
          <p:cNvSpPr/>
          <p:nvPr/>
        </p:nvSpPr>
        <p:spPr>
          <a:xfrm>
            <a:off x="1028700" y="4000500"/>
            <a:ext cx="1704975" cy="323850"/>
          </a:xfrm>
          <a:prstGeom prst="rect">
            <a:avLst/>
          </a:prstGeom>
          <a:noFill/>
          <a:ln w="0" cap="flat">
            <a:noFill/>
            <a:prstDash val="solid"/>
            <a:miter lim="0"/>
          </a:ln>
        </p:spPr>
        <p:txBody>
          <a:bodyPr vert="horz" wrap="none" lIns="0" tIns="0" rIns="0" bIns="0"/>
          <a:lstStyle/>
          <a:p>
            <a:pPr algn="l" rtl="0" eaLnBrk="0"/>
            <a:r>
              <a:rPr sz="2600" kern="0" spc="0" dirty="0">
                <a:solidFill>
                  <a:srgbClr val="FFFFFF">
                    <a:alpha val="100000"/>
                  </a:srgbClr>
                </a:solidFill>
                <a:latin typeface="Arial" panose="020B0604020202020204"/>
                <a:ea typeface="Arial" panose="020B0604020202020204"/>
                <a:cs typeface="Arial" panose="020B0604020202020204"/>
              </a:rPr>
              <a:t>PART FIVE</a:t>
            </a:r>
            <a:endParaRPr sz="2600" dirty="0"/>
          </a:p>
        </p:txBody>
      </p:sp>
      <p:sp>
        <p:nvSpPr>
          <p:cNvPr id="1824" name="textbox 1824"/>
          <p:cNvSpPr/>
          <p:nvPr/>
        </p:nvSpPr>
        <p:spPr>
          <a:xfrm>
            <a:off x="5257800" y="3924300"/>
            <a:ext cx="5581650" cy="762000"/>
          </a:xfrm>
          <a:prstGeom prst="rect">
            <a:avLst/>
          </a:prstGeom>
          <a:noFill/>
          <a:ln w="0" cap="flat">
            <a:noFill/>
            <a:prstDash val="solid"/>
            <a:miter lim="0"/>
          </a:ln>
        </p:spPr>
        <p:txBody>
          <a:bodyPr vert="horz" wrap="none" lIns="0" tIns="0" rIns="0" bIns="0"/>
          <a:lstStyle/>
          <a:p>
            <a:pPr algn="l" rtl="0" eaLnBrk="0"/>
            <a:r>
              <a:rPr sz="2000" kern="0" spc="0" dirty="0">
                <a:solidFill>
                  <a:srgbClr val="22315E">
                    <a:alpha val="100000"/>
                  </a:srgbClr>
                </a:solidFill>
                <a:latin typeface="Arial" panose="020B0604020202020204"/>
                <a:ea typeface="Arial" panose="020B0604020202020204"/>
                <a:cs typeface="Arial" panose="020B0604020202020204"/>
              </a:rPr>
              <a:t>Global Reliability Analysis of Structures Based on</a:t>
            </a:r>
            <a:endParaRPr sz="2000" dirty="0"/>
          </a:p>
          <a:p>
            <a:pPr marL="895350" algn="l" rtl="0" eaLnBrk="0">
              <a:spcBef>
                <a:spcPts val="1425"/>
              </a:spcBef>
            </a:pPr>
            <a:r>
              <a:rPr sz="2000" kern="0" spc="0" dirty="0">
                <a:solidFill>
                  <a:srgbClr val="22315E">
                    <a:alpha val="100000"/>
                  </a:srgbClr>
                </a:solidFill>
                <a:latin typeface="Arial" panose="020B0604020202020204"/>
                <a:ea typeface="Arial" panose="020B0604020202020204"/>
                <a:cs typeface="Arial" panose="020B0604020202020204"/>
              </a:rPr>
              <a:t>Dimension-Reduction Integration</a:t>
            </a:r>
            <a:endParaRPr sz="2000" dirty="0"/>
          </a:p>
        </p:txBody>
      </p:sp>
      <p:sp>
        <p:nvSpPr>
          <p:cNvPr id="3" name="文本框 2"/>
          <p:cNvSpPr txBox="1"/>
          <p:nvPr/>
        </p:nvSpPr>
        <p:spPr>
          <a:xfrm>
            <a:off x="1574800" y="2879090"/>
            <a:ext cx="723900" cy="922020"/>
          </a:xfrm>
          <a:prstGeom prst="rect">
            <a:avLst/>
          </a:prstGeom>
          <a:noFill/>
        </p:spPr>
        <p:txBody>
          <a:bodyPr wrap="square" rtlCol="0" anchor="t">
            <a:spAutoFit/>
          </a:bodyPr>
          <a:p>
            <a:r>
              <a:rPr lang="en-US" sz="5400" b="1" kern="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5</a:t>
            </a:r>
            <a:endParaRPr lang="en-US" sz="5400" b="1" kern="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8" name="picture 1828"/>
          <p:cNvPicPr>
            <a:picLocks noChangeAspect="1"/>
          </p:cNvPicPr>
          <p:nvPr/>
        </p:nvPicPr>
        <p:blipFill>
          <a:blip r:embed="rId1"/>
          <a:stretch>
            <a:fillRect/>
          </a:stretch>
        </p:blipFill>
        <p:spPr>
          <a:xfrm>
            <a:off x="0" y="0"/>
            <a:ext cx="12192000" cy="6858000"/>
          </a:xfrm>
          <a:prstGeom prst="rect">
            <a:avLst/>
          </a:prstGeom>
        </p:spPr>
      </p:pic>
      <p:sp>
        <p:nvSpPr>
          <p:cNvPr id="1830" name="textbox 1830"/>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832" name="textbox 1832"/>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834" name="textbox 183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87FA6">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838" name="picture 1838"/>
          <p:cNvPicPr>
            <a:picLocks noChangeAspect="1"/>
          </p:cNvPicPr>
          <p:nvPr/>
        </p:nvPicPr>
        <p:blipFill>
          <a:blip r:embed="rId2"/>
          <a:stretch>
            <a:fillRect/>
          </a:stretch>
        </p:blipFill>
        <p:spPr>
          <a:xfrm>
            <a:off x="295275" y="247650"/>
            <a:ext cx="733425" cy="666750"/>
          </a:xfrm>
          <a:prstGeom prst="rect">
            <a:avLst/>
          </a:prstGeom>
        </p:spPr>
      </p:pic>
      <p:sp>
        <p:nvSpPr>
          <p:cNvPr id="1840" name="textbox 1840"/>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1842" name="textbox 1842"/>
          <p:cNvSpPr/>
          <p:nvPr/>
        </p:nvSpPr>
        <p:spPr>
          <a:xfrm>
            <a:off x="1447800" y="752475"/>
            <a:ext cx="655320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1844" name="textbox 1844"/>
          <p:cNvSpPr/>
          <p:nvPr/>
        </p:nvSpPr>
        <p:spPr>
          <a:xfrm>
            <a:off x="1047750" y="1181100"/>
            <a:ext cx="4991100"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结构整体可靠度分析的状态随机变量模型</a:t>
            </a:r>
            <a:endParaRPr sz="20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846" name="textbox 1846"/>
          <p:cNvSpPr/>
          <p:nvPr/>
        </p:nvSpPr>
        <p:spPr>
          <a:xfrm>
            <a:off x="1428750" y="1638300"/>
            <a:ext cx="9248775"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直接利用功能函数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Z = G</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X</a:t>
            </a:r>
            <a:r>
              <a:rPr sz="1800" b="1" kern="0" spc="0" dirty="0">
                <a:solidFill>
                  <a:srgbClr val="0070BC">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状态变量（即系统响应变量）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的概率密度函数求解失效概率：</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848" name="textbox 1848"/>
              <p:cNvSpPr/>
              <p:nvPr/>
            </p:nvSpPr>
            <p:spPr>
              <a:xfrm>
                <a:off x="2076450" y="2028825"/>
                <a:ext cx="4448175" cy="5905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2600" dirty="0">
                              <a:latin typeface="Cambria Math" panose="02040503050406030204"/>
                              <a:ea typeface="Cambria Math" panose="02040503050406030204"/>
                            </a:rPr>
                            <m:t>P</m:t>
                          </m:r>
                        </m:e>
                        <m:sub>
                          <m:r>
                            <m:rPr>
                              <m:sty m:val="p"/>
                            </m:rPr>
                            <a:rPr lang="en-US" sz="2600" dirty="0">
                              <a:latin typeface="Cambria Math" panose="02040503050406030204"/>
                              <a:ea typeface="Cambria Math" panose="02040503050406030204"/>
                            </a:rPr>
                            <m:t>f</m:t>
                          </m:r>
                        </m:sub>
                      </m:sSub>
                      <m:r>
                        <a:rPr lang="en-US" sz="2600" dirty="0">
                          <a:latin typeface="Cambria Math" panose="02040503050406030204"/>
                          <a:ea typeface="Cambria Math" panose="02040503050406030204"/>
                        </a:rPr>
                        <m:t>=</m:t>
                      </m:r>
                      <m:r>
                        <m:rPr>
                          <m:sty m:val="p"/>
                        </m:rPr>
                        <a:rPr lang="en-US" sz="2600" dirty="0">
                          <a:latin typeface="Cambria Math" panose="02040503050406030204"/>
                          <a:ea typeface="Cambria Math" panose="02040503050406030204"/>
                        </a:rPr>
                        <m:t>P</m:t>
                      </m:r>
                      <m:r>
                        <a:rPr lang="en-US" sz="2600" dirty="0">
                          <a:latin typeface="Cambria Math" panose="02040503050406030204"/>
                          <a:ea typeface="Cambria Math" panose="02040503050406030204"/>
                        </a:rPr>
                        <m:t>[</m:t>
                      </m:r>
                      <m:r>
                        <m:rPr>
                          <m:sty m:val="p"/>
                        </m:rPr>
                        <a:rPr lang="en-US" sz="2600" dirty="0">
                          <a:latin typeface="Cambria Math" panose="02040503050406030204"/>
                          <a:ea typeface="Cambria Math" panose="02040503050406030204"/>
                        </a:rPr>
                        <m:t>Z</m:t>
                      </m:r>
                      <m:r>
                        <m:rPr>
                          <m:sty m:val="p"/>
                        </m:rPr>
                        <a:rPr lang="en-US" sz="2600" dirty="0">
                          <a:latin typeface="Cambria Math" panose="02040503050406030204"/>
                          <a:ea typeface="Cambria Math" panose="02040503050406030204"/>
                        </a:rPr>
                        <m:t>le</m:t>
                      </m:r>
                      <m:r>
                        <a:rPr lang="en-US" sz="2600" dirty="0">
                          <a:latin typeface="Cambria Math" panose="02040503050406030204"/>
                          <a:ea typeface="Cambria Math" panose="02040503050406030204"/>
                        </a:rPr>
                        <m:t>0</m:t>
                      </m:r>
                      <m:r>
                        <a:rPr lang="en-US" sz="2600" dirty="0">
                          <a:latin typeface="Cambria Math" panose="02040503050406030204"/>
                          <a:ea typeface="Cambria Math" panose="02040503050406030204"/>
                        </a:rPr>
                        <m:t>]</m:t>
                      </m:r>
                      <m:r>
                        <a:rPr lang="en-US" sz="2600" dirty="0">
                          <a:latin typeface="Cambria Math" panose="02040503050406030204"/>
                          <a:ea typeface="Cambria Math" panose="02040503050406030204"/>
                        </a:rPr>
                        <m:t>=</m:t>
                      </m:r>
                      <m:nary>
                        <m:naryPr>
                          <m:limLoc m:val="subSup"/>
                          <m:ctrlPr>
                            <a:rPr/>
                          </m:ctrlPr>
                        </m:naryPr>
                        <m:sub>
                          <m:r>
                            <a:rPr lang="en-US" sz="2600" dirty="0">
                              <a:latin typeface="Cambria Math" panose="02040503050406030204"/>
                              <a:ea typeface="Cambria Math" panose="02040503050406030204"/>
                            </a:rPr>
                            <m:t>−</m:t>
                          </m:r>
                          <m:r>
                            <a:rPr lang="en-US" sz="2600" dirty="0">
                              <a:latin typeface="Cambria Math" panose="02040503050406030204"/>
                              <a:ea typeface="Cambria Math" panose="02040503050406030204"/>
                            </a:rPr>
                            <m:t>∞</m:t>
                          </m:r>
                        </m:sub>
                        <m:sup>
                          <m:r>
                            <a:rPr lang="en-US" sz="2600" dirty="0">
                              <a:latin typeface="Cambria Math" panose="02040503050406030204"/>
                              <a:ea typeface="Cambria Math" panose="02040503050406030204"/>
                            </a:rPr>
                            <m:t>0</m:t>
                          </m:r>
                        </m:sup>
                        <m:e>
                          <m:sSub>
                            <m:sSubPr>
                              <m:ctrlPr>
                                <a:rPr/>
                              </m:ctrlPr>
                            </m:sSubPr>
                            <m:e>
                              <m:r>
                                <m:rPr>
                                  <m:sty m:val="p"/>
                                </m:rPr>
                                <a:rPr lang="en-US" sz="2600" dirty="0">
                                  <a:latin typeface="Cambria Math" panose="02040503050406030204"/>
                                  <a:ea typeface="Cambria Math" panose="02040503050406030204"/>
                                </a:rPr>
                                <m:t>f</m:t>
                              </m:r>
                            </m:e>
                            <m:sub>
                              <m:r>
                                <m:rPr>
                                  <m:sty m:val="p"/>
                                </m:rPr>
                                <a:rPr lang="en-US" sz="2600" dirty="0">
                                  <a:latin typeface="Cambria Math" panose="02040503050406030204"/>
                                  <a:ea typeface="Cambria Math" panose="02040503050406030204"/>
                                </a:rPr>
                                <m:t>Z</m:t>
                              </m:r>
                            </m:sub>
                          </m:sSub>
                          <m:r>
                            <a:rPr lang="en-US" sz="2600" dirty="0">
                              <a:latin typeface="Cambria Math" panose="02040503050406030204"/>
                              <a:ea typeface="Cambria Math" panose="02040503050406030204"/>
                            </a:rPr>
                            <m:t>(</m:t>
                          </m:r>
                          <m:r>
                            <m:rPr>
                              <m:sty m:val="p"/>
                            </m:rPr>
                            <a:rPr lang="en-US" sz="2600" dirty="0">
                              <a:latin typeface="Cambria Math" panose="02040503050406030204"/>
                              <a:ea typeface="Cambria Math" panose="02040503050406030204"/>
                            </a:rPr>
                            <m:t>z</m:t>
                          </m:r>
                          <m:r>
                            <a:rPr lang="en-US" sz="2600" dirty="0">
                              <a:latin typeface="Cambria Math" panose="02040503050406030204"/>
                              <a:ea typeface="Cambria Math" panose="02040503050406030204"/>
                            </a:rPr>
                            <m:t>)</m:t>
                          </m:r>
                          <m:r>
                            <m:rPr>
                              <m:sty m:val="p"/>
                            </m:rPr>
                            <a:rPr lang="en-US" sz="2600" dirty="0">
                              <a:latin typeface="Cambria Math" panose="02040503050406030204"/>
                              <a:ea typeface="Cambria Math" panose="02040503050406030204"/>
                            </a:rPr>
                            <m:t>d</m:t>
                          </m:r>
                          <m:r>
                            <m:rPr>
                              <m:sty m:val="p"/>
                            </m:rPr>
                            <a:rPr lang="en-US" sz="2600" dirty="0">
                              <a:latin typeface="Cambria Math" panose="02040503050406030204"/>
                              <a:ea typeface="Cambria Math" panose="02040503050406030204"/>
                            </a:rPr>
                            <m:t>z</m:t>
                          </m:r>
                          <m:r>
                            <a:rPr lang="en-US" sz="2600" dirty="0">
                              <a:latin typeface="Cambria Math" panose="02040503050406030204"/>
                              <a:ea typeface="Cambria Math" panose="02040503050406030204"/>
                            </a:rPr>
                            <m:t>=</m:t>
                          </m:r>
                          <m:sSub>
                            <m:sSubPr>
                              <m:ctrlPr>
                                <a:rPr/>
                              </m:ctrlPr>
                            </m:sSubPr>
                            <m:e>
                              <m:r>
                                <m:rPr>
                                  <m:sty m:val="p"/>
                                </m:rPr>
                                <a:rPr lang="en-US" sz="2600" dirty="0">
                                  <a:latin typeface="Cambria Math" panose="02040503050406030204"/>
                                  <a:ea typeface="Cambria Math" panose="02040503050406030204"/>
                                </a:rPr>
                                <m:t>F</m:t>
                              </m:r>
                            </m:e>
                            <m:sub>
                              <m:r>
                                <m:rPr>
                                  <m:sty m:val="p"/>
                                </m:rPr>
                                <a:rPr lang="en-US" sz="2600" dirty="0">
                                  <a:latin typeface="Cambria Math" panose="02040503050406030204"/>
                                  <a:ea typeface="Cambria Math" panose="02040503050406030204"/>
                                </a:rPr>
                                <m:t>Z</m:t>
                              </m:r>
                            </m:sub>
                          </m:sSub>
                          <m:r>
                            <a:rPr lang="en-US" sz="2600" dirty="0">
                              <a:latin typeface="Cambria Math" panose="02040503050406030204"/>
                              <a:ea typeface="Cambria Math" panose="02040503050406030204"/>
                            </a:rPr>
                            <m:t>(</m:t>
                          </m:r>
                          <m:r>
                            <a:rPr lang="en-US" sz="2600" dirty="0">
                              <a:latin typeface="Cambria Math" panose="02040503050406030204"/>
                              <a:ea typeface="Cambria Math" panose="02040503050406030204"/>
                            </a:rPr>
                            <m:t>0</m:t>
                          </m:r>
                          <m:r>
                            <a:rPr lang="en-US" sz="2600" dirty="0">
                              <a:latin typeface="Cambria Math" panose="02040503050406030204"/>
                              <a:ea typeface="Cambria Math" panose="02040503050406030204"/>
                            </a:rPr>
                            <m:t>)</m:t>
                          </m:r>
                        </m:e>
                      </m:nary>
                    </m:oMath>
                  </m:oMathPara>
                </a14:m>
                <a:endParaRPr sz="600" dirty="0"/>
              </a:p>
            </p:txBody>
          </p:sp>
        </mc:Choice>
        <mc:Fallback>
          <p:sp>
            <p:nvSpPr>
              <p:cNvPr id="1848" name="textbox 1848"/>
              <p:cNvSpPr>
                <a:spLocks noRot="1" noChangeAspect="1" noMove="1" noResize="1" noEditPoints="1" noAdjustHandles="1" noChangeArrowheads="1" noChangeShapeType="1" noTextEdit="1"/>
              </p:cNvSpPr>
              <p:nvPr/>
            </p:nvSpPr>
            <p:spPr>
              <a:xfrm>
                <a:off x="2076450" y="2028825"/>
                <a:ext cx="4448175" cy="590550"/>
              </a:xfrm>
              <a:prstGeom prst="rect">
                <a:avLst/>
              </a:prstGeom>
              <a:blipFill rotWithShape="1">
                <a:blip r:embed="rId3"/>
                <a:stretch>
                  <a:fillRect r="-7637" b="-12473"/>
                </a:stretch>
              </a:blipFill>
              <a:ln w="0" cap="flat">
                <a:noFill/>
                <a:prstDash val="solid"/>
                <a:miter lim="0"/>
              </a:ln>
            </p:spPr>
            <p:txBody>
              <a:bodyPr/>
              <a:lstStyle/>
              <a:p>
                <a:r>
                  <a:rPr lang="zh-CN" altLang="en-US">
                    <a:noFill/>
                  </a:rPr>
                  <a:t> </a:t>
                </a:r>
              </a:p>
            </p:txBody>
          </p:sp>
        </mc:Fallback>
      </mc:AlternateContent>
      <p:sp>
        <p:nvSpPr>
          <p:cNvPr id="1850" name="textbox 1850"/>
          <p:cNvSpPr/>
          <p:nvPr/>
        </p:nvSpPr>
        <p:spPr>
          <a:xfrm>
            <a:off x="1447800" y="2800350"/>
            <a:ext cx="6286500" cy="285750"/>
          </a:xfrm>
          <a:prstGeom prst="rect">
            <a:avLst/>
          </a:prstGeom>
          <a:noFill/>
          <a:ln w="0" cap="flat">
            <a:noFill/>
            <a:prstDash val="solid"/>
            <a:miter lim="0"/>
          </a:ln>
        </p:spPr>
        <p:txBody>
          <a:bodyPr vert="horz" wrap="none" lIns="0" tIns="0" rIns="0" bIns="0"/>
          <a:lstStyle/>
          <a:p>
            <a:pPr algn="l" rtl="0" eaLnBrk="0"/>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根据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k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阶统计矩拟合 </a:t>
            </a:r>
            <a:r>
              <a:rPr sz="1800" b="1" i="1" kern="0" spc="0" dirty="0">
                <a:solidFill>
                  <a:srgbClr val="0070BC">
                    <a:alpha val="100000"/>
                  </a:srgbClr>
                </a:solidFill>
                <a:latin typeface="Times New Roman" panose="02020603050405020304"/>
                <a:ea typeface="Times New Roman" panose="02020603050405020304"/>
                <a:cs typeface="Times New Roman" panose="02020603050405020304"/>
              </a:rPr>
              <a:t>Z </a:t>
            </a:r>
            <a:r>
              <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的概率密度函数或累积分布函数：</a:t>
            </a:r>
            <a:endParaRPr sz="1800" b="1"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852" name="textbox 1852"/>
          <p:cNvSpPr/>
          <p:nvPr/>
        </p:nvSpPr>
        <p:spPr>
          <a:xfrm>
            <a:off x="2133600" y="3295650"/>
            <a:ext cx="2095500" cy="276225"/>
          </a:xfrm>
          <a:prstGeom prst="rect">
            <a:avLst/>
          </a:prstGeom>
          <a:noFill/>
          <a:ln w="0" cap="flat">
            <a:noFill/>
            <a:prstDash val="solid"/>
            <a:miter lim="0"/>
          </a:ln>
        </p:spPr>
        <p:txBody>
          <a:bodyPr vert="horz" wrap="none" lIns="0" tIns="0" rIns="0" bIns="0"/>
          <a:lstStyle/>
          <a:p>
            <a:pPr marL="400050" indent="-352425" algn="l" rtl="0" eaLnBrk="0">
              <a:buChar char="►"/>
            </a:pPr>
            <a:r>
              <a:rPr sz="1800" b="1" kern="0" spc="0" dirty="0">
                <a:solidFill>
                  <a:srgbClr val="101920">
                    <a:alpha val="100000"/>
                  </a:srgbClr>
                </a:solidFill>
                <a:latin typeface="微软雅黑" panose="020B0503020204020204" charset="-122"/>
                <a:ea typeface="微软雅黑" panose="020B0503020204020204" charset="-122"/>
                <a:cs typeface="微软雅黑" panose="020B0503020204020204" charset="-122"/>
              </a:rPr>
              <a:t>Pearson 系统法</a:t>
            </a:r>
            <a:endParaRPr sz="1800" dirty="0"/>
          </a:p>
        </p:txBody>
      </p:sp>
      <p:sp>
        <p:nvSpPr>
          <p:cNvPr id="1854" name="textbox 1854"/>
          <p:cNvSpPr/>
          <p:nvPr/>
        </p:nvSpPr>
        <p:spPr>
          <a:xfrm>
            <a:off x="2143125" y="3676650"/>
            <a:ext cx="2124075" cy="266700"/>
          </a:xfrm>
          <a:prstGeom prst="rect">
            <a:avLst/>
          </a:prstGeom>
          <a:noFill/>
          <a:ln w="0" cap="flat">
            <a:noFill/>
            <a:prstDash val="solid"/>
            <a:miter lim="0"/>
          </a:ln>
        </p:spPr>
        <p:txBody>
          <a:bodyPr vert="horz" wrap="none" lIns="0" tIns="0" rIns="0" bIns="0"/>
          <a:lstStyle/>
          <a:p>
            <a:pPr marL="381000" indent="-342900" algn="l" rtl="0" eaLnBrk="0">
              <a:buChar char="►"/>
            </a:pPr>
            <a:r>
              <a:rPr sz="1800" b="1" kern="0" spc="0" dirty="0">
                <a:solidFill>
                  <a:srgbClr val="070B14">
                    <a:alpha val="100000"/>
                  </a:srgbClr>
                </a:solidFill>
                <a:latin typeface="微软雅黑" panose="020B0503020204020204" charset="-122"/>
                <a:ea typeface="微软雅黑" panose="020B0503020204020204" charset="-122"/>
                <a:cs typeface="微软雅黑" panose="020B0503020204020204" charset="-122"/>
              </a:rPr>
              <a:t>Johnson 系统法</a:t>
            </a:r>
            <a:endParaRPr sz="1800" dirty="0"/>
          </a:p>
        </p:txBody>
      </p:sp>
      <p:sp>
        <p:nvSpPr>
          <p:cNvPr id="1856" name="textbox 1856"/>
          <p:cNvSpPr/>
          <p:nvPr/>
        </p:nvSpPr>
        <p:spPr>
          <a:xfrm>
            <a:off x="2133600" y="4057650"/>
            <a:ext cx="2876550" cy="304800"/>
          </a:xfrm>
          <a:prstGeom prst="rect">
            <a:avLst/>
          </a:prstGeom>
          <a:noFill/>
          <a:ln w="0" cap="flat">
            <a:noFill/>
            <a:prstDash val="solid"/>
            <a:miter lim="0"/>
          </a:ln>
        </p:spPr>
        <p:txBody>
          <a:bodyPr vert="horz" wrap="none" lIns="0" tIns="0" rIns="0" bIns="0"/>
          <a:lstStyle/>
          <a:p>
            <a:pPr marL="400050" indent="-352425" algn="l" rtl="0" eaLnBrk="0">
              <a:buChar char="►"/>
            </a:pPr>
            <a:r>
              <a:rPr sz="1800" b="1" kern="0" spc="0" dirty="0">
                <a:solidFill>
                  <a:srgbClr val="070B14">
                    <a:alpha val="100000"/>
                  </a:srgbClr>
                </a:solidFill>
                <a:latin typeface="微软雅黑" panose="020B0503020204020204" charset="-122"/>
                <a:ea typeface="微软雅黑" panose="020B0503020204020204" charset="-122"/>
                <a:cs typeface="微软雅黑" panose="020B0503020204020204" charset="-122"/>
              </a:rPr>
              <a:t>Edgeworth 级数展开法</a:t>
            </a:r>
            <a:endParaRPr sz="1800" dirty="0"/>
          </a:p>
        </p:txBody>
      </p:sp>
      <p:sp>
        <p:nvSpPr>
          <p:cNvPr id="1858" name="textbox 1858"/>
          <p:cNvSpPr/>
          <p:nvPr/>
        </p:nvSpPr>
        <p:spPr>
          <a:xfrm>
            <a:off x="2133600" y="4457700"/>
            <a:ext cx="2514600" cy="276225"/>
          </a:xfrm>
          <a:prstGeom prst="rect">
            <a:avLst/>
          </a:prstGeom>
          <a:noFill/>
          <a:ln w="0" cap="flat">
            <a:noFill/>
            <a:prstDash val="solid"/>
            <a:miter lim="0"/>
          </a:ln>
        </p:spPr>
        <p:txBody>
          <a:bodyPr vert="horz" wrap="none" lIns="0" tIns="0" rIns="0" bIns="0"/>
          <a:lstStyle/>
          <a:p>
            <a:pPr marL="390525" indent="-342900" algn="l" rtl="0" eaLnBrk="0">
              <a:buChar char="►"/>
            </a:pPr>
            <a:r>
              <a:rPr sz="1800" b="1" kern="0" spc="0" dirty="0">
                <a:solidFill>
                  <a:srgbClr val="0D0D0D">
                    <a:alpha val="100000"/>
                  </a:srgbClr>
                </a:solidFill>
                <a:latin typeface="微软雅黑" panose="020B0503020204020204" charset="-122"/>
                <a:ea typeface="微软雅黑" panose="020B0503020204020204" charset="-122"/>
                <a:cs typeface="微软雅黑" panose="020B0503020204020204" charset="-122"/>
              </a:rPr>
              <a:t>Winterstein 近似法</a:t>
            </a:r>
            <a:endParaRPr sz="1800" dirty="0"/>
          </a:p>
        </p:txBody>
      </p:sp>
      <p:sp>
        <p:nvSpPr>
          <p:cNvPr id="1860" name="textbox 1860"/>
          <p:cNvSpPr/>
          <p:nvPr/>
        </p:nvSpPr>
        <p:spPr>
          <a:xfrm>
            <a:off x="2133600" y="4838700"/>
            <a:ext cx="2524125" cy="295275"/>
          </a:xfrm>
          <a:prstGeom prst="rect">
            <a:avLst/>
          </a:prstGeom>
          <a:noFill/>
          <a:ln w="0" cap="flat">
            <a:noFill/>
            <a:prstDash val="solid"/>
            <a:miter lim="0"/>
          </a:ln>
        </p:spPr>
        <p:txBody>
          <a:bodyPr vert="horz" wrap="none" lIns="0" tIns="0" rIns="0" bIns="0"/>
          <a:lstStyle/>
          <a:p>
            <a:pPr marL="381000" indent="-323850" algn="l" rtl="0" eaLnBrk="0">
              <a:buChar char="►"/>
            </a:pPr>
            <a:r>
              <a:rPr sz="1800" b="1" kern="0" spc="0" dirty="0">
                <a:solidFill>
                  <a:srgbClr val="0F1B26">
                    <a:alpha val="100000"/>
                  </a:srgbClr>
                </a:solidFill>
                <a:latin typeface="微软雅黑" panose="020B0503020204020204" charset="-122"/>
                <a:ea typeface="微软雅黑" panose="020B0503020204020204" charset="-122"/>
                <a:cs typeface="微软雅黑" panose="020B0503020204020204" charset="-122"/>
              </a:rPr>
              <a:t>指数多项式法 (EPM)</a:t>
            </a:r>
            <a:endParaRPr sz="1800" dirty="0"/>
          </a:p>
        </p:txBody>
      </p:sp>
      <p:sp>
        <p:nvSpPr>
          <p:cNvPr id="1862" name="textbox 1862"/>
          <p:cNvSpPr/>
          <p:nvPr/>
        </p:nvSpPr>
        <p:spPr>
          <a:xfrm>
            <a:off x="2133600" y="5238750"/>
            <a:ext cx="2162175" cy="285750"/>
          </a:xfrm>
          <a:prstGeom prst="rect">
            <a:avLst/>
          </a:prstGeom>
          <a:noFill/>
          <a:ln w="0" cap="flat">
            <a:noFill/>
            <a:prstDash val="solid"/>
            <a:miter lim="0"/>
          </a:ln>
        </p:spPr>
        <p:txBody>
          <a:bodyPr vert="horz" wrap="none" lIns="0" tIns="0" rIns="0" bIns="0"/>
          <a:lstStyle/>
          <a:p>
            <a:pPr marL="390525" indent="-342900" algn="l" rtl="0" eaLnBrk="0">
              <a:buChar char="►"/>
            </a:pP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最大熵法 (MEM)</a:t>
            </a:r>
            <a:endParaRPr sz="1800" dirty="0"/>
          </a:p>
        </p:txBody>
      </p:sp>
      <p:pic>
        <p:nvPicPr>
          <p:cNvPr id="1866" name="picture 1866"/>
          <p:cNvPicPr>
            <a:picLocks noChangeAspect="1"/>
          </p:cNvPicPr>
          <p:nvPr/>
        </p:nvPicPr>
        <p:blipFill>
          <a:blip r:embed="rId4"/>
          <a:stretch>
            <a:fillRect/>
          </a:stretch>
        </p:blipFill>
        <p:spPr>
          <a:xfrm>
            <a:off x="7886700" y="2238375"/>
            <a:ext cx="3743325" cy="3181350"/>
          </a:xfrm>
          <a:prstGeom prst="rect">
            <a:avLst/>
          </a:prstGeom>
        </p:spPr>
      </p:pic>
      <p:sp>
        <p:nvSpPr>
          <p:cNvPr id="1868" name="textbox 1868"/>
          <p:cNvSpPr/>
          <p:nvPr/>
        </p:nvSpPr>
        <p:spPr>
          <a:xfrm>
            <a:off x="514350" y="5829300"/>
            <a:ext cx="11125200" cy="457200"/>
          </a:xfrm>
          <a:prstGeom prst="rect">
            <a:avLst/>
          </a:prstGeom>
          <a:noFill/>
          <a:ln w="0" cap="flat">
            <a:noFill/>
            <a:prstDash val="solid"/>
            <a:miter lim="0"/>
          </a:ln>
        </p:spPr>
        <p:txBody>
          <a:bodyPr vert="horz" wrap="none" lIns="0" tIns="0" rIns="0" bIns="0"/>
          <a:lstStyle/>
          <a:p>
            <a:pPr algn="l" rtl="0" eaLnBrk="0"/>
            <a:r>
              <a:rPr sz="1400" kern="0" spc="0" dirty="0">
                <a:solidFill>
                  <a:srgbClr val="073763">
                    <a:alpha val="100000"/>
                  </a:srgbClr>
                </a:solidFill>
                <a:latin typeface="Times New Roman" panose="02020603050405020304"/>
                <a:ea typeface="Times New Roman" panose="02020603050405020304"/>
                <a:cs typeface="Times New Roman" panose="02020603050405020304"/>
              </a:rPr>
              <a:t>Song P Y, Wang T*, Lu D G*. Structural global reliability assessment considering nonlinear correlation effects by enhanced high-order moment method.</a:t>
            </a:r>
            <a:endParaRPr sz="1400" dirty="0"/>
          </a:p>
          <a:p>
            <a:pPr algn="l" rtl="0" eaLnBrk="0">
              <a:spcBef>
                <a:spcPts val="375"/>
              </a:spcBef>
            </a:pPr>
            <a:r>
              <a:rPr sz="1400" kern="0" spc="0" dirty="0">
                <a:solidFill>
                  <a:srgbClr val="073763">
                    <a:alpha val="100000"/>
                  </a:srgbClr>
                </a:solidFill>
                <a:latin typeface="Times New Roman" panose="02020603050405020304"/>
                <a:ea typeface="Times New Roman" panose="02020603050405020304"/>
                <a:cs typeface="Times New Roman" panose="02020603050405020304"/>
              </a:rPr>
              <a:t>Acta Mechanica Sinica, 2023, 39(4): 722356.</a:t>
            </a:r>
            <a:endParaRPr sz="1400" dirty="0"/>
          </a:p>
        </p:txBody>
      </p:sp>
      <p:sp>
        <p:nvSpPr>
          <p:cNvPr id="1870" name="textbox 1870"/>
          <p:cNvSpPr/>
          <p:nvPr/>
        </p:nvSpPr>
        <p:spPr>
          <a:xfrm>
            <a:off x="514350" y="6381750"/>
            <a:ext cx="10382250" cy="228600"/>
          </a:xfrm>
          <a:prstGeom prst="rect">
            <a:avLst/>
          </a:prstGeom>
          <a:noFill/>
          <a:ln w="0" cap="flat">
            <a:noFill/>
            <a:prstDash val="solid"/>
            <a:miter lim="0"/>
          </a:ln>
        </p:spPr>
        <p:txBody>
          <a:bodyPr vert="horz" wrap="none" lIns="0" tIns="0" rIns="0" bIns="0"/>
          <a:lstStyle/>
          <a:p>
            <a:pPr algn="l" rtl="0" eaLnBrk="0"/>
            <a:r>
              <a:rPr sz="1400" kern="0" spc="0" dirty="0">
                <a:solidFill>
                  <a:srgbClr val="17375E">
                    <a:alpha val="100000"/>
                  </a:srgbClr>
                </a:solidFill>
                <a:latin typeface="微软雅黑" panose="020B0503020204020204" charset="-122"/>
                <a:ea typeface="微软雅黑" panose="020B0503020204020204" charset="-122"/>
                <a:cs typeface="微软雅黑" panose="020B0503020204020204" charset="-122"/>
              </a:rPr>
              <a:t>吕大刚, 宋鹏彦, 于晓辉, 王光远. 结构整体抗震可靠度分析的三类模型与求解方法. 土木建筑与环境工程, 2010, 32(Suppl.2): 676-680.</a:t>
            </a:r>
            <a:endParaRPr sz="1400" dirty="0"/>
          </a:p>
        </p:txBody>
      </p:sp>
      <p:sp>
        <p:nvSpPr>
          <p:cNvPr id="1872" name="textbox 187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1874" name="textbox 1874"/>
          <p:cNvSpPr/>
          <p:nvPr/>
        </p:nvSpPr>
        <p:spPr>
          <a:xfrm>
            <a:off x="11753850" y="6734175"/>
            <a:ext cx="171450" cy="104775"/>
          </a:xfrm>
          <a:prstGeom prst="rect">
            <a:avLst/>
          </a:prstGeom>
          <a:noFill/>
          <a:ln w="0" cap="flat">
            <a:noFill/>
            <a:prstDash val="solid"/>
            <a:miter lim="0"/>
          </a:ln>
        </p:spPr>
        <p:txBody>
          <a:bodyPr vert="horz" wrap="none" lIns="0" tIns="0" rIns="0" bIns="0"/>
          <a:lstStyle/>
          <a:p>
            <a:pPr algn="l" rtl="0" eaLnBrk="0"/>
            <a:r>
              <a:rPr sz="800" kern="0" spc="375" dirty="0">
                <a:solidFill>
                  <a:srgbClr val="FFFFFF">
                    <a:alpha val="100000"/>
                  </a:srgbClr>
                </a:solidFill>
                <a:latin typeface="Arial" panose="020B0604020202020204"/>
                <a:ea typeface="Arial" panose="020B0604020202020204"/>
                <a:cs typeface="Arial" panose="020B0604020202020204"/>
              </a:rPr>
              <a:t>44</a:t>
            </a:r>
            <a:endParaRPr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8" name="picture 1878"/>
          <p:cNvPicPr>
            <a:picLocks noChangeAspect="1"/>
          </p:cNvPicPr>
          <p:nvPr/>
        </p:nvPicPr>
        <p:blipFill>
          <a:blip r:embed="rId1"/>
          <a:stretch>
            <a:fillRect/>
          </a:stretch>
        </p:blipFill>
        <p:spPr>
          <a:xfrm>
            <a:off x="0" y="0"/>
            <a:ext cx="12192000" cy="6858000"/>
          </a:xfrm>
          <a:prstGeom prst="rect">
            <a:avLst/>
          </a:prstGeom>
        </p:spPr>
      </p:pic>
      <p:sp>
        <p:nvSpPr>
          <p:cNvPr id="1880" name="textbox 1880"/>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67297">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882" name="textbox 188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884" name="textbox 188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888" name="picture 1888"/>
          <p:cNvPicPr>
            <a:picLocks noChangeAspect="1"/>
          </p:cNvPicPr>
          <p:nvPr/>
        </p:nvPicPr>
        <p:blipFill>
          <a:blip r:embed="rId2"/>
          <a:stretch>
            <a:fillRect/>
          </a:stretch>
        </p:blipFill>
        <p:spPr>
          <a:xfrm>
            <a:off x="295275" y="247650"/>
            <a:ext cx="733425" cy="666750"/>
          </a:xfrm>
          <a:prstGeom prst="rect">
            <a:avLst/>
          </a:prstGeom>
        </p:spPr>
      </p:pic>
      <p:sp>
        <p:nvSpPr>
          <p:cNvPr id="1890" name="textbox 1890"/>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1892" name="textbox 1892"/>
          <p:cNvSpPr/>
          <p:nvPr/>
        </p:nvSpPr>
        <p:spPr>
          <a:xfrm>
            <a:off x="1457325" y="752475"/>
            <a:ext cx="654367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pic>
        <p:nvPicPr>
          <p:cNvPr id="1896" name="picture 1896"/>
          <p:cNvPicPr>
            <a:picLocks noChangeAspect="1"/>
          </p:cNvPicPr>
          <p:nvPr/>
        </p:nvPicPr>
        <p:blipFill>
          <a:blip r:embed="rId3"/>
          <a:stretch>
            <a:fillRect/>
          </a:stretch>
        </p:blipFill>
        <p:spPr>
          <a:xfrm>
            <a:off x="781050" y="1085850"/>
            <a:ext cx="409575" cy="381000"/>
          </a:xfrm>
          <a:prstGeom prst="rect">
            <a:avLst/>
          </a:prstGeom>
        </p:spPr>
      </p:pic>
      <p:sp>
        <p:nvSpPr>
          <p:cNvPr id="1898" name="textbox 1898"/>
          <p:cNvSpPr/>
          <p:nvPr/>
        </p:nvSpPr>
        <p:spPr>
          <a:xfrm>
            <a:off x="1447800" y="1123950"/>
            <a:ext cx="4800600"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工程应用：</a:t>
            </a:r>
            <a:r>
              <a:rPr sz="2000" b="1" kern="0" spc="0" dirty="0">
                <a:solidFill>
                  <a:srgbClr val="0066CC">
                    <a:alpha val="100000"/>
                  </a:srgbClr>
                </a:solidFill>
                <a:latin typeface="Arial" panose="020B0604020202020204"/>
                <a:ea typeface="Arial" panose="020B0604020202020204"/>
                <a:cs typeface="Arial" panose="020B0604020202020204"/>
              </a:rPr>
              <a:t>RC</a:t>
            </a:r>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框架结构抗震可靠度分析</a:t>
            </a:r>
            <a:endParaRPr sz="2000" dirty="0"/>
          </a:p>
        </p:txBody>
      </p:sp>
      <p:sp>
        <p:nvSpPr>
          <p:cNvPr id="1900" name="textbox 1900"/>
          <p:cNvSpPr/>
          <p:nvPr/>
        </p:nvSpPr>
        <p:spPr>
          <a:xfrm>
            <a:off x="1457325" y="1457325"/>
            <a:ext cx="4038600" cy="142875"/>
          </a:xfrm>
          <a:prstGeom prst="rect">
            <a:avLst/>
          </a:prstGeom>
          <a:noFill/>
          <a:ln w="0" cap="flat">
            <a:noFill/>
            <a:prstDash val="solid"/>
            <a:miter lim="0"/>
          </a:ln>
        </p:spPr>
        <p:txBody>
          <a:bodyPr vert="horz" wrap="none" lIns="0" tIns="0" rIns="0" bIns="0"/>
          <a:lstStyle/>
          <a:p>
            <a:pPr algn="l" rtl="0" eaLnBrk="0"/>
            <a:r>
              <a:rPr sz="1000" kern="0" spc="0" dirty="0">
                <a:solidFill>
                  <a:srgbClr val="A5C1D7">
                    <a:alpha val="100000"/>
                  </a:srgbClr>
                </a:solidFill>
                <a:latin typeface="Times New Roman" panose="02020603050405020304"/>
                <a:ea typeface="Times New Roman" panose="02020603050405020304"/>
                <a:cs typeface="Times New Roman" panose="02020603050405020304"/>
              </a:rPr>
              <a:t>Engineering Application: Seismic Reliability Analysis of RC Frame Structures</a:t>
            </a:r>
            <a:endParaRPr sz="1000" dirty="0"/>
          </a:p>
        </p:txBody>
      </p:sp>
      <p:sp>
        <p:nvSpPr>
          <p:cNvPr id="1902" name="textbox 1902"/>
          <p:cNvSpPr/>
          <p:nvPr/>
        </p:nvSpPr>
        <p:spPr>
          <a:xfrm>
            <a:off x="1457325" y="1647825"/>
            <a:ext cx="7543800" cy="285750"/>
          </a:xfrm>
          <a:prstGeom prst="rect">
            <a:avLst/>
          </a:prstGeom>
          <a:noFill/>
          <a:ln w="0" cap="flat">
            <a:noFill/>
            <a:prstDash val="solid"/>
            <a:miter lim="0"/>
          </a:ln>
        </p:spPr>
        <p:txBody>
          <a:bodyPr vert="horz" wrap="none" lIns="0" tIns="0" rIns="0" bIns="0"/>
          <a:lstStyle/>
          <a:p>
            <a:pPr algn="l" rtl="0" eaLnBrk="0"/>
            <a:r>
              <a:rPr sz="20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基本设计资料：</a:t>
            </a:r>
            <a:r>
              <a:rPr sz="2000" b="1" kern="0" spc="0" dirty="0">
                <a:solidFill>
                  <a:srgbClr val="003366">
                    <a:alpha val="100000"/>
                  </a:srgbClr>
                </a:solidFill>
                <a:latin typeface="微软雅黑" panose="020B0503020204020204" charset="-122"/>
                <a:ea typeface="微软雅黑" panose="020B0503020204020204" charset="-122"/>
                <a:cs typeface="微软雅黑" panose="020B0503020204020204" charset="-122"/>
              </a:rPr>
              <a:t>共设计了三层、六层和九层3个钢筋混凝土框架结构</a:t>
            </a:r>
            <a:endParaRPr sz="2000" dirty="0"/>
          </a:p>
        </p:txBody>
      </p:sp>
      <p:pic>
        <p:nvPicPr>
          <p:cNvPr id="1906" name="picture 1906"/>
          <p:cNvPicPr>
            <a:picLocks noChangeAspect="1"/>
          </p:cNvPicPr>
          <p:nvPr/>
        </p:nvPicPr>
        <p:blipFill>
          <a:blip r:embed="rId4"/>
          <a:stretch>
            <a:fillRect/>
          </a:stretch>
        </p:blipFill>
        <p:spPr>
          <a:xfrm>
            <a:off x="876300" y="2581275"/>
            <a:ext cx="2914650" cy="2305050"/>
          </a:xfrm>
          <a:prstGeom prst="rect">
            <a:avLst/>
          </a:prstGeom>
        </p:spPr>
      </p:pic>
      <p:sp>
        <p:nvSpPr>
          <p:cNvPr id="1908" name="textbox 1908"/>
          <p:cNvSpPr/>
          <p:nvPr/>
        </p:nvSpPr>
        <p:spPr>
          <a:xfrm>
            <a:off x="3562350" y="2657475"/>
            <a:ext cx="180975" cy="133350"/>
          </a:xfrm>
          <a:prstGeom prst="rect">
            <a:avLst/>
          </a:prstGeom>
          <a:noFill/>
          <a:ln w="0" cap="flat">
            <a:noFill/>
            <a:prstDash val="solid"/>
            <a:miter lim="0"/>
          </a:ln>
        </p:spPr>
        <p:txBody>
          <a:bodyPr vert="horz" wrap="none" lIns="0" tIns="0" rIns="0" bIns="0"/>
          <a:lstStyle/>
          <a:p>
            <a:pPr marL="171450" indent="-152400" algn="l" rtl="0" eaLnBrk="0">
              <a:buAutoNum type="alphaLcParenBoth" startAt="4"/>
            </a:pPr>
            <a:endParaRPr sz="600" dirty="0"/>
          </a:p>
        </p:txBody>
      </p:sp>
      <p:sp>
        <p:nvSpPr>
          <p:cNvPr id="1910" name="textbox 1910"/>
          <p:cNvSpPr/>
          <p:nvPr/>
        </p:nvSpPr>
        <p:spPr>
          <a:xfrm>
            <a:off x="3200400" y="2924175"/>
            <a:ext cx="152400" cy="352425"/>
          </a:xfrm>
          <a:prstGeom prst="rect">
            <a:avLst/>
          </a:prstGeom>
          <a:noFill/>
          <a:ln w="0" cap="flat">
            <a:noFill/>
            <a:prstDash val="solid"/>
            <a:miter lim="0"/>
          </a:ln>
        </p:spPr>
        <p:txBody>
          <a:bodyPr vert="horz" wrap="none" lIns="0" tIns="0" rIns="0" bIns="0"/>
          <a:lstStyle/>
          <a:p>
            <a:pPr marL="19050" algn="l" rtl="0" eaLnBrk="0">
              <a:buAutoNum type="arabicPeriod" startAt="6"/>
            </a:pPr>
            <a:r>
              <a:rPr sz="1000" kern="0" spc="0" dirty="0">
                <a:solidFill>
                  <a:srgbClr val="000000">
                    <a:alpha val="100000"/>
                  </a:srgbClr>
                </a:solidFill>
                <a:latin typeface="Arial" panose="020B0604020202020204"/>
                <a:ea typeface="Arial" panose="020B0604020202020204"/>
                <a:cs typeface="Arial" panose="020B0604020202020204"/>
              </a:rPr>
              <a:t>0m</a:t>
            </a:r>
            <a:endParaRPr sz="1000" dirty="0"/>
          </a:p>
        </p:txBody>
      </p:sp>
      <p:sp>
        <p:nvSpPr>
          <p:cNvPr id="1912" name="textbox 1912"/>
          <p:cNvSpPr/>
          <p:nvPr/>
        </p:nvSpPr>
        <p:spPr>
          <a:xfrm rot="5400000">
            <a:off x="3209925" y="3400425"/>
            <a:ext cx="142875" cy="323850"/>
          </a:xfrm>
          <a:prstGeom prst="rect">
            <a:avLst/>
          </a:prstGeom>
          <a:noFill/>
          <a:ln w="0" cap="flat">
            <a:noFill/>
            <a:prstDash val="solid"/>
            <a:miter lim="0"/>
          </a:ln>
        </p:spPr>
        <p:txBody>
          <a:bodyPr vert="horz" wrap="none" lIns="0" tIns="0" rIns="0" bIns="0"/>
          <a:lstStyle/>
          <a:p>
            <a:pPr marL="104775" indent="-104775" algn="l" rtl="0" eaLnBrk="0">
              <a:buAutoNum type="arabicPeriod" startAt="2"/>
            </a:pPr>
            <a:r>
              <a:rPr sz="1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4m</a:t>
            </a:r>
            <a:endParaRPr sz="1200" dirty="0"/>
          </a:p>
        </p:txBody>
      </p:sp>
      <p:sp>
        <p:nvSpPr>
          <p:cNvPr id="1914" name="textbox 1914"/>
          <p:cNvSpPr/>
          <p:nvPr/>
        </p:nvSpPr>
        <p:spPr>
          <a:xfrm>
            <a:off x="3438525" y="3600450"/>
            <a:ext cx="342900" cy="22860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B</a:t>
            </a:r>
            <a:endParaRPr sz="1400" dirty="0"/>
          </a:p>
        </p:txBody>
      </p:sp>
      <p:sp>
        <p:nvSpPr>
          <p:cNvPr id="1916" name="textbox 1916"/>
          <p:cNvSpPr/>
          <p:nvPr/>
        </p:nvSpPr>
        <p:spPr>
          <a:xfrm>
            <a:off x="3181350" y="3838575"/>
            <a:ext cx="180975" cy="409575"/>
          </a:xfrm>
          <a:prstGeom prst="rect">
            <a:avLst/>
          </a:prstGeom>
          <a:noFill/>
          <a:ln w="0" cap="flat">
            <a:noFill/>
            <a:prstDash val="solid"/>
            <a:miter lim="0"/>
          </a:ln>
        </p:spPr>
        <p:txBody>
          <a:bodyPr vert="horz" wrap="none" lIns="0" tIns="0" rIns="0" bIns="0"/>
          <a:lstStyle/>
          <a:p>
            <a:pPr marL="38100" algn="l" rtl="0" eaLnBrk="0">
              <a:buAutoNum type="arabicPeriod" startAt="6"/>
            </a:pPr>
            <a:r>
              <a:rPr sz="1000" kern="0" spc="0" dirty="0">
                <a:solidFill>
                  <a:srgbClr val="000000">
                    <a:alpha val="100000"/>
                  </a:srgbClr>
                </a:solidFill>
                <a:latin typeface="Arial" panose="020B0604020202020204"/>
                <a:ea typeface="Arial" panose="020B0604020202020204"/>
                <a:cs typeface="Arial" panose="020B0604020202020204"/>
              </a:rPr>
              <a:t>0m</a:t>
            </a:r>
            <a:endParaRPr sz="1000" dirty="0"/>
          </a:p>
        </p:txBody>
      </p:sp>
      <mc:AlternateContent xmlns:mc="http://schemas.openxmlformats.org/markup-compatibility/2006">
        <mc:Choice xmlns:a14="http://schemas.microsoft.com/office/drawing/2010/main" Requires="a14">
          <p:sp>
            <p:nvSpPr>
              <p:cNvPr id="1918" name="textbox 1918"/>
              <p:cNvSpPr/>
              <p:nvPr/>
            </p:nvSpPr>
            <p:spPr>
              <a:xfrm>
                <a:off x="3362325" y="4267200"/>
                <a:ext cx="409575" cy="228600"/>
              </a:xfrm>
              <a:prstGeom prst="rect">
                <a:avLst/>
              </a:prstGeom>
              <a:noFill/>
              <a:ln w="0" cap="flat">
                <a:noFill/>
                <a:prstDash val="solid"/>
                <a:miter lim="0"/>
              </a:ln>
            </p:spPr>
            <p:txBody>
              <a:bodyPr vert="horz" wrap="none" lIns="0" tIns="0" rIns="0" bIns="0"/>
              <a:lstStyle/>
              <a:p>
                <a:pPr algn="l" rtl="0" eaLnBrk="0"/>
                <a14:m>
                  <m:oMath xmlns:m="http://schemas.openxmlformats.org/officeDocument/2006/math">
                    <m:f>
                      <m:fPr>
                        <m:ctrlPr>
                          <a:rPr/>
                        </m:ctrlPr>
                      </m:fPr>
                      <m:num>
                        <m:r>
                          <a:rPr lang="en-US" sz="2200" dirty="0">
                            <a:latin typeface="Cambria Math" panose="02040503050406030204"/>
                            <a:ea typeface="Cambria Math" panose="02040503050406030204"/>
                          </a:rPr>
                          <m:t>1</m:t>
                        </m:r>
                      </m:num>
                      <m:den>
                        <m:r>
                          <a:rPr lang="en-US" sz="2200" dirty="0">
                            <a:latin typeface="Cambria Math" panose="02040503050406030204"/>
                            <a:ea typeface="Cambria Math" panose="02040503050406030204"/>
                          </a:rPr>
                          <m:t>4</m:t>
                        </m:r>
                      </m:den>
                    </m:f>
                  </m:oMath>
                </a14:m>
                <a:r>
                  <a:rPr sz="1400" kern="0" spc="0" dirty="0">
                    <a:solidFill>
                      <a:srgbClr val="000000">
                        <a:alpha val="100000"/>
                      </a:srgbClr>
                    </a:solidFill>
                    <a:latin typeface="Calibri" panose="020F0502020204030204"/>
                    <a:ea typeface="Calibri" panose="020F0502020204030204"/>
                    <a:cs typeface="Calibri" panose="020F0502020204030204"/>
                  </a:rPr>
                  <a:t>④</a:t>
                </a:r>
                <a:endParaRPr sz="2200" dirty="0"/>
              </a:p>
            </p:txBody>
          </p:sp>
        </mc:Choice>
        <mc:Fallback>
          <p:sp>
            <p:nvSpPr>
              <p:cNvPr id="1918" name="textbox 1918"/>
              <p:cNvSpPr>
                <a:spLocks noRot="1" noChangeAspect="1" noMove="1" noResize="1" noEditPoints="1" noAdjustHandles="1" noChangeArrowheads="1" noChangeShapeType="1" noTextEdit="1"/>
              </p:cNvSpPr>
              <p:nvPr/>
            </p:nvSpPr>
            <p:spPr>
              <a:xfrm>
                <a:off x="3362325" y="4267200"/>
                <a:ext cx="409575" cy="228600"/>
              </a:xfrm>
              <a:prstGeom prst="rect">
                <a:avLst/>
              </a:prstGeom>
              <a:blipFill rotWithShape="1">
                <a:blip r:embed="rId5"/>
                <a:stretch>
                  <a:fillRect r="-310" b="-81389"/>
                </a:stretch>
              </a:blipFill>
              <a:ln w="0" cap="flat">
                <a:noFill/>
                <a:prstDash val="solid"/>
                <a:miter lim="0"/>
              </a:ln>
            </p:spPr>
            <p:txBody>
              <a:bodyPr/>
              <a:lstStyle/>
              <a:p>
                <a:r>
                  <a:rPr lang="zh-CN" altLang="en-US">
                    <a:noFill/>
                  </a:rPr>
                  <a:t> </a:t>
                </a:r>
              </a:p>
            </p:txBody>
          </p:sp>
        </mc:Fallback>
      </mc:AlternateContent>
      <p:sp>
        <p:nvSpPr>
          <p:cNvPr id="1920" name="textbox 1920"/>
          <p:cNvSpPr/>
          <p:nvPr/>
        </p:nvSpPr>
        <p:spPr>
          <a:xfrm>
            <a:off x="962025" y="4524375"/>
            <a:ext cx="2209800" cy="190500"/>
          </a:xfrm>
          <a:prstGeom prst="rect">
            <a:avLst/>
          </a:prstGeom>
          <a:noFill/>
          <a:ln w="0" cap="flat">
            <a:noFill/>
            <a:prstDash val="solid"/>
            <a:miter lim="0"/>
          </a:ln>
        </p:spPr>
        <p:txBody>
          <a:bodyPr vert="horz" wrap="none" lIns="0" tIns="0" rIns="0" bIns="0"/>
          <a:lstStyle/>
          <a:p>
            <a:pPr marL="190500" indent="-133350" algn="l" rtl="0" eaLnBrk="0">
              <a:buAutoNum type="arabicPeriod" startAt="3"/>
            </a:pPr>
            <a:r>
              <a:rPr sz="1200" kern="0" spc="0" dirty="0">
                <a:solidFill>
                  <a:srgbClr val="000000">
                    <a:alpha val="100000"/>
                  </a:srgbClr>
                </a:solidFill>
                <a:latin typeface="Times New Roman" panose="02020603050405020304"/>
                <a:ea typeface="Times New Roman" panose="02020603050405020304"/>
                <a:cs typeface="Times New Roman" panose="02020603050405020304"/>
              </a:rPr>
              <a:t>6m 3.6m 3.6m 3.6m 3.6m 3.6m</a:t>
            </a:r>
            <a:endParaRPr sz="1200" dirty="0"/>
          </a:p>
        </p:txBody>
      </p:sp>
      <p:sp>
        <p:nvSpPr>
          <p:cNvPr id="1922" name="textbox 1922"/>
          <p:cNvSpPr/>
          <p:nvPr/>
        </p:nvSpPr>
        <p:spPr>
          <a:xfrm>
            <a:off x="1828800" y="5181600"/>
            <a:ext cx="1181100" cy="238125"/>
          </a:xfrm>
          <a:prstGeom prst="rect">
            <a:avLst/>
          </a:prstGeom>
          <a:noFill/>
          <a:ln w="0" cap="flat">
            <a:noFill/>
            <a:prstDash val="solid"/>
            <a:miter lim="0"/>
          </a:ln>
        </p:spPr>
        <p:txBody>
          <a:bodyPr vert="horz" wrap="none" lIns="0" tIns="0" rIns="0" bIns="0"/>
          <a:lstStyle/>
          <a:p>
            <a:pPr marL="266700" indent="-209550" algn="l" rtl="0" eaLnBrk="0">
              <a:buAutoNum type="alphaLcParenR"/>
            </a:pPr>
            <a:r>
              <a:rPr sz="1400" kern="0" spc="0" dirty="0">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平面布置图</a:t>
            </a:r>
            <a:endParaRPr sz="1400" dirty="0"/>
          </a:p>
        </p:txBody>
      </p:sp>
      <p:pic>
        <p:nvPicPr>
          <p:cNvPr id="1926" name="picture 1926"/>
          <p:cNvPicPr>
            <a:picLocks noChangeAspect="1"/>
          </p:cNvPicPr>
          <p:nvPr/>
        </p:nvPicPr>
        <p:blipFill>
          <a:blip r:embed="rId6"/>
          <a:stretch>
            <a:fillRect/>
          </a:stretch>
        </p:blipFill>
        <p:spPr>
          <a:xfrm>
            <a:off x="4038600" y="2143125"/>
            <a:ext cx="3105150" cy="2905125"/>
          </a:xfrm>
          <a:prstGeom prst="rect">
            <a:avLst/>
          </a:prstGeom>
        </p:spPr>
      </p:pic>
      <p:sp>
        <p:nvSpPr>
          <p:cNvPr id="1928" name="textbox 1928"/>
          <p:cNvSpPr/>
          <p:nvPr/>
        </p:nvSpPr>
        <p:spPr>
          <a:xfrm>
            <a:off x="5010150" y="5181600"/>
            <a:ext cx="1200150" cy="238125"/>
          </a:xfrm>
          <a:prstGeom prst="rect">
            <a:avLst/>
          </a:prstGeom>
          <a:noFill/>
          <a:ln w="0" cap="flat">
            <a:noFill/>
            <a:prstDash val="solid"/>
            <a:miter lim="0"/>
          </a:ln>
        </p:spPr>
        <p:txBody>
          <a:bodyPr vert="horz" wrap="none" lIns="0" tIns="0" rIns="0" bIns="0"/>
          <a:lstStyle/>
          <a:p>
            <a:pPr marL="276225" indent="-228600" algn="l" rtl="0" eaLnBrk="0">
              <a:buAutoNum type="alphaLcParenR" startAt="2"/>
            </a:pPr>
            <a:r>
              <a:rPr sz="1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立面布置图</a:t>
            </a:r>
            <a:endParaRPr sz="1400" dirty="0"/>
          </a:p>
        </p:txBody>
      </p:sp>
      <p:pic>
        <p:nvPicPr>
          <p:cNvPr id="1932" name="picture 1932"/>
          <p:cNvPicPr>
            <a:picLocks noChangeAspect="1"/>
          </p:cNvPicPr>
          <p:nvPr/>
        </p:nvPicPr>
        <p:blipFill>
          <a:blip r:embed="rId7"/>
          <a:stretch>
            <a:fillRect/>
          </a:stretch>
        </p:blipFill>
        <p:spPr>
          <a:xfrm>
            <a:off x="8010525" y="2028825"/>
            <a:ext cx="3629025" cy="3486150"/>
          </a:xfrm>
          <a:prstGeom prst="rect">
            <a:avLst/>
          </a:prstGeom>
        </p:spPr>
      </p:pic>
      <p:sp>
        <p:nvSpPr>
          <p:cNvPr id="1934" name="textbox 1934"/>
          <p:cNvSpPr/>
          <p:nvPr/>
        </p:nvSpPr>
        <p:spPr>
          <a:xfrm>
            <a:off x="495300" y="5838825"/>
            <a:ext cx="11172825" cy="457200"/>
          </a:xfrm>
          <a:prstGeom prst="rect">
            <a:avLst/>
          </a:prstGeom>
          <a:noFill/>
          <a:ln w="0" cap="flat">
            <a:noFill/>
            <a:prstDash val="solid"/>
            <a:miter lim="0"/>
          </a:ln>
        </p:spPr>
        <p:txBody>
          <a:bodyPr vert="horz" wrap="none" lIns="0" tIns="0" rIns="0" bIns="0"/>
          <a:lstStyle/>
          <a:p>
            <a:pPr algn="l" rtl="0" eaLnBrk="0"/>
            <a:r>
              <a:rPr sz="1400" kern="0" spc="0" dirty="0">
                <a:solidFill>
                  <a:srgbClr val="0070BC">
                    <a:alpha val="100000"/>
                  </a:srgbClr>
                </a:solidFill>
                <a:latin typeface="Times New Roman" panose="02020603050405020304"/>
                <a:ea typeface="Times New Roman" panose="02020603050405020304"/>
                <a:cs typeface="Times New Roman" panose="02020603050405020304"/>
              </a:rPr>
              <a:t>Song P Y, Wang T*, Lu D G*. Structural global reliability assessment considering nonlinear correlation effects by enhanced high-order moment method.</a:t>
            </a:r>
            <a:endParaRPr sz="1400" dirty="0">
              <a:solidFill>
                <a:srgbClr val="0070BC"/>
              </a:solidFill>
            </a:endParaRPr>
          </a:p>
          <a:p>
            <a:pPr algn="l" rtl="0" eaLnBrk="0">
              <a:spcBef>
                <a:spcPts val="300"/>
              </a:spcBef>
            </a:pPr>
            <a:r>
              <a:rPr sz="1400" kern="0" spc="0" dirty="0">
                <a:solidFill>
                  <a:srgbClr val="0070BC">
                    <a:alpha val="100000"/>
                  </a:srgbClr>
                </a:solidFill>
                <a:latin typeface="Times New Roman" panose="02020603050405020304"/>
                <a:ea typeface="Times New Roman" panose="02020603050405020304"/>
                <a:cs typeface="Times New Roman" panose="02020603050405020304"/>
              </a:rPr>
              <a:t>Acta Mechanica Sinica, 2023, 39(4): 722356.</a:t>
            </a:r>
            <a:endParaRPr sz="1400" kern="0" spc="0" dirty="0">
              <a:solidFill>
                <a:srgbClr val="0070BC">
                  <a:alpha val="100000"/>
                </a:srgbClr>
              </a:solidFill>
              <a:latin typeface="Times New Roman" panose="02020603050405020304"/>
              <a:ea typeface="Times New Roman" panose="02020603050405020304"/>
              <a:cs typeface="Times New Roman" panose="02020603050405020304"/>
            </a:endParaRPr>
          </a:p>
        </p:txBody>
      </p:sp>
      <p:sp>
        <p:nvSpPr>
          <p:cNvPr id="1936" name="textbox 1936"/>
          <p:cNvSpPr/>
          <p:nvPr/>
        </p:nvSpPr>
        <p:spPr>
          <a:xfrm>
            <a:off x="504825" y="6391275"/>
            <a:ext cx="10487025" cy="238125"/>
          </a:xfrm>
          <a:prstGeom prst="rect">
            <a:avLst/>
          </a:prstGeom>
          <a:noFill/>
          <a:ln w="0" cap="flat">
            <a:noFill/>
            <a:prstDash val="solid"/>
            <a:miter lim="0"/>
          </a:ln>
        </p:spPr>
        <p:txBody>
          <a:bodyPr vert="horz" wrap="none" lIns="0" tIns="0" rIns="0" bIns="0"/>
          <a:lstStyle/>
          <a:p>
            <a:pPr algn="l" rtl="0" eaLnBrk="0"/>
            <a:r>
              <a:rPr sz="14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rPr>
              <a:t>宋鹏彦, 吕大刚, 于晓辉, 王光远. 基于改进点估计法的结构随机动力地震反应概率密度演化. 西南交通大学学报, 2014, 49(02): 227-232.</a:t>
            </a:r>
            <a:endParaRPr sz="1400" kern="0" spc="0" dirty="0">
              <a:solidFill>
                <a:srgbClr val="0070BC">
                  <a:alpha val="100000"/>
                </a:srgbClr>
              </a:solidFill>
              <a:latin typeface="微软雅黑" panose="020B0503020204020204" charset="-122"/>
              <a:ea typeface="微软雅黑" panose="020B0503020204020204" charset="-122"/>
              <a:cs typeface="微软雅黑" panose="020B0503020204020204" charset="-122"/>
            </a:endParaRPr>
          </a:p>
        </p:txBody>
      </p:sp>
      <p:sp>
        <p:nvSpPr>
          <p:cNvPr id="1938" name="textbox 1938"/>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1940" name="textbox 1940"/>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FFFFFF">
                    <a:alpha val="100000"/>
                  </a:srgbClr>
                </a:solidFill>
                <a:latin typeface="Arial" panose="020B0604020202020204"/>
                <a:ea typeface="Arial" panose="020B0604020202020204"/>
                <a:cs typeface="Arial" panose="020B0604020202020204"/>
              </a:rPr>
              <a:t>45</a:t>
            </a:r>
            <a:endParaRPr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4" name="picture 1944"/>
          <p:cNvPicPr>
            <a:picLocks noChangeAspect="1"/>
          </p:cNvPicPr>
          <p:nvPr/>
        </p:nvPicPr>
        <p:blipFill>
          <a:blip r:embed="rId1"/>
          <a:stretch>
            <a:fillRect/>
          </a:stretch>
        </p:blipFill>
        <p:spPr>
          <a:xfrm>
            <a:off x="0" y="0"/>
            <a:ext cx="12192000" cy="6858000"/>
          </a:xfrm>
          <a:prstGeom prst="rect">
            <a:avLst/>
          </a:prstGeom>
        </p:spPr>
      </p:pic>
      <p:sp>
        <p:nvSpPr>
          <p:cNvPr id="1946" name="textbox 1946"/>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1948" name="textbox 1948"/>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950" name="textbox 195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87FA6">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1954" name="picture 1954"/>
          <p:cNvPicPr>
            <a:picLocks noChangeAspect="1"/>
          </p:cNvPicPr>
          <p:nvPr/>
        </p:nvPicPr>
        <p:blipFill>
          <a:blip r:embed="rId2"/>
          <a:stretch>
            <a:fillRect/>
          </a:stretch>
        </p:blipFill>
        <p:spPr>
          <a:xfrm>
            <a:off x="295275" y="247650"/>
            <a:ext cx="733425" cy="666750"/>
          </a:xfrm>
          <a:prstGeom prst="rect">
            <a:avLst/>
          </a:prstGeom>
        </p:spPr>
      </p:pic>
      <p:sp>
        <p:nvSpPr>
          <p:cNvPr id="1956" name="textbox 1956"/>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1958" name="textbox 1958"/>
          <p:cNvSpPr/>
          <p:nvPr/>
        </p:nvSpPr>
        <p:spPr>
          <a:xfrm>
            <a:off x="1447800" y="752475"/>
            <a:ext cx="655320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1960" name="textbox 1960"/>
          <p:cNvSpPr/>
          <p:nvPr/>
        </p:nvSpPr>
        <p:spPr>
          <a:xfrm>
            <a:off x="1428750" y="1114425"/>
            <a:ext cx="481965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工程应用：RC框架结构抗震可靠度分析</a:t>
            </a:r>
            <a:endParaRPr sz="2000" dirty="0"/>
          </a:p>
        </p:txBody>
      </p:sp>
      <p:sp>
        <p:nvSpPr>
          <p:cNvPr id="1962" name="textbox 1962"/>
          <p:cNvSpPr/>
          <p:nvPr/>
        </p:nvSpPr>
        <p:spPr>
          <a:xfrm>
            <a:off x="876300" y="1171575"/>
            <a:ext cx="228600" cy="247650"/>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Times New Roman" panose="02020603050405020304"/>
                <a:ea typeface="Times New Roman" panose="02020603050405020304"/>
                <a:cs typeface="Times New Roman" panose="02020603050405020304"/>
              </a:rPr>
              <a:t>1</a:t>
            </a:r>
            <a:endParaRPr sz="2000" dirty="0"/>
          </a:p>
        </p:txBody>
      </p:sp>
      <p:sp>
        <p:nvSpPr>
          <p:cNvPr id="1964" name="textbox 1964"/>
          <p:cNvSpPr/>
          <p:nvPr/>
        </p:nvSpPr>
        <p:spPr>
          <a:xfrm>
            <a:off x="1466850" y="1438275"/>
            <a:ext cx="4038600" cy="161925"/>
          </a:xfrm>
          <a:prstGeom prst="rect">
            <a:avLst/>
          </a:prstGeom>
          <a:noFill/>
          <a:ln w="0" cap="flat">
            <a:noFill/>
            <a:prstDash val="solid"/>
            <a:miter lim="0"/>
          </a:ln>
        </p:spPr>
        <p:txBody>
          <a:bodyPr vert="horz" wrap="none" lIns="0" tIns="0" rIns="0" bIns="0"/>
          <a:lstStyle/>
          <a:p>
            <a:pPr algn="l" rtl="0" eaLnBrk="0"/>
            <a:r>
              <a:rPr sz="1000" kern="0" spc="0" dirty="0">
                <a:solidFill>
                  <a:srgbClr val="2980D3">
                    <a:alpha val="100000"/>
                  </a:srgbClr>
                </a:solidFill>
                <a:latin typeface="Times New Roman" panose="02020603050405020304"/>
                <a:ea typeface="Times New Roman" panose="02020603050405020304"/>
                <a:cs typeface="Times New Roman" panose="02020603050405020304"/>
              </a:rPr>
              <a:t>Engineering Application, Seismic Reliability Analysis of RC Frame Structures</a:t>
            </a:r>
            <a:endParaRPr sz="1000" dirty="0"/>
          </a:p>
        </p:txBody>
      </p:sp>
      <p:sp>
        <p:nvSpPr>
          <p:cNvPr id="1966" name="textbox 1966"/>
          <p:cNvSpPr/>
          <p:nvPr/>
        </p:nvSpPr>
        <p:spPr>
          <a:xfrm>
            <a:off x="1466850" y="1924050"/>
            <a:ext cx="2428875" cy="285750"/>
          </a:xfrm>
          <a:prstGeom prst="rect">
            <a:avLst/>
          </a:prstGeom>
          <a:noFill/>
          <a:ln w="0" cap="flat">
            <a:noFill/>
            <a:prstDash val="solid"/>
            <a:miter lim="0"/>
          </a:ln>
        </p:spPr>
        <p:txBody>
          <a:bodyPr vert="horz" wrap="none" lIns="0" tIns="0" rIns="0" bIns="0"/>
          <a:lstStyle/>
          <a:p>
            <a:pPr algn="l" rtl="0" eaLnBrk="0"/>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结构的基本设计参数：</a:t>
            </a:r>
            <a:endParaRPr sz="2000" dirty="0"/>
          </a:p>
        </p:txBody>
      </p:sp>
      <mc:AlternateContent xmlns:mc="http://schemas.openxmlformats.org/markup-compatibility/2006">
        <mc:Choice xmlns:a14="http://schemas.microsoft.com/office/drawing/2010/main" Requires="a14">
          <p:sp>
            <p:nvSpPr>
              <p:cNvPr id="1968" name="textbox 1968"/>
              <p:cNvSpPr/>
              <p:nvPr/>
            </p:nvSpPr>
            <p:spPr>
              <a:xfrm>
                <a:off x="1457325" y="2371725"/>
                <a:ext cx="5038725" cy="295275"/>
              </a:xfrm>
              <a:prstGeom prst="rect">
                <a:avLst/>
              </a:prstGeom>
              <a:noFill/>
              <a:ln w="0" cap="flat">
                <a:noFill/>
                <a:prstDash val="solid"/>
                <a:miter lim="0"/>
              </a:ln>
            </p:spPr>
            <p:txBody>
              <a:bodyPr vert="horz" wrap="none" lIns="0" tIns="0" rIns="0" bIns="0"/>
              <a:lstStyle/>
              <a:p>
                <a:pPr marL="276225" indent="-247650"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基本风压：</a:t>
                </a:r>
                <a14:m>
                  <m:oMath xmlns:m="http://schemas.openxmlformats.org/officeDocument/2006/math">
                    <m:r>
                      <a:rPr lang="en-US" sz="2000" dirty="0">
                        <a:latin typeface="Cambria Math" panose="02040503050406030204"/>
                        <a:ea typeface="Cambria Math" panose="02040503050406030204"/>
                      </a:rPr>
                      <m:t>0</m:t>
                    </m:r>
                    <m:r>
                      <a:rPr lang="en-US" sz="2000" dirty="0">
                        <a:latin typeface="Cambria Math" panose="02040503050406030204"/>
                        <a:ea typeface="Cambria Math" panose="02040503050406030204"/>
                      </a:rPr>
                      <m:t>.</m:t>
                    </m:r>
                    <m:r>
                      <a:rPr lang="en-US" sz="2000" dirty="0">
                        <a:latin typeface="Cambria Math" panose="02040503050406030204"/>
                        <a:ea typeface="Cambria Math" panose="02040503050406030204"/>
                      </a:rPr>
                      <m:t>4</m:t>
                    </m:r>
                    <m:r>
                      <m:rPr>
                        <m:sty m:val="p"/>
                      </m:rPr>
                      <a:rPr lang="en-US" sz="2000" dirty="0">
                        <a:latin typeface="Cambria Math" panose="02040503050406030204"/>
                        <a:ea typeface="Cambria Math" panose="02040503050406030204"/>
                      </a:rPr>
                      <m:t>K</m:t>
                    </m:r>
                    <m:r>
                      <m:rPr>
                        <m:sty m:val="p"/>
                      </m:rPr>
                      <a:rPr lang="en-US" sz="2000" dirty="0">
                        <a:latin typeface="Cambria Math" panose="02040503050406030204"/>
                        <a:ea typeface="Cambria Math" panose="02040503050406030204"/>
                      </a:rPr>
                      <m:t>N</m:t>
                    </m:r>
                    <m:r>
                      <a:rPr lang="en-US" sz="2000" dirty="0">
                        <a:latin typeface="Cambria Math" panose="02040503050406030204"/>
                        <a:ea typeface="Cambria Math" panose="02040503050406030204"/>
                      </a:rPr>
                      <m:t>/</m:t>
                    </m:r>
                    <m:sSup>
                      <m:sSupPr>
                        <m:ctrlPr>
                          <a:rPr/>
                        </m:ctrlPr>
                      </m:sSupPr>
                      <m:e>
                        <m:r>
                          <m:rPr>
                            <m:sty m:val="p"/>
                          </m:rPr>
                          <a:rPr lang="en-US" sz="2000" dirty="0">
                            <a:latin typeface="Cambria Math" panose="02040503050406030204"/>
                            <a:ea typeface="Cambria Math" panose="02040503050406030204"/>
                          </a:rPr>
                          <m:t>m</m:t>
                        </m:r>
                      </m:e>
                      <m:sup>
                        <m:r>
                          <a:rPr lang="en-US" sz="2000" dirty="0">
                            <a:latin typeface="Cambria Math" panose="02040503050406030204"/>
                            <a:ea typeface="Cambria Math" panose="02040503050406030204"/>
                          </a:rPr>
                          <m:t>2</m:t>
                        </m:r>
                      </m:sup>
                    </m:sSup>
                  </m:oMath>
                </a14:m>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；地面粗糙度：C类；</a:t>
                </a:r>
                <a:endParaRPr sz="2000" dirty="0"/>
              </a:p>
            </p:txBody>
          </p:sp>
        </mc:Choice>
        <mc:Fallback>
          <p:sp>
            <p:nvSpPr>
              <p:cNvPr id="1968" name="textbox 1968"/>
              <p:cNvSpPr>
                <a:spLocks noRot="1" noChangeAspect="1" noMove="1" noResize="1" noEditPoints="1" noAdjustHandles="1" noChangeArrowheads="1" noChangeShapeType="1" noTextEdit="1"/>
              </p:cNvSpPr>
              <p:nvPr/>
            </p:nvSpPr>
            <p:spPr>
              <a:xfrm>
                <a:off x="1457325" y="2371725"/>
                <a:ext cx="5038725" cy="295275"/>
              </a:xfrm>
              <a:prstGeom prst="rect">
                <a:avLst/>
              </a:prstGeom>
              <a:blipFill rotWithShape="1">
                <a:blip r:embed="rId3"/>
                <a:stretch>
                  <a:fillRect t="-5591" r="-2735" b="-12043"/>
                </a:stretch>
              </a:blipFill>
              <a:ln w="0" cap="flat">
                <a:noFill/>
                <a:prstDash val="solid"/>
                <a:miter lim="0"/>
              </a:ln>
            </p:spPr>
            <p:txBody>
              <a:bodyPr/>
              <a:lstStyle/>
              <a:p>
                <a:r>
                  <a:rPr lang="zh-CN" altLang="en-US">
                    <a:noFill/>
                  </a:rPr>
                  <a:t> </a:t>
                </a:r>
              </a:p>
            </p:txBody>
          </p:sp>
        </mc:Fallback>
      </mc:AlternateContent>
      <p:sp>
        <p:nvSpPr>
          <p:cNvPr id="1970" name="textbox 1970"/>
          <p:cNvSpPr/>
          <p:nvPr/>
        </p:nvSpPr>
        <p:spPr>
          <a:xfrm>
            <a:off x="1447800" y="2838450"/>
            <a:ext cx="3067050" cy="295275"/>
          </a:xfrm>
          <a:prstGeom prst="rect">
            <a:avLst/>
          </a:prstGeom>
          <a:noFill/>
          <a:ln w="0" cap="flat">
            <a:noFill/>
            <a:prstDash val="solid"/>
            <a:miter lim="0"/>
          </a:ln>
        </p:spPr>
        <p:txBody>
          <a:bodyPr vert="horz" wrap="none" lIns="0" tIns="0" rIns="0" bIns="0"/>
          <a:lstStyle/>
          <a:p>
            <a:pPr marL="295275" indent="-247650"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基本雪压：0.30 KN/m²;</a:t>
            </a:r>
            <a:endParaRPr sz="2000" dirty="0"/>
          </a:p>
        </p:txBody>
      </p:sp>
      <p:sp>
        <p:nvSpPr>
          <p:cNvPr id="1972" name="textbox 1972"/>
          <p:cNvSpPr/>
          <p:nvPr/>
        </p:nvSpPr>
        <p:spPr>
          <a:xfrm>
            <a:off x="1457325" y="3295650"/>
            <a:ext cx="3419475" cy="295275"/>
          </a:xfrm>
          <a:prstGeom prst="rect">
            <a:avLst/>
          </a:prstGeom>
          <a:noFill/>
          <a:ln w="0" cap="flat">
            <a:noFill/>
            <a:prstDash val="solid"/>
            <a:miter lim="0"/>
          </a:ln>
        </p:spPr>
        <p:txBody>
          <a:bodyPr vert="horz" wrap="none" lIns="0" tIns="0" rIns="0" bIns="0"/>
          <a:lstStyle/>
          <a:p>
            <a:pPr marL="285750" indent="-247650"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标准层活荷载：2.0 KN/m²;</a:t>
            </a:r>
            <a:endParaRPr sz="2000" dirty="0"/>
          </a:p>
        </p:txBody>
      </p:sp>
      <p:sp>
        <p:nvSpPr>
          <p:cNvPr id="1974" name="textbox 1974"/>
          <p:cNvSpPr/>
          <p:nvPr/>
        </p:nvSpPr>
        <p:spPr>
          <a:xfrm>
            <a:off x="1447800" y="3762375"/>
            <a:ext cx="6610350" cy="276225"/>
          </a:xfrm>
          <a:prstGeom prst="rect">
            <a:avLst/>
          </a:prstGeom>
          <a:noFill/>
          <a:ln w="0" cap="flat">
            <a:noFill/>
            <a:prstDash val="solid"/>
            <a:miter lim="0"/>
          </a:ln>
        </p:spPr>
        <p:txBody>
          <a:bodyPr vert="horz" wrap="none" lIns="0" tIns="0" rIns="0" bIns="0"/>
          <a:lstStyle/>
          <a:p>
            <a:pPr marL="295275" indent="-257175"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不上人屋面，板厚：120mm，屋面活荷载：0.5 KN/m2;</a:t>
            </a:r>
            <a:endParaRPr sz="2000" dirty="0"/>
          </a:p>
        </p:txBody>
      </p:sp>
      <p:sp>
        <p:nvSpPr>
          <p:cNvPr id="1976" name="textbox 1976"/>
          <p:cNvSpPr/>
          <p:nvPr/>
        </p:nvSpPr>
        <p:spPr>
          <a:xfrm>
            <a:off x="1447800" y="4229100"/>
            <a:ext cx="3105150" cy="295275"/>
          </a:xfrm>
          <a:prstGeom prst="rect">
            <a:avLst/>
          </a:prstGeom>
          <a:noFill/>
          <a:ln w="0" cap="flat">
            <a:noFill/>
            <a:prstDash val="solid"/>
            <a:miter lim="0"/>
          </a:ln>
        </p:spPr>
        <p:txBody>
          <a:bodyPr vert="horz" wrap="none" lIns="0" tIns="0" rIns="0" bIns="0"/>
          <a:lstStyle/>
          <a:p>
            <a:pPr marL="304800" indent="-257175"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设计地震动分组：第1组；</a:t>
            </a:r>
            <a:endParaRPr sz="2000" dirty="0"/>
          </a:p>
        </p:txBody>
      </p:sp>
      <p:sp>
        <p:nvSpPr>
          <p:cNvPr id="1978" name="textbox 1978"/>
          <p:cNvSpPr/>
          <p:nvPr/>
        </p:nvSpPr>
        <p:spPr>
          <a:xfrm>
            <a:off x="1447800" y="4676775"/>
            <a:ext cx="5353050" cy="285750"/>
          </a:xfrm>
          <a:prstGeom prst="rect">
            <a:avLst/>
          </a:prstGeom>
          <a:noFill/>
          <a:ln w="0" cap="flat">
            <a:noFill/>
            <a:prstDash val="solid"/>
            <a:miter lim="0"/>
          </a:ln>
        </p:spPr>
        <p:txBody>
          <a:bodyPr vert="horz" wrap="none" lIns="0" tIns="0" rIns="0" bIns="0"/>
          <a:lstStyle/>
          <a:p>
            <a:pPr marL="295275" indent="-257175"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设计场地类别：II类；场地特征周期：0.35s;</a:t>
            </a:r>
            <a:endParaRPr sz="2000" dirty="0"/>
          </a:p>
        </p:txBody>
      </p:sp>
      <p:sp>
        <p:nvSpPr>
          <p:cNvPr id="1980" name="textbox 1980"/>
          <p:cNvSpPr/>
          <p:nvPr/>
        </p:nvSpPr>
        <p:spPr>
          <a:xfrm>
            <a:off x="1457325" y="5143500"/>
            <a:ext cx="5876925" cy="285750"/>
          </a:xfrm>
          <a:prstGeom prst="rect">
            <a:avLst/>
          </a:prstGeom>
          <a:noFill/>
          <a:ln w="0" cap="flat">
            <a:noFill/>
            <a:prstDash val="solid"/>
            <a:miter lim="0"/>
          </a:ln>
        </p:spPr>
        <p:txBody>
          <a:bodyPr vert="horz" wrap="none" lIns="0" tIns="0" rIns="0" bIns="0"/>
          <a:lstStyle/>
          <a:p>
            <a:pPr marL="285750" indent="-247650"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梁、柱主筋等级：HRB335；箍筋等级：HPB235。</a:t>
            </a:r>
            <a:endParaRPr sz="2000" dirty="0"/>
          </a:p>
        </p:txBody>
      </p:sp>
      <p:sp>
        <p:nvSpPr>
          <p:cNvPr id="1982" name="textbox 1982"/>
          <p:cNvSpPr/>
          <p:nvPr/>
        </p:nvSpPr>
        <p:spPr>
          <a:xfrm>
            <a:off x="1447800" y="5600700"/>
            <a:ext cx="5400675" cy="285750"/>
          </a:xfrm>
          <a:prstGeom prst="rect">
            <a:avLst/>
          </a:prstGeom>
          <a:noFill/>
          <a:ln w="0" cap="flat">
            <a:noFill/>
            <a:prstDash val="solid"/>
            <a:miter lim="0"/>
          </a:ln>
        </p:spPr>
        <p:txBody>
          <a:bodyPr vert="horz" wrap="none" lIns="0" tIns="0" rIns="0" bIns="0"/>
          <a:lstStyle/>
          <a:p>
            <a:pPr marL="285750" indent="-247650" algn="l" rtl="0" eaLnBrk="0">
              <a:buChar char="•"/>
            </a:pPr>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结构设计中采用两个等级混凝土：C30和C35。</a:t>
            </a:r>
            <a:endParaRPr sz="2000" dirty="0"/>
          </a:p>
        </p:txBody>
      </p:sp>
      <p:sp>
        <p:nvSpPr>
          <p:cNvPr id="1984" name="textbox 1984"/>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1986" name="textbox 1986"/>
          <p:cNvSpPr/>
          <p:nvPr/>
        </p:nvSpPr>
        <p:spPr>
          <a:xfrm>
            <a:off x="11772900" y="6734175"/>
            <a:ext cx="152400" cy="104775"/>
          </a:xfrm>
          <a:prstGeom prst="rect">
            <a:avLst/>
          </a:prstGeom>
          <a:noFill/>
          <a:ln w="0" cap="flat">
            <a:noFill/>
            <a:prstDash val="solid"/>
            <a:miter lim="0"/>
          </a:ln>
        </p:spPr>
        <p:txBody>
          <a:bodyPr vert="horz" wrap="none" lIns="0" tIns="0" rIns="0" bIns="0"/>
          <a:lstStyle/>
          <a:p>
            <a:pPr algn="l" rtl="0" eaLnBrk="0"/>
            <a:r>
              <a:rPr sz="800" kern="0" spc="300" dirty="0">
                <a:solidFill>
                  <a:srgbClr val="FFFFFF">
                    <a:alpha val="100000"/>
                  </a:srgbClr>
                </a:solidFill>
                <a:latin typeface="Arial" panose="020B0604020202020204"/>
                <a:ea typeface="Arial" panose="020B0604020202020204"/>
                <a:cs typeface="Arial" panose="020B0604020202020204"/>
              </a:rPr>
              <a:t>46</a:t>
            </a:r>
            <a:endParaRPr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0" name="picture 1990"/>
          <p:cNvPicPr>
            <a:picLocks noChangeAspect="1"/>
          </p:cNvPicPr>
          <p:nvPr/>
        </p:nvPicPr>
        <p:blipFill>
          <a:blip r:embed="rId1"/>
          <a:stretch>
            <a:fillRect/>
          </a:stretch>
        </p:blipFill>
        <p:spPr>
          <a:xfrm>
            <a:off x="0" y="0"/>
            <a:ext cx="12192000" cy="6858000"/>
          </a:xfrm>
          <a:prstGeom prst="rect">
            <a:avLst/>
          </a:prstGeom>
        </p:spPr>
      </p:pic>
      <p:sp>
        <p:nvSpPr>
          <p:cNvPr id="1992" name="textbox 1992"/>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E779D">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1994" name="textbox 1994"/>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1996" name="textbox 199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D81A6">
                    <a:alpha val="100000"/>
                  </a:srgbClr>
                </a:solidFill>
                <a:latin typeface="华文楷体" panose="02010600040101010101" charset="-122"/>
                <a:ea typeface="华文楷体" panose="02010600040101010101" charset="-122"/>
                <a:cs typeface="华文楷体" panose="02010600040101010101" charset="-122"/>
              </a:rPr>
              <a:t>第三届复杂装备可靠性工程与科学研讨会暨第十二届模型验证与确认专题研讨会</a:t>
            </a:r>
            <a:endParaRPr sz="1000" dirty="0"/>
          </a:p>
        </p:txBody>
      </p:sp>
      <p:pic>
        <p:nvPicPr>
          <p:cNvPr id="2000" name="picture 2000"/>
          <p:cNvPicPr>
            <a:picLocks noChangeAspect="1"/>
          </p:cNvPicPr>
          <p:nvPr/>
        </p:nvPicPr>
        <p:blipFill>
          <a:blip r:embed="rId2"/>
          <a:stretch>
            <a:fillRect/>
          </a:stretch>
        </p:blipFill>
        <p:spPr>
          <a:xfrm>
            <a:off x="295275" y="247650"/>
            <a:ext cx="733425" cy="666750"/>
          </a:xfrm>
          <a:prstGeom prst="rect">
            <a:avLst/>
          </a:prstGeom>
        </p:spPr>
      </p:pic>
      <p:sp>
        <p:nvSpPr>
          <p:cNvPr id="2002" name="textbox 2002"/>
          <p:cNvSpPr/>
          <p:nvPr/>
        </p:nvSpPr>
        <p:spPr>
          <a:xfrm>
            <a:off x="1447800" y="333375"/>
            <a:ext cx="600075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004" name="textbox 2004"/>
          <p:cNvSpPr/>
          <p:nvPr/>
        </p:nvSpPr>
        <p:spPr>
          <a:xfrm>
            <a:off x="1457325" y="762000"/>
            <a:ext cx="6543675"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006" name="textbox 2006"/>
          <p:cNvSpPr/>
          <p:nvPr/>
        </p:nvSpPr>
        <p:spPr>
          <a:xfrm>
            <a:off x="1447800" y="1114425"/>
            <a:ext cx="481012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工程应用：RC框架结构抗震可靠度分析</a:t>
            </a:r>
            <a:endParaRPr sz="2000" dirty="0"/>
          </a:p>
        </p:txBody>
      </p:sp>
      <p:sp>
        <p:nvSpPr>
          <p:cNvPr id="2008" name="textbox 2008"/>
          <p:cNvSpPr/>
          <p:nvPr/>
        </p:nvSpPr>
        <p:spPr>
          <a:xfrm>
            <a:off x="1466850" y="1457325"/>
            <a:ext cx="4000500" cy="13335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Engineering Application: Seismic Reliability Analysis of RC Frame Structures</a:t>
            </a:r>
            <a:endParaRPr sz="1000" dirty="0"/>
          </a:p>
        </p:txBody>
      </p:sp>
      <p:sp>
        <p:nvSpPr>
          <p:cNvPr id="2010" name="textbox 2010"/>
          <p:cNvSpPr/>
          <p:nvPr/>
        </p:nvSpPr>
        <p:spPr>
          <a:xfrm>
            <a:off x="4124325" y="1533525"/>
            <a:ext cx="3914775" cy="219075"/>
          </a:xfrm>
          <a:prstGeom prst="rect">
            <a:avLst/>
          </a:prstGeom>
          <a:noFill/>
          <a:ln w="0" cap="flat">
            <a:noFill/>
            <a:prstDash val="solid"/>
            <a:miter lim="0"/>
          </a:ln>
        </p:spPr>
        <p:txBody>
          <a:bodyPr vert="horz" wrap="none" lIns="0" tIns="0" rIns="0" bIns="0"/>
          <a:lstStyle/>
          <a:p>
            <a:pPr algn="l" rtl="0" eaLnBrk="0"/>
            <a:r>
              <a:rPr sz="1600" b="1" u="sng" kern="0" spc="0" dirty="0">
                <a:solidFill>
                  <a:srgbClr val="7030A0">
                    <a:alpha val="100000"/>
                  </a:srgbClr>
                </a:solidFill>
                <a:latin typeface="Times New Roman" panose="02020603050405020304"/>
                <a:ea typeface="Times New Roman" panose="02020603050405020304"/>
                <a:cs typeface="Times New Roman" panose="02020603050405020304"/>
              </a:rPr>
              <a:t>OpenSees</a:t>
            </a:r>
            <a:r>
              <a:rPr sz="1600" b="1" u="sng" kern="0" spc="0" dirty="0">
                <a:solidFill>
                  <a:srgbClr val="7030A0">
                    <a:alpha val="100000"/>
                  </a:srgbClr>
                </a:solidFill>
                <a:latin typeface="华文楷体" panose="02010600040101010101" charset="-122"/>
                <a:ea typeface="华文楷体" panose="02010600040101010101" charset="-122"/>
                <a:cs typeface="华文楷体" panose="02010600040101010101" charset="-122"/>
              </a:rPr>
              <a:t>模型与</a:t>
            </a:r>
            <a:r>
              <a:rPr sz="1600" b="1" u="sng" kern="0" spc="0" dirty="0">
                <a:solidFill>
                  <a:srgbClr val="7030A0">
                    <a:alpha val="100000"/>
                  </a:srgbClr>
                </a:solidFill>
                <a:latin typeface="Times New Roman" panose="02020603050405020304"/>
                <a:ea typeface="Times New Roman" panose="02020603050405020304"/>
                <a:cs typeface="Times New Roman" panose="02020603050405020304"/>
              </a:rPr>
              <a:t>PKPM</a:t>
            </a:r>
            <a:r>
              <a:rPr sz="1600" b="1" u="sng" kern="0" spc="0" dirty="0">
                <a:solidFill>
                  <a:srgbClr val="7030A0">
                    <a:alpha val="100000"/>
                  </a:srgbClr>
                </a:solidFill>
                <a:latin typeface="华文楷体" panose="02010600040101010101" charset="-122"/>
                <a:ea typeface="华文楷体" panose="02010600040101010101" charset="-122"/>
                <a:cs typeface="华文楷体" panose="02010600040101010101" charset="-122"/>
              </a:rPr>
              <a:t>的结构动力特性对比</a:t>
            </a:r>
            <a:endParaRPr sz="1600" dirty="0"/>
          </a:p>
        </p:txBody>
      </p:sp>
      <p:graphicFrame>
        <p:nvGraphicFramePr>
          <p:cNvPr id="2012" name="table 2012"/>
          <p:cNvGraphicFramePr>
            <a:graphicFrameLocks noGrp="1"/>
          </p:cNvGraphicFramePr>
          <p:nvPr/>
        </p:nvGraphicFramePr>
        <p:xfrm>
          <a:off x="1219200" y="1752600"/>
          <a:ext cx="9696450" cy="4476750"/>
        </p:xfrm>
        <a:graphic>
          <a:graphicData uri="http://schemas.openxmlformats.org/drawingml/2006/table">
            <a:tbl>
              <a:tblPr/>
              <a:tblGrid>
                <a:gridCol w="866775"/>
                <a:gridCol w="904875"/>
                <a:gridCol w="990600"/>
                <a:gridCol w="752475"/>
                <a:gridCol w="895350"/>
                <a:gridCol w="876300"/>
                <a:gridCol w="885825"/>
                <a:gridCol w="885825"/>
                <a:gridCol w="866775"/>
                <a:gridCol w="895350"/>
                <a:gridCol w="866775"/>
              </a:tblGrid>
              <a:tr h="371475">
                <a:tc rowSpan="3">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结构编号</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D1C1"/>
                    </a:solidFill>
                  </a:tcPr>
                </a:tc>
                <a:tc gridSpan="2">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楼层重力荷载(kN)</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D0C1"/>
                    </a:solidFill>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周期(s)</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D0C1"/>
                    </a:solidFill>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6">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前三阶振型</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D1C1"/>
                    </a:solidFill>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rowSpan="2">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PKPM</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D0C2"/>
                    </a:solidFill>
                  </a:tcPr>
                </a:tc>
                <a:tc rowSpan="2">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OpenSees</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0C2"/>
                    </a:solidFill>
                  </a:tcPr>
                </a:tc>
                <a:tc rowSpan="2">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PKPM</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0C3"/>
                    </a:solidFill>
                  </a:tcPr>
                </a:tc>
                <a:tc rowSpan="2">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OpenSees</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0C1"/>
                    </a:solidFill>
                  </a:tcPr>
                </a:tc>
                <a:tc gridSpan="3">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PKPM</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D0C1"/>
                    </a:solidFill>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3">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OpenSees</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D0C1"/>
                    </a:solidFill>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1C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1C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1C3"/>
                    </a:solidFill>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1C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1C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D1C2"/>
                    </a:solidFill>
                  </a:tcPr>
                </a:tc>
              </a:tr>
              <a:tr h="209550">
                <a:tc rowSpan="3">
                  <a:txBody>
                    <a:bodyPr/>
                    <a:lstStyle/>
                    <a:p>
                      <a:pPr algn="ctr" rtl="0" eaLnBrk="0"/>
                      <a:r>
                        <a:rPr sz="1300" b="1"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F3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834.84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6"/>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834.84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A"/>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0.558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BF8"/>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0.558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C"/>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0.374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8"/>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0.936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9"/>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0.370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8"/>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A"/>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0.912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A"/>
                    </a:solidFill>
                  </a:tcPr>
                </a:tc>
              </a:tr>
              <a:tr h="209550">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827.34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EE"/>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827.34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0.173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DFB"/>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0.160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FEFE"/>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0.743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0.656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E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0"/>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0.743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0.657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1"/>
                    </a:solidFill>
                  </a:tcPr>
                </a:tc>
              </a:tr>
              <a:tr h="209550">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967.53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AFAF5"/>
                    </a:solidFill>
                  </a:tcPr>
                </a:tc>
                <a:tc>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967.53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AFA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A"/>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0.082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DFC"/>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-0.740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0.333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B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B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AFA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0.322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BF7"/>
                    </a:solidFill>
                  </a:tcPr>
                </a:tc>
              </a:tr>
              <a:tr h="200025">
                <a:tc rowSpan="6">
                  <a:txBody>
                    <a:bodyPr/>
                    <a:lstStyle/>
                    <a:p>
                      <a:pPr algn="ctr" rtl="0" eaLnBrk="0"/>
                      <a:r>
                        <a:rPr sz="1300" b="1" kern="0" spc="0" dirty="0">
                          <a:solidFill>
                            <a:srgbClr val="000000">
                              <a:alpha val="100000"/>
                            </a:srgbClr>
                          </a:solidFill>
                          <a:latin typeface="Times New Roman" panose="02020603050405020304"/>
                          <a:ea typeface="Times New Roman" panose="02020603050405020304"/>
                          <a:cs typeface="Times New Roman" panose="02020603050405020304"/>
                        </a:rPr>
                        <a:t>F6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874.44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874.44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7"/>
                    </a:solidFill>
                  </a:tcPr>
                </a:tc>
                <a:tc rowSpan="6">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0.924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EFE"/>
                    </a:solidFill>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0.936</a:t>
                      </a:r>
                      <a:endParaRPr sz="14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0.173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0.577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6"/>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0.881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0.171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0.542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0.869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BF7"/>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4"/>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0.257</a:t>
                      </a:r>
                      <a:endParaRPr sz="1400" dirty="0"/>
                    </a:p>
                  </a:txBody>
                  <a:tcPr marL="0" marR="0" marT="0" marB="0" vert="horz" anchor="b">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0.386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0.830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0.382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0.890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r>
              <a:tr h="21907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EF"/>
                    </a:solidFill>
                  </a:tcPr>
                </a:tc>
                <a:tc>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rowSpan="4">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0.146</a:t>
                      </a:r>
                      <a:endParaRPr sz="1300" dirty="0"/>
                    </a:p>
                  </a:txBody>
                  <a:tcPr marL="0" marR="0" marT="0" marB="0" vert="horz" anchor="t">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0.590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0.947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-0.248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0.588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0.996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-0.175</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0"/>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FBF3"/>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0.767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0.429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0.763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0.499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EFB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3"/>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863.64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5"/>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0.906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-0.312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-0.472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0.898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-0.261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-0.532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5"/>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985.68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985.68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4"/>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-0.956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0.881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6"/>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-0.959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0.725</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r>
              <a:tr h="219075">
                <a:tc rowSpan="9">
                  <a:txBody>
                    <a:bodyPr/>
                    <a:lstStyle/>
                    <a:p>
                      <a:pPr algn="ctr" rtl="0" eaLnBrk="0"/>
                      <a:r>
                        <a:rPr sz="1300" b="1" kern="0" spc="0" dirty="0">
                          <a:solidFill>
                            <a:srgbClr val="000000">
                              <a:alpha val="100000"/>
                            </a:srgbClr>
                          </a:solidFill>
                          <a:latin typeface="Times New Roman" panose="02020603050405020304"/>
                          <a:ea typeface="Times New Roman" panose="02020603050405020304"/>
                          <a:cs typeface="Times New Roman" panose="02020603050405020304"/>
                        </a:rPr>
                        <a:t>F9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921.24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9"/>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921.24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B"/>
                    </a:solidFill>
                  </a:tcPr>
                </a:tc>
                <a:tc rowSpan="9">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1.356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1.351</a:t>
                      </a:r>
                      <a:endParaRPr sz="14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EFE"/>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0.082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A"/>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0.292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9"/>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0.548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B"/>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0.081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B"/>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0.295</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B"/>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0.547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B"/>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A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0.417</a:t>
                      </a:r>
                      <a:endParaRPr sz="14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0.211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0.666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0.210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0.675</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4"/>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9F7"/>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A"/>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rowSpan="7">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0.222</a:t>
                      </a:r>
                      <a:endParaRPr sz="1300" dirty="0"/>
                    </a:p>
                  </a:txBody>
                  <a:tcPr marL="0" marR="0" marT="0" marB="0" vert="horz" anchor="t">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FFFFF"/>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8"/>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0.924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8"/>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0.873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9"/>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0.353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9"/>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0.939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9"/>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0.876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9"/>
                    </a:solidFill>
                  </a:tcPr>
                </a:tc>
              </a:tr>
              <a:tr h="209550">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BF2"/>
                    </a:solidFill>
                  </a:tcPr>
                </a:tc>
                <a:tc>
                  <a:txBody>
                    <a:bodyPr/>
                    <a:lstStyle/>
                    <a:p>
                      <a:pPr algn="ctr" rtl="0" eaLnBrk="0"/>
                      <a:r>
                        <a:rPr sz="13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CF5"/>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0.498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0.969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0.201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0.496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0.987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0.207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4"/>
                    </a:solidFill>
                  </a:tcPr>
                </a:tc>
              </a:tr>
              <a:tr h="21907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9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9F5"/>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0.633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9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0.776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-0.593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9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0.631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9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0.797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5"/>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-0.585</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9F4"/>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4"/>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0.753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C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0.388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-0.990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0.752</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0.408</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-0.989</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0"/>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3"/>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0.856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-0.105</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A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-0.727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-0.090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-0.736</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3"/>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EE"/>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906.54</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0.937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0"/>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-0.595</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0"/>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0.047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0.937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-0.587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2"/>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0.027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2"/>
                    </a:solidFill>
                  </a:tcPr>
                </a:tc>
              </a:tr>
              <a:tr h="2000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1007.13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BF9EF"/>
                    </a:solidFill>
                  </a:tcPr>
                </a:tc>
                <a:tc>
                  <a:txBody>
                    <a:bodyPr/>
                    <a:lstStyle/>
                    <a:p>
                      <a:pPr algn="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1007.13</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AF2"/>
                    </a:solidFill>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CFBF1"/>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0.931</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-1.000</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BF4"/>
                    </a:solidFill>
                  </a:tcPr>
                </a:tc>
                <a:tc>
                  <a:txBody>
                    <a:bodyPr/>
                    <a:lstStyle/>
                    <a:p>
                      <a:pPr algn="ctr"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0.897</a:t>
                      </a:r>
                      <a:endParaRPr sz="1300" dirty="0"/>
                    </a:p>
                  </a:txBody>
                  <a:tcPr marL="0" marR="0" marT="0" marB="0" vert="horz" anchor="ctr">
                    <a:lnL w="19050" cap="flat" cmpd="sng" algn="ctr">
                      <a:solidFill>
                        <a:srgbClr val="F3EA9C"/>
                      </a:solidFill>
                      <a:prstDash val="solid"/>
                      <a:round/>
                      <a:headEnd type="none" w="med" len="med"/>
                      <a:tailEnd type="none" w="med" len="med"/>
                    </a:lnL>
                    <a:lnR w="19050" cap="flat" cmpd="sng" algn="ctr">
                      <a:solidFill>
                        <a:srgbClr val="F3EA9C"/>
                      </a:solidFill>
                      <a:prstDash val="solid"/>
                      <a:round/>
                      <a:headEnd type="none" w="med" len="med"/>
                      <a:tailEnd type="none" w="med" len="med"/>
                    </a:lnR>
                    <a:lnT w="19050" cap="flat" cmpd="sng" algn="ctr">
                      <a:solidFill>
                        <a:srgbClr val="F3EA9C"/>
                      </a:solidFill>
                      <a:prstDash val="solid"/>
                      <a:round/>
                      <a:headEnd type="none" w="med" len="med"/>
                      <a:tailEnd type="none" w="med" len="med"/>
                    </a:lnT>
                    <a:lnB w="19050" cap="flat" cmpd="sng" algn="ctr">
                      <a:solidFill>
                        <a:srgbClr val="F3EA9C"/>
                      </a:solidFill>
                      <a:prstDash val="solid"/>
                      <a:round/>
                      <a:headEnd type="none" w="med" len="med"/>
                      <a:tailEnd type="none" w="med" len="med"/>
                    </a:lnB>
                    <a:solidFill>
                      <a:srgbClr val="FDFCF4"/>
                    </a:solidFill>
                  </a:tcPr>
                </a:tc>
              </a:tr>
            </a:tbl>
          </a:graphicData>
        </a:graphic>
      </p:graphicFrame>
      <p:sp>
        <p:nvSpPr>
          <p:cNvPr id="2014" name="textbox 2014"/>
          <p:cNvSpPr/>
          <p:nvPr/>
        </p:nvSpPr>
        <p:spPr>
          <a:xfrm>
            <a:off x="2476500" y="6334125"/>
            <a:ext cx="64389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建立的</a:t>
            </a:r>
            <a:r>
              <a:rPr sz="2000" b="1" kern="0" spc="0" dirty="0">
                <a:solidFill>
                  <a:srgbClr val="FFFFFF">
                    <a:alpha val="100000"/>
                  </a:srgbClr>
                </a:solidFill>
                <a:latin typeface="Times New Roman" panose="02020603050405020304"/>
                <a:ea typeface="Times New Roman" panose="02020603050405020304"/>
                <a:cs typeface="Times New Roman" panose="02020603050405020304"/>
              </a:rPr>
              <a:t>OpenSees</a:t>
            </a:r>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模型准确地重现了所研究结构的动力特点</a:t>
            </a:r>
            <a:endParaRPr sz="2000" dirty="0"/>
          </a:p>
        </p:txBody>
      </p:sp>
      <p:sp>
        <p:nvSpPr>
          <p:cNvPr id="2016" name="textbox 2016"/>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 (Reliability And Resilience Engineering Research Group, RARE @HIT)</a:t>
            </a:r>
            <a:endParaRPr sz="1000" dirty="0"/>
          </a:p>
        </p:txBody>
      </p:sp>
      <p:sp>
        <p:nvSpPr>
          <p:cNvPr id="2018" name="textbox 2018"/>
          <p:cNvSpPr/>
          <p:nvPr/>
        </p:nvSpPr>
        <p:spPr>
          <a:xfrm>
            <a:off x="11772900" y="6743700"/>
            <a:ext cx="133350" cy="95250"/>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47</a:t>
            </a:r>
            <a:endParaRPr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2" name="picture 2022"/>
          <p:cNvPicPr>
            <a:picLocks noChangeAspect="1"/>
          </p:cNvPicPr>
          <p:nvPr/>
        </p:nvPicPr>
        <p:blipFill>
          <a:blip r:embed="rId1"/>
          <a:stretch>
            <a:fillRect/>
          </a:stretch>
        </p:blipFill>
        <p:spPr>
          <a:xfrm>
            <a:off x="0" y="0"/>
            <a:ext cx="12192000" cy="6858000"/>
          </a:xfrm>
          <a:prstGeom prst="rect">
            <a:avLst/>
          </a:prstGeom>
        </p:spPr>
      </p:pic>
      <p:sp>
        <p:nvSpPr>
          <p:cNvPr id="2024" name="textbox 2024"/>
          <p:cNvSpPr/>
          <p:nvPr/>
        </p:nvSpPr>
        <p:spPr>
          <a:xfrm>
            <a:off x="161925" y="0"/>
            <a:ext cx="828675" cy="161925"/>
          </a:xfrm>
          <a:prstGeom prst="rect">
            <a:avLst/>
          </a:prstGeom>
          <a:noFill/>
          <a:ln w="0" cap="flat">
            <a:noFill/>
            <a:prstDash val="solid"/>
            <a:miter lim="0"/>
          </a:ln>
        </p:spPr>
        <p:txBody>
          <a:bodyPr vert="horz" wrap="none" lIns="0" tIns="0" rIns="0" bIns="0"/>
          <a:lstStyle/>
          <a:p>
            <a:pPr algn="l" rtl="0" eaLnBrk="0"/>
            <a:r>
              <a:rPr sz="11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026" name="textbox 2026"/>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028" name="textbox 202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638CB3">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032" name="picture 2032"/>
          <p:cNvPicPr>
            <a:picLocks noChangeAspect="1"/>
          </p:cNvPicPr>
          <p:nvPr/>
        </p:nvPicPr>
        <p:blipFill>
          <a:blip r:embed="rId2"/>
          <a:stretch>
            <a:fillRect/>
          </a:stretch>
        </p:blipFill>
        <p:spPr>
          <a:xfrm>
            <a:off x="304800" y="247650"/>
            <a:ext cx="723900" cy="666750"/>
          </a:xfrm>
          <a:prstGeom prst="rect">
            <a:avLst/>
          </a:prstGeom>
        </p:spPr>
      </p:pic>
      <p:sp>
        <p:nvSpPr>
          <p:cNvPr id="2034" name="textbox 2034"/>
          <p:cNvSpPr/>
          <p:nvPr/>
        </p:nvSpPr>
        <p:spPr>
          <a:xfrm>
            <a:off x="1457325" y="352425"/>
            <a:ext cx="5981700" cy="3524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036" name="textbox 2036"/>
          <p:cNvSpPr/>
          <p:nvPr/>
        </p:nvSpPr>
        <p:spPr>
          <a:xfrm>
            <a:off x="1457325" y="762000"/>
            <a:ext cx="6543675"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038" name="textbox 2038"/>
          <p:cNvSpPr/>
          <p:nvPr/>
        </p:nvSpPr>
        <p:spPr>
          <a:xfrm>
            <a:off x="1457325" y="1133475"/>
            <a:ext cx="4772025" cy="257175"/>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工程应用：</a:t>
            </a:r>
            <a:r>
              <a:rPr sz="2000" b="1" kern="0" spc="0" dirty="0">
                <a:solidFill>
                  <a:srgbClr val="0066CC">
                    <a:alpha val="100000"/>
                  </a:srgbClr>
                </a:solidFill>
                <a:latin typeface="Arial" panose="020B0604020202020204"/>
                <a:ea typeface="Arial" panose="020B0604020202020204"/>
                <a:cs typeface="Arial" panose="020B0604020202020204"/>
              </a:rPr>
              <a:t>RC</a:t>
            </a:r>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框架结构抗震可靠度分析</a:t>
            </a:r>
            <a:endParaRPr sz="2000" dirty="0"/>
          </a:p>
        </p:txBody>
      </p:sp>
      <p:sp>
        <p:nvSpPr>
          <p:cNvPr id="2040" name="textbox 2040"/>
          <p:cNvSpPr/>
          <p:nvPr/>
        </p:nvSpPr>
        <p:spPr>
          <a:xfrm>
            <a:off x="1466850" y="1457325"/>
            <a:ext cx="4029075" cy="114300"/>
          </a:xfrm>
          <a:prstGeom prst="rect">
            <a:avLst/>
          </a:prstGeom>
          <a:noFill/>
          <a:ln w="0" cap="flat">
            <a:noFill/>
            <a:prstDash val="solid"/>
            <a:miter lim="0"/>
          </a:ln>
        </p:spPr>
        <p:txBody>
          <a:bodyPr vert="horz" wrap="none" lIns="0" tIns="0" rIns="0" bIns="0"/>
          <a:lstStyle/>
          <a:p>
            <a:pPr algn="l" rtl="0" eaLnBrk="0"/>
            <a:r>
              <a:rPr sz="1000" u="sng" kern="0" spc="0" dirty="0">
                <a:solidFill>
                  <a:srgbClr val="66B2FF">
                    <a:alpha val="100000"/>
                  </a:srgbClr>
                </a:solidFill>
                <a:latin typeface="Times New Roman" panose="02020603050405020304"/>
                <a:ea typeface="Times New Roman" panose="02020603050405020304"/>
                <a:cs typeface="Times New Roman" panose="02020603050405020304"/>
              </a:rPr>
              <a:t>Engineering Application: Seismic Reliability Analysis of RC Frame Structures</a:t>
            </a:r>
            <a:endParaRPr sz="1000" dirty="0"/>
          </a:p>
        </p:txBody>
      </p:sp>
      <p:pic>
        <p:nvPicPr>
          <p:cNvPr id="2044" name="picture 2044"/>
          <p:cNvPicPr>
            <a:picLocks noChangeAspect="1"/>
          </p:cNvPicPr>
          <p:nvPr/>
        </p:nvPicPr>
        <p:blipFill>
          <a:blip r:embed="rId3"/>
          <a:stretch>
            <a:fillRect/>
          </a:stretch>
        </p:blipFill>
        <p:spPr>
          <a:xfrm>
            <a:off x="514350" y="1590675"/>
            <a:ext cx="5619750" cy="4457700"/>
          </a:xfrm>
          <a:prstGeom prst="rect">
            <a:avLst/>
          </a:prstGeom>
        </p:spPr>
      </p:pic>
      <p:pic>
        <p:nvPicPr>
          <p:cNvPr id="2048" name="picture 2048"/>
          <p:cNvPicPr>
            <a:picLocks noChangeAspect="1"/>
          </p:cNvPicPr>
          <p:nvPr/>
        </p:nvPicPr>
        <p:blipFill>
          <a:blip r:embed="rId4"/>
          <a:stretch>
            <a:fillRect/>
          </a:stretch>
        </p:blipFill>
        <p:spPr>
          <a:xfrm>
            <a:off x="6191250" y="1590675"/>
            <a:ext cx="5476875" cy="4457700"/>
          </a:xfrm>
          <a:prstGeom prst="rect">
            <a:avLst/>
          </a:prstGeom>
        </p:spPr>
      </p:pic>
      <p:sp>
        <p:nvSpPr>
          <p:cNvPr id="2050" name="textbox 2050"/>
          <p:cNvSpPr/>
          <p:nvPr/>
        </p:nvSpPr>
        <p:spPr>
          <a:xfrm>
            <a:off x="695325" y="6267450"/>
            <a:ext cx="955357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基于所采用建模原则建立的</a:t>
            </a:r>
            <a:r>
              <a:rPr sz="2000" b="1" kern="0" spc="0" dirty="0">
                <a:solidFill>
                  <a:srgbClr val="FFFFFF">
                    <a:alpha val="100000"/>
                  </a:srgbClr>
                </a:solidFill>
                <a:latin typeface="Times New Roman" panose="02020603050405020304"/>
                <a:ea typeface="Times New Roman" panose="02020603050405020304"/>
                <a:cs typeface="Times New Roman" panose="02020603050405020304"/>
              </a:rPr>
              <a:t>OpenSees</a:t>
            </a:r>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柱模型，可以较好地模拟试验柱的静力滞回性能。</a:t>
            </a:r>
            <a:endParaRPr sz="2000" dirty="0"/>
          </a:p>
        </p:txBody>
      </p:sp>
      <p:sp>
        <p:nvSpPr>
          <p:cNvPr id="2052" name="textbox 2052"/>
          <p:cNvSpPr/>
          <p:nvPr/>
        </p:nvSpPr>
        <p:spPr>
          <a:xfrm>
            <a:off x="247650" y="6734175"/>
            <a:ext cx="7429500" cy="114300"/>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 </a:t>
            </a:r>
            <a:r>
              <a:rPr sz="1000" kern="0" spc="0" dirty="0">
                <a:solidFill>
                  <a:srgbClr val="FFFFFF">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054" name="textbox 2054"/>
          <p:cNvSpPr/>
          <p:nvPr/>
        </p:nvSpPr>
        <p:spPr>
          <a:xfrm>
            <a:off x="11753850" y="6743700"/>
            <a:ext cx="171450" cy="104775"/>
          </a:xfrm>
          <a:prstGeom prst="rect">
            <a:avLst/>
          </a:prstGeom>
          <a:noFill/>
          <a:ln w="0" cap="flat">
            <a:noFill/>
            <a:prstDash val="solid"/>
            <a:miter lim="0"/>
          </a:ln>
        </p:spPr>
        <p:txBody>
          <a:bodyPr vert="horz" wrap="none" lIns="0" tIns="0" rIns="0" bIns="0"/>
          <a:lstStyle/>
          <a:p>
            <a:pPr algn="l" rtl="0" eaLnBrk="0"/>
            <a:r>
              <a:rPr sz="800" kern="0" spc="375" dirty="0">
                <a:solidFill>
                  <a:srgbClr val="FFFFFF">
                    <a:alpha val="100000"/>
                  </a:srgbClr>
                </a:solidFill>
                <a:latin typeface="Arial" panose="020B0604020202020204"/>
                <a:ea typeface="Arial" panose="020B0604020202020204"/>
                <a:cs typeface="Arial" panose="020B0604020202020204"/>
              </a:rPr>
              <a:t>48</a:t>
            </a:r>
            <a:endParaRPr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 name="picture 2058"/>
          <p:cNvPicPr>
            <a:picLocks noChangeAspect="1"/>
          </p:cNvPicPr>
          <p:nvPr/>
        </p:nvPicPr>
        <p:blipFill>
          <a:blip r:embed="rId1"/>
          <a:stretch>
            <a:fillRect/>
          </a:stretch>
        </p:blipFill>
        <p:spPr>
          <a:xfrm>
            <a:off x="0" y="0"/>
            <a:ext cx="12192000" cy="6858000"/>
          </a:xfrm>
          <a:prstGeom prst="rect">
            <a:avLst/>
          </a:prstGeom>
        </p:spPr>
      </p:pic>
      <p:sp>
        <p:nvSpPr>
          <p:cNvPr id="2060" name="textbox 2060"/>
          <p:cNvSpPr/>
          <p:nvPr/>
        </p:nvSpPr>
        <p:spPr>
          <a:xfrm>
            <a:off x="161925" y="0"/>
            <a:ext cx="828675" cy="161925"/>
          </a:xfrm>
          <a:prstGeom prst="rect">
            <a:avLst/>
          </a:prstGeom>
          <a:noFill/>
          <a:ln w="0" cap="flat">
            <a:noFill/>
            <a:prstDash val="solid"/>
            <a:miter lim="0"/>
          </a:ln>
        </p:spPr>
        <p:txBody>
          <a:bodyPr vert="horz" wrap="none" lIns="0" tIns="0" rIns="0" bIns="0"/>
          <a:lstStyle/>
          <a:p>
            <a:pPr algn="l" rtl="0" eaLnBrk="0"/>
            <a:r>
              <a:rPr sz="11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062" name="textbox 206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064" name="textbox 206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068" name="picture 2068"/>
          <p:cNvPicPr>
            <a:picLocks noChangeAspect="1"/>
          </p:cNvPicPr>
          <p:nvPr/>
        </p:nvPicPr>
        <p:blipFill>
          <a:blip r:embed="rId2"/>
          <a:stretch>
            <a:fillRect/>
          </a:stretch>
        </p:blipFill>
        <p:spPr>
          <a:xfrm>
            <a:off x="295275" y="247650"/>
            <a:ext cx="733425" cy="666750"/>
          </a:xfrm>
          <a:prstGeom prst="rect">
            <a:avLst/>
          </a:prstGeom>
        </p:spPr>
      </p:pic>
      <p:sp>
        <p:nvSpPr>
          <p:cNvPr id="2070" name="textbox 2070"/>
          <p:cNvSpPr/>
          <p:nvPr/>
        </p:nvSpPr>
        <p:spPr>
          <a:xfrm>
            <a:off x="1457325" y="333375"/>
            <a:ext cx="5991225"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072" name="textbox 2072"/>
          <p:cNvSpPr/>
          <p:nvPr/>
        </p:nvSpPr>
        <p:spPr>
          <a:xfrm>
            <a:off x="1457325" y="762000"/>
            <a:ext cx="6543675"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074" name="textbox 2074"/>
          <p:cNvSpPr/>
          <p:nvPr/>
        </p:nvSpPr>
        <p:spPr>
          <a:xfrm>
            <a:off x="1447800" y="1114425"/>
            <a:ext cx="480060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工程应用：RC框架结构抗震可靠度分析</a:t>
            </a:r>
            <a:endParaRPr sz="2000" dirty="0"/>
          </a:p>
        </p:txBody>
      </p:sp>
      <p:sp>
        <p:nvSpPr>
          <p:cNvPr id="2076" name="textbox 2076"/>
          <p:cNvSpPr/>
          <p:nvPr/>
        </p:nvSpPr>
        <p:spPr>
          <a:xfrm>
            <a:off x="1466850" y="1438275"/>
            <a:ext cx="4029075" cy="152400"/>
          </a:xfrm>
          <a:prstGeom prst="rect">
            <a:avLst/>
          </a:prstGeom>
          <a:noFill/>
          <a:ln w="0" cap="flat">
            <a:noFill/>
            <a:prstDash val="solid"/>
            <a:miter lim="0"/>
          </a:ln>
        </p:spPr>
        <p:txBody>
          <a:bodyPr vert="horz" wrap="none" lIns="0" tIns="0" rIns="0" bIns="0"/>
          <a:lstStyle/>
          <a:p>
            <a:pPr algn="l" rtl="0" eaLnBrk="0"/>
            <a:r>
              <a:rPr sz="1000" kern="0" spc="0" dirty="0">
                <a:solidFill>
                  <a:srgbClr val="2982CF">
                    <a:alpha val="100000"/>
                  </a:srgbClr>
                </a:solidFill>
                <a:latin typeface="Times New Roman" panose="02020603050405020304"/>
                <a:ea typeface="Times New Roman" panose="02020603050405020304"/>
                <a:cs typeface="Times New Roman" panose="02020603050405020304"/>
              </a:rPr>
              <a:t>Engineering Application: Seismic Reliability Analysis of RC Frame Structures</a:t>
            </a:r>
            <a:endParaRPr sz="1000" dirty="0"/>
          </a:p>
        </p:txBody>
      </p:sp>
      <p:pic>
        <p:nvPicPr>
          <p:cNvPr id="2080" name="picture 2080"/>
          <p:cNvPicPr>
            <a:picLocks noChangeAspect="1"/>
          </p:cNvPicPr>
          <p:nvPr/>
        </p:nvPicPr>
        <p:blipFill>
          <a:blip r:embed="rId3"/>
          <a:stretch>
            <a:fillRect/>
          </a:stretch>
        </p:blipFill>
        <p:spPr>
          <a:xfrm>
            <a:off x="781050" y="1628775"/>
            <a:ext cx="5019675" cy="4314825"/>
          </a:xfrm>
          <a:prstGeom prst="rect">
            <a:avLst/>
          </a:prstGeom>
        </p:spPr>
      </p:pic>
      <p:pic>
        <p:nvPicPr>
          <p:cNvPr id="2084" name="picture 2084"/>
          <p:cNvPicPr>
            <a:picLocks noChangeAspect="1"/>
          </p:cNvPicPr>
          <p:nvPr/>
        </p:nvPicPr>
        <p:blipFill>
          <a:blip r:embed="rId4"/>
          <a:stretch>
            <a:fillRect/>
          </a:stretch>
        </p:blipFill>
        <p:spPr>
          <a:xfrm>
            <a:off x="6000750" y="1628775"/>
            <a:ext cx="5438775" cy="4314825"/>
          </a:xfrm>
          <a:prstGeom prst="rect">
            <a:avLst/>
          </a:prstGeom>
        </p:spPr>
      </p:pic>
      <p:sp>
        <p:nvSpPr>
          <p:cNvPr id="2086" name="textbox 2086"/>
          <p:cNvSpPr/>
          <p:nvPr/>
        </p:nvSpPr>
        <p:spPr>
          <a:xfrm>
            <a:off x="285750" y="6210300"/>
            <a:ext cx="11229975" cy="285750"/>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基于清华大学实验数据，可验证所采用建模原则的</a:t>
            </a:r>
            <a:r>
              <a:rPr sz="2000" b="1" kern="0" spc="0" dirty="0">
                <a:solidFill>
                  <a:srgbClr val="FFFFFF">
                    <a:alpha val="100000"/>
                  </a:srgbClr>
                </a:solidFill>
                <a:latin typeface="Times New Roman" panose="02020603050405020304"/>
                <a:ea typeface="Times New Roman" panose="02020603050405020304"/>
                <a:cs typeface="Times New Roman" panose="02020603050405020304"/>
              </a:rPr>
              <a:t>OpenSees</a:t>
            </a:r>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模型可以较好地模拟结构的整体滞回性能</a:t>
            </a:r>
            <a:endParaRPr sz="2000" dirty="0"/>
          </a:p>
        </p:txBody>
      </p:sp>
      <p:sp>
        <p:nvSpPr>
          <p:cNvPr id="2088" name="textbox 208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090" name="textbox 2090"/>
          <p:cNvSpPr/>
          <p:nvPr/>
        </p:nvSpPr>
        <p:spPr>
          <a:xfrm>
            <a:off x="11753850" y="6734175"/>
            <a:ext cx="171450" cy="104775"/>
          </a:xfrm>
          <a:prstGeom prst="rect">
            <a:avLst/>
          </a:prstGeom>
          <a:noFill/>
          <a:ln w="0" cap="flat">
            <a:noFill/>
            <a:prstDash val="solid"/>
            <a:miter lim="0"/>
          </a:ln>
        </p:spPr>
        <p:txBody>
          <a:bodyPr vert="horz" wrap="none" lIns="0" tIns="0" rIns="0" bIns="0"/>
          <a:lstStyle/>
          <a:p>
            <a:pPr algn="l" rtl="0" eaLnBrk="0"/>
            <a:r>
              <a:rPr sz="800" kern="0" spc="375" dirty="0">
                <a:solidFill>
                  <a:srgbClr val="FFFFFF">
                    <a:alpha val="100000"/>
                  </a:srgbClr>
                </a:solidFill>
                <a:latin typeface="Arial" panose="020B0604020202020204"/>
                <a:ea typeface="Arial" panose="020B0604020202020204"/>
                <a:cs typeface="Arial" panose="020B0604020202020204"/>
              </a:rPr>
              <a:t>49</a:t>
            </a:r>
            <a:endParaRPr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4" name="picture 2094"/>
          <p:cNvPicPr>
            <a:picLocks noChangeAspect="1"/>
          </p:cNvPicPr>
          <p:nvPr/>
        </p:nvPicPr>
        <p:blipFill>
          <a:blip r:embed="rId1"/>
          <a:stretch>
            <a:fillRect/>
          </a:stretch>
        </p:blipFill>
        <p:spPr>
          <a:xfrm>
            <a:off x="0" y="0"/>
            <a:ext cx="12192000" cy="6858000"/>
          </a:xfrm>
          <a:prstGeom prst="rect">
            <a:avLst/>
          </a:prstGeom>
        </p:spPr>
      </p:pic>
      <p:sp>
        <p:nvSpPr>
          <p:cNvPr id="2096" name="textbox 2096"/>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67297">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098" name="textbox 2098"/>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100" name="textbox 210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104" name="picture 2104"/>
          <p:cNvPicPr>
            <a:picLocks noChangeAspect="1"/>
          </p:cNvPicPr>
          <p:nvPr/>
        </p:nvPicPr>
        <p:blipFill>
          <a:blip r:embed="rId2"/>
          <a:stretch>
            <a:fillRect/>
          </a:stretch>
        </p:blipFill>
        <p:spPr>
          <a:xfrm>
            <a:off x="295275" y="247650"/>
            <a:ext cx="733425" cy="685800"/>
          </a:xfrm>
          <a:prstGeom prst="rect">
            <a:avLst/>
          </a:prstGeom>
        </p:spPr>
      </p:pic>
      <p:sp>
        <p:nvSpPr>
          <p:cNvPr id="2106" name="textbox 2106"/>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108" name="textbox 2108"/>
          <p:cNvSpPr/>
          <p:nvPr/>
        </p:nvSpPr>
        <p:spPr>
          <a:xfrm>
            <a:off x="1457325" y="752475"/>
            <a:ext cx="654367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110" name="textbox 2110"/>
          <p:cNvSpPr/>
          <p:nvPr/>
        </p:nvSpPr>
        <p:spPr>
          <a:xfrm>
            <a:off x="1447800" y="1114425"/>
            <a:ext cx="4800600" cy="485775"/>
          </a:xfrm>
          <a:prstGeom prst="rect">
            <a:avLst/>
          </a:prstGeom>
          <a:noFill/>
          <a:ln w="0" cap="flat">
            <a:noFill/>
            <a:prstDash val="solid"/>
            <a:miter lim="0"/>
          </a:ln>
        </p:spPr>
        <p:txBody>
          <a:bodyPr vert="horz" wrap="none" lIns="0" tIns="0" rIns="0" bIns="0"/>
          <a:lstStyle/>
          <a:p>
            <a:pPr algn="l" rtl="0" eaLnBrk="0"/>
            <a:r>
              <a:rPr sz="2000" b="1" kern="0" spc="0" dirty="0">
                <a:solidFill>
                  <a:srgbClr val="0B77D9">
                    <a:alpha val="100000"/>
                  </a:srgbClr>
                </a:solidFill>
                <a:latin typeface="微软雅黑" panose="020B0503020204020204" charset="-122"/>
                <a:ea typeface="微软雅黑" panose="020B0503020204020204" charset="-122"/>
                <a:cs typeface="微软雅黑" panose="020B0503020204020204" charset="-122"/>
              </a:rPr>
              <a:t>工程应用：RC框架结构抗震可靠度分析</a:t>
            </a:r>
            <a:endParaRPr sz="2000" dirty="0"/>
          </a:p>
          <a:p>
            <a:pPr algn="l" rtl="0" eaLnBrk="0"/>
            <a:r>
              <a:rPr sz="900" kern="0" spc="0" dirty="0">
                <a:solidFill>
                  <a:srgbClr val="2988D3">
                    <a:alpha val="100000"/>
                  </a:srgbClr>
                </a:solidFill>
                <a:latin typeface="Times New Roman" panose="02020603050405020304"/>
                <a:ea typeface="Times New Roman" panose="02020603050405020304"/>
                <a:cs typeface="Times New Roman" panose="02020603050405020304"/>
              </a:rPr>
              <a:t>Engineering Application, Seismic Reliability Analysis of RC Frame Structures</a:t>
            </a:r>
            <a:endParaRPr sz="900" dirty="0"/>
          </a:p>
        </p:txBody>
      </p:sp>
      <p:sp>
        <p:nvSpPr>
          <p:cNvPr id="2112" name="textbox 2112"/>
          <p:cNvSpPr/>
          <p:nvPr/>
        </p:nvSpPr>
        <p:spPr>
          <a:xfrm>
            <a:off x="323850" y="1819275"/>
            <a:ext cx="3657600" cy="266700"/>
          </a:xfrm>
          <a:prstGeom prst="rect">
            <a:avLst/>
          </a:prstGeom>
          <a:noFill/>
          <a:ln w="0" cap="flat">
            <a:noFill/>
            <a:prstDash val="solid"/>
            <a:miter lim="0"/>
          </a:ln>
        </p:spPr>
        <p:txBody>
          <a:bodyPr vert="horz" wrap="none" lIns="0" tIns="0" rIns="0" bIns="0"/>
          <a:lstStyle/>
          <a:p>
            <a:pPr algn="l" rtl="0" eaLnBrk="0"/>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随机变量的概率模型和统计参数：</a:t>
            </a:r>
            <a:endParaRPr sz="2000" dirty="0"/>
          </a:p>
        </p:txBody>
      </p:sp>
      <p:sp>
        <p:nvSpPr>
          <p:cNvPr id="2114" name="textbox 2114"/>
          <p:cNvSpPr/>
          <p:nvPr/>
        </p:nvSpPr>
        <p:spPr>
          <a:xfrm>
            <a:off x="7067550" y="1838325"/>
            <a:ext cx="1914525" cy="304800"/>
          </a:xfrm>
          <a:prstGeom prst="rect">
            <a:avLst/>
          </a:prstGeom>
          <a:noFill/>
          <a:ln w="0" cap="flat">
            <a:noFill/>
            <a:prstDash val="solid"/>
            <a:miter lim="0"/>
          </a:ln>
        </p:spPr>
        <p:txBody>
          <a:bodyPr vert="horz" wrap="none" lIns="0" tIns="0" rIns="0" bIns="0"/>
          <a:lstStyle/>
          <a:p>
            <a:pPr algn="l" rtl="0" eaLnBrk="0"/>
            <a:r>
              <a:rPr sz="20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结构的状态变量：</a:t>
            </a:r>
            <a:endParaRPr sz="2000" dirty="0"/>
          </a:p>
        </p:txBody>
      </p:sp>
      <p:graphicFrame>
        <p:nvGraphicFramePr>
          <p:cNvPr id="2116" name="table 2116"/>
          <p:cNvGraphicFramePr>
            <a:graphicFrameLocks noGrp="1"/>
          </p:cNvGraphicFramePr>
          <p:nvPr/>
        </p:nvGraphicFramePr>
        <p:xfrm>
          <a:off x="228600" y="2314575"/>
          <a:ext cx="5343525" cy="1085850"/>
        </p:xfrm>
        <a:graphic>
          <a:graphicData uri="http://schemas.openxmlformats.org/drawingml/2006/table">
            <a:tbl>
              <a:tblPr/>
              <a:tblGrid>
                <a:gridCol w="638175"/>
                <a:gridCol w="733425"/>
                <a:gridCol w="523875"/>
                <a:gridCol w="771525"/>
                <a:gridCol w="666750"/>
                <a:gridCol w="714375"/>
                <a:gridCol w="609600"/>
                <a:gridCol w="676275"/>
              </a:tblGrid>
              <a:tr h="219075">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Variables</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Mean</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C.O.V</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Distribution</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Variables</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Mean</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C.O.V</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Distribution</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r>
              <a:tr h="219075">
                <a:tc>
                  <a:txBody>
                    <a:bodyPr/>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f</a:t>
                      </a:r>
                      <a:r>
                        <a:rPr sz="900" kern="0" spc="0" baseline="-30000" dirty="0">
                          <a:solidFill>
                            <a:srgbClr val="000000">
                              <a:alpha val="100000"/>
                            </a:srgbClr>
                          </a:solidFill>
                          <a:latin typeface="Times New Roman" panose="02020603050405020304"/>
                          <a:ea typeface="Times New Roman" panose="02020603050405020304"/>
                          <a:cs typeface="Times New Roman" panose="02020603050405020304"/>
                        </a:rPr>
                        <a:t>α</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29.8 MPa</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0.20</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f</a:t>
                      </a:r>
                      <a:r>
                        <a:rPr sz="900" kern="0" spc="0" baseline="-30000" dirty="0">
                          <a:solidFill>
                            <a:srgbClr val="000000">
                              <a:alpha val="100000"/>
                            </a:srgbClr>
                          </a:solidFill>
                          <a:latin typeface="Times New Roman" panose="02020603050405020304"/>
                          <a:ea typeface="Times New Roman" panose="02020603050405020304"/>
                          <a:cs typeface="Times New Roman" panose="02020603050405020304"/>
                        </a:rPr>
                        <a:t>γ</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378 MPa</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0.10</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r>
              <a:tr h="209550">
                <a:tc>
                  <a:txBody>
                    <a:bodyPr/>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E</a:t>
                      </a:r>
                      <a:r>
                        <a:rPr sz="900" kern="0" spc="0" baseline="-30000" dirty="0">
                          <a:solidFill>
                            <a:srgbClr val="000000">
                              <a:alpha val="100000"/>
                            </a:srgbClr>
                          </a:solidFill>
                          <a:latin typeface="Times New Roman" panose="02020603050405020304"/>
                          <a:ea typeface="Times New Roman" panose="02020603050405020304"/>
                          <a:cs typeface="Times New Roman" panose="02020603050405020304"/>
                        </a:rPr>
                        <a:t>v</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31500 MPa</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0.05</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E</a:t>
                      </a:r>
                      <a:r>
                        <a:rPr sz="900" kern="0" spc="0" baseline="-30000" dirty="0">
                          <a:solidFill>
                            <a:srgbClr val="000000">
                              <a:alpha val="100000"/>
                            </a:srgbClr>
                          </a:solidFill>
                          <a:latin typeface="Times New Roman" panose="02020603050405020304"/>
                          <a:ea typeface="Times New Roman" panose="02020603050405020304"/>
                          <a:cs typeface="Times New Roman" panose="02020603050405020304"/>
                        </a:rPr>
                        <a:t>r</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200000 MPa</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0.05</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r>
              <a:tr h="209550">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ζ</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0.05</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0.30</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γ</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26.50 N/mm</a:t>
                      </a:r>
                      <a:r>
                        <a:rPr sz="900" kern="0" spc="0" baseline="30000" dirty="0">
                          <a:solidFill>
                            <a:srgbClr val="000000">
                              <a:alpha val="100000"/>
                            </a:srgbClr>
                          </a:solidFill>
                          <a:latin typeface="Times New Roman" panose="02020603050405020304"/>
                          <a:ea typeface="Times New Roman" panose="02020603050405020304"/>
                          <a:cs typeface="Times New Roman" panose="02020603050405020304"/>
                        </a:rPr>
                        <a:t>3</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0.10</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Normal</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r>
              <a:tr h="228600">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q</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0.98 kN/mm</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ct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0.45</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r"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Gamma</a:t>
                      </a:r>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c>
                  <a:txBody>
                    <a:bodyPr/>
                    <a:lstStyle/>
                    <a:p>
                      <a:pPr algn="l" rtl="0" eaLnBrk="0"/>
                      <a:endParaRPr sz="900" dirty="0"/>
                    </a:p>
                  </a:txBody>
                  <a:tcPr marL="0" marR="0" marT="0" marB="0" vert="horz" anchor="ctr">
                    <a:lnL w="19050" cap="flat" cmpd="sng" algn="ctr">
                      <a:solidFill>
                        <a:srgbClr val="848484"/>
                      </a:solidFill>
                      <a:prstDash val="solid"/>
                      <a:round/>
                      <a:headEnd type="none" w="med" len="med"/>
                      <a:tailEnd type="none" w="med" len="med"/>
                    </a:lnL>
                    <a:lnR w="19050" cap="flat" cmpd="sng" algn="ctr">
                      <a:solidFill>
                        <a:srgbClr val="848484"/>
                      </a:solidFill>
                      <a:prstDash val="solid"/>
                      <a:round/>
                      <a:headEnd type="none" w="med" len="med"/>
                      <a:tailEnd type="none" w="med" len="med"/>
                    </a:lnR>
                    <a:lnT w="19050" cap="flat" cmpd="sng" algn="ctr">
                      <a:solidFill>
                        <a:srgbClr val="848484"/>
                      </a:solidFill>
                      <a:prstDash val="solid"/>
                      <a:round/>
                      <a:headEnd type="none" w="med" len="med"/>
                      <a:tailEnd type="none" w="med" len="med"/>
                    </a:lnT>
                    <a:lnB w="19050" cap="flat" cmpd="sng" algn="ctr">
                      <a:solidFill>
                        <a:srgbClr val="848484"/>
                      </a:solidFill>
                      <a:prstDash val="solid"/>
                      <a:round/>
                      <a:headEnd type="none" w="med" len="med"/>
                      <a:tailEnd type="none" w="med" len="med"/>
                    </a:lnB>
                  </a:tcPr>
                </a:tc>
              </a:tr>
            </a:tbl>
          </a:graphicData>
        </a:graphic>
      </p:graphicFrame>
      <mc:AlternateContent xmlns:mc="http://schemas.openxmlformats.org/markup-compatibility/2006">
        <mc:Choice xmlns:a14="http://schemas.microsoft.com/office/drawing/2010/main" Requires="a14">
          <p:sp>
            <p:nvSpPr>
              <p:cNvPr id="2118" name="textbox 2118"/>
              <p:cNvSpPr/>
              <p:nvPr/>
            </p:nvSpPr>
            <p:spPr>
              <a:xfrm>
                <a:off x="6096000" y="2362200"/>
                <a:ext cx="5905500" cy="11811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eqArr>
                        <m:eqArrPr>
                          <m:ctrlPr>
                            <a:rPr/>
                          </m:ctrlPr>
                        </m:eqArrPr>
                        <m:e>
                          <m:r>
                            <m:rPr>
                              <m:sty m:val="p"/>
                            </m:rPr>
                            <a:rPr lang="en-US" sz="2400" dirty="0">
                              <a:latin typeface="Cambria Math" panose="02040503050406030204"/>
                              <a:ea typeface="Cambria Math" panose="02040503050406030204"/>
                            </a:rPr>
                            <m:t>Z</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v</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𝚯</m:t>
                          </m:r>
                          <m:r>
                            <a:rPr lang="en-US" sz="2400" dirty="0">
                              <a:latin typeface="Cambria Math" panose="02040503050406030204"/>
                              <a:ea typeface="Cambria Math" panose="02040503050406030204"/>
                            </a:rPr>
                            <m:t>)</m:t>
                          </m:r>
                        </m:e>
                        <m:e>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0</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0</m:t>
                          </m:r>
                          <m:r>
                            <a:rPr lang="en-US" sz="2400" dirty="0">
                              <a:latin typeface="Cambria Math" panose="02040503050406030204"/>
                              <a:ea typeface="Cambria Math" panose="02040503050406030204"/>
                            </a:rPr>
                            <m:t>2</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𝑚𝑎𝑥</m:t>
                          </m:r>
                          <m:d>
                            <m:dPr>
                              <m:begChr m:val="["/>
                              <m:endChr m:val="]"/>
                              <m:ctrlPr>
                                <a:rPr/>
                              </m:ctrlPr>
                            </m:dPr>
                            <m:e>
                              <m:r>
                                <a:rPr lang="en-US" sz="2400" dirty="0">
                                  <a:latin typeface="Cambria Math" panose="02040503050406030204"/>
                                  <a:ea typeface="Cambria Math" panose="02040503050406030204"/>
                                </a:rPr>
                                <m:t>𝑚𝑎𝑥</m:t>
                              </m:r>
                              <m:d>
                                <m:dPr>
                                  <m:ctrlPr>
                                    <a:rPr/>
                                  </m:ctrlPr>
                                </m:dPr>
                                <m:e>
                                  <m:sSub>
                                    <m:sSubPr>
                                      <m:ctrlPr>
                                        <a:rPr/>
                                      </m:ctrlPr>
                                    </m:sSubPr>
                                    <m:e>
                                      <m:r>
                                        <m:rPr>
                                          <m:sty m:val="p"/>
                                        </m:rPr>
                                        <a:rPr lang="en-US" sz="2400" dirty="0">
                                          <a:latin typeface="Cambria Math" panose="02040503050406030204"/>
                                          <a:ea typeface="Cambria Math" panose="02040503050406030204"/>
                                        </a:rPr>
                                        <m:t>u</m:t>
                                      </m:r>
                                    </m:e>
                                    <m:sub>
                                      <m:r>
                                        <m:rPr>
                                          <m:sty m:val="p"/>
                                        </m:rPr>
                                        <a:rPr lang="en-US" sz="2400" dirty="0">
                                          <a:latin typeface="Cambria Math" panose="02040503050406030204"/>
                                          <a:ea typeface="Cambria Math" panose="02040503050406030204"/>
                                        </a:rPr>
                                        <m:t>j</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f</m:t>
                                      </m:r>
                                    </m:e>
                                    <m:sub>
                                      <m:r>
                                        <m:rPr>
                                          <m:sty m:val="p"/>
                                        </m:rPr>
                                        <a:rPr lang="en-US" sz="2400" dirty="0">
                                          <a:latin typeface="Cambria Math" panose="02040503050406030204"/>
                                          <a:ea typeface="Cambria Math" panose="02040503050406030204"/>
                                        </a:rPr>
                                        <m:t>c</m:t>
                                      </m:r>
                                      <m:r>
                                        <m:rPr>
                                          <m:sty m:val="p"/>
                                        </m:rPr>
                                        <a:rPr lang="en-US" sz="2400" dirty="0">
                                          <a:latin typeface="Cambria Math" panose="02040503050406030204"/>
                                          <a:ea typeface="Cambria Math" panose="02040503050406030204"/>
                                        </a:rPr>
                                        <m:t>r</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E</m:t>
                                      </m:r>
                                    </m:e>
                                    <m:sub>
                                      <m:r>
                                        <m:rPr>
                                          <m:sty m:val="p"/>
                                        </m:rPr>
                                        <a:rPr lang="en-US" sz="2400" dirty="0">
                                          <a:latin typeface="Cambria Math" panose="02040503050406030204"/>
                                          <a:ea typeface="Cambria Math" panose="02040503050406030204"/>
                                        </a:rPr>
                                        <m:t>c</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f</m:t>
                                      </m:r>
                                    </m:e>
                                    <m:sub>
                                      <m:r>
                                        <m:rPr>
                                          <m:sty m:val="p"/>
                                        </m:rPr>
                                        <a:rPr lang="en-US" sz="2400" dirty="0">
                                          <a:latin typeface="Cambria Math" panose="02040503050406030204"/>
                                          <a:ea typeface="Cambria Math" panose="02040503050406030204"/>
                                        </a:rPr>
                                        <m:t>y</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E</m:t>
                                      </m:r>
                                    </m:e>
                                    <m:sub>
                                      <m:r>
                                        <m:rPr>
                                          <m:sty m:val="p"/>
                                        </m:rPr>
                                        <a:rPr lang="en-US" sz="2400" dirty="0">
                                          <a:latin typeface="Cambria Math" panose="02040503050406030204"/>
                                          <a:ea typeface="Cambria Math" panose="02040503050406030204"/>
                                        </a:rPr>
                                        <m:t>s</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𝜁</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𝛾</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q</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e>
                              </m:d>
                            </m:e>
                          </m:d>
                        </m:e>
                      </m:eqArr>
                    </m:oMath>
                  </m:oMathPara>
                </a14:m>
                <a:endParaRPr sz="600" dirty="0"/>
              </a:p>
            </p:txBody>
          </p:sp>
        </mc:Choice>
        <mc:Fallback>
          <p:sp>
            <p:nvSpPr>
              <p:cNvPr id="2118" name="textbox 2118"/>
              <p:cNvSpPr>
                <a:spLocks noRot="1" noChangeAspect="1" noMove="1" noResize="1" noEditPoints="1" noAdjustHandles="1" noChangeArrowheads="1" noChangeShapeType="1" noTextEdit="1"/>
              </p:cNvSpPr>
              <p:nvPr/>
            </p:nvSpPr>
            <p:spPr>
              <a:xfrm>
                <a:off x="6096000" y="2362200"/>
                <a:ext cx="5905500" cy="1181100"/>
              </a:xfrm>
              <a:prstGeom prst="rect">
                <a:avLst/>
              </a:prstGeom>
              <a:blipFill rotWithShape="1">
                <a:blip r:embed="rId3"/>
                <a:stretch>
                  <a:fillRect/>
                </a:stretch>
              </a:blipFill>
              <a:ln w="0" cap="flat">
                <a:noFill/>
                <a:prstDash val="solid"/>
                <a:miter lim="0"/>
              </a:ln>
            </p:spPr>
            <p:txBody>
              <a:bodyPr/>
              <a:lstStyle/>
              <a:p>
                <a:r>
                  <a:rPr lang="zh-CN" altLang="en-US">
                    <a:noFill/>
                  </a:rPr>
                  <a:t> </a:t>
                </a:r>
              </a:p>
            </p:txBody>
          </p:sp>
        </mc:Fallback>
      </mc:AlternateContent>
      <p:sp>
        <p:nvSpPr>
          <p:cNvPr id="2120" name="textbox 2120"/>
          <p:cNvSpPr/>
          <p:nvPr/>
        </p:nvSpPr>
        <p:spPr>
          <a:xfrm>
            <a:off x="314325" y="3895725"/>
            <a:ext cx="4581525" cy="285750"/>
          </a:xfrm>
          <a:prstGeom prst="rect">
            <a:avLst/>
          </a:prstGeom>
          <a:noFill/>
          <a:ln w="0" cap="flat">
            <a:noFill/>
            <a:prstDash val="solid"/>
            <a:miter lim="0"/>
          </a:ln>
        </p:spPr>
        <p:txBody>
          <a:bodyPr vert="horz" wrap="none" lIns="0" tIns="0" rIns="0" bIns="0"/>
          <a:lstStyle/>
          <a:p>
            <a:pPr algn="l" rtl="0" eaLnBrk="0"/>
            <a:r>
              <a:rPr sz="18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不同</a:t>
            </a:r>
            <a:r>
              <a:rPr sz="1800" kern="0" spc="0" dirty="0">
                <a:solidFill>
                  <a:srgbClr val="7030A0">
                    <a:alpha val="100000"/>
                  </a:srgbClr>
                </a:solidFill>
                <a:latin typeface="Times New Roman" panose="02020603050405020304"/>
                <a:ea typeface="Times New Roman" panose="02020603050405020304"/>
                <a:cs typeface="Times New Roman" panose="02020603050405020304"/>
              </a:rPr>
              <a:t>Copula</a:t>
            </a:r>
            <a:r>
              <a:rPr sz="18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函数下的中心矩和可靠性指数结果</a:t>
            </a:r>
            <a:endParaRPr sz="1800" dirty="0"/>
          </a:p>
        </p:txBody>
      </p:sp>
      <p:graphicFrame>
        <p:nvGraphicFramePr>
          <p:cNvPr id="2122" name="table 2122"/>
          <p:cNvGraphicFramePr>
            <a:graphicFrameLocks noGrp="1"/>
          </p:cNvGraphicFramePr>
          <p:nvPr/>
        </p:nvGraphicFramePr>
        <p:xfrm>
          <a:off x="133350" y="4362450"/>
          <a:ext cx="6867525" cy="1371600"/>
        </p:xfrm>
        <a:graphic>
          <a:graphicData uri="http://schemas.openxmlformats.org/drawingml/2006/table">
            <a:tbl>
              <a:tblPr/>
              <a:tblGrid>
                <a:gridCol w="1114425"/>
                <a:gridCol w="1771650"/>
                <a:gridCol w="1714500"/>
                <a:gridCol w="771525"/>
                <a:gridCol w="676275"/>
                <a:gridCol w="819150"/>
              </a:tblGrid>
              <a:tr h="276225">
                <a:tc>
                  <a:txBody>
                    <a:bodyPr/>
                    <a:lstStyle/>
                    <a:p>
                      <a:pPr algn="ctr" rtl="0" eaLnBrk="0"/>
                      <a:r>
                        <a:rPr sz="1100" kern="0" spc="0" dirty="0">
                          <a:solidFill>
                            <a:srgbClr val="000000">
                              <a:alpha val="100000"/>
                            </a:srgbClr>
                          </a:solidFill>
                          <a:latin typeface="Times New Roman" panose="02020603050405020304"/>
                          <a:ea typeface="Times New Roman" panose="02020603050405020304"/>
                          <a:cs typeface="Times New Roman" panose="02020603050405020304"/>
                        </a:rPr>
                        <a:t>Copula</a:t>
                      </a:r>
                      <a:endParaRPr sz="11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i="1" kern="0" spc="0" dirty="0">
                          <a:solidFill>
                            <a:srgbClr val="000000">
                              <a:alpha val="100000"/>
                            </a:srgbClr>
                          </a:solidFill>
                          <a:latin typeface="Times New Roman" panose="02020603050405020304"/>
                          <a:ea typeface="Times New Roman" panose="02020603050405020304"/>
                          <a:cs typeface="Times New Roman" panose="02020603050405020304"/>
                        </a:rPr>
                        <a:t>μ</a:t>
                      </a:r>
                      <a:r>
                        <a:rPr sz="1200" i="1" kern="0" spc="0" baseline="-30000" dirty="0">
                          <a:solidFill>
                            <a:srgbClr val="000000">
                              <a:alpha val="100000"/>
                            </a:srgbClr>
                          </a:solidFill>
                          <a:latin typeface="Times New Roman" panose="02020603050405020304"/>
                          <a:ea typeface="Times New Roman" panose="02020603050405020304"/>
                          <a:cs typeface="Times New Roman" panose="02020603050405020304"/>
                        </a:rPr>
                        <a:t>Z</a:t>
                      </a:r>
                      <a:r>
                        <a:rPr sz="1200" kern="0" spc="0" dirty="0">
                          <a:solidFill>
                            <a:srgbClr val="000000">
                              <a:alpha val="100000"/>
                            </a:srgbClr>
                          </a:solidFill>
                          <a:latin typeface="Times New Roman" panose="02020603050405020304"/>
                          <a:ea typeface="Times New Roman" panose="02020603050405020304"/>
                          <a:cs typeface="Times New Roman" panose="02020603050405020304"/>
                        </a:rPr>
                        <a:t>(×10</a:t>
                      </a:r>
                      <a:r>
                        <a:rPr sz="1200" kern="0" spc="0" baseline="30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σ</a:t>
                      </a:r>
                      <a:r>
                        <a:rPr sz="1200" kern="0" spc="0" baseline="-30000" dirty="0">
                          <a:solidFill>
                            <a:srgbClr val="000000">
                              <a:alpha val="100000"/>
                            </a:srgbClr>
                          </a:solidFill>
                          <a:latin typeface="Times New Roman" panose="02020603050405020304"/>
                          <a:ea typeface="Times New Roman" panose="02020603050405020304"/>
                          <a:cs typeface="Times New Roman" panose="02020603050405020304"/>
                        </a:rPr>
                        <a:t>Z</a:t>
                      </a:r>
                      <a:r>
                        <a:rPr sz="1200" kern="0" spc="0" dirty="0">
                          <a:solidFill>
                            <a:srgbClr val="000000">
                              <a:alpha val="100000"/>
                            </a:srgbClr>
                          </a:solidFill>
                          <a:latin typeface="Times New Roman" panose="02020603050405020304"/>
                          <a:ea typeface="Times New Roman" panose="02020603050405020304"/>
                          <a:cs typeface="Times New Roman" panose="02020603050405020304"/>
                        </a:rPr>
                        <a:t>(×10</a:t>
                      </a:r>
                      <a:r>
                        <a:rPr sz="1200" kern="0" spc="0" baseline="30000" dirty="0">
                          <a:solidFill>
                            <a:srgbClr val="000000">
                              <a:alpha val="100000"/>
                            </a:srgbClr>
                          </a:solidFill>
                          <a:latin typeface="Times New Roman" panose="02020603050405020304"/>
                          <a:ea typeface="Times New Roman" panose="02020603050405020304"/>
                          <a:cs typeface="Times New Roman" panose="02020603050405020304"/>
                        </a:rPr>
                        <a:t>-3</a:t>
                      </a:r>
                      <a:r>
                        <a:rPr sz="12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γ</a:t>
                      </a:r>
                      <a:r>
                        <a:rPr sz="1200" kern="0" spc="0" baseline="-30000" dirty="0">
                          <a:solidFill>
                            <a:srgbClr val="000000">
                              <a:alpha val="100000"/>
                            </a:srgbClr>
                          </a:solidFill>
                          <a:latin typeface="Times New Roman" panose="02020603050405020304"/>
                          <a:ea typeface="Times New Roman" panose="02020603050405020304"/>
                          <a:cs typeface="Times New Roman" panose="02020603050405020304"/>
                        </a:rPr>
                        <a:t>Z</a:t>
                      </a:r>
                      <a:endParaRPr sz="1200" dirty="0"/>
                    </a:p>
                  </a:txBody>
                  <a:tcPr marL="0" marR="0" marT="0" marB="0" vert="horz" anchor="b">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i="1" kern="0" spc="0" dirty="0">
                          <a:solidFill>
                            <a:srgbClr val="000000">
                              <a:alpha val="100000"/>
                            </a:srgbClr>
                          </a:solidFill>
                          <a:latin typeface="Times New Roman" panose="02020603050405020304"/>
                          <a:ea typeface="Times New Roman" panose="02020603050405020304"/>
                          <a:cs typeface="Times New Roman" panose="02020603050405020304"/>
                        </a:rPr>
                        <a:t>κ</a:t>
                      </a:r>
                      <a:r>
                        <a:rPr sz="1200" i="1" kern="0" spc="0" baseline="-30000" dirty="0">
                          <a:solidFill>
                            <a:srgbClr val="000000">
                              <a:alpha val="100000"/>
                            </a:srgbClr>
                          </a:solidFill>
                          <a:latin typeface="Times New Roman" panose="02020603050405020304"/>
                          <a:ea typeface="Times New Roman" panose="02020603050405020304"/>
                          <a:cs typeface="Times New Roman" panose="02020603050405020304"/>
                        </a:rPr>
                        <a:t>Z</a:t>
                      </a:r>
                      <a:endParaRPr sz="1200" dirty="0"/>
                    </a:p>
                  </a:txBody>
                  <a:tcPr marL="0" marR="0" marT="0" marB="0" vert="horz" anchor="b">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i="1" kern="0" spc="0" dirty="0">
                          <a:solidFill>
                            <a:srgbClr val="000000">
                              <a:alpha val="100000"/>
                            </a:srgbClr>
                          </a:solidFill>
                          <a:latin typeface="Times New Roman" panose="02020603050405020304"/>
                          <a:ea typeface="Times New Roman" panose="02020603050405020304"/>
                          <a:cs typeface="Times New Roman" panose="02020603050405020304"/>
                        </a:rPr>
                        <a:t>β</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r>
              <a:tr h="276225">
                <a:tc>
                  <a:txBody>
                    <a:bodyPr/>
                    <a:lstStyle/>
                    <a:p>
                      <a:pPr algn="ctr" rtl="0" eaLnBrk="0"/>
                      <a:r>
                        <a:rPr sz="1100" kern="0" spc="0" dirty="0">
                          <a:solidFill>
                            <a:srgbClr val="000000">
                              <a:alpha val="100000"/>
                            </a:srgbClr>
                          </a:solidFill>
                          <a:latin typeface="Times New Roman" panose="02020603050405020304"/>
                          <a:ea typeface="Times New Roman" panose="02020603050405020304"/>
                          <a:cs typeface="Times New Roman" panose="02020603050405020304"/>
                        </a:rPr>
                        <a:t>Gaussian</a:t>
                      </a:r>
                      <a:endParaRPr sz="11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1.413</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1.503</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0.929</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4.294</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2.884</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r>
              <a:tr h="266700">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Frank</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1.403</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1.546</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0.924</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4.312</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2.918</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r>
              <a:tr h="285750">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Clayton</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1.409</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1.462</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1.102</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5.105</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2.656</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r>
              <a:tr h="266700">
                <a:tc>
                  <a:txBody>
                    <a:bodyPr/>
                    <a:lstStyle/>
                    <a:p>
                      <a:pPr algn="ctr" rtl="0" eaLnBrk="0"/>
                      <a:r>
                        <a:rPr sz="1100" kern="0" spc="0" dirty="0">
                          <a:solidFill>
                            <a:srgbClr val="000000">
                              <a:alpha val="100000"/>
                            </a:srgbClr>
                          </a:solidFill>
                          <a:latin typeface="Times New Roman" panose="02020603050405020304"/>
                          <a:ea typeface="Times New Roman" panose="02020603050405020304"/>
                          <a:cs typeface="Times New Roman" panose="02020603050405020304"/>
                        </a:rPr>
                        <a:t>Gumbel</a:t>
                      </a:r>
                      <a:endParaRPr sz="11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1.405</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1.492</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1.255</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5.492</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2.601</a:t>
                      </a:r>
                      <a:endParaRPr sz="1200" dirty="0"/>
                    </a:p>
                  </a:txBody>
                  <a:tcPr marL="0" marR="0" marT="0" marB="0" vert="horz" anchor="ctr">
                    <a:lnL w="19050" cap="flat" cmpd="sng" algn="ctr">
                      <a:solidFill>
                        <a:srgbClr val="535353"/>
                      </a:solidFill>
                      <a:prstDash val="solid"/>
                      <a:round/>
                      <a:headEnd type="none" w="med" len="med"/>
                      <a:tailEnd type="none" w="med" len="med"/>
                    </a:lnL>
                    <a:lnR w="19050" cap="flat" cmpd="sng" algn="ctr">
                      <a:solidFill>
                        <a:srgbClr val="535353"/>
                      </a:solidFill>
                      <a:prstDash val="solid"/>
                      <a:round/>
                      <a:headEnd type="none" w="med" len="med"/>
                      <a:tailEnd type="none" w="med" len="med"/>
                    </a:lnR>
                    <a:lnT w="19050" cap="flat" cmpd="sng" algn="ctr">
                      <a:solidFill>
                        <a:srgbClr val="535353"/>
                      </a:solidFill>
                      <a:prstDash val="solid"/>
                      <a:round/>
                      <a:headEnd type="none" w="med" len="med"/>
                      <a:tailEnd type="none" w="med" len="med"/>
                    </a:lnT>
                    <a:lnB w="19050" cap="flat" cmpd="sng" algn="ctr">
                      <a:solidFill>
                        <a:srgbClr val="535353"/>
                      </a:solidFill>
                      <a:prstDash val="solid"/>
                      <a:round/>
                      <a:headEnd type="none" w="med" len="med"/>
                      <a:tailEnd type="none" w="med" len="med"/>
                    </a:lnB>
                  </a:tcPr>
                </a:tc>
              </a:tr>
            </a:tbl>
          </a:graphicData>
        </a:graphic>
      </p:graphicFrame>
      <p:sp>
        <p:nvSpPr>
          <p:cNvPr id="2124" name="textbox 2124"/>
          <p:cNvSpPr/>
          <p:nvPr/>
        </p:nvSpPr>
        <p:spPr>
          <a:xfrm>
            <a:off x="7400925" y="4333875"/>
            <a:ext cx="4448175" cy="1095375"/>
          </a:xfrm>
          <a:prstGeom prst="rect">
            <a:avLst/>
          </a:prstGeom>
          <a:noFill/>
          <a:ln w="0" cap="flat">
            <a:noFill/>
            <a:prstDash val="solid"/>
            <a:miter lim="0"/>
          </a:ln>
        </p:spPr>
        <p:txBody>
          <a:bodyPr vert="horz" wrap="none" lIns="0" tIns="0" rIns="0" bIns="0"/>
          <a:lstStyle/>
          <a:p>
            <a:pPr marL="295275" indent="-266700" algn="l" rtl="0" eaLnBrk="0">
              <a:buChar char="►"/>
            </a:pPr>
            <a:r>
              <a:rPr sz="18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不同的</a:t>
            </a:r>
            <a:r>
              <a:rPr sz="1800" b="1" kern="0" spc="0" dirty="0">
                <a:solidFill>
                  <a:srgbClr val="C00000">
                    <a:alpha val="100000"/>
                  </a:srgbClr>
                </a:solidFill>
                <a:latin typeface="Arial" panose="020B0604020202020204"/>
                <a:ea typeface="Arial" panose="020B0604020202020204"/>
                <a:cs typeface="Arial" panose="020B0604020202020204"/>
              </a:rPr>
              <a:t>Copula</a:t>
            </a:r>
            <a:r>
              <a:rPr sz="18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函数对</a:t>
            </a:r>
            <a:r>
              <a:rPr sz="1800" b="1" kern="0" spc="0" dirty="0">
                <a:solidFill>
                  <a:srgbClr val="C00000">
                    <a:alpha val="100000"/>
                  </a:srgbClr>
                </a:solidFill>
                <a:latin typeface="Arial" panose="020B0604020202020204"/>
                <a:ea typeface="Arial" panose="020B0604020202020204"/>
                <a:cs typeface="Arial" panose="020B0604020202020204"/>
              </a:rPr>
              <a:t>RC</a:t>
            </a:r>
            <a:r>
              <a:rPr sz="18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框架结构状态变</a:t>
            </a:r>
            <a:endParaRPr sz="1800" dirty="0"/>
          </a:p>
          <a:p>
            <a:pPr marL="276225" algn="l" rtl="0" eaLnBrk="0">
              <a:spcBef>
                <a:spcPts val="1275"/>
              </a:spcBef>
            </a:pPr>
            <a:r>
              <a:rPr sz="18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量的偏度、峰度以及结构的整体可靠性存</a:t>
            </a:r>
            <a:endParaRPr sz="1800" dirty="0"/>
          </a:p>
          <a:p>
            <a:pPr marL="266700" algn="l" rtl="0" eaLnBrk="0">
              <a:spcBef>
                <a:spcPts val="1275"/>
              </a:spcBef>
            </a:pPr>
            <a:r>
              <a:rPr sz="18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在一定的影响！</a:t>
            </a:r>
            <a:endParaRPr sz="1800" dirty="0"/>
          </a:p>
        </p:txBody>
      </p:sp>
      <p:sp>
        <p:nvSpPr>
          <p:cNvPr id="2126" name="textbox 2126"/>
          <p:cNvSpPr/>
          <p:nvPr/>
        </p:nvSpPr>
        <p:spPr>
          <a:xfrm>
            <a:off x="466725" y="6200775"/>
            <a:ext cx="11210925" cy="409575"/>
          </a:xfrm>
          <a:prstGeom prst="rect">
            <a:avLst/>
          </a:prstGeom>
          <a:noFill/>
          <a:ln w="0" cap="flat">
            <a:noFill/>
            <a:prstDash val="solid"/>
            <a:miter lim="0"/>
          </a:ln>
        </p:spPr>
        <p:txBody>
          <a:bodyPr vert="horz" wrap="none" lIns="0" tIns="0" rIns="0" bIns="0"/>
          <a:lstStyle/>
          <a:p>
            <a:pPr algn="l" rtl="0" eaLnBrk="0"/>
            <a:r>
              <a:rPr sz="1400" kern="0" spc="0" dirty="0">
                <a:solidFill>
                  <a:srgbClr val="003366">
                    <a:alpha val="100000"/>
                  </a:srgbClr>
                </a:solidFill>
                <a:latin typeface="Times New Roman" panose="02020603050405020304"/>
                <a:ea typeface="Times New Roman" panose="02020603050405020304"/>
                <a:cs typeface="Times New Roman" panose="02020603050405020304"/>
              </a:rPr>
              <a:t>Song P Y, Wang T*, Lu D G*. Structural global reliability assessment considering nonlinear correlation effects by enhanced high-order moment method.</a:t>
            </a:r>
            <a:endParaRPr sz="1400" dirty="0"/>
          </a:p>
          <a:p>
            <a:pPr algn="l" rtl="0" eaLnBrk="0"/>
            <a:r>
              <a:rPr sz="1400" kern="0" spc="0" dirty="0">
                <a:solidFill>
                  <a:srgbClr val="003366">
                    <a:alpha val="100000"/>
                  </a:srgbClr>
                </a:solidFill>
                <a:latin typeface="Times New Roman" panose="02020603050405020304"/>
                <a:ea typeface="Times New Roman" panose="02020603050405020304"/>
                <a:cs typeface="Times New Roman" panose="02020603050405020304"/>
              </a:rPr>
              <a:t>Acta Mechanica Sinica, 2023, 39(4): 722356.</a:t>
            </a:r>
            <a:endParaRPr sz="1400" dirty="0"/>
          </a:p>
        </p:txBody>
      </p:sp>
      <p:sp>
        <p:nvSpPr>
          <p:cNvPr id="2128" name="textbox 2128"/>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2130" name="textbox 2130"/>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FFFFFF">
                    <a:alpha val="100000"/>
                  </a:srgbClr>
                </a:solidFill>
                <a:latin typeface="Arial" panose="020B0604020202020204"/>
                <a:ea typeface="Arial" panose="020B0604020202020204"/>
                <a:cs typeface="Arial" panose="020B0604020202020204"/>
              </a:rPr>
              <a:t>50</a:t>
            </a:r>
            <a:endParaRPr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34" name="picture 2134"/>
          <p:cNvPicPr>
            <a:picLocks noChangeAspect="1"/>
          </p:cNvPicPr>
          <p:nvPr/>
        </p:nvPicPr>
        <p:blipFill>
          <a:blip r:embed="rId1"/>
          <a:stretch>
            <a:fillRect/>
          </a:stretch>
        </p:blipFill>
        <p:spPr>
          <a:xfrm>
            <a:off x="0" y="0"/>
            <a:ext cx="12192000" cy="6858000"/>
          </a:xfrm>
          <a:prstGeom prst="rect">
            <a:avLst/>
          </a:prstGeom>
        </p:spPr>
      </p:pic>
      <p:sp>
        <p:nvSpPr>
          <p:cNvPr id="2136" name="textbox 2136"/>
          <p:cNvSpPr/>
          <p:nvPr/>
        </p:nvSpPr>
        <p:spPr>
          <a:xfrm>
            <a:off x="161925" y="0"/>
            <a:ext cx="828675" cy="161925"/>
          </a:xfrm>
          <a:prstGeom prst="rect">
            <a:avLst/>
          </a:prstGeom>
          <a:noFill/>
          <a:ln w="0" cap="flat">
            <a:noFill/>
            <a:prstDash val="solid"/>
            <a:miter lim="0"/>
          </a:ln>
        </p:spPr>
        <p:txBody>
          <a:bodyPr vert="horz" wrap="none" lIns="0" tIns="0" rIns="0" bIns="0"/>
          <a:lstStyle/>
          <a:p>
            <a:pPr algn="l" rtl="0" eaLnBrk="0"/>
            <a:r>
              <a:rPr sz="11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138" name="textbox 2138"/>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140" name="textbox 214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A709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144" name="picture 2144"/>
          <p:cNvPicPr>
            <a:picLocks noChangeAspect="1"/>
          </p:cNvPicPr>
          <p:nvPr/>
        </p:nvPicPr>
        <p:blipFill>
          <a:blip r:embed="rId2"/>
          <a:stretch>
            <a:fillRect/>
          </a:stretch>
        </p:blipFill>
        <p:spPr>
          <a:xfrm>
            <a:off x="295275" y="247650"/>
            <a:ext cx="733425" cy="666750"/>
          </a:xfrm>
          <a:prstGeom prst="rect">
            <a:avLst/>
          </a:prstGeom>
        </p:spPr>
      </p:pic>
      <p:sp>
        <p:nvSpPr>
          <p:cNvPr id="2146" name="textbox 2146"/>
          <p:cNvSpPr/>
          <p:nvPr/>
        </p:nvSpPr>
        <p:spPr>
          <a:xfrm>
            <a:off x="1457325" y="352425"/>
            <a:ext cx="5981700" cy="3524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148" name="textbox 2148"/>
          <p:cNvSpPr/>
          <p:nvPr/>
        </p:nvSpPr>
        <p:spPr>
          <a:xfrm>
            <a:off x="1466850" y="781050"/>
            <a:ext cx="6515100" cy="1619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150" name="textbox 2150"/>
          <p:cNvSpPr/>
          <p:nvPr/>
        </p:nvSpPr>
        <p:spPr>
          <a:xfrm>
            <a:off x="1457325" y="1133475"/>
            <a:ext cx="4772025" cy="257175"/>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工程应用：</a:t>
            </a:r>
            <a:r>
              <a:rPr sz="2000" b="1" kern="0" spc="0" dirty="0">
                <a:solidFill>
                  <a:srgbClr val="0066CC">
                    <a:alpha val="100000"/>
                  </a:srgbClr>
                </a:solidFill>
                <a:latin typeface="Arial" panose="020B0604020202020204"/>
                <a:ea typeface="Arial" panose="020B0604020202020204"/>
                <a:cs typeface="Arial" panose="020B0604020202020204"/>
              </a:rPr>
              <a:t>RC</a:t>
            </a:r>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框架结构抗震可靠度分析</a:t>
            </a:r>
            <a:endParaRPr sz="2000" dirty="0"/>
          </a:p>
        </p:txBody>
      </p:sp>
      <p:sp>
        <p:nvSpPr>
          <p:cNvPr id="2152" name="textbox 2152"/>
          <p:cNvSpPr/>
          <p:nvPr/>
        </p:nvSpPr>
        <p:spPr>
          <a:xfrm>
            <a:off x="1466850" y="1438275"/>
            <a:ext cx="4038600" cy="161925"/>
          </a:xfrm>
          <a:prstGeom prst="rect">
            <a:avLst/>
          </a:prstGeom>
          <a:noFill/>
          <a:ln w="0" cap="flat">
            <a:noFill/>
            <a:prstDash val="solid"/>
            <a:miter lim="0"/>
          </a:ln>
        </p:spPr>
        <p:txBody>
          <a:bodyPr vert="horz" wrap="none" lIns="0" tIns="0" rIns="0" bIns="0"/>
          <a:lstStyle/>
          <a:p>
            <a:pPr algn="l" rtl="0" eaLnBrk="0"/>
            <a:r>
              <a:rPr sz="1000" kern="0" spc="0" dirty="0">
                <a:solidFill>
                  <a:srgbClr val="2980D3">
                    <a:alpha val="100000"/>
                  </a:srgbClr>
                </a:solidFill>
                <a:latin typeface="Times New Roman" panose="02020603050405020304"/>
                <a:ea typeface="Times New Roman" panose="02020603050405020304"/>
                <a:cs typeface="Times New Roman" panose="02020603050405020304"/>
              </a:rPr>
              <a:t>Engineering Application, Seismic Reliability Analysis of RC Frame Structures</a:t>
            </a:r>
            <a:endParaRPr sz="1000" dirty="0"/>
          </a:p>
        </p:txBody>
      </p:sp>
      <p:pic>
        <p:nvPicPr>
          <p:cNvPr id="2156" name="picture 2156"/>
          <p:cNvPicPr>
            <a:picLocks noChangeAspect="1"/>
          </p:cNvPicPr>
          <p:nvPr/>
        </p:nvPicPr>
        <p:blipFill>
          <a:blip r:embed="rId3"/>
          <a:stretch>
            <a:fillRect/>
          </a:stretch>
        </p:blipFill>
        <p:spPr>
          <a:xfrm>
            <a:off x="266700" y="1809750"/>
            <a:ext cx="4962525" cy="3790950"/>
          </a:xfrm>
          <a:prstGeom prst="rect">
            <a:avLst/>
          </a:prstGeom>
        </p:spPr>
      </p:pic>
      <p:sp>
        <p:nvSpPr>
          <p:cNvPr id="2158" name="textbox 2158"/>
          <p:cNvSpPr/>
          <p:nvPr/>
        </p:nvSpPr>
        <p:spPr>
          <a:xfrm>
            <a:off x="1314450" y="5791200"/>
            <a:ext cx="3009900" cy="257175"/>
          </a:xfrm>
          <a:prstGeom prst="rect">
            <a:avLst/>
          </a:prstGeom>
          <a:noFill/>
          <a:ln w="0" cap="flat">
            <a:noFill/>
            <a:prstDash val="solid"/>
            <a:miter lim="0"/>
          </a:ln>
        </p:spPr>
        <p:txBody>
          <a:bodyPr vert="horz" wrap="none" lIns="0" tIns="0" rIns="0" bIns="0"/>
          <a:lstStyle/>
          <a:p>
            <a:pPr algn="l" rtl="0" eaLnBrk="0"/>
            <a:r>
              <a:rPr sz="1800" kern="0" spc="0" dirty="0">
                <a:solidFill>
                  <a:srgbClr val="4472C4">
                    <a:alpha val="100000"/>
                  </a:srgbClr>
                </a:solidFill>
                <a:latin typeface="微软雅黑" panose="020B0503020204020204" charset="-122"/>
                <a:ea typeface="微软雅黑" panose="020B0503020204020204" charset="-122"/>
                <a:cs typeface="微软雅黑" panose="020B0503020204020204" charset="-122"/>
              </a:rPr>
              <a:t>状态变量概率密度函数的演化</a:t>
            </a:r>
            <a:endParaRPr sz="1800" dirty="0"/>
          </a:p>
        </p:txBody>
      </p:sp>
      <p:pic>
        <p:nvPicPr>
          <p:cNvPr id="2162" name="picture 2162"/>
          <p:cNvPicPr>
            <a:picLocks noChangeAspect="1"/>
          </p:cNvPicPr>
          <p:nvPr/>
        </p:nvPicPr>
        <p:blipFill>
          <a:blip r:embed="rId4"/>
          <a:stretch>
            <a:fillRect/>
          </a:stretch>
        </p:blipFill>
        <p:spPr>
          <a:xfrm>
            <a:off x="5753100" y="1562100"/>
            <a:ext cx="3724275" cy="2390775"/>
          </a:xfrm>
          <a:prstGeom prst="rect">
            <a:avLst/>
          </a:prstGeom>
        </p:spPr>
      </p:pic>
      <p:pic>
        <p:nvPicPr>
          <p:cNvPr id="2166" name="picture 2166"/>
          <p:cNvPicPr>
            <a:picLocks noChangeAspect="1"/>
          </p:cNvPicPr>
          <p:nvPr/>
        </p:nvPicPr>
        <p:blipFill>
          <a:blip r:embed="rId5"/>
          <a:stretch>
            <a:fillRect/>
          </a:stretch>
        </p:blipFill>
        <p:spPr>
          <a:xfrm>
            <a:off x="5753100" y="4000500"/>
            <a:ext cx="3724275" cy="2228850"/>
          </a:xfrm>
          <a:prstGeom prst="rect">
            <a:avLst/>
          </a:prstGeom>
        </p:spPr>
      </p:pic>
      <p:sp>
        <p:nvSpPr>
          <p:cNvPr id="2168" name="textbox 2168"/>
          <p:cNvSpPr/>
          <p:nvPr/>
        </p:nvSpPr>
        <p:spPr>
          <a:xfrm>
            <a:off x="6553200" y="6267450"/>
            <a:ext cx="2419350" cy="257175"/>
          </a:xfrm>
          <a:prstGeom prst="rect">
            <a:avLst/>
          </a:prstGeom>
          <a:noFill/>
          <a:ln w="0" cap="flat">
            <a:noFill/>
            <a:prstDash val="solid"/>
            <a:miter lim="0"/>
          </a:ln>
        </p:spPr>
        <p:txBody>
          <a:bodyPr vert="horz" wrap="none" lIns="0" tIns="0" rIns="0" bIns="0"/>
          <a:lstStyle/>
          <a:p>
            <a:pPr algn="l" rtl="0" eaLnBrk="0"/>
            <a:r>
              <a:rPr sz="1800" kern="0" spc="0" dirty="0">
                <a:solidFill>
                  <a:srgbClr val="1951AD">
                    <a:alpha val="100000"/>
                  </a:srgbClr>
                </a:solidFill>
                <a:latin typeface="微软雅黑" panose="020B0503020204020204" charset="-122"/>
                <a:ea typeface="微软雅黑" panose="020B0503020204020204" charset="-122"/>
                <a:cs typeface="微软雅黑" panose="020B0503020204020204" charset="-122"/>
              </a:rPr>
              <a:t>状态变量的PDF 和 CDF</a:t>
            </a:r>
            <a:endParaRPr sz="1800" dirty="0"/>
          </a:p>
        </p:txBody>
      </p:sp>
      <p:sp>
        <p:nvSpPr>
          <p:cNvPr id="2170" name="textbox 2170"/>
          <p:cNvSpPr/>
          <p:nvPr/>
        </p:nvSpPr>
        <p:spPr>
          <a:xfrm>
            <a:off x="9763125" y="3295650"/>
            <a:ext cx="1800225" cy="1190625"/>
          </a:xfrm>
          <a:prstGeom prst="rect">
            <a:avLst/>
          </a:prstGeom>
          <a:noFill/>
          <a:ln w="0" cap="flat">
            <a:noFill/>
            <a:prstDash val="solid"/>
            <a:miter lim="0"/>
          </a:ln>
        </p:spPr>
        <p:txBody>
          <a:bodyPr vert="horz" wrap="none" lIns="0" tIns="0" rIns="0" bIns="0"/>
          <a:lstStyle/>
          <a:p>
            <a:pPr algn="l" rtl="0" eaLnBrk="0"/>
            <a:r>
              <a:rPr sz="2000" b="1"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提出的方法和</a:t>
            </a:r>
            <a:endParaRPr sz="2000" dirty="0"/>
          </a:p>
          <a:p>
            <a:pPr algn="l" rtl="0" eaLnBrk="0"/>
            <a:r>
              <a:rPr sz="2000" b="1" kern="0" spc="0" dirty="0">
                <a:solidFill>
                  <a:srgbClr val="C00000">
                    <a:alpha val="100000"/>
                  </a:srgbClr>
                </a:solidFill>
                <a:latin typeface="Times New Roman" panose="02020603050405020304"/>
                <a:ea typeface="Times New Roman" panose="02020603050405020304"/>
                <a:cs typeface="Times New Roman" panose="02020603050405020304"/>
              </a:rPr>
              <a:t>MCS</a:t>
            </a:r>
            <a:r>
              <a:rPr sz="2000" b="1"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法的</a:t>
            </a:r>
            <a:r>
              <a:rPr sz="2000" b="1" kern="0" spc="0" dirty="0">
                <a:solidFill>
                  <a:srgbClr val="C00000">
                    <a:alpha val="100000"/>
                  </a:srgbClr>
                </a:solidFill>
                <a:latin typeface="Times New Roman" panose="02020603050405020304"/>
                <a:ea typeface="Times New Roman" panose="02020603050405020304"/>
                <a:cs typeface="Times New Roman" panose="02020603050405020304"/>
              </a:rPr>
              <a:t>CDF</a:t>
            </a:r>
            <a:endParaRPr sz="2000" dirty="0"/>
          </a:p>
          <a:p>
            <a:pPr algn="l" rtl="0" eaLnBrk="0"/>
            <a:r>
              <a:rPr sz="2000" b="1"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和</a:t>
            </a:r>
            <a:r>
              <a:rPr sz="2000" b="1" kern="0" spc="0" dirty="0">
                <a:solidFill>
                  <a:srgbClr val="C00000">
                    <a:alpha val="100000"/>
                  </a:srgbClr>
                </a:solidFill>
                <a:latin typeface="Times New Roman" panose="02020603050405020304"/>
                <a:ea typeface="Times New Roman" panose="02020603050405020304"/>
                <a:cs typeface="Times New Roman" panose="02020603050405020304"/>
              </a:rPr>
              <a:t>PDF</a:t>
            </a:r>
            <a:r>
              <a:rPr sz="2000" b="1"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均吻合</a:t>
            </a:r>
            <a:endParaRPr sz="2000" dirty="0"/>
          </a:p>
          <a:p>
            <a:pPr algn="l" rtl="0" eaLnBrk="0"/>
            <a:r>
              <a:rPr sz="2000" b="1"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良好！</a:t>
            </a:r>
            <a:endParaRPr sz="2000" dirty="0"/>
          </a:p>
        </p:txBody>
      </p:sp>
      <p:sp>
        <p:nvSpPr>
          <p:cNvPr id="2172" name="textbox 217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174" name="textbox 2174"/>
          <p:cNvSpPr/>
          <p:nvPr/>
        </p:nvSpPr>
        <p:spPr>
          <a:xfrm>
            <a:off x="11753850" y="6734175"/>
            <a:ext cx="171450" cy="114300"/>
          </a:xfrm>
          <a:prstGeom prst="rect">
            <a:avLst/>
          </a:prstGeom>
          <a:noFill/>
          <a:ln w="0" cap="flat">
            <a:noFill/>
            <a:prstDash val="solid"/>
            <a:miter lim="0"/>
          </a:ln>
        </p:spPr>
        <p:txBody>
          <a:bodyPr vert="horz" wrap="none" lIns="0" tIns="0" rIns="0" bIns="0"/>
          <a:lstStyle/>
          <a:p>
            <a:pPr algn="l" rtl="0" eaLnBrk="0"/>
            <a:r>
              <a:rPr sz="1000" b="1" kern="0" spc="450" dirty="0">
                <a:solidFill>
                  <a:srgbClr val="719DE1">
                    <a:alpha val="100000"/>
                  </a:srgbClr>
                </a:solidFill>
                <a:latin typeface="Arial" panose="020B0604020202020204"/>
                <a:ea typeface="Arial" panose="020B0604020202020204"/>
                <a:cs typeface="Arial" panose="020B0604020202020204"/>
              </a:rPr>
              <a:t>51</a:t>
            </a:r>
            <a:endParaRPr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8" name="picture 2178"/>
          <p:cNvPicPr>
            <a:picLocks noChangeAspect="1"/>
          </p:cNvPicPr>
          <p:nvPr/>
        </p:nvPicPr>
        <p:blipFill>
          <a:blip r:embed="rId1"/>
          <a:stretch>
            <a:fillRect/>
          </a:stretch>
        </p:blipFill>
        <p:spPr>
          <a:xfrm>
            <a:off x="0" y="0"/>
            <a:ext cx="12192000" cy="6858000"/>
          </a:xfrm>
          <a:prstGeom prst="rect">
            <a:avLst/>
          </a:prstGeom>
        </p:spPr>
      </p:pic>
      <p:sp>
        <p:nvSpPr>
          <p:cNvPr id="2180" name="textbox 2180"/>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67297">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182" name="textbox 218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184" name="textbox 218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188" name="picture 2188"/>
          <p:cNvPicPr>
            <a:picLocks noChangeAspect="1"/>
          </p:cNvPicPr>
          <p:nvPr/>
        </p:nvPicPr>
        <p:blipFill>
          <a:blip r:embed="rId2"/>
          <a:stretch>
            <a:fillRect/>
          </a:stretch>
        </p:blipFill>
        <p:spPr>
          <a:xfrm>
            <a:off x="295275" y="247650"/>
            <a:ext cx="733425" cy="666750"/>
          </a:xfrm>
          <a:prstGeom prst="rect">
            <a:avLst/>
          </a:prstGeom>
        </p:spPr>
      </p:pic>
      <p:sp>
        <p:nvSpPr>
          <p:cNvPr id="2190" name="textbox 2190"/>
          <p:cNvSpPr/>
          <p:nvPr/>
        </p:nvSpPr>
        <p:spPr>
          <a:xfrm>
            <a:off x="1457325" y="352425"/>
            <a:ext cx="5981700" cy="3524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192" name="textbox 2192"/>
          <p:cNvSpPr/>
          <p:nvPr/>
        </p:nvSpPr>
        <p:spPr>
          <a:xfrm>
            <a:off x="1457325" y="762000"/>
            <a:ext cx="6543675"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194" name="textbox 2194"/>
          <p:cNvSpPr/>
          <p:nvPr/>
        </p:nvSpPr>
        <p:spPr>
          <a:xfrm>
            <a:off x="1447800" y="1114425"/>
            <a:ext cx="548640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工程应用：半刚性连接输电塔结构可靠度分析</a:t>
            </a:r>
            <a:endParaRPr sz="2000" dirty="0"/>
          </a:p>
        </p:txBody>
      </p:sp>
      <p:sp>
        <p:nvSpPr>
          <p:cNvPr id="2196" name="textbox 2196"/>
          <p:cNvSpPr/>
          <p:nvPr/>
        </p:nvSpPr>
        <p:spPr>
          <a:xfrm>
            <a:off x="914400" y="1190625"/>
            <a:ext cx="133350" cy="200025"/>
          </a:xfrm>
          <a:prstGeom prst="rect">
            <a:avLst/>
          </a:prstGeom>
          <a:noFill/>
          <a:ln w="0" cap="flat">
            <a:noFill/>
            <a:prstDash val="solid"/>
            <a:miter lim="0"/>
          </a:ln>
        </p:spPr>
        <p:txBody>
          <a:bodyPr vert="horz" wrap="none" lIns="0" tIns="0" rIns="0" bIns="0"/>
          <a:lstStyle/>
          <a:p>
            <a:pPr algn="l" rtl="0" eaLnBrk="0"/>
            <a:r>
              <a:rPr sz="16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1600" dirty="0"/>
          </a:p>
        </p:txBody>
      </p:sp>
      <p:sp>
        <p:nvSpPr>
          <p:cNvPr id="2198" name="textbox 2198"/>
          <p:cNvSpPr/>
          <p:nvPr/>
        </p:nvSpPr>
        <p:spPr>
          <a:xfrm>
            <a:off x="1466850" y="1438275"/>
            <a:ext cx="43338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C9E2">
                    <a:alpha val="100000"/>
                  </a:srgbClr>
                </a:solidFill>
                <a:latin typeface="Times New Roman" panose="02020603050405020304"/>
                <a:ea typeface="Times New Roman" panose="02020603050405020304"/>
                <a:cs typeface="Times New Roman" panose="02020603050405020304"/>
              </a:rPr>
              <a:t>Reliability Analysis of Transmission Tower Structures with Semi-Rigid Connections</a:t>
            </a:r>
            <a:endParaRPr sz="1000" dirty="0"/>
          </a:p>
        </p:txBody>
      </p:sp>
      <p:pic>
        <p:nvPicPr>
          <p:cNvPr id="2202" name="picture 2202"/>
          <p:cNvPicPr>
            <a:picLocks noChangeAspect="1"/>
          </p:cNvPicPr>
          <p:nvPr/>
        </p:nvPicPr>
        <p:blipFill>
          <a:blip r:embed="rId3"/>
          <a:stretch>
            <a:fillRect/>
          </a:stretch>
        </p:blipFill>
        <p:spPr>
          <a:xfrm>
            <a:off x="952500" y="1800225"/>
            <a:ext cx="1562100" cy="3095625"/>
          </a:xfrm>
          <a:prstGeom prst="rect">
            <a:avLst/>
          </a:prstGeom>
        </p:spPr>
      </p:pic>
      <p:sp>
        <p:nvSpPr>
          <p:cNvPr id="2204" name="textbox 2204"/>
          <p:cNvSpPr/>
          <p:nvPr/>
        </p:nvSpPr>
        <p:spPr>
          <a:xfrm>
            <a:off x="247650" y="5019675"/>
            <a:ext cx="2714625" cy="190500"/>
          </a:xfrm>
          <a:prstGeom prst="rect">
            <a:avLst/>
          </a:prstGeom>
          <a:noFill/>
          <a:ln w="0" cap="flat">
            <a:noFill/>
            <a:prstDash val="solid"/>
            <a:miter lim="0"/>
          </a:ln>
        </p:spPr>
        <p:txBody>
          <a:bodyPr vert="horz" wrap="none" lIns="0" tIns="0" rIns="0" bIns="0"/>
          <a:lstStyle/>
          <a:p>
            <a:pPr marL="266700" indent="-247650" algn="l" rtl="0" eaLnBrk="0">
              <a:buAutoNum type="alphaLcParenBoth"/>
            </a:pPr>
            <a:r>
              <a:rPr sz="1300" kern="0" spc="0" dirty="0">
                <a:solidFill>
                  <a:srgbClr val="000000">
                    <a:alpha val="100000"/>
                  </a:srgbClr>
                </a:solidFill>
                <a:latin typeface="Times New Roman" panose="02020603050405020304"/>
                <a:ea typeface="Times New Roman" panose="02020603050405020304"/>
                <a:cs typeface="Times New Roman" panose="02020603050405020304"/>
              </a:rPr>
              <a:t>Tubular power transmission towers</a:t>
            </a:r>
            <a:endParaRPr sz="1300" dirty="0"/>
          </a:p>
        </p:txBody>
      </p:sp>
      <p:pic>
        <p:nvPicPr>
          <p:cNvPr id="2208" name="picture 2208"/>
          <p:cNvPicPr>
            <a:picLocks noChangeAspect="1"/>
          </p:cNvPicPr>
          <p:nvPr/>
        </p:nvPicPr>
        <p:blipFill>
          <a:blip r:embed="rId4"/>
          <a:stretch>
            <a:fillRect/>
          </a:stretch>
        </p:blipFill>
        <p:spPr>
          <a:xfrm>
            <a:off x="3581400" y="1924050"/>
            <a:ext cx="1943100" cy="2867025"/>
          </a:xfrm>
          <a:prstGeom prst="rect">
            <a:avLst/>
          </a:prstGeom>
        </p:spPr>
      </p:pic>
      <p:sp>
        <p:nvSpPr>
          <p:cNvPr id="2210" name="textbox 2210"/>
          <p:cNvSpPr/>
          <p:nvPr/>
        </p:nvSpPr>
        <p:spPr>
          <a:xfrm>
            <a:off x="4171950" y="1924050"/>
            <a:ext cx="438150" cy="180975"/>
          </a:xfrm>
          <a:prstGeom prst="rect">
            <a:avLst/>
          </a:prstGeom>
          <a:noFill/>
          <a:ln w="0" cap="flat">
            <a:noFill/>
            <a:prstDash val="solid"/>
            <a:miter lim="0"/>
          </a:ln>
        </p:spPr>
        <p:txBody>
          <a:bodyPr vert="horz" wrap="none" lIns="0" tIns="0" rIns="0" bIns="0"/>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 Chord</a:t>
            </a:r>
            <a:endParaRPr sz="1000" dirty="0"/>
          </a:p>
        </p:txBody>
      </p:sp>
      <p:sp>
        <p:nvSpPr>
          <p:cNvPr id="2212" name="textbox 2212"/>
          <p:cNvSpPr/>
          <p:nvPr/>
        </p:nvSpPr>
        <p:spPr>
          <a:xfrm>
            <a:off x="4057650" y="2266950"/>
            <a:ext cx="514350" cy="171450"/>
          </a:xfrm>
          <a:prstGeom prst="rect">
            <a:avLst/>
          </a:prstGeom>
          <a:noFill/>
          <a:ln w="0" cap="flat">
            <a:noFill/>
            <a:prstDash val="solid"/>
            <a:miter lim="0"/>
          </a:ln>
        </p:spPr>
        <p:txBody>
          <a:bodyPr vert="horz" wrap="none" lIns="0" tIns="0" rIns="0" bIns="0"/>
          <a:lstStyle/>
          <a:p>
            <a:pPr algn="l" rtl="0" eaLnBrk="0"/>
            <a:r>
              <a:rPr sz="1000" b="1" kern="0" spc="0" dirty="0">
                <a:solidFill>
                  <a:srgbClr val="898989">
                    <a:alpha val="100000"/>
                  </a:srgbClr>
                </a:solidFill>
                <a:latin typeface="Times New Roman" panose="02020603050405020304"/>
                <a:ea typeface="Times New Roman" panose="02020603050405020304"/>
                <a:cs typeface="Times New Roman" panose="02020603050405020304"/>
              </a:rPr>
              <a:t>Annular</a:t>
            </a:r>
            <a:endParaRPr sz="1000" dirty="0"/>
          </a:p>
        </p:txBody>
      </p:sp>
      <p:sp>
        <p:nvSpPr>
          <p:cNvPr id="2214" name="textbox 2214"/>
          <p:cNvSpPr/>
          <p:nvPr/>
        </p:nvSpPr>
        <p:spPr>
          <a:xfrm>
            <a:off x="4162425" y="2438400"/>
            <a:ext cx="304800" cy="152400"/>
          </a:xfrm>
          <a:prstGeom prst="rect">
            <a:avLst/>
          </a:prstGeom>
          <a:noFill/>
          <a:ln w="0" cap="flat">
            <a:noFill/>
            <a:prstDash val="solid"/>
            <a:miter lim="0"/>
          </a:ln>
        </p:spPr>
        <p:txBody>
          <a:bodyPr vert="horz" wrap="none" lIns="0" tIns="0" rIns="0" bIns="0"/>
          <a:lstStyle/>
          <a:p>
            <a:pPr algn="l" rtl="0" eaLnBrk="0"/>
            <a:r>
              <a:rPr sz="1100" kern="0" spc="0" dirty="0">
                <a:solidFill>
                  <a:srgbClr val="000000">
                    <a:alpha val="100000"/>
                  </a:srgbClr>
                </a:solidFill>
                <a:latin typeface="Times New Roman" panose="02020603050405020304"/>
                <a:ea typeface="Times New Roman" panose="02020603050405020304"/>
                <a:cs typeface="Times New Roman" panose="02020603050405020304"/>
              </a:rPr>
              <a:t>plate</a:t>
            </a:r>
            <a:endParaRPr sz="1100" dirty="0"/>
          </a:p>
        </p:txBody>
      </p:sp>
      <p:sp>
        <p:nvSpPr>
          <p:cNvPr id="2216" name="textbox 2216"/>
          <p:cNvSpPr/>
          <p:nvPr/>
        </p:nvSpPr>
        <p:spPr>
          <a:xfrm>
            <a:off x="4467225" y="2933700"/>
            <a:ext cx="762000" cy="200025"/>
          </a:xfrm>
          <a:prstGeom prst="rect">
            <a:avLst/>
          </a:prstGeom>
          <a:noFill/>
          <a:ln w="0" cap="flat">
            <a:noFill/>
            <a:prstDash val="solid"/>
            <a:miter lim="0"/>
          </a:ln>
        </p:spPr>
        <p:txBody>
          <a:bodyPr vert="horz" wrap="none" lIns="0" tIns="0" rIns="0" bIns="0"/>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Gusset plate</a:t>
            </a:r>
            <a:endParaRPr sz="1000" dirty="0"/>
          </a:p>
        </p:txBody>
      </p:sp>
      <p:sp>
        <p:nvSpPr>
          <p:cNvPr id="2218" name="textbox 2218"/>
          <p:cNvSpPr/>
          <p:nvPr/>
        </p:nvSpPr>
        <p:spPr>
          <a:xfrm>
            <a:off x="4581525" y="3457575"/>
            <a:ext cx="800100" cy="209550"/>
          </a:xfrm>
          <a:prstGeom prst="rect">
            <a:avLst/>
          </a:prstGeom>
          <a:noFill/>
          <a:ln w="0" cap="flat">
            <a:noFill/>
            <a:prstDash val="solid"/>
            <a:miter lim="0"/>
          </a:ln>
        </p:spPr>
        <p:txBody>
          <a:bodyPr vert="horz" wrap="none" lIns="0" tIns="0" rIns="0" bIns="0"/>
          <a:lstStyle/>
          <a:p>
            <a:pPr marL="57150" indent="-57150" algn="l" rtl="0" eaLnBrk="0">
              <a:buChar char="-"/>
            </a:pPr>
            <a:r>
              <a:rPr sz="1000" kern="0" spc="0" dirty="0">
                <a:solidFill>
                  <a:srgbClr val="000000">
                    <a:alpha val="100000"/>
                  </a:srgbClr>
                </a:solidFill>
                <a:latin typeface="Times New Roman" panose="02020603050405020304"/>
                <a:ea typeface="Times New Roman" panose="02020603050405020304"/>
                <a:cs typeface="Times New Roman" panose="02020603050405020304"/>
              </a:rPr>
              <a:t>Inserted plate</a:t>
            </a:r>
            <a:endParaRPr sz="1000" dirty="0"/>
          </a:p>
        </p:txBody>
      </p:sp>
      <p:sp>
        <p:nvSpPr>
          <p:cNvPr id="2220" name="textbox 2220"/>
          <p:cNvSpPr/>
          <p:nvPr/>
        </p:nvSpPr>
        <p:spPr>
          <a:xfrm>
            <a:off x="4800600" y="3781425"/>
            <a:ext cx="723900" cy="171450"/>
          </a:xfrm>
          <a:prstGeom prst="rect">
            <a:avLst/>
          </a:prstGeom>
          <a:noFill/>
          <a:ln w="0" cap="flat">
            <a:noFill/>
            <a:prstDash val="solid"/>
            <a:miter lim="0"/>
          </a:ln>
        </p:spPr>
        <p:txBody>
          <a:bodyPr vert="horz" wrap="none" lIns="0" tIns="0" rIns="0" bIns="0"/>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,Branch tube</a:t>
            </a:r>
            <a:endParaRPr sz="1000" dirty="0"/>
          </a:p>
        </p:txBody>
      </p:sp>
      <p:sp>
        <p:nvSpPr>
          <p:cNvPr id="2222" name="textbox 2222"/>
          <p:cNvSpPr/>
          <p:nvPr/>
        </p:nvSpPr>
        <p:spPr>
          <a:xfrm>
            <a:off x="5010150" y="4581525"/>
            <a:ext cx="152400" cy="133350"/>
          </a:xfrm>
          <a:prstGeom prst="rect">
            <a:avLst/>
          </a:prstGeom>
          <a:noFill/>
          <a:ln w="0" cap="flat">
            <a:noFill/>
            <a:prstDash val="solid"/>
            <a:miter lim="0"/>
          </a:ln>
        </p:spPr>
        <p:txBody>
          <a:bodyPr vert="horz" wrap="none" lIns="0" tIns="0" rIns="0" bIns="0"/>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F₂</a:t>
            </a:r>
            <a:endParaRPr sz="1000" dirty="0"/>
          </a:p>
        </p:txBody>
      </p:sp>
      <p:sp>
        <p:nvSpPr>
          <p:cNvPr id="2224" name="textbox 2224"/>
          <p:cNvSpPr/>
          <p:nvPr/>
        </p:nvSpPr>
        <p:spPr>
          <a:xfrm>
            <a:off x="3171825" y="5019675"/>
            <a:ext cx="3105150" cy="190500"/>
          </a:xfrm>
          <a:prstGeom prst="rect">
            <a:avLst/>
          </a:prstGeom>
          <a:noFill/>
          <a:ln w="0" cap="flat">
            <a:noFill/>
            <a:prstDash val="solid"/>
            <a:miter lim="0"/>
          </a:ln>
        </p:spPr>
        <p:txBody>
          <a:bodyPr vert="horz" wrap="none" lIns="0" tIns="0" rIns="0" bIns="0"/>
          <a:lstStyle/>
          <a:p>
            <a:pPr marL="266700" indent="-247650" algn="l" rtl="0" eaLnBrk="0">
              <a:buAutoNum type="alphaLcParenBoth" startAt="2"/>
            </a:pPr>
            <a:r>
              <a:rPr sz="1400" kern="0" spc="0" dirty="0">
                <a:solidFill>
                  <a:srgbClr val="000000">
                    <a:alpha val="100000"/>
                  </a:srgbClr>
                </a:solidFill>
                <a:latin typeface="Times New Roman" panose="02020603050405020304"/>
                <a:ea typeface="Times New Roman" panose="02020603050405020304"/>
                <a:cs typeface="Times New Roman" panose="02020603050405020304"/>
              </a:rPr>
              <a:t>Sketch of tube-gusset K-joint connection</a:t>
            </a:r>
            <a:endParaRPr sz="1400" dirty="0"/>
          </a:p>
        </p:txBody>
      </p:sp>
      <p:sp>
        <p:nvSpPr>
          <p:cNvPr id="2226" name="textbox 2226"/>
          <p:cNvSpPr/>
          <p:nvPr/>
        </p:nvSpPr>
        <p:spPr>
          <a:xfrm>
            <a:off x="1943100" y="5486400"/>
            <a:ext cx="2828925" cy="22860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管状动力传输塔中的K型接头示意图</a:t>
            </a:r>
            <a:endParaRPr sz="1400" dirty="0"/>
          </a:p>
        </p:txBody>
      </p:sp>
      <p:sp>
        <p:nvSpPr>
          <p:cNvPr id="2228" name="textbox 2228"/>
          <p:cNvSpPr/>
          <p:nvPr/>
        </p:nvSpPr>
        <p:spPr>
          <a:xfrm>
            <a:off x="8524875" y="1619250"/>
            <a:ext cx="1285875" cy="21907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随机变量统计表</a:t>
            </a:r>
            <a:endParaRPr sz="1400" dirty="0"/>
          </a:p>
        </p:txBody>
      </p:sp>
      <p:graphicFrame>
        <p:nvGraphicFramePr>
          <p:cNvPr id="2230" name="table 2230"/>
          <p:cNvGraphicFramePr>
            <a:graphicFrameLocks noGrp="1"/>
          </p:cNvGraphicFramePr>
          <p:nvPr/>
        </p:nvGraphicFramePr>
        <p:xfrm>
          <a:off x="6629400" y="1866900"/>
          <a:ext cx="4991100" cy="1905000"/>
        </p:xfrm>
        <a:graphic>
          <a:graphicData uri="http://schemas.openxmlformats.org/drawingml/2006/table">
            <a:tbl>
              <a:tblPr/>
              <a:tblGrid>
                <a:gridCol w="733425"/>
                <a:gridCol w="2000250"/>
                <a:gridCol w="904875"/>
                <a:gridCol w="838200"/>
                <a:gridCol w="504825"/>
              </a:tblGrid>
              <a:tr h="266700">
                <a:tc>
                  <a:txBody>
                    <a:bodyPr/>
                    <a:lstStyle/>
                    <a:p>
                      <a:pPr algn="ctr"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Variables</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Description</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Distribution</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Mean</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COV</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209550">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T</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Chord thickness</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11mm</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0.10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180975">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B</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Gusset plate length</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337mm</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0.10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171450">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D</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Chord diameter</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555mm</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0.10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161925">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R</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Annular plate width</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100mm</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0.05</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171450">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f</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y</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Chord yield strength</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345Mpa</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0.15</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180975">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f</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ry</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Annular plate yield strength</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345Mpa</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0.15</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171450">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F</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1</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Applied load</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250kN</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0.20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171450">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F</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2</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Applied load</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Lognormal</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250kN</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0.20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r h="219075">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T</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r</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Annular plate thickness</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Deterministic</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6mm</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0.00</a:t>
                      </a:r>
                      <a:endParaRPr sz="1000" dirty="0"/>
                    </a:p>
                  </a:txBody>
                  <a:tcPr marL="0" marR="0" marT="0" marB="0" vert="horz" anchor="ctr">
                    <a:lnL w="19050" cap="flat" cmpd="sng" algn="ctr">
                      <a:solidFill>
                        <a:srgbClr val="A2A2A2"/>
                      </a:solidFill>
                      <a:prstDash val="solid"/>
                      <a:round/>
                      <a:headEnd type="none" w="med" len="med"/>
                      <a:tailEnd type="none" w="med" len="med"/>
                    </a:lnL>
                    <a:lnR w="19050" cap="flat" cmpd="sng" algn="ctr">
                      <a:solidFill>
                        <a:srgbClr val="A2A2A2"/>
                      </a:solidFill>
                      <a:prstDash val="solid"/>
                      <a:round/>
                      <a:headEnd type="none" w="med" len="med"/>
                      <a:tailEnd type="none" w="med" len="med"/>
                    </a:lnR>
                    <a:lnT w="19050" cap="flat" cmpd="sng" algn="ctr">
                      <a:solidFill>
                        <a:srgbClr val="A2A2A2"/>
                      </a:solidFill>
                      <a:prstDash val="solid"/>
                      <a:round/>
                      <a:headEnd type="none" w="med" len="med"/>
                      <a:tailEnd type="none" w="med" len="med"/>
                    </a:lnT>
                    <a:lnB w="19050" cap="flat" cmpd="sng" algn="ctr">
                      <a:solidFill>
                        <a:srgbClr val="A2A2A2"/>
                      </a:solidFill>
                      <a:prstDash val="solid"/>
                      <a:round/>
                      <a:headEnd type="none" w="med" len="med"/>
                      <a:tailEnd type="none" w="med" len="med"/>
                    </a:lnB>
                  </a:tcPr>
                </a:tc>
              </a:tr>
            </a:tbl>
          </a:graphicData>
        </a:graphic>
      </p:graphicFrame>
      <p:graphicFrame>
        <p:nvGraphicFramePr>
          <p:cNvPr id="2232" name="table 2232"/>
          <p:cNvGraphicFramePr>
            <a:graphicFrameLocks noGrp="1"/>
          </p:cNvGraphicFramePr>
          <p:nvPr/>
        </p:nvGraphicFramePr>
        <p:xfrm>
          <a:off x="6496050" y="3800475"/>
          <a:ext cx="4657725" cy="2257425"/>
        </p:xfrm>
        <a:graphic>
          <a:graphicData uri="http://schemas.openxmlformats.org/drawingml/2006/table">
            <a:tbl>
              <a:tblPr/>
              <a:tblGrid>
                <a:gridCol w="1257300"/>
                <a:gridCol w="428625"/>
                <a:gridCol w="447675"/>
                <a:gridCol w="295275"/>
                <a:gridCol w="466725"/>
                <a:gridCol w="285750"/>
                <a:gridCol w="247650"/>
                <a:gridCol w="304800"/>
                <a:gridCol w="447675"/>
                <a:gridCol w="476250"/>
              </a:tblGrid>
              <a:tr h="238125">
                <a:tc rowSpan="8">
                  <a:txBody>
                    <a:bodyPr/>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相关系数矩阵</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rowSpan="8">
                  <a:txBody>
                    <a:bodyPr/>
                    <a:lstStyle/>
                    <a:p>
                      <a:pPr algn="l" rtl="0" eaLnBrk="0"/>
                      <a:r>
                        <a:rPr sz="1400" i="1" kern="0" spc="0" dirty="0">
                          <a:solidFill>
                            <a:srgbClr val="000000">
                              <a:alpha val="100000"/>
                            </a:srgbClr>
                          </a:solidFill>
                          <a:latin typeface="Times New Roman" panose="02020603050405020304"/>
                          <a:ea typeface="Times New Roman" panose="02020603050405020304"/>
                          <a:cs typeface="Times New Roman" panose="02020603050405020304"/>
                        </a:rPr>
                        <a:t>ρx=</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t">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0.15</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t">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r h="29527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r h="285750">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0.15</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r h="285750">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r h="304800">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r h="29527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r h="29527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0.25</a:t>
                      </a:r>
                      <a:endParaRPr sz="12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r h="25717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100" kern="0" spc="0" dirty="0">
                          <a:solidFill>
                            <a:srgbClr val="000000">
                              <a:alpha val="100000"/>
                            </a:srgbClr>
                          </a:solidFill>
                          <a:latin typeface="Times New Roman" panose="02020603050405020304"/>
                          <a:ea typeface="Times New Roman" panose="02020603050405020304"/>
                          <a:cs typeface="Times New Roman" panose="02020603050405020304"/>
                        </a:rPr>
                        <a:t>0.25</a:t>
                      </a:r>
                      <a:endParaRPr sz="11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c>
                  <a:txBody>
                    <a:bodyPr/>
                    <a:lstStyle/>
                    <a:p>
                      <a:pPr algn="ctr"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a:t>
                      </a:r>
                      <a:endParaRPr sz="1400" dirty="0"/>
                    </a:p>
                  </a:txBody>
                  <a:tcPr marL="0" marR="0" marT="0" marB="0" vert="horz" anchor="ctr">
                    <a:lnL w="19050" cap="flat" cmpd="sng" algn="ctr">
                      <a:solidFill>
                        <a:srgbClr val="A0A0A0"/>
                      </a:solidFill>
                      <a:prstDash val="solid"/>
                      <a:round/>
                      <a:headEnd type="none" w="med" len="med"/>
                      <a:tailEnd type="none" w="med" len="med"/>
                    </a:lnL>
                    <a:lnR w="19050" cap="flat" cmpd="sng" algn="ctr">
                      <a:solidFill>
                        <a:srgbClr val="A0A0A0"/>
                      </a:solidFill>
                      <a:prstDash val="solid"/>
                      <a:round/>
                      <a:headEnd type="none" w="med" len="med"/>
                      <a:tailEnd type="none" w="med" len="med"/>
                    </a:lnR>
                    <a:lnT w="19050" cap="flat" cmpd="sng" algn="ctr">
                      <a:solidFill>
                        <a:srgbClr val="A0A0A0"/>
                      </a:solidFill>
                      <a:prstDash val="solid"/>
                      <a:round/>
                      <a:headEnd type="none" w="med" len="med"/>
                      <a:tailEnd type="none" w="med" len="med"/>
                    </a:lnT>
                    <a:lnB w="19050" cap="flat" cmpd="sng" algn="ctr">
                      <a:solidFill>
                        <a:srgbClr val="A0A0A0"/>
                      </a:solidFill>
                      <a:prstDash val="solid"/>
                      <a:round/>
                      <a:headEnd type="none" w="med" len="med"/>
                      <a:tailEnd type="none" w="med" len="med"/>
                    </a:lnB>
                  </a:tcPr>
                </a:tc>
              </a:tr>
            </a:tbl>
          </a:graphicData>
        </a:graphic>
      </p:graphicFrame>
      <p:sp>
        <p:nvSpPr>
          <p:cNvPr id="2234" name="textbox 2234"/>
          <p:cNvSpPr/>
          <p:nvPr/>
        </p:nvSpPr>
        <p:spPr>
          <a:xfrm>
            <a:off x="95250" y="6229350"/>
            <a:ext cx="11972925" cy="438150"/>
          </a:xfrm>
          <a:prstGeom prst="rect">
            <a:avLst/>
          </a:prstGeom>
          <a:noFill/>
          <a:ln w="0" cap="flat">
            <a:noFill/>
            <a:prstDash val="solid"/>
            <a:miter lim="0"/>
          </a:ln>
        </p:spPr>
        <p:txBody>
          <a:bodyPr vert="horz" wrap="none" lIns="0" tIns="0" rIns="0" bIns="0"/>
          <a:lstStyle/>
          <a:p>
            <a:pPr algn="l" rtl="0" eaLnBrk="0"/>
            <a:r>
              <a:rPr sz="1400" kern="0" spc="0" dirty="0">
                <a:solidFill>
                  <a:srgbClr val="0070BC">
                    <a:alpha val="100000"/>
                  </a:srgbClr>
                </a:solidFill>
                <a:latin typeface="Times New Roman" panose="02020603050405020304"/>
                <a:ea typeface="Times New Roman" panose="02020603050405020304"/>
                <a:cs typeface="Times New Roman" panose="02020603050405020304"/>
              </a:rPr>
              <a:t>Wang T, Lu D G*, Tan Y Q. Refined dimension-reduction integration method for uncertainty propagation in stochastic systems: Estimation of statistical moments.</a:t>
            </a:r>
            <a:endParaRPr sz="1400" dirty="0">
              <a:solidFill>
                <a:srgbClr val="0070BC"/>
              </a:solidFill>
            </a:endParaRPr>
          </a:p>
          <a:p>
            <a:pPr algn="l" rtl="0" eaLnBrk="0"/>
            <a:r>
              <a:rPr sz="1400" kern="0" spc="0" dirty="0">
                <a:solidFill>
                  <a:srgbClr val="0070BC">
                    <a:alpha val="100000"/>
                  </a:srgbClr>
                </a:solidFill>
                <a:latin typeface="Times New Roman" panose="02020603050405020304"/>
                <a:ea typeface="Times New Roman" panose="02020603050405020304"/>
                <a:cs typeface="Times New Roman" panose="02020603050405020304"/>
              </a:rPr>
              <a:t>Reliability Engineering &amp; System Safety, 2025, 256: 110753.</a:t>
            </a:r>
            <a:endParaRPr sz="1400" kern="0" spc="0" dirty="0">
              <a:solidFill>
                <a:srgbClr val="0070BC">
                  <a:alpha val="100000"/>
                </a:srgbClr>
              </a:solidFill>
              <a:latin typeface="Times New Roman" panose="02020603050405020304"/>
              <a:ea typeface="Times New Roman" panose="02020603050405020304"/>
              <a:cs typeface="Times New Roman" panose="02020603050405020304"/>
            </a:endParaRPr>
          </a:p>
        </p:txBody>
      </p:sp>
      <p:sp>
        <p:nvSpPr>
          <p:cNvPr id="2236" name="textbox 2236"/>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2238" name="textbox 2238"/>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700" kern="0" spc="375" dirty="0">
                <a:solidFill>
                  <a:srgbClr val="7F7F7F">
                    <a:alpha val="100000"/>
                  </a:srgbClr>
                </a:solidFill>
                <a:latin typeface="Arial" panose="020B0604020202020204"/>
                <a:ea typeface="Arial" panose="020B0604020202020204"/>
                <a:cs typeface="Arial" panose="020B0604020202020204"/>
              </a:rPr>
              <a:t>52</a:t>
            </a:r>
            <a:endParaRPr sz="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2" name="picture 2242"/>
          <p:cNvPicPr>
            <a:picLocks noChangeAspect="1"/>
          </p:cNvPicPr>
          <p:nvPr/>
        </p:nvPicPr>
        <p:blipFill>
          <a:blip r:embed="rId1"/>
          <a:stretch>
            <a:fillRect/>
          </a:stretch>
        </p:blipFill>
        <p:spPr>
          <a:xfrm>
            <a:off x="0" y="0"/>
            <a:ext cx="12192000" cy="6858000"/>
          </a:xfrm>
          <a:prstGeom prst="rect">
            <a:avLst/>
          </a:prstGeom>
        </p:spPr>
      </p:pic>
      <p:sp>
        <p:nvSpPr>
          <p:cNvPr id="2244" name="textbox 2244"/>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2246" name="textbox 2246"/>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248" name="textbox 224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A709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252" name="picture 2252"/>
          <p:cNvPicPr>
            <a:picLocks noChangeAspect="1"/>
          </p:cNvPicPr>
          <p:nvPr/>
        </p:nvPicPr>
        <p:blipFill>
          <a:blip r:embed="rId2"/>
          <a:stretch>
            <a:fillRect/>
          </a:stretch>
        </p:blipFill>
        <p:spPr>
          <a:xfrm>
            <a:off x="295275" y="247650"/>
            <a:ext cx="733425" cy="666750"/>
          </a:xfrm>
          <a:prstGeom prst="rect">
            <a:avLst/>
          </a:prstGeom>
        </p:spPr>
      </p:pic>
      <p:sp>
        <p:nvSpPr>
          <p:cNvPr id="2254" name="textbox 2254"/>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256" name="textbox 2256"/>
          <p:cNvSpPr/>
          <p:nvPr/>
        </p:nvSpPr>
        <p:spPr>
          <a:xfrm>
            <a:off x="1447800" y="752475"/>
            <a:ext cx="6553200"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258" name="textbox 2258"/>
          <p:cNvSpPr/>
          <p:nvPr/>
        </p:nvSpPr>
        <p:spPr>
          <a:xfrm>
            <a:off x="1447800" y="1104900"/>
            <a:ext cx="5486400" cy="314325"/>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工程应用：半刚性连接输电塔结构可靠度分析</a:t>
            </a:r>
            <a:endParaRPr sz="2000" dirty="0"/>
          </a:p>
        </p:txBody>
      </p:sp>
      <p:sp>
        <p:nvSpPr>
          <p:cNvPr id="2260" name="textbox 2260"/>
          <p:cNvSpPr/>
          <p:nvPr/>
        </p:nvSpPr>
        <p:spPr>
          <a:xfrm>
            <a:off x="876300" y="1152525"/>
            <a:ext cx="209550" cy="26670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2000" dirty="0"/>
          </a:p>
        </p:txBody>
      </p:sp>
      <p:sp>
        <p:nvSpPr>
          <p:cNvPr id="2262" name="textbox 2262"/>
          <p:cNvSpPr/>
          <p:nvPr/>
        </p:nvSpPr>
        <p:spPr>
          <a:xfrm>
            <a:off x="1447800" y="1438275"/>
            <a:ext cx="4352925"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Reliability Analysis of Transmission Tower Structures with Semi-Rigid Connections</a:t>
            </a:r>
            <a:endParaRPr sz="1000" dirty="0"/>
          </a:p>
        </p:txBody>
      </p:sp>
      <p:sp>
        <p:nvSpPr>
          <p:cNvPr id="2264" name="textbox 2264"/>
          <p:cNvSpPr/>
          <p:nvPr/>
        </p:nvSpPr>
        <p:spPr>
          <a:xfrm>
            <a:off x="1152525" y="1809750"/>
            <a:ext cx="3648075" cy="276225"/>
          </a:xfrm>
          <a:prstGeom prst="rect">
            <a:avLst/>
          </a:prstGeom>
          <a:noFill/>
          <a:ln w="0" cap="flat">
            <a:noFill/>
            <a:prstDash val="solid"/>
            <a:miter lim="0"/>
          </a:ln>
        </p:spPr>
        <p:txBody>
          <a:bodyPr vert="horz" wrap="none" lIns="0" tIns="0" rIns="0" bIns="0"/>
          <a:lstStyle/>
          <a:p>
            <a:pPr algn="l" rtl="0" eaLnBrk="0"/>
            <a:r>
              <a:rPr sz="18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使用Nataf变换将相关系数矩阵变为：</a:t>
            </a:r>
            <a:endParaRPr sz="1800" dirty="0"/>
          </a:p>
        </p:txBody>
      </p:sp>
      <mc:AlternateContent xmlns:mc="http://schemas.openxmlformats.org/markup-compatibility/2006">
        <mc:Choice xmlns:a14="http://schemas.microsoft.com/office/drawing/2010/main" Requires="a14">
          <p:sp>
            <p:nvSpPr>
              <p:cNvPr id="2266" name="textbox 2266"/>
              <p:cNvSpPr/>
              <p:nvPr/>
            </p:nvSpPr>
            <p:spPr>
              <a:xfrm>
                <a:off x="523875" y="2152650"/>
                <a:ext cx="4610100" cy="27622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a:rPr lang="en-US" sz="1800" dirty="0">
                              <a:latin typeface="Cambria Math" panose="02040503050406030204"/>
                              <a:ea typeface="Cambria Math" panose="02040503050406030204"/>
                            </a:rPr>
                            <m:t>𝛒</m:t>
                          </m:r>
                        </m:e>
                        <m:sub>
                          <m:r>
                            <m:rPr>
                              <m:sty m:val="p"/>
                            </m:rPr>
                            <a:rPr lang="en-US" sz="1800" dirty="0">
                              <a:latin typeface="Cambria Math" panose="02040503050406030204"/>
                              <a:ea typeface="Cambria Math" panose="02040503050406030204"/>
                            </a:rPr>
                            <m:t>U</m:t>
                          </m:r>
                        </m:sub>
                      </m:sSub>
                      <m:r>
                        <a:rPr lang="en-US" sz="1800" dirty="0">
                          <a:latin typeface="Cambria Math" panose="02040503050406030204"/>
                          <a:ea typeface="Cambria Math" panose="02040503050406030204"/>
                        </a:rPr>
                        <m:t>=</m:t>
                      </m:r>
                      <m:d>
                        <m:dPr>
                          <m:begChr m:val="["/>
                          <m:endChr m:val="]"/>
                          <m:ctrlPr>
                            <a:rPr/>
                          </m:ctrlPr>
                        </m:dPr>
                        <m:e>
                          <m:m>
                            <m:mPr>
                              <m:mcs>
                                <m:mc>
                                  <m:mcPr>
                                    <m:count m:val="8"/>
                                    <m:mcJc m:val="center"/>
                                  </m:mcPr>
                                </m:mc>
                              </m:mcs>
                              <m:ctrlPr>
                                <a:rPr/>
                              </m:ctrlPr>
                            </m:mPr>
                            <m:mr>
                              <m:e>
                                <m:r>
                                  <a:rPr lang="en-US" sz="1800" dirty="0">
                                    <a:latin typeface="Cambria Math" panose="02040503050406030204"/>
                                    <a:ea typeface="Cambria Math" panose="02040503050406030204"/>
                                  </a:rPr>
                                  <m:t>1</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r>
                                  <a:rPr lang="en-US" sz="1800" dirty="0">
                                    <a:latin typeface="Cambria Math" panose="02040503050406030204"/>
                                    <a:ea typeface="Cambria Math" panose="02040503050406030204"/>
                                  </a:rPr>
                                  <m:t>5</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mr>
                            <m:mr>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1</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mr>
                            <m:mr>
                              <m:e>
                                <m:r>
                                  <a:rPr lang="en-US" sz="1800" dirty="0">
                                    <a:latin typeface="Cambria Math" panose="02040503050406030204"/>
                                    <a:ea typeface="Cambria Math" panose="02040503050406030204"/>
                                  </a:rPr>
                                  <m:t>0</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r>
                                  <a:rPr lang="en-US" sz="1800" dirty="0">
                                    <a:latin typeface="Cambria Math" panose="02040503050406030204"/>
                                    <a:ea typeface="Cambria Math" panose="02040503050406030204"/>
                                  </a:rPr>
                                  <m:t>5</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1</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mr>
                            <m:mr>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1</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mr>
                            <m:mr>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1</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mr>
                            <m:mr>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1</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mr>
                            <m:mr>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1</m:t>
                                </m:r>
                              </m:e>
                              <m:e>
                                <m:r>
                                  <a:rPr lang="en-US" sz="1800" dirty="0">
                                    <a:latin typeface="Cambria Math" panose="02040503050406030204"/>
                                    <a:ea typeface="Cambria Math" panose="02040503050406030204"/>
                                  </a:rPr>
                                  <m:t>0</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r>
                                  <a:rPr lang="en-US" sz="1800" dirty="0">
                                    <a:latin typeface="Cambria Math" panose="02040503050406030204"/>
                                    <a:ea typeface="Cambria Math" panose="02040503050406030204"/>
                                  </a:rPr>
                                  <m:t>5</m:t>
                                </m:r>
                                <m:r>
                                  <a:rPr lang="en-US" sz="1800" dirty="0">
                                    <a:latin typeface="Cambria Math" panose="02040503050406030204"/>
                                    <a:ea typeface="Cambria Math" panose="02040503050406030204"/>
                                  </a:rPr>
                                  <m:t>3</m:t>
                                </m:r>
                                <m:r>
                                  <a:rPr lang="en-US" sz="1800" dirty="0">
                                    <a:latin typeface="Cambria Math" panose="02040503050406030204"/>
                                    <a:ea typeface="Cambria Math" panose="02040503050406030204"/>
                                  </a:rPr>
                                  <m:t>7</m:t>
                                </m:r>
                              </m:e>
                            </m:mr>
                            <m:mr>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e>
                              <m:e>
                                <m:r>
                                  <a:rPr lang="en-US" sz="1800" dirty="0">
                                    <a:latin typeface="Cambria Math" panose="02040503050406030204"/>
                                    <a:ea typeface="Cambria Math" panose="02040503050406030204"/>
                                  </a:rPr>
                                  <m:t>0</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r>
                                  <a:rPr lang="en-US" sz="1800" dirty="0">
                                    <a:latin typeface="Cambria Math" panose="02040503050406030204"/>
                                    <a:ea typeface="Cambria Math" panose="02040503050406030204"/>
                                  </a:rPr>
                                  <m:t>5</m:t>
                                </m:r>
                                <m:r>
                                  <a:rPr lang="en-US" sz="1800" dirty="0">
                                    <a:latin typeface="Cambria Math" panose="02040503050406030204"/>
                                    <a:ea typeface="Cambria Math" panose="02040503050406030204"/>
                                  </a:rPr>
                                  <m:t>3</m:t>
                                </m:r>
                                <m:r>
                                  <a:rPr lang="en-US" sz="1800" dirty="0">
                                    <a:latin typeface="Cambria Math" panose="02040503050406030204"/>
                                    <a:ea typeface="Cambria Math" panose="02040503050406030204"/>
                                  </a:rPr>
                                  <m:t>7</m:t>
                                </m:r>
                              </m:e>
                              <m:e>
                                <m:r>
                                  <a:rPr lang="en-US" sz="1800" dirty="0">
                                    <a:latin typeface="Cambria Math" panose="02040503050406030204"/>
                                    <a:ea typeface="Cambria Math" panose="02040503050406030204"/>
                                  </a:rPr>
                                  <m:t>1</m:t>
                                </m:r>
                              </m:e>
                            </m:mr>
                          </m:m>
                        </m:e>
                      </m:d>
                    </m:oMath>
                  </m:oMathPara>
                </a14:m>
                <a:endParaRPr sz="600" dirty="0"/>
              </a:p>
            </p:txBody>
          </p:sp>
        </mc:Choice>
        <mc:Fallback>
          <p:sp>
            <p:nvSpPr>
              <p:cNvPr id="2266" name="textbox 2266"/>
              <p:cNvSpPr>
                <a:spLocks noRot="1" noChangeAspect="1" noMove="1" noResize="1" noEditPoints="1" noAdjustHandles="1" noChangeArrowheads="1" noChangeShapeType="1" noTextEdit="1"/>
              </p:cNvSpPr>
              <p:nvPr/>
            </p:nvSpPr>
            <p:spPr>
              <a:xfrm>
                <a:off x="523875" y="2152650"/>
                <a:ext cx="4610100" cy="2762250"/>
              </a:xfrm>
              <a:prstGeom prst="rect">
                <a:avLst/>
              </a:prstGeom>
              <a:blipFill rotWithShape="1">
                <a:blip r:embed="rId3"/>
                <a:stretch>
                  <a:fillRect r="-9628"/>
                </a:stretch>
              </a:blipFill>
              <a:ln w="0" cap="flat">
                <a:noFill/>
                <a:prstDash val="solid"/>
                <a:miter lim="0"/>
              </a:ln>
            </p:spPr>
            <p:txBody>
              <a:bodyPr/>
              <a:lstStyle/>
              <a:p>
                <a:r>
                  <a:rPr lang="zh-CN" altLang="en-US">
                    <a:noFill/>
                  </a:rPr>
                  <a:t> </a:t>
                </a:r>
              </a:p>
            </p:txBody>
          </p:sp>
        </mc:Fallback>
      </mc:AlternateContent>
      <p:pic>
        <p:nvPicPr>
          <p:cNvPr id="2270" name="picture 2270"/>
          <p:cNvPicPr>
            <a:picLocks noChangeAspect="1"/>
          </p:cNvPicPr>
          <p:nvPr/>
        </p:nvPicPr>
        <p:blipFill>
          <a:blip r:embed="rId4"/>
          <a:stretch>
            <a:fillRect/>
          </a:stretch>
        </p:blipFill>
        <p:spPr>
          <a:xfrm>
            <a:off x="6105525" y="1943100"/>
            <a:ext cx="2895600" cy="2257425"/>
          </a:xfrm>
          <a:prstGeom prst="rect">
            <a:avLst/>
          </a:prstGeom>
        </p:spPr>
      </p:pic>
      <p:sp>
        <p:nvSpPr>
          <p:cNvPr id="2272" name="textbox 2272"/>
          <p:cNvSpPr/>
          <p:nvPr/>
        </p:nvSpPr>
        <p:spPr>
          <a:xfrm>
            <a:off x="7248525" y="3514725"/>
            <a:ext cx="685800" cy="161925"/>
          </a:xfrm>
          <a:prstGeom prst="rect">
            <a:avLst/>
          </a:prstGeom>
          <a:noFill/>
          <a:ln w="0" cap="flat">
            <a:noFill/>
            <a:prstDash val="solid"/>
            <a:miter lim="0"/>
          </a:ln>
        </p:spPr>
        <p:txBody>
          <a:bodyPr vert="horz" wrap="none" lIns="0" tIns="0" rIns="0" bIns="0"/>
          <a:lstStyle/>
          <a:p>
            <a:pPr algn="l" rtl="0" eaLnBrk="0"/>
            <a:r>
              <a:rPr sz="900" kern="0" spc="0" dirty="0">
                <a:solidFill>
                  <a:srgbClr val="000000">
                    <a:alpha val="100000"/>
                  </a:srgbClr>
                </a:solidFill>
                <a:latin typeface="Times New Roman" panose="02020603050405020304"/>
                <a:ea typeface="Times New Roman" panose="02020603050405020304"/>
                <a:cs typeface="Times New Roman" panose="02020603050405020304"/>
              </a:rPr>
              <a:t>Extra endplate</a:t>
            </a:r>
            <a:endParaRPr sz="900" dirty="0"/>
          </a:p>
        </p:txBody>
      </p:sp>
      <p:sp>
        <p:nvSpPr>
          <p:cNvPr id="2274" name="textbox 2274"/>
          <p:cNvSpPr/>
          <p:nvPr/>
        </p:nvSpPr>
        <p:spPr>
          <a:xfrm>
            <a:off x="7248525" y="4057650"/>
            <a:ext cx="142875" cy="123825"/>
          </a:xfrm>
          <a:prstGeom prst="rect">
            <a:avLst/>
          </a:prstGeom>
          <a:noFill/>
          <a:ln w="0" cap="flat">
            <a:noFill/>
            <a:prstDash val="solid"/>
            <a:miter lim="0"/>
          </a:ln>
        </p:spPr>
        <p:txBody>
          <a:bodyPr vert="horz" wrap="none" lIns="0" tIns="0" rIns="0" bIns="0"/>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F₂</a:t>
            </a:r>
            <a:endParaRPr sz="1000" dirty="0"/>
          </a:p>
        </p:txBody>
      </p:sp>
      <p:sp>
        <p:nvSpPr>
          <p:cNvPr id="2276" name="textbox 2276"/>
          <p:cNvSpPr/>
          <p:nvPr/>
        </p:nvSpPr>
        <p:spPr>
          <a:xfrm>
            <a:off x="6648450" y="4419600"/>
            <a:ext cx="1209675" cy="200025"/>
          </a:xfrm>
          <a:prstGeom prst="rect">
            <a:avLst/>
          </a:prstGeom>
          <a:noFill/>
          <a:ln w="0" cap="flat">
            <a:noFill/>
            <a:prstDash val="solid"/>
            <a:miter lim="0"/>
          </a:ln>
        </p:spPr>
        <p:txBody>
          <a:bodyPr vert="horz" wrap="none" lIns="0" tIns="0" rIns="0" bIns="0"/>
          <a:lstStyle/>
          <a:p>
            <a:pPr marL="257175" indent="-219075" algn="l" rtl="0" eaLnBrk="0">
              <a:buAutoNum type="alphaLcParenBoth"/>
            </a:pPr>
            <a:r>
              <a:rPr sz="1300" kern="0" spc="0" dirty="0">
                <a:solidFill>
                  <a:srgbClr val="000000">
                    <a:alpha val="100000"/>
                  </a:srgbClr>
                </a:solidFill>
                <a:latin typeface="Times New Roman" panose="02020603050405020304"/>
                <a:ea typeface="Times New Roman" panose="02020603050405020304"/>
                <a:cs typeface="Times New Roman" panose="02020603050405020304"/>
              </a:rPr>
              <a:t>The FE model</a:t>
            </a:r>
            <a:endParaRPr sz="1300" dirty="0"/>
          </a:p>
        </p:txBody>
      </p:sp>
      <p:pic>
        <p:nvPicPr>
          <p:cNvPr id="2280" name="picture 2280"/>
          <p:cNvPicPr>
            <a:picLocks noChangeAspect="1"/>
          </p:cNvPicPr>
          <p:nvPr/>
        </p:nvPicPr>
        <p:blipFill>
          <a:blip r:embed="rId5"/>
          <a:stretch>
            <a:fillRect/>
          </a:stretch>
        </p:blipFill>
        <p:spPr>
          <a:xfrm>
            <a:off x="9010650" y="1943100"/>
            <a:ext cx="2933700" cy="2390775"/>
          </a:xfrm>
          <a:prstGeom prst="rect">
            <a:avLst/>
          </a:prstGeom>
        </p:spPr>
      </p:pic>
      <p:sp>
        <p:nvSpPr>
          <p:cNvPr id="2282" name="textbox 2282"/>
          <p:cNvSpPr/>
          <p:nvPr/>
        </p:nvSpPr>
        <p:spPr>
          <a:xfrm>
            <a:off x="9258300" y="4419600"/>
            <a:ext cx="2057400" cy="200025"/>
          </a:xfrm>
          <a:prstGeom prst="rect">
            <a:avLst/>
          </a:prstGeom>
          <a:noFill/>
          <a:ln w="0" cap="flat">
            <a:noFill/>
            <a:prstDash val="solid"/>
            <a:miter lim="0"/>
          </a:ln>
        </p:spPr>
        <p:txBody>
          <a:bodyPr vert="horz" wrap="none" lIns="0" tIns="0" rIns="0" bIns="0"/>
          <a:lstStyle/>
          <a:p>
            <a:pPr marL="257175" indent="-238125" algn="l" rtl="0" eaLnBrk="0">
              <a:buAutoNum type="alphaLcParenBoth" startAt="2"/>
            </a:pPr>
            <a:r>
              <a:rPr sz="1200" kern="0" spc="0" dirty="0">
                <a:solidFill>
                  <a:srgbClr val="000000">
                    <a:alpha val="100000"/>
                  </a:srgbClr>
                </a:solidFill>
                <a:latin typeface="Times New Roman" panose="02020603050405020304"/>
                <a:ea typeface="Times New Roman" panose="02020603050405020304"/>
                <a:cs typeface="Times New Roman" panose="02020603050405020304"/>
              </a:rPr>
              <a:t>A typical stress distribution</a:t>
            </a:r>
            <a:endParaRPr sz="1200" dirty="0"/>
          </a:p>
        </p:txBody>
      </p:sp>
      <p:sp>
        <p:nvSpPr>
          <p:cNvPr id="2284" name="textbox 2284"/>
          <p:cNvSpPr/>
          <p:nvPr/>
        </p:nvSpPr>
        <p:spPr>
          <a:xfrm>
            <a:off x="8724900" y="4857750"/>
            <a:ext cx="1114425" cy="21907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有限元模型图</a:t>
            </a:r>
            <a:endParaRPr sz="1400" dirty="0"/>
          </a:p>
        </p:txBody>
      </p:sp>
      <p:sp>
        <p:nvSpPr>
          <p:cNvPr id="2286" name="textbox 2286"/>
          <p:cNvSpPr/>
          <p:nvPr/>
        </p:nvSpPr>
        <p:spPr>
          <a:xfrm>
            <a:off x="1333500" y="5276850"/>
            <a:ext cx="1752600" cy="276225"/>
          </a:xfrm>
          <a:prstGeom prst="rect">
            <a:avLst/>
          </a:prstGeom>
          <a:noFill/>
          <a:ln w="0" cap="flat">
            <a:noFill/>
            <a:prstDash val="solid"/>
            <a:miter lim="0"/>
          </a:ln>
        </p:spPr>
        <p:txBody>
          <a:bodyPr vert="horz" wrap="none" lIns="0" tIns="0" rIns="0" bIns="0"/>
          <a:lstStyle/>
          <a:p>
            <a:pPr algn="l" rtl="0" eaLnBrk="0"/>
            <a:r>
              <a:rPr sz="18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极限状态函数为：</a:t>
            </a:r>
            <a:endParaRPr sz="1800" dirty="0"/>
          </a:p>
        </p:txBody>
      </p:sp>
      <mc:AlternateContent xmlns:mc="http://schemas.openxmlformats.org/markup-compatibility/2006">
        <mc:Choice xmlns:a14="http://schemas.microsoft.com/office/drawing/2010/main" Requires="a14">
          <p:sp>
            <p:nvSpPr>
              <p:cNvPr id="2288" name="textbox 2288"/>
              <p:cNvSpPr/>
              <p:nvPr/>
            </p:nvSpPr>
            <p:spPr>
              <a:xfrm>
                <a:off x="1314450" y="5762625"/>
                <a:ext cx="9534525" cy="4762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800" dirty="0">
                          <a:latin typeface="Cambria Math" panose="02040503050406030204"/>
                          <a:ea typeface="Cambria Math" panose="02040503050406030204"/>
                        </a:rPr>
                        <m:t>Z</m:t>
                      </m:r>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M</m:t>
                          </m:r>
                        </m:e>
                        <m:sub>
                          <m:r>
                            <m:rPr>
                              <m:sty m:val="p"/>
                            </m:rPr>
                            <a:rPr lang="en-US" sz="2800" dirty="0">
                              <a:latin typeface="Cambria Math" panose="02040503050406030204"/>
                              <a:ea typeface="Cambria Math" panose="02040503050406030204"/>
                            </a:rPr>
                            <m:t>u</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T</m:t>
                          </m:r>
                        </m:e>
                        <m:sub>
                          <m:r>
                            <a:rPr lang="en-US" sz="2800" dirty="0">
                              <a:latin typeface="Cambria Math" panose="02040503050406030204"/>
                              <a:ea typeface="Cambria Math" panose="02040503050406030204"/>
                            </a:rPr>
                            <m:t>0</m:t>
                          </m:r>
                        </m:sub>
                      </m:sSub>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B</m:t>
                      </m:r>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D</m:t>
                          </m:r>
                        </m:e>
                        <m:sub>
                          <m:r>
                            <a:rPr lang="en-US" sz="2800" dirty="0">
                              <a:latin typeface="Cambria Math" panose="02040503050406030204"/>
                              <a:ea typeface="Cambria Math" panose="02040503050406030204"/>
                            </a:rPr>
                            <m:t>0</m:t>
                          </m:r>
                        </m:sub>
                      </m:sSub>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R</m:t>
                      </m:r>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f</m:t>
                          </m:r>
                        </m:e>
                        <m:sub>
                          <m:r>
                            <m:rPr>
                              <m:sty m:val="p"/>
                            </m:rPr>
                            <a:rPr lang="en-US" sz="2800" dirty="0">
                              <a:latin typeface="Cambria Math" panose="02040503050406030204"/>
                              <a:ea typeface="Cambria Math" panose="02040503050406030204"/>
                            </a:rPr>
                            <m:t>y</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f</m:t>
                          </m:r>
                        </m:e>
                        <m:sub>
                          <m:r>
                            <m:rPr>
                              <m:sty m:val="p"/>
                            </m:rPr>
                            <a:rPr lang="en-US" sz="2800" dirty="0">
                              <a:latin typeface="Cambria Math" panose="02040503050406030204"/>
                              <a:ea typeface="Cambria Math" panose="02040503050406030204"/>
                            </a:rPr>
                            <m:t>r</m:t>
                          </m:r>
                          <m:r>
                            <m:rPr>
                              <m:sty m:val="p"/>
                            </m:rPr>
                            <a:rPr lang="en-US" sz="2800" dirty="0">
                              <a:latin typeface="Cambria Math" panose="02040503050406030204"/>
                              <a:ea typeface="Cambria Math" panose="02040503050406030204"/>
                            </a:rPr>
                            <m:t>y</m:t>
                          </m:r>
                        </m:sub>
                      </m:sSub>
                      <m:r>
                        <a:rPr lang="en-US" sz="2800" dirty="0">
                          <a:latin typeface="Cambria Math" panose="02040503050406030204"/>
                          <a:ea typeface="Cambria Math" panose="02040503050406030204"/>
                        </a:rPr>
                        <m:t>)</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M</m:t>
                      </m:r>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F</m:t>
                          </m:r>
                        </m:e>
                        <m:sub>
                          <m:r>
                            <a:rPr lang="en-US" sz="2800" dirty="0">
                              <a:latin typeface="Cambria Math" panose="02040503050406030204"/>
                              <a:ea typeface="Cambria Math" panose="02040503050406030204"/>
                            </a:rPr>
                            <m:t>1</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F</m:t>
                          </m:r>
                        </m:e>
                        <m:sub>
                          <m:r>
                            <a:rPr lang="en-US" sz="2800" dirty="0">
                              <a:latin typeface="Cambria Math" panose="02040503050406030204"/>
                              <a:ea typeface="Cambria Math" panose="02040503050406030204"/>
                            </a:rPr>
                            <m:t>2</m:t>
                          </m:r>
                        </m:sub>
                      </m:sSub>
                      <m:r>
                        <a:rPr lang="en-US" sz="2800" dirty="0">
                          <a:latin typeface="Cambria Math" panose="02040503050406030204"/>
                          <a:ea typeface="Cambria Math" panose="02040503050406030204"/>
                        </a:rPr>
                        <m:t>)</m:t>
                      </m:r>
                      <m:r>
                        <a:rPr lang="en-US" sz="2800" dirty="0">
                          <a:latin typeface="Cambria Math" panose="02040503050406030204"/>
                          <a:ea typeface="Cambria Math" panose="02040503050406030204"/>
                        </a:rPr>
                        <m:t>=</m:t>
                      </m:r>
                      <m:r>
                        <m:rPr>
                          <m:sty m:val="p"/>
                        </m:rPr>
                        <a:rPr lang="en-US" sz="2800" dirty="0">
                          <a:latin typeface="Cambria Math" panose="02040503050406030204"/>
                          <a:ea typeface="Cambria Math" panose="02040503050406030204"/>
                        </a:rPr>
                        <m:t>G</m:t>
                      </m:r>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1</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2</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3</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4</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5</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6</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7</m:t>
                          </m:r>
                        </m:sub>
                      </m:sSub>
                      <m:r>
                        <a:rPr lang="en-US" sz="2800" dirty="0">
                          <a:latin typeface="Cambria Math" panose="02040503050406030204"/>
                          <a:ea typeface="Cambria Math" panose="02040503050406030204"/>
                        </a:rPr>
                        <m:t>,</m:t>
                      </m:r>
                      <m:sSub>
                        <m:sSubPr>
                          <m:ctrlPr>
                            <a:rPr/>
                          </m:ctrlPr>
                        </m:sSubPr>
                        <m:e>
                          <m:r>
                            <m:rPr>
                              <m:sty m:val="p"/>
                            </m:rPr>
                            <a:rPr lang="en-US" sz="2800" dirty="0">
                              <a:latin typeface="Cambria Math" panose="02040503050406030204"/>
                              <a:ea typeface="Cambria Math" panose="02040503050406030204"/>
                            </a:rPr>
                            <m:t>U</m:t>
                          </m:r>
                        </m:e>
                        <m:sub>
                          <m:r>
                            <a:rPr lang="en-US" sz="2800" dirty="0">
                              <a:latin typeface="Cambria Math" panose="02040503050406030204"/>
                              <a:ea typeface="Cambria Math" panose="02040503050406030204"/>
                            </a:rPr>
                            <m:t>8</m:t>
                          </m:r>
                        </m:sub>
                      </m:sSub>
                      <m:r>
                        <a:rPr lang="en-US" sz="2800" dirty="0">
                          <a:latin typeface="Cambria Math" panose="02040503050406030204"/>
                          <a:ea typeface="Cambria Math" panose="02040503050406030204"/>
                        </a:rPr>
                        <m:t>)</m:t>
                      </m:r>
                    </m:oMath>
                  </m:oMathPara>
                </a14:m>
                <a:endParaRPr sz="600" dirty="0"/>
              </a:p>
            </p:txBody>
          </p:sp>
        </mc:Choice>
        <mc:Fallback>
          <p:sp>
            <p:nvSpPr>
              <p:cNvPr id="2288" name="textbox 2288"/>
              <p:cNvSpPr>
                <a:spLocks noRot="1" noChangeAspect="1" noMove="1" noResize="1" noEditPoints="1" noAdjustHandles="1" noChangeArrowheads="1" noChangeShapeType="1" noTextEdit="1"/>
              </p:cNvSpPr>
              <p:nvPr/>
            </p:nvSpPr>
            <p:spPr>
              <a:xfrm>
                <a:off x="1314450" y="5762625"/>
                <a:ext cx="9534525" cy="476250"/>
              </a:xfrm>
              <a:prstGeom prst="rect">
                <a:avLst/>
              </a:prstGeom>
              <a:blipFill rotWithShape="1">
                <a:blip r:embed="rId6"/>
                <a:stretch>
                  <a:fillRect r="-13806"/>
                </a:stretch>
              </a:blipFill>
              <a:ln w="0" cap="flat">
                <a:noFill/>
                <a:prstDash val="solid"/>
                <a:miter lim="0"/>
              </a:ln>
            </p:spPr>
            <p:txBody>
              <a:bodyPr/>
              <a:lstStyle/>
              <a:p>
                <a:r>
                  <a:rPr lang="zh-CN" altLang="en-US">
                    <a:noFill/>
                  </a:rPr>
                  <a:t> </a:t>
                </a:r>
              </a:p>
            </p:txBody>
          </p:sp>
        </mc:Fallback>
      </mc:AlternateContent>
      <p:sp>
        <p:nvSpPr>
          <p:cNvPr id="2290" name="textbox 2290"/>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哈尔滨工业大学水利工程学院，可靠性与韧性工程研究团队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292" name="textbox 2292"/>
          <p:cNvSpPr/>
          <p:nvPr/>
        </p:nvSpPr>
        <p:spPr>
          <a:xfrm>
            <a:off x="11753850" y="6734175"/>
            <a:ext cx="15240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53</a:t>
            </a:r>
            <a:endParaRPr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6" name="picture 2296"/>
          <p:cNvPicPr>
            <a:picLocks noChangeAspect="1"/>
          </p:cNvPicPr>
          <p:nvPr/>
        </p:nvPicPr>
        <p:blipFill>
          <a:blip r:embed="rId1"/>
          <a:stretch>
            <a:fillRect/>
          </a:stretch>
        </p:blipFill>
        <p:spPr>
          <a:xfrm>
            <a:off x="0" y="0"/>
            <a:ext cx="12192000" cy="6858000"/>
          </a:xfrm>
          <a:prstGeom prst="rect">
            <a:avLst/>
          </a:prstGeom>
        </p:spPr>
      </p:pic>
      <p:sp>
        <p:nvSpPr>
          <p:cNvPr id="2298" name="textbox 2298"/>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300" name="textbox 2300"/>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302" name="textbox 230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A709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306" name="picture 2306"/>
          <p:cNvPicPr>
            <a:picLocks noChangeAspect="1"/>
          </p:cNvPicPr>
          <p:nvPr/>
        </p:nvPicPr>
        <p:blipFill>
          <a:blip r:embed="rId2"/>
          <a:stretch>
            <a:fillRect/>
          </a:stretch>
        </p:blipFill>
        <p:spPr>
          <a:xfrm>
            <a:off x="295275" y="247650"/>
            <a:ext cx="733425" cy="666750"/>
          </a:xfrm>
          <a:prstGeom prst="rect">
            <a:avLst/>
          </a:prstGeom>
        </p:spPr>
      </p:pic>
      <p:sp>
        <p:nvSpPr>
          <p:cNvPr id="2308" name="textbox 2308"/>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310" name="textbox 2310"/>
          <p:cNvSpPr/>
          <p:nvPr/>
        </p:nvSpPr>
        <p:spPr>
          <a:xfrm>
            <a:off x="1457325" y="752475"/>
            <a:ext cx="654367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312" name="textbox 2312"/>
          <p:cNvSpPr/>
          <p:nvPr/>
        </p:nvSpPr>
        <p:spPr>
          <a:xfrm>
            <a:off x="1447800" y="1114425"/>
            <a:ext cx="548640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工程应用：半刚性连接输电塔结构可靠度分析</a:t>
            </a:r>
            <a:endParaRPr sz="2000" dirty="0"/>
          </a:p>
        </p:txBody>
      </p:sp>
      <p:sp>
        <p:nvSpPr>
          <p:cNvPr id="2314" name="textbox 2314"/>
          <p:cNvSpPr/>
          <p:nvPr/>
        </p:nvSpPr>
        <p:spPr>
          <a:xfrm>
            <a:off x="876300" y="1152525"/>
            <a:ext cx="209550" cy="26670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2</a:t>
            </a:r>
            <a:endParaRPr sz="2000" dirty="0"/>
          </a:p>
        </p:txBody>
      </p:sp>
      <p:sp>
        <p:nvSpPr>
          <p:cNvPr id="2316" name="textbox 2316"/>
          <p:cNvSpPr/>
          <p:nvPr/>
        </p:nvSpPr>
        <p:spPr>
          <a:xfrm>
            <a:off x="1466850" y="1438275"/>
            <a:ext cx="4333875" cy="14287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Reliability Analysis of Transmission Tower Structures with Semi-Rigid Connections</a:t>
            </a:r>
            <a:endParaRPr sz="1000" dirty="0"/>
          </a:p>
        </p:txBody>
      </p:sp>
      <p:sp>
        <p:nvSpPr>
          <p:cNvPr id="2318" name="textbox 2318"/>
          <p:cNvSpPr/>
          <p:nvPr/>
        </p:nvSpPr>
        <p:spPr>
          <a:xfrm>
            <a:off x="4524375" y="2266950"/>
            <a:ext cx="3019425" cy="276225"/>
          </a:xfrm>
          <a:prstGeom prst="rect">
            <a:avLst/>
          </a:prstGeom>
          <a:noFill/>
          <a:ln w="0" cap="flat">
            <a:noFill/>
            <a:prstDash val="solid"/>
            <a:miter lim="0"/>
          </a:ln>
        </p:spPr>
        <p:txBody>
          <a:bodyPr vert="horz" wrap="none" lIns="0" tIns="0" rIns="0" bIns="0"/>
          <a:lstStyle/>
          <a:p>
            <a:pPr algn="l" rtl="0" eaLnBrk="0"/>
            <a:r>
              <a:rPr sz="1800"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不同降维积分方法和的对比图</a:t>
            </a:r>
            <a:endParaRPr sz="1800" dirty="0"/>
          </a:p>
        </p:txBody>
      </p:sp>
      <p:graphicFrame>
        <p:nvGraphicFramePr>
          <p:cNvPr id="2320" name="table 2320"/>
          <p:cNvGraphicFramePr>
            <a:graphicFrameLocks noGrp="1"/>
          </p:cNvGraphicFramePr>
          <p:nvPr/>
        </p:nvGraphicFramePr>
        <p:xfrm>
          <a:off x="57150" y="2743200"/>
          <a:ext cx="12087225" cy="2552700"/>
        </p:xfrm>
        <a:graphic>
          <a:graphicData uri="http://schemas.openxmlformats.org/drawingml/2006/table">
            <a:tbl>
              <a:tblPr/>
              <a:tblGrid>
                <a:gridCol w="1428750"/>
                <a:gridCol w="1323975"/>
                <a:gridCol w="1085850"/>
                <a:gridCol w="1352550"/>
                <a:gridCol w="1047750"/>
                <a:gridCol w="1009650"/>
                <a:gridCol w="1247775"/>
                <a:gridCol w="704850"/>
                <a:gridCol w="1181100"/>
                <a:gridCol w="1704975"/>
              </a:tblGrid>
              <a:tr h="285750">
                <a:tc rowSpan="2">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Method</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μ</a:t>
                      </a:r>
                      <a:r>
                        <a:rPr sz="1100" b="1" kern="0" spc="0" baseline="-30000" dirty="0">
                          <a:solidFill>
                            <a:srgbClr val="000000">
                              <a:alpha val="100000"/>
                            </a:srgbClr>
                          </a:solidFill>
                          <a:latin typeface="Georgia" panose="02040502050405020303"/>
                          <a:ea typeface="Georgia" panose="02040502050405020303"/>
                          <a:cs typeface="Georgia" panose="02040502050405020303"/>
                        </a:rPr>
                        <a:t>f</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σ</a:t>
                      </a:r>
                      <a:r>
                        <a:rPr sz="1100" b="1" kern="0" spc="0" baseline="-30000" dirty="0">
                          <a:solidFill>
                            <a:srgbClr val="000000">
                              <a:alpha val="100000"/>
                            </a:srgbClr>
                          </a:solidFill>
                          <a:latin typeface="Georgia" panose="02040502050405020303"/>
                          <a:ea typeface="Georgia" panose="02040502050405020303"/>
                          <a:cs typeface="Georgia" panose="02040502050405020303"/>
                        </a:rPr>
                        <a:t>f</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1100" b="1" i="1" kern="0" spc="0" dirty="0">
                          <a:solidFill>
                            <a:srgbClr val="000000">
                              <a:alpha val="100000"/>
                            </a:srgbClr>
                          </a:solidFill>
                          <a:latin typeface="Georgia" panose="02040502050405020303"/>
                          <a:ea typeface="Georgia" panose="02040502050405020303"/>
                          <a:cs typeface="Georgia" panose="02040502050405020303"/>
                        </a:rPr>
                        <a:t>γ</a:t>
                      </a:r>
                      <a:r>
                        <a:rPr sz="1100" b="1" i="1" kern="0" spc="0" baseline="-30000" dirty="0">
                          <a:solidFill>
                            <a:srgbClr val="000000">
                              <a:alpha val="100000"/>
                            </a:srgbClr>
                          </a:solidFill>
                          <a:latin typeface="Georgia" panose="02040502050405020303"/>
                          <a:ea typeface="Georgia" panose="02040502050405020303"/>
                          <a:cs typeface="Georgia" panose="02040502050405020303"/>
                        </a:rPr>
                        <a:t>f</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k</a:t>
                      </a:r>
                      <a:r>
                        <a:rPr sz="1100" b="1" kern="0" spc="0" baseline="-30000" dirty="0">
                          <a:solidFill>
                            <a:srgbClr val="000000">
                              <a:alpha val="100000"/>
                            </a:srgbClr>
                          </a:solidFill>
                          <a:latin typeface="Georgia" panose="02040502050405020303"/>
                          <a:ea typeface="Georgia" panose="02040502050405020303"/>
                          <a:cs typeface="Georgia" panose="02040502050405020303"/>
                        </a:rPr>
                        <a:t>f</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rowSpan="2">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N</a:t>
                      </a:r>
                      <a:r>
                        <a:rPr sz="1100" b="1" kern="0" spc="0" baseline="-30000" dirty="0">
                          <a:solidFill>
                            <a:srgbClr val="000000">
                              <a:alpha val="100000"/>
                            </a:srgbClr>
                          </a:solidFill>
                          <a:latin typeface="Georgia" panose="02040502050405020303"/>
                          <a:ea typeface="Georgia" panose="02040502050405020303"/>
                          <a:cs typeface="Georgia" panose="02040502050405020303"/>
                        </a:rPr>
                        <a:t>mml</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66700">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Value (N·mm)</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ε</a:t>
                      </a:r>
                      <a:r>
                        <a:rPr sz="1100" kern="0" spc="0" baseline="-30000" dirty="0">
                          <a:solidFill>
                            <a:srgbClr val="000000">
                              <a:alpha val="100000"/>
                            </a:srgbClr>
                          </a:solidFill>
                          <a:latin typeface="Georgia" panose="02040502050405020303"/>
                          <a:ea typeface="Georgia" panose="02040502050405020303"/>
                          <a:cs typeface="Georgia" panose="02040502050405020303"/>
                        </a:rPr>
                        <a:t>M</a:t>
                      </a:r>
                      <a:r>
                        <a:rPr sz="1100"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Value (N·mm)</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ε</a:t>
                      </a:r>
                      <a:r>
                        <a:rPr sz="1100" b="1" kern="0" spc="0" baseline="-30000" dirty="0">
                          <a:solidFill>
                            <a:srgbClr val="000000">
                              <a:alpha val="100000"/>
                            </a:srgbClr>
                          </a:solidFill>
                          <a:latin typeface="Georgia" panose="02040502050405020303"/>
                          <a:ea typeface="Georgia" panose="02040502050405020303"/>
                          <a:cs typeface="Georgia" panose="02040502050405020303"/>
                        </a:rPr>
                        <a:t>M</a:t>
                      </a:r>
                      <a:r>
                        <a:rPr sz="1100" b="1"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Value</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ε</a:t>
                      </a:r>
                      <a:r>
                        <a:rPr sz="1100" b="1" kern="0" spc="0" baseline="-30000" dirty="0">
                          <a:solidFill>
                            <a:srgbClr val="000000">
                              <a:alpha val="100000"/>
                            </a:srgbClr>
                          </a:solidFill>
                          <a:latin typeface="Georgia" panose="02040502050405020303"/>
                          <a:ea typeface="Georgia" panose="02040502050405020303"/>
                          <a:cs typeface="Georgia" panose="02040502050405020303"/>
                        </a:rPr>
                        <a:t>M</a:t>
                      </a:r>
                      <a:r>
                        <a:rPr sz="1100" b="1"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Value</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ε</a:t>
                      </a:r>
                      <a:r>
                        <a:rPr sz="1100" kern="0" spc="0" baseline="-30000" dirty="0">
                          <a:solidFill>
                            <a:srgbClr val="000000">
                              <a:alpha val="100000"/>
                            </a:srgbClr>
                          </a:solidFill>
                          <a:latin typeface="Georgia" panose="02040502050405020303"/>
                          <a:ea typeface="Georgia" panose="02040502050405020303"/>
                          <a:cs typeface="Georgia" panose="02040502050405020303"/>
                        </a:rPr>
                        <a:t>M</a:t>
                      </a:r>
                      <a:r>
                        <a:rPr sz="1100"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219075">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Standard</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3.3634e7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0.3493</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3.3480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10</a:t>
                      </a:r>
                      <a:r>
                        <a:rPr sz="1100" b="1" kern="0" spc="0" baseline="30000" dirty="0">
                          <a:solidFill>
                            <a:srgbClr val="000000">
                              <a:alpha val="100000"/>
                            </a:srgbClr>
                          </a:solidFill>
                          <a:latin typeface="Georgia" panose="02040502050405020303"/>
                          <a:ea typeface="Georgia" panose="02040502050405020303"/>
                          <a:cs typeface="Georgia" panose="02040502050405020303"/>
                        </a:rPr>
                        <a:t>6</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9075">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FC</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3.4189e7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1.65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0.2889</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17.29</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3.2191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3.85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91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9075">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MFDC</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3.4193e7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1.66</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0.2947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15.63</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3.3475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180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38125">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HUT</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3.4189e7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1.65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0.2993</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14.31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3.3382</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0.29</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129</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0025">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SGI</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3.4194e7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1.66</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0.2923</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16.32</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3.2901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1.73</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849</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38125">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UDRM</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3.3323e7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0.92</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0.0638</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81.75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3.0341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9.38</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57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28600">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BDRM</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3.3632e7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0.01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0.3421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2.06</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3.1781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5.07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1429</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9550">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VDRM</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3.3634e7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0.3485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0.22</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3.3478</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0.01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17,181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28600">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RDIM</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7.3450e07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3.3634e7</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0.00</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0.3485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0.22</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3.3478</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b="1" kern="0" spc="0" dirty="0">
                          <a:solidFill>
                            <a:srgbClr val="000000">
                              <a:alpha val="100000"/>
                            </a:srgbClr>
                          </a:solidFill>
                          <a:latin typeface="Georgia" panose="02040502050405020303"/>
                          <a:ea typeface="Georgia" panose="02040502050405020303"/>
                          <a:cs typeface="Georgia" panose="02040502050405020303"/>
                        </a:rPr>
                        <a:t>0.01</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100" kern="0" spc="0" dirty="0">
                          <a:solidFill>
                            <a:srgbClr val="000000">
                              <a:alpha val="100000"/>
                            </a:srgbClr>
                          </a:solidFill>
                          <a:latin typeface="Georgia" panose="02040502050405020303"/>
                          <a:ea typeface="Georgia" panose="02040502050405020303"/>
                          <a:cs typeface="Georgia" panose="02040502050405020303"/>
                        </a:rPr>
                        <a:t>1175</a:t>
                      </a:r>
                      <a:endParaRPr sz="11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322" name="textbox 2322"/>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324" name="textbox 2324"/>
          <p:cNvSpPr/>
          <p:nvPr/>
        </p:nvSpPr>
        <p:spPr>
          <a:xfrm>
            <a:off x="11772900" y="6734175"/>
            <a:ext cx="13335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54</a:t>
            </a:r>
            <a:endParaRPr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8" name="picture 2328"/>
          <p:cNvPicPr>
            <a:picLocks noChangeAspect="1"/>
          </p:cNvPicPr>
          <p:nvPr/>
        </p:nvPicPr>
        <p:blipFill>
          <a:blip r:embed="rId1"/>
          <a:stretch>
            <a:fillRect/>
          </a:stretch>
        </p:blipFill>
        <p:spPr>
          <a:xfrm>
            <a:off x="0" y="0"/>
            <a:ext cx="12192000" cy="6858000"/>
          </a:xfrm>
          <a:prstGeom prst="rect">
            <a:avLst/>
          </a:prstGeom>
        </p:spPr>
      </p:pic>
      <p:sp>
        <p:nvSpPr>
          <p:cNvPr id="2330" name="textbox 2330"/>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332" name="textbox 2332"/>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334" name="textbox 2334"/>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338" name="picture 2338"/>
          <p:cNvPicPr>
            <a:picLocks noChangeAspect="1"/>
          </p:cNvPicPr>
          <p:nvPr/>
        </p:nvPicPr>
        <p:blipFill>
          <a:blip r:embed="rId2"/>
          <a:stretch>
            <a:fillRect/>
          </a:stretch>
        </p:blipFill>
        <p:spPr>
          <a:xfrm>
            <a:off x="295275" y="247650"/>
            <a:ext cx="733425" cy="666750"/>
          </a:xfrm>
          <a:prstGeom prst="rect">
            <a:avLst/>
          </a:prstGeom>
        </p:spPr>
      </p:pic>
      <p:sp>
        <p:nvSpPr>
          <p:cNvPr id="2340" name="textbox 2340"/>
          <p:cNvSpPr/>
          <p:nvPr/>
        </p:nvSpPr>
        <p:spPr>
          <a:xfrm>
            <a:off x="1447800" y="333375"/>
            <a:ext cx="600075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342" name="textbox 2342"/>
          <p:cNvSpPr/>
          <p:nvPr/>
        </p:nvSpPr>
        <p:spPr>
          <a:xfrm>
            <a:off x="1457325" y="752475"/>
            <a:ext cx="654367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344" name="textbox 2344"/>
          <p:cNvSpPr/>
          <p:nvPr/>
        </p:nvSpPr>
        <p:spPr>
          <a:xfrm>
            <a:off x="1447800" y="1114425"/>
            <a:ext cx="38481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工程应用：圆柱体涡激振动问题</a:t>
            </a:r>
            <a:endParaRPr sz="2000" dirty="0"/>
          </a:p>
        </p:txBody>
      </p:sp>
      <p:sp>
        <p:nvSpPr>
          <p:cNvPr id="2346" name="textbox 2346"/>
          <p:cNvSpPr/>
          <p:nvPr/>
        </p:nvSpPr>
        <p:spPr>
          <a:xfrm>
            <a:off x="876300" y="1143000"/>
            <a:ext cx="228600" cy="28575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Times New Roman" panose="02020603050405020304"/>
                <a:ea typeface="Times New Roman" panose="02020603050405020304"/>
                <a:cs typeface="Times New Roman" panose="02020603050405020304"/>
              </a:rPr>
              <a:t>3</a:t>
            </a:r>
            <a:endParaRPr sz="2000" dirty="0"/>
          </a:p>
        </p:txBody>
      </p:sp>
      <p:sp>
        <p:nvSpPr>
          <p:cNvPr id="2348" name="textbox 2348"/>
          <p:cNvSpPr/>
          <p:nvPr/>
        </p:nvSpPr>
        <p:spPr>
          <a:xfrm>
            <a:off x="1466850" y="1438275"/>
            <a:ext cx="2419350"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Vortex-induced vibration of a flexible cylinder</a:t>
            </a:r>
            <a:endParaRPr sz="1000" dirty="0"/>
          </a:p>
        </p:txBody>
      </p:sp>
      <p:sp>
        <p:nvSpPr>
          <p:cNvPr id="2350" name="textbox 2350"/>
          <p:cNvSpPr/>
          <p:nvPr/>
        </p:nvSpPr>
        <p:spPr>
          <a:xfrm>
            <a:off x="1466850" y="1743075"/>
            <a:ext cx="4219575" cy="26670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圆柱体在横流方向上的动态响应可表示为：</a:t>
            </a:r>
            <a:endParaRPr sz="1800" b="1" dirty="0"/>
          </a:p>
        </p:txBody>
      </p:sp>
      <mc:AlternateContent xmlns:mc="http://schemas.openxmlformats.org/markup-compatibility/2006">
        <mc:Choice xmlns:a14="http://schemas.microsoft.com/office/drawing/2010/main" Requires="a14">
          <p:sp>
            <p:nvSpPr>
              <p:cNvPr id="2352" name="textbox 2352"/>
              <p:cNvSpPr/>
              <p:nvPr/>
            </p:nvSpPr>
            <p:spPr>
              <a:xfrm>
                <a:off x="2314575" y="2152650"/>
                <a:ext cx="8582025" cy="6858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000" dirty="0">
                          <a:latin typeface="Cambria Math" panose="02040503050406030204"/>
                          <a:ea typeface="Cambria Math" panose="02040503050406030204"/>
                        </a:rPr>
                        <m:t>m</m:t>
                      </m:r>
                      <m:f>
                        <m:fPr>
                          <m:ctrlPr>
                            <a:rPr/>
                          </m:ctrlPr>
                        </m:fPr>
                        <m:num>
                          <m:sSup>
                            <m:sSupPr>
                              <m:ctrlPr>
                                <a:rPr/>
                              </m:ctrlPr>
                            </m:sSupPr>
                            <m:e>
                              <m:r>
                                <a:rPr lang="en-US" sz="2000" dirty="0">
                                  <a:latin typeface="Cambria Math" panose="02040503050406030204"/>
                                  <a:ea typeface="Cambria Math" panose="02040503050406030204"/>
                                </a:rPr>
                                <m:t>𝜕</m:t>
                              </m:r>
                            </m:e>
                            <m:sup>
                              <m:r>
                                <a:rPr lang="en-US" sz="2000" dirty="0">
                                  <a:latin typeface="Cambria Math" panose="02040503050406030204"/>
                                  <a:ea typeface="Cambria Math" panose="02040503050406030204"/>
                                </a:rPr>
                                <m:t>2</m:t>
                              </m:r>
                            </m:sup>
                          </m:sSup>
                          <m:sSub>
                            <m:sSubPr>
                              <m:ctrlPr>
                                <a:rPr/>
                              </m:ctrlPr>
                            </m:sSubPr>
                            <m:e>
                              <m:r>
                                <m:rPr>
                                  <m:sty m:val="p"/>
                                </m:rPr>
                                <a:rPr lang="en-US" sz="2000" dirty="0">
                                  <a:latin typeface="Cambria Math" panose="02040503050406030204"/>
                                  <a:ea typeface="Cambria Math" panose="02040503050406030204"/>
                                </a:rPr>
                                <m:t>U</m:t>
                              </m:r>
                            </m:e>
                            <m:sub>
                              <m:r>
                                <m:rPr>
                                  <m:sty m:val="p"/>
                                </m:rPr>
                                <a:rPr lang="en-US" sz="2000" dirty="0">
                                  <a:latin typeface="Cambria Math" panose="02040503050406030204"/>
                                  <a:ea typeface="Cambria Math" panose="02040503050406030204"/>
                                </a:rPr>
                                <m:t>Y</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T</m:t>
                          </m:r>
                          <m:r>
                            <a:rPr lang="en-US" sz="2000" dirty="0">
                              <a:latin typeface="Cambria Math" panose="02040503050406030204"/>
                              <a:ea typeface="Cambria Math" panose="02040503050406030204"/>
                            </a:rPr>
                            <m:t>)</m:t>
                          </m:r>
                        </m:num>
                        <m:den>
                          <m:r>
                            <a:rPr lang="en-US" sz="2000" dirty="0">
                              <a:latin typeface="Cambria Math" panose="02040503050406030204"/>
                              <a:ea typeface="Cambria Math" panose="02040503050406030204"/>
                            </a:rPr>
                            <m:t>𝜕</m:t>
                          </m:r>
                          <m:sSup>
                            <m:sSupPr>
                              <m:ctrlPr>
                                <a:rPr/>
                              </m:ctrlPr>
                            </m:sSupPr>
                            <m:e>
                              <m:r>
                                <m:rPr>
                                  <m:sty m:val="p"/>
                                </m:rPr>
                                <a:rPr lang="en-US" sz="2000" dirty="0">
                                  <a:latin typeface="Cambria Math" panose="02040503050406030204"/>
                                  <a:ea typeface="Cambria Math" panose="02040503050406030204"/>
                                </a:rPr>
                                <m:t>T</m:t>
                              </m:r>
                            </m:e>
                            <m:sup>
                              <m:r>
                                <a:rPr lang="en-US" sz="2000" dirty="0">
                                  <a:latin typeface="Cambria Math" panose="02040503050406030204"/>
                                  <a:ea typeface="Cambria Math" panose="02040503050406030204"/>
                                </a:rPr>
                                <m:t>2</m:t>
                              </m:r>
                            </m:sup>
                          </m:sSup>
                        </m:den>
                      </m:f>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r</m:t>
                      </m:r>
                      <m:f>
                        <m:fPr>
                          <m:ctrlPr>
                            <a:rPr/>
                          </m:ctrlPr>
                        </m:fPr>
                        <m:num>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U</m:t>
                              </m:r>
                            </m:e>
                            <m:sub>
                              <m:r>
                                <m:rPr>
                                  <m:sty m:val="p"/>
                                </m:rPr>
                                <a:rPr lang="en-US" sz="2000" dirty="0">
                                  <a:latin typeface="Cambria Math" panose="02040503050406030204"/>
                                  <a:ea typeface="Cambria Math" panose="02040503050406030204"/>
                                </a:rPr>
                                <m:t>Y</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T</m:t>
                          </m:r>
                          <m:r>
                            <a:rPr lang="en-US" sz="2000" dirty="0">
                              <a:latin typeface="Cambria Math" panose="02040503050406030204"/>
                              <a:ea typeface="Cambria Math" panose="02040503050406030204"/>
                            </a:rPr>
                            <m:t>)</m:t>
                          </m:r>
                        </m:num>
                        <m:den>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T</m:t>
                          </m:r>
                        </m:den>
                      </m:f>
                      <m:r>
                        <a:rPr lang="en-US" sz="2000" dirty="0">
                          <a:latin typeface="Cambria Math" panose="02040503050406030204"/>
                          <a:ea typeface="Cambria Math" panose="02040503050406030204"/>
                        </a:rPr>
                        <m:t>−</m:t>
                      </m:r>
                      <m:sSub>
                        <m:sSubPr>
                          <m:ctrlPr>
                            <a:rPr/>
                          </m:ctrlPr>
                        </m:sSubPr>
                        <m:e>
                          <m:r>
                            <m:rPr>
                              <m:sty m:val="p"/>
                            </m:rPr>
                            <a:rPr lang="en-US" sz="2000" dirty="0">
                              <a:latin typeface="Cambria Math" panose="02040503050406030204"/>
                              <a:ea typeface="Cambria Math" panose="02040503050406030204"/>
                            </a:rPr>
                            <m:t>T</m:t>
                          </m:r>
                        </m:e>
                        <m:sub>
                          <m:r>
                            <m:rPr>
                              <m:sty m:val="p"/>
                            </m:rPr>
                            <a:rPr lang="en-US" sz="2000" dirty="0">
                              <a:latin typeface="Cambria Math" panose="02040503050406030204"/>
                              <a:ea typeface="Cambria Math" panose="02040503050406030204"/>
                            </a:rPr>
                            <m:t>n</m:t>
                          </m:r>
                        </m:sub>
                      </m:sSub>
                      <m:f>
                        <m:fPr>
                          <m:ctrlPr>
                            <a:rPr/>
                          </m:ctrlPr>
                        </m:fPr>
                        <m:num>
                          <m:sSup>
                            <m:sSupPr>
                              <m:ctrlPr>
                                <a:rPr/>
                              </m:ctrlPr>
                            </m:sSupPr>
                            <m:e>
                              <m:r>
                                <a:rPr lang="en-US" sz="2000" dirty="0">
                                  <a:latin typeface="Cambria Math" panose="02040503050406030204"/>
                                  <a:ea typeface="Cambria Math" panose="02040503050406030204"/>
                                </a:rPr>
                                <m:t>𝜕</m:t>
                              </m:r>
                            </m:e>
                            <m:sup>
                              <m:r>
                                <a:rPr lang="en-US" sz="2000" dirty="0">
                                  <a:latin typeface="Cambria Math" panose="02040503050406030204"/>
                                  <a:ea typeface="Cambria Math" panose="02040503050406030204"/>
                                </a:rPr>
                                <m:t>2</m:t>
                              </m:r>
                            </m:sup>
                          </m:sSup>
                          <m:sSub>
                            <m:sSubPr>
                              <m:ctrlPr>
                                <a:rPr/>
                              </m:ctrlPr>
                            </m:sSubPr>
                            <m:e>
                              <m:r>
                                <m:rPr>
                                  <m:sty m:val="p"/>
                                </m:rPr>
                                <a:rPr lang="en-US" sz="2000" dirty="0">
                                  <a:latin typeface="Cambria Math" panose="02040503050406030204"/>
                                  <a:ea typeface="Cambria Math" panose="02040503050406030204"/>
                                </a:rPr>
                                <m:t>U</m:t>
                              </m:r>
                            </m:e>
                            <m:sub>
                              <m:r>
                                <m:rPr>
                                  <m:sty m:val="p"/>
                                </m:rPr>
                                <a:rPr lang="en-US" sz="2000" dirty="0">
                                  <a:latin typeface="Cambria Math" panose="02040503050406030204"/>
                                  <a:ea typeface="Cambria Math" panose="02040503050406030204"/>
                                </a:rPr>
                                <m:t>Y</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T</m:t>
                          </m:r>
                          <m:r>
                            <a:rPr lang="en-US" sz="2000" dirty="0">
                              <a:latin typeface="Cambria Math" panose="02040503050406030204"/>
                              <a:ea typeface="Cambria Math" panose="02040503050406030204"/>
                            </a:rPr>
                            <m:t>)</m:t>
                          </m:r>
                        </m:num>
                        <m:den>
                          <m:r>
                            <a:rPr lang="en-US" sz="2000" dirty="0">
                              <a:latin typeface="Cambria Math" panose="02040503050406030204"/>
                              <a:ea typeface="Cambria Math" panose="02040503050406030204"/>
                            </a:rPr>
                            <m:t>𝜕</m:t>
                          </m:r>
                          <m:sSup>
                            <m:sSupPr>
                              <m:ctrlPr>
                                <a:rPr/>
                              </m:ctrlPr>
                            </m:sSupPr>
                            <m:e>
                              <m:r>
                                <m:rPr>
                                  <m:sty m:val="p"/>
                                </m:rPr>
                                <a:rPr lang="en-US" sz="2000" dirty="0">
                                  <a:latin typeface="Cambria Math" panose="02040503050406030204"/>
                                  <a:ea typeface="Cambria Math" panose="02040503050406030204"/>
                                </a:rPr>
                                <m:t>Z</m:t>
                              </m:r>
                            </m:e>
                            <m:sup>
                              <m:r>
                                <a:rPr lang="en-US" sz="2000" dirty="0">
                                  <a:latin typeface="Cambria Math" panose="02040503050406030204"/>
                                  <a:ea typeface="Cambria Math" panose="02040503050406030204"/>
                                </a:rPr>
                                <m:t>2</m:t>
                              </m:r>
                            </m:sup>
                          </m:sSup>
                        </m:den>
                      </m:f>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E</m:t>
                      </m:r>
                      <m:r>
                        <m:rPr>
                          <m:sty m:val="p"/>
                        </m:rPr>
                        <a:rPr lang="en-US" sz="2000" dirty="0">
                          <a:latin typeface="Cambria Math" panose="02040503050406030204"/>
                          <a:ea typeface="Cambria Math" panose="02040503050406030204"/>
                        </a:rPr>
                        <m:t>I</m:t>
                      </m:r>
                      <m:f>
                        <m:fPr>
                          <m:ctrlPr>
                            <a:rPr/>
                          </m:ctrlPr>
                        </m:fPr>
                        <m:num>
                          <m:sSup>
                            <m:sSupPr>
                              <m:ctrlPr>
                                <a:rPr/>
                              </m:ctrlPr>
                            </m:sSupPr>
                            <m:e>
                              <m:r>
                                <a:rPr lang="en-US" sz="2000" dirty="0">
                                  <a:latin typeface="Cambria Math" panose="02040503050406030204"/>
                                  <a:ea typeface="Cambria Math" panose="02040503050406030204"/>
                                </a:rPr>
                                <m:t>𝜕</m:t>
                              </m:r>
                            </m:e>
                            <m:sup>
                              <m:r>
                                <a:rPr lang="en-US" sz="2000" dirty="0">
                                  <a:latin typeface="Cambria Math" panose="02040503050406030204"/>
                                  <a:ea typeface="Cambria Math" panose="02040503050406030204"/>
                                </a:rPr>
                                <m:t>4</m:t>
                              </m:r>
                            </m:sup>
                          </m:sSup>
                          <m:sSub>
                            <m:sSubPr>
                              <m:ctrlPr>
                                <a:rPr/>
                              </m:ctrlPr>
                            </m:sSubPr>
                            <m:e>
                              <m:r>
                                <m:rPr>
                                  <m:sty m:val="p"/>
                                </m:rPr>
                                <a:rPr lang="en-US" sz="2000" dirty="0">
                                  <a:latin typeface="Cambria Math" panose="02040503050406030204"/>
                                  <a:ea typeface="Cambria Math" panose="02040503050406030204"/>
                                </a:rPr>
                                <m:t>U</m:t>
                              </m:r>
                            </m:e>
                            <m:sub>
                              <m:r>
                                <m:rPr>
                                  <m:sty m:val="p"/>
                                </m:rPr>
                                <a:rPr lang="en-US" sz="2000" dirty="0">
                                  <a:latin typeface="Cambria Math" panose="02040503050406030204"/>
                                  <a:ea typeface="Cambria Math" panose="02040503050406030204"/>
                                </a:rPr>
                                <m:t>Y</m:t>
                              </m:r>
                            </m:sub>
                          </m:sSub>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T</m:t>
                          </m:r>
                          <m:r>
                            <a:rPr lang="en-US" sz="2000" dirty="0">
                              <a:latin typeface="Cambria Math" panose="02040503050406030204"/>
                              <a:ea typeface="Cambria Math" panose="02040503050406030204"/>
                            </a:rPr>
                            <m:t>)</m:t>
                          </m:r>
                        </m:num>
                        <m:den>
                          <m:r>
                            <a:rPr lang="en-US" sz="2000" dirty="0">
                              <a:latin typeface="Cambria Math" panose="02040503050406030204"/>
                              <a:ea typeface="Cambria Math" panose="02040503050406030204"/>
                            </a:rPr>
                            <m:t>𝜕</m:t>
                          </m:r>
                          <m:sSup>
                            <m:sSupPr>
                              <m:ctrlPr>
                                <a:rPr/>
                              </m:ctrlPr>
                            </m:sSupPr>
                            <m:e>
                              <m:r>
                                <m:rPr>
                                  <m:sty m:val="p"/>
                                </m:rPr>
                                <a:rPr lang="en-US" sz="2000" dirty="0">
                                  <a:latin typeface="Cambria Math" panose="02040503050406030204"/>
                                  <a:ea typeface="Cambria Math" panose="02040503050406030204"/>
                                </a:rPr>
                                <m:t>Z</m:t>
                              </m:r>
                            </m:e>
                            <m:sup>
                              <m:r>
                                <a:rPr lang="en-US" sz="2000" dirty="0">
                                  <a:latin typeface="Cambria Math" panose="02040503050406030204"/>
                                  <a:ea typeface="Cambria Math" panose="02040503050406030204"/>
                                </a:rPr>
                                <m:t>4</m:t>
                              </m:r>
                            </m:sup>
                          </m:sSup>
                        </m:den>
                      </m:f>
                      <m:r>
                        <a:rPr lang="en-US" sz="2000" dirty="0">
                          <a:latin typeface="Cambria Math" panose="02040503050406030204"/>
                          <a:ea typeface="Cambria Math" panose="02040503050406030204"/>
                        </a:rPr>
                        <m:t>=</m:t>
                      </m:r>
                      <m:f>
                        <m:fPr>
                          <m:ctrlPr>
                            <a:rPr/>
                          </m:ctrlPr>
                        </m:fPr>
                        <m:num>
                          <m:r>
                            <a:rPr lang="en-US" sz="2000" dirty="0">
                              <a:latin typeface="Cambria Math" panose="02040503050406030204"/>
                              <a:ea typeface="Cambria Math" panose="02040503050406030204"/>
                            </a:rPr>
                            <m:t>1</m:t>
                          </m:r>
                        </m:num>
                        <m:den>
                          <m:r>
                            <a:rPr lang="en-US" sz="2000" dirty="0">
                              <a:latin typeface="Cambria Math" panose="02040503050406030204"/>
                              <a:ea typeface="Cambria Math" panose="02040503050406030204"/>
                            </a:rPr>
                            <m:t>4</m:t>
                          </m:r>
                        </m:den>
                      </m:f>
                      <m:r>
                        <a:rPr lang="en-US" sz="2000" dirty="0">
                          <a:latin typeface="Cambria Math" panose="02040503050406030204"/>
                          <a:ea typeface="Cambria Math" panose="02040503050406030204"/>
                        </a:rPr>
                        <m:t>𝜌</m:t>
                      </m:r>
                      <m:sSup>
                        <m:sSupPr>
                          <m:ctrlPr>
                            <a:rPr/>
                          </m:ctrlPr>
                        </m:sSupPr>
                        <m:e>
                          <m:r>
                            <m:rPr>
                              <m:sty m:val="p"/>
                            </m:rPr>
                            <a:rPr lang="en-US" sz="2000" dirty="0">
                              <a:latin typeface="Cambria Math" panose="02040503050406030204"/>
                              <a:ea typeface="Cambria Math" panose="02040503050406030204"/>
                            </a:rPr>
                            <m:t>V</m:t>
                          </m:r>
                        </m:e>
                        <m:sup>
                          <m:r>
                            <a:rPr lang="en-US" sz="2000" dirty="0">
                              <a:latin typeface="Cambria Math" panose="02040503050406030204"/>
                              <a:ea typeface="Cambria Math" panose="02040503050406030204"/>
                            </a:rPr>
                            <m:t>2</m:t>
                          </m:r>
                        </m:sup>
                      </m:sSup>
                      <m:r>
                        <m:rPr>
                          <m:sty m:val="p"/>
                        </m:rPr>
                        <a:rPr lang="en-US" sz="2000" dirty="0">
                          <a:latin typeface="Cambria Math" panose="02040503050406030204"/>
                          <a:ea typeface="Cambria Math" panose="02040503050406030204"/>
                        </a:rPr>
                        <m:t>D</m:t>
                      </m:r>
                      <m:sSub>
                        <m:sSubPr>
                          <m:ctrlPr>
                            <a:rPr/>
                          </m:ctrlPr>
                        </m:sSubPr>
                        <m:e>
                          <m:r>
                            <m:rPr>
                              <m:sty m:val="p"/>
                            </m:rPr>
                            <a:rPr lang="en-US" sz="2000" dirty="0">
                              <a:latin typeface="Cambria Math" panose="02040503050406030204"/>
                              <a:ea typeface="Cambria Math" panose="02040503050406030204"/>
                            </a:rPr>
                            <m:t>C</m:t>
                          </m:r>
                        </m:e>
                        <m:sub>
                          <m:r>
                            <m:rPr>
                              <m:sty m:val="p"/>
                            </m:rPr>
                            <a:rPr lang="en-US" sz="2000" dirty="0">
                              <a:latin typeface="Cambria Math" panose="02040503050406030204"/>
                              <a:ea typeface="Cambria Math" panose="02040503050406030204"/>
                            </a:rPr>
                            <m:t>L</m:t>
                          </m:r>
                          <m:r>
                            <a:rPr lang="en-US" sz="2000" dirty="0">
                              <a:latin typeface="Cambria Math" panose="02040503050406030204"/>
                              <a:ea typeface="Cambria Math" panose="02040503050406030204"/>
                            </a:rPr>
                            <m:t>0</m:t>
                          </m:r>
                        </m:sub>
                      </m:sSub>
                      <m:r>
                        <a:rPr lang="en-US" sz="2000" dirty="0">
                          <a:latin typeface="Cambria Math" panose="02040503050406030204"/>
                          <a:ea typeface="Cambria Math" panose="02040503050406030204"/>
                        </a:rPr>
                        <m:t>𝜈</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Z</m:t>
                      </m:r>
                      <m:r>
                        <a:rPr lang="en-US" sz="2000" dirty="0">
                          <a:latin typeface="Cambria Math" panose="02040503050406030204"/>
                          <a:ea typeface="Cambria Math" panose="02040503050406030204"/>
                        </a:rPr>
                        <m:t>,</m:t>
                      </m:r>
                      <m:r>
                        <m:rPr>
                          <m:sty m:val="p"/>
                        </m:rPr>
                        <a:rPr lang="en-US" sz="2000" dirty="0">
                          <a:latin typeface="Cambria Math" panose="02040503050406030204"/>
                          <a:ea typeface="Cambria Math" panose="02040503050406030204"/>
                        </a:rPr>
                        <m:t>T</m:t>
                      </m:r>
                      <m:r>
                        <a:rPr lang="en-US" sz="2000" dirty="0">
                          <a:latin typeface="Cambria Math" panose="02040503050406030204"/>
                          <a:ea typeface="Cambria Math" panose="02040503050406030204"/>
                        </a:rPr>
                        <m:t>)</m:t>
                      </m:r>
                    </m:oMath>
                  </m:oMathPara>
                </a14:m>
                <a:endParaRPr sz="600" dirty="0"/>
              </a:p>
            </p:txBody>
          </p:sp>
        </mc:Choice>
        <mc:Fallback>
          <p:sp>
            <p:nvSpPr>
              <p:cNvPr id="2352" name="textbox 2352"/>
              <p:cNvSpPr>
                <a:spLocks noRot="1" noChangeAspect="1" noMove="1" noResize="1" noEditPoints="1" noAdjustHandles="1" noChangeArrowheads="1" noChangeShapeType="1" noTextEdit="1"/>
              </p:cNvSpPr>
              <p:nvPr/>
            </p:nvSpPr>
            <p:spPr>
              <a:xfrm>
                <a:off x="2314575" y="2152650"/>
                <a:ext cx="8582025" cy="685800"/>
              </a:xfrm>
              <a:prstGeom prst="rect">
                <a:avLst/>
              </a:prstGeom>
              <a:blipFill rotWithShape="1">
                <a:blip r:embed="rId3"/>
                <a:stretch>
                  <a:fillRect/>
                </a:stretch>
              </a:blipFill>
              <a:ln w="0" cap="flat">
                <a:noFill/>
                <a:prstDash val="solid"/>
                <a:miter lim="0"/>
              </a:ln>
            </p:spPr>
            <p:txBody>
              <a:bodyPr/>
              <a:lstStyle/>
              <a:p>
                <a:r>
                  <a:rPr lang="zh-CN" altLang="en-US">
                    <a:noFill/>
                  </a:rPr>
                  <a:t> </a:t>
                </a:r>
              </a:p>
            </p:txBody>
          </p:sp>
        </mc:Fallback>
      </mc:AlternateContent>
      <p:sp>
        <p:nvSpPr>
          <p:cNvPr id="2354" name="textbox 2354"/>
          <p:cNvSpPr/>
          <p:nvPr/>
        </p:nvSpPr>
        <p:spPr>
          <a:xfrm>
            <a:off x="1485900" y="3057525"/>
            <a:ext cx="8201025" cy="30480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非定常尾流动力学通过</a:t>
            </a:r>
            <a:r>
              <a:rPr sz="1800" b="1" kern="0" spc="0" dirty="0">
                <a:solidFill>
                  <a:srgbClr val="7030A0">
                    <a:alpha val="100000"/>
                  </a:srgbClr>
                </a:solidFill>
                <a:latin typeface="Times New Roman" panose="02020603050405020304"/>
                <a:ea typeface="Times New Roman" panose="02020603050405020304"/>
                <a:cs typeface="Times New Roman" panose="02020603050405020304"/>
              </a:rPr>
              <a:t>Vander Pol</a:t>
            </a:r>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方程控制的非线性尾流变量</a:t>
            </a:r>
            <a:r>
              <a:rPr sz="1800" b="1" i="1" kern="0" spc="0" dirty="0">
                <a:solidFill>
                  <a:srgbClr val="7030A0">
                    <a:alpha val="100000"/>
                  </a:srgbClr>
                </a:solidFill>
                <a:latin typeface="Times New Roman" panose="02020603050405020304"/>
                <a:ea typeface="Times New Roman" panose="02020603050405020304"/>
                <a:cs typeface="Times New Roman" panose="02020603050405020304"/>
              </a:rPr>
              <a:t>v</a:t>
            </a:r>
            <a:r>
              <a:rPr sz="1800" b="1" kern="0" spc="0" dirty="0">
                <a:solidFill>
                  <a:srgbClr val="7030A0">
                    <a:alpha val="100000"/>
                  </a:srgbClr>
                </a:solidFill>
                <a:latin typeface="Times New Roman" panose="02020603050405020304"/>
                <a:ea typeface="Times New Roman" panose="02020603050405020304"/>
                <a:cs typeface="Times New Roman" panose="02020603050405020304"/>
              </a:rPr>
              <a:t>(</a:t>
            </a:r>
            <a:r>
              <a:rPr sz="1800" b="1" i="1" kern="0" spc="0" dirty="0">
                <a:solidFill>
                  <a:srgbClr val="7030A0">
                    <a:alpha val="100000"/>
                  </a:srgbClr>
                </a:solidFill>
                <a:latin typeface="Times New Roman" panose="02020603050405020304"/>
                <a:ea typeface="Times New Roman" panose="02020603050405020304"/>
                <a:cs typeface="Times New Roman" panose="02020603050405020304"/>
              </a:rPr>
              <a:t>Z</a:t>
            </a:r>
            <a:r>
              <a:rPr sz="1800" b="1" kern="0" spc="0" dirty="0">
                <a:solidFill>
                  <a:srgbClr val="7030A0">
                    <a:alpha val="100000"/>
                  </a:srgbClr>
                </a:solidFill>
                <a:latin typeface="Times New Roman" panose="02020603050405020304"/>
                <a:ea typeface="Times New Roman" panose="02020603050405020304"/>
                <a:cs typeface="Times New Roman" panose="02020603050405020304"/>
              </a:rPr>
              <a:t>,</a:t>
            </a:r>
            <a:r>
              <a:rPr sz="1800" b="1" i="1" kern="0" spc="0" dirty="0">
                <a:solidFill>
                  <a:srgbClr val="7030A0">
                    <a:alpha val="100000"/>
                  </a:srgbClr>
                </a:solidFill>
                <a:latin typeface="Times New Roman" panose="02020603050405020304"/>
                <a:ea typeface="Times New Roman" panose="02020603050405020304"/>
                <a:cs typeface="Times New Roman" panose="02020603050405020304"/>
              </a:rPr>
              <a:t>T</a:t>
            </a:r>
            <a:r>
              <a:rPr sz="1800" b="1" kern="0" spc="0" dirty="0">
                <a:solidFill>
                  <a:srgbClr val="7030A0">
                    <a:alpha val="100000"/>
                  </a:srgbClr>
                </a:solidFill>
                <a:latin typeface="Times New Roman" panose="02020603050405020304"/>
                <a:ea typeface="Times New Roman" panose="02020603050405020304"/>
                <a:cs typeface="Times New Roman" panose="02020603050405020304"/>
              </a:rPr>
              <a:t>)</a:t>
            </a:r>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进行建模：</a:t>
            </a:r>
            <a:endParaRPr sz="1800" b="1" dirty="0"/>
          </a:p>
        </p:txBody>
      </p:sp>
      <mc:AlternateContent xmlns:mc="http://schemas.openxmlformats.org/markup-compatibility/2006">
        <mc:Choice xmlns:a14="http://schemas.microsoft.com/office/drawing/2010/main" Requires="a14">
          <p:sp>
            <p:nvSpPr>
              <p:cNvPr id="2356" name="textbox 2356"/>
              <p:cNvSpPr/>
              <p:nvPr/>
            </p:nvSpPr>
            <p:spPr>
              <a:xfrm>
                <a:off x="2314575" y="3486150"/>
                <a:ext cx="8172450" cy="7429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f>
                        <m:fPr>
                          <m:ctrlPr>
                            <a:rPr/>
                          </m:ctrlPr>
                        </m:fPr>
                        <m:num>
                          <m:sSup>
                            <m:sSupPr>
                              <m:ctrlPr>
                                <a:rPr/>
                              </m:ctrlPr>
                            </m:sSupPr>
                            <m:e>
                              <m:r>
                                <a:rPr lang="en-US" sz="2400" dirty="0">
                                  <a:latin typeface="Cambria Math" panose="02040503050406030204"/>
                                  <a:ea typeface="Cambria Math" panose="02040503050406030204"/>
                                </a:rPr>
                                <m:t>𝜕</m:t>
                              </m:r>
                            </m:e>
                            <m:sup>
                              <m:r>
                                <a:rPr lang="en-US" sz="2400" dirty="0">
                                  <a:latin typeface="Cambria Math" panose="02040503050406030204"/>
                                  <a:ea typeface="Cambria Math" panose="02040503050406030204"/>
                                </a:rPr>
                                <m:t>2</m:t>
                              </m:r>
                            </m:sup>
                          </m:sSup>
                          <m:r>
                            <a:rPr lang="en-US" sz="2400" dirty="0">
                              <a:latin typeface="Cambria Math" panose="02040503050406030204"/>
                              <a:ea typeface="Cambria Math" panose="02040503050406030204"/>
                            </a:rPr>
                            <m:t>𝜈</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num>
                        <m:den>
                          <m:r>
                            <a:rPr lang="en-US" sz="2400" dirty="0">
                              <a:latin typeface="Cambria Math" panose="02040503050406030204"/>
                              <a:ea typeface="Cambria Math" panose="02040503050406030204"/>
                            </a:rPr>
                            <m:t>𝜕</m:t>
                          </m:r>
                          <m:sSup>
                            <m:sSupPr>
                              <m:ctrlPr>
                                <a:rPr/>
                              </m:ctrlPr>
                            </m:sSupPr>
                            <m:e>
                              <m:r>
                                <m:rPr>
                                  <m:sty m:val="p"/>
                                </m:rPr>
                                <a:rPr lang="en-US" sz="2400" dirty="0">
                                  <a:latin typeface="Cambria Math" panose="02040503050406030204"/>
                                  <a:ea typeface="Cambria Math" panose="02040503050406030204"/>
                                </a:rPr>
                                <m:t>T</m:t>
                              </m:r>
                            </m:e>
                            <m:sup>
                              <m:r>
                                <a:rPr lang="en-US" sz="2400" dirty="0">
                                  <a:latin typeface="Cambria Math" panose="02040503050406030204"/>
                                  <a:ea typeface="Cambria Math" panose="02040503050406030204"/>
                                </a:rPr>
                                <m:t>2</m:t>
                              </m:r>
                            </m:sup>
                          </m:sSup>
                        </m:den>
                      </m:f>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𝜀</m:t>
                      </m:r>
                      <m:r>
                        <a:rPr lang="en-US" sz="2400" dirty="0">
                          <a:latin typeface="Cambria Math" panose="02040503050406030204"/>
                          <a:ea typeface="Cambria Math" panose="02040503050406030204"/>
                        </a:rPr>
                        <m:t> </m:t>
                      </m:r>
                      <m:sSub>
                        <m:sSubPr>
                          <m:ctrlPr>
                            <a:rPr/>
                          </m:ctrlPr>
                        </m:sSubPr>
                        <m:e>
                          <m:r>
                            <a:rPr lang="en-US" sz="2400" dirty="0">
                              <a:latin typeface="Cambria Math" panose="02040503050406030204"/>
                              <a:ea typeface="Cambria Math" panose="02040503050406030204"/>
                            </a:rPr>
                            <m:t>𝛺</m:t>
                          </m:r>
                        </m:e>
                        <m:sub>
                          <m:r>
                            <m:rPr>
                              <m:sty m:val="p"/>
                            </m:rPr>
                            <a:rPr lang="en-US" sz="2400" dirty="0">
                              <a:latin typeface="Cambria Math" panose="02040503050406030204"/>
                              <a:ea typeface="Cambria Math" panose="02040503050406030204"/>
                            </a:rPr>
                            <m:t>f</m:t>
                          </m:r>
                        </m:sub>
                      </m:sSub>
                      <m:r>
                        <a:rPr lang="en-US" sz="2400" dirty="0">
                          <a:latin typeface="Cambria Math" panose="02040503050406030204"/>
                          <a:ea typeface="Cambria Math" panose="02040503050406030204"/>
                        </a:rPr>
                        <m:t>(</m:t>
                      </m:r>
                      <m:sSup>
                        <m:sSupPr>
                          <m:ctrlPr>
                            <a:rPr/>
                          </m:ctrlPr>
                        </m:sSupPr>
                        <m:e>
                          <m:r>
                            <a:rPr lang="en-US" sz="2400" dirty="0">
                              <a:latin typeface="Cambria Math" panose="02040503050406030204"/>
                              <a:ea typeface="Cambria Math" panose="02040503050406030204"/>
                            </a:rPr>
                            <m:t>𝜈</m:t>
                          </m:r>
                        </m:e>
                        <m:sup>
                          <m:r>
                            <a:rPr lang="en-US" sz="2400" dirty="0">
                              <a:latin typeface="Cambria Math" panose="02040503050406030204"/>
                              <a:ea typeface="Cambria Math" panose="02040503050406030204"/>
                            </a:rPr>
                            <m:t>2</m:t>
                          </m:r>
                        </m:sup>
                      </m:sSup>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1</m:t>
                      </m:r>
                      <m:r>
                        <a:rPr lang="en-US" sz="2400" dirty="0">
                          <a:latin typeface="Cambria Math" panose="02040503050406030204"/>
                          <a:ea typeface="Cambria Math" panose="02040503050406030204"/>
                        </a:rPr>
                        <m:t>)</m:t>
                      </m:r>
                      <m:f>
                        <m:fPr>
                          <m:ctrlPr>
                            <a:rPr/>
                          </m:ctrlPr>
                        </m:fPr>
                        <m:num>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𝜈</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num>
                        <m:den>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den>
                      </m:f>
                      <m:r>
                        <a:rPr lang="en-US" sz="2400" dirty="0">
                          <a:latin typeface="Cambria Math" panose="02040503050406030204"/>
                          <a:ea typeface="Cambria Math" panose="02040503050406030204"/>
                        </a:rPr>
                        <m:t>+</m:t>
                      </m:r>
                      <m:sSubSup>
                        <m:sSubSupPr>
                          <m:ctrlPr>
                            <a:rPr/>
                          </m:ctrlPr>
                        </m:sSubSupPr>
                        <m:e>
                          <m:r>
                            <a:rPr lang="en-US" sz="2400" dirty="0">
                              <a:latin typeface="Cambria Math" panose="02040503050406030204"/>
                              <a:ea typeface="Cambria Math" panose="02040503050406030204"/>
                            </a:rPr>
                            <m:t>𝛺</m:t>
                          </m:r>
                        </m:e>
                        <m:sub>
                          <m:r>
                            <m:rPr>
                              <m:sty m:val="p"/>
                            </m:rPr>
                            <a:rPr lang="en-US" sz="2400" dirty="0">
                              <a:latin typeface="Cambria Math" panose="02040503050406030204"/>
                              <a:ea typeface="Cambria Math" panose="02040503050406030204"/>
                            </a:rPr>
                            <m:t>f</m:t>
                          </m:r>
                        </m:sub>
                        <m:sup>
                          <m:r>
                            <a:rPr lang="en-US" sz="2400" dirty="0">
                              <a:latin typeface="Cambria Math" panose="02040503050406030204"/>
                              <a:ea typeface="Cambria Math" panose="02040503050406030204"/>
                            </a:rPr>
                            <m:t>2</m:t>
                          </m:r>
                        </m:sup>
                      </m:sSubSup>
                      <m:r>
                        <a:rPr lang="en-US" sz="2400" dirty="0">
                          <a:latin typeface="Cambria Math" panose="02040503050406030204"/>
                          <a:ea typeface="Cambria Math" panose="02040503050406030204"/>
                        </a:rPr>
                        <m:t>𝜈</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f>
                        <m:fPr>
                          <m:ctrlPr>
                            <a:rPr/>
                          </m:ctrlPr>
                        </m:fPr>
                        <m:num>
                          <m:r>
                            <m:rPr>
                              <m:sty m:val="p"/>
                            </m:rPr>
                            <a:rPr lang="en-US" sz="2400" dirty="0">
                              <a:latin typeface="Cambria Math" panose="02040503050406030204"/>
                              <a:ea typeface="Cambria Math" panose="02040503050406030204"/>
                            </a:rPr>
                            <m:t>A</m:t>
                          </m:r>
                        </m:num>
                        <m:den>
                          <m:r>
                            <m:rPr>
                              <m:sty m:val="p"/>
                            </m:rPr>
                            <a:rPr lang="en-US" sz="2400" dirty="0">
                              <a:latin typeface="Cambria Math" panose="02040503050406030204"/>
                              <a:ea typeface="Cambria Math" panose="02040503050406030204"/>
                            </a:rPr>
                            <m:t>D</m:t>
                          </m:r>
                        </m:den>
                      </m:f>
                      <m:f>
                        <m:fPr>
                          <m:ctrlPr>
                            <a:rPr/>
                          </m:ctrlPr>
                        </m:fPr>
                        <m:num>
                          <m:sSup>
                            <m:sSupPr>
                              <m:ctrlPr>
                                <a:rPr/>
                              </m:ctrlPr>
                            </m:sSupPr>
                            <m:e>
                              <m:r>
                                <a:rPr lang="en-US" sz="2400" dirty="0">
                                  <a:latin typeface="Cambria Math" panose="02040503050406030204"/>
                                  <a:ea typeface="Cambria Math" panose="02040503050406030204"/>
                                </a:rPr>
                                <m:t>𝜕</m:t>
                              </m:r>
                            </m:e>
                            <m:sup>
                              <m:r>
                                <a:rPr lang="en-US" sz="2400" dirty="0">
                                  <a:latin typeface="Cambria Math" panose="02040503050406030204"/>
                                  <a:ea typeface="Cambria Math" panose="02040503050406030204"/>
                                </a:rPr>
                                <m:t>2</m:t>
                              </m:r>
                            </m:sup>
                          </m:sSup>
                          <m:r>
                            <m:rPr>
                              <m:sty m:val="p"/>
                            </m:rPr>
                            <a:rPr lang="en-US" sz="2400" dirty="0">
                              <a:latin typeface="Cambria Math" panose="02040503050406030204"/>
                              <a:ea typeface="Cambria Math" panose="02040503050406030204"/>
                            </a:rPr>
                            <m:t>U</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Z</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T</m:t>
                          </m:r>
                          <m:r>
                            <a:rPr lang="en-US" sz="2400" dirty="0">
                              <a:latin typeface="Cambria Math" panose="02040503050406030204"/>
                              <a:ea typeface="Cambria Math" panose="02040503050406030204"/>
                            </a:rPr>
                            <m:t>)</m:t>
                          </m:r>
                        </m:num>
                        <m:den>
                          <m:r>
                            <a:rPr lang="en-US" sz="2400" dirty="0">
                              <a:latin typeface="Cambria Math" panose="02040503050406030204"/>
                              <a:ea typeface="Cambria Math" panose="02040503050406030204"/>
                            </a:rPr>
                            <m:t>𝜕</m:t>
                          </m:r>
                          <m:sSup>
                            <m:sSupPr>
                              <m:ctrlPr>
                                <a:rPr/>
                              </m:ctrlPr>
                            </m:sSupPr>
                            <m:e>
                              <m:r>
                                <m:rPr>
                                  <m:sty m:val="p"/>
                                </m:rPr>
                                <a:rPr lang="en-US" sz="2400" dirty="0">
                                  <a:latin typeface="Cambria Math" panose="02040503050406030204"/>
                                  <a:ea typeface="Cambria Math" panose="02040503050406030204"/>
                                </a:rPr>
                                <m:t>T</m:t>
                              </m:r>
                            </m:e>
                            <m:sup>
                              <m:r>
                                <a:rPr lang="en-US" sz="2400" dirty="0">
                                  <a:latin typeface="Cambria Math" panose="02040503050406030204"/>
                                  <a:ea typeface="Cambria Math" panose="02040503050406030204"/>
                                </a:rPr>
                                <m:t>2</m:t>
                              </m:r>
                            </m:sup>
                          </m:sSup>
                        </m:den>
                      </m:f>
                    </m:oMath>
                  </m:oMathPara>
                </a14:m>
                <a:endParaRPr sz="600" dirty="0"/>
              </a:p>
            </p:txBody>
          </p:sp>
        </mc:Choice>
        <mc:Fallback>
          <p:sp>
            <p:nvSpPr>
              <p:cNvPr id="2356" name="textbox 2356"/>
              <p:cNvSpPr>
                <a:spLocks noRot="1" noChangeAspect="1" noMove="1" noResize="1" noEditPoints="1" noAdjustHandles="1" noChangeArrowheads="1" noChangeShapeType="1" noTextEdit="1"/>
              </p:cNvSpPr>
              <p:nvPr/>
            </p:nvSpPr>
            <p:spPr>
              <a:xfrm>
                <a:off x="2314575" y="3486150"/>
                <a:ext cx="8172450" cy="742950"/>
              </a:xfrm>
              <a:prstGeom prst="rect">
                <a:avLst/>
              </a:prstGeom>
              <a:blipFill rotWithShape="1">
                <a:blip r:embed="rId4"/>
                <a:stretch>
                  <a:fillRect/>
                </a:stretch>
              </a:blipFill>
              <a:ln w="0" cap="flat">
                <a:noFill/>
                <a:prstDash val="solid"/>
                <a:miter lim="0"/>
              </a:ln>
            </p:spPr>
            <p:txBody>
              <a:bodyPr/>
              <a:lstStyle/>
              <a:p>
                <a:r>
                  <a:rPr lang="zh-CN" altLang="en-US">
                    <a:noFill/>
                  </a:rPr>
                  <a:t> </a:t>
                </a:r>
              </a:p>
            </p:txBody>
          </p:sp>
        </mc:Fallback>
      </mc:AlternateContent>
      <p:sp>
        <p:nvSpPr>
          <p:cNvPr id="2358" name="textbox 2358"/>
          <p:cNvSpPr/>
          <p:nvPr/>
        </p:nvSpPr>
        <p:spPr>
          <a:xfrm>
            <a:off x="1447800" y="4429125"/>
            <a:ext cx="6781800" cy="28575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由上式推导出无量纲的控制方程，并进行降维和后续失效概率计算：</a:t>
            </a:r>
            <a:endParaRPr sz="1800" b="1" dirty="0"/>
          </a:p>
        </p:txBody>
      </p:sp>
      <mc:AlternateContent xmlns:mc="http://schemas.openxmlformats.org/markup-compatibility/2006">
        <mc:Choice xmlns:a14="http://schemas.microsoft.com/office/drawing/2010/main" Requires="a14">
          <p:sp>
            <p:nvSpPr>
              <p:cNvPr id="2360" name="textbox 2360"/>
              <p:cNvSpPr/>
              <p:nvPr/>
            </p:nvSpPr>
            <p:spPr>
              <a:xfrm>
                <a:off x="2314575" y="4772025"/>
                <a:ext cx="7362825" cy="142875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d>
                        <m:dPr>
                          <m:begChr m:val="{"/>
                          <m:endChr m:val="("/>
                          <m:ctrlPr>
                            <a:rPr/>
                          </m:ctrlPr>
                        </m:dPr>
                        <m:e>
                          <m:eqArr>
                            <m:eqArrPr>
                              <m:ctrlPr>
                                <a:rPr/>
                              </m:ctrlPr>
                            </m:eqArrPr>
                            <m:e>
                              <m:f>
                                <m:fPr>
                                  <m:ctrlPr>
                                    <a:rPr/>
                                  </m:ctrlPr>
                                </m:fPr>
                                <m:num>
                                  <m:sSup>
                                    <m:sSupPr>
                                      <m:ctrlPr>
                                        <a:rPr/>
                                      </m:ctrlPr>
                                    </m:sSupPr>
                                    <m:e>
                                      <m:r>
                                        <a:rPr lang="en-US" sz="1800" dirty="0">
                                          <a:latin typeface="Cambria Math" panose="02040503050406030204"/>
                                          <a:ea typeface="Cambria Math" panose="02040503050406030204"/>
                                        </a:rPr>
                                        <m:t>𝜕</m:t>
                                      </m:r>
                                    </m:e>
                                    <m:sup>
                                      <m:r>
                                        <a:rPr lang="en-US" sz="1800" dirty="0">
                                          <a:latin typeface="Cambria Math" panose="02040503050406030204"/>
                                          <a:ea typeface="Cambria Math" panose="02040503050406030204"/>
                                        </a:rPr>
                                        <m:t>2</m:t>
                                      </m:r>
                                    </m:sup>
                                  </m:sSup>
                                  <m:sSub>
                                    <m:sSubPr>
                                      <m:ctrlPr>
                                        <a:rPr/>
                                      </m:ctrlPr>
                                    </m:sSubPr>
                                    <m:e>
                                      <m:r>
                                        <m:rPr>
                                          <m:sty m:val="p"/>
                                        </m:rPr>
                                        <a:rPr lang="en-US" sz="1800" dirty="0">
                                          <a:latin typeface="Cambria Math" panose="02040503050406030204"/>
                                          <a:ea typeface="Cambria Math" panose="02040503050406030204"/>
                                        </a:rPr>
                                        <m:t>u</m:t>
                                      </m:r>
                                    </m:e>
                                    <m:sub>
                                      <m:r>
                                        <m:rPr>
                                          <m:sty m:val="p"/>
                                        </m:rPr>
                                        <a:rPr lang="en-US" sz="1800" dirty="0">
                                          <a:latin typeface="Cambria Math" panose="02040503050406030204"/>
                                          <a:ea typeface="Cambria Math" panose="02040503050406030204"/>
                                        </a:rPr>
                                        <m:t>Y</m:t>
                                      </m:r>
                                    </m:sub>
                                  </m:sSub>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num>
                                <m:den>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t</m:t>
                                      </m:r>
                                    </m:e>
                                    <m:sup>
                                      <m:r>
                                        <a:rPr lang="en-US" sz="1800" dirty="0">
                                          <a:latin typeface="Cambria Math" panose="02040503050406030204"/>
                                          <a:ea typeface="Cambria Math" panose="02040503050406030204"/>
                                        </a:rPr>
                                        <m:t>2</m:t>
                                      </m:r>
                                    </m:sup>
                                  </m:sSup>
                                </m:den>
                              </m:f>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𝜉</m:t>
                              </m:r>
                              <m:r>
                                <a:rPr lang="en-US" sz="1800" dirty="0">
                                  <a:latin typeface="Cambria Math" panose="02040503050406030204"/>
                                  <a:ea typeface="Cambria Math" panose="02040503050406030204"/>
                                </a:rPr>
                                <m:t>+</m:t>
                              </m:r>
                              <m:f>
                                <m:fPr>
                                  <m:ctrlPr>
                                    <a:rPr/>
                                  </m:ctrlPr>
                                </m:fPr>
                                <m:num>
                                  <m:r>
                                    <a:rPr lang="en-US" sz="1800" dirty="0">
                                      <a:latin typeface="Cambria Math" panose="02040503050406030204"/>
                                      <a:ea typeface="Cambria Math" panose="02040503050406030204"/>
                                    </a:rPr>
                                    <m:t>𝛾</m:t>
                                  </m:r>
                                </m:num>
                                <m:den>
                                  <m:r>
                                    <m:rPr>
                                      <m:sty m:val="p"/>
                                    </m:rPr>
                                    <a:rPr lang="en-US" sz="1800" dirty="0">
                                      <a:latin typeface="Cambria Math" panose="02040503050406030204"/>
                                      <a:ea typeface="Cambria Math" panose="02040503050406030204"/>
                                    </a:rPr>
                                    <m:t>u</m:t>
                                  </m:r>
                                </m:den>
                              </m:f>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f>
                                <m:fPr>
                                  <m:ctrlPr>
                                    <a:rPr/>
                                  </m:ctrlPr>
                                </m:fPr>
                                <m:num>
                                  <m:r>
                                    <a:rPr lang="en-US" sz="1800" dirty="0">
                                      <a:latin typeface="Cambria Math" panose="02040503050406030204"/>
                                      <a:ea typeface="Cambria Math" panose="02040503050406030204"/>
                                    </a:rPr>
                                    <m:t>𝜕</m:t>
                                  </m:r>
                                  <m:sSub>
                                    <m:sSubPr>
                                      <m:ctrlPr>
                                        <a:rPr/>
                                      </m:ctrlPr>
                                    </m:sSubPr>
                                    <m:e>
                                      <m:r>
                                        <m:rPr>
                                          <m:sty m:val="p"/>
                                        </m:rPr>
                                        <a:rPr lang="en-US" sz="1800" dirty="0">
                                          <a:latin typeface="Cambria Math" panose="02040503050406030204"/>
                                          <a:ea typeface="Cambria Math" panose="02040503050406030204"/>
                                        </a:rPr>
                                        <m:t>u</m:t>
                                      </m:r>
                                    </m:e>
                                    <m:sub>
                                      <m:r>
                                        <m:rPr>
                                          <m:sty m:val="p"/>
                                        </m:rPr>
                                        <a:rPr lang="en-US" sz="1800" dirty="0">
                                          <a:latin typeface="Cambria Math" panose="02040503050406030204"/>
                                          <a:ea typeface="Cambria Math" panose="02040503050406030204"/>
                                        </a:rPr>
                                        <m:t>Y</m:t>
                                      </m:r>
                                    </m:sub>
                                  </m:sSub>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num>
                                <m:den>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den>
                              </m:f>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c</m:t>
                              </m:r>
                              <m:r>
                                <a:rPr lang="en-US" sz="1800" dirty="0">
                                  <a:latin typeface="Cambria Math" panose="02040503050406030204"/>
                                  <a:ea typeface="Cambria Math" panose="02040503050406030204"/>
                                </a:rPr>
                                <m:t>2</m:t>
                              </m:r>
                              <m:f>
                                <m:fPr>
                                  <m:ctrlPr>
                                    <a:rPr/>
                                  </m:ctrlPr>
                                </m:fPr>
                                <m:num>
                                  <m:sSup>
                                    <m:sSupPr>
                                      <m:ctrlPr>
                                        <a:rPr/>
                                      </m:ctrlPr>
                                    </m:sSupPr>
                                    <m:e>
                                      <m:r>
                                        <a:rPr lang="en-US" sz="1800" dirty="0">
                                          <a:latin typeface="Cambria Math" panose="02040503050406030204"/>
                                          <a:ea typeface="Cambria Math" panose="02040503050406030204"/>
                                        </a:rPr>
                                        <m:t>𝜕</m:t>
                                      </m:r>
                                    </m:e>
                                    <m:sup>
                                      <m:r>
                                        <a:rPr lang="en-US" sz="1800" dirty="0">
                                          <a:latin typeface="Cambria Math" panose="02040503050406030204"/>
                                          <a:ea typeface="Cambria Math" panose="02040503050406030204"/>
                                        </a:rPr>
                                        <m:t>2</m:t>
                                      </m:r>
                                    </m:sup>
                                  </m:sSup>
                                  <m:sSub>
                                    <m:sSubPr>
                                      <m:ctrlPr>
                                        <a:rPr/>
                                      </m:ctrlPr>
                                    </m:sSubPr>
                                    <m:e>
                                      <m:r>
                                        <m:rPr>
                                          <m:sty m:val="p"/>
                                        </m:rPr>
                                        <a:rPr lang="en-US" sz="1800" dirty="0">
                                          <a:latin typeface="Cambria Math" panose="02040503050406030204"/>
                                          <a:ea typeface="Cambria Math" panose="02040503050406030204"/>
                                        </a:rPr>
                                        <m:t>u</m:t>
                                      </m:r>
                                    </m:e>
                                    <m:sub>
                                      <m:r>
                                        <m:rPr>
                                          <m:sty m:val="p"/>
                                        </m:rPr>
                                        <a:rPr lang="en-US" sz="1800" dirty="0">
                                          <a:latin typeface="Cambria Math" panose="02040503050406030204"/>
                                          <a:ea typeface="Cambria Math" panose="02040503050406030204"/>
                                        </a:rPr>
                                        <m:t>Y</m:t>
                                      </m:r>
                                    </m:sub>
                                  </m:sSub>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num>
                                <m:den>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z</m:t>
                                      </m:r>
                                    </m:e>
                                    <m:sup>
                                      <m:r>
                                        <a:rPr lang="en-US" sz="1800" dirty="0">
                                          <a:latin typeface="Cambria Math" panose="02040503050406030204"/>
                                          <a:ea typeface="Cambria Math" panose="02040503050406030204"/>
                                        </a:rPr>
                                        <m:t>2</m:t>
                                      </m:r>
                                    </m:sup>
                                  </m:sSup>
                                </m:den>
                              </m:f>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b</m:t>
                              </m:r>
                              <m:r>
                                <a:rPr lang="en-US" sz="1800" dirty="0">
                                  <a:latin typeface="Cambria Math" panose="02040503050406030204"/>
                                  <a:ea typeface="Cambria Math" panose="02040503050406030204"/>
                                </a:rPr>
                                <m:t>2</m:t>
                              </m:r>
                              <m:f>
                                <m:fPr>
                                  <m:ctrlPr>
                                    <a:rPr/>
                                  </m:ctrlPr>
                                </m:fPr>
                                <m:num>
                                  <m:sSup>
                                    <m:sSupPr>
                                      <m:ctrlPr>
                                        <a:rPr/>
                                      </m:ctrlPr>
                                    </m:sSupPr>
                                    <m:e>
                                      <m:r>
                                        <a:rPr lang="en-US" sz="1800" dirty="0">
                                          <a:latin typeface="Cambria Math" panose="02040503050406030204"/>
                                          <a:ea typeface="Cambria Math" panose="02040503050406030204"/>
                                        </a:rPr>
                                        <m:t>𝜕</m:t>
                                      </m:r>
                                    </m:e>
                                    <m:sup>
                                      <m:r>
                                        <a:rPr lang="en-US" sz="1800" dirty="0">
                                          <a:latin typeface="Cambria Math" panose="02040503050406030204"/>
                                          <a:ea typeface="Cambria Math" panose="02040503050406030204"/>
                                        </a:rPr>
                                        <m:t>4</m:t>
                                      </m:r>
                                    </m:sup>
                                  </m:sSup>
                                  <m:sSub>
                                    <m:sSubPr>
                                      <m:ctrlPr>
                                        <a:rPr/>
                                      </m:ctrlPr>
                                    </m:sSubPr>
                                    <m:e>
                                      <m:r>
                                        <m:rPr>
                                          <m:sty m:val="p"/>
                                        </m:rPr>
                                        <a:rPr lang="en-US" sz="1800" dirty="0">
                                          <a:latin typeface="Cambria Math" panose="02040503050406030204"/>
                                          <a:ea typeface="Cambria Math" panose="02040503050406030204"/>
                                        </a:rPr>
                                        <m:t>u</m:t>
                                      </m:r>
                                    </m:e>
                                    <m:sub>
                                      <m:r>
                                        <m:rPr>
                                          <m:sty m:val="p"/>
                                        </m:rPr>
                                        <a:rPr lang="en-US" sz="1800" dirty="0">
                                          <a:latin typeface="Cambria Math" panose="02040503050406030204"/>
                                          <a:ea typeface="Cambria Math" panose="02040503050406030204"/>
                                        </a:rPr>
                                        <m:t>Y</m:t>
                                      </m:r>
                                    </m:sub>
                                  </m:sSub>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num>
                                <m:den>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z</m:t>
                                      </m:r>
                                    </m:e>
                                    <m:sup>
                                      <m:r>
                                        <a:rPr lang="en-US" sz="1800" dirty="0">
                                          <a:latin typeface="Cambria Math" panose="02040503050406030204"/>
                                          <a:ea typeface="Cambria Math" panose="02040503050406030204"/>
                                        </a:rPr>
                                        <m:t>4</m:t>
                                      </m:r>
                                    </m:sup>
                                  </m:sSup>
                                </m:den>
                              </m:f>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M</m:t>
                              </m:r>
                              <m:r>
                                <a:rPr lang="en-US" sz="1800" dirty="0">
                                  <a:latin typeface="Cambria Math" panose="02040503050406030204"/>
                                  <a:ea typeface="Cambria Math" panose="02040503050406030204"/>
                                </a:rPr>
                                <m:t>𝜈</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e>
                            <m:e>
                              <m:f>
                                <m:fPr>
                                  <m:ctrlPr>
                                    <a:rPr/>
                                  </m:ctrlPr>
                                </m:fPr>
                                <m:num>
                                  <m:sSup>
                                    <m:sSupPr>
                                      <m:ctrlPr>
                                        <a:rPr/>
                                      </m:ctrlPr>
                                    </m:sSupPr>
                                    <m:e>
                                      <m:r>
                                        <a:rPr lang="en-US" sz="1800" dirty="0">
                                          <a:latin typeface="Cambria Math" panose="02040503050406030204"/>
                                          <a:ea typeface="Cambria Math" panose="02040503050406030204"/>
                                        </a:rPr>
                                        <m:t>𝜕</m:t>
                                      </m:r>
                                    </m:e>
                                    <m:sup>
                                      <m:r>
                                        <a:rPr lang="en-US" sz="1800" dirty="0">
                                          <a:latin typeface="Cambria Math" panose="02040503050406030204"/>
                                          <a:ea typeface="Cambria Math" panose="02040503050406030204"/>
                                        </a:rPr>
                                        <m:t>2</m:t>
                                      </m:r>
                                    </m:sup>
                                  </m:sSup>
                                  <m:r>
                                    <a:rPr lang="en-US" sz="1800" dirty="0">
                                      <a:latin typeface="Cambria Math" panose="02040503050406030204"/>
                                      <a:ea typeface="Cambria Math" panose="02040503050406030204"/>
                                    </a:rPr>
                                    <m:t>𝜈</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num>
                                <m:den>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t</m:t>
                                      </m:r>
                                    </m:e>
                                    <m:sup>
                                      <m:r>
                                        <a:rPr lang="en-US" sz="1800" dirty="0">
                                          <a:latin typeface="Cambria Math" panose="02040503050406030204"/>
                                          <a:ea typeface="Cambria Math" panose="02040503050406030204"/>
                                        </a:rPr>
                                        <m:t>2</m:t>
                                      </m:r>
                                    </m:sup>
                                  </m:sSup>
                                </m:den>
                              </m:f>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𝜀</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𝜈</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2</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1</m:t>
                              </m:r>
                              <m:r>
                                <a:rPr lang="en-US" sz="1800" dirty="0">
                                  <a:latin typeface="Cambria Math" panose="02040503050406030204"/>
                                  <a:ea typeface="Cambria Math" panose="02040503050406030204"/>
                                </a:rPr>
                                <m:t>)</m:t>
                              </m:r>
                              <m:f>
                                <m:fPr>
                                  <m:ctrlPr>
                                    <a:rPr/>
                                  </m:ctrlPr>
                                </m:fPr>
                                <m:num>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𝜈</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num>
                                <m:den>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den>
                              </m:f>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𝜈</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m:t>
                              </m:r>
                              <m:r>
                                <a:rPr lang="en-US" sz="1800" dirty="0">
                                  <a:latin typeface="Cambria Math" panose="02040503050406030204"/>
                                  <a:ea typeface="Cambria Math" panose="02040503050406030204"/>
                                </a:rPr>
                                <m:t>𝜅</m:t>
                              </m:r>
                              <m:f>
                                <m:fPr>
                                  <m:ctrlPr>
                                    <a:rPr/>
                                  </m:ctrlPr>
                                </m:fPr>
                                <m:num>
                                  <m:sSup>
                                    <m:sSupPr>
                                      <m:ctrlPr>
                                        <a:rPr/>
                                      </m:ctrlPr>
                                    </m:sSupPr>
                                    <m:e>
                                      <m:r>
                                        <a:rPr lang="en-US" sz="1800" dirty="0">
                                          <a:latin typeface="Cambria Math" panose="02040503050406030204"/>
                                          <a:ea typeface="Cambria Math" panose="02040503050406030204"/>
                                        </a:rPr>
                                        <m:t>𝜕</m:t>
                                      </m:r>
                                    </m:e>
                                    <m:sup>
                                      <m:r>
                                        <a:rPr lang="en-US" sz="1800" dirty="0">
                                          <a:latin typeface="Cambria Math" panose="02040503050406030204"/>
                                          <a:ea typeface="Cambria Math" panose="02040503050406030204"/>
                                        </a:rPr>
                                        <m:t>2</m:t>
                                      </m:r>
                                    </m:sup>
                                  </m:sSup>
                                  <m:sSub>
                                    <m:sSubPr>
                                      <m:ctrlPr>
                                        <a:rPr/>
                                      </m:ctrlPr>
                                    </m:sSubPr>
                                    <m:e>
                                      <m:r>
                                        <m:rPr>
                                          <m:sty m:val="p"/>
                                        </m:rPr>
                                        <a:rPr lang="en-US" sz="1800" dirty="0">
                                          <a:latin typeface="Cambria Math" panose="02040503050406030204"/>
                                          <a:ea typeface="Cambria Math" panose="02040503050406030204"/>
                                        </a:rPr>
                                        <m:t>u</m:t>
                                      </m:r>
                                    </m:e>
                                    <m:sub>
                                      <m:r>
                                        <m:rPr>
                                          <m:sty m:val="p"/>
                                        </m:rPr>
                                        <a:rPr lang="en-US" sz="1800" dirty="0">
                                          <a:latin typeface="Cambria Math" panose="02040503050406030204"/>
                                          <a:ea typeface="Cambria Math" panose="02040503050406030204"/>
                                        </a:rPr>
                                        <m:t>Y</m:t>
                                      </m:r>
                                    </m:sub>
                                  </m:sSub>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z</m:t>
                                  </m:r>
                                  <m:r>
                                    <a:rPr lang="en-US" sz="1800" dirty="0">
                                      <a:latin typeface="Cambria Math" panose="02040503050406030204"/>
                                      <a:ea typeface="Cambria Math" panose="02040503050406030204"/>
                                    </a:rPr>
                                    <m:t>,</m:t>
                                  </m:r>
                                  <m:r>
                                    <m:rPr>
                                      <m:sty m:val="p"/>
                                    </m:rPr>
                                    <a:rPr lang="en-US" sz="1800" dirty="0">
                                      <a:latin typeface="Cambria Math" panose="02040503050406030204"/>
                                      <a:ea typeface="Cambria Math" panose="02040503050406030204"/>
                                    </a:rPr>
                                    <m:t>t</m:t>
                                  </m:r>
                                  <m:r>
                                    <a:rPr lang="en-US" sz="1800" dirty="0">
                                      <a:latin typeface="Cambria Math" panose="02040503050406030204"/>
                                      <a:ea typeface="Cambria Math" panose="02040503050406030204"/>
                                    </a:rPr>
                                    <m:t>)</m:t>
                                  </m:r>
                                </m:num>
                                <m:den>
                                  <m:r>
                                    <a:rPr lang="en-US" sz="1800" dirty="0">
                                      <a:latin typeface="Cambria Math" panose="02040503050406030204"/>
                                      <a:ea typeface="Cambria Math" panose="02040503050406030204"/>
                                    </a:rPr>
                                    <m:t>𝜕</m:t>
                                  </m:r>
                                  <m:sSup>
                                    <m:sSupPr>
                                      <m:ctrlPr>
                                        <a:rPr/>
                                      </m:ctrlPr>
                                    </m:sSupPr>
                                    <m:e>
                                      <m:r>
                                        <m:rPr>
                                          <m:sty m:val="p"/>
                                        </m:rPr>
                                        <a:rPr lang="en-US" sz="1800" dirty="0">
                                          <a:latin typeface="Cambria Math" panose="02040503050406030204"/>
                                          <a:ea typeface="Cambria Math" panose="02040503050406030204"/>
                                        </a:rPr>
                                        <m:t>t</m:t>
                                      </m:r>
                                    </m:e>
                                    <m:sup>
                                      <m:r>
                                        <a:rPr lang="en-US" sz="1800" dirty="0">
                                          <a:latin typeface="Cambria Math" panose="02040503050406030204"/>
                                          <a:ea typeface="Cambria Math" panose="02040503050406030204"/>
                                        </a:rPr>
                                        <m:t>2</m:t>
                                      </m:r>
                                    </m:sup>
                                  </m:sSup>
                                </m:den>
                              </m:f>
                            </m:e>
                          </m:eqArr>
                        </m:e>
                      </m:d>
                    </m:oMath>
                  </m:oMathPara>
                </a14:m>
                <a:endParaRPr sz="600" dirty="0"/>
              </a:p>
            </p:txBody>
          </p:sp>
        </mc:Choice>
        <mc:Fallback>
          <p:sp>
            <p:nvSpPr>
              <p:cNvPr id="2360" name="textbox 2360"/>
              <p:cNvSpPr>
                <a:spLocks noRot="1" noChangeAspect="1" noMove="1" noResize="1" noEditPoints="1" noAdjustHandles="1" noChangeArrowheads="1" noChangeShapeType="1" noTextEdit="1"/>
              </p:cNvSpPr>
              <p:nvPr/>
            </p:nvSpPr>
            <p:spPr>
              <a:xfrm>
                <a:off x="2314575" y="4772025"/>
                <a:ext cx="7362825" cy="1428750"/>
              </a:xfrm>
              <a:prstGeom prst="rect">
                <a:avLst/>
              </a:prstGeom>
              <a:blipFill rotWithShape="1">
                <a:blip r:embed="rId5"/>
                <a:stretch>
                  <a:fillRect/>
                </a:stretch>
              </a:blipFill>
              <a:ln w="0" cap="flat">
                <a:noFill/>
                <a:prstDash val="solid"/>
                <a:miter lim="0"/>
              </a:ln>
            </p:spPr>
            <p:txBody>
              <a:bodyPr/>
              <a:lstStyle/>
              <a:p>
                <a:r>
                  <a:rPr lang="zh-CN" altLang="en-US">
                    <a:noFill/>
                  </a:rPr>
                  <a:t> </a:t>
                </a:r>
              </a:p>
            </p:txBody>
          </p:sp>
        </mc:Fallback>
      </mc:AlternateContent>
      <p:sp>
        <p:nvSpPr>
          <p:cNvPr id="2362" name="textbox 2362"/>
          <p:cNvSpPr/>
          <p:nvPr/>
        </p:nvSpPr>
        <p:spPr>
          <a:xfrm>
            <a:off x="85725" y="6229350"/>
            <a:ext cx="11982450" cy="438150"/>
          </a:xfrm>
          <a:prstGeom prst="rect">
            <a:avLst/>
          </a:prstGeom>
          <a:noFill/>
          <a:ln w="0" cap="flat">
            <a:noFill/>
            <a:prstDash val="solid"/>
            <a:miter lim="0"/>
          </a:ln>
        </p:spPr>
        <p:txBody>
          <a:bodyPr vert="horz" wrap="none" lIns="0" tIns="0" rIns="0" bIns="0"/>
          <a:lstStyle/>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Wang T, Lu D G*, Tan Y Q. Refined dimension-reduction integration method for uncertainty propagation in stochastic systems: Estimation of statistical moments.</a:t>
            </a:r>
            <a:endParaRPr sz="1400" dirty="0"/>
          </a:p>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Reliability Engineering &amp; System Safety, 2025, 256: 110753.</a:t>
            </a:r>
            <a:endParaRPr sz="1400" dirty="0"/>
          </a:p>
        </p:txBody>
      </p:sp>
      <p:sp>
        <p:nvSpPr>
          <p:cNvPr id="2364" name="textbox 2364"/>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2366" name="textbox 2366"/>
          <p:cNvSpPr/>
          <p:nvPr/>
        </p:nvSpPr>
        <p:spPr>
          <a:xfrm>
            <a:off x="11753850" y="6734175"/>
            <a:ext cx="15240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55</a:t>
            </a:r>
            <a:endParaRPr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0" name="picture 2370"/>
          <p:cNvPicPr>
            <a:picLocks noChangeAspect="1"/>
          </p:cNvPicPr>
          <p:nvPr/>
        </p:nvPicPr>
        <p:blipFill>
          <a:blip r:embed="rId1"/>
          <a:stretch>
            <a:fillRect/>
          </a:stretch>
        </p:blipFill>
        <p:spPr>
          <a:xfrm>
            <a:off x="0" y="0"/>
            <a:ext cx="12192000" cy="6858000"/>
          </a:xfrm>
          <a:prstGeom prst="rect">
            <a:avLst/>
          </a:prstGeom>
        </p:spPr>
      </p:pic>
      <p:sp>
        <p:nvSpPr>
          <p:cNvPr id="2372" name="textbox 2372"/>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38678E">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374" name="textbox 2374"/>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376" name="textbox 237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580A8">
                    <a:alpha val="100000"/>
                  </a:srgbClr>
                </a:solidFill>
                <a:latin typeface="华文楷体" panose="02010600040101010101" charset="-122"/>
                <a:ea typeface="华文楷体" panose="02010600040101010101" charset="-122"/>
                <a:cs typeface="华文楷体" panose="02010600040101010101" charset="-122"/>
              </a:rPr>
              <a:t>第三届复杂装备可靠性工程与科学研讨会暨第十二届模型验证与确认专题研讨会</a:t>
            </a:r>
            <a:endParaRPr sz="1000" dirty="0"/>
          </a:p>
        </p:txBody>
      </p:sp>
      <p:pic>
        <p:nvPicPr>
          <p:cNvPr id="2380" name="picture 2380"/>
          <p:cNvPicPr>
            <a:picLocks noChangeAspect="1"/>
          </p:cNvPicPr>
          <p:nvPr/>
        </p:nvPicPr>
        <p:blipFill>
          <a:blip r:embed="rId2"/>
          <a:stretch>
            <a:fillRect/>
          </a:stretch>
        </p:blipFill>
        <p:spPr>
          <a:xfrm>
            <a:off x="295275" y="247650"/>
            <a:ext cx="733425" cy="666750"/>
          </a:xfrm>
          <a:prstGeom prst="rect">
            <a:avLst/>
          </a:prstGeom>
        </p:spPr>
      </p:pic>
      <p:sp>
        <p:nvSpPr>
          <p:cNvPr id="2382" name="textbox 2382"/>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384" name="textbox 2384"/>
          <p:cNvSpPr/>
          <p:nvPr/>
        </p:nvSpPr>
        <p:spPr>
          <a:xfrm>
            <a:off x="1457325" y="762000"/>
            <a:ext cx="6543675"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386" name="textbox 2386"/>
          <p:cNvSpPr/>
          <p:nvPr/>
        </p:nvSpPr>
        <p:spPr>
          <a:xfrm>
            <a:off x="1447800" y="1114425"/>
            <a:ext cx="385762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D70CC">
                    <a:alpha val="100000"/>
                  </a:srgbClr>
                </a:solidFill>
                <a:latin typeface="微软雅黑" panose="020B0503020204020204" charset="-122"/>
                <a:ea typeface="微软雅黑" panose="020B0503020204020204" charset="-122"/>
                <a:cs typeface="微软雅黑" panose="020B0503020204020204" charset="-122"/>
              </a:rPr>
              <a:t>工程应用：圆柱体涡激振动问题</a:t>
            </a:r>
            <a:endParaRPr sz="2000" dirty="0"/>
          </a:p>
        </p:txBody>
      </p:sp>
      <p:sp>
        <p:nvSpPr>
          <p:cNvPr id="2388" name="textbox 2388"/>
          <p:cNvSpPr/>
          <p:nvPr/>
        </p:nvSpPr>
        <p:spPr>
          <a:xfrm>
            <a:off x="885825" y="1171575"/>
            <a:ext cx="219075" cy="247650"/>
          </a:xfrm>
          <a:prstGeom prst="rect">
            <a:avLst/>
          </a:prstGeom>
          <a:noFill/>
          <a:ln w="0" cap="flat">
            <a:noFill/>
            <a:prstDash val="solid"/>
            <a:miter lim="0"/>
          </a:ln>
        </p:spPr>
        <p:txBody>
          <a:bodyPr vert="horz" wrap="none" lIns="0" tIns="0" rIns="0" bIns="0"/>
          <a:lstStyle/>
          <a:p>
            <a:pPr algn="l" rtl="0" eaLnBrk="0"/>
            <a:r>
              <a:rPr sz="2000" kern="0" spc="0" dirty="0">
                <a:solidFill>
                  <a:srgbClr val="FFFFFF">
                    <a:alpha val="100000"/>
                  </a:srgbClr>
                </a:solidFill>
                <a:latin typeface="Calibri" panose="020F0502020204030204"/>
                <a:ea typeface="Calibri" panose="020F0502020204030204"/>
                <a:cs typeface="Calibri" panose="020F0502020204030204"/>
              </a:rPr>
              <a:t>3</a:t>
            </a:r>
            <a:endParaRPr sz="2000" dirty="0"/>
          </a:p>
        </p:txBody>
      </p:sp>
      <p:sp>
        <p:nvSpPr>
          <p:cNvPr id="2390" name="textbox 2390"/>
          <p:cNvSpPr/>
          <p:nvPr/>
        </p:nvSpPr>
        <p:spPr>
          <a:xfrm>
            <a:off x="1466850" y="1438275"/>
            <a:ext cx="2419350" cy="161925"/>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Vortex-induced vibration of a flexible cylinder</a:t>
            </a:r>
            <a:endParaRPr sz="1000" dirty="0"/>
          </a:p>
        </p:txBody>
      </p:sp>
      <p:sp>
        <p:nvSpPr>
          <p:cNvPr id="2392" name="textbox 2392"/>
          <p:cNvSpPr/>
          <p:nvPr/>
        </p:nvSpPr>
        <p:spPr>
          <a:xfrm>
            <a:off x="1466850" y="1838325"/>
            <a:ext cx="1857375" cy="26670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随机变量统计信息</a:t>
            </a:r>
            <a:endParaRPr sz="1800" b="1" dirty="0"/>
          </a:p>
        </p:txBody>
      </p:sp>
      <p:sp>
        <p:nvSpPr>
          <p:cNvPr id="2394" name="textbox 2394"/>
          <p:cNvSpPr/>
          <p:nvPr/>
        </p:nvSpPr>
        <p:spPr>
          <a:xfrm>
            <a:off x="923925" y="2266950"/>
            <a:ext cx="3590925" cy="161925"/>
          </a:xfrm>
          <a:prstGeom prst="rect">
            <a:avLst/>
          </a:prstGeom>
          <a:noFill/>
          <a:ln w="0" cap="flat">
            <a:noFill/>
            <a:prstDash val="solid"/>
            <a:miter lim="0"/>
          </a:ln>
        </p:spPr>
        <p:txBody>
          <a:bodyPr vert="horz" wrap="none" lIns="0" tIns="0" rIns="0" bIns="0"/>
          <a:lstStyle/>
          <a:p>
            <a:pPr algn="l" rtl="0" eaLnBrk="0"/>
            <a:r>
              <a:rPr sz="1100" kern="0" spc="0" dirty="0">
                <a:solidFill>
                  <a:srgbClr val="000000">
                    <a:alpha val="100000"/>
                  </a:srgbClr>
                </a:solidFill>
                <a:latin typeface="Times New Roman" panose="02020603050405020304"/>
                <a:ea typeface="Times New Roman" panose="02020603050405020304"/>
                <a:cs typeface="Times New Roman" panose="02020603050405020304"/>
              </a:rPr>
              <a:t>Statistical characteristics of random variables for </a:t>
            </a:r>
            <a:r>
              <a:rPr sz="1100" kern="0" spc="0" dirty="0">
                <a:solidFill>
                  <a:srgbClr val="00B0F0">
                    <a:alpha val="100000"/>
                  </a:srgbClr>
                </a:solidFill>
                <a:latin typeface="Times New Roman" panose="02020603050405020304"/>
                <a:ea typeface="Times New Roman" panose="02020603050405020304"/>
                <a:cs typeface="Times New Roman" panose="02020603050405020304"/>
              </a:rPr>
              <a:t>Example 4.</a:t>
            </a:r>
            <a:endParaRPr sz="1100" dirty="0"/>
          </a:p>
        </p:txBody>
      </p:sp>
      <p:graphicFrame>
        <p:nvGraphicFramePr>
          <p:cNvPr id="2396" name="table 2396"/>
          <p:cNvGraphicFramePr>
            <a:graphicFrameLocks noGrp="1"/>
          </p:cNvGraphicFramePr>
          <p:nvPr/>
        </p:nvGraphicFramePr>
        <p:xfrm>
          <a:off x="923925" y="2457450"/>
          <a:ext cx="4657725" cy="1152525"/>
        </p:xfrm>
        <a:graphic>
          <a:graphicData uri="http://schemas.openxmlformats.org/drawingml/2006/table">
            <a:tbl>
              <a:tblPr/>
              <a:tblGrid>
                <a:gridCol w="800100"/>
                <a:gridCol w="1733550"/>
                <a:gridCol w="904875"/>
                <a:gridCol w="752475"/>
                <a:gridCol w="466725"/>
              </a:tblGrid>
              <a:tr h="238125">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Variables</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Description</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Distribution</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Mean</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COV</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r>
              <a:tr h="209550">
                <a:tc>
                  <a:txBody>
                    <a:bodyPr/>
                    <a:lstStyle/>
                    <a:p>
                      <a:pPr algn="l" rtl="0" eaLnBrk="0"/>
                      <a:r>
                        <a:rPr sz="1000" b="1" i="1" kern="0" spc="0" dirty="0">
                          <a:solidFill>
                            <a:srgbClr val="000000">
                              <a:alpha val="100000"/>
                            </a:srgbClr>
                          </a:solidFill>
                          <a:latin typeface="Times New Roman" panose="02020603050405020304"/>
                          <a:ea typeface="Times New Roman" panose="02020603050405020304"/>
                          <a:cs typeface="Times New Roman" panose="02020603050405020304"/>
                        </a:rPr>
                        <a:t>EI</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Bending stiffness</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Normal</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2000N·m</a:t>
                      </a:r>
                      <a:r>
                        <a:rPr sz="1000" b="1" kern="0" spc="0" baseline="30000" dirty="0">
                          <a:solidFill>
                            <a:srgbClr val="404040">
                              <a:alpha val="100000"/>
                            </a:srgbClr>
                          </a:solidFill>
                          <a:latin typeface="Times New Roman" panose="02020603050405020304"/>
                          <a:ea typeface="Times New Roman" panose="02020603050405020304"/>
                          <a:cs typeface="Times New Roman" panose="02020603050405020304"/>
                        </a:rPr>
                        <a:t>2</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0.05</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r>
              <a:tr h="161925">
                <a:tc>
                  <a:txBody>
                    <a:bodyPr/>
                    <a:lstStyle/>
                    <a:p>
                      <a:pPr algn="l" rtl="0" eaLnBrk="0"/>
                      <a:r>
                        <a:rPr sz="1000" b="1" i="1" kern="0" spc="0" dirty="0">
                          <a:solidFill>
                            <a:srgbClr val="000000">
                              <a:alpha val="100000"/>
                            </a:srgbClr>
                          </a:solidFill>
                          <a:latin typeface="Times New Roman" panose="02020603050405020304"/>
                          <a:ea typeface="Times New Roman" panose="02020603050405020304"/>
                          <a:cs typeface="Times New Roman" panose="02020603050405020304"/>
                        </a:rPr>
                        <a:t>ξ</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Structural damping ratio</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Lognormal</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0.01</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0.2</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r>
              <a:tr h="171450">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T</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n</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Tension</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Normal</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5000N</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0.1</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r>
              <a:tr h="171450">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C</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t0</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Amplitude of lift coefficient</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Lognormal</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0.3</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ctr"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0.2</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r>
              <a:tr h="200025">
                <a:tc>
                  <a:txBody>
                    <a:bodyPr/>
                    <a:lstStyle/>
                    <a:p>
                      <a:pPr algn="l" rtl="0" eaLnBrk="0"/>
                      <a:r>
                        <a:rPr sz="1000" b="1" kern="0" spc="0" dirty="0">
                          <a:solidFill>
                            <a:srgbClr val="000000">
                              <a:alpha val="100000"/>
                            </a:srgbClr>
                          </a:solidFill>
                          <a:latin typeface="Times New Roman" panose="02020603050405020304"/>
                          <a:ea typeface="Times New Roman" panose="02020603050405020304"/>
                          <a:cs typeface="Times New Roman" panose="02020603050405020304"/>
                        </a:rPr>
                        <a:t>C</a:t>
                      </a:r>
                      <a:r>
                        <a:rPr sz="10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D</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Mean drag coefficient</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b="1" kern="0" spc="0" dirty="0">
                          <a:solidFill>
                            <a:srgbClr val="404040">
                              <a:alpha val="100000"/>
                            </a:srgbClr>
                          </a:solidFill>
                          <a:latin typeface="Times New Roman" panose="02020603050405020304"/>
                          <a:ea typeface="Times New Roman" panose="02020603050405020304"/>
                          <a:cs typeface="Times New Roman" panose="02020603050405020304"/>
                        </a:rPr>
                        <a:t>Lognormal</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1.2</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c>
                  <a:txBody>
                    <a:bodyPr/>
                    <a:lstStyle/>
                    <a:p>
                      <a:pPr algn="l" rtl="0" eaLnBrk="0"/>
                      <a:r>
                        <a:rPr sz="1000" kern="0" spc="0" dirty="0">
                          <a:solidFill>
                            <a:srgbClr val="000000">
                              <a:alpha val="100000"/>
                            </a:srgbClr>
                          </a:solidFill>
                          <a:latin typeface="Times New Roman" panose="02020603050405020304"/>
                          <a:ea typeface="Times New Roman" panose="02020603050405020304"/>
                          <a:cs typeface="Times New Roman" panose="02020603050405020304"/>
                        </a:rPr>
                        <a:t>0.2</a:t>
                      </a:r>
                      <a:endParaRPr sz="1000" dirty="0"/>
                    </a:p>
                  </a:txBody>
                  <a:tcPr marL="0" marR="0" marT="0" marB="0" vert="horz" anchor="ctr">
                    <a:lnL w="19050" cap="flat" cmpd="sng" algn="ctr">
                      <a:solidFill>
                        <a:srgbClr val="8E8E8E"/>
                      </a:solidFill>
                      <a:prstDash val="solid"/>
                      <a:round/>
                      <a:headEnd type="none" w="med" len="med"/>
                      <a:tailEnd type="none" w="med" len="med"/>
                    </a:lnL>
                    <a:lnR w="19050" cap="flat" cmpd="sng" algn="ctr">
                      <a:solidFill>
                        <a:srgbClr val="8E8E8E"/>
                      </a:solidFill>
                      <a:prstDash val="solid"/>
                      <a:round/>
                      <a:headEnd type="none" w="med" len="med"/>
                      <a:tailEnd type="none" w="med" len="med"/>
                    </a:lnR>
                    <a:lnT w="19050" cap="flat" cmpd="sng" algn="ctr">
                      <a:solidFill>
                        <a:srgbClr val="8E8E8E"/>
                      </a:solidFill>
                      <a:prstDash val="solid"/>
                      <a:round/>
                      <a:headEnd type="none" w="med" len="med"/>
                      <a:tailEnd type="none" w="med" len="med"/>
                    </a:lnT>
                    <a:lnB w="19050" cap="flat" cmpd="sng" algn="ctr">
                      <a:solidFill>
                        <a:srgbClr val="8E8E8E"/>
                      </a:solidFill>
                      <a:prstDash val="solid"/>
                      <a:round/>
                      <a:headEnd type="none" w="med" len="med"/>
                      <a:tailEnd type="none" w="med" len="med"/>
                    </a:lnB>
                  </a:tcPr>
                </a:tc>
              </a:tr>
            </a:tbl>
          </a:graphicData>
        </a:graphic>
      </p:graphicFrame>
      <p:pic>
        <p:nvPicPr>
          <p:cNvPr id="2400" name="picture 2400"/>
          <p:cNvPicPr>
            <a:picLocks noChangeAspect="1"/>
          </p:cNvPicPr>
          <p:nvPr/>
        </p:nvPicPr>
        <p:blipFill>
          <a:blip r:embed="rId3"/>
          <a:stretch>
            <a:fillRect/>
          </a:stretch>
        </p:blipFill>
        <p:spPr>
          <a:xfrm>
            <a:off x="6534150" y="1409700"/>
            <a:ext cx="1857375" cy="2295525"/>
          </a:xfrm>
          <a:prstGeom prst="rect">
            <a:avLst/>
          </a:prstGeom>
        </p:spPr>
      </p:pic>
      <p:sp>
        <p:nvSpPr>
          <p:cNvPr id="2402" name="textbox 2402"/>
          <p:cNvSpPr/>
          <p:nvPr/>
        </p:nvSpPr>
        <p:spPr>
          <a:xfrm>
            <a:off x="7505700" y="3781425"/>
            <a:ext cx="228600" cy="152400"/>
          </a:xfrm>
          <a:prstGeom prst="rect">
            <a:avLst/>
          </a:prstGeom>
          <a:noFill/>
          <a:ln w="0" cap="flat">
            <a:noFill/>
            <a:prstDash val="solid"/>
            <a:miter lim="0"/>
          </a:ln>
        </p:spPr>
        <p:txBody>
          <a:bodyPr vert="horz" wrap="none" lIns="0" tIns="0" rIns="0" bIns="0"/>
          <a:lstStyle/>
          <a:p>
            <a:pPr marL="190500" indent="-161925" algn="l" rtl="0" eaLnBrk="0">
              <a:buAutoNum type="alphaLcParenBoth"/>
            </a:pPr>
            <a:endParaRPr sz="600" dirty="0"/>
          </a:p>
        </p:txBody>
      </p:sp>
      <p:pic>
        <p:nvPicPr>
          <p:cNvPr id="2406" name="picture 2406"/>
          <p:cNvPicPr>
            <a:picLocks noChangeAspect="1"/>
          </p:cNvPicPr>
          <p:nvPr/>
        </p:nvPicPr>
        <p:blipFill>
          <a:blip r:embed="rId4"/>
          <a:stretch>
            <a:fillRect/>
          </a:stretch>
        </p:blipFill>
        <p:spPr>
          <a:xfrm>
            <a:off x="8486775" y="1438275"/>
            <a:ext cx="3143250" cy="2266950"/>
          </a:xfrm>
          <a:prstGeom prst="rect">
            <a:avLst/>
          </a:prstGeom>
        </p:spPr>
      </p:pic>
      <p:sp>
        <p:nvSpPr>
          <p:cNvPr id="2408" name="textbox 2408"/>
          <p:cNvSpPr/>
          <p:nvPr/>
        </p:nvSpPr>
        <p:spPr>
          <a:xfrm>
            <a:off x="10134600" y="3781425"/>
            <a:ext cx="200025" cy="152400"/>
          </a:xfrm>
          <a:prstGeom prst="rect">
            <a:avLst/>
          </a:prstGeom>
          <a:noFill/>
          <a:ln w="0" cap="flat">
            <a:noFill/>
            <a:prstDash val="solid"/>
            <a:miter lim="0"/>
          </a:ln>
        </p:spPr>
        <p:txBody>
          <a:bodyPr vert="horz" wrap="none" lIns="0" tIns="0" rIns="0" bIns="0"/>
          <a:lstStyle/>
          <a:p>
            <a:pPr marL="180975" indent="-171450" algn="l" rtl="0" eaLnBrk="0">
              <a:buAutoNum type="alphaLcParenBoth" startAt="2"/>
            </a:pPr>
            <a:endParaRPr sz="600" dirty="0"/>
          </a:p>
        </p:txBody>
      </p:sp>
      <p:sp>
        <p:nvSpPr>
          <p:cNvPr id="2410" name="textbox 2410"/>
          <p:cNvSpPr/>
          <p:nvPr/>
        </p:nvSpPr>
        <p:spPr>
          <a:xfrm>
            <a:off x="1466850" y="4048125"/>
            <a:ext cx="2771775" cy="26670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不同方法获得的矩计算结果</a:t>
            </a:r>
            <a:endParaRPr sz="1800" b="1" dirty="0"/>
          </a:p>
        </p:txBody>
      </p:sp>
      <p:sp>
        <p:nvSpPr>
          <p:cNvPr id="2412" name="textbox 2412"/>
          <p:cNvSpPr/>
          <p:nvPr/>
        </p:nvSpPr>
        <p:spPr>
          <a:xfrm>
            <a:off x="8153400" y="3886200"/>
            <a:ext cx="1552575" cy="26670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最大 </a:t>
            </a:r>
            <a:r>
              <a:rPr sz="1800" b="1" kern="0" spc="0" dirty="0">
                <a:solidFill>
                  <a:srgbClr val="7030A0">
                    <a:alpha val="100000"/>
                  </a:srgbClr>
                </a:solidFill>
                <a:latin typeface="Times New Roman" panose="02020603050405020304"/>
                <a:ea typeface="Times New Roman" panose="02020603050405020304"/>
                <a:cs typeface="Times New Roman" panose="02020603050405020304"/>
              </a:rPr>
              <a:t>VIV </a:t>
            </a:r>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振幅</a:t>
            </a:r>
            <a:endParaRPr sz="1800" b="1" dirty="0"/>
          </a:p>
        </p:txBody>
      </p:sp>
      <p:sp>
        <p:nvSpPr>
          <p:cNvPr id="2414" name="textbox 2414"/>
          <p:cNvSpPr/>
          <p:nvPr/>
        </p:nvSpPr>
        <p:spPr>
          <a:xfrm>
            <a:off x="161925" y="4467225"/>
            <a:ext cx="4733925" cy="142875"/>
          </a:xfrm>
          <a:prstGeom prst="rect">
            <a:avLst/>
          </a:prstGeom>
          <a:noFill/>
          <a:ln w="0" cap="flat">
            <a:noFill/>
            <a:prstDash val="solid"/>
            <a:miter lim="0"/>
          </a:ln>
        </p:spPr>
        <p:txBody>
          <a:bodyPr vert="horz" wrap="none" lIns="0" tIns="0" rIns="0" bIns="0"/>
          <a:lstStyle/>
          <a:p>
            <a:pPr algn="l" rtl="0" eaLnBrk="0"/>
            <a:r>
              <a:rPr sz="800" strike="sngStrike" kern="0" spc="0" dirty="0">
                <a:solidFill>
                  <a:srgbClr val="000000">
                    <a:alpha val="100000"/>
                  </a:srgbClr>
                </a:solidFill>
                <a:latin typeface="Georgia" panose="02040502050405020303"/>
                <a:ea typeface="Georgia" panose="02040502050405020303"/>
                <a:cs typeface="Georgia" panose="02040502050405020303"/>
              </a:rPr>
              <a:t>Comparison of different dimension-reduction integration methods and standard method for Example 9.</a:t>
            </a:r>
            <a:endParaRPr sz="800" dirty="0"/>
          </a:p>
        </p:txBody>
      </p:sp>
      <p:graphicFrame>
        <p:nvGraphicFramePr>
          <p:cNvPr id="2416" name="table 2416"/>
          <p:cNvGraphicFramePr>
            <a:graphicFrameLocks noGrp="1"/>
          </p:cNvGraphicFramePr>
          <p:nvPr/>
        </p:nvGraphicFramePr>
        <p:xfrm>
          <a:off x="171450" y="4619625"/>
          <a:ext cx="7486650" cy="1590675"/>
        </p:xfrm>
        <a:graphic>
          <a:graphicData uri="http://schemas.openxmlformats.org/drawingml/2006/table">
            <a:tbl>
              <a:tblPr/>
              <a:tblGrid>
                <a:gridCol w="923925"/>
                <a:gridCol w="561975"/>
                <a:gridCol w="971550"/>
                <a:gridCol w="552450"/>
                <a:gridCol w="514350"/>
                <a:gridCol w="1143000"/>
                <a:gridCol w="866775"/>
                <a:gridCol w="781050"/>
                <a:gridCol w="685800"/>
                <a:gridCol w="485775"/>
              </a:tblGrid>
              <a:tr h="190500">
                <a:tc rowSpan="2">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Method</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μ</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r</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σ</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r</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τ</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r</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k</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r</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rowSpan="2">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N</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smd</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4287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i="1" kern="0" spc="0" dirty="0">
                          <a:solidFill>
                            <a:srgbClr val="000000">
                              <a:alpha val="100000"/>
                            </a:srgbClr>
                          </a:solidFill>
                          <a:latin typeface="Times New Roman" panose="02020603050405020304"/>
                          <a:ea typeface="Times New Roman" panose="02020603050405020304"/>
                          <a:cs typeface="Times New Roman" panose="02020603050405020304"/>
                        </a:rPr>
                        <a:t>σ</a:t>
                      </a:r>
                      <a:r>
                        <a:rPr sz="800" i="1" kern="0" spc="0" baseline="-30000" dirty="0">
                          <a:solidFill>
                            <a:srgbClr val="000000">
                              <a:alpha val="100000"/>
                            </a:srgbClr>
                          </a:solidFill>
                          <a:latin typeface="Times New Roman" panose="02020603050405020304"/>
                          <a:ea typeface="Times New Roman" panose="02020603050405020304"/>
                          <a:cs typeface="Times New Roman" panose="02020603050405020304"/>
                        </a:rPr>
                        <a:t>M</a:t>
                      </a:r>
                      <a:r>
                        <a:rPr sz="800" i="1"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σ</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M</a:t>
                      </a:r>
                      <a:r>
                        <a:rPr sz="8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σ</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M</a:t>
                      </a:r>
                      <a:r>
                        <a:rPr sz="8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σ</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M</a:t>
                      </a:r>
                      <a:r>
                        <a:rPr sz="8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18097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Standard</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0.6763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0.00</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0.2998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0.00</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1.4126</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0.00</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6.5849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0.00</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 × 10</a:t>
                      </a:r>
                      <a:r>
                        <a:rPr sz="800" kern="0" spc="0" baseline="30000" dirty="0">
                          <a:solidFill>
                            <a:srgbClr val="000000">
                              <a:alpha val="100000"/>
                            </a:srgbClr>
                          </a:solidFill>
                          <a:latin typeface="Times New Roman" panose="02020603050405020304"/>
                          <a:ea typeface="Times New Roman" panose="02020603050405020304"/>
                          <a:cs typeface="Times New Roman" panose="02020603050405020304"/>
                        </a:rPr>
                        <a:t>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4287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FC</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0.6744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0.2967</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1.04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1.1538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22.42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3.8490</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71.08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43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4287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MFDC</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0.6743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0.2973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0.84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1.2721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11.04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5.0425</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30.59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84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4287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HUT</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0.6742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0.31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0.2978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0.66</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1.3723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2.94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6.0836</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8.24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51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2382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SGI</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0.6701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0.92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0.2942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1.92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1.4235</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0.77</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5.7340</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14.84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241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2382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UDRM</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0.6728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0.51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0.2794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7.29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0.6619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113.42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3.7694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74.69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36</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33350">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BDRM</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0.6757</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0.08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0.2986</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0.42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1.3602</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3.85</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6.3601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3.53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526</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2382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VDRM</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0.6743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0.2981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0.58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1.3681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3.25</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6.3723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3.34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405</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42875">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RDIM</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0.6743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0.2981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0.58</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1.3681</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3.25</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6.3723</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3.34</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800" kern="0" spc="0" dirty="0">
                          <a:solidFill>
                            <a:srgbClr val="000000">
                              <a:alpha val="100000"/>
                            </a:srgbClr>
                          </a:solidFill>
                          <a:latin typeface="Times New Roman" panose="02020603050405020304"/>
                          <a:ea typeface="Times New Roman" panose="02020603050405020304"/>
                          <a:cs typeface="Times New Roman" panose="02020603050405020304"/>
                        </a:rPr>
                        <a:t>405</a:t>
                      </a:r>
                      <a:endParaRPr sz="8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418" name="textbox 2418"/>
          <p:cNvSpPr/>
          <p:nvPr/>
        </p:nvSpPr>
        <p:spPr>
          <a:xfrm>
            <a:off x="7839075" y="4400550"/>
            <a:ext cx="4124325" cy="523875"/>
          </a:xfrm>
          <a:prstGeom prst="rect">
            <a:avLst/>
          </a:prstGeom>
          <a:noFill/>
          <a:ln w="0" cap="flat">
            <a:noFill/>
            <a:prstDash val="solid"/>
            <a:miter lim="0"/>
          </a:ln>
        </p:spPr>
        <p:txBody>
          <a:bodyPr vert="horz" wrap="none" lIns="0" tIns="0" rIns="0" bIns="0"/>
          <a:lstStyle/>
          <a:p>
            <a:pPr marL="304800" indent="-276225" algn="l" rtl="0" eaLnBrk="0">
              <a:buChar char="•"/>
            </a:pPr>
            <a:r>
              <a:rPr sz="16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FC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法、</a:t>
            </a:r>
            <a:r>
              <a:rPr sz="16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MFDC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法、</a:t>
            </a:r>
            <a:r>
              <a:rPr sz="16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SGI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法及 </a:t>
            </a:r>
            <a:r>
              <a:rPr sz="1600" kern="0" spc="0" dirty="0">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UDRM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法</a:t>
            </a:r>
            <a:endParaRPr sz="1600" dirty="0"/>
          </a:p>
          <a:p>
            <a:pPr marL="285750" algn="l" rtl="0" eaLnBrk="0">
              <a:spcBef>
                <a:spcPts val="450"/>
              </a:spcBef>
            </a:pP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计算的四阶矩远低于标准方法的结果。</a:t>
            </a:r>
            <a:endParaRPr sz="1600" dirty="0"/>
          </a:p>
        </p:txBody>
      </p:sp>
      <p:sp>
        <p:nvSpPr>
          <p:cNvPr id="2420" name="textbox 2420"/>
          <p:cNvSpPr/>
          <p:nvPr/>
        </p:nvSpPr>
        <p:spPr>
          <a:xfrm>
            <a:off x="7848600" y="5048250"/>
            <a:ext cx="4114800" cy="523875"/>
          </a:xfrm>
          <a:prstGeom prst="rect">
            <a:avLst/>
          </a:prstGeom>
          <a:noFill/>
          <a:ln w="0" cap="flat">
            <a:noFill/>
            <a:prstDash val="solid"/>
            <a:miter lim="0"/>
          </a:ln>
        </p:spPr>
        <p:txBody>
          <a:bodyPr vert="horz" wrap="none" lIns="0" tIns="0" rIns="0" bIns="0"/>
          <a:lstStyle/>
          <a:p>
            <a:pPr algn="l" rtl="0" eaLnBrk="0">
              <a:buChar char="•"/>
            </a:pPr>
            <a:r>
              <a:rPr sz="1600" kern="0" spc="0" dirty="0">
                <a:solidFill>
                  <a:srgbClr val="C00000">
                    <a:alpha val="100000"/>
                  </a:srgbClr>
                </a:solidFill>
                <a:latin typeface="Times New Roman" panose="02020603050405020304"/>
                <a:ea typeface="Times New Roman" panose="02020603050405020304"/>
                <a:cs typeface="Times New Roman" panose="02020603050405020304"/>
              </a:rPr>
              <a:t>HUT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法在此案例中对所有矩的计算结果略</a:t>
            </a:r>
            <a:endParaRPr sz="1600" dirty="0"/>
          </a:p>
          <a:p>
            <a:pPr marL="266700" algn="l" rtl="0" eaLnBrk="0">
              <a:spcBef>
                <a:spcPts val="375"/>
              </a:spcBef>
            </a:pP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显准确。</a:t>
            </a:r>
            <a:endParaRPr sz="1600" dirty="0"/>
          </a:p>
        </p:txBody>
      </p:sp>
      <p:sp>
        <p:nvSpPr>
          <p:cNvPr id="2422" name="textbox 2422"/>
          <p:cNvSpPr/>
          <p:nvPr/>
        </p:nvSpPr>
        <p:spPr>
          <a:xfrm>
            <a:off x="7848600" y="5695950"/>
            <a:ext cx="4124325" cy="790575"/>
          </a:xfrm>
          <a:prstGeom prst="rect">
            <a:avLst/>
          </a:prstGeom>
          <a:noFill/>
          <a:ln w="0" cap="flat">
            <a:noFill/>
            <a:prstDash val="solid"/>
            <a:miter lim="0"/>
          </a:ln>
        </p:spPr>
        <p:txBody>
          <a:bodyPr vert="horz" wrap="none" lIns="0" tIns="0" rIns="0" bIns="0"/>
          <a:lstStyle/>
          <a:p>
            <a:pPr marL="295275" indent="-266700" algn="l" rtl="0" eaLnBrk="0">
              <a:buChar char="•"/>
            </a:pPr>
            <a:r>
              <a:rPr sz="1600" kern="0" spc="0" dirty="0">
                <a:solidFill>
                  <a:srgbClr val="C00000">
                    <a:alpha val="100000"/>
                  </a:srgbClr>
                </a:solidFill>
                <a:latin typeface="Times New Roman" panose="02020603050405020304"/>
                <a:ea typeface="Times New Roman" panose="02020603050405020304"/>
                <a:cs typeface="Times New Roman" panose="02020603050405020304"/>
              </a:rPr>
              <a:t>BDRM</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a:t>
            </a:r>
            <a:r>
              <a:rPr sz="1600" kern="0" spc="0" dirty="0">
                <a:solidFill>
                  <a:srgbClr val="C00000">
                    <a:alpha val="100000"/>
                  </a:srgbClr>
                </a:solidFill>
                <a:latin typeface="Times New Roman" panose="02020603050405020304"/>
                <a:ea typeface="Times New Roman" panose="02020603050405020304"/>
                <a:cs typeface="Times New Roman" panose="02020603050405020304"/>
              </a:rPr>
              <a:t>VDRM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和</a:t>
            </a:r>
            <a:r>
              <a:rPr sz="1600" kern="0" spc="0" dirty="0">
                <a:solidFill>
                  <a:srgbClr val="C00000">
                    <a:alpha val="100000"/>
                  </a:srgbClr>
                </a:solidFill>
                <a:latin typeface="Times New Roman" panose="02020603050405020304"/>
                <a:ea typeface="Times New Roman" panose="02020603050405020304"/>
                <a:cs typeface="Times New Roman" panose="02020603050405020304"/>
              </a:rPr>
              <a:t>RDIM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在所有矩的计</a:t>
            </a:r>
            <a:endParaRPr sz="1600" dirty="0"/>
          </a:p>
          <a:p>
            <a:pPr marL="276225" algn="l" rtl="0" eaLnBrk="0">
              <a:spcBef>
                <a:spcPts val="375"/>
              </a:spcBef>
            </a:pP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算中均表现出良好精度，但 </a:t>
            </a:r>
            <a:r>
              <a:rPr sz="1600" kern="0" spc="0" dirty="0">
                <a:solidFill>
                  <a:srgbClr val="C00000">
                    <a:alpha val="100000"/>
                  </a:srgbClr>
                </a:solidFill>
                <a:latin typeface="Times New Roman" panose="02020603050405020304"/>
                <a:ea typeface="Times New Roman" panose="02020603050405020304"/>
                <a:cs typeface="Times New Roman" panose="02020603050405020304"/>
              </a:rPr>
              <a:t>VDRM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和</a:t>
            </a:r>
            <a:endParaRPr sz="1600" dirty="0"/>
          </a:p>
          <a:p>
            <a:pPr marL="276225" algn="l" rtl="0" eaLnBrk="0">
              <a:spcBef>
                <a:spcPts val="375"/>
              </a:spcBef>
            </a:pPr>
            <a:r>
              <a:rPr sz="1600" kern="0" spc="0" dirty="0">
                <a:solidFill>
                  <a:srgbClr val="C00000">
                    <a:alpha val="100000"/>
                  </a:srgbClr>
                </a:solidFill>
                <a:latin typeface="Times New Roman" panose="02020603050405020304"/>
                <a:ea typeface="Times New Roman" panose="02020603050405020304"/>
                <a:cs typeface="Times New Roman" panose="02020603050405020304"/>
              </a:rPr>
              <a:t>RDIM </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的计算效率优于 </a:t>
            </a:r>
            <a:r>
              <a:rPr sz="1600" kern="0" spc="0" dirty="0">
                <a:solidFill>
                  <a:srgbClr val="C00000">
                    <a:alpha val="100000"/>
                  </a:srgbClr>
                </a:solidFill>
                <a:latin typeface="Times New Roman" panose="02020603050405020304"/>
                <a:ea typeface="Times New Roman" panose="02020603050405020304"/>
                <a:cs typeface="Times New Roman" panose="02020603050405020304"/>
              </a:rPr>
              <a:t>BDRM</a:t>
            </a:r>
            <a:r>
              <a:rPr sz="1600"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a:t>
            </a:r>
            <a:endParaRPr sz="1600" dirty="0"/>
          </a:p>
        </p:txBody>
      </p:sp>
      <p:sp>
        <p:nvSpPr>
          <p:cNvPr id="2424" name="textbox 2424"/>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F2F2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F2F2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
        <p:nvSpPr>
          <p:cNvPr id="2426" name="textbox 2426"/>
          <p:cNvSpPr/>
          <p:nvPr/>
        </p:nvSpPr>
        <p:spPr>
          <a:xfrm>
            <a:off x="1177290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FFFFFF">
                    <a:alpha val="100000"/>
                  </a:srgbClr>
                </a:solidFill>
                <a:latin typeface="Arial" panose="020B0604020202020204"/>
                <a:ea typeface="Arial" panose="020B0604020202020204"/>
                <a:cs typeface="Arial" panose="020B0604020202020204"/>
              </a:rPr>
              <a:t>56</a:t>
            </a:r>
            <a:endParaRPr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0" name="picture 2430"/>
          <p:cNvPicPr>
            <a:picLocks noChangeAspect="1"/>
          </p:cNvPicPr>
          <p:nvPr/>
        </p:nvPicPr>
        <p:blipFill>
          <a:blip r:embed="rId1"/>
          <a:stretch>
            <a:fillRect/>
          </a:stretch>
        </p:blipFill>
        <p:spPr>
          <a:xfrm>
            <a:off x="0" y="0"/>
            <a:ext cx="12192000" cy="6858000"/>
          </a:xfrm>
          <a:prstGeom prst="rect">
            <a:avLst/>
          </a:prstGeom>
        </p:spPr>
      </p:pic>
      <p:sp>
        <p:nvSpPr>
          <p:cNvPr id="2432" name="textbox 2432"/>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434" name="textbox 2434"/>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436" name="textbox 2436"/>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356089">
                    <a:alpha val="100000"/>
                  </a:srgbClr>
                </a:solidFill>
                <a:latin typeface="华文楷体" panose="02010600040101010101" charset="-122"/>
                <a:ea typeface="华文楷体" panose="02010600040101010101" charset="-122"/>
                <a:cs typeface="华文楷体" panose="02010600040101010101" charset="-122"/>
              </a:rPr>
              <a:t>第三届复杂装备可靠性工程与科学研讨会暨第十二届模型验证与确认专题研讨会</a:t>
            </a:r>
            <a:endParaRPr sz="1000" dirty="0"/>
          </a:p>
        </p:txBody>
      </p:sp>
      <p:pic>
        <p:nvPicPr>
          <p:cNvPr id="2440" name="picture 2440"/>
          <p:cNvPicPr>
            <a:picLocks noChangeAspect="1"/>
          </p:cNvPicPr>
          <p:nvPr/>
        </p:nvPicPr>
        <p:blipFill>
          <a:blip r:embed="rId2"/>
          <a:stretch>
            <a:fillRect/>
          </a:stretch>
        </p:blipFill>
        <p:spPr>
          <a:xfrm>
            <a:off x="295275" y="247650"/>
            <a:ext cx="733425" cy="666750"/>
          </a:xfrm>
          <a:prstGeom prst="rect">
            <a:avLst/>
          </a:prstGeom>
        </p:spPr>
      </p:pic>
      <p:sp>
        <p:nvSpPr>
          <p:cNvPr id="2442" name="textbox 2442"/>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444" name="textbox 2444"/>
          <p:cNvSpPr/>
          <p:nvPr/>
        </p:nvSpPr>
        <p:spPr>
          <a:xfrm>
            <a:off x="1457325" y="752475"/>
            <a:ext cx="654367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446" name="textbox 2446"/>
          <p:cNvSpPr/>
          <p:nvPr/>
        </p:nvSpPr>
        <p:spPr>
          <a:xfrm>
            <a:off x="1447800" y="1104900"/>
            <a:ext cx="65913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工程应用：涡流振动作用下海洋立管的疲劳可靠度问题</a:t>
            </a:r>
            <a:endParaRPr sz="2000" dirty="0"/>
          </a:p>
        </p:txBody>
      </p:sp>
      <p:sp>
        <p:nvSpPr>
          <p:cNvPr id="2448" name="textbox 2448"/>
          <p:cNvSpPr/>
          <p:nvPr/>
        </p:nvSpPr>
        <p:spPr>
          <a:xfrm>
            <a:off x="857250" y="1152525"/>
            <a:ext cx="247650" cy="257175"/>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Arial" panose="020B0604020202020204"/>
                <a:ea typeface="Arial" panose="020B0604020202020204"/>
                <a:cs typeface="Arial" panose="020B0604020202020204"/>
              </a:rPr>
              <a:t>4</a:t>
            </a:r>
            <a:endParaRPr sz="1800" dirty="0"/>
          </a:p>
        </p:txBody>
      </p:sp>
      <p:sp>
        <p:nvSpPr>
          <p:cNvPr id="2450" name="textbox 2450"/>
          <p:cNvSpPr/>
          <p:nvPr/>
        </p:nvSpPr>
        <p:spPr>
          <a:xfrm>
            <a:off x="1466850" y="1438275"/>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2E75B6">
                    <a:alpha val="100000"/>
                  </a:srgbClr>
                </a:solidFill>
                <a:latin typeface="Times New Roman" panose="02020603050405020304"/>
                <a:ea typeface="Times New Roman" panose="02020603050405020304"/>
                <a:cs typeface="Times New Roman" panose="02020603050405020304"/>
              </a:rPr>
              <a:t>Fatigue Reliability Problem of a Marine Riser Resulting from the Vortex-induced Vibration</a:t>
            </a:r>
            <a:endParaRPr sz="1000" dirty="0"/>
          </a:p>
        </p:txBody>
      </p:sp>
      <p:sp>
        <p:nvSpPr>
          <p:cNvPr id="2452" name="textbox 2452"/>
          <p:cNvSpPr/>
          <p:nvPr/>
        </p:nvSpPr>
        <p:spPr>
          <a:xfrm>
            <a:off x="1466850" y="1733550"/>
            <a:ext cx="7419975" cy="257175"/>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当疲劳损伤指标大于预定值时，视为海洋立管发生疲劳破坏，失效概率为：</a:t>
            </a:r>
            <a:endParaRPr sz="1800" b="1" dirty="0"/>
          </a:p>
        </p:txBody>
      </p:sp>
      <mc:AlternateContent xmlns:mc="http://schemas.openxmlformats.org/markup-compatibility/2006">
        <mc:Choice xmlns:a14="http://schemas.microsoft.com/office/drawing/2010/main" Requires="a14">
          <p:sp>
            <p:nvSpPr>
              <p:cNvPr id="2454" name="textbox 2454"/>
              <p:cNvSpPr/>
              <p:nvPr/>
            </p:nvSpPr>
            <p:spPr>
              <a:xfrm>
                <a:off x="2095500" y="2190750"/>
                <a:ext cx="2562225" cy="4286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2400" dirty="0">
                              <a:latin typeface="Cambria Math" panose="02040503050406030204"/>
                              <a:ea typeface="Cambria Math" panose="02040503050406030204"/>
                            </a:rPr>
                            <m:t>P</m:t>
                          </m:r>
                        </m:e>
                        <m:sub>
                          <m:r>
                            <m:rPr>
                              <m:sty m:val="p"/>
                            </m:rPr>
                            <a:rPr lang="en-US" sz="2400" dirty="0">
                              <a:latin typeface="Cambria Math" panose="02040503050406030204"/>
                              <a:ea typeface="Cambria Math" panose="02040503050406030204"/>
                            </a:rPr>
                            <m:t>f</m:t>
                          </m:r>
                        </m:sub>
                      </m:sSub>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P</m:t>
                      </m:r>
                      <m:r>
                        <m:rPr>
                          <m:sty m:val="p"/>
                        </m:rPr>
                        <a:rPr lang="en-US" sz="2400" dirty="0">
                          <a:latin typeface="Cambria Math" panose="02040503050406030204"/>
                          <a:ea typeface="Cambria Math" panose="02040503050406030204"/>
                        </a:rPr>
                        <m:t>r</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D</m:t>
                      </m:r>
                      <m:r>
                        <a:rPr lang="en-US" sz="2400" dirty="0">
                          <a:latin typeface="Cambria Math" panose="02040503050406030204"/>
                          <a:ea typeface="Cambria Math" panose="02040503050406030204"/>
                        </a:rPr>
                        <m:t>&gt;</m:t>
                      </m:r>
                      <m:r>
                        <a:rPr lang="en-US" sz="2400" dirty="0">
                          <a:latin typeface="Cambria Math" panose="02040503050406030204"/>
                          <a:ea typeface="Cambria Math" panose="02040503050406030204"/>
                        </a:rPr>
                        <m:t>𝜆</m:t>
                      </m:r>
                      <m:sSub>
                        <m:sSubPr>
                          <m:ctrlPr>
                            <a:rPr/>
                          </m:ctrlPr>
                        </m:sSubPr>
                        <m:e>
                          <m:r>
                            <m:rPr>
                              <m:sty m:val="p"/>
                            </m:rPr>
                            <a:rPr lang="en-US" sz="2400" dirty="0">
                              <a:latin typeface="Cambria Math" panose="02040503050406030204"/>
                              <a:ea typeface="Cambria Math" panose="02040503050406030204"/>
                            </a:rPr>
                            <m:t>D</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e</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g</m:t>
                          </m:r>
                          <m:r>
                            <m:rPr>
                              <m:sty m:val="p"/>
                            </m:rPr>
                            <a:rPr lang="en-US" sz="2400" dirty="0">
                              <a:latin typeface="Cambria Math" panose="02040503050406030204"/>
                              <a:ea typeface="Cambria Math" panose="02040503050406030204"/>
                            </a:rPr>
                            <m:t>n</m:t>
                          </m:r>
                        </m:sub>
                      </m:sSub>
                      <m:r>
                        <a:rPr lang="en-US" sz="2400" dirty="0">
                          <a:latin typeface="Cambria Math" panose="02040503050406030204"/>
                          <a:ea typeface="Cambria Math" panose="02040503050406030204"/>
                        </a:rPr>
                        <m:t>}</m:t>
                      </m:r>
                    </m:oMath>
                  </m:oMathPara>
                </a14:m>
                <a:endParaRPr sz="600" dirty="0"/>
              </a:p>
            </p:txBody>
          </p:sp>
        </mc:Choice>
        <mc:Fallback>
          <p:sp>
            <p:nvSpPr>
              <p:cNvPr id="2454" name="textbox 2454"/>
              <p:cNvSpPr>
                <a:spLocks noRot="1" noChangeAspect="1" noMove="1" noResize="1" noEditPoints="1" noAdjustHandles="1" noChangeArrowheads="1" noChangeShapeType="1" noTextEdit="1"/>
              </p:cNvSpPr>
              <p:nvPr/>
            </p:nvSpPr>
            <p:spPr>
              <a:xfrm>
                <a:off x="2095500" y="2190750"/>
                <a:ext cx="2562225" cy="428625"/>
              </a:xfrm>
              <a:prstGeom prst="rect">
                <a:avLst/>
              </a:prstGeom>
              <a:blipFill rotWithShape="1">
                <a:blip r:embed="rId3"/>
                <a:stretch>
                  <a:fillRect r="-9318"/>
                </a:stretch>
              </a:blipFill>
              <a:ln w="0" cap="flat">
                <a:noFill/>
                <a:prstDash val="solid"/>
                <a:miter lim="0"/>
              </a:ln>
            </p:spPr>
            <p:txBody>
              <a:bodyPr/>
              <a:lstStyle/>
              <a:p>
                <a:r>
                  <a:rPr lang="zh-CN" altLang="en-US">
                    <a:noFill/>
                  </a:rPr>
                  <a:t> </a:t>
                </a:r>
              </a:p>
            </p:txBody>
          </p:sp>
        </mc:Fallback>
      </mc:AlternateContent>
      <p:sp>
        <p:nvSpPr>
          <p:cNvPr id="2456" name="textbox 2456"/>
          <p:cNvSpPr/>
          <p:nvPr/>
        </p:nvSpPr>
        <p:spPr>
          <a:xfrm>
            <a:off x="1457325" y="2990850"/>
            <a:ext cx="9877425" cy="68580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采用对数形式的疲劳损伤进行计算，能显著提升改进最大熵法的适用性。基于此，涡流振动作用下</a:t>
            </a:r>
            <a:endParaRPr sz="1800" b="1" dirty="0"/>
          </a:p>
          <a:p>
            <a:pPr algn="l" rtl="0" eaLnBrk="0">
              <a:spcBef>
                <a:spcPts val="1200"/>
              </a:spcBef>
            </a:pPr>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海洋立管的疲劳失效概率为：</a:t>
            </a:r>
            <a:endParaRPr sz="1800" b="1" dirty="0"/>
          </a:p>
        </p:txBody>
      </p:sp>
      <mc:AlternateContent xmlns:mc="http://schemas.openxmlformats.org/markup-compatibility/2006">
        <mc:Choice xmlns:a14="http://schemas.microsoft.com/office/drawing/2010/main" Requires="a14">
          <p:sp>
            <p:nvSpPr>
              <p:cNvPr id="2458" name="textbox 2458"/>
              <p:cNvSpPr/>
              <p:nvPr/>
            </p:nvSpPr>
            <p:spPr>
              <a:xfrm>
                <a:off x="2095500" y="3895725"/>
                <a:ext cx="5800725" cy="4667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sSub>
                        <m:sSubPr>
                          <m:ctrlPr>
                            <a:rPr/>
                          </m:ctrlPr>
                        </m:sSubPr>
                        <m:e>
                          <m:r>
                            <m:rPr>
                              <m:sty m:val="p"/>
                            </m:rPr>
                            <a:rPr lang="en-US" sz="2400" dirty="0">
                              <a:latin typeface="Cambria Math" panose="02040503050406030204"/>
                              <a:ea typeface="Cambria Math" panose="02040503050406030204"/>
                            </a:rPr>
                            <m:t>P</m:t>
                          </m:r>
                        </m:e>
                        <m:sub>
                          <m:r>
                            <m:rPr>
                              <m:sty m:val="p"/>
                            </m:rPr>
                            <a:rPr lang="en-US" sz="2400" dirty="0">
                              <a:latin typeface="Cambria Math" panose="02040503050406030204"/>
                              <a:ea typeface="Cambria Math" panose="02040503050406030204"/>
                            </a:rPr>
                            <m:t>f</m:t>
                          </m:r>
                        </m:sub>
                      </m:sSub>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Pr</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D</m:t>
                      </m:r>
                      <m:r>
                        <a:rPr lang="en-US" sz="2400" dirty="0">
                          <a:latin typeface="Cambria Math" panose="02040503050406030204"/>
                          <a:ea typeface="Cambria Math" panose="02040503050406030204"/>
                        </a:rPr>
                        <m:t>&gt;</m:t>
                      </m:r>
                      <m:r>
                        <a:rPr lang="en-US" sz="2400" dirty="0">
                          <a:latin typeface="Cambria Math" panose="02040503050406030204"/>
                          <a:ea typeface="Cambria Math" panose="02040503050406030204"/>
                        </a:rPr>
                        <m:t>𝜆</m:t>
                      </m:r>
                      <m:sSub>
                        <m:sSubPr>
                          <m:ctrlPr>
                            <a:rPr/>
                          </m:ctrlPr>
                        </m:sSubPr>
                        <m:e>
                          <m:r>
                            <m:rPr>
                              <m:sty m:val="p"/>
                            </m:rPr>
                            <a:rPr lang="en-US" sz="2400" dirty="0">
                              <a:latin typeface="Cambria Math" panose="02040503050406030204"/>
                              <a:ea typeface="Cambria Math" panose="02040503050406030204"/>
                            </a:rPr>
                            <m:t>D</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e</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g</m:t>
                          </m:r>
                          <m:r>
                            <m:rPr>
                              <m:sty m:val="p"/>
                            </m:rPr>
                            <a:rPr lang="en-US" sz="2400" dirty="0">
                              <a:latin typeface="Cambria Math" panose="02040503050406030204"/>
                              <a:ea typeface="Cambria Math" panose="02040503050406030204"/>
                            </a:rPr>
                            <m:t>n</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Pr</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𝑙𝑜𝑔</m:t>
                      </m:r>
                      <m:r>
                        <m:rPr>
                          <m:sty m:val="p"/>
                        </m:rPr>
                        <a:rPr lang="en-US" sz="2400" dirty="0">
                          <a:latin typeface="Cambria Math" panose="02040503050406030204"/>
                          <a:ea typeface="Cambria Math" panose="02040503050406030204"/>
                        </a:rPr>
                        <m:t>D</m:t>
                      </m:r>
                      <m:r>
                        <a:rPr lang="en-US" sz="2400" dirty="0">
                          <a:latin typeface="Cambria Math" panose="02040503050406030204"/>
                          <a:ea typeface="Cambria Math" panose="02040503050406030204"/>
                        </a:rPr>
                        <m:t>&gt;</m:t>
                      </m:r>
                      <m:r>
                        <a:rPr lang="en-US" sz="2400" dirty="0">
                          <a:latin typeface="Cambria Math" panose="02040503050406030204"/>
                          <a:ea typeface="Cambria Math" panose="02040503050406030204"/>
                        </a:rPr>
                        <m:t>𝑙𝑜𝑔</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𝜆</m:t>
                      </m:r>
                      <m:sSub>
                        <m:sSubPr>
                          <m:ctrlPr>
                            <a:rPr/>
                          </m:ctrlPr>
                        </m:sSubPr>
                        <m:e>
                          <m:r>
                            <m:rPr>
                              <m:sty m:val="p"/>
                            </m:rPr>
                            <a:rPr lang="en-US" sz="2400" dirty="0">
                              <a:latin typeface="Cambria Math" panose="02040503050406030204"/>
                              <a:ea typeface="Cambria Math" panose="02040503050406030204"/>
                            </a:rPr>
                            <m:t>D</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e</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g</m:t>
                          </m:r>
                          <m:r>
                            <m:rPr>
                              <m:sty m:val="p"/>
                            </m:rPr>
                            <a:rPr lang="en-US" sz="2400" dirty="0">
                              <a:latin typeface="Cambria Math" panose="02040503050406030204"/>
                              <a:ea typeface="Cambria Math" panose="02040503050406030204"/>
                            </a:rPr>
                            <m:t>n</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oMath>
                  </m:oMathPara>
                </a14:m>
                <a:endParaRPr sz="600" dirty="0"/>
              </a:p>
            </p:txBody>
          </p:sp>
        </mc:Choice>
        <mc:Fallback>
          <p:sp>
            <p:nvSpPr>
              <p:cNvPr id="2458" name="textbox 2458"/>
              <p:cNvSpPr>
                <a:spLocks noRot="1" noChangeAspect="1" noMove="1" noResize="1" noEditPoints="1" noAdjustHandles="1" noChangeArrowheads="1" noChangeShapeType="1" noTextEdit="1"/>
              </p:cNvSpPr>
              <p:nvPr/>
            </p:nvSpPr>
            <p:spPr>
              <a:xfrm>
                <a:off x="2095500" y="3895725"/>
                <a:ext cx="5800725" cy="466725"/>
              </a:xfrm>
              <a:prstGeom prst="rect">
                <a:avLst/>
              </a:prstGeom>
              <a:blipFill rotWithShape="1">
                <a:blip r:embed="rId4"/>
                <a:stretch>
                  <a:fillRect r="-11505"/>
                </a:stretch>
              </a:blipFill>
              <a:ln w="0" cap="flat">
                <a:noFill/>
                <a:prstDash val="solid"/>
                <a:miter lim="0"/>
              </a:ln>
            </p:spPr>
            <p:txBody>
              <a:bodyPr/>
              <a:lstStyle/>
              <a:p>
                <a:r>
                  <a:rPr lang="zh-CN" altLang="en-US">
                    <a:noFill/>
                  </a:rPr>
                  <a:t> </a:t>
                </a:r>
              </a:p>
            </p:txBody>
          </p:sp>
        </mc:Fallback>
      </mc:AlternateContent>
      <p:sp>
        <p:nvSpPr>
          <p:cNvPr id="2460" name="textbox 2460"/>
          <p:cNvSpPr/>
          <p:nvPr/>
        </p:nvSpPr>
        <p:spPr>
          <a:xfrm>
            <a:off x="1466850" y="4762500"/>
            <a:ext cx="2438400" cy="276225"/>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对应的极限状态函数为：</a:t>
            </a:r>
            <a:endParaRPr sz="1800" b="1" dirty="0"/>
          </a:p>
        </p:txBody>
      </p:sp>
      <mc:AlternateContent xmlns:mc="http://schemas.openxmlformats.org/markup-compatibility/2006">
        <mc:Choice xmlns:a14="http://schemas.microsoft.com/office/drawing/2010/main" Requires="a14">
          <p:sp>
            <p:nvSpPr>
              <p:cNvPr id="2462" name="textbox 2462"/>
              <p:cNvSpPr/>
              <p:nvPr/>
            </p:nvSpPr>
            <p:spPr>
              <a:xfrm>
                <a:off x="2095500" y="5181600"/>
                <a:ext cx="7400925" cy="7715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m:rPr>
                          <m:sty m:val="p"/>
                        </m:rPr>
                        <a:rPr lang="en-US" sz="2400" dirty="0">
                          <a:latin typeface="Cambria Math" panose="02040503050406030204"/>
                          <a:ea typeface="Cambria Math" panose="02040503050406030204"/>
                        </a:rPr>
                        <m:t>G</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𝑙𝑜𝑔</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𝜆</m:t>
                      </m:r>
                      <m:sSub>
                        <m:sSubPr>
                          <m:ctrlPr>
                            <a:rPr/>
                          </m:ctrlPr>
                        </m:sSubPr>
                        <m:e>
                          <m:r>
                            <m:rPr>
                              <m:sty m:val="p"/>
                            </m:rPr>
                            <a:rPr lang="en-US" sz="2400" dirty="0">
                              <a:latin typeface="Cambria Math" panose="02040503050406030204"/>
                              <a:ea typeface="Cambria Math" panose="02040503050406030204"/>
                            </a:rPr>
                            <m:t>D</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e</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g</m:t>
                          </m:r>
                          <m:r>
                            <m:rPr>
                              <m:sty m:val="p"/>
                            </m:rPr>
                            <a:rPr lang="en-US" sz="2400" dirty="0">
                              <a:latin typeface="Cambria Math" panose="02040503050406030204"/>
                              <a:ea typeface="Cambria Math" panose="02040503050406030204"/>
                            </a:rPr>
                            <m:t>n</m:t>
                          </m:r>
                        </m:sub>
                      </m:sSub>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𝑙𝑜𝑔</m:t>
                      </m:r>
                      <m:r>
                        <m:rPr>
                          <m:sty m:val="p"/>
                        </m:rPr>
                        <a:rPr lang="en-US" sz="2400" dirty="0">
                          <a:latin typeface="Cambria Math" panose="02040503050406030204"/>
                          <a:ea typeface="Cambria Math" panose="02040503050406030204"/>
                        </a:rPr>
                        <m:t>D</m:t>
                      </m:r>
                      <m:r>
                        <a:rPr lang="en-US" sz="2400" dirty="0">
                          <a:latin typeface="Cambria Math" panose="02040503050406030204"/>
                          <a:ea typeface="Cambria Math" panose="02040503050406030204"/>
                        </a:rPr>
                        <m:t>=</m:t>
                      </m:r>
                      <m:r>
                        <a:rPr lang="en-US" sz="2400" dirty="0">
                          <a:latin typeface="Cambria Math" panose="02040503050406030204"/>
                          <a:ea typeface="Cambria Math" panose="02040503050406030204"/>
                        </a:rPr>
                        <m:t>𝑙𝑜𝑔</m:t>
                      </m:r>
                      <m:d>
                        <m:dPr>
                          <m:ctrlPr>
                            <a:rPr/>
                          </m:ctrlPr>
                        </m:dPr>
                        <m:e>
                          <m:f>
                            <m:fPr>
                              <m:ctrlPr>
                                <a:rPr/>
                              </m:ctrlPr>
                            </m:fPr>
                            <m:num>
                              <m:r>
                                <a:rPr lang="en-US" sz="2400" dirty="0">
                                  <a:latin typeface="Cambria Math" panose="02040503050406030204"/>
                                  <a:ea typeface="Cambria Math" panose="02040503050406030204"/>
                                </a:rPr>
                                <m:t>𝜆</m:t>
                              </m:r>
                              <m:sSub>
                                <m:sSubPr>
                                  <m:ctrlPr>
                                    <a:rPr/>
                                  </m:ctrlPr>
                                </m:sSubPr>
                                <m:e>
                                  <m:r>
                                    <m:rPr>
                                      <m:sty m:val="p"/>
                                    </m:rPr>
                                    <a:rPr lang="en-US" sz="2400" dirty="0">
                                      <a:latin typeface="Cambria Math" panose="02040503050406030204"/>
                                      <a:ea typeface="Cambria Math" panose="02040503050406030204"/>
                                    </a:rPr>
                                    <m:t>D</m:t>
                                  </m:r>
                                </m:e>
                                <m:sub>
                                  <m:r>
                                    <m:rPr>
                                      <m:sty m:val="p"/>
                                    </m:rPr>
                                    <a:rPr lang="en-US" sz="2400" dirty="0">
                                      <a:latin typeface="Cambria Math" panose="02040503050406030204"/>
                                      <a:ea typeface="Cambria Math" panose="02040503050406030204"/>
                                    </a:rPr>
                                    <m:t>d</m:t>
                                  </m:r>
                                  <m:r>
                                    <m:rPr>
                                      <m:sty m:val="p"/>
                                    </m:rPr>
                                    <a:rPr lang="en-US" sz="2400" dirty="0">
                                      <a:latin typeface="Cambria Math" panose="02040503050406030204"/>
                                      <a:ea typeface="Cambria Math" panose="02040503050406030204"/>
                                    </a:rPr>
                                    <m:t>e</m:t>
                                  </m:r>
                                  <m:r>
                                    <m:rPr>
                                      <m:sty m:val="p"/>
                                    </m:rPr>
                                    <a:rPr lang="en-US" sz="2400" dirty="0">
                                      <a:latin typeface="Cambria Math" panose="02040503050406030204"/>
                                      <a:ea typeface="Cambria Math" panose="02040503050406030204"/>
                                    </a:rPr>
                                    <m:t>s</m:t>
                                  </m:r>
                                  <m:r>
                                    <m:rPr>
                                      <m:sty m:val="p"/>
                                    </m:rPr>
                                    <a:rPr lang="en-US" sz="2400" dirty="0">
                                      <a:latin typeface="Cambria Math" panose="02040503050406030204"/>
                                      <a:ea typeface="Cambria Math" panose="02040503050406030204"/>
                                    </a:rPr>
                                    <m:t>i</m:t>
                                  </m:r>
                                  <m:r>
                                    <m:rPr>
                                      <m:sty m:val="p"/>
                                    </m:rPr>
                                    <a:rPr lang="en-US" sz="2400" dirty="0">
                                      <a:latin typeface="Cambria Math" panose="02040503050406030204"/>
                                      <a:ea typeface="Cambria Math" panose="02040503050406030204"/>
                                    </a:rPr>
                                    <m:t>g</m:t>
                                  </m:r>
                                  <m:r>
                                    <m:rPr>
                                      <m:sty m:val="p"/>
                                    </m:rPr>
                                    <a:rPr lang="en-US" sz="2400" dirty="0">
                                      <a:latin typeface="Cambria Math" panose="02040503050406030204"/>
                                      <a:ea typeface="Cambria Math" panose="02040503050406030204"/>
                                    </a:rPr>
                                    <m:t>n</m:t>
                                  </m:r>
                                </m:sub>
                              </m:sSub>
                            </m:num>
                            <m:den>
                              <m:r>
                                <m:rPr>
                                  <m:sty m:val="p"/>
                                </m:rPr>
                                <a:rPr lang="en-US" sz="2400" dirty="0">
                                  <a:latin typeface="Cambria Math" panose="02040503050406030204"/>
                                  <a:ea typeface="Cambria Math" panose="02040503050406030204"/>
                                </a:rPr>
                                <m:t>D</m:t>
                              </m:r>
                            </m:den>
                          </m:f>
                        </m:e>
                      </m:d>
                      <m:r>
                        <a:rPr lang="en-US" sz="2400" dirty="0">
                          <a:latin typeface="Cambria Math" panose="02040503050406030204"/>
                          <a:ea typeface="Cambria Math" panose="02040503050406030204"/>
                        </a:rPr>
                        <m:t>≜</m:t>
                      </m:r>
                      <m:r>
                        <m:rPr>
                          <m:sty m:val="p"/>
                        </m:rPr>
                        <a:rPr lang="en-US" sz="2400" dirty="0">
                          <a:latin typeface="Cambria Math" panose="02040503050406030204"/>
                          <a:ea typeface="Cambria Math" panose="02040503050406030204"/>
                        </a:rPr>
                        <m:t>h</m:t>
                      </m:r>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U</m:t>
                          </m:r>
                        </m:e>
                        <m:sub>
                          <m:r>
                            <a:rPr lang="en-US" sz="2400" dirty="0">
                              <a:latin typeface="Cambria Math" panose="02040503050406030204"/>
                              <a:ea typeface="Cambria Math" panose="02040503050406030204"/>
                            </a:rPr>
                            <m:t>1</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U</m:t>
                          </m:r>
                        </m:e>
                        <m:sub>
                          <m:r>
                            <a:rPr lang="en-US" sz="2400" dirty="0">
                              <a:latin typeface="Cambria Math" panose="02040503050406030204"/>
                              <a:ea typeface="Cambria Math" panose="02040503050406030204"/>
                            </a:rPr>
                            <m:t>2</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U</m:t>
                          </m:r>
                        </m:e>
                        <m:sub>
                          <m:r>
                            <a:rPr lang="en-US" sz="2400" dirty="0">
                              <a:latin typeface="Cambria Math" panose="02040503050406030204"/>
                              <a:ea typeface="Cambria Math" panose="02040503050406030204"/>
                            </a:rPr>
                            <m:t>3</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U</m:t>
                          </m:r>
                        </m:e>
                        <m:sub>
                          <m:r>
                            <a:rPr lang="en-US" sz="2400" dirty="0">
                              <a:latin typeface="Cambria Math" panose="02040503050406030204"/>
                              <a:ea typeface="Cambria Math" panose="02040503050406030204"/>
                            </a:rPr>
                            <m:t>4</m:t>
                          </m:r>
                        </m:sub>
                      </m:sSub>
                      <m:r>
                        <a:rPr lang="en-US" sz="2400" dirty="0">
                          <a:latin typeface="Cambria Math" panose="02040503050406030204"/>
                          <a:ea typeface="Cambria Math" panose="02040503050406030204"/>
                        </a:rPr>
                        <m:t>,</m:t>
                      </m:r>
                      <m:sSub>
                        <m:sSubPr>
                          <m:ctrlPr>
                            <a:rPr/>
                          </m:ctrlPr>
                        </m:sSubPr>
                        <m:e>
                          <m:r>
                            <m:rPr>
                              <m:sty m:val="p"/>
                            </m:rPr>
                            <a:rPr lang="en-US" sz="2400" dirty="0">
                              <a:latin typeface="Cambria Math" panose="02040503050406030204"/>
                              <a:ea typeface="Cambria Math" panose="02040503050406030204"/>
                            </a:rPr>
                            <m:t>U</m:t>
                          </m:r>
                        </m:e>
                        <m:sub>
                          <m:r>
                            <a:rPr lang="en-US" sz="2400" dirty="0">
                              <a:latin typeface="Cambria Math" panose="02040503050406030204"/>
                              <a:ea typeface="Cambria Math" panose="02040503050406030204"/>
                            </a:rPr>
                            <m:t>5</m:t>
                          </m:r>
                        </m:sub>
                      </m:sSub>
                      <m:r>
                        <a:rPr lang="en-US" sz="2400" dirty="0">
                          <a:latin typeface="Cambria Math" panose="02040503050406030204"/>
                          <a:ea typeface="Cambria Math" panose="02040503050406030204"/>
                        </a:rPr>
                        <m:t>)</m:t>
                      </m:r>
                    </m:oMath>
                  </m:oMathPara>
                </a14:m>
                <a:endParaRPr sz="600" dirty="0"/>
              </a:p>
            </p:txBody>
          </p:sp>
        </mc:Choice>
        <mc:Fallback>
          <p:sp>
            <p:nvSpPr>
              <p:cNvPr id="2462" name="textbox 2462"/>
              <p:cNvSpPr>
                <a:spLocks noRot="1" noChangeAspect="1" noMove="1" noResize="1" noEditPoints="1" noAdjustHandles="1" noChangeArrowheads="1" noChangeShapeType="1" noTextEdit="1"/>
              </p:cNvSpPr>
              <p:nvPr/>
            </p:nvSpPr>
            <p:spPr>
              <a:xfrm>
                <a:off x="2095500" y="5181600"/>
                <a:ext cx="7400925" cy="771525"/>
              </a:xfrm>
              <a:prstGeom prst="rect">
                <a:avLst/>
              </a:prstGeom>
              <a:blipFill rotWithShape="1">
                <a:blip r:embed="rId5"/>
                <a:stretch>
                  <a:fillRect r="-17289" b="-5761"/>
                </a:stretch>
              </a:blipFill>
              <a:ln w="0" cap="flat">
                <a:noFill/>
                <a:prstDash val="solid"/>
                <a:miter lim="0"/>
              </a:ln>
            </p:spPr>
            <p:txBody>
              <a:bodyPr/>
              <a:lstStyle/>
              <a:p>
                <a:r>
                  <a:rPr lang="zh-CN" altLang="en-US">
                    <a:noFill/>
                  </a:rPr>
                  <a:t> </a:t>
                </a:r>
              </a:p>
            </p:txBody>
          </p:sp>
        </mc:Fallback>
      </mc:AlternateContent>
      <p:sp>
        <p:nvSpPr>
          <p:cNvPr id="2464" name="textbox 2464"/>
          <p:cNvSpPr/>
          <p:nvPr/>
        </p:nvSpPr>
        <p:spPr>
          <a:xfrm>
            <a:off x="228600" y="6210300"/>
            <a:ext cx="11706225" cy="428625"/>
          </a:xfrm>
          <a:prstGeom prst="rect">
            <a:avLst/>
          </a:prstGeom>
          <a:noFill/>
          <a:ln w="0" cap="flat">
            <a:noFill/>
            <a:prstDash val="solid"/>
            <a:miter lim="0"/>
          </a:ln>
        </p:spPr>
        <p:txBody>
          <a:bodyPr vert="horz" wrap="none" lIns="0" tIns="0" rIns="0" bIns="0"/>
          <a:lstStyle/>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Wang T, Li J*, Lu D G, et al. A point mapping strategy-based sparse grid integration method for statistical moments estimation and structural reliability analysis.</a:t>
            </a:r>
            <a:endParaRPr sz="1400" dirty="0"/>
          </a:p>
          <a:p>
            <a:pPr algn="l" rtl="0" eaLnBrk="0"/>
            <a:r>
              <a:rPr sz="1400" kern="0" spc="0" dirty="0">
                <a:solidFill>
                  <a:srgbClr val="1F497D">
                    <a:alpha val="100000"/>
                  </a:srgbClr>
                </a:solidFill>
                <a:latin typeface="Times New Roman" panose="02020603050405020304"/>
                <a:ea typeface="Times New Roman" panose="02020603050405020304"/>
                <a:cs typeface="Times New Roman" panose="02020603050405020304"/>
              </a:rPr>
              <a:t>Computer Methods in Applied Mechanics and Engineering, 2024, 430: 117238.</a:t>
            </a:r>
            <a:endParaRPr sz="1400" dirty="0"/>
          </a:p>
        </p:txBody>
      </p:sp>
      <p:sp>
        <p:nvSpPr>
          <p:cNvPr id="2466" name="textbox 2466"/>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F2F2F2">
                    <a:alpha val="100000"/>
                  </a:srgbClr>
                </a:solidFill>
                <a:latin typeface="楷体" panose="02010609060101010101" charset="-122"/>
                <a:ea typeface="楷体" panose="02010609060101010101" charset="-122"/>
                <a:cs typeface="楷体" panose="02010609060101010101" charset="-122"/>
              </a:rPr>
              <a:t>哈尔滨工业大学水利工程学院，可靠性与切性工程研究团队 </a:t>
            </a:r>
            <a:r>
              <a:rPr sz="1000" kern="0" spc="0" dirty="0">
                <a:solidFill>
                  <a:srgbClr val="F2F2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468" name="textbox 2468"/>
          <p:cNvSpPr/>
          <p:nvPr/>
        </p:nvSpPr>
        <p:spPr>
          <a:xfrm>
            <a:off x="11763375" y="6734175"/>
            <a:ext cx="161925" cy="104775"/>
          </a:xfrm>
          <a:prstGeom prst="rect">
            <a:avLst/>
          </a:prstGeom>
          <a:noFill/>
          <a:ln w="0" cap="flat">
            <a:noFill/>
            <a:prstDash val="solid"/>
            <a:miter lim="0"/>
          </a:ln>
        </p:spPr>
        <p:txBody>
          <a:bodyPr vert="horz" wrap="none" lIns="0" tIns="0" rIns="0" bIns="0"/>
          <a:lstStyle/>
          <a:p>
            <a:pPr algn="l" rtl="0" eaLnBrk="0"/>
            <a:r>
              <a:rPr sz="900" kern="0" spc="225" dirty="0">
                <a:solidFill>
                  <a:srgbClr val="537FC8">
                    <a:alpha val="100000"/>
                  </a:srgbClr>
                </a:solidFill>
                <a:latin typeface="Arial" panose="020B0604020202020204"/>
                <a:ea typeface="Arial" panose="020B0604020202020204"/>
                <a:cs typeface="Arial" panose="020B0604020202020204"/>
              </a:rPr>
              <a:t>57</a:t>
            </a:r>
            <a:endParaRPr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2" name="picture 2472"/>
          <p:cNvPicPr>
            <a:picLocks noChangeAspect="1"/>
          </p:cNvPicPr>
          <p:nvPr/>
        </p:nvPicPr>
        <p:blipFill>
          <a:blip r:embed="rId1"/>
          <a:stretch>
            <a:fillRect/>
          </a:stretch>
        </p:blipFill>
        <p:spPr>
          <a:xfrm>
            <a:off x="0" y="0"/>
            <a:ext cx="12192000" cy="6858000"/>
          </a:xfrm>
          <a:prstGeom prst="rect">
            <a:avLst/>
          </a:prstGeom>
        </p:spPr>
      </p:pic>
      <p:sp>
        <p:nvSpPr>
          <p:cNvPr id="2474" name="textbox 2474"/>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476" name="textbox 2476"/>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478" name="textbox 247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482" name="picture 2482"/>
          <p:cNvPicPr>
            <a:picLocks noChangeAspect="1"/>
          </p:cNvPicPr>
          <p:nvPr/>
        </p:nvPicPr>
        <p:blipFill>
          <a:blip r:embed="rId2"/>
          <a:stretch>
            <a:fillRect/>
          </a:stretch>
        </p:blipFill>
        <p:spPr>
          <a:xfrm>
            <a:off x="295275" y="247650"/>
            <a:ext cx="733425" cy="666750"/>
          </a:xfrm>
          <a:prstGeom prst="rect">
            <a:avLst/>
          </a:prstGeom>
        </p:spPr>
      </p:pic>
      <p:sp>
        <p:nvSpPr>
          <p:cNvPr id="2484" name="textbox 2484"/>
          <p:cNvSpPr/>
          <p:nvPr/>
        </p:nvSpPr>
        <p:spPr>
          <a:xfrm>
            <a:off x="1457325" y="352425"/>
            <a:ext cx="5981700" cy="3524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486" name="textbox 2486"/>
          <p:cNvSpPr/>
          <p:nvPr/>
        </p:nvSpPr>
        <p:spPr>
          <a:xfrm>
            <a:off x="1457325" y="762000"/>
            <a:ext cx="6543675" cy="19050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488" name="textbox 2488"/>
          <p:cNvSpPr/>
          <p:nvPr/>
        </p:nvSpPr>
        <p:spPr>
          <a:xfrm>
            <a:off x="1457325" y="1114425"/>
            <a:ext cx="658177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D70CC">
                    <a:alpha val="100000"/>
                  </a:srgbClr>
                </a:solidFill>
                <a:latin typeface="微软雅黑" panose="020B0503020204020204" charset="-122"/>
                <a:ea typeface="微软雅黑" panose="020B0503020204020204" charset="-122"/>
                <a:cs typeface="微软雅黑" panose="020B0503020204020204" charset="-122"/>
              </a:rPr>
              <a:t>工程应用：涡流振动作用下海洋立管的疲劳可靠度问题</a:t>
            </a:r>
            <a:endParaRPr sz="2000" dirty="0"/>
          </a:p>
        </p:txBody>
      </p:sp>
      <p:sp>
        <p:nvSpPr>
          <p:cNvPr id="2490" name="textbox 2490"/>
          <p:cNvSpPr/>
          <p:nvPr/>
        </p:nvSpPr>
        <p:spPr>
          <a:xfrm>
            <a:off x="895350" y="1190625"/>
            <a:ext cx="171450" cy="180975"/>
          </a:xfrm>
          <a:prstGeom prst="rect">
            <a:avLst/>
          </a:prstGeom>
          <a:noFill/>
          <a:ln w="0" cap="flat">
            <a:noFill/>
            <a:prstDash val="solid"/>
            <a:miter lim="0"/>
          </a:ln>
        </p:spPr>
        <p:txBody>
          <a:bodyPr vert="horz" wrap="none" lIns="0" tIns="0" rIns="0" bIns="0"/>
          <a:lstStyle/>
          <a:p>
            <a:pPr algn="l" rtl="0" eaLnBrk="0"/>
            <a:r>
              <a:rPr sz="1600" b="1" kern="0" spc="0" dirty="0">
                <a:solidFill>
                  <a:srgbClr val="FFFFFF">
                    <a:alpha val="100000"/>
                  </a:srgbClr>
                </a:solidFill>
                <a:latin typeface="Times New Roman" panose="02020603050405020304"/>
                <a:ea typeface="Times New Roman" panose="02020603050405020304"/>
                <a:cs typeface="Times New Roman" panose="02020603050405020304"/>
              </a:rPr>
              <a:t>4</a:t>
            </a:r>
            <a:endParaRPr sz="1600" dirty="0"/>
          </a:p>
        </p:txBody>
      </p:sp>
      <p:sp>
        <p:nvSpPr>
          <p:cNvPr id="2492" name="textbox 2492"/>
          <p:cNvSpPr/>
          <p:nvPr/>
        </p:nvSpPr>
        <p:spPr>
          <a:xfrm>
            <a:off x="1466850" y="1438275"/>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2E83C9">
                    <a:alpha val="100000"/>
                  </a:srgbClr>
                </a:solidFill>
                <a:latin typeface="Times New Roman" panose="02020603050405020304"/>
                <a:ea typeface="Times New Roman" panose="02020603050405020304"/>
                <a:cs typeface="Times New Roman" panose="02020603050405020304"/>
              </a:rPr>
              <a:t>Fatigue Reliability Problem of a Marine Riser Resulting from the Vortex-induced Vibration</a:t>
            </a:r>
            <a:endParaRPr sz="1000" dirty="0"/>
          </a:p>
        </p:txBody>
      </p:sp>
      <p:pic>
        <p:nvPicPr>
          <p:cNvPr id="2496" name="picture 2496"/>
          <p:cNvPicPr>
            <a:picLocks noChangeAspect="1"/>
          </p:cNvPicPr>
          <p:nvPr/>
        </p:nvPicPr>
        <p:blipFill>
          <a:blip r:embed="rId3"/>
          <a:stretch>
            <a:fillRect/>
          </a:stretch>
        </p:blipFill>
        <p:spPr>
          <a:xfrm>
            <a:off x="190500" y="2066925"/>
            <a:ext cx="3152775" cy="3505200"/>
          </a:xfrm>
          <a:prstGeom prst="rect">
            <a:avLst/>
          </a:prstGeom>
        </p:spPr>
      </p:pic>
      <mc:AlternateContent xmlns:mc="http://schemas.openxmlformats.org/markup-compatibility/2006">
        <mc:Choice xmlns:a14="http://schemas.microsoft.com/office/drawing/2010/main" Requires="a14">
          <p:sp>
            <p:nvSpPr>
              <p:cNvPr id="2498" name="textbox 2498"/>
              <p:cNvSpPr/>
              <p:nvPr/>
            </p:nvSpPr>
            <p:spPr>
              <a:xfrm>
                <a:off x="1876425" y="2171700"/>
                <a:ext cx="371475" cy="3429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r>
                        <a:rPr lang="en-US" sz="1600" dirty="0">
                          <a:latin typeface="Cambria Math" panose="02040503050406030204"/>
                          <a:ea typeface="Cambria Math" panose="02040503050406030204"/>
                        </a:rPr>
                        <m:t>↑</m:t>
                      </m:r>
                      <m:sSub>
                        <m:sSubPr>
                          <m:ctrlPr>
                            <a:rPr/>
                          </m:ctrlPr>
                        </m:sSubPr>
                        <m:e>
                          <m:r>
                            <m:rPr>
                              <m:sty m:val="p"/>
                            </m:rPr>
                            <a:rPr lang="en-US" sz="1600" dirty="0">
                              <a:latin typeface="Cambria Math" panose="02040503050406030204"/>
                              <a:ea typeface="Cambria Math" panose="02040503050406030204"/>
                            </a:rPr>
                            <m:t>T</m:t>
                          </m:r>
                        </m:e>
                        <m:sub>
                          <m:r>
                            <m:rPr>
                              <m:sty m:val="p"/>
                            </m:rPr>
                            <a:rPr lang="en-US" sz="1600" dirty="0">
                              <a:latin typeface="Cambria Math" panose="02040503050406030204"/>
                              <a:ea typeface="Cambria Math" panose="02040503050406030204"/>
                            </a:rPr>
                            <m:t>n</m:t>
                          </m:r>
                        </m:sub>
                      </m:sSub>
                    </m:oMath>
                  </m:oMathPara>
                </a14:m>
                <a:endParaRPr sz="1600" dirty="0"/>
              </a:p>
            </p:txBody>
          </p:sp>
        </mc:Choice>
        <mc:Fallback>
          <p:sp>
            <p:nvSpPr>
              <p:cNvPr id="2498" name="textbox 2498"/>
              <p:cNvSpPr>
                <a:spLocks noRot="1" noChangeAspect="1" noMove="1" noResize="1" noEditPoints="1" noAdjustHandles="1" noChangeArrowheads="1" noChangeShapeType="1" noTextEdit="1"/>
              </p:cNvSpPr>
              <p:nvPr/>
            </p:nvSpPr>
            <p:spPr>
              <a:xfrm>
                <a:off x="1876425" y="2171700"/>
                <a:ext cx="371475" cy="342900"/>
              </a:xfrm>
              <a:prstGeom prst="rect">
                <a:avLst/>
              </a:prstGeom>
              <a:blipFill rotWithShape="1">
                <a:blip r:embed="rId4"/>
                <a:stretch>
                  <a:fillRect r="-12137"/>
                </a:stretch>
              </a:blipFill>
              <a:ln w="0" cap="flat">
                <a:noFill/>
                <a:prstDash val="solid"/>
                <a:miter lim="0"/>
              </a:ln>
            </p:spPr>
            <p:txBody>
              <a:bodyPr/>
              <a:lstStyle/>
              <a:p>
                <a:r>
                  <a:rPr lang="zh-CN" altLang="en-US">
                    <a:noFill/>
                  </a:rPr>
                  <a:t> </a:t>
                </a:r>
              </a:p>
            </p:txBody>
          </p:sp>
        </mc:Fallback>
      </mc:AlternateContent>
      <p:sp>
        <p:nvSpPr>
          <p:cNvPr id="2500" name="textbox 2500"/>
          <p:cNvSpPr/>
          <p:nvPr/>
        </p:nvSpPr>
        <p:spPr>
          <a:xfrm>
            <a:off x="1647825" y="2638425"/>
            <a:ext cx="228600" cy="190500"/>
          </a:xfrm>
          <a:prstGeom prst="rect">
            <a:avLst/>
          </a:prstGeom>
          <a:noFill/>
          <a:ln w="0" cap="flat">
            <a:noFill/>
            <a:prstDash val="solid"/>
            <a:miter lim="0"/>
          </a:ln>
        </p:spPr>
        <p:txBody>
          <a:bodyPr vert="horz" wrap="none" lIns="0" tIns="0" rIns="0" bIns="0"/>
          <a:lstStyle/>
          <a:p>
            <a:pPr algn="l" rtl="0" eaLnBrk="0"/>
            <a:r>
              <a:rPr sz="1800" i="1" kern="0" spc="0" dirty="0">
                <a:solidFill>
                  <a:srgbClr val="000000">
                    <a:alpha val="100000"/>
                  </a:srgbClr>
                </a:solidFill>
                <a:latin typeface="Times New Roman" panose="02020603050405020304"/>
                <a:ea typeface="Times New Roman" panose="02020603050405020304"/>
                <a:cs typeface="Times New Roman" panose="02020603050405020304"/>
              </a:rPr>
              <a:t>m</a:t>
            </a:r>
            <a:endParaRPr sz="1800" dirty="0"/>
          </a:p>
        </p:txBody>
      </p:sp>
      <p:sp>
        <p:nvSpPr>
          <p:cNvPr id="2502" name="textbox 2502"/>
          <p:cNvSpPr/>
          <p:nvPr/>
        </p:nvSpPr>
        <p:spPr>
          <a:xfrm>
            <a:off x="1924050" y="2981325"/>
            <a:ext cx="266700" cy="238125"/>
          </a:xfrm>
          <a:prstGeom prst="rect">
            <a:avLst/>
          </a:prstGeom>
          <a:noFill/>
          <a:ln w="0" cap="flat">
            <a:noFill/>
            <a:prstDash val="solid"/>
            <a:miter lim="0"/>
          </a:ln>
        </p:spPr>
        <p:txBody>
          <a:bodyPr vert="horz" wrap="none" lIns="0" tIns="0" rIns="0" bIns="0"/>
          <a:lstStyle/>
          <a:p>
            <a:pPr algn="l" rtl="0" eaLnBrk="0"/>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'EI'</a:t>
            </a:r>
            <a:endParaRPr sz="1800" dirty="0"/>
          </a:p>
        </p:txBody>
      </p:sp>
      <p:sp>
        <p:nvSpPr>
          <p:cNvPr id="2504" name="textbox 2504"/>
          <p:cNvSpPr/>
          <p:nvPr/>
        </p:nvSpPr>
        <p:spPr>
          <a:xfrm rot="1593838">
            <a:off x="2105025" y="4019550"/>
            <a:ext cx="723900" cy="514350"/>
          </a:xfrm>
          <a:prstGeom prst="rect">
            <a:avLst/>
          </a:prstGeom>
          <a:noFill/>
          <a:ln w="0" cap="flat">
            <a:noFill/>
            <a:prstDash val="solid"/>
            <a:miter lim="0"/>
          </a:ln>
        </p:spPr>
        <p:txBody>
          <a:bodyPr vert="horz" wrap="none" lIns="0" tIns="0" rIns="0" bIns="0"/>
          <a:lstStyle/>
          <a:p>
            <a:pPr algn="l" rtl="0" eaLnBrk="0"/>
            <a:r>
              <a:rPr sz="1800" kern="0" spc="0" dirty="0">
                <a:solidFill>
                  <a:srgbClr val="000000">
                    <a:alpha val="100000"/>
                  </a:srgbClr>
                </a:solidFill>
                <a:latin typeface="Calibri" panose="020F0502020204030204"/>
                <a:ea typeface="Calibri" panose="020F0502020204030204"/>
                <a:cs typeface="Calibri" panose="020F0502020204030204"/>
              </a:rPr>
              <a:t>222</a:t>
            </a:r>
            <a:endParaRPr sz="1800" dirty="0"/>
          </a:p>
        </p:txBody>
      </p:sp>
      <p:sp>
        <p:nvSpPr>
          <p:cNvPr id="2506" name="textbox 2506"/>
          <p:cNvSpPr/>
          <p:nvPr/>
        </p:nvSpPr>
        <p:spPr>
          <a:xfrm rot="1883668">
            <a:off x="1838325" y="4257675"/>
            <a:ext cx="800100" cy="628650"/>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Arial" panose="020B0604020202020204"/>
                <a:ea typeface="Arial" panose="020B0604020202020204"/>
                <a:cs typeface="Arial" panose="020B0604020202020204"/>
              </a:rPr>
              <a:t>أ.أ.أ.</a:t>
            </a:r>
            <a:endParaRPr sz="1800" dirty="0"/>
          </a:p>
        </p:txBody>
      </p:sp>
      <p:sp>
        <p:nvSpPr>
          <p:cNvPr id="2508" name="textbox 2508"/>
          <p:cNvSpPr/>
          <p:nvPr/>
        </p:nvSpPr>
        <p:spPr>
          <a:xfrm>
            <a:off x="161925" y="4991100"/>
            <a:ext cx="1133475" cy="238125"/>
          </a:xfrm>
          <a:prstGeom prst="rect">
            <a:avLst/>
          </a:prstGeom>
          <a:noFill/>
          <a:ln w="0" cap="flat">
            <a:noFill/>
            <a:prstDash val="solid"/>
            <a:miter lim="0"/>
          </a:ln>
        </p:spPr>
        <p:txBody>
          <a:bodyPr vert="horz" wrap="none" lIns="0" tIns="0" rIns="0" bIns="0"/>
          <a:lstStyle/>
          <a:p>
            <a:pPr algn="l" rtl="0" eaLnBrk="0"/>
            <a:r>
              <a:rPr sz="1500" kern="0" spc="0" dirty="0">
                <a:solidFill>
                  <a:srgbClr val="000000">
                    <a:alpha val="100000"/>
                  </a:srgbClr>
                </a:solidFill>
                <a:latin typeface="Times New Roman" panose="02020603050405020304"/>
                <a:ea typeface="Times New Roman" panose="02020603050405020304"/>
                <a:cs typeface="Times New Roman" panose="02020603050405020304"/>
              </a:rPr>
              <a:t>Uniform flow</a:t>
            </a:r>
            <a:endParaRPr sz="1500" dirty="0"/>
          </a:p>
        </p:txBody>
      </p:sp>
      <p:pic>
        <p:nvPicPr>
          <p:cNvPr id="2512" name="picture 2512"/>
          <p:cNvPicPr>
            <a:picLocks noChangeAspect="1"/>
          </p:cNvPicPr>
          <p:nvPr/>
        </p:nvPicPr>
        <p:blipFill>
          <a:blip r:embed="rId5"/>
          <a:stretch>
            <a:fillRect/>
          </a:stretch>
        </p:blipFill>
        <p:spPr>
          <a:xfrm>
            <a:off x="3467100" y="2085975"/>
            <a:ext cx="2066925" cy="1457325"/>
          </a:xfrm>
          <a:prstGeom prst="rect">
            <a:avLst/>
          </a:prstGeom>
        </p:spPr>
      </p:pic>
      <p:pic>
        <p:nvPicPr>
          <p:cNvPr id="2516" name="picture 2516"/>
          <p:cNvPicPr>
            <a:picLocks noChangeAspect="1"/>
          </p:cNvPicPr>
          <p:nvPr/>
        </p:nvPicPr>
        <p:blipFill>
          <a:blip r:embed="rId6"/>
          <a:stretch>
            <a:fillRect/>
          </a:stretch>
        </p:blipFill>
        <p:spPr>
          <a:xfrm>
            <a:off x="3467100" y="3867150"/>
            <a:ext cx="2066925" cy="1457325"/>
          </a:xfrm>
          <a:prstGeom prst="rect">
            <a:avLst/>
          </a:prstGeom>
        </p:spPr>
      </p:pic>
      <p:sp>
        <p:nvSpPr>
          <p:cNvPr id="2518" name="textbox 2518"/>
          <p:cNvSpPr/>
          <p:nvPr/>
        </p:nvSpPr>
        <p:spPr>
          <a:xfrm>
            <a:off x="3829050" y="3581400"/>
            <a:ext cx="1524000" cy="190500"/>
          </a:xfrm>
          <a:prstGeom prst="rect">
            <a:avLst/>
          </a:prstGeom>
          <a:noFill/>
          <a:ln w="0" cap="flat">
            <a:noFill/>
            <a:prstDash val="solid"/>
            <a:miter lim="0"/>
          </a:ln>
        </p:spPr>
        <p:txBody>
          <a:bodyPr vert="horz" wrap="none" lIns="0" tIns="0" rIns="0" bIns="0"/>
          <a:lstStyle/>
          <a:p>
            <a:pPr algn="l" rtl="0" eaLnBrk="0"/>
            <a:r>
              <a:rPr sz="1300" kern="0" spc="0" dirty="0">
                <a:solidFill>
                  <a:srgbClr val="000000">
                    <a:alpha val="100000"/>
                  </a:srgbClr>
                </a:solidFill>
                <a:latin typeface="Times New Roman" panose="02020603050405020304"/>
                <a:ea typeface="Times New Roman" panose="02020603050405020304"/>
                <a:cs typeface="Times New Roman" panose="02020603050405020304"/>
              </a:rPr>
              <a:t>Displacement envelope</a:t>
            </a:r>
            <a:endParaRPr sz="1300" dirty="0"/>
          </a:p>
        </p:txBody>
      </p:sp>
      <p:sp>
        <p:nvSpPr>
          <p:cNvPr id="2520" name="textbox 2520"/>
          <p:cNvSpPr/>
          <p:nvPr/>
        </p:nvSpPr>
        <p:spPr>
          <a:xfrm>
            <a:off x="4400550" y="5362575"/>
            <a:ext cx="381000" cy="152400"/>
          </a:xfrm>
          <a:prstGeom prst="rect">
            <a:avLst/>
          </a:prstGeom>
          <a:noFill/>
          <a:ln w="0" cap="flat">
            <a:noFill/>
            <a:prstDash val="solid"/>
            <a:miter lim="0"/>
          </a:ln>
        </p:spPr>
        <p:txBody>
          <a:bodyPr vert="horz" wrap="none" lIns="0" tIns="0" rIns="0" bIns="0"/>
          <a:lstStyle/>
          <a:p>
            <a:pPr algn="l" rtl="0" eaLnBrk="0"/>
            <a:r>
              <a:rPr sz="1200" kern="0" spc="0" dirty="0">
                <a:solidFill>
                  <a:srgbClr val="000000">
                    <a:alpha val="100000"/>
                  </a:srgbClr>
                </a:solidFill>
                <a:latin typeface="Times New Roman" panose="02020603050405020304"/>
                <a:ea typeface="Times New Roman" panose="02020603050405020304"/>
                <a:cs typeface="Times New Roman" panose="02020603050405020304"/>
              </a:rPr>
              <a:t>Time</a:t>
            </a:r>
            <a:endParaRPr sz="1200" dirty="0"/>
          </a:p>
        </p:txBody>
      </p:sp>
      <p:pic>
        <p:nvPicPr>
          <p:cNvPr id="2524" name="picture 2524"/>
          <p:cNvPicPr>
            <a:picLocks noChangeAspect="1"/>
          </p:cNvPicPr>
          <p:nvPr/>
        </p:nvPicPr>
        <p:blipFill>
          <a:blip r:embed="rId7"/>
          <a:stretch>
            <a:fillRect/>
          </a:stretch>
        </p:blipFill>
        <p:spPr>
          <a:xfrm>
            <a:off x="6038850" y="2114550"/>
            <a:ext cx="2143125" cy="2743200"/>
          </a:xfrm>
          <a:prstGeom prst="rect">
            <a:avLst/>
          </a:prstGeom>
        </p:spPr>
      </p:pic>
      <p:sp>
        <p:nvSpPr>
          <p:cNvPr id="2526" name="textbox 2526"/>
          <p:cNvSpPr/>
          <p:nvPr/>
        </p:nvSpPr>
        <p:spPr>
          <a:xfrm>
            <a:off x="7105650" y="4933950"/>
            <a:ext cx="247650" cy="209550"/>
          </a:xfrm>
          <a:prstGeom prst="rect">
            <a:avLst/>
          </a:prstGeom>
          <a:noFill/>
          <a:ln w="0" cap="flat">
            <a:noFill/>
            <a:prstDash val="solid"/>
            <a:miter lim="0"/>
          </a:ln>
        </p:spPr>
        <p:txBody>
          <a:bodyPr vert="horz" wrap="none" lIns="0" tIns="0" rIns="0" bIns="0"/>
          <a:lstStyle/>
          <a:p>
            <a:pPr marL="228600" indent="-209550" algn="l" rtl="0" eaLnBrk="0">
              <a:buAutoNum type="alphaLcParenBoth"/>
            </a:pPr>
            <a:endParaRPr sz="600" dirty="0"/>
          </a:p>
        </p:txBody>
      </p:sp>
      <p:pic>
        <p:nvPicPr>
          <p:cNvPr id="2530" name="picture 2530"/>
          <p:cNvPicPr>
            <a:picLocks noChangeAspect="1"/>
          </p:cNvPicPr>
          <p:nvPr/>
        </p:nvPicPr>
        <p:blipFill>
          <a:blip r:embed="rId8"/>
          <a:stretch>
            <a:fillRect/>
          </a:stretch>
        </p:blipFill>
        <p:spPr>
          <a:xfrm>
            <a:off x="8410575" y="2085975"/>
            <a:ext cx="3724275" cy="2771775"/>
          </a:xfrm>
          <a:prstGeom prst="rect">
            <a:avLst/>
          </a:prstGeom>
        </p:spPr>
      </p:pic>
      <p:sp>
        <p:nvSpPr>
          <p:cNvPr id="2532" name="textbox 2532"/>
          <p:cNvSpPr/>
          <p:nvPr/>
        </p:nvSpPr>
        <p:spPr>
          <a:xfrm>
            <a:off x="10229850" y="4933950"/>
            <a:ext cx="257175" cy="209550"/>
          </a:xfrm>
          <a:prstGeom prst="rect">
            <a:avLst/>
          </a:prstGeom>
          <a:noFill/>
          <a:ln w="0" cap="flat">
            <a:noFill/>
            <a:prstDash val="solid"/>
            <a:miter lim="0"/>
          </a:ln>
        </p:spPr>
        <p:txBody>
          <a:bodyPr vert="horz" wrap="none" lIns="0" tIns="0" rIns="0" bIns="0"/>
          <a:lstStyle/>
          <a:p>
            <a:pPr marL="238125" indent="-219075" algn="l" rtl="0" eaLnBrk="0">
              <a:buAutoNum type="alphaLcParenBoth" startAt="2"/>
            </a:pPr>
            <a:endParaRPr sz="600" dirty="0"/>
          </a:p>
        </p:txBody>
      </p:sp>
      <p:sp>
        <p:nvSpPr>
          <p:cNvPr id="2534" name="textbox 2534"/>
          <p:cNvSpPr/>
          <p:nvPr/>
        </p:nvSpPr>
        <p:spPr>
          <a:xfrm>
            <a:off x="6362700" y="5238750"/>
            <a:ext cx="5619750" cy="23812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应力响应示意图：</a:t>
            </a:r>
            <a:r>
              <a:rPr sz="1400" kern="0" spc="0" dirty="0">
                <a:solidFill>
                  <a:srgbClr val="000000">
                    <a:alpha val="100000"/>
                  </a:srgbClr>
                </a:solidFill>
                <a:latin typeface="Arial" panose="020B0604020202020204"/>
                <a:ea typeface="Arial" panose="020B0604020202020204"/>
                <a:cs typeface="Arial" panose="020B0604020202020204"/>
              </a:rPr>
              <a:t>(a) </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应力均方根（</a:t>
            </a:r>
            <a:r>
              <a:rPr sz="1400" kern="0" spc="0" dirty="0">
                <a:solidFill>
                  <a:srgbClr val="000000">
                    <a:alpha val="100000"/>
                  </a:srgbClr>
                </a:solidFill>
                <a:latin typeface="Arial" panose="020B0604020202020204"/>
                <a:ea typeface="Arial" panose="020B0604020202020204"/>
                <a:cs typeface="Arial" panose="020B0604020202020204"/>
              </a:rPr>
              <a:t>RMS</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）分布；</a:t>
            </a:r>
            <a:r>
              <a:rPr sz="1400" kern="0" spc="0" dirty="0">
                <a:solidFill>
                  <a:srgbClr val="000000">
                    <a:alpha val="100000"/>
                  </a:srgbClr>
                </a:solidFill>
                <a:latin typeface="Arial" panose="020B0604020202020204"/>
                <a:ea typeface="Arial" panose="020B0604020202020204"/>
                <a:cs typeface="Arial" panose="020B0604020202020204"/>
              </a:rPr>
              <a:t>(b) </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中间跨段应力时程</a:t>
            </a:r>
            <a:endParaRPr sz="1400" dirty="0"/>
          </a:p>
        </p:txBody>
      </p:sp>
      <p:sp>
        <p:nvSpPr>
          <p:cNvPr id="2536" name="textbox 2536"/>
          <p:cNvSpPr/>
          <p:nvPr/>
        </p:nvSpPr>
        <p:spPr>
          <a:xfrm>
            <a:off x="1638300" y="5734050"/>
            <a:ext cx="2705100" cy="209550"/>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均匀流下海洋立管涡致振动示意图</a:t>
            </a:r>
            <a:endParaRPr sz="1400" dirty="0"/>
          </a:p>
        </p:txBody>
      </p:sp>
      <p:sp>
        <p:nvSpPr>
          <p:cNvPr id="2538" name="textbox 2538"/>
          <p:cNvSpPr/>
          <p:nvPr/>
        </p:nvSpPr>
        <p:spPr>
          <a:xfrm>
            <a:off x="247650" y="6229350"/>
            <a:ext cx="11687175" cy="419100"/>
          </a:xfrm>
          <a:prstGeom prst="rect">
            <a:avLst/>
          </a:prstGeom>
          <a:noFill/>
          <a:ln w="0" cap="flat">
            <a:noFill/>
            <a:prstDash val="solid"/>
            <a:miter lim="0"/>
          </a:ln>
        </p:spPr>
        <p:txBody>
          <a:bodyPr vert="horz" wrap="none" lIns="0" tIns="0" rIns="0" bIns="0"/>
          <a:lstStyle/>
          <a:p>
            <a:pPr algn="l" rtl="0" eaLnBrk="0"/>
            <a:r>
              <a:rPr sz="1400" kern="0" spc="0" dirty="0">
                <a:solidFill>
                  <a:srgbClr val="1E497E">
                    <a:alpha val="100000"/>
                  </a:srgbClr>
                </a:solidFill>
                <a:latin typeface="Times New Roman" panose="02020603050405020304"/>
                <a:ea typeface="Times New Roman" panose="02020603050405020304"/>
                <a:cs typeface="Times New Roman" panose="02020603050405020304"/>
              </a:rPr>
              <a:t>Wang T, Li J*, Lu D G, et al. A point mapping strategy-based sparse grid integration method for statistical moments estimation and structural reliability analysis.</a:t>
            </a:r>
            <a:endParaRPr sz="1400" dirty="0"/>
          </a:p>
          <a:p>
            <a:pPr algn="l" rtl="0" eaLnBrk="0"/>
            <a:r>
              <a:rPr sz="1400" kern="0" spc="0" dirty="0">
                <a:solidFill>
                  <a:srgbClr val="1E497E">
                    <a:alpha val="100000"/>
                  </a:srgbClr>
                </a:solidFill>
                <a:latin typeface="Times New Roman" panose="02020603050405020304"/>
                <a:ea typeface="Times New Roman" panose="02020603050405020304"/>
                <a:cs typeface="Times New Roman" panose="02020603050405020304"/>
              </a:rPr>
              <a:t>Computer Methods in Applied Mechanics and Engineering, 2024, 430: 117238.</a:t>
            </a:r>
            <a:endParaRPr sz="1400" dirty="0"/>
          </a:p>
        </p:txBody>
      </p:sp>
      <p:sp>
        <p:nvSpPr>
          <p:cNvPr id="2540" name="textbox 2540"/>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000" dirty="0"/>
          </a:p>
        </p:txBody>
      </p:sp>
      <p:sp>
        <p:nvSpPr>
          <p:cNvPr id="2542" name="textbox 2542"/>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FFFFFF">
                    <a:alpha val="100000"/>
                  </a:srgbClr>
                </a:solidFill>
                <a:latin typeface="Arial" panose="020B0604020202020204"/>
                <a:ea typeface="Arial" panose="020B0604020202020204"/>
                <a:cs typeface="Arial" panose="020B0604020202020204"/>
              </a:rPr>
              <a:t>58</a:t>
            </a:r>
            <a:endParaRPr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6" name="picture 2546"/>
          <p:cNvPicPr>
            <a:picLocks noChangeAspect="1"/>
          </p:cNvPicPr>
          <p:nvPr/>
        </p:nvPicPr>
        <p:blipFill>
          <a:blip r:embed="rId1"/>
          <a:stretch>
            <a:fillRect/>
          </a:stretch>
        </p:blipFill>
        <p:spPr>
          <a:xfrm>
            <a:off x="0" y="0"/>
            <a:ext cx="12192000" cy="6858000"/>
          </a:xfrm>
          <a:prstGeom prst="rect">
            <a:avLst/>
          </a:prstGeom>
        </p:spPr>
      </p:pic>
      <p:sp>
        <p:nvSpPr>
          <p:cNvPr id="2548" name="textbox 2548"/>
          <p:cNvSpPr/>
          <p:nvPr/>
        </p:nvSpPr>
        <p:spPr>
          <a:xfrm>
            <a:off x="161925" y="0"/>
            <a:ext cx="828675" cy="161925"/>
          </a:xfrm>
          <a:prstGeom prst="rect">
            <a:avLst/>
          </a:prstGeom>
          <a:noFill/>
          <a:ln w="0" cap="flat">
            <a:noFill/>
            <a:prstDash val="solid"/>
            <a:miter lim="0"/>
          </a:ln>
        </p:spPr>
        <p:txBody>
          <a:bodyPr vert="horz" wrap="none" lIns="0" tIns="0" rIns="0" bIns="0"/>
          <a:lstStyle/>
          <a:p>
            <a:pPr algn="l" rtl="0" eaLnBrk="0"/>
            <a:r>
              <a:rPr sz="11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550" name="textbox 2550"/>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552" name="textbox 255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556" name="picture 2556"/>
          <p:cNvPicPr>
            <a:picLocks noChangeAspect="1"/>
          </p:cNvPicPr>
          <p:nvPr/>
        </p:nvPicPr>
        <p:blipFill>
          <a:blip r:embed="rId2"/>
          <a:stretch>
            <a:fillRect/>
          </a:stretch>
        </p:blipFill>
        <p:spPr>
          <a:xfrm>
            <a:off x="295275" y="247650"/>
            <a:ext cx="733425" cy="666750"/>
          </a:xfrm>
          <a:prstGeom prst="rect">
            <a:avLst/>
          </a:prstGeom>
        </p:spPr>
      </p:pic>
      <p:sp>
        <p:nvSpPr>
          <p:cNvPr id="2558" name="textbox 2558"/>
          <p:cNvSpPr/>
          <p:nvPr/>
        </p:nvSpPr>
        <p:spPr>
          <a:xfrm>
            <a:off x="1447800" y="333375"/>
            <a:ext cx="6000750" cy="381000"/>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560" name="textbox 2560"/>
          <p:cNvSpPr/>
          <p:nvPr/>
        </p:nvSpPr>
        <p:spPr>
          <a:xfrm>
            <a:off x="1457325" y="752475"/>
            <a:ext cx="654367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562" name="textbox 2562"/>
          <p:cNvSpPr/>
          <p:nvPr/>
        </p:nvSpPr>
        <p:spPr>
          <a:xfrm>
            <a:off x="1428750" y="1114425"/>
            <a:ext cx="661035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工程应用：涡流振动作用下海洋立管的疲劳可靠度问题</a:t>
            </a:r>
            <a:endParaRPr sz="2000" dirty="0"/>
          </a:p>
        </p:txBody>
      </p:sp>
      <p:sp>
        <p:nvSpPr>
          <p:cNvPr id="2564" name="textbox 2564"/>
          <p:cNvSpPr/>
          <p:nvPr/>
        </p:nvSpPr>
        <p:spPr>
          <a:xfrm>
            <a:off x="876300" y="1171575"/>
            <a:ext cx="209550" cy="238125"/>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Calibri" panose="020F0502020204030204"/>
                <a:ea typeface="Calibri" panose="020F0502020204030204"/>
                <a:cs typeface="Calibri" panose="020F0502020204030204"/>
              </a:rPr>
              <a:t>4</a:t>
            </a:r>
            <a:endParaRPr sz="1800" dirty="0"/>
          </a:p>
        </p:txBody>
      </p:sp>
      <p:sp>
        <p:nvSpPr>
          <p:cNvPr id="2566" name="textbox 2566"/>
          <p:cNvSpPr/>
          <p:nvPr/>
        </p:nvSpPr>
        <p:spPr>
          <a:xfrm>
            <a:off x="1466850" y="1438275"/>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2E75B6">
                    <a:alpha val="100000"/>
                  </a:srgbClr>
                </a:solidFill>
                <a:latin typeface="Times New Roman" panose="02020603050405020304"/>
                <a:ea typeface="Times New Roman" panose="02020603050405020304"/>
                <a:cs typeface="Times New Roman" panose="02020603050405020304"/>
              </a:rPr>
              <a:t>Fatigue Reliability Problem of a Marine Riser Resulting from the Vortex-induced Vibration</a:t>
            </a:r>
            <a:endParaRPr sz="1000" dirty="0"/>
          </a:p>
        </p:txBody>
      </p:sp>
      <p:sp>
        <p:nvSpPr>
          <p:cNvPr id="2568" name="textbox 2568"/>
          <p:cNvSpPr/>
          <p:nvPr/>
        </p:nvSpPr>
        <p:spPr>
          <a:xfrm>
            <a:off x="1457325" y="1771650"/>
            <a:ext cx="3543300" cy="257175"/>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基本变量的概率模型及统计参数为：</a:t>
            </a:r>
            <a:endParaRPr sz="1800" b="1" dirty="0"/>
          </a:p>
        </p:txBody>
      </p:sp>
      <p:graphicFrame>
        <p:nvGraphicFramePr>
          <p:cNvPr id="2570" name="table 2570"/>
          <p:cNvGraphicFramePr>
            <a:graphicFrameLocks noGrp="1"/>
          </p:cNvGraphicFramePr>
          <p:nvPr/>
        </p:nvGraphicFramePr>
        <p:xfrm>
          <a:off x="123825" y="2085975"/>
          <a:ext cx="11906250" cy="1590675"/>
        </p:xfrm>
        <a:graphic>
          <a:graphicData uri="http://schemas.openxmlformats.org/drawingml/2006/table">
            <a:tbl>
              <a:tblPr/>
              <a:tblGrid>
                <a:gridCol w="2419350"/>
                <a:gridCol w="3533775"/>
                <a:gridCol w="2505075"/>
                <a:gridCol w="2847975"/>
                <a:gridCol w="600075"/>
              </a:tblGrid>
              <a:tr h="342900">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Variables</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Description</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Distribution</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Mean</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COV</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r>
              <a:tr h="276225">
                <a:tc>
                  <a:txBody>
                    <a:bodyPr/>
                    <a:lstStyle/>
                    <a:p>
                      <a:pPr algn="l" rtl="0" eaLnBrk="0"/>
                      <a:r>
                        <a:rPr sz="1200" b="1" i="1" kern="0" spc="0" dirty="0">
                          <a:solidFill>
                            <a:srgbClr val="000000">
                              <a:alpha val="100000"/>
                            </a:srgbClr>
                          </a:solidFill>
                          <a:latin typeface="Georgia" panose="02040502050405020303"/>
                          <a:ea typeface="Georgia" panose="02040502050405020303"/>
                          <a:cs typeface="Georgia" panose="02040502050405020303"/>
                        </a:rPr>
                        <a:t>EI</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Bending stiffness</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Normal</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3.570×10</a:t>
                      </a:r>
                      <a:r>
                        <a:rPr sz="1400" b="1" kern="0" spc="0" baseline="30000" dirty="0">
                          <a:solidFill>
                            <a:srgbClr val="000000">
                              <a:alpha val="100000"/>
                            </a:srgbClr>
                          </a:solidFill>
                          <a:latin typeface="华文楷体" panose="02010600040101010101" charset="-122"/>
                          <a:ea typeface="华文楷体" panose="02010600040101010101" charset="-122"/>
                          <a:cs typeface="华文楷体" panose="02010600040101010101" charset="-122"/>
                        </a:rPr>
                        <a:t>7</a:t>
                      </a:r>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N·m</a:t>
                      </a:r>
                      <a:r>
                        <a:rPr sz="1400" b="1" kern="0" spc="0" baseline="30000" dirty="0">
                          <a:solidFill>
                            <a:srgbClr val="000000">
                              <a:alpha val="100000"/>
                            </a:srgbClr>
                          </a:solidFill>
                          <a:latin typeface="华文楷体" panose="02010600040101010101" charset="-122"/>
                          <a:ea typeface="华文楷体" panose="02010600040101010101" charset="-122"/>
                          <a:cs typeface="华文楷体" panose="02010600040101010101" charset="-122"/>
                        </a:rPr>
                        <a:t>2</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0.05</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r>
              <a:tr h="238125">
                <a:tc>
                  <a:txBody>
                    <a:bodyPr/>
                    <a:lstStyle/>
                    <a:p>
                      <a:pPr algn="l" rtl="0" eaLnBrk="0"/>
                      <a:r>
                        <a:rPr sz="1200" b="1" kern="0" spc="0" dirty="0">
                          <a:solidFill>
                            <a:srgbClr val="000000">
                              <a:alpha val="100000"/>
                            </a:srgbClr>
                          </a:solidFill>
                          <a:latin typeface="Georgia" panose="02040502050405020303"/>
                          <a:ea typeface="Georgia" panose="02040502050405020303"/>
                          <a:cs typeface="Georgia" panose="02040502050405020303"/>
                        </a:rPr>
                        <a:t>ξ</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Damping ratio</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Lognormal</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0.01</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0.2</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r>
              <a:tr h="228600">
                <a:tc>
                  <a:txBody>
                    <a:bodyPr/>
                    <a:lstStyle/>
                    <a:p>
                      <a:pPr algn="l" rtl="0" eaLnBrk="0"/>
                      <a:r>
                        <a:rPr sz="1400" b="1" i="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T</a:t>
                      </a:r>
                      <a:r>
                        <a:rPr sz="1400" b="1" kern="0" spc="0" baseline="-30000" dirty="0">
                          <a:solidFill>
                            <a:srgbClr val="000000">
                              <a:alpha val="100000"/>
                            </a:srgbClr>
                          </a:solidFill>
                          <a:latin typeface="华文楷体" panose="02010600040101010101" charset="-122"/>
                          <a:ea typeface="华文楷体" panose="02010600040101010101" charset="-122"/>
                          <a:cs typeface="华文楷体" panose="02010600040101010101" charset="-122"/>
                        </a:rPr>
                        <a:t>n</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Tension force</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Normal</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10</a:t>
                      </a:r>
                      <a:r>
                        <a:rPr sz="1200" kern="0" spc="0" baseline="30000" dirty="0">
                          <a:solidFill>
                            <a:srgbClr val="000000">
                              <a:alpha val="100000"/>
                            </a:srgbClr>
                          </a:solidFill>
                          <a:latin typeface="Georgia" panose="02040502050405020303"/>
                          <a:ea typeface="Georgia" panose="02040502050405020303"/>
                          <a:cs typeface="Georgia" panose="02040502050405020303"/>
                        </a:rPr>
                        <a:t>6</a:t>
                      </a:r>
                      <a:r>
                        <a:rPr sz="1200" kern="0" spc="0" dirty="0">
                          <a:solidFill>
                            <a:srgbClr val="000000">
                              <a:alpha val="100000"/>
                            </a:srgbClr>
                          </a:solidFill>
                          <a:latin typeface="Georgia" panose="02040502050405020303"/>
                          <a:ea typeface="Georgia" panose="02040502050405020303"/>
                          <a:cs typeface="Georgia" panose="02040502050405020303"/>
                        </a:rPr>
                        <a:t>N</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0.1</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r>
              <a:tr h="219075">
                <a:tc>
                  <a:txBody>
                    <a:bodyPr/>
                    <a:lstStyle/>
                    <a:p>
                      <a:pPr algn="l" rtl="0" eaLnBrk="0"/>
                      <a:r>
                        <a:rPr sz="1200" b="1" i="1" kern="0" spc="0" dirty="0">
                          <a:solidFill>
                            <a:srgbClr val="000000">
                              <a:alpha val="100000"/>
                            </a:srgbClr>
                          </a:solidFill>
                          <a:latin typeface="Georgia" panose="02040502050405020303"/>
                          <a:ea typeface="Georgia" panose="02040502050405020303"/>
                          <a:cs typeface="Georgia" panose="02040502050405020303"/>
                        </a:rPr>
                        <a:t>C</a:t>
                      </a:r>
                      <a:r>
                        <a:rPr sz="1200" b="1" kern="0" spc="0" baseline="-30000" dirty="0">
                          <a:solidFill>
                            <a:srgbClr val="000000">
                              <a:alpha val="100000"/>
                            </a:srgbClr>
                          </a:solidFill>
                          <a:latin typeface="Georgia" panose="02040502050405020303"/>
                          <a:ea typeface="Georgia" panose="02040502050405020303"/>
                          <a:cs typeface="Georgia" panose="02040502050405020303"/>
                        </a:rPr>
                        <a:t>L0</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Lift coefficient amplitude</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Lognormal</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0.3</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0.2</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r>
              <a:tr h="285750">
                <a:tc>
                  <a:txBody>
                    <a:bodyPr/>
                    <a:lstStyle/>
                    <a:p>
                      <a:pPr algn="l" rtl="0" eaLnBrk="0"/>
                      <a:r>
                        <a:rPr sz="1400" b="1" i="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C</a:t>
                      </a:r>
                      <a:r>
                        <a:rPr sz="1400" b="1" kern="0" spc="0" baseline="-30000" dirty="0">
                          <a:solidFill>
                            <a:srgbClr val="000000">
                              <a:alpha val="100000"/>
                            </a:srgbClr>
                          </a:solidFill>
                          <a:latin typeface="华文楷体" panose="02010600040101010101" charset="-122"/>
                          <a:ea typeface="华文楷体" panose="02010600040101010101" charset="-122"/>
                          <a:cs typeface="华文楷体" panose="02010600040101010101" charset="-122"/>
                        </a:rPr>
                        <a:t>D</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Mean drag coefficient</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Lognormal</a:t>
                      </a:r>
                      <a:endParaRPr sz="14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1.2</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c>
                  <a:txBody>
                    <a:bodyPr/>
                    <a:lstStyle/>
                    <a:p>
                      <a:pPr algn="l" rtl="0" eaLnBrk="0"/>
                      <a:r>
                        <a:rPr sz="1200" kern="0" spc="0" dirty="0">
                          <a:solidFill>
                            <a:srgbClr val="000000">
                              <a:alpha val="100000"/>
                            </a:srgbClr>
                          </a:solidFill>
                          <a:latin typeface="Georgia" panose="02040502050405020303"/>
                          <a:ea typeface="Georgia" panose="02040502050405020303"/>
                          <a:cs typeface="Georgia" panose="02040502050405020303"/>
                        </a:rPr>
                        <a:t>0.2</a:t>
                      </a:r>
                      <a:endParaRPr sz="1200" dirty="0"/>
                    </a:p>
                  </a:txBody>
                  <a:tcPr marL="0" marR="0" marT="0" marB="0" vert="horz" anchor="ctr">
                    <a:lnL w="19050" cap="flat" cmpd="sng" algn="ctr">
                      <a:solidFill>
                        <a:srgbClr val="4C4C4C"/>
                      </a:solidFill>
                      <a:prstDash val="solid"/>
                      <a:round/>
                      <a:headEnd type="none" w="med" len="med"/>
                      <a:tailEnd type="none" w="med" len="med"/>
                    </a:lnL>
                    <a:lnR w="19050" cap="flat" cmpd="sng" algn="ctr">
                      <a:solidFill>
                        <a:srgbClr val="4C4C4C"/>
                      </a:solidFill>
                      <a:prstDash val="solid"/>
                      <a:round/>
                      <a:headEnd type="none" w="med" len="med"/>
                      <a:tailEnd type="none" w="med" len="med"/>
                    </a:lnR>
                    <a:lnT w="19050" cap="flat" cmpd="sng" algn="ctr">
                      <a:solidFill>
                        <a:srgbClr val="4C4C4C"/>
                      </a:solidFill>
                      <a:prstDash val="solid"/>
                      <a:round/>
                      <a:headEnd type="none" w="med" len="med"/>
                      <a:tailEnd type="none" w="med" len="med"/>
                    </a:lnT>
                    <a:lnB w="19050" cap="flat" cmpd="sng" algn="ctr">
                      <a:solidFill>
                        <a:srgbClr val="4C4C4C"/>
                      </a:solidFill>
                      <a:prstDash val="solid"/>
                      <a:round/>
                      <a:headEnd type="none" w="med" len="med"/>
                      <a:tailEnd type="none" w="med" len="med"/>
                    </a:lnB>
                  </a:tcPr>
                </a:tc>
              </a:tr>
            </a:tbl>
          </a:graphicData>
        </a:graphic>
      </p:graphicFrame>
      <p:sp>
        <p:nvSpPr>
          <p:cNvPr id="2572" name="textbox 2572"/>
          <p:cNvSpPr/>
          <p:nvPr/>
        </p:nvSpPr>
        <p:spPr>
          <a:xfrm>
            <a:off x="1457325" y="3933825"/>
            <a:ext cx="4467225" cy="285750"/>
          </a:xfrm>
          <a:prstGeom prst="rect">
            <a:avLst/>
          </a:prstGeom>
          <a:noFill/>
          <a:ln w="0" cap="flat">
            <a:noFill/>
            <a:prstDash val="solid"/>
            <a:miter lim="0"/>
          </a:ln>
        </p:spPr>
        <p:txBody>
          <a:bodyPr vert="horz" wrap="none" lIns="0" tIns="0" rIns="0" bIns="0"/>
          <a:lstStyle/>
          <a:p>
            <a:pPr algn="l" rtl="0" eaLnBrk="0"/>
            <a:r>
              <a:rPr sz="18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使用不同降维方法，得到的结果对比图如下：</a:t>
            </a:r>
            <a:endParaRPr sz="1800" b="1" dirty="0"/>
          </a:p>
        </p:txBody>
      </p:sp>
      <p:graphicFrame>
        <p:nvGraphicFramePr>
          <p:cNvPr id="2574" name="table 2574"/>
          <p:cNvGraphicFramePr>
            <a:graphicFrameLocks noGrp="1"/>
          </p:cNvGraphicFramePr>
          <p:nvPr/>
        </p:nvGraphicFramePr>
        <p:xfrm>
          <a:off x="57150" y="4248150"/>
          <a:ext cx="12049125" cy="2390775"/>
        </p:xfrm>
        <a:graphic>
          <a:graphicData uri="http://schemas.openxmlformats.org/drawingml/2006/table">
            <a:tbl>
              <a:tblPr/>
              <a:tblGrid>
                <a:gridCol w="1743075"/>
                <a:gridCol w="1028700"/>
                <a:gridCol w="904875"/>
                <a:gridCol w="1143000"/>
                <a:gridCol w="1457325"/>
                <a:gridCol w="1123950"/>
                <a:gridCol w="762000"/>
                <a:gridCol w="1381125"/>
                <a:gridCol w="1009650"/>
                <a:gridCol w="1485900"/>
              </a:tblGrid>
              <a:tr h="266700">
                <a:tc rowSpan="2">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Method</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l" rtl="0" eaLnBrk="0"/>
                      <a:r>
                        <a:rPr sz="1400" i="1" kern="0" spc="0" dirty="0">
                          <a:solidFill>
                            <a:srgbClr val="000000">
                              <a:alpha val="100000"/>
                            </a:srgbClr>
                          </a:solidFill>
                          <a:latin typeface="Times New Roman" panose="02020603050405020304"/>
                          <a:ea typeface="Times New Roman" panose="02020603050405020304"/>
                          <a:cs typeface="Times New Roman" panose="02020603050405020304"/>
                        </a:rPr>
                        <a:t>μh</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σh</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α3h</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gridSpan="2">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α4h</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rowSpan="2">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Number</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38125">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ε (%)</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ε (%)</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ε (%)</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Value</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ε (%)</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cPr marL="0" marR="0" marT="0" marB="0" vert="horz">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r>
              <a:tr h="304800">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Standard</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3.041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0.000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1.139</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0.000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0.024</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0.000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3.052</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0.000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3×10</a:t>
                      </a:r>
                      <a:r>
                        <a:rPr sz="1400" kern="0" spc="0" baseline="30000" dirty="0">
                          <a:solidFill>
                            <a:srgbClr val="000000">
                              <a:alpha val="100000"/>
                            </a:srgbClr>
                          </a:solidFill>
                          <a:latin typeface="Times New Roman" panose="02020603050405020304"/>
                          <a:ea typeface="Times New Roman" panose="02020603050405020304"/>
                          <a:cs typeface="Times New Roman" panose="02020603050405020304"/>
                        </a:rPr>
                        <a:t>5</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6225">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UDRM</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3.046</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0.164</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1.131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0.707</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-0.041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-158.537</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1.489</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104.970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36</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47650">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BDRM</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3.040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0.033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1.140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0.088</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0.024</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0.000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2.969</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2.796</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526</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57175">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HUT</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3.042</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0.033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1.140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0.088</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0.013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84.615</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2.951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3.423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51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38125">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SGI</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3.043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0.062</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1.141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0.249</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0.024</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0.605</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3.029</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0.740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341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47650">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ABDRM-SGI</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3.042</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0.033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1.141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0.175</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0.018</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33.333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2.947</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3.563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281</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14325">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Proposed</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3.042</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0.028</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1.142</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0.250</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0.026</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7.562</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b="1" kern="0" spc="0" dirty="0">
                          <a:solidFill>
                            <a:srgbClr val="000000">
                              <a:alpha val="100000"/>
                            </a:srgbClr>
                          </a:solidFill>
                          <a:latin typeface="Times New Roman" panose="02020603050405020304"/>
                          <a:ea typeface="Times New Roman" panose="02020603050405020304"/>
                          <a:cs typeface="Times New Roman" panose="02020603050405020304"/>
                        </a:rPr>
                        <a:t>3.094</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1.383</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r>
                        <a:rPr sz="1400" kern="0" spc="0" dirty="0">
                          <a:solidFill>
                            <a:srgbClr val="000000">
                              <a:alpha val="100000"/>
                            </a:srgbClr>
                          </a:solidFill>
                          <a:latin typeface="Times New Roman" panose="02020603050405020304"/>
                          <a:ea typeface="Times New Roman" panose="02020603050405020304"/>
                          <a:cs typeface="Times New Roman" panose="02020603050405020304"/>
                        </a:rPr>
                        <a:t>169</a:t>
                      </a:r>
                      <a:endParaRPr sz="1400" dirty="0"/>
                    </a:p>
                  </a:txBody>
                  <a:tcPr marL="0" marR="0" marT="0" marB="0" vert="horz"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76" name="textbox 2576"/>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哈尔滨工业大学水利工程学院，可靠性与韧性工程研究团队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578" name="textbox 2578"/>
          <p:cNvSpPr/>
          <p:nvPr/>
        </p:nvSpPr>
        <p:spPr>
          <a:xfrm>
            <a:off x="11753850" y="6734175"/>
            <a:ext cx="152400" cy="104775"/>
          </a:xfrm>
          <a:prstGeom prst="rect">
            <a:avLst/>
          </a:prstGeom>
          <a:noFill/>
          <a:ln w="0" cap="flat">
            <a:noFill/>
            <a:prstDash val="solid"/>
            <a:miter lim="0"/>
          </a:ln>
        </p:spPr>
        <p:txBody>
          <a:bodyPr vert="horz" wrap="none" lIns="0" tIns="0" rIns="0" bIns="0"/>
          <a:lstStyle/>
          <a:p>
            <a:pPr algn="l" rtl="0" eaLnBrk="0"/>
            <a:r>
              <a:rPr sz="800" kern="0" spc="300" dirty="0">
                <a:solidFill>
                  <a:srgbClr val="96DAC1">
                    <a:alpha val="100000"/>
                  </a:srgbClr>
                </a:solidFill>
                <a:latin typeface="Arial" panose="020B0604020202020204"/>
                <a:ea typeface="Arial" panose="020B0604020202020204"/>
                <a:cs typeface="Arial" panose="020B0604020202020204"/>
              </a:rPr>
              <a:t>59</a:t>
            </a:r>
            <a:endParaRPr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2" name="picture 2582"/>
          <p:cNvPicPr>
            <a:picLocks noChangeAspect="1"/>
          </p:cNvPicPr>
          <p:nvPr/>
        </p:nvPicPr>
        <p:blipFill>
          <a:blip r:embed="rId1"/>
          <a:stretch>
            <a:fillRect/>
          </a:stretch>
        </p:blipFill>
        <p:spPr>
          <a:xfrm>
            <a:off x="0" y="0"/>
            <a:ext cx="12192000" cy="6858000"/>
          </a:xfrm>
          <a:prstGeom prst="rect">
            <a:avLst/>
          </a:prstGeom>
        </p:spPr>
      </p:pic>
      <p:sp>
        <p:nvSpPr>
          <p:cNvPr id="2584" name="textbox 2584"/>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586" name="textbox 2586"/>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588" name="textbox 2588"/>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592" name="picture 2592"/>
          <p:cNvPicPr>
            <a:picLocks noChangeAspect="1"/>
          </p:cNvPicPr>
          <p:nvPr/>
        </p:nvPicPr>
        <p:blipFill>
          <a:blip r:embed="rId2"/>
          <a:stretch>
            <a:fillRect/>
          </a:stretch>
        </p:blipFill>
        <p:spPr>
          <a:xfrm>
            <a:off x="304800" y="247650"/>
            <a:ext cx="723900" cy="666750"/>
          </a:xfrm>
          <a:prstGeom prst="rect">
            <a:avLst/>
          </a:prstGeom>
        </p:spPr>
      </p:pic>
      <p:sp>
        <p:nvSpPr>
          <p:cNvPr id="2594" name="textbox 2594"/>
          <p:cNvSpPr/>
          <p:nvPr/>
        </p:nvSpPr>
        <p:spPr>
          <a:xfrm>
            <a:off x="1447800" y="333375"/>
            <a:ext cx="600075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基于降维积分的结构整体可靠度分析</a:t>
            </a:r>
            <a:endParaRPr sz="2800" dirty="0"/>
          </a:p>
        </p:txBody>
      </p:sp>
      <p:sp>
        <p:nvSpPr>
          <p:cNvPr id="2596" name="textbox 2596"/>
          <p:cNvSpPr/>
          <p:nvPr/>
        </p:nvSpPr>
        <p:spPr>
          <a:xfrm>
            <a:off x="1457325" y="752475"/>
            <a:ext cx="654367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Global Reliability Analysis of Structures Based on Dimension-Reduction Integration</a:t>
            </a:r>
            <a:endParaRPr sz="1400" dirty="0"/>
          </a:p>
        </p:txBody>
      </p:sp>
      <p:sp>
        <p:nvSpPr>
          <p:cNvPr id="2598" name="textbox 2598"/>
          <p:cNvSpPr/>
          <p:nvPr/>
        </p:nvSpPr>
        <p:spPr>
          <a:xfrm>
            <a:off x="1447800" y="1114425"/>
            <a:ext cx="65913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1171CB">
                    <a:alpha val="100000"/>
                  </a:srgbClr>
                </a:solidFill>
                <a:latin typeface="微软雅黑" panose="020B0503020204020204" charset="-122"/>
                <a:ea typeface="微软雅黑" panose="020B0503020204020204" charset="-122"/>
                <a:cs typeface="微软雅黑" panose="020B0503020204020204" charset="-122"/>
              </a:rPr>
              <a:t>工程应用：涡流振动作用下海洋立管的疲劳可靠度问题</a:t>
            </a:r>
            <a:endParaRPr sz="2000" dirty="0"/>
          </a:p>
        </p:txBody>
      </p:sp>
      <p:sp>
        <p:nvSpPr>
          <p:cNvPr id="2600" name="textbox 2600"/>
          <p:cNvSpPr/>
          <p:nvPr/>
        </p:nvSpPr>
        <p:spPr>
          <a:xfrm>
            <a:off x="876300" y="1171575"/>
            <a:ext cx="209550" cy="238125"/>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Calibri" panose="020F0502020204030204"/>
                <a:ea typeface="Calibri" panose="020F0502020204030204"/>
                <a:cs typeface="Calibri" panose="020F0502020204030204"/>
              </a:rPr>
              <a:t>4</a:t>
            </a:r>
            <a:endParaRPr sz="1800" dirty="0"/>
          </a:p>
        </p:txBody>
      </p:sp>
      <p:sp>
        <p:nvSpPr>
          <p:cNvPr id="2602" name="textbox 2602"/>
          <p:cNvSpPr/>
          <p:nvPr/>
        </p:nvSpPr>
        <p:spPr>
          <a:xfrm>
            <a:off x="1466850" y="1438275"/>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2E83C9">
                    <a:alpha val="100000"/>
                  </a:srgbClr>
                </a:solidFill>
                <a:latin typeface="Times New Roman" panose="02020603050405020304"/>
                <a:ea typeface="Times New Roman" panose="02020603050405020304"/>
                <a:cs typeface="Times New Roman" panose="02020603050405020304"/>
              </a:rPr>
              <a:t>Fatigue Reliability Problem of a Marine Riser Resulting from the Vortex-induced Vibration</a:t>
            </a:r>
            <a:endParaRPr sz="1000" dirty="0"/>
          </a:p>
        </p:txBody>
      </p:sp>
      <p:pic>
        <p:nvPicPr>
          <p:cNvPr id="2606" name="picture 2606"/>
          <p:cNvPicPr>
            <a:picLocks noChangeAspect="1"/>
          </p:cNvPicPr>
          <p:nvPr/>
        </p:nvPicPr>
        <p:blipFill>
          <a:blip r:embed="rId3"/>
          <a:stretch>
            <a:fillRect/>
          </a:stretch>
        </p:blipFill>
        <p:spPr>
          <a:xfrm>
            <a:off x="1295400" y="1781175"/>
            <a:ext cx="4524375" cy="3952875"/>
          </a:xfrm>
          <a:prstGeom prst="rect">
            <a:avLst/>
          </a:prstGeom>
        </p:spPr>
      </p:pic>
      <p:sp>
        <p:nvSpPr>
          <p:cNvPr id="2608" name="textbox 2608"/>
          <p:cNvSpPr/>
          <p:nvPr/>
        </p:nvSpPr>
        <p:spPr>
          <a:xfrm>
            <a:off x="2019300" y="5695950"/>
            <a:ext cx="609600" cy="190500"/>
          </a:xfrm>
          <a:prstGeom prst="rect">
            <a:avLst/>
          </a:prstGeom>
          <a:noFill/>
          <a:ln w="0" cap="flat">
            <a:noFill/>
            <a:prstDash val="solid"/>
            <a:miter lim="0"/>
          </a:ln>
        </p:spPr>
        <p:txBody>
          <a:bodyPr vert="horz" wrap="none" lIns="0" tIns="0" rIns="0" bIns="0"/>
          <a:lstStyle/>
          <a:p>
            <a:pPr marL="266700" indent="-238125" algn="l" rtl="0" eaLnBrk="0">
              <a:buAutoNum type="alphaLcParenBoth"/>
            </a:pPr>
            <a:r>
              <a:rPr sz="1400" kern="0" spc="0" dirty="0">
                <a:solidFill>
                  <a:srgbClr val="000000">
                    <a:alpha val="100000"/>
                  </a:srgbClr>
                </a:solidFill>
                <a:latin typeface="Times New Roman" panose="02020603050405020304"/>
                <a:ea typeface="Times New Roman" panose="02020603050405020304"/>
                <a:cs typeface="Times New Roman" panose="02020603050405020304"/>
              </a:rPr>
              <a:t>PDF</a:t>
            </a:r>
            <a:endParaRPr sz="1400" dirty="0"/>
          </a:p>
        </p:txBody>
      </p:sp>
      <p:pic>
        <p:nvPicPr>
          <p:cNvPr id="2612" name="picture 2612"/>
          <p:cNvPicPr>
            <a:picLocks noChangeAspect="1"/>
          </p:cNvPicPr>
          <p:nvPr/>
        </p:nvPicPr>
        <p:blipFill>
          <a:blip r:embed="rId4"/>
          <a:stretch>
            <a:fillRect/>
          </a:stretch>
        </p:blipFill>
        <p:spPr>
          <a:xfrm>
            <a:off x="6543675" y="1924050"/>
            <a:ext cx="4562475" cy="3695700"/>
          </a:xfrm>
          <a:prstGeom prst="rect">
            <a:avLst/>
          </a:prstGeom>
        </p:spPr>
      </p:pic>
      <p:sp>
        <p:nvSpPr>
          <p:cNvPr id="2614" name="textbox 2614"/>
          <p:cNvSpPr/>
          <p:nvPr/>
        </p:nvSpPr>
        <p:spPr>
          <a:xfrm>
            <a:off x="7362825" y="5676900"/>
            <a:ext cx="638175" cy="209550"/>
          </a:xfrm>
          <a:prstGeom prst="rect">
            <a:avLst/>
          </a:prstGeom>
          <a:noFill/>
          <a:ln w="0" cap="flat">
            <a:noFill/>
            <a:prstDash val="solid"/>
            <a:miter lim="0"/>
          </a:ln>
        </p:spPr>
        <p:txBody>
          <a:bodyPr vert="horz" wrap="none" lIns="0" tIns="0" rIns="0" bIns="0"/>
          <a:lstStyle/>
          <a:p>
            <a:pPr marL="266700" indent="-238125" algn="l" rtl="0" eaLnBrk="0">
              <a:buAutoNum type="alphaLcParenBoth" startAt="2"/>
            </a:pPr>
            <a:r>
              <a:rPr sz="1400" kern="0" spc="0" dirty="0">
                <a:solidFill>
                  <a:srgbClr val="000000">
                    <a:alpha val="100000"/>
                  </a:srgbClr>
                </a:solidFill>
                <a:latin typeface="Times New Roman" panose="02020603050405020304"/>
                <a:ea typeface="Times New Roman" panose="02020603050405020304"/>
                <a:cs typeface="Times New Roman" panose="02020603050405020304"/>
              </a:rPr>
              <a:t>CDF</a:t>
            </a:r>
            <a:endParaRPr sz="1400" dirty="0"/>
          </a:p>
        </p:txBody>
      </p:sp>
      <p:sp>
        <p:nvSpPr>
          <p:cNvPr id="2616" name="textbox 2616"/>
          <p:cNvSpPr/>
          <p:nvPr/>
        </p:nvSpPr>
        <p:spPr>
          <a:xfrm>
            <a:off x="4610100" y="6210300"/>
            <a:ext cx="3581400" cy="20002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稀疏网格积分法与</a:t>
            </a:r>
            <a:r>
              <a:rPr sz="1400" kern="0" spc="0" dirty="0">
                <a:solidFill>
                  <a:srgbClr val="000000">
                    <a:alpha val="100000"/>
                  </a:srgbClr>
                </a:solidFill>
                <a:latin typeface="Arial" panose="020B0604020202020204"/>
                <a:ea typeface="Arial" panose="020B0604020202020204"/>
                <a:cs typeface="Arial" panose="020B0604020202020204"/>
              </a:rPr>
              <a:t>MCS</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的</a:t>
            </a:r>
            <a:r>
              <a:rPr sz="1400" kern="0" spc="0" dirty="0">
                <a:solidFill>
                  <a:srgbClr val="000000">
                    <a:alpha val="100000"/>
                  </a:srgbClr>
                </a:solidFill>
                <a:latin typeface="Arial" panose="020B0604020202020204"/>
                <a:ea typeface="Arial" panose="020B0604020202020204"/>
                <a:cs typeface="Arial" panose="020B0604020202020204"/>
              </a:rPr>
              <a:t>PDF</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和</a:t>
            </a:r>
            <a:r>
              <a:rPr sz="1400" kern="0" spc="0" dirty="0">
                <a:solidFill>
                  <a:srgbClr val="000000">
                    <a:alpha val="100000"/>
                  </a:srgbClr>
                </a:solidFill>
                <a:latin typeface="Arial" panose="020B0604020202020204"/>
                <a:ea typeface="Arial" panose="020B0604020202020204"/>
                <a:cs typeface="Arial" panose="020B0604020202020204"/>
              </a:rPr>
              <a:t>CDF</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比较</a:t>
            </a:r>
            <a:endParaRPr sz="1400" dirty="0"/>
          </a:p>
        </p:txBody>
      </p:sp>
      <p:sp>
        <p:nvSpPr>
          <p:cNvPr id="2618" name="textbox 261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AE3F5">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AE3F5">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2620" name="textbox 2620"/>
          <p:cNvSpPr/>
          <p:nvPr/>
        </p:nvSpPr>
        <p:spPr>
          <a:xfrm>
            <a:off x="11753850" y="6734175"/>
            <a:ext cx="180975" cy="114300"/>
          </a:xfrm>
          <a:prstGeom prst="rect">
            <a:avLst/>
          </a:prstGeom>
          <a:noFill/>
          <a:ln w="0" cap="flat">
            <a:noFill/>
            <a:prstDash val="solid"/>
            <a:miter lim="0"/>
          </a:ln>
        </p:spPr>
        <p:txBody>
          <a:bodyPr vert="horz" wrap="none" lIns="0" tIns="0" rIns="0" bIns="0"/>
          <a:lstStyle/>
          <a:p>
            <a:pPr algn="l" rtl="0" eaLnBrk="0"/>
            <a:r>
              <a:rPr sz="900" kern="0" spc="375" dirty="0">
                <a:solidFill>
                  <a:srgbClr val="FFFFFF">
                    <a:alpha val="100000"/>
                  </a:srgbClr>
                </a:solidFill>
                <a:latin typeface="Arial" panose="020B0604020202020204"/>
                <a:ea typeface="Arial" panose="020B0604020202020204"/>
                <a:cs typeface="Arial" panose="020B0604020202020204"/>
              </a:rPr>
              <a:t>60</a:t>
            </a:r>
            <a:endParaRPr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24" name="picture 2624"/>
          <p:cNvPicPr>
            <a:picLocks noChangeAspect="1"/>
          </p:cNvPicPr>
          <p:nvPr/>
        </p:nvPicPr>
        <p:blipFill>
          <a:blip r:embed="rId1"/>
          <a:stretch>
            <a:fillRect/>
          </a:stretch>
        </p:blipFill>
        <p:spPr>
          <a:xfrm>
            <a:off x="0" y="0"/>
            <a:ext cx="12192000" cy="6858000"/>
          </a:xfrm>
          <a:prstGeom prst="rect">
            <a:avLst/>
          </a:prstGeom>
        </p:spPr>
      </p:pic>
      <p:pic>
        <p:nvPicPr>
          <p:cNvPr id="2628" name="picture 2628"/>
          <p:cNvPicPr>
            <a:picLocks noChangeAspect="1"/>
          </p:cNvPicPr>
          <p:nvPr/>
        </p:nvPicPr>
        <p:blipFill>
          <a:blip r:embed="rId2"/>
          <a:stretch>
            <a:fillRect/>
          </a:stretch>
        </p:blipFill>
        <p:spPr>
          <a:xfrm>
            <a:off x="1228725" y="742950"/>
            <a:ext cx="1285875" cy="1181100"/>
          </a:xfrm>
          <a:prstGeom prst="rect">
            <a:avLst/>
          </a:prstGeom>
        </p:spPr>
      </p:pic>
      <p:sp>
        <p:nvSpPr>
          <p:cNvPr id="2630" name="textbox 2630"/>
          <p:cNvSpPr/>
          <p:nvPr/>
        </p:nvSpPr>
        <p:spPr>
          <a:xfrm>
            <a:off x="1724025" y="3133725"/>
            <a:ext cx="333375" cy="476250"/>
          </a:xfrm>
          <a:prstGeom prst="rect">
            <a:avLst/>
          </a:prstGeom>
          <a:noFill/>
          <a:ln w="0" cap="flat">
            <a:noFill/>
            <a:prstDash val="solid"/>
            <a:miter lim="0"/>
          </a:ln>
        </p:spPr>
        <p:txBody>
          <a:bodyPr vert="horz" wrap="none" lIns="0" tIns="0" rIns="0" bIns="0"/>
          <a:lstStyle/>
          <a:p>
            <a:pPr algn="l" rtl="0" eaLnBrk="0"/>
            <a:r>
              <a:rPr sz="5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6</a:t>
            </a:r>
            <a:endParaRPr sz="5000" dirty="0"/>
          </a:p>
        </p:txBody>
      </p:sp>
      <p:sp>
        <p:nvSpPr>
          <p:cNvPr id="2632" name="textbox 2632"/>
          <p:cNvSpPr/>
          <p:nvPr/>
        </p:nvSpPr>
        <p:spPr>
          <a:xfrm>
            <a:off x="6438900" y="2628900"/>
            <a:ext cx="3190875" cy="685800"/>
          </a:xfrm>
          <a:prstGeom prst="rect">
            <a:avLst/>
          </a:prstGeom>
          <a:noFill/>
          <a:ln w="0" cap="flat">
            <a:noFill/>
            <a:prstDash val="solid"/>
            <a:miter lim="0"/>
          </a:ln>
        </p:spPr>
        <p:txBody>
          <a:bodyPr vert="horz" wrap="none" lIns="0" tIns="0" rIns="0" bIns="0"/>
          <a:lstStyle/>
          <a:p>
            <a:pPr algn="l" rtl="0" eaLnBrk="0"/>
            <a:r>
              <a:rPr sz="4800" b="1" kern="0" spc="0" dirty="0">
                <a:solidFill>
                  <a:srgbClr val="17355B">
                    <a:alpha val="100000"/>
                  </a:srgbClr>
                </a:solidFill>
                <a:latin typeface="微软雅黑" panose="020B0503020204020204" charset="-122"/>
                <a:ea typeface="微软雅黑" panose="020B0503020204020204" charset="-122"/>
                <a:cs typeface="微软雅黑" panose="020B0503020204020204" charset="-122"/>
              </a:rPr>
              <a:t>结论与展望</a:t>
            </a:r>
            <a:endParaRPr sz="4800" dirty="0"/>
          </a:p>
        </p:txBody>
      </p:sp>
      <p:sp>
        <p:nvSpPr>
          <p:cNvPr id="2634" name="textbox 2634"/>
          <p:cNvSpPr/>
          <p:nvPr/>
        </p:nvSpPr>
        <p:spPr>
          <a:xfrm>
            <a:off x="1123950" y="3990975"/>
            <a:ext cx="1524000" cy="333375"/>
          </a:xfrm>
          <a:prstGeom prst="rect">
            <a:avLst/>
          </a:prstGeom>
          <a:noFill/>
          <a:ln w="0" cap="flat">
            <a:noFill/>
            <a:prstDash val="solid"/>
            <a:miter lim="0"/>
          </a:ln>
        </p:spPr>
        <p:txBody>
          <a:bodyPr vert="horz" wrap="none" lIns="0" tIns="0" rIns="0" bIns="0"/>
          <a:lstStyle/>
          <a:p>
            <a:pPr algn="l" rtl="0" eaLnBrk="0"/>
            <a:r>
              <a:rPr sz="2600" kern="0" spc="0" dirty="0">
                <a:solidFill>
                  <a:srgbClr val="FFFFFF">
                    <a:alpha val="100000"/>
                  </a:srgbClr>
                </a:solidFill>
                <a:latin typeface="Arial" panose="020B0604020202020204"/>
                <a:ea typeface="Arial" panose="020B0604020202020204"/>
                <a:cs typeface="Arial" panose="020B0604020202020204"/>
              </a:rPr>
              <a:t>PART SIX</a:t>
            </a:r>
            <a:endParaRPr sz="2600" dirty="0"/>
          </a:p>
        </p:txBody>
      </p:sp>
      <p:sp>
        <p:nvSpPr>
          <p:cNvPr id="2636" name="textbox 2636"/>
          <p:cNvSpPr/>
          <p:nvPr/>
        </p:nvSpPr>
        <p:spPr>
          <a:xfrm>
            <a:off x="6486525" y="3933825"/>
            <a:ext cx="3133725" cy="295275"/>
          </a:xfrm>
          <a:prstGeom prst="rect">
            <a:avLst/>
          </a:prstGeom>
          <a:noFill/>
          <a:ln w="0" cap="flat">
            <a:noFill/>
            <a:prstDash val="solid"/>
            <a:miter lim="0"/>
          </a:ln>
        </p:spPr>
        <p:txBody>
          <a:bodyPr vert="horz" wrap="none" lIns="0" tIns="0" rIns="0" bIns="0"/>
          <a:lstStyle/>
          <a:p>
            <a:pPr algn="l" rtl="0" eaLnBrk="0"/>
            <a:r>
              <a:rPr sz="2000" kern="0" spc="0" dirty="0">
                <a:solidFill>
                  <a:srgbClr val="222A35">
                    <a:alpha val="100000"/>
                  </a:srgbClr>
                </a:solidFill>
                <a:latin typeface="Arial" panose="020B0604020202020204"/>
                <a:ea typeface="Arial" panose="020B0604020202020204"/>
                <a:cs typeface="Arial" panose="020B0604020202020204"/>
              </a:rPr>
              <a:t>Conclusions and Prospects</a:t>
            </a:r>
            <a:endParaRPr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0" name="picture 2640"/>
          <p:cNvPicPr>
            <a:picLocks noChangeAspect="1"/>
          </p:cNvPicPr>
          <p:nvPr/>
        </p:nvPicPr>
        <p:blipFill>
          <a:blip r:embed="rId1"/>
          <a:stretch>
            <a:fillRect/>
          </a:stretch>
        </p:blipFill>
        <p:spPr>
          <a:xfrm>
            <a:off x="0" y="0"/>
            <a:ext cx="12192000" cy="6858000"/>
          </a:xfrm>
          <a:prstGeom prst="rect">
            <a:avLst/>
          </a:prstGeom>
        </p:spPr>
      </p:pic>
      <p:sp>
        <p:nvSpPr>
          <p:cNvPr id="2642" name="textbox 2642"/>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2644" name="textbox 2644"/>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646" name="textbox 2646"/>
          <p:cNvSpPr/>
          <p:nvPr/>
        </p:nvSpPr>
        <p:spPr>
          <a:xfrm>
            <a:off x="7296150" y="0"/>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650" name="picture 2650"/>
          <p:cNvPicPr>
            <a:picLocks noChangeAspect="1"/>
          </p:cNvPicPr>
          <p:nvPr/>
        </p:nvPicPr>
        <p:blipFill>
          <a:blip r:embed="rId2"/>
          <a:stretch>
            <a:fillRect/>
          </a:stretch>
        </p:blipFill>
        <p:spPr>
          <a:xfrm>
            <a:off x="295275" y="247650"/>
            <a:ext cx="742950" cy="685800"/>
          </a:xfrm>
          <a:prstGeom prst="rect">
            <a:avLst/>
          </a:prstGeom>
        </p:spPr>
      </p:pic>
      <p:sp>
        <p:nvSpPr>
          <p:cNvPr id="2652" name="textbox 2652"/>
          <p:cNvSpPr/>
          <p:nvPr/>
        </p:nvSpPr>
        <p:spPr>
          <a:xfrm>
            <a:off x="1438275" y="333375"/>
            <a:ext cx="1895475"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结论与展望</a:t>
            </a:r>
            <a:endParaRPr sz="2800" dirty="0"/>
          </a:p>
        </p:txBody>
      </p:sp>
      <p:sp>
        <p:nvSpPr>
          <p:cNvPr id="2654" name="textbox 2654"/>
          <p:cNvSpPr/>
          <p:nvPr/>
        </p:nvSpPr>
        <p:spPr>
          <a:xfrm>
            <a:off x="1447800" y="771525"/>
            <a:ext cx="2190750" cy="180975"/>
          </a:xfrm>
          <a:prstGeom prst="rect">
            <a:avLst/>
          </a:prstGeom>
          <a:noFill/>
          <a:ln w="0" cap="flat">
            <a:noFill/>
            <a:prstDash val="solid"/>
            <a:miter lim="0"/>
          </a:ln>
        </p:spPr>
        <p:txBody>
          <a:bodyPr vert="horz" wrap="none" lIns="0" tIns="0" rIns="0" bIns="0"/>
          <a:lstStyle/>
          <a:p>
            <a:pPr algn="l" rtl="0" eaLnBrk="0"/>
            <a:r>
              <a:rPr sz="1400" kern="0" spc="0" dirty="0">
                <a:solidFill>
                  <a:srgbClr val="DAE7F5">
                    <a:alpha val="100000"/>
                  </a:srgbClr>
                </a:solidFill>
                <a:latin typeface="Arial" panose="020B0604020202020204"/>
                <a:ea typeface="Arial" panose="020B0604020202020204"/>
                <a:cs typeface="Arial" panose="020B0604020202020204"/>
              </a:rPr>
              <a:t>Conclusions and Prospects</a:t>
            </a:r>
            <a:endParaRPr sz="1400" dirty="0"/>
          </a:p>
        </p:txBody>
      </p:sp>
      <p:pic>
        <p:nvPicPr>
          <p:cNvPr id="2658" name="picture 2658"/>
          <p:cNvPicPr>
            <a:picLocks noChangeAspect="1"/>
          </p:cNvPicPr>
          <p:nvPr/>
        </p:nvPicPr>
        <p:blipFill>
          <a:blip r:embed="rId3"/>
          <a:stretch>
            <a:fillRect/>
          </a:stretch>
        </p:blipFill>
        <p:spPr>
          <a:xfrm>
            <a:off x="704850" y="1066800"/>
            <a:ext cx="419100" cy="400050"/>
          </a:xfrm>
          <a:prstGeom prst="rect">
            <a:avLst/>
          </a:prstGeom>
        </p:spPr>
      </p:pic>
      <p:sp>
        <p:nvSpPr>
          <p:cNvPr id="2660" name="textbox 2660"/>
          <p:cNvSpPr/>
          <p:nvPr/>
        </p:nvSpPr>
        <p:spPr>
          <a:xfrm>
            <a:off x="1447800" y="1123950"/>
            <a:ext cx="2752725"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关于降维积分法的结论</a:t>
            </a:r>
            <a:endParaRPr sz="2000" dirty="0"/>
          </a:p>
        </p:txBody>
      </p:sp>
      <p:sp>
        <p:nvSpPr>
          <p:cNvPr id="2662" name="textbox 2662"/>
          <p:cNvSpPr/>
          <p:nvPr/>
        </p:nvSpPr>
        <p:spPr>
          <a:xfrm>
            <a:off x="1466850" y="1438275"/>
            <a:ext cx="3048000" cy="152400"/>
          </a:xfrm>
          <a:prstGeom prst="rect">
            <a:avLst/>
          </a:prstGeom>
          <a:noFill/>
          <a:ln w="0" cap="flat">
            <a:noFill/>
            <a:prstDash val="solid"/>
            <a:miter lim="0"/>
          </a:ln>
        </p:spPr>
        <p:txBody>
          <a:bodyPr vert="horz" wrap="none" lIns="0" tIns="0" rIns="0" bIns="0"/>
          <a:lstStyle/>
          <a:p>
            <a:pPr algn="l" rtl="0" eaLnBrk="0"/>
            <a:r>
              <a:rPr sz="1000" kern="0" spc="0" dirty="0">
                <a:solidFill>
                  <a:srgbClr val="0070C0">
                    <a:alpha val="100000"/>
                  </a:srgbClr>
                </a:solidFill>
                <a:latin typeface="Times New Roman" panose="02020603050405020304"/>
                <a:ea typeface="Times New Roman" panose="02020603050405020304"/>
                <a:cs typeface="Times New Roman" panose="02020603050405020304"/>
              </a:rPr>
              <a:t>Conclusions on Dimension-Reduction Integration Methods</a:t>
            </a:r>
            <a:endParaRPr sz="1000" dirty="0"/>
          </a:p>
        </p:txBody>
      </p:sp>
      <p:sp>
        <p:nvSpPr>
          <p:cNvPr id="2664" name="textbox 2664"/>
          <p:cNvSpPr/>
          <p:nvPr/>
        </p:nvSpPr>
        <p:spPr>
          <a:xfrm>
            <a:off x="1457325" y="1781175"/>
            <a:ext cx="10325100" cy="752475"/>
          </a:xfrm>
          <a:prstGeom prst="rect">
            <a:avLst/>
          </a:prstGeom>
          <a:noFill/>
          <a:ln w="0" cap="flat">
            <a:noFill/>
            <a:prstDash val="solid"/>
            <a:miter lim="0"/>
          </a:ln>
        </p:spPr>
        <p:txBody>
          <a:bodyPr vert="horz" wrap="none" lIns="0" tIns="0" rIns="0" bIns="0"/>
          <a:lstStyle/>
          <a:p>
            <a:pPr algn="l" rtl="0" eaLnBrk="0"/>
            <a:r>
              <a:rPr sz="20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尽管在过去的</a:t>
            </a:r>
            <a:r>
              <a:rPr sz="2000" b="1" kern="0" spc="0" dirty="0">
                <a:solidFill>
                  <a:srgbClr val="0070C0">
                    <a:alpha val="100000"/>
                  </a:srgbClr>
                </a:solidFill>
                <a:latin typeface="Arial" panose="020B0604020202020204"/>
                <a:ea typeface="Arial" panose="020B0604020202020204"/>
                <a:cs typeface="Arial" panose="020B0604020202020204"/>
              </a:rPr>
              <a:t>20</a:t>
            </a:r>
            <a:r>
              <a:rPr sz="20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年中，</a:t>
            </a:r>
            <a:r>
              <a:rPr sz="2000" b="1" kern="0" spc="0" dirty="0">
                <a:solidFill>
                  <a:srgbClr val="0070C0">
                    <a:alpha val="100000"/>
                  </a:srgbClr>
                </a:solidFill>
                <a:latin typeface="Arial" panose="020B0604020202020204"/>
                <a:ea typeface="Arial" panose="020B0604020202020204"/>
                <a:cs typeface="Arial" panose="020B0604020202020204"/>
              </a:rPr>
              <a:t>DRIM </a:t>
            </a:r>
            <a:r>
              <a:rPr sz="20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的发展取得了重大进展，但该领域仍然非常活跃。未来的研究</a:t>
            </a:r>
            <a:endParaRPr sz="2000" dirty="0"/>
          </a:p>
          <a:p>
            <a:pPr algn="l" rtl="0" eaLnBrk="0">
              <a:spcBef>
                <a:spcPts val="1500"/>
              </a:spcBef>
            </a:pPr>
            <a:r>
              <a:rPr sz="20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存在巨大的机会，同时也伴随着挑战和需要进一步研究的未来研究方向。</a:t>
            </a:r>
            <a:endParaRPr sz="2000" dirty="0"/>
          </a:p>
        </p:txBody>
      </p:sp>
      <p:sp>
        <p:nvSpPr>
          <p:cNvPr id="2666" name="textbox 2666"/>
          <p:cNvSpPr/>
          <p:nvPr/>
        </p:nvSpPr>
        <p:spPr>
          <a:xfrm>
            <a:off x="295275" y="2990850"/>
            <a:ext cx="1924050" cy="304800"/>
          </a:xfrm>
          <a:prstGeom prst="rect">
            <a:avLst/>
          </a:prstGeom>
          <a:noFill/>
          <a:ln w="0" cap="flat">
            <a:noFill/>
            <a:prstDash val="solid"/>
            <a:miter lim="0"/>
          </a:ln>
        </p:spPr>
        <p:txBody>
          <a:bodyPr vert="horz" wrap="none" lIns="0" tIns="0" rIns="0" bIns="0"/>
          <a:lstStyle/>
          <a:p>
            <a:pPr marL="381000" indent="-342900" algn="l" rtl="0" eaLnBrk="0">
              <a:buChar char="•"/>
            </a:pPr>
            <a:r>
              <a:rPr sz="20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先进理论基础</a:t>
            </a:r>
            <a:endParaRPr sz="2000" dirty="0"/>
          </a:p>
        </p:txBody>
      </p:sp>
      <p:sp>
        <p:nvSpPr>
          <p:cNvPr id="2668" name="textbox 2668"/>
          <p:cNvSpPr/>
          <p:nvPr/>
        </p:nvSpPr>
        <p:spPr>
          <a:xfrm>
            <a:off x="647700" y="3562350"/>
            <a:ext cx="10715625" cy="295275"/>
          </a:xfrm>
          <a:prstGeom prst="rect">
            <a:avLst/>
          </a:prstGeom>
          <a:noFill/>
          <a:ln w="0" cap="flat">
            <a:noFill/>
            <a:prstDash val="solid"/>
            <a:miter lim="0"/>
          </a:ln>
        </p:spPr>
        <p:txBody>
          <a:bodyPr vert="horz" wrap="none" lIns="0" tIns="0" rIns="0" bIns="0"/>
          <a:lstStyle/>
          <a:p>
            <a:pPr marL="419100" indent="-390525" algn="l" rtl="0" eaLnBrk="0">
              <a:buAutoNum type="alphaLcParenBoth" startAt="9"/>
            </a:pPr>
            <a:r>
              <a:rPr sz="18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自适应降维模型：</a:t>
            </a:r>
            <a:r>
              <a:rPr sz="1800"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基于DRIM的框架可捕捉不同函数形式下的内在响应特征，从而增强该方法的通用性。</a:t>
            </a:r>
            <a:endParaRPr sz="1800" dirty="0"/>
          </a:p>
        </p:txBody>
      </p:sp>
      <p:sp>
        <p:nvSpPr>
          <p:cNvPr id="2670" name="textbox 2670"/>
          <p:cNvSpPr/>
          <p:nvPr/>
        </p:nvSpPr>
        <p:spPr>
          <a:xfrm>
            <a:off x="647700" y="4171950"/>
            <a:ext cx="8096250" cy="276225"/>
          </a:xfrm>
          <a:prstGeom prst="rect">
            <a:avLst/>
          </a:prstGeom>
          <a:noFill/>
          <a:ln w="0" cap="flat">
            <a:noFill/>
            <a:prstDash val="solid"/>
            <a:miter lim="0"/>
          </a:ln>
        </p:spPr>
        <p:txBody>
          <a:bodyPr vert="horz" wrap="none" lIns="0" tIns="0" rIns="0" bIns="0"/>
          <a:lstStyle/>
          <a:p>
            <a:pPr marL="476250" indent="-447675" algn="l" rtl="0" eaLnBrk="0">
              <a:buAutoNum type="romanLcParenBoth" startAt="2"/>
            </a:pPr>
            <a:r>
              <a:rPr sz="18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最优集成策略：</a:t>
            </a:r>
            <a:r>
              <a:rPr sz="1800"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发展计算高效、高精度的选点方法，其同时具备数值稳定性。</a:t>
            </a:r>
            <a:endParaRPr sz="1800" dirty="0"/>
          </a:p>
        </p:txBody>
      </p:sp>
      <p:sp>
        <p:nvSpPr>
          <p:cNvPr id="2672" name="textbox 2672"/>
          <p:cNvSpPr/>
          <p:nvPr/>
        </p:nvSpPr>
        <p:spPr>
          <a:xfrm>
            <a:off x="628650" y="4772025"/>
            <a:ext cx="11220450" cy="295275"/>
          </a:xfrm>
          <a:prstGeom prst="rect">
            <a:avLst/>
          </a:prstGeom>
          <a:noFill/>
          <a:ln w="0" cap="flat">
            <a:noFill/>
            <a:prstDash val="solid"/>
            <a:miter lim="0"/>
          </a:ln>
        </p:spPr>
        <p:txBody>
          <a:bodyPr vert="horz" wrap="none" lIns="0" tIns="0" rIns="0" bIns="0"/>
          <a:lstStyle/>
          <a:p>
            <a:pPr marL="571500" indent="-514350" algn="l" rtl="0" eaLnBrk="0">
              <a:buAutoNum type="romanLcParenBoth" startAt="3"/>
            </a:pPr>
            <a:r>
              <a:rPr sz="18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非线性变换技术：</a:t>
            </a:r>
            <a:r>
              <a:rPr sz="1800"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建立先进的变量变换方法，以减轻传统非高斯映射（如 Nataf 变换）带来的非线性效应。</a:t>
            </a:r>
            <a:endParaRPr sz="1800" dirty="0"/>
          </a:p>
        </p:txBody>
      </p:sp>
      <p:sp>
        <p:nvSpPr>
          <p:cNvPr id="2674" name="textbox 2674"/>
          <p:cNvSpPr/>
          <p:nvPr/>
        </p:nvSpPr>
        <p:spPr>
          <a:xfrm>
            <a:off x="647700" y="5391150"/>
            <a:ext cx="9772650" cy="276225"/>
          </a:xfrm>
          <a:prstGeom prst="rect">
            <a:avLst/>
          </a:prstGeom>
          <a:noFill/>
          <a:ln w="0" cap="flat">
            <a:noFill/>
            <a:prstDash val="solid"/>
            <a:miter lim="0"/>
          </a:ln>
        </p:spPr>
        <p:txBody>
          <a:bodyPr vert="horz" wrap="none" lIns="0" tIns="0" rIns="0" bIns="0"/>
          <a:lstStyle/>
          <a:p>
            <a:pPr algn="l" rtl="0" eaLnBrk="0"/>
            <a:r>
              <a:rPr sz="18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（iv）交互作用识别：</a:t>
            </a:r>
            <a:r>
              <a:rPr sz="1800"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创建高效的机制来检测变量间的相互作用，以缓解超高维问题中的计算瓶颈。</a:t>
            </a:r>
            <a:endParaRPr sz="1800" dirty="0"/>
          </a:p>
        </p:txBody>
      </p:sp>
      <p:sp>
        <p:nvSpPr>
          <p:cNvPr id="2676" name="textbox 2676"/>
          <p:cNvSpPr/>
          <p:nvPr/>
        </p:nvSpPr>
        <p:spPr>
          <a:xfrm>
            <a:off x="647700" y="5981700"/>
            <a:ext cx="8553450" cy="295275"/>
          </a:xfrm>
          <a:prstGeom prst="rect">
            <a:avLst/>
          </a:prstGeom>
          <a:noFill/>
          <a:ln w="0" cap="flat">
            <a:noFill/>
            <a:prstDash val="solid"/>
            <a:miter lim="0"/>
          </a:ln>
        </p:spPr>
        <p:txBody>
          <a:bodyPr vert="horz" wrap="none" lIns="0" tIns="0" rIns="0" bIns="0"/>
          <a:lstStyle/>
          <a:p>
            <a:pPr marL="476250" indent="-438150" algn="l" rtl="0" eaLnBrk="0">
              <a:buAutoNum type="alphaLcParenBoth" startAt="22"/>
            </a:pPr>
            <a:r>
              <a:rPr sz="18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通用自适应框架：</a:t>
            </a:r>
            <a:r>
              <a:rPr sz="1800"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构建算法框架，实现不同工程背景下智能的降维积分模型选择。</a:t>
            </a:r>
            <a:endParaRPr sz="1800" dirty="0"/>
          </a:p>
        </p:txBody>
      </p:sp>
      <p:sp>
        <p:nvSpPr>
          <p:cNvPr id="2678" name="textbox 2678"/>
          <p:cNvSpPr/>
          <p:nvPr/>
        </p:nvSpPr>
        <p:spPr>
          <a:xfrm>
            <a:off x="238125" y="6724650"/>
            <a:ext cx="7458075"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哈尔滨工业大学水利工程学院，可靠性与韧性工程研究团队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680" name="textbox 2680"/>
          <p:cNvSpPr/>
          <p:nvPr/>
        </p:nvSpPr>
        <p:spPr>
          <a:xfrm>
            <a:off x="11753850" y="6734175"/>
            <a:ext cx="15240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62</a:t>
            </a:r>
            <a:endParaRPr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4" name="picture 2684"/>
          <p:cNvPicPr>
            <a:picLocks noChangeAspect="1"/>
          </p:cNvPicPr>
          <p:nvPr/>
        </p:nvPicPr>
        <p:blipFill>
          <a:blip r:embed="rId1"/>
          <a:stretch>
            <a:fillRect/>
          </a:stretch>
        </p:blipFill>
        <p:spPr>
          <a:xfrm>
            <a:off x="0" y="0"/>
            <a:ext cx="12192000" cy="6858000"/>
          </a:xfrm>
          <a:prstGeom prst="rect">
            <a:avLst/>
          </a:prstGeom>
        </p:spPr>
      </p:pic>
      <p:sp>
        <p:nvSpPr>
          <p:cNvPr id="2686" name="textbox 2686"/>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688" name="textbox 2688"/>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690" name="textbox 2690"/>
          <p:cNvSpPr/>
          <p:nvPr/>
        </p:nvSpPr>
        <p:spPr>
          <a:xfrm>
            <a:off x="7296150" y="0"/>
            <a:ext cx="4686300" cy="161925"/>
          </a:xfrm>
          <a:prstGeom prst="rect">
            <a:avLst/>
          </a:prstGeom>
          <a:noFill/>
          <a:ln w="0" cap="flat">
            <a:noFill/>
            <a:prstDash val="solid"/>
            <a:miter lim="0"/>
          </a:ln>
        </p:spPr>
        <p:txBody>
          <a:bodyPr vert="horz" wrap="none" lIns="0" tIns="0" rIns="0" bIns="0"/>
          <a:lstStyle/>
          <a:p>
            <a:pPr algn="l" rtl="0" eaLnBrk="0"/>
            <a:r>
              <a:rPr sz="1000" kern="0" spc="0" dirty="0">
                <a:solidFill>
                  <a:srgbClr val="5980A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694" name="picture 2694"/>
          <p:cNvPicPr>
            <a:picLocks noChangeAspect="1"/>
          </p:cNvPicPr>
          <p:nvPr/>
        </p:nvPicPr>
        <p:blipFill>
          <a:blip r:embed="rId2"/>
          <a:stretch>
            <a:fillRect/>
          </a:stretch>
        </p:blipFill>
        <p:spPr>
          <a:xfrm>
            <a:off x="295275" y="247650"/>
            <a:ext cx="742950" cy="685800"/>
          </a:xfrm>
          <a:prstGeom prst="rect">
            <a:avLst/>
          </a:prstGeom>
        </p:spPr>
      </p:pic>
      <p:sp>
        <p:nvSpPr>
          <p:cNvPr id="2696" name="textbox 2696"/>
          <p:cNvSpPr/>
          <p:nvPr/>
        </p:nvSpPr>
        <p:spPr>
          <a:xfrm>
            <a:off x="1438275" y="333375"/>
            <a:ext cx="1895475"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结论与展望</a:t>
            </a:r>
            <a:endParaRPr sz="2800" dirty="0"/>
          </a:p>
        </p:txBody>
      </p:sp>
      <p:sp>
        <p:nvSpPr>
          <p:cNvPr id="2698" name="textbox 2698"/>
          <p:cNvSpPr/>
          <p:nvPr/>
        </p:nvSpPr>
        <p:spPr>
          <a:xfrm>
            <a:off x="1447800" y="752475"/>
            <a:ext cx="2190750"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Conclusions and Prospects</a:t>
            </a:r>
            <a:endParaRPr sz="1400" dirty="0"/>
          </a:p>
        </p:txBody>
      </p:sp>
      <p:sp>
        <p:nvSpPr>
          <p:cNvPr id="2700" name="textbox 2700"/>
          <p:cNvSpPr/>
          <p:nvPr/>
        </p:nvSpPr>
        <p:spPr>
          <a:xfrm>
            <a:off x="1447800" y="1114425"/>
            <a:ext cx="2933700" cy="485775"/>
          </a:xfrm>
          <a:prstGeom prst="rect">
            <a:avLst/>
          </a:prstGeom>
          <a:noFill/>
          <a:ln w="0" cap="flat">
            <a:noFill/>
            <a:prstDash val="solid"/>
            <a:miter lim="0"/>
          </a:ln>
        </p:spPr>
        <p:txBody>
          <a:bodyPr vert="horz" wrap="none" lIns="0" tIns="0" rIns="0" bIns="0"/>
          <a:lstStyle/>
          <a:p>
            <a:pPr algn="l" rtl="0" eaLnBrk="0"/>
            <a:r>
              <a:rPr sz="2000" b="1" kern="0" spc="0" dirty="0">
                <a:solidFill>
                  <a:srgbClr val="0D6EC4">
                    <a:alpha val="100000"/>
                  </a:srgbClr>
                </a:solidFill>
                <a:latin typeface="微软雅黑" panose="020B0503020204020204" charset="-122"/>
                <a:ea typeface="微软雅黑" panose="020B0503020204020204" charset="-122"/>
                <a:cs typeface="微软雅黑" panose="020B0503020204020204" charset="-122"/>
              </a:rPr>
              <a:t>关于降维积分法的展望</a:t>
            </a:r>
            <a:endParaRPr sz="2000" dirty="0"/>
          </a:p>
          <a:p>
            <a:pPr algn="l" rtl="0" eaLnBrk="0"/>
            <a:r>
              <a:rPr sz="1000" i="1" kern="0" spc="0" dirty="0">
                <a:solidFill>
                  <a:srgbClr val="0D6EC4">
                    <a:alpha val="100000"/>
                  </a:srgbClr>
                </a:solidFill>
                <a:latin typeface="Times New Roman" panose="02020603050405020304"/>
                <a:ea typeface="Times New Roman" panose="02020603050405020304"/>
                <a:cs typeface="Times New Roman" panose="02020603050405020304"/>
              </a:rPr>
              <a:t>Prospects on Dimension-Reduction Integration Methods</a:t>
            </a:r>
            <a:endParaRPr sz="1000" dirty="0"/>
          </a:p>
        </p:txBody>
      </p:sp>
      <p:sp>
        <p:nvSpPr>
          <p:cNvPr id="2702" name="textbox 2702"/>
          <p:cNvSpPr/>
          <p:nvPr/>
        </p:nvSpPr>
        <p:spPr>
          <a:xfrm>
            <a:off x="285750" y="1838325"/>
            <a:ext cx="2171700" cy="304800"/>
          </a:xfrm>
          <a:prstGeom prst="rect">
            <a:avLst/>
          </a:prstGeom>
          <a:noFill/>
          <a:ln w="0" cap="flat">
            <a:noFill/>
            <a:prstDash val="solid"/>
            <a:miter lim="0"/>
          </a:ln>
        </p:spPr>
        <p:txBody>
          <a:bodyPr vert="horz" wrap="none" lIns="0" tIns="0" rIns="0" bIns="0"/>
          <a:lstStyle/>
          <a:p>
            <a:pPr marL="381000" indent="-333375" algn="l" rtl="0" eaLnBrk="0">
              <a:buChar char="•"/>
            </a:pPr>
            <a:r>
              <a:rPr sz="20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方法扩展和应用</a:t>
            </a:r>
            <a:endParaRPr sz="2000" dirty="0"/>
          </a:p>
        </p:txBody>
      </p:sp>
      <p:sp>
        <p:nvSpPr>
          <p:cNvPr id="2704" name="textbox 2704"/>
          <p:cNvSpPr/>
          <p:nvPr/>
        </p:nvSpPr>
        <p:spPr>
          <a:xfrm>
            <a:off x="485775" y="2324100"/>
            <a:ext cx="11115675" cy="695325"/>
          </a:xfrm>
          <a:prstGeom prst="rect">
            <a:avLst/>
          </a:prstGeom>
          <a:noFill/>
          <a:ln w="0" cap="flat">
            <a:noFill/>
            <a:prstDash val="solid"/>
            <a:miter lim="0"/>
          </a:ln>
        </p:spPr>
        <p:txBody>
          <a:bodyPr vert="horz" wrap="none" lIns="0" tIns="0" rIns="0" bIns="0"/>
          <a:lstStyle/>
          <a:p>
            <a:pPr marL="571500" indent="-381000" algn="l" rtl="0" eaLnBrk="0">
              <a:buAutoNum type="alphaLcParenBoth" startAt="9"/>
            </a:pP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可靠性分析：</a:t>
            </a:r>
            <a:r>
              <a:rPr sz="1800"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通过基于矩的密度重构或多项式混沌展开，将先进的 DRIM 扩展到结构构件、系统和整体可</a:t>
            </a:r>
            <a:endParaRPr sz="1800" dirty="0"/>
          </a:p>
          <a:p>
            <a:pPr algn="l" rtl="0" eaLnBrk="0">
              <a:spcBef>
                <a:spcPts val="1125"/>
              </a:spcBef>
            </a:pPr>
            <a:r>
              <a:rPr sz="1800"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靠性评估。</a:t>
            </a:r>
            <a:endParaRPr sz="1800" dirty="0"/>
          </a:p>
        </p:txBody>
      </p:sp>
      <p:sp>
        <p:nvSpPr>
          <p:cNvPr id="2706" name="textbox 2706"/>
          <p:cNvSpPr/>
          <p:nvPr/>
        </p:nvSpPr>
        <p:spPr>
          <a:xfrm>
            <a:off x="504825" y="3124200"/>
            <a:ext cx="11096625" cy="704850"/>
          </a:xfrm>
          <a:prstGeom prst="rect">
            <a:avLst/>
          </a:prstGeom>
          <a:noFill/>
          <a:ln w="0" cap="flat">
            <a:noFill/>
            <a:prstDash val="solid"/>
            <a:miter lim="0"/>
          </a:ln>
        </p:spPr>
        <p:txBody>
          <a:bodyPr vert="horz" wrap="none" lIns="0" tIns="0" rIns="0" bIns="0"/>
          <a:lstStyle/>
          <a:p>
            <a:pPr marL="609600" indent="-457200" algn="l" rtl="0" eaLnBrk="0">
              <a:buAutoNum type="romanLcParenBoth" startAt="2"/>
            </a:pP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不确定性设计优化：</a:t>
            </a:r>
            <a:r>
              <a:rPr sz="1800"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将先进的 DRIM 应用于具有高度非线性状态函数或复杂失效模式的工程结构的不确</a:t>
            </a:r>
            <a:endParaRPr sz="1800" dirty="0"/>
          </a:p>
          <a:p>
            <a:pPr algn="l" rtl="0" eaLnBrk="0">
              <a:spcBef>
                <a:spcPts val="1200"/>
              </a:spcBef>
            </a:pPr>
            <a:r>
              <a:rPr sz="1800"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定性设计优化，例如基于可靠性的设计优化（RBDO）和鲁棒设计优化（RDO）。</a:t>
            </a:r>
            <a:endParaRPr sz="1800" dirty="0"/>
          </a:p>
        </p:txBody>
      </p:sp>
      <p:sp>
        <p:nvSpPr>
          <p:cNvPr id="2708" name="textbox 2708"/>
          <p:cNvSpPr/>
          <p:nvPr/>
        </p:nvSpPr>
        <p:spPr>
          <a:xfrm>
            <a:off x="485775" y="3952875"/>
            <a:ext cx="11134725" cy="723900"/>
          </a:xfrm>
          <a:prstGeom prst="rect">
            <a:avLst/>
          </a:prstGeom>
          <a:noFill/>
          <a:ln w="0" cap="flat">
            <a:noFill/>
            <a:prstDash val="solid"/>
            <a:miter lim="0"/>
          </a:ln>
        </p:spPr>
        <p:txBody>
          <a:bodyPr vert="horz" wrap="none" lIns="0" tIns="0" rIns="0" bIns="0"/>
          <a:lstStyle/>
          <a:p>
            <a:pPr marL="685800" indent="-504825" algn="l" rtl="0" eaLnBrk="0">
              <a:buAutoNum type="romanLcParenBoth" startAt="3"/>
            </a:pPr>
            <a:r>
              <a:rPr sz="1800" b="1"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风险与韧性</a:t>
            </a:r>
            <a:r>
              <a:rPr sz="1800"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：将 DRIM 应用于工程结构的灾害脆弱性分析、风险评估和韧性评估，例如输电结构的风致</a:t>
            </a:r>
            <a:endParaRPr sz="1800" dirty="0"/>
          </a:p>
          <a:p>
            <a:pPr algn="l" rtl="0" eaLnBrk="0">
              <a:spcBef>
                <a:spcPts val="1275"/>
              </a:spcBef>
            </a:pPr>
            <a:r>
              <a:rPr sz="1800"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脆弱性分析。</a:t>
            </a:r>
            <a:endParaRPr sz="1800" dirty="0"/>
          </a:p>
        </p:txBody>
      </p:sp>
      <p:sp>
        <p:nvSpPr>
          <p:cNvPr id="2710" name="textbox 2710"/>
          <p:cNvSpPr/>
          <p:nvPr/>
        </p:nvSpPr>
        <p:spPr>
          <a:xfrm>
            <a:off x="276225" y="4924425"/>
            <a:ext cx="7620000" cy="285750"/>
          </a:xfrm>
          <a:prstGeom prst="rect">
            <a:avLst/>
          </a:prstGeom>
          <a:noFill/>
          <a:ln w="0" cap="flat">
            <a:noFill/>
            <a:prstDash val="solid"/>
            <a:miter lim="0"/>
          </a:ln>
        </p:spPr>
        <p:txBody>
          <a:bodyPr vert="horz" wrap="none" lIns="0" tIns="0" rIns="0" bIns="0"/>
          <a:lstStyle/>
          <a:p>
            <a:pPr algn="l" rtl="0" eaLnBrk="0"/>
            <a:r>
              <a:rPr sz="2000" kern="0" spc="0" dirty="0">
                <a:solidFill>
                  <a:srgbClr val="1F497D">
                    <a:alpha val="100000"/>
                  </a:srgbClr>
                </a:solidFill>
                <a:latin typeface="Arial" panose="020B0604020202020204"/>
                <a:ea typeface="Arial" panose="020B0604020202020204"/>
                <a:cs typeface="Arial" panose="020B0604020202020204"/>
              </a:rPr>
              <a:t>◦ </a:t>
            </a:r>
            <a:r>
              <a:rPr sz="20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计算软件的集成与模块化开发模块化、可嵌入的</a:t>
            </a:r>
            <a:r>
              <a:rPr sz="2000" b="1" kern="0" spc="0" dirty="0">
                <a:solidFill>
                  <a:srgbClr val="7030A0">
                    <a:alpha val="100000"/>
                  </a:srgbClr>
                </a:solidFill>
                <a:latin typeface="Arial" panose="020B0604020202020204"/>
                <a:ea typeface="Arial" panose="020B0604020202020204"/>
                <a:cs typeface="Arial" panose="020B0604020202020204"/>
              </a:rPr>
              <a:t> DRIM </a:t>
            </a:r>
            <a:r>
              <a:rPr sz="2000" b="1" kern="0" spc="0" dirty="0">
                <a:solidFill>
                  <a:srgbClr val="7030A0">
                    <a:alpha val="100000"/>
                  </a:srgbClr>
                </a:solidFill>
                <a:latin typeface="微软雅黑" panose="020B0503020204020204" charset="-122"/>
                <a:ea typeface="微软雅黑" panose="020B0503020204020204" charset="-122"/>
                <a:cs typeface="微软雅黑" panose="020B0503020204020204" charset="-122"/>
              </a:rPr>
              <a:t>软件架构</a:t>
            </a:r>
            <a:endParaRPr sz="2000" dirty="0"/>
          </a:p>
        </p:txBody>
      </p:sp>
      <p:sp>
        <p:nvSpPr>
          <p:cNvPr id="2712" name="textbox 2712"/>
          <p:cNvSpPr/>
          <p:nvPr/>
        </p:nvSpPr>
        <p:spPr>
          <a:xfrm>
            <a:off x="628650" y="5381625"/>
            <a:ext cx="3048000" cy="257175"/>
          </a:xfrm>
          <a:prstGeom prst="rect">
            <a:avLst/>
          </a:prstGeom>
          <a:noFill/>
          <a:ln w="0" cap="flat">
            <a:noFill/>
            <a:prstDash val="solid"/>
            <a:miter lim="0"/>
          </a:ln>
        </p:spPr>
        <p:txBody>
          <a:bodyPr vert="horz" wrap="none" lIns="0" tIns="0" rIns="0" bIns="0"/>
          <a:lstStyle/>
          <a:p>
            <a:pPr marL="428625" indent="-381000" algn="l" rtl="0" eaLnBrk="0">
              <a:buAutoNum type="alphaLcParenBoth" startAt="9"/>
            </a:pPr>
            <a:r>
              <a:rPr sz="18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简化研究人员的理论采用；</a:t>
            </a:r>
            <a:endParaRPr sz="1800" dirty="0"/>
          </a:p>
        </p:txBody>
      </p:sp>
      <p:sp>
        <p:nvSpPr>
          <p:cNvPr id="2714" name="textbox 2714"/>
          <p:cNvSpPr/>
          <p:nvPr/>
        </p:nvSpPr>
        <p:spPr>
          <a:xfrm>
            <a:off x="628650" y="5810250"/>
            <a:ext cx="3343275" cy="247650"/>
          </a:xfrm>
          <a:prstGeom prst="rect">
            <a:avLst/>
          </a:prstGeom>
          <a:noFill/>
          <a:ln w="0" cap="flat">
            <a:noFill/>
            <a:prstDash val="solid"/>
            <a:miter lim="0"/>
          </a:ln>
        </p:spPr>
        <p:txBody>
          <a:bodyPr vert="horz" wrap="none" lIns="0" tIns="0" rIns="0" bIns="0"/>
          <a:lstStyle/>
          <a:p>
            <a:pPr algn="l" rtl="0" eaLnBrk="0"/>
            <a:r>
              <a:rPr sz="1800" b="1" kern="0" spc="0" dirty="0">
                <a:solidFill>
                  <a:srgbClr val="0066CC">
                    <a:alpha val="100000"/>
                  </a:srgbClr>
                </a:solidFill>
                <a:latin typeface="微软雅黑" panose="020B0503020204020204" charset="-122"/>
                <a:ea typeface="微软雅黑" panose="020B0503020204020204" charset="-122"/>
                <a:cs typeface="微软雅黑" panose="020B0503020204020204" charset="-122"/>
              </a:rPr>
              <a:t>（ii）方便工程实践者的实际应用；</a:t>
            </a:r>
            <a:endParaRPr sz="1800" dirty="0"/>
          </a:p>
        </p:txBody>
      </p:sp>
      <p:sp>
        <p:nvSpPr>
          <p:cNvPr id="2716" name="textbox 2716"/>
          <p:cNvSpPr/>
          <p:nvPr/>
        </p:nvSpPr>
        <p:spPr>
          <a:xfrm>
            <a:off x="628650" y="6210300"/>
            <a:ext cx="4781550" cy="276225"/>
          </a:xfrm>
          <a:prstGeom prst="rect">
            <a:avLst/>
          </a:prstGeom>
          <a:noFill/>
          <a:ln w="0" cap="flat">
            <a:noFill/>
            <a:prstDash val="solid"/>
            <a:miter lim="0"/>
          </a:ln>
        </p:spPr>
        <p:txBody>
          <a:bodyPr vert="horz" wrap="none" lIns="0" tIns="0" rIns="0" bIns="0"/>
          <a:lstStyle/>
          <a:p>
            <a:pPr marL="552450" indent="-504825" algn="l" rtl="0" eaLnBrk="0">
              <a:buAutoNum type="romanLcParenBoth" startAt="3"/>
            </a:pPr>
            <a:r>
              <a:rPr sz="1800" b="1" kern="0" spc="0" dirty="0">
                <a:solidFill>
                  <a:srgbClr val="1575D9">
                    <a:alpha val="100000"/>
                  </a:srgbClr>
                </a:solidFill>
                <a:latin typeface="微软雅黑" panose="020B0503020204020204" charset="-122"/>
                <a:ea typeface="微软雅黑" panose="020B0503020204020204" charset="-122"/>
                <a:cs typeface="微软雅黑" panose="020B0503020204020204" charset="-122"/>
              </a:rPr>
              <a:t>在统一的计算框架内集中各种</a:t>
            </a:r>
            <a:r>
              <a:rPr sz="1800" b="1" kern="0" spc="0" dirty="0">
                <a:solidFill>
                  <a:srgbClr val="1575D9">
                    <a:alpha val="100000"/>
                  </a:srgbClr>
                </a:solidFill>
                <a:latin typeface="Arial" panose="020B0604020202020204"/>
                <a:ea typeface="Arial" panose="020B0604020202020204"/>
                <a:cs typeface="Arial" panose="020B0604020202020204"/>
              </a:rPr>
              <a:t> DRIM </a:t>
            </a:r>
            <a:r>
              <a:rPr sz="1800" b="1" kern="0" spc="0" dirty="0">
                <a:solidFill>
                  <a:srgbClr val="1575D9">
                    <a:alpha val="100000"/>
                  </a:srgbClr>
                </a:solidFill>
                <a:latin typeface="微软雅黑" panose="020B0503020204020204" charset="-122"/>
                <a:ea typeface="微软雅黑" panose="020B0503020204020204" charset="-122"/>
                <a:cs typeface="微软雅黑" panose="020B0503020204020204" charset="-122"/>
              </a:rPr>
              <a:t>变体。</a:t>
            </a:r>
            <a:endParaRPr sz="1800" dirty="0"/>
          </a:p>
        </p:txBody>
      </p:sp>
      <p:sp>
        <p:nvSpPr>
          <p:cNvPr id="2718" name="textbox 271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720" name="textbox 2720"/>
          <p:cNvSpPr/>
          <p:nvPr/>
        </p:nvSpPr>
        <p:spPr>
          <a:xfrm>
            <a:off x="11753850" y="6734175"/>
            <a:ext cx="15240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63</a:t>
            </a:r>
            <a:endParaRPr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4" name="picture 2724"/>
          <p:cNvPicPr>
            <a:picLocks noChangeAspect="1"/>
          </p:cNvPicPr>
          <p:nvPr/>
        </p:nvPicPr>
        <p:blipFill>
          <a:blip r:embed="rId1"/>
          <a:stretch>
            <a:fillRect/>
          </a:stretch>
        </p:blipFill>
        <p:spPr>
          <a:xfrm>
            <a:off x="0" y="0"/>
            <a:ext cx="12192000" cy="6858000"/>
          </a:xfrm>
          <a:prstGeom prst="rect">
            <a:avLst/>
          </a:prstGeom>
        </p:spPr>
      </p:pic>
      <p:sp>
        <p:nvSpPr>
          <p:cNvPr id="2726" name="textbox 2726"/>
          <p:cNvSpPr/>
          <p:nvPr/>
        </p:nvSpPr>
        <p:spPr>
          <a:xfrm>
            <a:off x="161925" y="0"/>
            <a:ext cx="847725" cy="161925"/>
          </a:xfrm>
          <a:prstGeom prst="rect">
            <a:avLst/>
          </a:prstGeom>
          <a:noFill/>
          <a:ln w="0" cap="flat">
            <a:noFill/>
            <a:prstDash val="solid"/>
            <a:miter lim="0"/>
          </a:ln>
        </p:spPr>
        <p:txBody>
          <a:bodyPr vert="horz" wrap="none" lIns="0" tIns="0" rIns="0" bIns="0"/>
          <a:lstStyle/>
          <a:p>
            <a:pPr algn="l" rtl="0" eaLnBrk="0"/>
            <a:r>
              <a:rPr sz="1000" kern="0" spc="0" dirty="0">
                <a:solidFill>
                  <a:srgbClr val="DAE3F5">
                    <a:alpha val="100000"/>
                  </a:srgbClr>
                </a:solidFill>
                <a:latin typeface="楷体" panose="02010609060101010101" charset="-122"/>
                <a:ea typeface="楷体" panose="02010609060101010101" charset="-122"/>
                <a:cs typeface="楷体" panose="02010609060101010101" charset="-122"/>
              </a:rPr>
              <a:t>吕大刚，王涛</a:t>
            </a:r>
            <a:endParaRPr sz="1000" dirty="0"/>
          </a:p>
        </p:txBody>
      </p:sp>
      <p:sp>
        <p:nvSpPr>
          <p:cNvPr id="2728" name="textbox 2728"/>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730" name="textbox 273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2B5C85">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734" name="picture 2734"/>
          <p:cNvPicPr>
            <a:picLocks noChangeAspect="1"/>
          </p:cNvPicPr>
          <p:nvPr/>
        </p:nvPicPr>
        <p:blipFill>
          <a:blip r:embed="rId2"/>
          <a:stretch>
            <a:fillRect/>
          </a:stretch>
        </p:blipFill>
        <p:spPr>
          <a:xfrm>
            <a:off x="304800" y="247650"/>
            <a:ext cx="723900" cy="666750"/>
          </a:xfrm>
          <a:prstGeom prst="rect">
            <a:avLst/>
          </a:prstGeom>
        </p:spPr>
      </p:pic>
      <p:sp>
        <p:nvSpPr>
          <p:cNvPr id="2736" name="textbox 2736"/>
          <p:cNvSpPr/>
          <p:nvPr/>
        </p:nvSpPr>
        <p:spPr>
          <a:xfrm>
            <a:off x="1447800" y="333375"/>
            <a:ext cx="1524000"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论文投稿</a:t>
            </a:r>
            <a:endParaRPr sz="2800" dirty="0"/>
          </a:p>
        </p:txBody>
      </p:sp>
      <p:sp>
        <p:nvSpPr>
          <p:cNvPr id="2738" name="textbox 2738"/>
          <p:cNvSpPr/>
          <p:nvPr/>
        </p:nvSpPr>
        <p:spPr>
          <a:xfrm>
            <a:off x="1447800" y="752475"/>
            <a:ext cx="2676525" cy="200025"/>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Submission of the Paper to JRSE</a:t>
            </a:r>
            <a:endParaRPr sz="1400" dirty="0"/>
          </a:p>
        </p:txBody>
      </p:sp>
      <p:pic>
        <p:nvPicPr>
          <p:cNvPr id="2742" name="picture 2742"/>
          <p:cNvPicPr>
            <a:picLocks noChangeAspect="1"/>
          </p:cNvPicPr>
          <p:nvPr/>
        </p:nvPicPr>
        <p:blipFill>
          <a:blip r:embed="rId3"/>
          <a:stretch>
            <a:fillRect/>
          </a:stretch>
        </p:blipFill>
        <p:spPr>
          <a:xfrm>
            <a:off x="657225" y="1181100"/>
            <a:ext cx="6362700" cy="5343525"/>
          </a:xfrm>
          <a:prstGeom prst="rect">
            <a:avLst/>
          </a:prstGeom>
        </p:spPr>
      </p:pic>
      <p:pic>
        <p:nvPicPr>
          <p:cNvPr id="2746" name="picture 2746"/>
          <p:cNvPicPr>
            <a:picLocks noChangeAspect="1"/>
          </p:cNvPicPr>
          <p:nvPr/>
        </p:nvPicPr>
        <p:blipFill>
          <a:blip r:embed="rId4"/>
          <a:stretch>
            <a:fillRect/>
          </a:stretch>
        </p:blipFill>
        <p:spPr>
          <a:xfrm>
            <a:off x="7658100" y="1162050"/>
            <a:ext cx="3895725" cy="5353050"/>
          </a:xfrm>
          <a:prstGeom prst="rect">
            <a:avLst/>
          </a:prstGeom>
        </p:spPr>
      </p:pic>
      <p:sp>
        <p:nvSpPr>
          <p:cNvPr id="2748" name="textbox 2748"/>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200" kern="0" spc="0" dirty="0">
                <a:solidFill>
                  <a:srgbClr val="D6F4F2">
                    <a:alpha val="100000"/>
                  </a:srgbClr>
                </a:solidFill>
                <a:latin typeface="宋体" panose="02010600030101010101" pitchFamily="2" charset="-122"/>
                <a:ea typeface="宋体" panose="02010600030101010101" pitchFamily="2" charset="-122"/>
                <a:cs typeface="宋体" panose="02010600030101010101" pitchFamily="2" charset="-122"/>
              </a:rPr>
              <a:t>哈尔滨工业大学土木工程学院，可靠性与韧性工程研究团队</a:t>
            </a:r>
            <a:r>
              <a:rPr sz="1200" kern="0" spc="0" dirty="0">
                <a:solidFill>
                  <a:srgbClr val="D6F4F2">
                    <a:alpha val="100000"/>
                  </a:srgbClr>
                </a:solidFill>
                <a:latin typeface="Times New Roman" panose="02020603050405020304"/>
                <a:ea typeface="Times New Roman" panose="02020603050405020304"/>
                <a:cs typeface="Times New Roman" panose="02020603050405020304"/>
              </a:rPr>
              <a:t> (Reliability And Resilience Engineering Research Group, RARE @HIT)</a:t>
            </a:r>
            <a:endParaRPr sz="1200" dirty="0"/>
          </a:p>
        </p:txBody>
      </p:sp>
      <p:sp>
        <p:nvSpPr>
          <p:cNvPr id="2750" name="textbox 2750"/>
          <p:cNvSpPr/>
          <p:nvPr/>
        </p:nvSpPr>
        <p:spPr>
          <a:xfrm>
            <a:off x="11753850" y="6734175"/>
            <a:ext cx="180975" cy="114300"/>
          </a:xfrm>
          <a:prstGeom prst="rect">
            <a:avLst/>
          </a:prstGeom>
          <a:noFill/>
          <a:ln w="0" cap="flat">
            <a:noFill/>
            <a:prstDash val="solid"/>
            <a:miter lim="0"/>
          </a:ln>
        </p:spPr>
        <p:txBody>
          <a:bodyPr vert="horz" wrap="none" lIns="0" tIns="0" rIns="0" bIns="0"/>
          <a:lstStyle/>
          <a:p>
            <a:pPr algn="l" rtl="0" eaLnBrk="0"/>
            <a:r>
              <a:rPr sz="1000" kern="0" spc="300" dirty="0">
                <a:solidFill>
                  <a:srgbClr val="FFFFFF">
                    <a:alpha val="100000"/>
                  </a:srgbClr>
                </a:solidFill>
                <a:latin typeface="Arial" panose="020B0604020202020204"/>
                <a:ea typeface="Arial" panose="020B0604020202020204"/>
                <a:cs typeface="Arial" panose="020B0604020202020204"/>
              </a:rPr>
              <a:t>64</a:t>
            </a:r>
            <a:endParaRPr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 name="picture 2754"/>
          <p:cNvPicPr>
            <a:picLocks noChangeAspect="1"/>
          </p:cNvPicPr>
          <p:nvPr/>
        </p:nvPicPr>
        <p:blipFill>
          <a:blip r:embed="rId1"/>
          <a:stretch>
            <a:fillRect/>
          </a:stretch>
        </p:blipFill>
        <p:spPr>
          <a:xfrm>
            <a:off x="0" y="0"/>
            <a:ext cx="12192000" cy="6858000"/>
          </a:xfrm>
          <a:prstGeom prst="rect">
            <a:avLst/>
          </a:prstGeom>
        </p:spPr>
      </p:pic>
      <p:sp>
        <p:nvSpPr>
          <p:cNvPr id="2756" name="textbox 2756"/>
          <p:cNvSpPr/>
          <p:nvPr/>
        </p:nvSpPr>
        <p:spPr>
          <a:xfrm>
            <a:off x="161925" y="0"/>
            <a:ext cx="866775" cy="161925"/>
          </a:xfrm>
          <a:prstGeom prst="rect">
            <a:avLst/>
          </a:prstGeom>
          <a:noFill/>
          <a:ln w="0" cap="flat">
            <a:noFill/>
            <a:prstDash val="solid"/>
            <a:miter lim="0"/>
          </a:ln>
        </p:spPr>
        <p:txBody>
          <a:bodyPr vert="horz" wrap="none" lIns="0" tIns="0" rIns="0" bIns="0"/>
          <a:lstStyle/>
          <a:p>
            <a:pPr algn="l" rtl="0" eaLnBrk="0"/>
            <a:r>
              <a:rPr sz="1100" kern="0" spc="0" dirty="0">
                <a:solidFill>
                  <a:srgbClr val="FFFFFF">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758" name="textbox 2758"/>
          <p:cNvSpPr/>
          <p:nvPr/>
        </p:nvSpPr>
        <p:spPr>
          <a:xfrm>
            <a:off x="1266825" y="0"/>
            <a:ext cx="2657475" cy="161925"/>
          </a:xfrm>
          <a:prstGeom prst="rect">
            <a:avLst/>
          </a:prstGeom>
          <a:noFill/>
          <a:ln w="0" cap="flat">
            <a:noFill/>
            <a:prstDash val="solid"/>
            <a:miter lim="0"/>
          </a:ln>
        </p:spPr>
        <p:txBody>
          <a:bodyPr vert="horz" wrap="none" lIns="0" tIns="0" rIns="0" bIns="0"/>
          <a:lstStyle/>
          <a:p>
            <a:pPr algn="l" rtl="0" eaLnBrk="0"/>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A9E9E4">
                    <a:alpha val="100000"/>
                  </a:srgbClr>
                </a:solidFill>
                <a:latin typeface="Times New Roman" panose="02020603050405020304"/>
                <a:ea typeface="Times New Roman" panose="02020603050405020304"/>
                <a:cs typeface="Times New Roman" panose="02020603050405020304"/>
              </a:rPr>
              <a:t>:</a:t>
            </a:r>
            <a:r>
              <a:rPr sz="1000" kern="0" spc="0" dirty="0">
                <a:solidFill>
                  <a:srgbClr val="A9E9E4">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760" name="textbox 2760"/>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587FA6">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764" name="picture 2764"/>
          <p:cNvPicPr>
            <a:picLocks noChangeAspect="1"/>
          </p:cNvPicPr>
          <p:nvPr/>
        </p:nvPicPr>
        <p:blipFill>
          <a:blip r:embed="rId2"/>
          <a:stretch>
            <a:fillRect/>
          </a:stretch>
        </p:blipFill>
        <p:spPr>
          <a:xfrm>
            <a:off x="295275" y="247650"/>
            <a:ext cx="733425" cy="666750"/>
          </a:xfrm>
          <a:prstGeom prst="rect">
            <a:avLst/>
          </a:prstGeom>
        </p:spPr>
      </p:pic>
      <p:sp>
        <p:nvSpPr>
          <p:cNvPr id="2766" name="textbox 2766"/>
          <p:cNvSpPr/>
          <p:nvPr/>
        </p:nvSpPr>
        <p:spPr>
          <a:xfrm>
            <a:off x="1457325" y="333375"/>
            <a:ext cx="5629275"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可靠性与韧性工程研究团队 @HIT</a:t>
            </a:r>
            <a:endParaRPr sz="2800" dirty="0"/>
          </a:p>
        </p:txBody>
      </p:sp>
      <p:sp>
        <p:nvSpPr>
          <p:cNvPr id="2768" name="textbox 2768"/>
          <p:cNvSpPr/>
          <p:nvPr/>
        </p:nvSpPr>
        <p:spPr>
          <a:xfrm>
            <a:off x="1447800" y="752475"/>
            <a:ext cx="5543550" cy="200025"/>
          </a:xfrm>
          <a:prstGeom prst="rect">
            <a:avLst/>
          </a:prstGeom>
          <a:noFill/>
          <a:ln w="0" cap="flat">
            <a:noFill/>
            <a:prstDash val="solid"/>
            <a:miter lim="0"/>
          </a:ln>
        </p:spPr>
        <p:txBody>
          <a:bodyPr vert="horz" wrap="none" lIns="0" tIns="0" rIns="0" bIns="0"/>
          <a:lstStyle/>
          <a:p>
            <a:pPr algn="l" rtl="0" eaLnBrk="0"/>
            <a:r>
              <a:rPr sz="1400" kern="0" spc="0" dirty="0">
                <a:solidFill>
                  <a:srgbClr val="CBEDFD">
                    <a:alpha val="100000"/>
                  </a:srgbClr>
                </a:solidFill>
                <a:latin typeface="Arial" panose="020B0604020202020204"/>
                <a:ea typeface="Arial" panose="020B0604020202020204"/>
                <a:cs typeface="Arial" panose="020B0604020202020204"/>
              </a:rPr>
              <a:t>Reliability and Resilience Engineering (RARE) Research Group @HIT</a:t>
            </a:r>
            <a:endParaRPr sz="1400" dirty="0"/>
          </a:p>
        </p:txBody>
      </p:sp>
      <p:sp>
        <p:nvSpPr>
          <p:cNvPr id="2770" name="textbox 2770"/>
          <p:cNvSpPr/>
          <p:nvPr/>
        </p:nvSpPr>
        <p:spPr>
          <a:xfrm>
            <a:off x="238125" y="1466850"/>
            <a:ext cx="5438775" cy="219075"/>
          </a:xfrm>
          <a:prstGeom prst="rect">
            <a:avLst/>
          </a:prstGeom>
          <a:noFill/>
          <a:ln w="0" cap="flat">
            <a:noFill/>
            <a:prstDash val="solid"/>
            <a:miter lim="0"/>
          </a:ln>
        </p:spPr>
        <p:txBody>
          <a:bodyPr vert="horz" wrap="none" lIns="0" tIns="0" rIns="0" bIns="0"/>
          <a:lstStyle/>
          <a:p>
            <a:pPr algn="l" rtl="0" eaLnBrk="0"/>
            <a:r>
              <a:rPr sz="1300" b="1" kern="0" spc="0" dirty="0">
                <a:solidFill>
                  <a:srgbClr val="009900">
                    <a:alpha val="100000"/>
                  </a:srgbClr>
                </a:solidFill>
                <a:latin typeface="Times New Roman" panose="02020603050405020304"/>
                <a:ea typeface="Times New Roman" panose="02020603050405020304"/>
                <a:cs typeface="Times New Roman" panose="02020603050405020304"/>
              </a:rPr>
              <a:t>Uncertainty Characterization, Quantification &amp; Propagation in Engineering</a:t>
            </a:r>
            <a:endParaRPr sz="1300" dirty="0"/>
          </a:p>
        </p:txBody>
      </p:sp>
      <p:sp>
        <p:nvSpPr>
          <p:cNvPr id="2772" name="textbox 2772"/>
          <p:cNvSpPr/>
          <p:nvPr/>
        </p:nvSpPr>
        <p:spPr>
          <a:xfrm>
            <a:off x="238125" y="1847850"/>
            <a:ext cx="5181600" cy="514350"/>
          </a:xfrm>
          <a:prstGeom prst="rect">
            <a:avLst/>
          </a:prstGeom>
          <a:noFill/>
          <a:ln w="0" cap="flat">
            <a:noFill/>
            <a:prstDash val="solid"/>
            <a:miter lim="0"/>
          </a:ln>
        </p:spPr>
        <p:txBody>
          <a:bodyPr vert="horz" wrap="none" lIns="0" tIns="0" rIns="0" bIns="0"/>
          <a:lstStyle/>
          <a:p>
            <a:pPr algn="l" rtl="0" eaLnBrk="0"/>
            <a:r>
              <a:rPr sz="1200" b="1" kern="0" spc="0" dirty="0">
                <a:solidFill>
                  <a:srgbClr val="00B0F0">
                    <a:alpha val="100000"/>
                  </a:srgbClr>
                </a:solidFill>
                <a:latin typeface="Georgia" panose="02040502050405020303"/>
                <a:ea typeface="Georgia" panose="02040502050405020303"/>
                <a:cs typeface="Georgia" panose="02040502050405020303"/>
              </a:rPr>
              <a:t>Global Reliability &amp; Sensitivity Analysis, Reliability-Based Design and</a:t>
            </a:r>
            <a:endParaRPr sz="1200" dirty="0"/>
          </a:p>
          <a:p>
            <a:pPr marL="314325" algn="l" rtl="0" eaLnBrk="0">
              <a:spcBef>
                <a:spcPts val="900"/>
              </a:spcBef>
            </a:pPr>
            <a:r>
              <a:rPr sz="1200" b="1" kern="0" spc="0" dirty="0">
                <a:solidFill>
                  <a:srgbClr val="00B0F0">
                    <a:alpha val="100000"/>
                  </a:srgbClr>
                </a:solidFill>
                <a:latin typeface="Georgia" panose="02040502050405020303"/>
                <a:ea typeface="Georgia" panose="02040502050405020303"/>
                <a:cs typeface="Georgia" panose="02040502050405020303"/>
              </a:rPr>
              <a:t>Optimization of Engineering Structures</a:t>
            </a:r>
            <a:endParaRPr sz="1200" dirty="0"/>
          </a:p>
        </p:txBody>
      </p:sp>
      <p:sp>
        <p:nvSpPr>
          <p:cNvPr id="2774" name="textbox 2774"/>
          <p:cNvSpPr/>
          <p:nvPr/>
        </p:nvSpPr>
        <p:spPr>
          <a:xfrm>
            <a:off x="238125" y="2533650"/>
            <a:ext cx="5133975" cy="523875"/>
          </a:xfrm>
          <a:prstGeom prst="rect">
            <a:avLst/>
          </a:prstGeom>
          <a:noFill/>
          <a:ln w="0" cap="flat">
            <a:noFill/>
            <a:prstDash val="solid"/>
            <a:miter lim="0"/>
          </a:ln>
        </p:spPr>
        <p:txBody>
          <a:bodyPr vert="horz" wrap="none" lIns="0" tIns="0" rIns="0" bIns="0"/>
          <a:lstStyle/>
          <a:p>
            <a:pPr marL="361950" indent="-333375" algn="l" rtl="0" eaLnBrk="0">
              <a:buChar char="•"/>
            </a:pPr>
            <a:r>
              <a:rPr sz="1300" b="1" kern="0" spc="0" dirty="0">
                <a:solidFill>
                  <a:srgbClr val="002060">
                    <a:alpha val="100000"/>
                  </a:srgbClr>
                </a:solidFill>
                <a:latin typeface="Georgia" panose="02040502050405020303"/>
                <a:ea typeface="Georgia" panose="02040502050405020303"/>
                <a:cs typeface="Georgia" panose="02040502050405020303"/>
              </a:rPr>
              <a:t>Intelligent Computing, Design, Construction and Maintenance of Civil</a:t>
            </a:r>
            <a:endParaRPr sz="1300" dirty="0"/>
          </a:p>
          <a:p>
            <a:pPr marL="295275" algn="l" rtl="0" eaLnBrk="0">
              <a:spcBef>
                <a:spcPts val="750"/>
              </a:spcBef>
            </a:pPr>
            <a:r>
              <a:rPr sz="1300" b="1" kern="0" spc="0" dirty="0">
                <a:solidFill>
                  <a:srgbClr val="002060">
                    <a:alpha val="100000"/>
                  </a:srgbClr>
                </a:solidFill>
                <a:latin typeface="Georgia" panose="02040502050405020303"/>
                <a:ea typeface="Georgia" panose="02040502050405020303"/>
                <a:cs typeface="Georgia" panose="02040502050405020303"/>
              </a:rPr>
              <a:t>Engineering and Infrastructure</a:t>
            </a:r>
            <a:endParaRPr sz="1300" dirty="0"/>
          </a:p>
        </p:txBody>
      </p:sp>
      <p:sp>
        <p:nvSpPr>
          <p:cNvPr id="2776" name="textbox 2776"/>
          <p:cNvSpPr/>
          <p:nvPr/>
        </p:nvSpPr>
        <p:spPr>
          <a:xfrm>
            <a:off x="228600" y="3219450"/>
            <a:ext cx="5229225" cy="523875"/>
          </a:xfrm>
          <a:prstGeom prst="rect">
            <a:avLst/>
          </a:prstGeom>
          <a:noFill/>
          <a:ln w="0" cap="flat">
            <a:noFill/>
            <a:prstDash val="solid"/>
            <a:miter lim="0"/>
          </a:ln>
        </p:spPr>
        <p:txBody>
          <a:bodyPr vert="horz" wrap="none" lIns="0" tIns="0" rIns="0" bIns="0"/>
          <a:lstStyle/>
          <a:p>
            <a:pPr algn="l" rtl="0" eaLnBrk="0"/>
            <a:r>
              <a:rPr sz="1200" b="1" kern="0" spc="0" dirty="0">
                <a:solidFill>
                  <a:srgbClr val="002060">
                    <a:alpha val="100000"/>
                  </a:srgbClr>
                </a:solidFill>
                <a:latin typeface="Georgia" panose="02040502050405020303"/>
                <a:ea typeface="Georgia" panose="02040502050405020303"/>
                <a:cs typeface="Georgia" panose="02040502050405020303"/>
              </a:rPr>
              <a:t>Safety, Reliability and Robustness of Engineering Structures (Buildings,</a:t>
            </a:r>
            <a:endParaRPr sz="1200" dirty="0"/>
          </a:p>
          <a:p>
            <a:pPr marL="314325" algn="l" rtl="0" eaLnBrk="0">
              <a:spcBef>
                <a:spcPts val="1050"/>
              </a:spcBef>
            </a:pPr>
            <a:r>
              <a:rPr sz="1200" b="1" kern="0" spc="0" dirty="0">
                <a:solidFill>
                  <a:srgbClr val="002060">
                    <a:alpha val="100000"/>
                  </a:srgbClr>
                </a:solidFill>
                <a:latin typeface="Georgia" panose="02040502050405020303"/>
                <a:ea typeface="Georgia" panose="02040502050405020303"/>
                <a:cs typeface="Georgia" panose="02040502050405020303"/>
              </a:rPr>
              <a:t>Bridges, Offshore Structures, Industrial Facilities, etc.)</a:t>
            </a:r>
            <a:endParaRPr sz="1200" dirty="0"/>
          </a:p>
        </p:txBody>
      </p:sp>
      <p:sp>
        <p:nvSpPr>
          <p:cNvPr id="2778" name="textbox 2778"/>
          <p:cNvSpPr/>
          <p:nvPr/>
        </p:nvSpPr>
        <p:spPr>
          <a:xfrm>
            <a:off x="285750" y="3924300"/>
            <a:ext cx="5010150" cy="504825"/>
          </a:xfrm>
          <a:prstGeom prst="rect">
            <a:avLst/>
          </a:prstGeom>
          <a:noFill/>
          <a:ln w="0" cap="flat">
            <a:noFill/>
            <a:prstDash val="solid"/>
            <a:miter lim="0"/>
          </a:ln>
        </p:spPr>
        <p:txBody>
          <a:bodyPr vert="horz" wrap="none" lIns="0" tIns="0" rIns="0" bIns="0"/>
          <a:lstStyle/>
          <a:p>
            <a:pPr algn="l" rtl="0" eaLnBrk="0"/>
            <a:r>
              <a:rPr sz="1200" b="1" kern="0" spc="0" dirty="0">
                <a:solidFill>
                  <a:srgbClr val="002060">
                    <a:alpha val="100000"/>
                  </a:srgbClr>
                </a:solidFill>
                <a:latin typeface="Georgia" panose="02040502050405020303"/>
                <a:ea typeface="Georgia" panose="02040502050405020303"/>
                <a:cs typeface="Georgia" panose="02040502050405020303"/>
              </a:rPr>
              <a:t>2 Vulnerability, Risk and Resilience of Critical Infrastructure Systems</a:t>
            </a:r>
            <a:endParaRPr sz="1200" dirty="0"/>
          </a:p>
          <a:p>
            <a:pPr marL="257175" algn="l" rtl="0" eaLnBrk="0">
              <a:spcBef>
                <a:spcPts val="975"/>
              </a:spcBef>
            </a:pPr>
            <a:r>
              <a:rPr sz="1200" b="1" kern="0" spc="0" dirty="0">
                <a:solidFill>
                  <a:srgbClr val="002060">
                    <a:alpha val="100000"/>
                  </a:srgbClr>
                </a:solidFill>
                <a:latin typeface="Georgia" panose="02040502050405020303"/>
                <a:ea typeface="Georgia" panose="02040502050405020303"/>
                <a:cs typeface="Georgia" panose="02040502050405020303"/>
              </a:rPr>
              <a:t>(Transportation, Lifelines, Portfolio Buildings) against Multi-Hazards</a:t>
            </a:r>
            <a:endParaRPr sz="1200" dirty="0"/>
          </a:p>
        </p:txBody>
      </p:sp>
      <p:sp>
        <p:nvSpPr>
          <p:cNvPr id="2780" name="textbox 2780"/>
          <p:cNvSpPr/>
          <p:nvPr/>
        </p:nvSpPr>
        <p:spPr>
          <a:xfrm>
            <a:off x="228600" y="4610100"/>
            <a:ext cx="5553075" cy="504825"/>
          </a:xfrm>
          <a:prstGeom prst="rect">
            <a:avLst/>
          </a:prstGeom>
          <a:noFill/>
          <a:ln w="0" cap="flat">
            <a:noFill/>
            <a:prstDash val="solid"/>
            <a:miter lim="0"/>
          </a:ln>
        </p:spPr>
        <p:txBody>
          <a:bodyPr vert="horz" wrap="none" lIns="0" tIns="0" rIns="0" bIns="0"/>
          <a:lstStyle/>
          <a:p>
            <a:pPr algn="l" rtl="0" eaLnBrk="0"/>
            <a:r>
              <a:rPr sz="1200" b="1" kern="0" spc="0" dirty="0">
                <a:solidFill>
                  <a:srgbClr val="002060">
                    <a:alpha val="100000"/>
                  </a:srgbClr>
                </a:solidFill>
                <a:latin typeface="Georgia" panose="02040502050405020303"/>
                <a:ea typeface="Georgia" panose="02040502050405020303"/>
                <a:cs typeface="Georgia" panose="02040502050405020303"/>
              </a:rPr>
              <a:t>Life Cycle Assessment, Integrity Management and Sustainable Development</a:t>
            </a:r>
            <a:endParaRPr sz="1200" dirty="0"/>
          </a:p>
          <a:p>
            <a:pPr marL="314325" algn="l" rtl="0" eaLnBrk="0">
              <a:spcBef>
                <a:spcPts val="975"/>
              </a:spcBef>
            </a:pPr>
            <a:r>
              <a:rPr sz="1200" b="1" kern="0" spc="0" dirty="0">
                <a:solidFill>
                  <a:srgbClr val="002060">
                    <a:alpha val="100000"/>
                  </a:srgbClr>
                </a:solidFill>
                <a:latin typeface="Georgia" panose="02040502050405020303"/>
                <a:ea typeface="Georgia" panose="02040502050405020303"/>
                <a:cs typeface="Georgia" panose="02040502050405020303"/>
              </a:rPr>
              <a:t>of Built Environment</a:t>
            </a:r>
            <a:endParaRPr sz="1200" dirty="0"/>
          </a:p>
        </p:txBody>
      </p:sp>
      <p:sp>
        <p:nvSpPr>
          <p:cNvPr id="2782" name="textbox 2782"/>
          <p:cNvSpPr/>
          <p:nvPr/>
        </p:nvSpPr>
        <p:spPr>
          <a:xfrm>
            <a:off x="238125" y="5295900"/>
            <a:ext cx="5286375" cy="219075"/>
          </a:xfrm>
          <a:prstGeom prst="rect">
            <a:avLst/>
          </a:prstGeom>
          <a:noFill/>
          <a:ln w="0" cap="flat">
            <a:noFill/>
            <a:prstDash val="solid"/>
            <a:miter lim="0"/>
          </a:ln>
        </p:spPr>
        <p:txBody>
          <a:bodyPr vert="horz" wrap="none" lIns="0" tIns="0" rIns="0" bIns="0"/>
          <a:lstStyle/>
          <a:p>
            <a:pPr algn="l" rtl="0" eaLnBrk="0"/>
            <a:r>
              <a:rPr sz="1200" b="1" kern="0" spc="0" dirty="0">
                <a:solidFill>
                  <a:srgbClr val="002060">
                    <a:alpha val="100000"/>
                  </a:srgbClr>
                </a:solidFill>
                <a:latin typeface="Georgia" panose="02040502050405020303"/>
                <a:ea typeface="Georgia" panose="02040502050405020303"/>
                <a:cs typeface="Georgia" panose="02040502050405020303"/>
              </a:rPr>
              <a:t>Seismic Hazard Analysis, Ground Motion Characterization and Selection</a:t>
            </a:r>
            <a:endParaRPr sz="1200" dirty="0"/>
          </a:p>
        </p:txBody>
      </p:sp>
      <p:sp>
        <p:nvSpPr>
          <p:cNvPr id="2784" name="textbox 2784"/>
          <p:cNvSpPr/>
          <p:nvPr/>
        </p:nvSpPr>
        <p:spPr>
          <a:xfrm>
            <a:off x="238125" y="5676900"/>
            <a:ext cx="4829175" cy="533400"/>
          </a:xfrm>
          <a:prstGeom prst="rect">
            <a:avLst/>
          </a:prstGeom>
          <a:noFill/>
          <a:ln w="0" cap="flat">
            <a:noFill/>
            <a:prstDash val="solid"/>
            <a:miter lim="0"/>
          </a:ln>
        </p:spPr>
        <p:txBody>
          <a:bodyPr vert="horz" wrap="none" lIns="0" tIns="0" rIns="0" bIns="0"/>
          <a:lstStyle/>
          <a:p>
            <a:pPr algn="l" rtl="0" eaLnBrk="0"/>
            <a:r>
              <a:rPr sz="1200" b="1" kern="0" spc="0" dirty="0">
                <a:solidFill>
                  <a:srgbClr val="002060">
                    <a:alpha val="100000"/>
                  </a:srgbClr>
                </a:solidFill>
                <a:latin typeface="Georgia" panose="02040502050405020303"/>
                <a:ea typeface="Georgia" panose="02040502050405020303"/>
                <a:cs typeface="Georgia" panose="02040502050405020303"/>
              </a:rPr>
              <a:t>Risk-Targeted Ground Motions and Uniform-Risk Seismic Design</a:t>
            </a:r>
            <a:endParaRPr sz="1200" dirty="0"/>
          </a:p>
          <a:p>
            <a:pPr marL="276225" algn="l" rtl="0" eaLnBrk="0">
              <a:spcBef>
                <a:spcPts val="825"/>
              </a:spcBef>
            </a:pPr>
            <a:r>
              <a:rPr sz="1200" b="1" kern="0" spc="0" dirty="0">
                <a:solidFill>
                  <a:srgbClr val="002060">
                    <a:alpha val="100000"/>
                  </a:srgbClr>
                </a:solidFill>
                <a:latin typeface="Georgia" panose="02040502050405020303"/>
                <a:ea typeface="Georgia" panose="02040502050405020303"/>
                <a:cs typeface="Georgia" panose="02040502050405020303"/>
              </a:rPr>
              <a:t>Methodology</a:t>
            </a:r>
            <a:endParaRPr sz="1200" dirty="0"/>
          </a:p>
        </p:txBody>
      </p:sp>
      <p:pic>
        <p:nvPicPr>
          <p:cNvPr id="2788" name="picture 2788"/>
          <p:cNvPicPr>
            <a:picLocks noChangeAspect="1"/>
          </p:cNvPicPr>
          <p:nvPr/>
        </p:nvPicPr>
        <p:blipFill>
          <a:blip r:embed="rId3"/>
          <a:stretch>
            <a:fillRect/>
          </a:stretch>
        </p:blipFill>
        <p:spPr>
          <a:xfrm>
            <a:off x="5734050" y="1619250"/>
            <a:ext cx="6276975" cy="4467225"/>
          </a:xfrm>
          <a:prstGeom prst="rect">
            <a:avLst/>
          </a:prstGeom>
        </p:spPr>
      </p:pic>
      <p:sp>
        <p:nvSpPr>
          <p:cNvPr id="2790" name="textbox 2790"/>
          <p:cNvSpPr/>
          <p:nvPr/>
        </p:nvSpPr>
        <p:spPr>
          <a:xfrm>
            <a:off x="8648700" y="1609725"/>
            <a:ext cx="571500" cy="247650"/>
          </a:xfrm>
          <a:prstGeom prst="rect">
            <a:avLst/>
          </a:prstGeom>
          <a:noFill/>
          <a:ln w="0" cap="flat">
            <a:noFill/>
            <a:prstDash val="solid"/>
            <a:miter lim="0"/>
          </a:ln>
        </p:spPr>
        <p:txBody>
          <a:bodyPr vert="horz" wrap="none" lIns="0" tIns="0" rIns="0" bIns="0"/>
          <a:lstStyle/>
          <a:p>
            <a:pPr algn="l" rtl="0" eaLnBrk="0"/>
            <a:r>
              <a:rPr sz="13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多灾害</a:t>
            </a:r>
            <a:endParaRPr sz="1300" dirty="0"/>
          </a:p>
        </p:txBody>
      </p:sp>
      <p:sp>
        <p:nvSpPr>
          <p:cNvPr id="2792" name="textbox 2792"/>
          <p:cNvSpPr/>
          <p:nvPr/>
        </p:nvSpPr>
        <p:spPr>
          <a:xfrm>
            <a:off x="7829550" y="2066925"/>
            <a:ext cx="476250" cy="257175"/>
          </a:xfrm>
          <a:prstGeom prst="rect">
            <a:avLst/>
          </a:prstGeom>
          <a:noFill/>
          <a:ln w="0" cap="flat">
            <a:noFill/>
            <a:prstDash val="solid"/>
            <a:miter lim="0"/>
          </a:ln>
        </p:spPr>
        <p:txBody>
          <a:bodyPr vert="horz" wrap="none" lIns="0" tIns="0" rIns="0" bIns="0"/>
          <a:lstStyle/>
          <a:p>
            <a:pPr algn="l" rtl="0" eaLnBrk="0"/>
            <a:r>
              <a:rPr sz="1400" b="1" kern="0" spc="900" dirty="0">
                <a:solidFill>
                  <a:srgbClr val="FFFFFF">
                    <a:alpha val="100000"/>
                  </a:srgbClr>
                </a:solidFill>
                <a:latin typeface="微软雅黑" panose="020B0503020204020204" charset="-122"/>
                <a:ea typeface="微软雅黑" panose="020B0503020204020204" charset="-122"/>
                <a:cs typeface="微软雅黑" panose="020B0503020204020204" charset="-122"/>
              </a:rPr>
              <a:t>地灾</a:t>
            </a:r>
            <a:endParaRPr sz="1400" dirty="0"/>
          </a:p>
        </p:txBody>
      </p:sp>
      <p:sp>
        <p:nvSpPr>
          <p:cNvPr id="2794" name="textbox 2794"/>
          <p:cNvSpPr/>
          <p:nvPr/>
        </p:nvSpPr>
        <p:spPr>
          <a:xfrm>
            <a:off x="6305550" y="2076450"/>
            <a:ext cx="638175" cy="238125"/>
          </a:xfrm>
          <a:prstGeom prst="rect">
            <a:avLst/>
          </a:prstGeom>
          <a:noFill/>
          <a:ln w="0" cap="flat">
            <a:noFill/>
            <a:prstDash val="solid"/>
            <a:miter lim="0"/>
          </a:ln>
        </p:spPr>
        <p:txBody>
          <a:bodyPr vert="horz" wrap="none" lIns="0" tIns="0" rIns="0" bIns="0"/>
          <a:lstStyle/>
          <a:p>
            <a:pPr algn="l" rtl="0" eaLnBrk="0"/>
            <a:r>
              <a:rPr sz="1000" b="1" kern="0" spc="300" dirty="0">
                <a:solidFill>
                  <a:srgbClr val="FFFFFF">
                    <a:alpha val="100000"/>
                  </a:srgbClr>
                </a:solidFill>
                <a:latin typeface="微软雅黑" panose="020B0503020204020204" charset="-122"/>
                <a:ea typeface="微软雅黑" panose="020B0503020204020204" charset="-122"/>
                <a:cs typeface="微软雅黑" panose="020B0503020204020204" charset="-122"/>
              </a:rPr>
              <a:t>不确定性</a:t>
            </a:r>
            <a:endParaRPr sz="1000" dirty="0"/>
          </a:p>
        </p:txBody>
      </p:sp>
      <p:sp>
        <p:nvSpPr>
          <p:cNvPr id="2796" name="textbox 2796"/>
          <p:cNvSpPr/>
          <p:nvPr/>
        </p:nvSpPr>
        <p:spPr>
          <a:xfrm>
            <a:off x="7286625" y="2076450"/>
            <a:ext cx="419100" cy="23812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震灾</a:t>
            </a:r>
            <a:endParaRPr sz="1400" dirty="0"/>
          </a:p>
        </p:txBody>
      </p:sp>
      <p:sp>
        <p:nvSpPr>
          <p:cNvPr id="2798" name="textbox 2798"/>
          <p:cNvSpPr/>
          <p:nvPr/>
        </p:nvSpPr>
        <p:spPr>
          <a:xfrm>
            <a:off x="8401050" y="2076450"/>
            <a:ext cx="438150" cy="228600"/>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风灾</a:t>
            </a:r>
            <a:endParaRPr sz="1400" dirty="0"/>
          </a:p>
        </p:txBody>
      </p:sp>
      <p:sp>
        <p:nvSpPr>
          <p:cNvPr id="2800" name="textbox 2800"/>
          <p:cNvSpPr/>
          <p:nvPr/>
        </p:nvSpPr>
        <p:spPr>
          <a:xfrm>
            <a:off x="8972550" y="2076450"/>
            <a:ext cx="409575" cy="238125"/>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洪水</a:t>
            </a:r>
            <a:endParaRPr sz="1300" dirty="0"/>
          </a:p>
        </p:txBody>
      </p:sp>
      <p:sp>
        <p:nvSpPr>
          <p:cNvPr id="2802" name="textbox 2802"/>
          <p:cNvSpPr/>
          <p:nvPr/>
        </p:nvSpPr>
        <p:spPr>
          <a:xfrm>
            <a:off x="9534525" y="2085975"/>
            <a:ext cx="409575" cy="21907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爆炸</a:t>
            </a:r>
            <a:endParaRPr sz="1400" dirty="0"/>
          </a:p>
        </p:txBody>
      </p:sp>
      <p:sp>
        <p:nvSpPr>
          <p:cNvPr id="2804" name="textbox 2804"/>
          <p:cNvSpPr/>
          <p:nvPr/>
        </p:nvSpPr>
        <p:spPr>
          <a:xfrm>
            <a:off x="10096500" y="2085975"/>
            <a:ext cx="400050" cy="228600"/>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环境</a:t>
            </a:r>
            <a:endParaRPr sz="1300" dirty="0"/>
          </a:p>
        </p:txBody>
      </p:sp>
      <p:sp>
        <p:nvSpPr>
          <p:cNvPr id="2806" name="textbox 2806"/>
          <p:cNvSpPr/>
          <p:nvPr/>
        </p:nvSpPr>
        <p:spPr>
          <a:xfrm>
            <a:off x="10972800" y="2085975"/>
            <a:ext cx="400050" cy="228600"/>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规划</a:t>
            </a:r>
            <a:endParaRPr sz="1300" dirty="0"/>
          </a:p>
        </p:txBody>
      </p:sp>
      <p:sp>
        <p:nvSpPr>
          <p:cNvPr id="2808" name="textbox 2808"/>
          <p:cNvSpPr/>
          <p:nvPr/>
        </p:nvSpPr>
        <p:spPr>
          <a:xfrm>
            <a:off x="6381750" y="2457450"/>
            <a:ext cx="495300" cy="200025"/>
          </a:xfrm>
          <a:prstGeom prst="rect">
            <a:avLst/>
          </a:prstGeom>
          <a:noFill/>
          <a:ln w="0" cap="flat">
            <a:noFill/>
            <a:prstDash val="solid"/>
            <a:miter lim="0"/>
          </a:ln>
        </p:spPr>
        <p:txBody>
          <a:bodyPr vert="horz" wrap="none" lIns="0" tIns="0" rIns="0" bIns="0"/>
          <a:lstStyle/>
          <a:p>
            <a:pPr algn="l" rtl="0" eaLnBrk="0"/>
            <a:r>
              <a:rPr sz="1000" b="1" kern="0" spc="450" dirty="0">
                <a:solidFill>
                  <a:srgbClr val="FFFFFF">
                    <a:alpha val="100000"/>
                  </a:srgbClr>
                </a:solidFill>
                <a:latin typeface="微软雅黑" panose="020B0503020204020204" charset="-122"/>
                <a:ea typeface="微软雅黑" panose="020B0503020204020204" charset="-122"/>
                <a:cs typeface="微软雅黑" panose="020B0503020204020204" charset="-122"/>
              </a:rPr>
              <a:t>可靠性</a:t>
            </a:r>
            <a:endParaRPr sz="1000" dirty="0"/>
          </a:p>
        </p:txBody>
      </p:sp>
      <p:sp>
        <p:nvSpPr>
          <p:cNvPr id="2810" name="textbox 2810"/>
          <p:cNvSpPr/>
          <p:nvPr/>
        </p:nvSpPr>
        <p:spPr>
          <a:xfrm>
            <a:off x="10982325" y="2457450"/>
            <a:ext cx="371475" cy="209550"/>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设计</a:t>
            </a:r>
            <a:endParaRPr sz="1300" dirty="0"/>
          </a:p>
        </p:txBody>
      </p:sp>
      <p:sp>
        <p:nvSpPr>
          <p:cNvPr id="2812" name="textbox 2812"/>
          <p:cNvSpPr/>
          <p:nvPr/>
        </p:nvSpPr>
        <p:spPr>
          <a:xfrm>
            <a:off x="8724900" y="2743200"/>
            <a:ext cx="342900" cy="228600"/>
          </a:xfrm>
          <a:prstGeom prst="rect">
            <a:avLst/>
          </a:prstGeom>
          <a:noFill/>
          <a:ln w="0" cap="flat">
            <a:noFill/>
            <a:prstDash val="solid"/>
            <a:miter lim="0"/>
          </a:ln>
        </p:spPr>
        <p:txBody>
          <a:bodyPr vert="horz" wrap="none" lIns="0" tIns="0" rIns="0" bIns="0"/>
          <a:lstStyle/>
          <a:p>
            <a:pPr algn="l" rtl="0" eaLnBrk="0"/>
            <a:r>
              <a:rPr sz="11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建筑</a:t>
            </a:r>
            <a:endParaRPr sz="1100" dirty="0"/>
          </a:p>
        </p:txBody>
      </p:sp>
      <p:sp>
        <p:nvSpPr>
          <p:cNvPr id="2814" name="textbox 2814"/>
          <p:cNvSpPr/>
          <p:nvPr/>
        </p:nvSpPr>
        <p:spPr>
          <a:xfrm>
            <a:off x="6381750" y="2809875"/>
            <a:ext cx="495300" cy="219075"/>
          </a:xfrm>
          <a:prstGeom prst="rect">
            <a:avLst/>
          </a:prstGeom>
          <a:noFill/>
          <a:ln w="0" cap="flat">
            <a:noFill/>
            <a:prstDash val="solid"/>
            <a:miter lim="0"/>
          </a:ln>
        </p:spPr>
        <p:txBody>
          <a:bodyPr vert="horz" wrap="none" lIns="0" tIns="0" rIns="0" bIns="0"/>
          <a:lstStyle/>
          <a:p>
            <a:pPr algn="l" rtl="0" eaLnBrk="0"/>
            <a:r>
              <a:rPr sz="1000" b="1" kern="0" spc="450" dirty="0">
                <a:solidFill>
                  <a:srgbClr val="FFFFFF">
                    <a:alpha val="100000"/>
                  </a:srgbClr>
                </a:solidFill>
                <a:latin typeface="微软雅黑" panose="020B0503020204020204" charset="-122"/>
                <a:ea typeface="微软雅黑" panose="020B0503020204020204" charset="-122"/>
                <a:cs typeface="微软雅黑" panose="020B0503020204020204" charset="-122"/>
              </a:rPr>
              <a:t>安全性</a:t>
            </a:r>
            <a:endParaRPr sz="1000" dirty="0"/>
          </a:p>
        </p:txBody>
      </p:sp>
      <p:sp>
        <p:nvSpPr>
          <p:cNvPr id="2816" name="textbox 2816"/>
          <p:cNvSpPr/>
          <p:nvPr/>
        </p:nvSpPr>
        <p:spPr>
          <a:xfrm>
            <a:off x="10972800" y="2809875"/>
            <a:ext cx="400050" cy="219075"/>
          </a:xfrm>
          <a:prstGeom prst="rect">
            <a:avLst/>
          </a:prstGeom>
          <a:noFill/>
          <a:ln w="0" cap="flat">
            <a:noFill/>
            <a:prstDash val="solid"/>
            <a:miter lim="0"/>
          </a:ln>
        </p:spPr>
        <p:txBody>
          <a:bodyPr vert="horz" wrap="none" lIns="0" tIns="0" rIns="0" bIns="0"/>
          <a:lstStyle/>
          <a:p>
            <a:pPr algn="l" rtl="0" eaLnBrk="0"/>
            <a:r>
              <a:rPr sz="1200" b="1" kern="0" spc="750" dirty="0">
                <a:solidFill>
                  <a:srgbClr val="FFFFFF">
                    <a:alpha val="100000"/>
                  </a:srgbClr>
                </a:solidFill>
                <a:latin typeface="微软雅黑" panose="020B0503020204020204" charset="-122"/>
                <a:ea typeface="微软雅黑" panose="020B0503020204020204" charset="-122"/>
                <a:cs typeface="微软雅黑" panose="020B0503020204020204" charset="-122"/>
              </a:rPr>
              <a:t>建造</a:t>
            </a:r>
            <a:endParaRPr sz="1200" dirty="0"/>
          </a:p>
        </p:txBody>
      </p:sp>
      <p:sp>
        <p:nvSpPr>
          <p:cNvPr id="2818" name="textbox 2818"/>
          <p:cNvSpPr/>
          <p:nvPr/>
        </p:nvSpPr>
        <p:spPr>
          <a:xfrm>
            <a:off x="10972800" y="3162300"/>
            <a:ext cx="400050" cy="238125"/>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施工</a:t>
            </a:r>
            <a:endParaRPr sz="1300" dirty="0"/>
          </a:p>
        </p:txBody>
      </p:sp>
      <p:sp>
        <p:nvSpPr>
          <p:cNvPr id="2820" name="textbox 2820"/>
          <p:cNvSpPr/>
          <p:nvPr/>
        </p:nvSpPr>
        <p:spPr>
          <a:xfrm>
            <a:off x="6381750" y="3171825"/>
            <a:ext cx="495300" cy="219075"/>
          </a:xfrm>
          <a:prstGeom prst="rect">
            <a:avLst/>
          </a:prstGeom>
          <a:noFill/>
          <a:ln w="0" cap="flat">
            <a:noFill/>
            <a:prstDash val="solid"/>
            <a:miter lim="0"/>
          </a:ln>
        </p:spPr>
        <p:txBody>
          <a:bodyPr vert="horz" wrap="none" lIns="0" tIns="0" rIns="0" bIns="0"/>
          <a:lstStyle/>
          <a:p>
            <a:pPr algn="l" rtl="0" eaLnBrk="0"/>
            <a:r>
              <a:rPr sz="1000" b="1" kern="0" spc="450" dirty="0">
                <a:solidFill>
                  <a:srgbClr val="FFFFFF">
                    <a:alpha val="100000"/>
                  </a:srgbClr>
                </a:solidFill>
                <a:latin typeface="微软雅黑" panose="020B0503020204020204" charset="-122"/>
                <a:ea typeface="微软雅黑" panose="020B0503020204020204" charset="-122"/>
                <a:cs typeface="微软雅黑" panose="020B0503020204020204" charset="-122"/>
              </a:rPr>
              <a:t>适用性</a:t>
            </a:r>
            <a:endParaRPr sz="1000" dirty="0"/>
          </a:p>
        </p:txBody>
      </p:sp>
      <p:sp>
        <p:nvSpPr>
          <p:cNvPr id="2822" name="textbox 2822"/>
          <p:cNvSpPr/>
          <p:nvPr/>
        </p:nvSpPr>
        <p:spPr>
          <a:xfrm>
            <a:off x="7677150" y="3200400"/>
            <a:ext cx="361950" cy="228600"/>
          </a:xfrm>
          <a:prstGeom prst="rect">
            <a:avLst/>
          </a:prstGeom>
          <a:noFill/>
          <a:ln w="0" cap="flat">
            <a:noFill/>
            <a:prstDash val="solid"/>
            <a:miter lim="0"/>
          </a:ln>
        </p:spPr>
        <p:txBody>
          <a:bodyPr vert="horz" wrap="none" lIns="0" tIns="0" rIns="0" bIns="0"/>
          <a:lstStyle/>
          <a:p>
            <a:pPr algn="l" rtl="0" eaLnBrk="0"/>
            <a:r>
              <a:rPr sz="1000" kern="0" spc="825" dirty="0">
                <a:solidFill>
                  <a:srgbClr val="FFFFFF">
                    <a:alpha val="100000"/>
                  </a:srgbClr>
                </a:solidFill>
                <a:latin typeface="微软雅黑" panose="020B0503020204020204" charset="-122"/>
                <a:ea typeface="微软雅黑" panose="020B0503020204020204" charset="-122"/>
                <a:cs typeface="微软雅黑" panose="020B0503020204020204" charset="-122"/>
              </a:rPr>
              <a:t>城市</a:t>
            </a:r>
            <a:endParaRPr sz="1000" dirty="0"/>
          </a:p>
        </p:txBody>
      </p:sp>
      <p:sp>
        <p:nvSpPr>
          <p:cNvPr id="2824" name="textbox 2824"/>
          <p:cNvSpPr/>
          <p:nvPr/>
        </p:nvSpPr>
        <p:spPr>
          <a:xfrm>
            <a:off x="9791700" y="3219450"/>
            <a:ext cx="342900" cy="228600"/>
          </a:xfrm>
          <a:prstGeom prst="rect">
            <a:avLst/>
          </a:prstGeom>
          <a:noFill/>
          <a:ln w="0" cap="flat">
            <a:noFill/>
            <a:prstDash val="solid"/>
            <a:miter lim="0"/>
          </a:ln>
        </p:spPr>
        <p:txBody>
          <a:bodyPr vert="horz" wrap="none" lIns="0" tIns="0" rIns="0" bIns="0"/>
          <a:lstStyle/>
          <a:p>
            <a:pPr algn="l" rtl="0" eaLnBrk="0"/>
            <a:r>
              <a:rPr sz="1000" b="1" kern="0" spc="675" dirty="0">
                <a:solidFill>
                  <a:srgbClr val="FFFFFF">
                    <a:alpha val="100000"/>
                  </a:srgbClr>
                </a:solidFill>
                <a:latin typeface="微软雅黑" panose="020B0503020204020204" charset="-122"/>
                <a:ea typeface="微软雅黑" panose="020B0503020204020204" charset="-122"/>
                <a:cs typeface="微软雅黑" panose="020B0503020204020204" charset="-122"/>
              </a:rPr>
              <a:t>桥梁</a:t>
            </a:r>
            <a:endParaRPr sz="1000" dirty="0"/>
          </a:p>
        </p:txBody>
      </p:sp>
      <p:sp>
        <p:nvSpPr>
          <p:cNvPr id="2826" name="textbox 2826"/>
          <p:cNvSpPr/>
          <p:nvPr/>
        </p:nvSpPr>
        <p:spPr>
          <a:xfrm>
            <a:off x="11744325" y="3448050"/>
            <a:ext cx="257175" cy="552450"/>
          </a:xfrm>
          <a:prstGeom prst="rect">
            <a:avLst/>
          </a:prstGeom>
          <a:noFill/>
          <a:ln w="0" cap="flat">
            <a:noFill/>
            <a:prstDash val="solid"/>
            <a:miter lim="0"/>
          </a:ln>
        </p:spPr>
        <p:txBody>
          <a:bodyPr vert="horz" wrap="none" lIns="0" tIns="0" rIns="0" bIns="0"/>
          <a:lstStyle/>
          <a:p>
            <a:pPr algn="l" rtl="0" eaLnBrk="0"/>
            <a:r>
              <a:rPr sz="13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全寿</a:t>
            </a:r>
            <a:endParaRPr sz="1300" dirty="0"/>
          </a:p>
          <a:p>
            <a:pPr algn="l" rtl="0" eaLnBrk="0"/>
            <a:r>
              <a:rPr sz="13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命</a:t>
            </a:r>
            <a:endParaRPr sz="1300" dirty="0"/>
          </a:p>
        </p:txBody>
      </p:sp>
      <p:sp>
        <p:nvSpPr>
          <p:cNvPr id="2828" name="textbox 2828"/>
          <p:cNvSpPr/>
          <p:nvPr/>
        </p:nvSpPr>
        <p:spPr>
          <a:xfrm rot="5400000">
            <a:off x="5734050" y="3486150"/>
            <a:ext cx="247650" cy="571500"/>
          </a:xfrm>
          <a:prstGeom prst="rect">
            <a:avLst/>
          </a:prstGeom>
          <a:noFill/>
          <a:ln w="0" cap="flat">
            <a:noFill/>
            <a:prstDash val="solid"/>
            <a:miter lim="0"/>
          </a:ln>
        </p:spPr>
        <p:txBody>
          <a:bodyPr vert="horz" wrap="none" lIns="0" tIns="0" rIns="0" bIns="0"/>
          <a:lstStyle/>
          <a:p>
            <a:pPr algn="l" rtl="0" eaLnBrk="0"/>
            <a:r>
              <a:rPr sz="14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链</a:t>
            </a:r>
            <a:endParaRPr sz="1400" dirty="0"/>
          </a:p>
          <a:p>
            <a:pPr algn="l" rtl="0" eaLnBrk="0"/>
            <a:r>
              <a:rPr sz="14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接</a:t>
            </a:r>
            <a:endParaRPr sz="1400" dirty="0"/>
          </a:p>
        </p:txBody>
      </p:sp>
      <p:sp>
        <p:nvSpPr>
          <p:cNvPr id="2830" name="textbox 2830"/>
          <p:cNvSpPr/>
          <p:nvPr/>
        </p:nvSpPr>
        <p:spPr>
          <a:xfrm>
            <a:off x="8658225" y="3514725"/>
            <a:ext cx="409575" cy="228600"/>
          </a:xfrm>
          <a:prstGeom prst="rect">
            <a:avLst/>
          </a:prstGeom>
          <a:noFill/>
          <a:ln w="0" cap="flat">
            <a:noFill/>
            <a:prstDash val="solid"/>
            <a:miter lim="0"/>
          </a:ln>
        </p:spPr>
        <p:txBody>
          <a:bodyPr vert="horz" wrap="none" lIns="0" tIns="0" rIns="0" bIns="0"/>
          <a:lstStyle/>
          <a:p>
            <a:pPr algn="l" rtl="0" eaLnBrk="0"/>
            <a:r>
              <a:rPr sz="1200" b="1" kern="0" spc="825"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a:t>
            </a:r>
            <a:endParaRPr sz="1200" dirty="0"/>
          </a:p>
        </p:txBody>
      </p:sp>
      <p:sp>
        <p:nvSpPr>
          <p:cNvPr id="2832" name="textbox 2832"/>
          <p:cNvSpPr/>
          <p:nvPr/>
        </p:nvSpPr>
        <p:spPr>
          <a:xfrm>
            <a:off x="10972800" y="3524250"/>
            <a:ext cx="400050" cy="238125"/>
          </a:xfrm>
          <a:prstGeom prst="rect">
            <a:avLst/>
          </a:prstGeom>
          <a:noFill/>
          <a:ln w="0" cap="flat">
            <a:noFill/>
            <a:prstDash val="solid"/>
            <a:miter lim="0"/>
          </a:ln>
        </p:spPr>
        <p:txBody>
          <a:bodyPr vert="horz" wrap="none" lIns="0" tIns="0" rIns="0" bIns="0"/>
          <a:lstStyle/>
          <a:p>
            <a:pPr algn="l" rtl="0" eaLnBrk="0"/>
            <a:r>
              <a:rPr sz="1200" b="1" kern="0" spc="750" dirty="0">
                <a:solidFill>
                  <a:srgbClr val="FFFFFF">
                    <a:alpha val="100000"/>
                  </a:srgbClr>
                </a:solidFill>
                <a:latin typeface="微软雅黑" panose="020B0503020204020204" charset="-122"/>
                <a:ea typeface="微软雅黑" panose="020B0503020204020204" charset="-122"/>
                <a:cs typeface="微软雅黑" panose="020B0503020204020204" charset="-122"/>
              </a:rPr>
              <a:t>运营</a:t>
            </a:r>
            <a:endParaRPr sz="1200" dirty="0"/>
          </a:p>
        </p:txBody>
      </p:sp>
      <p:sp>
        <p:nvSpPr>
          <p:cNvPr id="2834" name="textbox 2834"/>
          <p:cNvSpPr/>
          <p:nvPr/>
        </p:nvSpPr>
        <p:spPr>
          <a:xfrm>
            <a:off x="6381750" y="3533775"/>
            <a:ext cx="495300" cy="219075"/>
          </a:xfrm>
          <a:prstGeom prst="rect">
            <a:avLst/>
          </a:prstGeom>
          <a:noFill/>
          <a:ln w="0" cap="flat">
            <a:noFill/>
            <a:prstDash val="solid"/>
            <a:miter lim="0"/>
          </a:ln>
        </p:spPr>
        <p:txBody>
          <a:bodyPr vert="horz" wrap="none" lIns="0" tIns="0" rIns="0" bIns="0"/>
          <a:lstStyle/>
          <a:p>
            <a:pPr algn="l" rtl="0" eaLnBrk="0"/>
            <a:r>
              <a:rPr sz="11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耐久性</a:t>
            </a:r>
            <a:endParaRPr sz="1100" dirty="0"/>
          </a:p>
        </p:txBody>
      </p:sp>
      <p:sp>
        <p:nvSpPr>
          <p:cNvPr id="2836" name="textbox 2836"/>
          <p:cNvSpPr/>
          <p:nvPr/>
        </p:nvSpPr>
        <p:spPr>
          <a:xfrm>
            <a:off x="8572500" y="3705225"/>
            <a:ext cx="581025" cy="238125"/>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风险的</a:t>
            </a:r>
            <a:endParaRPr sz="1300" dirty="0"/>
          </a:p>
        </p:txBody>
      </p:sp>
      <p:sp>
        <p:nvSpPr>
          <p:cNvPr id="2838" name="textbox 2838"/>
          <p:cNvSpPr/>
          <p:nvPr/>
        </p:nvSpPr>
        <p:spPr>
          <a:xfrm>
            <a:off x="10972800" y="3876675"/>
            <a:ext cx="400050" cy="238125"/>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维护</a:t>
            </a:r>
            <a:endParaRPr sz="1300" dirty="0"/>
          </a:p>
        </p:txBody>
      </p:sp>
      <p:sp>
        <p:nvSpPr>
          <p:cNvPr id="2840" name="textbox 2840"/>
          <p:cNvSpPr/>
          <p:nvPr/>
        </p:nvSpPr>
        <p:spPr>
          <a:xfrm>
            <a:off x="6400800" y="3886200"/>
            <a:ext cx="476250" cy="228600"/>
          </a:xfrm>
          <a:prstGeom prst="rect">
            <a:avLst/>
          </a:prstGeom>
          <a:noFill/>
          <a:ln w="0" cap="flat">
            <a:noFill/>
            <a:prstDash val="solid"/>
            <a:miter lim="0"/>
          </a:ln>
        </p:spPr>
        <p:txBody>
          <a:bodyPr vert="horz" wrap="none" lIns="0" tIns="0" rIns="0" bIns="0"/>
          <a:lstStyle/>
          <a:p>
            <a:pPr algn="l" rtl="0" eaLnBrk="0"/>
            <a:r>
              <a:rPr sz="11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易损性</a:t>
            </a:r>
            <a:endParaRPr sz="1100" dirty="0"/>
          </a:p>
        </p:txBody>
      </p:sp>
      <p:sp>
        <p:nvSpPr>
          <p:cNvPr id="2842" name="textbox 2842"/>
          <p:cNvSpPr/>
          <p:nvPr/>
        </p:nvSpPr>
        <p:spPr>
          <a:xfrm>
            <a:off x="8648700" y="3914775"/>
            <a:ext cx="419100" cy="228600"/>
          </a:xfrm>
          <a:prstGeom prst="rect">
            <a:avLst/>
          </a:prstGeom>
          <a:noFill/>
          <a:ln w="0" cap="flat">
            <a:noFill/>
            <a:prstDash val="solid"/>
            <a:miter lim="0"/>
          </a:ln>
        </p:spPr>
        <p:txBody>
          <a:bodyPr vert="horz" wrap="none" lIns="0" tIns="0" rIns="0" bIns="0"/>
          <a:lstStyle/>
          <a:p>
            <a:pPr algn="l" rtl="0" eaLnBrk="0"/>
            <a:r>
              <a:rPr sz="1200" b="1" kern="0" spc="900" dirty="0">
                <a:solidFill>
                  <a:srgbClr val="FFFFFF">
                    <a:alpha val="100000"/>
                  </a:srgbClr>
                </a:solidFill>
                <a:latin typeface="微软雅黑" panose="020B0503020204020204" charset="-122"/>
                <a:ea typeface="微软雅黑" panose="020B0503020204020204" charset="-122"/>
                <a:cs typeface="微软雅黑" panose="020B0503020204020204" charset="-122"/>
              </a:rPr>
              <a:t>工程</a:t>
            </a:r>
            <a:endParaRPr sz="1200" dirty="0"/>
          </a:p>
        </p:txBody>
      </p:sp>
      <p:sp>
        <p:nvSpPr>
          <p:cNvPr id="2844" name="textbox 2844"/>
          <p:cNvSpPr/>
          <p:nvPr/>
        </p:nvSpPr>
        <p:spPr>
          <a:xfrm>
            <a:off x="10953750" y="4248150"/>
            <a:ext cx="419100" cy="238125"/>
          </a:xfrm>
          <a:prstGeom prst="rect">
            <a:avLst/>
          </a:prstGeom>
          <a:noFill/>
          <a:ln w="0" cap="flat">
            <a:noFill/>
            <a:prstDash val="solid"/>
            <a:miter lim="0"/>
          </a:ln>
        </p:spPr>
        <p:txBody>
          <a:bodyPr vert="horz" wrap="none" lIns="0" tIns="0" rIns="0" bIns="0"/>
          <a:lstStyle/>
          <a:p>
            <a:pPr algn="l" rtl="0" eaLnBrk="0"/>
            <a:r>
              <a:rPr sz="1300" b="1" kern="0" spc="675" dirty="0">
                <a:solidFill>
                  <a:srgbClr val="FFFFFF">
                    <a:alpha val="100000"/>
                  </a:srgbClr>
                </a:solidFill>
                <a:latin typeface="微软雅黑" panose="020B0503020204020204" charset="-122"/>
                <a:ea typeface="微软雅黑" panose="020B0503020204020204" charset="-122"/>
                <a:cs typeface="微软雅黑" panose="020B0503020204020204" charset="-122"/>
              </a:rPr>
              <a:t>检测</a:t>
            </a:r>
            <a:endParaRPr sz="1300" dirty="0"/>
          </a:p>
        </p:txBody>
      </p:sp>
      <p:sp>
        <p:nvSpPr>
          <p:cNvPr id="2846" name="textbox 2846"/>
          <p:cNvSpPr/>
          <p:nvPr/>
        </p:nvSpPr>
        <p:spPr>
          <a:xfrm>
            <a:off x="6381750" y="4257675"/>
            <a:ext cx="495300" cy="209550"/>
          </a:xfrm>
          <a:prstGeom prst="rect">
            <a:avLst/>
          </a:prstGeom>
          <a:noFill/>
          <a:ln w="0" cap="flat">
            <a:noFill/>
            <a:prstDash val="solid"/>
            <a:miter lim="0"/>
          </a:ln>
        </p:spPr>
        <p:txBody>
          <a:bodyPr vert="horz" wrap="none" lIns="0" tIns="0" rIns="0" bIns="0"/>
          <a:lstStyle/>
          <a:p>
            <a:pPr algn="l" rtl="0" eaLnBrk="0"/>
            <a:r>
              <a:rPr sz="1000" b="1" kern="0" spc="450" dirty="0">
                <a:solidFill>
                  <a:srgbClr val="FFFFFF">
                    <a:alpha val="100000"/>
                  </a:srgbClr>
                </a:solidFill>
                <a:latin typeface="微软雅黑" panose="020B0503020204020204" charset="-122"/>
                <a:ea typeface="微软雅黑" panose="020B0503020204020204" charset="-122"/>
                <a:cs typeface="微软雅黑" panose="020B0503020204020204" charset="-122"/>
              </a:rPr>
              <a:t>鲁棒性</a:t>
            </a:r>
            <a:endParaRPr sz="1000" dirty="0"/>
          </a:p>
        </p:txBody>
      </p:sp>
      <p:sp>
        <p:nvSpPr>
          <p:cNvPr id="2848" name="textbox 2848"/>
          <p:cNvSpPr/>
          <p:nvPr/>
        </p:nvSpPr>
        <p:spPr>
          <a:xfrm>
            <a:off x="9658350" y="4267200"/>
            <a:ext cx="476250" cy="219075"/>
          </a:xfrm>
          <a:prstGeom prst="rect">
            <a:avLst/>
          </a:prstGeom>
          <a:noFill/>
          <a:ln w="0" cap="flat">
            <a:noFill/>
            <a:prstDash val="solid"/>
            <a:miter lim="0"/>
          </a:ln>
        </p:spPr>
        <p:txBody>
          <a:bodyPr vert="horz" wrap="none" lIns="0" tIns="0" rIns="0" bIns="0"/>
          <a:lstStyle/>
          <a:p>
            <a:pPr algn="l" rtl="0" eaLnBrk="0"/>
            <a:r>
              <a:rPr sz="1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核电站</a:t>
            </a:r>
            <a:endParaRPr sz="1000" dirty="0"/>
          </a:p>
        </p:txBody>
      </p:sp>
      <p:sp>
        <p:nvSpPr>
          <p:cNvPr id="2850" name="textbox 2850"/>
          <p:cNvSpPr/>
          <p:nvPr/>
        </p:nvSpPr>
        <p:spPr>
          <a:xfrm>
            <a:off x="7677150" y="4343400"/>
            <a:ext cx="342900" cy="219075"/>
          </a:xfrm>
          <a:prstGeom prst="rect">
            <a:avLst/>
          </a:prstGeom>
          <a:noFill/>
          <a:ln w="0" cap="flat">
            <a:noFill/>
            <a:prstDash val="solid"/>
            <a:miter lim="0"/>
          </a:ln>
        </p:spPr>
        <p:txBody>
          <a:bodyPr vert="horz" wrap="none" lIns="0" tIns="0" rIns="0" bIns="0"/>
          <a:lstStyle/>
          <a:p>
            <a:pPr algn="l" rtl="0" eaLnBrk="0"/>
            <a:r>
              <a:rPr sz="1000" b="1" kern="0" spc="675" dirty="0">
                <a:solidFill>
                  <a:srgbClr val="FFFFFF">
                    <a:alpha val="100000"/>
                  </a:srgbClr>
                </a:solidFill>
                <a:latin typeface="微软雅黑" panose="020B0503020204020204" charset="-122"/>
                <a:ea typeface="微软雅黑" panose="020B0503020204020204" charset="-122"/>
                <a:cs typeface="微软雅黑" panose="020B0503020204020204" charset="-122"/>
              </a:rPr>
              <a:t>社区</a:t>
            </a:r>
            <a:endParaRPr sz="1000" dirty="0"/>
          </a:p>
        </p:txBody>
      </p:sp>
      <p:sp>
        <p:nvSpPr>
          <p:cNvPr id="2852" name="textbox 2852"/>
          <p:cNvSpPr/>
          <p:nvPr/>
        </p:nvSpPr>
        <p:spPr>
          <a:xfrm>
            <a:off x="10972800" y="4600575"/>
            <a:ext cx="400050" cy="238125"/>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监测</a:t>
            </a:r>
            <a:endParaRPr sz="1300" dirty="0"/>
          </a:p>
        </p:txBody>
      </p:sp>
      <p:sp>
        <p:nvSpPr>
          <p:cNvPr id="2854" name="textbox 2854"/>
          <p:cNvSpPr/>
          <p:nvPr/>
        </p:nvSpPr>
        <p:spPr>
          <a:xfrm>
            <a:off x="6438900" y="4610100"/>
            <a:ext cx="390525" cy="238125"/>
          </a:xfrm>
          <a:prstGeom prst="rect">
            <a:avLst/>
          </a:prstGeom>
          <a:noFill/>
          <a:ln w="0" cap="flat">
            <a:noFill/>
            <a:prstDash val="solid"/>
            <a:miter lim="0"/>
          </a:ln>
        </p:spPr>
        <p:txBody>
          <a:bodyPr vert="horz" wrap="none" lIns="0" tIns="0" rIns="0" bIns="0"/>
          <a:lstStyle/>
          <a:p>
            <a:pPr algn="l" rtl="0" eaLnBrk="0"/>
            <a:r>
              <a:rPr sz="1100" b="1" kern="0" spc="825" dirty="0">
                <a:solidFill>
                  <a:srgbClr val="FFFFFF">
                    <a:alpha val="100000"/>
                  </a:srgbClr>
                </a:solidFill>
                <a:latin typeface="微软雅黑" panose="020B0503020204020204" charset="-122"/>
                <a:ea typeface="微软雅黑" panose="020B0503020204020204" charset="-122"/>
                <a:cs typeface="微软雅黑" panose="020B0503020204020204" charset="-122"/>
              </a:rPr>
              <a:t>韧性</a:t>
            </a:r>
            <a:endParaRPr sz="1100" dirty="0"/>
          </a:p>
        </p:txBody>
      </p:sp>
      <p:sp>
        <p:nvSpPr>
          <p:cNvPr id="2856" name="textbox 2856"/>
          <p:cNvSpPr/>
          <p:nvPr/>
        </p:nvSpPr>
        <p:spPr>
          <a:xfrm>
            <a:off x="8658225" y="4676775"/>
            <a:ext cx="485775" cy="209550"/>
          </a:xfrm>
          <a:prstGeom prst="rect">
            <a:avLst/>
          </a:prstGeom>
          <a:noFill/>
          <a:ln w="0" cap="flat">
            <a:noFill/>
            <a:prstDash val="solid"/>
            <a:miter lim="0"/>
          </a:ln>
        </p:spPr>
        <p:txBody>
          <a:bodyPr vert="horz" wrap="none" lIns="0" tIns="0" rIns="0" bIns="0"/>
          <a:lstStyle/>
          <a:p>
            <a:pPr algn="l" rtl="0" eaLnBrk="0"/>
            <a:r>
              <a:rPr sz="1000" b="1" kern="0" spc="375" dirty="0">
                <a:solidFill>
                  <a:srgbClr val="FFFFFF">
                    <a:alpha val="100000"/>
                  </a:srgbClr>
                </a:solidFill>
                <a:latin typeface="微软雅黑" panose="020B0503020204020204" charset="-122"/>
                <a:ea typeface="微软雅黑" panose="020B0503020204020204" charset="-122"/>
                <a:cs typeface="微软雅黑" panose="020B0503020204020204" charset="-122"/>
              </a:rPr>
              <a:t>生命线</a:t>
            </a:r>
            <a:endParaRPr sz="1000" dirty="0"/>
          </a:p>
        </p:txBody>
      </p:sp>
      <p:sp>
        <p:nvSpPr>
          <p:cNvPr id="2858" name="textbox 2858"/>
          <p:cNvSpPr/>
          <p:nvPr/>
        </p:nvSpPr>
        <p:spPr>
          <a:xfrm>
            <a:off x="10972800" y="4962525"/>
            <a:ext cx="400050" cy="238125"/>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更新</a:t>
            </a:r>
            <a:endParaRPr sz="1300" dirty="0"/>
          </a:p>
        </p:txBody>
      </p:sp>
      <p:sp>
        <p:nvSpPr>
          <p:cNvPr id="2860" name="textbox 2860"/>
          <p:cNvSpPr/>
          <p:nvPr/>
        </p:nvSpPr>
        <p:spPr>
          <a:xfrm>
            <a:off x="6305550" y="4972050"/>
            <a:ext cx="638175" cy="238125"/>
          </a:xfrm>
          <a:prstGeom prst="rect">
            <a:avLst/>
          </a:prstGeom>
          <a:noFill/>
          <a:ln w="0" cap="flat">
            <a:noFill/>
            <a:prstDash val="solid"/>
            <a:miter lim="0"/>
          </a:ln>
        </p:spPr>
        <p:txBody>
          <a:bodyPr vert="horz" wrap="none" lIns="0" tIns="0" rIns="0" bIns="0"/>
          <a:lstStyle/>
          <a:p>
            <a:pPr algn="l" rtl="0" eaLnBrk="0"/>
            <a:r>
              <a:rPr sz="1000" b="1" kern="0" spc="300" dirty="0">
                <a:solidFill>
                  <a:srgbClr val="FFFFFF">
                    <a:alpha val="100000"/>
                  </a:srgbClr>
                </a:solidFill>
                <a:latin typeface="微软雅黑" panose="020B0503020204020204" charset="-122"/>
                <a:ea typeface="微软雅黑" panose="020B0503020204020204" charset="-122"/>
                <a:cs typeface="微软雅黑" panose="020B0503020204020204" charset="-122"/>
              </a:rPr>
              <a:t>可持续性</a:t>
            </a:r>
            <a:endParaRPr sz="1000" dirty="0"/>
          </a:p>
        </p:txBody>
      </p:sp>
      <p:sp>
        <p:nvSpPr>
          <p:cNvPr id="2862" name="textbox 2862"/>
          <p:cNvSpPr/>
          <p:nvPr/>
        </p:nvSpPr>
        <p:spPr>
          <a:xfrm>
            <a:off x="7324725" y="5324475"/>
            <a:ext cx="352425" cy="219075"/>
          </a:xfrm>
          <a:prstGeom prst="rect">
            <a:avLst/>
          </a:prstGeom>
          <a:noFill/>
          <a:ln w="0" cap="flat">
            <a:noFill/>
            <a:prstDash val="solid"/>
            <a:miter lim="0"/>
          </a:ln>
        </p:spPr>
        <p:txBody>
          <a:bodyPr vert="horz" wrap="none" lIns="0" tIns="0" rIns="0" bIns="0"/>
          <a:lstStyle/>
          <a:p>
            <a:pPr algn="l" rtl="0" eaLnBrk="0"/>
            <a:r>
              <a:rPr sz="1000" b="1" kern="0" spc="750" dirty="0">
                <a:solidFill>
                  <a:srgbClr val="FFFFFF">
                    <a:alpha val="100000"/>
                  </a:srgbClr>
                </a:solidFill>
                <a:latin typeface="微软雅黑" panose="020B0503020204020204" charset="-122"/>
                <a:ea typeface="微软雅黑" panose="020B0503020204020204" charset="-122"/>
                <a:cs typeface="微软雅黑" panose="020B0503020204020204" charset="-122"/>
              </a:rPr>
              <a:t>材料</a:t>
            </a:r>
            <a:endParaRPr sz="1000" dirty="0"/>
          </a:p>
        </p:txBody>
      </p:sp>
      <p:sp>
        <p:nvSpPr>
          <p:cNvPr id="2864" name="textbox 2864"/>
          <p:cNvSpPr/>
          <p:nvPr/>
        </p:nvSpPr>
        <p:spPr>
          <a:xfrm>
            <a:off x="8439150" y="5324475"/>
            <a:ext cx="342900" cy="228600"/>
          </a:xfrm>
          <a:prstGeom prst="rect">
            <a:avLst/>
          </a:prstGeom>
          <a:noFill/>
          <a:ln w="0" cap="flat">
            <a:noFill/>
            <a:prstDash val="solid"/>
            <a:miter lim="0"/>
          </a:ln>
        </p:spPr>
        <p:txBody>
          <a:bodyPr vert="horz" wrap="none" lIns="0" tIns="0" rIns="0" bIns="0"/>
          <a:lstStyle/>
          <a:p>
            <a:pPr algn="l" rtl="0" eaLnBrk="0"/>
            <a:r>
              <a:rPr sz="1000" b="1" kern="0" spc="675" dirty="0">
                <a:solidFill>
                  <a:srgbClr val="FFFFFF">
                    <a:alpha val="100000"/>
                  </a:srgbClr>
                </a:solidFill>
                <a:latin typeface="微软雅黑" panose="020B0503020204020204" charset="-122"/>
                <a:ea typeface="微软雅黑" panose="020B0503020204020204" charset="-122"/>
                <a:cs typeface="微软雅黑" panose="020B0503020204020204" charset="-122"/>
              </a:rPr>
              <a:t>构件</a:t>
            </a:r>
            <a:endParaRPr sz="1000" dirty="0"/>
          </a:p>
        </p:txBody>
      </p:sp>
      <p:sp>
        <p:nvSpPr>
          <p:cNvPr id="2866" name="textbox 2866"/>
          <p:cNvSpPr/>
          <p:nvPr/>
        </p:nvSpPr>
        <p:spPr>
          <a:xfrm>
            <a:off x="10953750" y="5324475"/>
            <a:ext cx="419100" cy="247650"/>
          </a:xfrm>
          <a:prstGeom prst="rect">
            <a:avLst/>
          </a:prstGeom>
          <a:noFill/>
          <a:ln w="0" cap="flat">
            <a:noFill/>
            <a:prstDash val="solid"/>
            <a:miter lim="0"/>
          </a:ln>
        </p:spPr>
        <p:txBody>
          <a:bodyPr vert="horz" wrap="none" lIns="0" tIns="0" rIns="0" bIns="0"/>
          <a:lstStyle/>
          <a:p>
            <a:pPr algn="l" rtl="0" eaLnBrk="0"/>
            <a:r>
              <a:rPr sz="1300" b="1" kern="0" spc="675" dirty="0">
                <a:solidFill>
                  <a:srgbClr val="FFFFFF">
                    <a:alpha val="100000"/>
                  </a:srgbClr>
                </a:solidFill>
                <a:latin typeface="微软雅黑" panose="020B0503020204020204" charset="-122"/>
                <a:ea typeface="微软雅黑" panose="020B0503020204020204" charset="-122"/>
                <a:cs typeface="微软雅黑" panose="020B0503020204020204" charset="-122"/>
              </a:rPr>
              <a:t>拆除</a:t>
            </a:r>
            <a:endParaRPr sz="1300" dirty="0"/>
          </a:p>
        </p:txBody>
      </p:sp>
      <p:sp>
        <p:nvSpPr>
          <p:cNvPr id="2868" name="textbox 2868"/>
          <p:cNvSpPr/>
          <p:nvPr/>
        </p:nvSpPr>
        <p:spPr>
          <a:xfrm>
            <a:off x="6305550" y="5343525"/>
            <a:ext cx="638175" cy="228600"/>
          </a:xfrm>
          <a:prstGeom prst="rect">
            <a:avLst/>
          </a:prstGeom>
          <a:noFill/>
          <a:ln w="0" cap="flat">
            <a:noFill/>
            <a:prstDash val="solid"/>
            <a:miter lim="0"/>
          </a:ln>
        </p:spPr>
        <p:txBody>
          <a:bodyPr vert="horz" wrap="none" lIns="0" tIns="0" rIns="0" bIns="0"/>
          <a:lstStyle/>
          <a:p>
            <a:pPr algn="l" rtl="0" eaLnBrk="0"/>
            <a:r>
              <a:rPr sz="1000" b="1" kern="0" spc="300" dirty="0">
                <a:solidFill>
                  <a:srgbClr val="FFFFFF">
                    <a:alpha val="100000"/>
                  </a:srgbClr>
                </a:solidFill>
                <a:latin typeface="微软雅黑" panose="020B0503020204020204" charset="-122"/>
                <a:ea typeface="微软雅黑" panose="020B0503020204020204" charset="-122"/>
                <a:cs typeface="微软雅黑" panose="020B0503020204020204" charset="-122"/>
              </a:rPr>
              <a:t>优化决策</a:t>
            </a:r>
            <a:endParaRPr sz="1000" dirty="0"/>
          </a:p>
        </p:txBody>
      </p:sp>
      <p:sp>
        <p:nvSpPr>
          <p:cNvPr id="2870" name="textbox 2870"/>
          <p:cNvSpPr/>
          <p:nvPr/>
        </p:nvSpPr>
        <p:spPr>
          <a:xfrm>
            <a:off x="9001125" y="5343525"/>
            <a:ext cx="352425" cy="209550"/>
          </a:xfrm>
          <a:prstGeom prst="rect">
            <a:avLst/>
          </a:prstGeom>
          <a:noFill/>
          <a:ln w="0" cap="flat">
            <a:noFill/>
            <a:prstDash val="solid"/>
            <a:miter lim="0"/>
          </a:ln>
        </p:spPr>
        <p:txBody>
          <a:bodyPr vert="horz" wrap="none" lIns="0" tIns="0" rIns="0" bIns="0"/>
          <a:lstStyle/>
          <a:p>
            <a:pPr algn="l" rtl="0" eaLnBrk="0"/>
            <a:r>
              <a:rPr sz="1000" b="1" kern="0" spc="750" dirty="0">
                <a:solidFill>
                  <a:srgbClr val="FFFFFF">
                    <a:alpha val="100000"/>
                  </a:srgbClr>
                </a:solidFill>
                <a:latin typeface="微软雅黑" panose="020B0503020204020204" charset="-122"/>
                <a:ea typeface="微软雅黑" panose="020B0503020204020204" charset="-122"/>
                <a:cs typeface="微软雅黑" panose="020B0503020204020204" charset="-122"/>
              </a:rPr>
              <a:t>结构</a:t>
            </a:r>
            <a:endParaRPr sz="1000" dirty="0"/>
          </a:p>
        </p:txBody>
      </p:sp>
      <p:sp>
        <p:nvSpPr>
          <p:cNvPr id="2872" name="textbox 2872"/>
          <p:cNvSpPr/>
          <p:nvPr/>
        </p:nvSpPr>
        <p:spPr>
          <a:xfrm>
            <a:off x="9563100" y="5343525"/>
            <a:ext cx="361950" cy="209550"/>
          </a:xfrm>
          <a:prstGeom prst="rect">
            <a:avLst/>
          </a:prstGeom>
          <a:noFill/>
          <a:ln w="0" cap="flat">
            <a:noFill/>
            <a:prstDash val="solid"/>
            <a:miter lim="0"/>
          </a:ln>
        </p:spPr>
        <p:txBody>
          <a:bodyPr vert="horz" wrap="none" lIns="0" tIns="0" rIns="0" bIns="0"/>
          <a:lstStyle/>
          <a:p>
            <a:pPr algn="l" rtl="0" eaLnBrk="0"/>
            <a:r>
              <a:rPr sz="1100" b="1" kern="0" spc="600" dirty="0">
                <a:solidFill>
                  <a:srgbClr val="FFFFFF">
                    <a:alpha val="100000"/>
                  </a:srgbClr>
                </a:solidFill>
                <a:latin typeface="微软雅黑" panose="020B0503020204020204" charset="-122"/>
                <a:ea typeface="微软雅黑" panose="020B0503020204020204" charset="-122"/>
                <a:cs typeface="微软雅黑" panose="020B0503020204020204" charset="-122"/>
              </a:rPr>
              <a:t>网络</a:t>
            </a:r>
            <a:endParaRPr sz="1100" dirty="0"/>
          </a:p>
        </p:txBody>
      </p:sp>
      <p:sp>
        <p:nvSpPr>
          <p:cNvPr id="2874" name="textbox 2874"/>
          <p:cNvSpPr/>
          <p:nvPr/>
        </p:nvSpPr>
        <p:spPr>
          <a:xfrm>
            <a:off x="7896225" y="5353050"/>
            <a:ext cx="333375" cy="190500"/>
          </a:xfrm>
          <a:prstGeom prst="rect">
            <a:avLst/>
          </a:prstGeom>
          <a:noFill/>
          <a:ln w="0" cap="flat">
            <a:noFill/>
            <a:prstDash val="solid"/>
            <a:miter lim="0"/>
          </a:ln>
        </p:spPr>
        <p:txBody>
          <a:bodyPr vert="horz" wrap="none" lIns="0" tIns="0" rIns="0" bIns="0"/>
          <a:lstStyle/>
          <a:p>
            <a:pPr algn="l" rtl="0" eaLnBrk="0"/>
            <a:r>
              <a:rPr sz="1000" b="1" kern="0" spc="600" dirty="0">
                <a:solidFill>
                  <a:srgbClr val="FFFFFF">
                    <a:alpha val="100000"/>
                  </a:srgbClr>
                </a:solidFill>
                <a:latin typeface="微软雅黑" panose="020B0503020204020204" charset="-122"/>
                <a:ea typeface="微软雅黑" panose="020B0503020204020204" charset="-122"/>
                <a:cs typeface="微软雅黑" panose="020B0503020204020204" charset="-122"/>
              </a:rPr>
              <a:t>截面</a:t>
            </a:r>
            <a:endParaRPr sz="1000" dirty="0"/>
          </a:p>
        </p:txBody>
      </p:sp>
      <p:sp>
        <p:nvSpPr>
          <p:cNvPr id="2876" name="textbox 2876"/>
          <p:cNvSpPr/>
          <p:nvPr/>
        </p:nvSpPr>
        <p:spPr>
          <a:xfrm>
            <a:off x="10144125" y="5353050"/>
            <a:ext cx="333375" cy="190500"/>
          </a:xfrm>
          <a:prstGeom prst="rect">
            <a:avLst/>
          </a:prstGeom>
          <a:noFill/>
          <a:ln w="0" cap="flat">
            <a:noFill/>
            <a:prstDash val="solid"/>
            <a:miter lim="0"/>
          </a:ln>
        </p:spPr>
        <p:txBody>
          <a:bodyPr vert="horz" wrap="none" lIns="0" tIns="0" rIns="0" bIns="0"/>
          <a:lstStyle/>
          <a:p>
            <a:pPr algn="l" rtl="0" eaLnBrk="0"/>
            <a:r>
              <a:rPr sz="11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区域</a:t>
            </a:r>
            <a:endParaRPr sz="1100" dirty="0"/>
          </a:p>
        </p:txBody>
      </p:sp>
      <p:sp>
        <p:nvSpPr>
          <p:cNvPr id="2878" name="textbox 2878"/>
          <p:cNvSpPr/>
          <p:nvPr/>
        </p:nvSpPr>
        <p:spPr>
          <a:xfrm>
            <a:off x="8667750" y="5829300"/>
            <a:ext cx="571500" cy="257175"/>
          </a:xfrm>
          <a:prstGeom prst="rect">
            <a:avLst/>
          </a:prstGeom>
          <a:noFill/>
          <a:ln w="0" cap="flat">
            <a:noFill/>
            <a:prstDash val="solid"/>
            <a:miter lim="0"/>
          </a:ln>
        </p:spPr>
        <p:txBody>
          <a:bodyPr vert="horz" wrap="none" lIns="0" tIns="0" rIns="0" bIns="0"/>
          <a:lstStyle/>
          <a:p>
            <a:pPr algn="l" rtl="0" eaLnBrk="0"/>
            <a:r>
              <a:rPr sz="13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多尺度</a:t>
            </a:r>
            <a:endParaRPr sz="1300" dirty="0"/>
          </a:p>
        </p:txBody>
      </p:sp>
      <p:sp>
        <p:nvSpPr>
          <p:cNvPr id="2880" name="textbox 2880"/>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882" name="textbox 2882"/>
          <p:cNvSpPr/>
          <p:nvPr/>
        </p:nvSpPr>
        <p:spPr>
          <a:xfrm>
            <a:off x="11753850" y="6734175"/>
            <a:ext cx="171450" cy="104775"/>
          </a:xfrm>
          <a:prstGeom prst="rect">
            <a:avLst/>
          </a:prstGeom>
          <a:noFill/>
          <a:ln w="0" cap="flat">
            <a:noFill/>
            <a:prstDash val="solid"/>
            <a:miter lim="0"/>
          </a:ln>
        </p:spPr>
        <p:txBody>
          <a:bodyPr vert="horz" wrap="none" lIns="0" tIns="0" rIns="0" bIns="0"/>
          <a:lstStyle/>
          <a:p>
            <a:pPr algn="l" rtl="0" eaLnBrk="0"/>
            <a:r>
              <a:rPr sz="1000" kern="0" spc="0" dirty="0">
                <a:solidFill>
                  <a:srgbClr val="FFFFFF">
                    <a:alpha val="100000"/>
                  </a:srgbClr>
                </a:solidFill>
                <a:latin typeface="Arial" panose="020B0604020202020204"/>
                <a:ea typeface="Arial" panose="020B0604020202020204"/>
                <a:cs typeface="Arial" panose="020B0604020202020204"/>
              </a:rPr>
              <a:t>65</a:t>
            </a:r>
            <a:endParaRPr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6" name="picture 2886"/>
          <p:cNvPicPr>
            <a:picLocks noChangeAspect="1"/>
          </p:cNvPicPr>
          <p:nvPr/>
        </p:nvPicPr>
        <p:blipFill>
          <a:blip r:embed="rId1"/>
          <a:stretch>
            <a:fillRect/>
          </a:stretch>
        </p:blipFill>
        <p:spPr>
          <a:xfrm>
            <a:off x="0" y="0"/>
            <a:ext cx="12192000" cy="6858000"/>
          </a:xfrm>
          <a:prstGeom prst="rect">
            <a:avLst/>
          </a:prstGeom>
        </p:spPr>
      </p:pic>
      <p:sp>
        <p:nvSpPr>
          <p:cNvPr id="2888" name="textbox 2888"/>
          <p:cNvSpPr/>
          <p:nvPr/>
        </p:nvSpPr>
        <p:spPr>
          <a:xfrm>
            <a:off x="161925" y="0"/>
            <a:ext cx="838200" cy="161925"/>
          </a:xfrm>
          <a:prstGeom prst="rect">
            <a:avLst/>
          </a:prstGeom>
          <a:noFill/>
          <a:ln w="0" cap="flat">
            <a:noFill/>
            <a:prstDash val="solid"/>
            <a:miter lim="0"/>
          </a:ln>
        </p:spPr>
        <p:txBody>
          <a:bodyPr vert="horz" wrap="none" lIns="0" tIns="0" rIns="0" bIns="0"/>
          <a:lstStyle/>
          <a:p>
            <a:pPr algn="l" rtl="0" eaLnBrk="0"/>
            <a:r>
              <a:rPr sz="1100" kern="0" spc="0" dirty="0">
                <a:solidFill>
                  <a:srgbClr val="497195">
                    <a:alpha val="100000"/>
                  </a:srgbClr>
                </a:solidFill>
                <a:latin typeface="楷体" panose="02010609060101010101" charset="-122"/>
                <a:ea typeface="楷体" panose="02010609060101010101" charset="-122"/>
                <a:cs typeface="楷体" panose="02010609060101010101" charset="-122"/>
              </a:rPr>
              <a:t>吕大刚，王涛</a:t>
            </a:r>
            <a:endParaRPr sz="1100" dirty="0"/>
          </a:p>
        </p:txBody>
      </p:sp>
      <p:sp>
        <p:nvSpPr>
          <p:cNvPr id="2890" name="textbox 2890"/>
          <p:cNvSpPr/>
          <p:nvPr/>
        </p:nvSpPr>
        <p:spPr>
          <a:xfrm>
            <a:off x="1276350" y="0"/>
            <a:ext cx="2647950" cy="161925"/>
          </a:xfrm>
          <a:prstGeom prst="rect">
            <a:avLst/>
          </a:prstGeom>
          <a:noFill/>
          <a:ln w="0" cap="flat">
            <a:noFill/>
            <a:prstDash val="solid"/>
            <a:miter lim="0"/>
          </a:ln>
        </p:spPr>
        <p:txBody>
          <a:bodyPr vert="horz" wrap="none" lIns="0" tIns="0" rIns="0" bIns="0"/>
          <a:lstStyle/>
          <a:p>
            <a:pPr algn="l" rtl="0" eaLnBrk="0"/>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随机系统统计矩估计的降维积分法</a:t>
            </a:r>
            <a:r>
              <a:rPr sz="1000" kern="0" spc="0" dirty="0">
                <a:solidFill>
                  <a:srgbClr val="7DDFD7">
                    <a:alpha val="100000"/>
                  </a:srgbClr>
                </a:solidFill>
                <a:latin typeface="Times New Roman" panose="02020603050405020304"/>
                <a:ea typeface="Times New Roman" panose="02020603050405020304"/>
                <a:cs typeface="Times New Roman" panose="02020603050405020304"/>
              </a:rPr>
              <a:t>:</a:t>
            </a:r>
            <a:r>
              <a:rPr sz="1000" kern="0" spc="0" dirty="0">
                <a:solidFill>
                  <a:srgbClr val="7DDFD7">
                    <a:alpha val="100000"/>
                  </a:srgbClr>
                </a:solidFill>
                <a:latin typeface="楷体" panose="02010609060101010101" charset="-122"/>
                <a:ea typeface="楷体" panose="02010609060101010101" charset="-122"/>
                <a:cs typeface="楷体" panose="02010609060101010101" charset="-122"/>
              </a:rPr>
              <a:t>研究进展</a:t>
            </a:r>
            <a:endParaRPr sz="1000" dirty="0"/>
          </a:p>
        </p:txBody>
      </p:sp>
      <p:sp>
        <p:nvSpPr>
          <p:cNvPr id="2892" name="textbox 2892"/>
          <p:cNvSpPr/>
          <p:nvPr/>
        </p:nvSpPr>
        <p:spPr>
          <a:xfrm>
            <a:off x="7315200" y="0"/>
            <a:ext cx="4667250" cy="161925"/>
          </a:xfrm>
          <a:prstGeom prst="rect">
            <a:avLst/>
          </a:prstGeom>
          <a:noFill/>
          <a:ln w="0" cap="flat">
            <a:noFill/>
            <a:prstDash val="solid"/>
            <a:miter lim="0"/>
          </a:ln>
        </p:spPr>
        <p:txBody>
          <a:bodyPr vert="horz" wrap="none" lIns="0" tIns="0" rIns="0" bIns="0"/>
          <a:lstStyle/>
          <a:p>
            <a:pPr algn="l" rtl="0" eaLnBrk="0"/>
            <a:r>
              <a:rPr sz="1000" kern="0" spc="0" dirty="0">
                <a:solidFill>
                  <a:srgbClr val="4A7097">
                    <a:alpha val="100000"/>
                  </a:srgbClr>
                </a:solidFill>
                <a:latin typeface="楷体" panose="02010609060101010101" charset="-122"/>
                <a:ea typeface="楷体" panose="02010609060101010101" charset="-122"/>
                <a:cs typeface="楷体" panose="02010609060101010101" charset="-122"/>
              </a:rPr>
              <a:t>第三届复杂装备可靠性工程与科学研讨会暨第十二届模型验证与确认专题研讨会</a:t>
            </a:r>
            <a:endParaRPr sz="1000" dirty="0"/>
          </a:p>
        </p:txBody>
      </p:sp>
      <p:pic>
        <p:nvPicPr>
          <p:cNvPr id="2896" name="picture 2896"/>
          <p:cNvPicPr>
            <a:picLocks noChangeAspect="1"/>
          </p:cNvPicPr>
          <p:nvPr/>
        </p:nvPicPr>
        <p:blipFill>
          <a:blip r:embed="rId2"/>
          <a:stretch>
            <a:fillRect/>
          </a:stretch>
        </p:blipFill>
        <p:spPr>
          <a:xfrm>
            <a:off x="304800" y="247650"/>
            <a:ext cx="723900" cy="666750"/>
          </a:xfrm>
          <a:prstGeom prst="rect">
            <a:avLst/>
          </a:prstGeom>
        </p:spPr>
      </p:pic>
      <p:sp>
        <p:nvSpPr>
          <p:cNvPr id="2898" name="textbox 2898"/>
          <p:cNvSpPr/>
          <p:nvPr/>
        </p:nvSpPr>
        <p:spPr>
          <a:xfrm>
            <a:off x="1457325" y="333375"/>
            <a:ext cx="6124575" cy="390525"/>
          </a:xfrm>
          <a:prstGeom prst="rect">
            <a:avLst/>
          </a:prstGeom>
          <a:noFill/>
          <a:ln w="0" cap="flat">
            <a:noFill/>
            <a:prstDash val="solid"/>
            <a:miter lim="0"/>
          </a:ln>
        </p:spPr>
        <p:txBody>
          <a:bodyPr vert="horz" wrap="none" lIns="0" tIns="0" rIns="0" bIns="0"/>
          <a:lstStyle/>
          <a:p>
            <a:pPr algn="l" rtl="0" eaLnBrk="0"/>
            <a:r>
              <a:rPr sz="2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研究生课程“结构可靠度”智慧课程</a:t>
            </a:r>
            <a:endParaRPr sz="2800" dirty="0"/>
          </a:p>
        </p:txBody>
      </p:sp>
      <p:sp>
        <p:nvSpPr>
          <p:cNvPr id="2900" name="textbox 2900"/>
          <p:cNvSpPr/>
          <p:nvPr/>
        </p:nvSpPr>
        <p:spPr>
          <a:xfrm>
            <a:off x="1447800" y="752475"/>
            <a:ext cx="3819525" cy="209550"/>
          </a:xfrm>
          <a:prstGeom prst="rect">
            <a:avLst/>
          </a:prstGeom>
          <a:noFill/>
          <a:ln w="0" cap="flat">
            <a:noFill/>
            <a:prstDash val="solid"/>
            <a:miter lim="0"/>
          </a:ln>
        </p:spPr>
        <p:txBody>
          <a:bodyPr vert="horz" wrap="none" lIns="0" tIns="0" rIns="0" bIns="0"/>
          <a:lstStyle/>
          <a:p>
            <a:pPr algn="l" rtl="0" eaLnBrk="0"/>
            <a:r>
              <a:rPr sz="1400" kern="0" spc="0" dirty="0">
                <a:solidFill>
                  <a:srgbClr val="FFFFFF">
                    <a:alpha val="100000"/>
                  </a:srgbClr>
                </a:solidFill>
                <a:latin typeface="Arial" panose="020B0604020202020204"/>
                <a:ea typeface="Arial" panose="020B0604020202020204"/>
                <a:cs typeface="Arial" panose="020B0604020202020204"/>
              </a:rPr>
              <a:t>The AI Graduate Course on Structural Reliability</a:t>
            </a:r>
            <a:endParaRPr sz="1400" dirty="0"/>
          </a:p>
        </p:txBody>
      </p:sp>
      <p:sp>
        <p:nvSpPr>
          <p:cNvPr id="2902" name="textbox 2902"/>
          <p:cNvSpPr/>
          <p:nvPr/>
        </p:nvSpPr>
        <p:spPr>
          <a:xfrm>
            <a:off x="1066800" y="1352550"/>
            <a:ext cx="1752600" cy="228600"/>
          </a:xfrm>
          <a:prstGeom prst="rect">
            <a:avLst/>
          </a:prstGeom>
          <a:noFill/>
          <a:ln w="0" cap="flat">
            <a:noFill/>
            <a:prstDash val="solid"/>
            <a:miter lim="0"/>
          </a:ln>
        </p:spPr>
        <p:txBody>
          <a:bodyPr vert="horz" wrap="none" lIns="0" tIns="0" rIns="0" bIns="0"/>
          <a:lstStyle/>
          <a:p>
            <a:pPr algn="l" rtl="0" eaLnBrk="0"/>
            <a:r>
              <a:rPr sz="1800" u="sng" kern="0" spc="0" dirty="0">
                <a:solidFill>
                  <a:srgbClr val="7598D9">
                    <a:alpha val="100000"/>
                  </a:srgbClr>
                </a:solidFill>
                <a:latin typeface="Arial" panose="020B0604020202020204"/>
                <a:ea typeface="Arial" panose="020B0604020202020204"/>
                <a:cs typeface="Arial" panose="020B0604020202020204"/>
              </a:rPr>
              <a:t>https://xuetang.ai</a:t>
            </a:r>
            <a:endParaRPr sz="1800" dirty="0"/>
          </a:p>
        </p:txBody>
      </p:sp>
      <p:sp>
        <p:nvSpPr>
          <p:cNvPr id="2904" name="textbox 2904"/>
          <p:cNvSpPr/>
          <p:nvPr/>
        </p:nvSpPr>
        <p:spPr>
          <a:xfrm>
            <a:off x="3524250" y="1352550"/>
            <a:ext cx="8410575" cy="247650"/>
          </a:xfrm>
          <a:prstGeom prst="rect">
            <a:avLst/>
          </a:prstGeom>
          <a:noFill/>
          <a:ln w="0" cap="flat">
            <a:noFill/>
            <a:prstDash val="solid"/>
            <a:miter lim="0"/>
          </a:ln>
        </p:spPr>
        <p:txBody>
          <a:bodyPr vert="horz" wrap="none" lIns="0" tIns="0" rIns="0" bIns="0"/>
          <a:lstStyle/>
          <a:p>
            <a:pPr algn="l" rtl="0" eaLnBrk="0"/>
            <a:r>
              <a:rPr sz="1800" u="sng" kern="0" spc="0" dirty="0">
                <a:solidFill>
                  <a:srgbClr val="C4D2E8">
                    <a:alpha val="100000"/>
                  </a:srgbClr>
                </a:solidFill>
                <a:latin typeface="Arial" panose="020B0604020202020204"/>
                <a:ea typeface="Arial" panose="020B0604020202020204"/>
                <a:cs typeface="Arial" panose="020B0604020202020204"/>
              </a:rPr>
              <a:t>https://changjiang.yuketang.cn/ai-workspace/ai-result-display/14222/course-outline</a:t>
            </a:r>
            <a:endParaRPr sz="1800" dirty="0"/>
          </a:p>
        </p:txBody>
      </p:sp>
      <p:pic>
        <p:nvPicPr>
          <p:cNvPr id="2908" name="picture 2908"/>
          <p:cNvPicPr>
            <a:picLocks noChangeAspect="1"/>
          </p:cNvPicPr>
          <p:nvPr/>
        </p:nvPicPr>
        <p:blipFill>
          <a:blip r:embed="rId3"/>
          <a:stretch>
            <a:fillRect/>
          </a:stretch>
        </p:blipFill>
        <p:spPr>
          <a:xfrm>
            <a:off x="4391025" y="1809750"/>
            <a:ext cx="7486650" cy="4371975"/>
          </a:xfrm>
          <a:prstGeom prst="rect">
            <a:avLst/>
          </a:prstGeom>
        </p:spPr>
      </p:pic>
      <p:pic>
        <p:nvPicPr>
          <p:cNvPr id="2912" name="picture 2912"/>
          <p:cNvPicPr>
            <a:picLocks noChangeAspect="1"/>
          </p:cNvPicPr>
          <p:nvPr/>
        </p:nvPicPr>
        <p:blipFill>
          <a:blip r:embed="rId4"/>
          <a:stretch>
            <a:fillRect/>
          </a:stretch>
        </p:blipFill>
        <p:spPr>
          <a:xfrm>
            <a:off x="381000" y="1809750"/>
            <a:ext cx="3590925" cy="4352925"/>
          </a:xfrm>
          <a:prstGeom prst="rect">
            <a:avLst/>
          </a:prstGeom>
        </p:spPr>
      </p:pic>
      <p:sp>
        <p:nvSpPr>
          <p:cNvPr id="2914" name="textbox 2914"/>
          <p:cNvSpPr/>
          <p:nvPr/>
        </p:nvSpPr>
        <p:spPr>
          <a:xfrm>
            <a:off x="247650" y="6724650"/>
            <a:ext cx="7448550" cy="123825"/>
          </a:xfrm>
          <a:prstGeom prst="rect">
            <a:avLst/>
          </a:prstGeom>
          <a:noFill/>
          <a:ln w="0" cap="flat">
            <a:noFill/>
            <a:prstDash val="solid"/>
            <a:miter lim="0"/>
          </a:ln>
        </p:spPr>
        <p:txBody>
          <a:bodyPr vert="horz" wrap="none" lIns="0" tIns="0" rIns="0" bIns="0"/>
          <a:lstStyle/>
          <a:p>
            <a:pPr algn="l" rtl="0" eaLnBrk="0"/>
            <a:r>
              <a:rPr sz="1000" kern="0" spc="0" dirty="0">
                <a:solidFill>
                  <a:srgbClr val="D6F4F2">
                    <a:alpha val="100000"/>
                  </a:srgbClr>
                </a:solidFill>
                <a:latin typeface="楷体" panose="02010609060101010101" charset="-122"/>
                <a:ea typeface="楷体" panose="02010609060101010101" charset="-122"/>
                <a:cs typeface="楷体" panose="02010609060101010101" charset="-122"/>
              </a:rPr>
              <a:t>哈尔滨工业大学土木工程学院，可靠性与切性工程研究团队 </a:t>
            </a:r>
            <a:r>
              <a:rPr sz="1000" kern="0" spc="0" dirty="0">
                <a:solidFill>
                  <a:srgbClr val="D6F4F2">
                    <a:alpha val="100000"/>
                  </a:srgbClr>
                </a:solidFill>
                <a:latin typeface="Times New Roman" panose="02020603050405020304"/>
                <a:ea typeface="Times New Roman" panose="02020603050405020304"/>
                <a:cs typeface="Times New Roman" panose="02020603050405020304"/>
              </a:rPr>
              <a:t>(Reliability And Resilience Engineering Research Group, RARE @HIT)</a:t>
            </a:r>
            <a:endParaRPr sz="1000" dirty="0"/>
          </a:p>
        </p:txBody>
      </p:sp>
      <p:sp>
        <p:nvSpPr>
          <p:cNvPr id="2916" name="textbox 2916"/>
          <p:cNvSpPr/>
          <p:nvPr/>
        </p:nvSpPr>
        <p:spPr>
          <a:xfrm>
            <a:off x="11753850" y="6743700"/>
            <a:ext cx="152400" cy="95250"/>
          </a:xfrm>
          <a:prstGeom prst="rect">
            <a:avLst/>
          </a:prstGeom>
          <a:noFill/>
          <a:ln w="0" cap="flat">
            <a:noFill/>
            <a:prstDash val="solid"/>
            <a:miter lim="0"/>
          </a:ln>
        </p:spPr>
        <p:txBody>
          <a:bodyPr vert="horz" wrap="none" lIns="0" tIns="0" rIns="0" bIns="0"/>
          <a:lstStyle/>
          <a:p>
            <a:pPr algn="l" rtl="0" eaLnBrk="0"/>
            <a:r>
              <a:rPr sz="800" kern="0" spc="300" dirty="0">
                <a:solidFill>
                  <a:srgbClr val="FFFFFF">
                    <a:alpha val="100000"/>
                  </a:srgbClr>
                </a:solidFill>
                <a:latin typeface="Arial" panose="020B0604020202020204"/>
                <a:ea typeface="Arial" panose="020B0604020202020204"/>
                <a:cs typeface="Arial" panose="020B0604020202020204"/>
              </a:rPr>
              <a:t>66</a:t>
            </a:r>
            <a:endParaRPr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0" name="picture 2920"/>
          <p:cNvPicPr>
            <a:picLocks noChangeAspect="1"/>
          </p:cNvPicPr>
          <p:nvPr/>
        </p:nvPicPr>
        <p:blipFill>
          <a:blip r:embed="rId1"/>
          <a:stretch>
            <a:fillRect/>
          </a:stretch>
        </p:blipFill>
        <p:spPr>
          <a:xfrm>
            <a:off x="0" y="0"/>
            <a:ext cx="12192000" cy="6858000"/>
          </a:xfrm>
          <a:prstGeom prst="rect">
            <a:avLst/>
          </a:prstGeom>
        </p:spPr>
      </p:pic>
      <p:sp>
        <p:nvSpPr>
          <p:cNvPr id="2922" name="textbox 2922"/>
          <p:cNvSpPr/>
          <p:nvPr/>
        </p:nvSpPr>
        <p:spPr>
          <a:xfrm>
            <a:off x="2314575" y="695325"/>
            <a:ext cx="7515225" cy="657225"/>
          </a:xfrm>
          <a:prstGeom prst="rect">
            <a:avLst/>
          </a:prstGeom>
          <a:noFill/>
          <a:ln w="0" cap="flat">
            <a:noFill/>
            <a:prstDash val="solid"/>
            <a:miter lim="0"/>
          </a:ln>
        </p:spPr>
        <p:txBody>
          <a:bodyPr vert="horz" wrap="none" lIns="0" tIns="0" rIns="0" bIns="0"/>
          <a:lstStyle/>
          <a:p>
            <a:pPr algn="l" rtl="0" eaLnBrk="0"/>
            <a:r>
              <a:rPr sz="4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Thanks for your attention!</a:t>
            </a:r>
            <a:endParaRPr sz="4400" dirty="0"/>
          </a:p>
        </p:txBody>
      </p:sp>
      <p:sp>
        <p:nvSpPr>
          <p:cNvPr id="2924" name="textbox 2924"/>
          <p:cNvSpPr/>
          <p:nvPr/>
        </p:nvSpPr>
        <p:spPr>
          <a:xfrm>
            <a:off x="5153025" y="2143125"/>
            <a:ext cx="1914525" cy="371475"/>
          </a:xfrm>
          <a:prstGeom prst="rect">
            <a:avLst/>
          </a:prstGeom>
          <a:noFill/>
          <a:ln w="0" cap="flat">
            <a:noFill/>
            <a:prstDash val="solid"/>
            <a:miter lim="0"/>
          </a:ln>
        </p:spPr>
        <p:txBody>
          <a:bodyPr vert="horz" wrap="none" lIns="0" tIns="0" rIns="0" bIns="0"/>
          <a:lstStyle/>
          <a:p>
            <a:pPr algn="l" rtl="0" eaLnBrk="0"/>
            <a:r>
              <a:rPr sz="2800" b="1" kern="0" spc="0" dirty="0">
                <a:solidFill>
                  <a:srgbClr val="002060">
                    <a:alpha val="100000"/>
                  </a:srgbClr>
                </a:solidFill>
                <a:latin typeface="华文楷体" panose="02010600040101010101" charset="-122"/>
                <a:ea typeface="华文楷体" panose="02010600040101010101" charset="-122"/>
                <a:cs typeface="华文楷体" panose="02010600040101010101" charset="-122"/>
              </a:rPr>
              <a:t>吕大刚教授</a:t>
            </a:r>
            <a:endParaRPr sz="2800" dirty="0"/>
          </a:p>
        </p:txBody>
      </p:sp>
      <p:sp>
        <p:nvSpPr>
          <p:cNvPr id="2926" name="textbox 2926"/>
          <p:cNvSpPr/>
          <p:nvPr/>
        </p:nvSpPr>
        <p:spPr>
          <a:xfrm>
            <a:off x="4010025" y="2781300"/>
            <a:ext cx="416242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002060">
                    <a:alpha val="100000"/>
                  </a:srgbClr>
                </a:solidFill>
                <a:latin typeface="Times New Roman" panose="02020603050405020304"/>
                <a:ea typeface="Times New Roman" panose="02020603050405020304"/>
                <a:cs typeface="Times New Roman" panose="02020603050405020304"/>
              </a:rPr>
              <a:t>https://homepage.hit.edu.cn/lvdagang</a:t>
            </a:r>
            <a:endParaRPr sz="2000" dirty="0"/>
          </a:p>
        </p:txBody>
      </p:sp>
      <p:sp>
        <p:nvSpPr>
          <p:cNvPr id="2928" name="textbox 2928"/>
          <p:cNvSpPr/>
          <p:nvPr/>
        </p:nvSpPr>
        <p:spPr>
          <a:xfrm>
            <a:off x="3352800" y="3286125"/>
            <a:ext cx="5457825"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02060">
                    <a:alpha val="100000"/>
                  </a:srgbClr>
                </a:solidFill>
                <a:latin typeface="Times New Roman" panose="02020603050405020304"/>
                <a:ea typeface="Times New Roman" panose="02020603050405020304"/>
                <a:cs typeface="Times New Roman" panose="02020603050405020304"/>
              </a:rPr>
              <a:t>https://www.researchgate.net/profile/Da-Gang-Lu</a:t>
            </a:r>
            <a:endParaRPr sz="2000" dirty="0"/>
          </a:p>
        </p:txBody>
      </p:sp>
      <p:pic>
        <p:nvPicPr>
          <p:cNvPr id="2932" name="picture 2932"/>
          <p:cNvPicPr>
            <a:picLocks noChangeAspect="1"/>
          </p:cNvPicPr>
          <p:nvPr/>
        </p:nvPicPr>
        <p:blipFill>
          <a:blip r:embed="rId2"/>
          <a:stretch>
            <a:fillRect/>
          </a:stretch>
        </p:blipFill>
        <p:spPr>
          <a:xfrm>
            <a:off x="4295775" y="3743325"/>
            <a:ext cx="3409950" cy="847725"/>
          </a:xfrm>
          <a:prstGeom prst="rect">
            <a:avLst/>
          </a:prstGeom>
        </p:spPr>
      </p:pic>
      <p:pic>
        <p:nvPicPr>
          <p:cNvPr id="2936" name="picture 2936"/>
          <p:cNvPicPr>
            <a:picLocks noChangeAspect="1"/>
          </p:cNvPicPr>
          <p:nvPr/>
        </p:nvPicPr>
        <p:blipFill>
          <a:blip r:embed="rId3"/>
          <a:stretch>
            <a:fillRect/>
          </a:stretch>
        </p:blipFill>
        <p:spPr>
          <a:xfrm>
            <a:off x="0" y="4772025"/>
            <a:ext cx="12182475" cy="2076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39972</Words>
  <Application>WPS 演示</Application>
  <PresentationFormat/>
  <Paragraphs>3874</Paragraphs>
  <Slides>67</Slides>
  <Notes>0</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67</vt:i4>
      </vt:variant>
    </vt:vector>
  </HeadingPairs>
  <TitlesOfParts>
    <vt:vector size="95" baseType="lpstr">
      <vt:lpstr>Arial</vt:lpstr>
      <vt:lpstr>宋体</vt:lpstr>
      <vt:lpstr>Wingdings</vt:lpstr>
      <vt:lpstr>微软雅黑</vt:lpstr>
      <vt:lpstr>Times New Roman</vt:lpstr>
      <vt:lpstr>楷体</vt:lpstr>
      <vt:lpstr>Cambria Math</vt:lpstr>
      <vt:lpstr>Times New Roman</vt:lpstr>
      <vt:lpstr>Calibri</vt:lpstr>
      <vt:lpstr>仿宋</vt:lpstr>
      <vt:lpstr>Arial</vt:lpstr>
      <vt:lpstr>华文楷体</vt:lpstr>
      <vt:lpstr>Georgia</vt:lpstr>
      <vt:lpstr>Cambria Math</vt:lpstr>
      <vt:lpstr>华文新魏</vt:lpstr>
      <vt:lpstr>Verdana</vt:lpstr>
      <vt:lpstr>Segoe UI</vt:lpstr>
      <vt:lpstr>Arial Unicode MS</vt:lpstr>
      <vt:lpstr>Garamond</vt:lpstr>
      <vt:lpstr>黑体</vt:lpstr>
      <vt:lpstr>Helvetica</vt:lpstr>
      <vt:lpstr>MS Mincho</vt:lpstr>
      <vt:lpstr>汉仪楷体简</vt:lpstr>
      <vt:lpstr>Tahoma</vt:lpstr>
      <vt:lpstr>华文中宋</vt:lpstr>
      <vt:lpstr>AMGDT</vt:lpstr>
      <vt:lpstr>KSOF7FC4CF2A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WPS_1779984719</cp:lastModifiedBy>
  <cp:revision>5</cp:revision>
  <dcterms:created xsi:type="dcterms:W3CDTF">2026-08-06T15:25:00Z</dcterms:created>
  <dcterms:modified xsi:type="dcterms:W3CDTF">2026-09-09T07:31:25Z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N">
    <vt:lpwstr>V1BTLUFJLUVuZ2luZQ</vt:lpwstr>
  </property>
  <property fmtid="{D5CDD505-2E9C-101B-9397-08002B2CF9AE}" pid="3" name="KSOProductBuildVer">
    <vt:lpwstr>2052-12.1.0.28043</vt:lpwstr>
  </property>
  <property fmtid="{D5CDD505-2E9C-101B-9397-08002B2CF9AE}" pid="4" name="ICV">
    <vt:lpwstr>F3E40C822D294F11B4E3A12E9ED2F23D_12</vt:lpwstr>
  </property>
</Properties>
</file>