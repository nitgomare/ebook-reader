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5DB8"/>
    <a:srgbClr val="0C5D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1" Type="http://schemas.openxmlformats.org/officeDocument/2006/relationships/slideLayout" Target="../slideLayouts/slideLayout1.xml"/><Relationship Id="rId10" Type="http://schemas.openxmlformats.org/officeDocument/2006/relationships/image" Target="../media/image17.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6.xml.rels><?xml version="1.0" encoding="UTF-8" standalone="yes"?>
<Relationships xmlns="http://schemas.openxmlformats.org/package/2006/relationships"><Relationship Id="rId9" Type="http://schemas.openxmlformats.org/officeDocument/2006/relationships/image" Target="../media/image37.png"/><Relationship Id="rId8" Type="http://schemas.openxmlformats.org/officeDocument/2006/relationships/image" Target="../media/image36.png"/><Relationship Id="rId7" Type="http://schemas.openxmlformats.org/officeDocument/2006/relationships/image" Target="../media/image35.png"/><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0" Type="http://schemas.openxmlformats.org/officeDocument/2006/relationships/slideLayout" Target="../slideLayouts/slideLayout1.xml"/><Relationship Id="rId1" Type="http://schemas.openxmlformats.org/officeDocument/2006/relationships/image" Target="../media/image29.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50.png"/><Relationship Id="rId7" Type="http://schemas.openxmlformats.org/officeDocument/2006/relationships/image" Target="../media/image49.png"/><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9.xml.rels><?xml version="1.0" encoding="UTF-8" standalone="yes"?>
<Relationships xmlns="http://schemas.openxmlformats.org/package/2006/relationships"><Relationship Id="rId9" Type="http://schemas.openxmlformats.org/officeDocument/2006/relationships/image" Target="../media/image59.png"/><Relationship Id="rId8" Type="http://schemas.openxmlformats.org/officeDocument/2006/relationships/image" Target="../media/image58.png"/><Relationship Id="rId7" Type="http://schemas.openxmlformats.org/officeDocument/2006/relationships/image" Target="../media/image57.png"/><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8" Type="http://schemas.openxmlformats.org/officeDocument/2006/relationships/slideLayout" Target="../slideLayouts/slideLayout1.xml"/><Relationship Id="rId17" Type="http://schemas.openxmlformats.org/officeDocument/2006/relationships/image" Target="../media/image66.png"/><Relationship Id="rId16" Type="http://schemas.openxmlformats.org/officeDocument/2006/relationships/image" Target="../media/image17.png"/><Relationship Id="rId15" Type="http://schemas.openxmlformats.org/officeDocument/2006/relationships/image" Target="../media/image65.png"/><Relationship Id="rId14" Type="http://schemas.openxmlformats.org/officeDocument/2006/relationships/image" Target="../media/image64.png"/><Relationship Id="rId13" Type="http://schemas.openxmlformats.org/officeDocument/2006/relationships/image" Target="../media/image63.png"/><Relationship Id="rId12" Type="http://schemas.openxmlformats.org/officeDocument/2006/relationships/image" Target="../media/image62.png"/><Relationship Id="rId11" Type="http://schemas.openxmlformats.org/officeDocument/2006/relationships/image" Target="../media/image61.png"/><Relationship Id="rId10" Type="http://schemas.openxmlformats.org/officeDocument/2006/relationships/image" Target="../media/image60.png"/><Relationship Id="rId1" Type="http://schemas.openxmlformats.org/officeDocument/2006/relationships/image" Target="../media/image5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p:cNvPicPr>
          <p:nvPr/>
        </p:nvPicPr>
        <p:blipFill>
          <a:blip r:embed="rId1"/>
          <a:stretch>
            <a:fillRect/>
          </a:stretch>
        </p:blipFill>
        <p:spPr>
          <a:xfrm>
            <a:off x="0" y="0"/>
            <a:ext cx="12192000" cy="6858000"/>
          </a:xfrm>
          <a:prstGeom prst="rect">
            <a:avLst/>
          </a:prstGeom>
        </p:spPr>
      </p:pic>
      <p:pic>
        <p:nvPicPr>
          <p:cNvPr id="8" name="picture 8"/>
          <p:cNvPicPr>
            <a:picLocks noChangeAspect="1"/>
          </p:cNvPicPr>
          <p:nvPr/>
        </p:nvPicPr>
        <p:blipFill>
          <a:blip r:embed="rId2"/>
          <a:stretch>
            <a:fillRect/>
          </a:stretch>
        </p:blipFill>
        <p:spPr>
          <a:xfrm>
            <a:off x="5238750" y="247650"/>
            <a:ext cx="1685925" cy="400050"/>
          </a:xfrm>
          <a:prstGeom prst="rect">
            <a:avLst/>
          </a:prstGeom>
        </p:spPr>
      </p:pic>
      <p:sp>
        <p:nvSpPr>
          <p:cNvPr id="10" name="textbox 10"/>
          <p:cNvSpPr/>
          <p:nvPr/>
        </p:nvSpPr>
        <p:spPr>
          <a:xfrm>
            <a:off x="3200400" y="1219200"/>
            <a:ext cx="5724525" cy="24765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基于人工智能的新能源电力系统智能调度与韧性优化研究</a:t>
            </a:r>
            <a:endParaRPr sz="1800" b="1" dirty="0"/>
          </a:p>
        </p:txBody>
      </p:sp>
      <p:sp>
        <p:nvSpPr>
          <p:cNvPr id="12" name="textbox 12"/>
          <p:cNvSpPr/>
          <p:nvPr/>
        </p:nvSpPr>
        <p:spPr>
          <a:xfrm>
            <a:off x="1047750" y="1857375"/>
            <a:ext cx="10125075" cy="2362200"/>
          </a:xfrm>
          <a:prstGeom prst="rect">
            <a:avLst/>
          </a:prstGeom>
          <a:noFill/>
          <a:ln w="0" cap="flat">
            <a:noFill/>
            <a:prstDash val="solid"/>
            <a:miter lim="0"/>
          </a:ln>
        </p:spPr>
        <p:txBody>
          <a:bodyPr vert="horz" wrap="none" lIns="0" tIns="0" rIns="0" bIns="0"/>
          <a:lstStyle/>
          <a:p>
            <a:pPr algn="l" rtl="0" eaLnBrk="0"/>
            <a:r>
              <a:rPr sz="8000" b="1" kern="0" spc="0" dirty="0">
                <a:solidFill>
                  <a:srgbClr val="FFFFFF">
                    <a:alpha val="100000"/>
                  </a:srgbClr>
                </a:solidFill>
                <a:latin typeface="微软雅黑" panose="020B0503020204020204" charset="-122"/>
                <a:ea typeface="微软雅黑" panose="020B0503020204020204" charset="-122"/>
                <a:cs typeface="方正小标宋简体"/>
              </a:rPr>
              <a:t>国家自然区域创新发展</a:t>
            </a:r>
            <a:endParaRPr sz="8000" dirty="0">
              <a:latin typeface="微软雅黑" panose="020B0503020204020204" charset="-122"/>
              <a:ea typeface="微软雅黑" panose="020B0503020204020204" charset="-122"/>
            </a:endParaRPr>
          </a:p>
          <a:p>
            <a:pPr marL="952500" algn="l" rtl="0" eaLnBrk="0">
              <a:spcBef>
                <a:spcPts val="1800"/>
              </a:spcBef>
            </a:pPr>
            <a:r>
              <a:rPr sz="8000" b="1" kern="0" spc="0" dirty="0">
                <a:solidFill>
                  <a:srgbClr val="FFFFFF">
                    <a:alpha val="100000"/>
                  </a:srgbClr>
                </a:solidFill>
                <a:latin typeface="微软雅黑" panose="020B0503020204020204" charset="-122"/>
                <a:ea typeface="微软雅黑" panose="020B0503020204020204" charset="-122"/>
                <a:cs typeface="方正小标宋简体"/>
              </a:rPr>
              <a:t>联合基金项目答辩</a:t>
            </a:r>
            <a:endParaRPr sz="8000" dirty="0">
              <a:latin typeface="微软雅黑" panose="020B0503020204020204" charset="-122"/>
              <a:ea typeface="微软雅黑" panose="020B0503020204020204" charset="-122"/>
            </a:endParaRPr>
          </a:p>
        </p:txBody>
      </p:sp>
      <p:sp>
        <p:nvSpPr>
          <p:cNvPr id="3" name="圆角矩形 2"/>
          <p:cNvSpPr/>
          <p:nvPr/>
        </p:nvSpPr>
        <p:spPr>
          <a:xfrm>
            <a:off x="4414520" y="5147310"/>
            <a:ext cx="3391535" cy="514985"/>
          </a:xfrm>
          <a:prstGeom prst="roundRect">
            <a:avLst>
              <a:gd name="adj" fmla="val 50000"/>
            </a:avLst>
          </a:prstGeom>
          <a:solidFill>
            <a:srgbClr val="0C5DB9"/>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2300" b="1" kern="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汇报人：像素答辩</a:t>
            </a:r>
            <a:endParaRPr lang="zh-CN" altLang="en-US"/>
          </a:p>
        </p:txBody>
      </p:sp>
      <p:sp>
        <p:nvSpPr>
          <p:cNvPr id="16" name="textbox 16"/>
          <p:cNvSpPr/>
          <p:nvPr/>
        </p:nvSpPr>
        <p:spPr>
          <a:xfrm>
            <a:off x="2819400" y="6000750"/>
            <a:ext cx="6524625" cy="247650"/>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像素科技大学智能能源学院 丨 像素工程大学人工智能学院</a:t>
            </a:r>
            <a:endParaRPr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0"/>
          <p:cNvPicPr>
            <a:picLocks noChangeAspect="1"/>
          </p:cNvPicPr>
          <p:nvPr/>
        </p:nvPicPr>
        <p:blipFill>
          <a:blip r:embed="rId1"/>
          <a:stretch>
            <a:fillRect/>
          </a:stretch>
        </p:blipFill>
        <p:spPr>
          <a:xfrm>
            <a:off x="0" y="0"/>
            <a:ext cx="12192000" cy="6858000"/>
          </a:xfrm>
          <a:prstGeom prst="rect">
            <a:avLst/>
          </a:prstGeom>
        </p:spPr>
      </p:pic>
      <p:sp>
        <p:nvSpPr>
          <p:cNvPr id="22" name="textbox 22"/>
          <p:cNvSpPr/>
          <p:nvPr/>
        </p:nvSpPr>
        <p:spPr>
          <a:xfrm>
            <a:off x="342900" y="123825"/>
            <a:ext cx="2524125" cy="438150"/>
          </a:xfrm>
          <a:prstGeom prst="rect">
            <a:avLst/>
          </a:prstGeom>
          <a:noFill/>
          <a:ln w="0" cap="flat">
            <a:noFill/>
            <a:prstDash val="solid"/>
            <a:miter lim="0"/>
          </a:ln>
        </p:spPr>
        <p:txBody>
          <a:bodyPr vert="horz" wrap="none" lIns="0" tIns="0" rIns="0" bIns="0"/>
          <a:lstStyle/>
          <a:p>
            <a:pPr marL="66675" indent="0" algn="l" rtl="0" eaLnBrk="0">
              <a:buNone/>
            </a:pPr>
            <a:r>
              <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rPr>
              <a:t>1.1 立项依据</a:t>
            </a:r>
            <a:endParaRPr sz="3000" dirty="0"/>
          </a:p>
        </p:txBody>
      </p:sp>
      <p:pic>
        <p:nvPicPr>
          <p:cNvPr id="26" name="picture 26"/>
          <p:cNvPicPr>
            <a:picLocks noChangeAspect="1"/>
          </p:cNvPicPr>
          <p:nvPr/>
        </p:nvPicPr>
        <p:blipFill>
          <a:blip r:embed="rId2"/>
          <a:stretch>
            <a:fillRect/>
          </a:stretch>
        </p:blipFill>
        <p:spPr>
          <a:xfrm>
            <a:off x="9896475" y="152400"/>
            <a:ext cx="1847850" cy="419100"/>
          </a:xfrm>
          <a:prstGeom prst="rect">
            <a:avLst/>
          </a:prstGeom>
        </p:spPr>
      </p:pic>
      <p:sp>
        <p:nvSpPr>
          <p:cNvPr id="28" name="textbox 28"/>
          <p:cNvSpPr/>
          <p:nvPr/>
        </p:nvSpPr>
        <p:spPr>
          <a:xfrm>
            <a:off x="609600" y="1019175"/>
            <a:ext cx="10944225" cy="676275"/>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突破传统单一建模的局限，提出将物理方程、运行规则作为约束嵌入深度学习模型，</a:t>
            </a:r>
            <a:r>
              <a:rPr sz="1900" b="1" u="sng"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提升AI模型的</a:t>
            </a:r>
            <a:endParaRPr sz="1900" dirty="0"/>
          </a:p>
          <a:p>
            <a:pPr algn="l" rtl="0" eaLnBrk="0">
              <a:spcBef>
                <a:spcPts val="900"/>
              </a:spcBef>
            </a:pPr>
            <a:r>
              <a:rPr sz="1900" b="1" u="sng"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准确性、可解释性和外推能力，特别是在训练数据稀缺的极端场景下</a:t>
            </a:r>
            <a:endParaRPr sz="1900" dirty="0"/>
          </a:p>
        </p:txBody>
      </p:sp>
      <p:sp>
        <p:nvSpPr>
          <p:cNvPr id="30" name="textbox 30"/>
          <p:cNvSpPr/>
          <p:nvPr/>
        </p:nvSpPr>
        <p:spPr>
          <a:xfrm>
            <a:off x="4533900" y="1876425"/>
            <a:ext cx="3095625" cy="285750"/>
          </a:xfrm>
          <a:prstGeom prst="rect">
            <a:avLst/>
          </a:prstGeom>
          <a:noFill/>
          <a:ln w="0" cap="flat">
            <a:noFill/>
            <a:prstDash val="solid"/>
            <a:miter lim="0"/>
          </a:ln>
        </p:spPr>
        <p:txBody>
          <a:bodyPr vert="horz" wrap="none" lIns="0" tIns="0" rIns="0" bIns="0"/>
          <a:lstStyle/>
          <a:p>
            <a:pPr algn="l" rtl="0" eaLnBrk="0"/>
            <a:r>
              <a:rPr sz="1900" b="1" kern="0" spc="0" dirty="0">
                <a:solidFill>
                  <a:srgbClr val="116797">
                    <a:alpha val="100000"/>
                  </a:srgbClr>
                </a:solidFill>
                <a:latin typeface="微软雅黑" panose="020B0503020204020204" charset="-122"/>
                <a:ea typeface="微软雅黑" panose="020B0503020204020204" charset="-122"/>
                <a:cs typeface="微软雅黑" panose="020B0503020204020204" charset="-122"/>
              </a:rPr>
              <a:t>项目研究的必要性与紧迫性</a:t>
            </a:r>
            <a:endParaRPr sz="1900" dirty="0"/>
          </a:p>
        </p:txBody>
      </p:sp>
      <p:sp>
        <p:nvSpPr>
          <p:cNvPr id="32" name="textbox 32"/>
          <p:cNvSpPr/>
          <p:nvPr/>
        </p:nvSpPr>
        <p:spPr>
          <a:xfrm>
            <a:off x="1447800" y="2390775"/>
            <a:ext cx="1552575" cy="295275"/>
          </a:xfrm>
          <a:prstGeom prst="rect">
            <a:avLst/>
          </a:prstGeom>
          <a:noFill/>
          <a:ln w="0" cap="flat">
            <a:noFill/>
            <a:prstDash val="solid"/>
            <a:miter lim="0"/>
          </a:ln>
        </p:spPr>
        <p:txBody>
          <a:bodyPr vert="horz" wrap="none" lIns="0" tIns="0" rIns="0" bIns="0"/>
          <a:lstStyle/>
          <a:p>
            <a:pPr algn="l" rtl="0" eaLnBrk="0"/>
            <a:endParaRPr sz="2000" dirty="0"/>
          </a:p>
        </p:txBody>
      </p:sp>
      <p:sp>
        <p:nvSpPr>
          <p:cNvPr id="34" name="textbox 34"/>
          <p:cNvSpPr/>
          <p:nvPr/>
        </p:nvSpPr>
        <p:spPr>
          <a:xfrm>
            <a:off x="5229225" y="2390775"/>
            <a:ext cx="1590675" cy="295275"/>
          </a:xfrm>
          <a:prstGeom prst="rect">
            <a:avLst/>
          </a:prstGeom>
          <a:noFill/>
          <a:ln w="0" cap="flat">
            <a:noFill/>
            <a:prstDash val="solid"/>
            <a:miter lim="0"/>
          </a:ln>
        </p:spPr>
        <p:txBody>
          <a:bodyPr vert="horz" wrap="none" lIns="0" tIns="0" rIns="0" bIns="0"/>
          <a:lstStyle/>
          <a:p>
            <a:pPr algn="l" rtl="0" eaLnBrk="0"/>
            <a:endParaRPr sz="2000" dirty="0"/>
          </a:p>
        </p:txBody>
      </p:sp>
      <p:sp>
        <p:nvSpPr>
          <p:cNvPr id="36" name="textbox 36"/>
          <p:cNvSpPr/>
          <p:nvPr/>
        </p:nvSpPr>
        <p:spPr>
          <a:xfrm>
            <a:off x="8924925" y="2390775"/>
            <a:ext cx="2085975" cy="285750"/>
          </a:xfrm>
          <a:prstGeom prst="rect">
            <a:avLst/>
          </a:prstGeom>
          <a:noFill/>
          <a:ln w="0" cap="flat">
            <a:noFill/>
            <a:prstDash val="solid"/>
            <a:miter lim="0"/>
          </a:ln>
        </p:spPr>
        <p:txBody>
          <a:bodyPr vert="horz" wrap="none" lIns="0" tIns="0" rIns="0" bIns="0"/>
          <a:lstStyle/>
          <a:p>
            <a:pPr algn="l" rtl="0" eaLnBrk="0"/>
            <a:endParaRPr sz="2000" dirty="0"/>
          </a:p>
        </p:txBody>
      </p:sp>
      <p:sp>
        <p:nvSpPr>
          <p:cNvPr id="38" name="textbox 38"/>
          <p:cNvSpPr/>
          <p:nvPr/>
        </p:nvSpPr>
        <p:spPr>
          <a:xfrm>
            <a:off x="542925" y="2924175"/>
            <a:ext cx="3352800" cy="533400"/>
          </a:xfrm>
          <a:prstGeom prst="rect">
            <a:avLst/>
          </a:prstGeom>
          <a:noFill/>
          <a:ln w="0" cap="flat">
            <a:noFill/>
            <a:prstDash val="solid"/>
            <a:miter lim="0"/>
          </a:ln>
        </p:spPr>
        <p:txBody>
          <a:bodyPr vert="horz" wrap="none" lIns="0" tIns="0" rIns="0" bIns="0"/>
          <a:lstStyle/>
          <a:p>
            <a:pPr algn="l" rtl="0" eaLnBrk="0"/>
            <a:r>
              <a:rPr sz="1500" b="1" kern="0" spc="0" dirty="0">
                <a:solidFill>
                  <a:srgbClr val="0054A7">
                    <a:alpha val="100000"/>
                  </a:srgbClr>
                </a:solidFill>
                <a:latin typeface="微软雅黑" panose="020B0503020204020204" charset="-122"/>
                <a:ea typeface="微软雅黑" panose="020B0503020204020204" charset="-122"/>
                <a:cs typeface="微软雅黑" panose="020B0503020204020204" charset="-122"/>
              </a:rPr>
              <a:t>我国明确提出</a:t>
            </a:r>
            <a:r>
              <a:rPr sz="15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“2030年前实现碳达峰</a:t>
            </a:r>
            <a:endParaRPr sz="1500" dirty="0"/>
          </a:p>
          <a:p>
            <a:pPr marL="85725" algn="l" rtl="0" eaLnBrk="0">
              <a:spcBef>
                <a:spcPts val="675"/>
              </a:spcBef>
            </a:pPr>
            <a:r>
              <a:rPr sz="15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2060年前实现碳中和”</a:t>
            </a:r>
            <a:r>
              <a:rPr sz="1500" b="1" kern="0" spc="0" dirty="0">
                <a:solidFill>
                  <a:srgbClr val="0054A7">
                    <a:alpha val="100000"/>
                  </a:srgbClr>
                </a:solidFill>
                <a:latin typeface="微软雅黑" panose="020B0503020204020204" charset="-122"/>
                <a:ea typeface="微软雅黑" panose="020B0503020204020204" charset="-122"/>
                <a:cs typeface="微软雅黑" panose="020B0503020204020204" charset="-122"/>
              </a:rPr>
              <a:t>的战略目标</a:t>
            </a:r>
            <a:endParaRPr sz="1500" dirty="0"/>
          </a:p>
        </p:txBody>
      </p:sp>
      <p:sp>
        <p:nvSpPr>
          <p:cNvPr id="2" name="同侧圆角矩形 1"/>
          <p:cNvSpPr/>
          <p:nvPr/>
        </p:nvSpPr>
        <p:spPr>
          <a:xfrm>
            <a:off x="4686935" y="2303780"/>
            <a:ext cx="2646680" cy="459740"/>
          </a:xfrm>
          <a:prstGeom prst="round2SameRect">
            <a:avLst>
              <a:gd name="adj1" fmla="val 45856"/>
              <a:gd name="adj2" fmla="val 0"/>
            </a:avLst>
          </a:prstGeom>
          <a:solidFill>
            <a:srgbClr val="0C5DB8"/>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2000" b="1" kern="0" dirty="0">
                <a:solidFill>
                  <a:srgbClr val="FFFF66">
                    <a:alpha val="100000"/>
                  </a:srgbClr>
                </a:solidFill>
                <a:latin typeface="微软雅黑" panose="020B0503020204020204" charset="-122"/>
                <a:ea typeface="微软雅黑" panose="020B0503020204020204" charset="-122"/>
                <a:cs typeface="微软雅黑" panose="020B0503020204020204" charset="-122"/>
                <a:sym typeface="+mn-ea"/>
              </a:rPr>
              <a:t>提升电力系统</a:t>
            </a:r>
            <a:endParaRPr lang="zh-CN" altLang="en-US"/>
          </a:p>
        </p:txBody>
      </p:sp>
      <p:pic>
        <p:nvPicPr>
          <p:cNvPr id="42" name="picture 42"/>
          <p:cNvPicPr>
            <a:picLocks noChangeAspect="1"/>
          </p:cNvPicPr>
          <p:nvPr/>
        </p:nvPicPr>
        <p:blipFill>
          <a:blip r:embed="rId3"/>
          <a:stretch>
            <a:fillRect/>
          </a:stretch>
        </p:blipFill>
        <p:spPr>
          <a:xfrm>
            <a:off x="447675" y="3543300"/>
            <a:ext cx="3476625" cy="1876425"/>
          </a:xfrm>
          <a:prstGeom prst="rect">
            <a:avLst/>
          </a:prstGeom>
        </p:spPr>
      </p:pic>
      <p:sp>
        <p:nvSpPr>
          <p:cNvPr id="44" name="textbox 44"/>
          <p:cNvSpPr/>
          <p:nvPr/>
        </p:nvSpPr>
        <p:spPr>
          <a:xfrm>
            <a:off x="400050" y="5543550"/>
            <a:ext cx="3581400" cy="200025"/>
          </a:xfrm>
          <a:prstGeom prst="rect">
            <a:avLst/>
          </a:prstGeom>
          <a:noFill/>
          <a:ln w="0" cap="flat">
            <a:noFill/>
            <a:prstDash val="solid"/>
            <a:miter lim="0"/>
          </a:ln>
        </p:spPr>
        <p:txBody>
          <a:bodyPr vert="horz" wrap="none" lIns="0" tIns="0" rIns="0" bIns="0"/>
          <a:lstStyle/>
          <a:p>
            <a:pPr algn="l" rtl="0" eaLnBrk="0"/>
            <a:r>
              <a:rPr sz="14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风电、光伏等新能源固有的间歇性和不确定性</a:t>
            </a:r>
            <a:endParaRPr sz="1400" dirty="0"/>
          </a:p>
        </p:txBody>
      </p:sp>
      <p:sp>
        <p:nvSpPr>
          <p:cNvPr id="46" name="textbox 46"/>
          <p:cNvSpPr/>
          <p:nvPr/>
        </p:nvSpPr>
        <p:spPr>
          <a:xfrm>
            <a:off x="4400550" y="2886075"/>
            <a:ext cx="3162300" cy="542925"/>
          </a:xfrm>
          <a:prstGeom prst="rect">
            <a:avLst/>
          </a:prstGeom>
          <a:noFill/>
          <a:ln w="0" cap="flat">
            <a:noFill/>
            <a:prstDash val="solid"/>
            <a:miter lim="0"/>
          </a:ln>
        </p:spPr>
        <p:txBody>
          <a:bodyPr vert="horz" wrap="none" lIns="0" tIns="0" rIns="0" bIns="0"/>
          <a:lstStyle/>
          <a:p>
            <a:pPr marL="314325" indent="-266700"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全球气候变化导致极端天气事件</a:t>
            </a:r>
            <a:endParaRPr sz="1600" dirty="0"/>
          </a:p>
          <a:p>
            <a:pPr marL="266700" algn="l" rtl="0" eaLnBrk="0">
              <a:spcBef>
                <a:spcPts val="525"/>
              </a:spcBef>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频发、强度增大</a:t>
            </a:r>
            <a:endParaRPr sz="1600" dirty="0"/>
          </a:p>
        </p:txBody>
      </p:sp>
      <p:sp>
        <p:nvSpPr>
          <p:cNvPr id="48" name="textbox 48"/>
          <p:cNvSpPr/>
          <p:nvPr/>
        </p:nvSpPr>
        <p:spPr>
          <a:xfrm>
            <a:off x="4410075" y="3467100"/>
            <a:ext cx="2962275" cy="247650"/>
          </a:xfrm>
          <a:prstGeom prst="rect">
            <a:avLst/>
          </a:prstGeom>
          <a:noFill/>
          <a:ln w="0" cap="flat">
            <a:noFill/>
            <a:prstDash val="solid"/>
            <a:miter lim="0"/>
          </a:ln>
        </p:spPr>
        <p:txBody>
          <a:bodyPr vert="horz" wrap="none" lIns="0" tIns="0" rIns="0" bIns="0"/>
          <a:lstStyle/>
          <a:p>
            <a:pPr marL="304800" indent="-266700"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对电力基础设施构成严重威胁</a:t>
            </a:r>
            <a:endParaRPr sz="1600" dirty="0"/>
          </a:p>
        </p:txBody>
      </p:sp>
      <p:pic>
        <p:nvPicPr>
          <p:cNvPr id="52" name="picture 52"/>
          <p:cNvPicPr>
            <a:picLocks noChangeAspect="1"/>
          </p:cNvPicPr>
          <p:nvPr/>
        </p:nvPicPr>
        <p:blipFill>
          <a:blip r:embed="rId4"/>
          <a:stretch>
            <a:fillRect/>
          </a:stretch>
        </p:blipFill>
        <p:spPr>
          <a:xfrm>
            <a:off x="4514850" y="3867150"/>
            <a:ext cx="2990850" cy="1752600"/>
          </a:xfrm>
          <a:prstGeom prst="rect">
            <a:avLst/>
          </a:prstGeom>
        </p:spPr>
      </p:pic>
      <p:sp>
        <p:nvSpPr>
          <p:cNvPr id="54" name="textbox 54"/>
          <p:cNvSpPr/>
          <p:nvPr/>
        </p:nvSpPr>
        <p:spPr>
          <a:xfrm>
            <a:off x="5762625" y="3867150"/>
            <a:ext cx="409575" cy="190500"/>
          </a:xfrm>
          <a:prstGeom prst="rect">
            <a:avLst/>
          </a:prstGeom>
          <a:noFill/>
          <a:ln w="0" cap="flat">
            <a:noFill/>
            <a:prstDash val="solid"/>
            <a:miter lim="0"/>
          </a:ln>
        </p:spPr>
        <p:txBody>
          <a:bodyPr vert="horz" wrap="none" lIns="0" tIns="0" rIns="0" bIns="0"/>
          <a:lstStyle/>
          <a:p>
            <a:pPr algn="l" rtl="0" eaLnBrk="0"/>
            <a:r>
              <a:rPr sz="800" kern="0" spc="375" dirty="0">
                <a:solidFill>
                  <a:srgbClr val="262626">
                    <a:alpha val="100000"/>
                  </a:srgbClr>
                </a:solidFill>
                <a:latin typeface="华文琥珀" panose="02010800040101010101" charset="-122"/>
                <a:ea typeface="华文琥珀" panose="02010800040101010101" charset="-122"/>
                <a:cs typeface="华文琥珀" panose="02010800040101010101" charset="-122"/>
              </a:rPr>
              <a:t>微电网</a:t>
            </a:r>
            <a:endParaRPr sz="800" dirty="0"/>
          </a:p>
        </p:txBody>
      </p:sp>
      <p:sp>
        <p:nvSpPr>
          <p:cNvPr id="56" name="textbox 56"/>
          <p:cNvSpPr/>
          <p:nvPr/>
        </p:nvSpPr>
        <p:spPr>
          <a:xfrm>
            <a:off x="5048250" y="4781550"/>
            <a:ext cx="304800" cy="142875"/>
          </a:xfrm>
          <a:prstGeom prst="rect">
            <a:avLst/>
          </a:prstGeom>
          <a:noFill/>
          <a:ln w="0" cap="flat">
            <a:noFill/>
            <a:prstDash val="solid"/>
            <a:miter lim="0"/>
          </a:ln>
        </p:spPr>
        <p:txBody>
          <a:bodyPr vert="horz" wrap="none" lIns="0" tIns="0" rIns="0" bIns="0"/>
          <a:lstStyle/>
          <a:p>
            <a:pPr algn="l" rtl="0" eaLnBrk="0"/>
            <a:r>
              <a:rPr sz="600" kern="0" spc="0" dirty="0">
                <a:solidFill>
                  <a:srgbClr val="FFFFFF">
                    <a:alpha val="100000"/>
                  </a:srgbClr>
                </a:solidFill>
                <a:latin typeface="Arial" panose="020B0604020202020204"/>
                <a:ea typeface="Arial" panose="020B0604020202020204"/>
                <a:cs typeface="Arial" panose="020B0604020202020204"/>
              </a:rPr>
              <a:t>[</a:t>
            </a:r>
            <a:r>
              <a:rPr sz="600" kern="0" spc="0" dirty="0">
                <a:solidFill>
                  <a:srgbClr val="FFFFFF">
                    <a:alpha val="100000"/>
                  </a:srgbClr>
                </a:solidFill>
                <a:latin typeface="宋体" panose="02010600030101010101" pitchFamily="2" charset="-122"/>
                <a:ea typeface="宋体" panose="02010600030101010101" pitchFamily="2" charset="-122"/>
                <a:cs typeface="宋体" panose="02010600030101010101" pitchFamily="2" charset="-122"/>
              </a:rPr>
              <a:t>无法识别</a:t>
            </a:r>
            <a:r>
              <a:rPr sz="600" kern="0" spc="0" dirty="0">
                <a:solidFill>
                  <a:srgbClr val="FFFFFF">
                    <a:alpha val="100000"/>
                  </a:srgbClr>
                </a:solidFill>
                <a:latin typeface="Arial" panose="020B0604020202020204"/>
                <a:ea typeface="Arial" panose="020B0604020202020204"/>
                <a:cs typeface="Arial" panose="020B0604020202020204"/>
              </a:rPr>
              <a:t>]</a:t>
            </a:r>
            <a:endParaRPr sz="600" dirty="0"/>
          </a:p>
        </p:txBody>
      </p:sp>
      <p:sp>
        <p:nvSpPr>
          <p:cNvPr id="58" name="textbox 58"/>
          <p:cNvSpPr/>
          <p:nvPr/>
        </p:nvSpPr>
        <p:spPr>
          <a:xfrm>
            <a:off x="6991350" y="5000625"/>
            <a:ext cx="485775" cy="161925"/>
          </a:xfrm>
          <a:prstGeom prst="rect">
            <a:avLst/>
          </a:prstGeom>
          <a:noFill/>
          <a:ln w="0" cap="flat">
            <a:noFill/>
            <a:prstDash val="solid"/>
            <a:miter lim="0"/>
          </a:ln>
        </p:spPr>
        <p:txBody>
          <a:bodyPr vert="horz" wrap="none" lIns="0" tIns="0" rIns="0" bIns="0"/>
          <a:lstStyle/>
          <a:p>
            <a:pPr algn="l" rtl="0" eaLnBrk="0"/>
            <a:r>
              <a:rPr sz="500" kern="0" spc="150" dirty="0">
                <a:solidFill>
                  <a:srgbClr val="FFFFFF">
                    <a:alpha val="100000"/>
                  </a:srgbClr>
                </a:solidFill>
                <a:latin typeface="微软雅黑" panose="020B0503020204020204" charset="-122"/>
                <a:ea typeface="微软雅黑" panose="020B0503020204020204" charset="-122"/>
                <a:cs typeface="微软雅黑" panose="020B0503020204020204" charset="-122"/>
              </a:rPr>
              <a:t>常请简要多选</a:t>
            </a:r>
            <a:endParaRPr sz="500" dirty="0"/>
          </a:p>
        </p:txBody>
      </p:sp>
      <p:sp>
        <p:nvSpPr>
          <p:cNvPr id="60" name="textbox 60"/>
          <p:cNvSpPr/>
          <p:nvPr/>
        </p:nvSpPr>
        <p:spPr>
          <a:xfrm>
            <a:off x="8372475" y="2886075"/>
            <a:ext cx="2762250" cy="238125"/>
          </a:xfrm>
          <a:prstGeom prst="rect">
            <a:avLst/>
          </a:prstGeom>
          <a:noFill/>
          <a:ln w="0" cap="flat">
            <a:noFill/>
            <a:prstDash val="solid"/>
            <a:miter lim="0"/>
          </a:ln>
        </p:spPr>
        <p:txBody>
          <a:bodyPr vert="horz" wrap="none" lIns="0" tIns="0" rIns="0" bIns="0"/>
          <a:lstStyle/>
          <a:p>
            <a:pPr marL="314325" indent="-276225"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人工智能技术正处于爆发期</a:t>
            </a:r>
            <a:endParaRPr sz="1600" dirty="0"/>
          </a:p>
        </p:txBody>
      </p:sp>
      <p:sp>
        <p:nvSpPr>
          <p:cNvPr id="62" name="textbox 62"/>
          <p:cNvSpPr/>
          <p:nvPr/>
        </p:nvSpPr>
        <p:spPr>
          <a:xfrm>
            <a:off x="8372475" y="3181350"/>
            <a:ext cx="3143250" cy="533400"/>
          </a:xfrm>
          <a:prstGeom prst="rect">
            <a:avLst/>
          </a:prstGeom>
          <a:noFill/>
          <a:ln w="0" cap="flat">
            <a:noFill/>
            <a:prstDash val="solid"/>
            <a:miter lim="0"/>
          </a:ln>
        </p:spPr>
        <p:txBody>
          <a:bodyPr vert="horz" wrap="none" lIns="0" tIns="0" rIns="0" bIns="0"/>
          <a:lstStyle/>
          <a:p>
            <a:pPr marL="314325" indent="-276225"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为破解电力系统传统难题提供了</a:t>
            </a:r>
            <a:endParaRPr sz="1600" dirty="0"/>
          </a:p>
          <a:p>
            <a:pPr marL="276225" algn="l" rtl="0" eaLnBrk="0">
              <a:spcBef>
                <a:spcPts val="525"/>
              </a:spcBef>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全新的技术路径</a:t>
            </a:r>
            <a:endParaRPr sz="1600" dirty="0"/>
          </a:p>
        </p:txBody>
      </p:sp>
      <p:pic>
        <p:nvPicPr>
          <p:cNvPr id="66" name="picture 66"/>
          <p:cNvPicPr>
            <a:picLocks noChangeAspect="1"/>
          </p:cNvPicPr>
          <p:nvPr/>
        </p:nvPicPr>
        <p:blipFill>
          <a:blip r:embed="rId5"/>
          <a:stretch>
            <a:fillRect/>
          </a:stretch>
        </p:blipFill>
        <p:spPr>
          <a:xfrm>
            <a:off x="8324850" y="3886200"/>
            <a:ext cx="3286125" cy="1790700"/>
          </a:xfrm>
          <a:prstGeom prst="rect">
            <a:avLst/>
          </a:prstGeom>
        </p:spPr>
      </p:pic>
      <p:sp>
        <p:nvSpPr>
          <p:cNvPr id="68" name="textbox 68"/>
          <p:cNvSpPr/>
          <p:nvPr/>
        </p:nvSpPr>
        <p:spPr>
          <a:xfrm>
            <a:off x="342900" y="5943600"/>
            <a:ext cx="9029700" cy="219075"/>
          </a:xfrm>
          <a:prstGeom prst="rect">
            <a:avLst/>
          </a:prstGeom>
          <a:noFill/>
          <a:ln w="0" cap="flat">
            <a:noFill/>
            <a:prstDash val="solid"/>
            <a:miter lim="0"/>
          </a:ln>
        </p:spPr>
        <p:txBody>
          <a:bodyPr vert="horz" wrap="none" lIns="0" tIns="0" rIns="0" bIns="0"/>
          <a:lstStyle/>
          <a:p>
            <a:pPr marL="285750" indent="-266700" algn="l" rtl="0" eaLnBrk="0">
              <a:buChar char="►"/>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将联邦学习用于多源数据融合，在保证各主体数据隐私的前提下，协同训练出更强大的全局AI模型</a:t>
            </a:r>
            <a:endParaRPr sz="1600" dirty="0"/>
          </a:p>
        </p:txBody>
      </p:sp>
      <p:sp>
        <p:nvSpPr>
          <p:cNvPr id="70" name="textbox 70"/>
          <p:cNvSpPr/>
          <p:nvPr/>
        </p:nvSpPr>
        <p:spPr>
          <a:xfrm>
            <a:off x="333375" y="6248400"/>
            <a:ext cx="11296650" cy="209550"/>
          </a:xfrm>
          <a:prstGeom prst="rect">
            <a:avLst/>
          </a:prstGeom>
          <a:noFill/>
          <a:ln w="0" cap="flat">
            <a:noFill/>
            <a:prstDash val="solid"/>
            <a:miter lim="0"/>
          </a:ln>
        </p:spPr>
        <p:txBody>
          <a:bodyPr vert="horz" wrap="none" lIns="0" tIns="0" rIns="0" bIns="0"/>
          <a:lstStyle/>
          <a:p>
            <a:pPr marL="285750" indent="-266700" algn="l" rtl="0" eaLnBrk="0">
              <a:buChar char="►"/>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采用多智能体</a:t>
            </a:r>
            <a:r>
              <a:rPr sz="1600" b="1" kern="0" spc="0" dirty="0">
                <a:solidFill>
                  <a:srgbClr val="B01314">
                    <a:alpha val="100000"/>
                  </a:srgbClr>
                </a:solidFill>
                <a:latin typeface="微软雅黑" panose="020B0503020204020204" charset="-122"/>
                <a:ea typeface="微软雅黑" panose="020B0503020204020204" charset="-122"/>
                <a:cs typeface="微软雅黑" panose="020B0503020204020204" charset="-122"/>
              </a:rPr>
              <a:t>深度强化学习对“源-网-荷-储”进行分布式协同优化</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，实现去中心化的智能决策，提高系统的灵活性和鲁棒性</a:t>
            </a:r>
            <a:endParaRPr sz="1600" dirty="0"/>
          </a:p>
        </p:txBody>
      </p:sp>
      <p:sp>
        <p:nvSpPr>
          <p:cNvPr id="3" name="同侧圆角矩形 2"/>
          <p:cNvSpPr/>
          <p:nvPr/>
        </p:nvSpPr>
        <p:spPr>
          <a:xfrm>
            <a:off x="900430" y="2306320"/>
            <a:ext cx="2646680" cy="459740"/>
          </a:xfrm>
          <a:prstGeom prst="round2SameRect">
            <a:avLst>
              <a:gd name="adj1" fmla="val 45856"/>
              <a:gd name="adj2" fmla="val 0"/>
            </a:avLst>
          </a:prstGeom>
          <a:solidFill>
            <a:srgbClr val="0C5DB8"/>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2000" b="1" kern="0" dirty="0">
                <a:solidFill>
                  <a:srgbClr val="FFFF00">
                    <a:alpha val="100000"/>
                  </a:srgbClr>
                </a:solidFill>
                <a:latin typeface="微软雅黑" panose="020B0503020204020204" charset="-122"/>
                <a:ea typeface="微软雅黑" panose="020B0503020204020204" charset="-122"/>
                <a:cs typeface="微软雅黑" panose="020B0503020204020204" charset="-122"/>
                <a:sym typeface="+mn-ea"/>
              </a:rPr>
              <a:t>国家能源战略</a:t>
            </a:r>
            <a:endParaRPr lang="zh-CN" altLang="en-US"/>
          </a:p>
        </p:txBody>
      </p:sp>
      <p:sp>
        <p:nvSpPr>
          <p:cNvPr id="4" name="同侧圆角矩形 3"/>
          <p:cNvSpPr/>
          <p:nvPr/>
        </p:nvSpPr>
        <p:spPr>
          <a:xfrm>
            <a:off x="8644890" y="2306320"/>
            <a:ext cx="2646680" cy="459740"/>
          </a:xfrm>
          <a:prstGeom prst="round2SameRect">
            <a:avLst>
              <a:gd name="adj1" fmla="val 45856"/>
              <a:gd name="adj2" fmla="val 0"/>
            </a:avLst>
          </a:prstGeom>
          <a:solidFill>
            <a:srgbClr val="0C5DB8"/>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2000" b="1" kern="0" dirty="0">
                <a:solidFill>
                  <a:srgbClr val="FFFF66">
                    <a:alpha val="100000"/>
                  </a:srgbClr>
                </a:solidFill>
                <a:latin typeface="微软雅黑" panose="020B0503020204020204" charset="-122"/>
                <a:ea typeface="微软雅黑" panose="020B0503020204020204" charset="-122"/>
                <a:cs typeface="微软雅黑" panose="020B0503020204020204" charset="-122"/>
                <a:sym typeface="+mn-ea"/>
              </a:rPr>
              <a:t>产业升级内在驱动</a:t>
            </a:r>
            <a:endParaRPr sz="2000" b="1" kern="0" dirty="0">
              <a:solidFill>
                <a:srgbClr val="FFFF66">
                  <a:alpha val="100000"/>
                </a:srgb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398780" y="2766060"/>
            <a:ext cx="3674745" cy="3128645"/>
          </a:xfrm>
          <a:prstGeom prst="rect">
            <a:avLst/>
          </a:prstGeom>
          <a:noFill/>
          <a:ln>
            <a:solidFill>
              <a:schemeClr val="bg1">
                <a:lumMod val="85000"/>
              </a:schemeClr>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4200525" y="2766060"/>
            <a:ext cx="3674745" cy="3128645"/>
          </a:xfrm>
          <a:prstGeom prst="rect">
            <a:avLst/>
          </a:prstGeom>
          <a:noFill/>
          <a:ln>
            <a:solidFill>
              <a:schemeClr val="bg1">
                <a:lumMod val="85000"/>
              </a:schemeClr>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8130540" y="2766060"/>
            <a:ext cx="3674745" cy="3128645"/>
          </a:xfrm>
          <a:prstGeom prst="rect">
            <a:avLst/>
          </a:prstGeom>
          <a:noFill/>
          <a:ln>
            <a:solidFill>
              <a:schemeClr val="bg1">
                <a:lumMod val="85000"/>
              </a:schemeClr>
            </a:solidFill>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74"/>
          <p:cNvPicPr>
            <a:picLocks noChangeAspect="1"/>
          </p:cNvPicPr>
          <p:nvPr/>
        </p:nvPicPr>
        <p:blipFill>
          <a:blip r:embed="rId1"/>
          <a:stretch>
            <a:fillRect/>
          </a:stretch>
        </p:blipFill>
        <p:spPr>
          <a:xfrm>
            <a:off x="0" y="0"/>
            <a:ext cx="12192000" cy="6858000"/>
          </a:xfrm>
          <a:prstGeom prst="rect">
            <a:avLst/>
          </a:prstGeom>
        </p:spPr>
      </p:pic>
      <p:sp>
        <p:nvSpPr>
          <p:cNvPr id="76" name="textbox 76"/>
          <p:cNvSpPr/>
          <p:nvPr/>
        </p:nvSpPr>
        <p:spPr>
          <a:xfrm>
            <a:off x="342900" y="133350"/>
            <a:ext cx="3333750" cy="438150"/>
          </a:xfrm>
          <a:prstGeom prst="rect">
            <a:avLst/>
          </a:prstGeom>
          <a:noFill/>
          <a:ln w="0" cap="flat">
            <a:noFill/>
            <a:prstDash val="solid"/>
            <a:miter lim="0"/>
          </a:ln>
        </p:spPr>
        <p:txBody>
          <a:bodyPr vert="horz" wrap="none" lIns="0" tIns="0" rIns="0" bIns="0"/>
          <a:lstStyle/>
          <a:p>
            <a:pPr marL="57150"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1.2 关键科学问题</a:t>
            </a:r>
            <a:endParaRPr sz="3000" dirty="0"/>
          </a:p>
        </p:txBody>
      </p:sp>
      <p:pic>
        <p:nvPicPr>
          <p:cNvPr id="80" name="picture 80"/>
          <p:cNvPicPr>
            <a:picLocks noChangeAspect="1"/>
          </p:cNvPicPr>
          <p:nvPr/>
        </p:nvPicPr>
        <p:blipFill>
          <a:blip r:embed="rId2"/>
          <a:stretch>
            <a:fillRect/>
          </a:stretch>
        </p:blipFill>
        <p:spPr>
          <a:xfrm>
            <a:off x="9915525" y="152400"/>
            <a:ext cx="1828800" cy="419100"/>
          </a:xfrm>
          <a:prstGeom prst="rect">
            <a:avLst/>
          </a:prstGeom>
        </p:spPr>
      </p:pic>
      <p:sp>
        <p:nvSpPr>
          <p:cNvPr id="82" name="textbox 82"/>
          <p:cNvSpPr/>
          <p:nvPr/>
        </p:nvSpPr>
        <p:spPr>
          <a:xfrm>
            <a:off x="1790700" y="981075"/>
            <a:ext cx="8515350" cy="304800"/>
          </a:xfrm>
          <a:prstGeom prst="rect">
            <a:avLst/>
          </a:prstGeom>
          <a:noFill/>
          <a:ln w="0" cap="flat">
            <a:noFill/>
            <a:prstDash val="solid"/>
            <a:miter lim="0"/>
          </a:ln>
        </p:spPr>
        <p:txBody>
          <a:bodyPr vert="horz" wrap="none" lIns="0" tIns="0" rIns="0" bIns="0"/>
          <a:lstStyle/>
          <a:p>
            <a:pPr algn="l" rtl="0" eaLnBrk="0"/>
            <a:endParaRPr sz="2000" dirty="0"/>
          </a:p>
        </p:txBody>
      </p:sp>
      <p:sp>
        <p:nvSpPr>
          <p:cNvPr id="84" name="textbox 84"/>
          <p:cNvSpPr/>
          <p:nvPr/>
        </p:nvSpPr>
        <p:spPr>
          <a:xfrm>
            <a:off x="542925" y="1609725"/>
            <a:ext cx="2438400" cy="266700"/>
          </a:xfrm>
          <a:prstGeom prst="rect">
            <a:avLst/>
          </a:prstGeom>
          <a:noFill/>
          <a:ln w="0" cap="flat">
            <a:noFill/>
            <a:prstDash val="solid"/>
            <a:miter lim="0"/>
          </a:ln>
        </p:spPr>
        <p:txBody>
          <a:bodyPr vert="horz" wrap="none" lIns="0" tIns="0" rIns="0" bIns="0"/>
          <a:lstStyle/>
          <a:p>
            <a:pPr algn="l" rtl="0" eaLnBrk="0"/>
            <a:r>
              <a:rPr sz="17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新型电力系统新在哪里?</a:t>
            </a:r>
            <a:endParaRPr sz="1700" dirty="0"/>
          </a:p>
        </p:txBody>
      </p:sp>
      <p:sp>
        <p:nvSpPr>
          <p:cNvPr id="86" name="textbox 86"/>
          <p:cNvSpPr/>
          <p:nvPr/>
        </p:nvSpPr>
        <p:spPr>
          <a:xfrm>
            <a:off x="4352925" y="1571625"/>
            <a:ext cx="7210425" cy="228600"/>
          </a:xfrm>
          <a:prstGeom prst="rect">
            <a:avLst/>
          </a:prstGeom>
          <a:noFill/>
          <a:ln w="0" cap="flat">
            <a:noFill/>
            <a:prstDash val="solid"/>
            <a:miter lim="0"/>
          </a:ln>
        </p:spPr>
        <p:txBody>
          <a:bodyPr vert="horz" wrap="none" lIns="0" tIns="0" rIns="0" bIns="0"/>
          <a:lstStyle/>
          <a:p>
            <a:pPr marL="304800" indent="-266700" algn="l" rtl="0" eaLnBrk="0">
              <a:buChar char="►"/>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如何建立融合物理规律与数据驱动的耦合建模新范式，以克服“维数灾难”与模型失配</a:t>
            </a:r>
            <a:r>
              <a:rPr sz="1400" b="1" kern="0" spc="0" dirty="0">
                <a:solidFill>
                  <a:srgbClr val="851321">
                    <a:alpha val="100000"/>
                  </a:srgbClr>
                </a:solidFill>
                <a:latin typeface="微软雅黑" panose="020B0503020204020204" charset="-122"/>
                <a:ea typeface="微软雅黑" panose="020B0503020204020204" charset="-122"/>
                <a:cs typeface="微软雅黑" panose="020B0503020204020204" charset="-122"/>
              </a:rPr>
              <a:t>？</a:t>
            </a:r>
            <a:endParaRPr sz="1400" dirty="0"/>
          </a:p>
        </p:txBody>
      </p:sp>
      <p:pic>
        <p:nvPicPr>
          <p:cNvPr id="90" name="picture 90"/>
          <p:cNvPicPr>
            <a:picLocks noChangeAspect="1"/>
          </p:cNvPicPr>
          <p:nvPr/>
        </p:nvPicPr>
        <p:blipFill>
          <a:blip r:embed="rId3"/>
          <a:stretch>
            <a:fillRect/>
          </a:stretch>
        </p:blipFill>
        <p:spPr>
          <a:xfrm>
            <a:off x="2057400" y="1981200"/>
            <a:ext cx="590550" cy="285750"/>
          </a:xfrm>
          <a:prstGeom prst="rect">
            <a:avLst/>
          </a:prstGeom>
        </p:spPr>
      </p:pic>
      <p:sp>
        <p:nvSpPr>
          <p:cNvPr id="92" name="textbox 92"/>
          <p:cNvSpPr/>
          <p:nvPr/>
        </p:nvSpPr>
        <p:spPr>
          <a:xfrm>
            <a:off x="2714625" y="1971675"/>
            <a:ext cx="866775" cy="295275"/>
          </a:xfrm>
          <a:prstGeom prst="rect">
            <a:avLst/>
          </a:prstGeom>
          <a:noFill/>
          <a:ln w="0" cap="flat">
            <a:noFill/>
            <a:prstDash val="solid"/>
            <a:miter lim="0"/>
          </a:ln>
        </p:spPr>
        <p:txBody>
          <a:bodyPr vert="horz" wrap="none" lIns="0" tIns="0" rIns="0" bIns="0"/>
          <a:lstStyle/>
          <a:p>
            <a:pPr algn="l" rtl="0" eaLnBrk="0"/>
            <a:r>
              <a:rPr sz="1800" b="1" kern="0" spc="0" dirty="0">
                <a:solidFill>
                  <a:srgbClr val="AE2613">
                    <a:alpha val="100000"/>
                  </a:srgbClr>
                </a:solidFill>
                <a:latin typeface="微软雅黑" panose="020B0503020204020204" charset="-122"/>
                <a:ea typeface="微软雅黑" panose="020B0503020204020204" charset="-122"/>
                <a:cs typeface="微软雅黑" panose="020B0503020204020204" charset="-122"/>
              </a:rPr>
              <a:t>新能源!</a:t>
            </a:r>
            <a:endParaRPr sz="1800" dirty="0"/>
          </a:p>
        </p:txBody>
      </p:sp>
      <p:pic>
        <p:nvPicPr>
          <p:cNvPr id="96" name="picture 96"/>
          <p:cNvPicPr>
            <a:picLocks noChangeAspect="1"/>
          </p:cNvPicPr>
          <p:nvPr/>
        </p:nvPicPr>
        <p:blipFill>
          <a:blip r:embed="rId4"/>
          <a:stretch>
            <a:fillRect/>
          </a:stretch>
        </p:blipFill>
        <p:spPr>
          <a:xfrm>
            <a:off x="3800475" y="1800225"/>
            <a:ext cx="352425" cy="304800"/>
          </a:xfrm>
          <a:prstGeom prst="rect">
            <a:avLst/>
          </a:prstGeom>
        </p:spPr>
      </p:pic>
      <p:sp>
        <p:nvSpPr>
          <p:cNvPr id="98" name="textbox 98"/>
          <p:cNvSpPr/>
          <p:nvPr/>
        </p:nvSpPr>
        <p:spPr>
          <a:xfrm>
            <a:off x="4362450" y="1838325"/>
            <a:ext cx="4857750" cy="228600"/>
          </a:xfrm>
          <a:prstGeom prst="rect">
            <a:avLst/>
          </a:prstGeom>
          <a:noFill/>
          <a:ln w="0" cap="flat">
            <a:noFill/>
            <a:prstDash val="solid"/>
            <a:miter lim="0"/>
          </a:ln>
        </p:spPr>
        <p:txBody>
          <a:bodyPr vert="horz" wrap="none" lIns="0" tIns="0" rIns="0" bIns="0"/>
          <a:lstStyle/>
          <a:p>
            <a:pPr marL="295275" indent="-266700" algn="l" rtl="0" eaLnBrk="0">
              <a:buChar char="►"/>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如何实现</a:t>
            </a:r>
            <a:r>
              <a:rPr sz="14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“常态调度”与“应急防控”一体化的智能决策?</a:t>
            </a:r>
            <a:endParaRPr sz="1400" dirty="0"/>
          </a:p>
        </p:txBody>
      </p:sp>
      <p:sp>
        <p:nvSpPr>
          <p:cNvPr id="100" name="textbox 100"/>
          <p:cNvSpPr/>
          <p:nvPr/>
        </p:nvSpPr>
        <p:spPr>
          <a:xfrm>
            <a:off x="4362450" y="2105025"/>
            <a:ext cx="6619875" cy="238125"/>
          </a:xfrm>
          <a:prstGeom prst="rect">
            <a:avLst/>
          </a:prstGeom>
          <a:noFill/>
          <a:ln w="0" cap="flat">
            <a:noFill/>
            <a:prstDash val="solid"/>
            <a:miter lim="0"/>
          </a:ln>
        </p:spPr>
        <p:txBody>
          <a:bodyPr vert="horz" wrap="none" lIns="0" tIns="0" rIns="0" bIns="0"/>
          <a:lstStyle/>
          <a:p>
            <a:pPr marL="295275" indent="-276225" algn="l" rtl="0" eaLnBrk="0">
              <a:buChar char="►"/>
            </a:pPr>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如何构建具有认知和推演能力的数字孪生环境，以支撑AI智能体高效与安全学习</a:t>
            </a:r>
            <a:r>
              <a:rPr sz="1300" b="1" kern="0" spc="0" dirty="0">
                <a:solidFill>
                  <a:srgbClr val="851321">
                    <a:alpha val="100000"/>
                  </a:srgbClr>
                </a:solidFill>
                <a:latin typeface="微软雅黑" panose="020B0503020204020204" charset="-122"/>
                <a:ea typeface="微软雅黑" panose="020B0503020204020204" charset="-122"/>
                <a:cs typeface="微软雅黑" panose="020B0503020204020204" charset="-122"/>
              </a:rPr>
              <a:t>?</a:t>
            </a:r>
            <a:endParaRPr sz="1300" dirty="0"/>
          </a:p>
        </p:txBody>
      </p:sp>
      <p:pic>
        <p:nvPicPr>
          <p:cNvPr id="104" name="picture 104"/>
          <p:cNvPicPr>
            <a:picLocks noChangeAspect="1"/>
          </p:cNvPicPr>
          <p:nvPr/>
        </p:nvPicPr>
        <p:blipFill>
          <a:blip r:embed="rId5"/>
          <a:stretch>
            <a:fillRect/>
          </a:stretch>
        </p:blipFill>
        <p:spPr>
          <a:xfrm>
            <a:off x="533400" y="2457450"/>
            <a:ext cx="857250" cy="685800"/>
          </a:xfrm>
          <a:prstGeom prst="rect">
            <a:avLst/>
          </a:prstGeom>
        </p:spPr>
      </p:pic>
      <p:sp>
        <p:nvSpPr>
          <p:cNvPr id="106" name="textbox 106"/>
          <p:cNvSpPr/>
          <p:nvPr/>
        </p:nvSpPr>
        <p:spPr>
          <a:xfrm>
            <a:off x="657225" y="3190875"/>
            <a:ext cx="581025" cy="209550"/>
          </a:xfrm>
          <a:prstGeom prst="rect">
            <a:avLst/>
          </a:prstGeom>
          <a:noFill/>
          <a:ln w="0" cap="flat">
            <a:noFill/>
            <a:prstDash val="solid"/>
            <a:miter lim="0"/>
          </a:ln>
        </p:spPr>
        <p:txBody>
          <a:bodyPr vert="horz" wrap="none" lIns="0" tIns="0" rIns="0" bIns="0"/>
          <a:lstStyle/>
          <a:p>
            <a:pPr algn="l" rtl="0" eaLnBrk="0"/>
            <a:r>
              <a:rPr sz="1400" b="1" kern="0" spc="0" dirty="0">
                <a:solidFill>
                  <a:srgbClr val="2176AD">
                    <a:alpha val="100000"/>
                  </a:srgbClr>
                </a:solidFill>
                <a:latin typeface="微软雅黑" panose="020B0503020204020204" charset="-122"/>
                <a:ea typeface="微软雅黑" panose="020B0503020204020204" charset="-122"/>
                <a:cs typeface="微软雅黑" panose="020B0503020204020204" charset="-122"/>
              </a:rPr>
              <a:t>新能源</a:t>
            </a:r>
            <a:endParaRPr sz="1400" dirty="0"/>
          </a:p>
        </p:txBody>
      </p:sp>
      <p:pic>
        <p:nvPicPr>
          <p:cNvPr id="110" name="picture 110"/>
          <p:cNvPicPr>
            <a:picLocks noChangeAspect="1"/>
          </p:cNvPicPr>
          <p:nvPr/>
        </p:nvPicPr>
        <p:blipFill>
          <a:blip r:embed="rId6"/>
          <a:stretch>
            <a:fillRect/>
          </a:stretch>
        </p:blipFill>
        <p:spPr>
          <a:xfrm>
            <a:off x="581025" y="3543300"/>
            <a:ext cx="809625" cy="685800"/>
          </a:xfrm>
          <a:prstGeom prst="rect">
            <a:avLst/>
          </a:prstGeom>
        </p:spPr>
      </p:pic>
      <p:sp>
        <p:nvSpPr>
          <p:cNvPr id="112" name="textbox 112"/>
          <p:cNvSpPr/>
          <p:nvPr/>
        </p:nvSpPr>
        <p:spPr>
          <a:xfrm>
            <a:off x="571500" y="4276725"/>
            <a:ext cx="742950" cy="209550"/>
          </a:xfrm>
          <a:prstGeom prst="rect">
            <a:avLst/>
          </a:prstGeom>
          <a:noFill/>
          <a:ln w="0" cap="flat">
            <a:noFill/>
            <a:prstDash val="solid"/>
            <a:miter lim="0"/>
          </a:ln>
        </p:spPr>
        <p:txBody>
          <a:bodyPr vert="horz" wrap="none" lIns="0" tIns="0" rIns="0" bIns="0"/>
          <a:lstStyle/>
          <a:p>
            <a:pPr algn="l" rtl="0" eaLnBrk="0"/>
            <a:r>
              <a:rPr sz="1400" b="1" kern="0" spc="0" dirty="0">
                <a:solidFill>
                  <a:srgbClr val="0055A0">
                    <a:alpha val="100000"/>
                  </a:srgbClr>
                </a:solidFill>
                <a:latin typeface="微软雅黑" panose="020B0503020204020204" charset="-122"/>
                <a:ea typeface="微软雅黑" panose="020B0503020204020204" charset="-122"/>
                <a:cs typeface="微软雅黑" panose="020B0503020204020204" charset="-122"/>
              </a:rPr>
              <a:t>新型负荷</a:t>
            </a:r>
            <a:endParaRPr sz="1400" dirty="0"/>
          </a:p>
        </p:txBody>
      </p:sp>
      <p:pic>
        <p:nvPicPr>
          <p:cNvPr id="116" name="picture 116"/>
          <p:cNvPicPr>
            <a:picLocks noChangeAspect="1"/>
          </p:cNvPicPr>
          <p:nvPr/>
        </p:nvPicPr>
        <p:blipFill>
          <a:blip r:embed="rId7"/>
          <a:stretch>
            <a:fillRect/>
          </a:stretch>
        </p:blipFill>
        <p:spPr>
          <a:xfrm>
            <a:off x="571500" y="4610100"/>
            <a:ext cx="790575" cy="609600"/>
          </a:xfrm>
          <a:prstGeom prst="rect">
            <a:avLst/>
          </a:prstGeom>
        </p:spPr>
      </p:pic>
      <p:sp>
        <p:nvSpPr>
          <p:cNvPr id="118" name="textbox 118"/>
          <p:cNvSpPr/>
          <p:nvPr/>
        </p:nvSpPr>
        <p:spPr>
          <a:xfrm>
            <a:off x="400050" y="5267325"/>
            <a:ext cx="108585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1A5E90">
                    <a:alpha val="100000"/>
                  </a:srgbClr>
                </a:solidFill>
                <a:latin typeface="微软雅黑" panose="020B0503020204020204" charset="-122"/>
                <a:ea typeface="微软雅黑" panose="020B0503020204020204" charset="-122"/>
                <a:cs typeface="微软雅黑" panose="020B0503020204020204" charset="-122"/>
              </a:rPr>
              <a:t>电力电子设备</a:t>
            </a:r>
            <a:endParaRPr sz="1400" dirty="0"/>
          </a:p>
        </p:txBody>
      </p:sp>
      <p:pic>
        <p:nvPicPr>
          <p:cNvPr id="122" name="picture 122"/>
          <p:cNvPicPr>
            <a:picLocks noChangeAspect="1"/>
          </p:cNvPicPr>
          <p:nvPr/>
        </p:nvPicPr>
        <p:blipFill>
          <a:blip r:embed="rId8"/>
          <a:stretch>
            <a:fillRect/>
          </a:stretch>
        </p:blipFill>
        <p:spPr>
          <a:xfrm>
            <a:off x="1600200" y="3686175"/>
            <a:ext cx="438150" cy="638175"/>
          </a:xfrm>
          <a:prstGeom prst="rect">
            <a:avLst/>
          </a:prstGeom>
        </p:spPr>
      </p:pic>
      <p:pic>
        <p:nvPicPr>
          <p:cNvPr id="126" name="picture 126"/>
          <p:cNvPicPr>
            <a:picLocks noChangeAspect="1"/>
          </p:cNvPicPr>
          <p:nvPr/>
        </p:nvPicPr>
        <p:blipFill>
          <a:blip r:embed="rId9"/>
          <a:stretch>
            <a:fillRect/>
          </a:stretch>
        </p:blipFill>
        <p:spPr>
          <a:xfrm>
            <a:off x="2266950" y="2743200"/>
            <a:ext cx="3905250" cy="2628900"/>
          </a:xfrm>
          <a:prstGeom prst="rect">
            <a:avLst/>
          </a:prstGeom>
        </p:spPr>
      </p:pic>
      <p:sp>
        <p:nvSpPr>
          <p:cNvPr id="128" name="textbox 128"/>
          <p:cNvSpPr/>
          <p:nvPr/>
        </p:nvSpPr>
        <p:spPr>
          <a:xfrm>
            <a:off x="3219450" y="2733675"/>
            <a:ext cx="14478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新型电力系统</a:t>
            </a:r>
            <a:endParaRPr sz="1800" dirty="0"/>
          </a:p>
        </p:txBody>
      </p:sp>
      <p:sp>
        <p:nvSpPr>
          <p:cNvPr id="130" name="textbox 130"/>
          <p:cNvSpPr/>
          <p:nvPr/>
        </p:nvSpPr>
        <p:spPr>
          <a:xfrm>
            <a:off x="7143750" y="2905125"/>
            <a:ext cx="1266825" cy="247650"/>
          </a:xfrm>
          <a:prstGeom prst="rect">
            <a:avLst/>
          </a:prstGeom>
          <a:noFill/>
          <a:ln w="0" cap="flat">
            <a:noFill/>
            <a:prstDash val="solid"/>
            <a:miter lim="0"/>
          </a:ln>
        </p:spPr>
        <p:txBody>
          <a:bodyPr vert="horz" wrap="none" lIns="0" tIns="0" rIns="0" bIns="0"/>
          <a:lstStyle/>
          <a:p>
            <a:pPr algn="l" rtl="0" eaLnBrk="0"/>
            <a:r>
              <a:rPr sz="16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系统规模巨大</a:t>
            </a:r>
            <a:endParaRPr sz="1600" dirty="0"/>
          </a:p>
        </p:txBody>
      </p:sp>
      <p:sp>
        <p:nvSpPr>
          <p:cNvPr id="132" name="textbox 132"/>
          <p:cNvSpPr/>
          <p:nvPr/>
        </p:nvSpPr>
        <p:spPr>
          <a:xfrm>
            <a:off x="7143750" y="3390900"/>
            <a:ext cx="1257300" cy="247650"/>
          </a:xfrm>
          <a:prstGeom prst="rect">
            <a:avLst/>
          </a:prstGeom>
          <a:noFill/>
          <a:ln w="0" cap="flat">
            <a:noFill/>
            <a:prstDash val="solid"/>
            <a:miter lim="0"/>
          </a:ln>
        </p:spPr>
        <p:txBody>
          <a:bodyPr vert="horz" wrap="none" lIns="0" tIns="0" rIns="0" bIns="0"/>
          <a:lstStyle/>
          <a:p>
            <a:pPr algn="l" rtl="0" eaLnBrk="0"/>
            <a:r>
              <a:rPr sz="15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安全机理复杂</a:t>
            </a:r>
            <a:endParaRPr sz="1500" dirty="0"/>
          </a:p>
        </p:txBody>
      </p:sp>
      <p:sp>
        <p:nvSpPr>
          <p:cNvPr id="134" name="textbox 134"/>
          <p:cNvSpPr/>
          <p:nvPr/>
        </p:nvSpPr>
        <p:spPr>
          <a:xfrm>
            <a:off x="7143750" y="3886200"/>
            <a:ext cx="1257300" cy="228600"/>
          </a:xfrm>
          <a:prstGeom prst="rect">
            <a:avLst/>
          </a:prstGeom>
          <a:noFill/>
          <a:ln w="0" cap="flat">
            <a:noFill/>
            <a:prstDash val="solid"/>
            <a:miter lim="0"/>
          </a:ln>
        </p:spPr>
        <p:txBody>
          <a:bodyPr vert="horz" wrap="none" lIns="0" tIns="0" rIns="0" bIns="0"/>
          <a:lstStyle/>
          <a:p>
            <a:pPr algn="l" rtl="0" eaLnBrk="0"/>
            <a:r>
              <a:rPr sz="16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海量数据分析</a:t>
            </a:r>
            <a:endParaRPr sz="1600" dirty="0"/>
          </a:p>
        </p:txBody>
      </p:sp>
      <p:sp>
        <p:nvSpPr>
          <p:cNvPr id="136" name="textbox 136"/>
          <p:cNvSpPr/>
          <p:nvPr/>
        </p:nvSpPr>
        <p:spPr>
          <a:xfrm>
            <a:off x="7143750" y="4324350"/>
            <a:ext cx="1666875" cy="247650"/>
          </a:xfrm>
          <a:prstGeom prst="rect">
            <a:avLst/>
          </a:prstGeom>
          <a:noFill/>
          <a:ln w="0" cap="flat">
            <a:noFill/>
            <a:prstDash val="solid"/>
            <a:miter lim="0"/>
          </a:ln>
        </p:spPr>
        <p:txBody>
          <a:bodyPr vert="horz" wrap="none" lIns="0" tIns="0" rIns="0" bIns="0"/>
          <a:lstStyle/>
          <a:p>
            <a:pPr algn="l" rtl="0" eaLnBrk="0"/>
            <a:r>
              <a:rPr sz="16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新能源功率波动强</a:t>
            </a:r>
            <a:endParaRPr sz="1600" dirty="0"/>
          </a:p>
        </p:txBody>
      </p:sp>
      <p:sp>
        <p:nvSpPr>
          <p:cNvPr id="138" name="textbox 138"/>
          <p:cNvSpPr/>
          <p:nvPr/>
        </p:nvSpPr>
        <p:spPr>
          <a:xfrm>
            <a:off x="7143750" y="4838700"/>
            <a:ext cx="1866900" cy="247650"/>
          </a:xfrm>
          <a:prstGeom prst="rect">
            <a:avLst/>
          </a:prstGeom>
          <a:noFill/>
          <a:ln w="0" cap="flat">
            <a:noFill/>
            <a:prstDash val="solid"/>
            <a:miter lim="0"/>
          </a:ln>
        </p:spPr>
        <p:txBody>
          <a:bodyPr vert="horz" wrap="none" lIns="0" tIns="0" rIns="0" bIns="0"/>
          <a:lstStyle/>
          <a:p>
            <a:pPr algn="l" rtl="0" eaLnBrk="0"/>
            <a:r>
              <a:rPr sz="16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优化决策时效要求高</a:t>
            </a:r>
            <a:endParaRPr sz="1600" dirty="0"/>
          </a:p>
        </p:txBody>
      </p:sp>
      <p:sp>
        <p:nvSpPr>
          <p:cNvPr id="140" name="textbox 140"/>
          <p:cNvSpPr/>
          <p:nvPr/>
        </p:nvSpPr>
        <p:spPr>
          <a:xfrm>
            <a:off x="9658350" y="3895725"/>
            <a:ext cx="438150" cy="247650"/>
          </a:xfrm>
          <a:prstGeom prst="rect">
            <a:avLst/>
          </a:prstGeom>
          <a:noFill/>
          <a:ln w="0" cap="flat">
            <a:noFill/>
            <a:prstDash val="solid"/>
            <a:miter lim="0"/>
          </a:ln>
        </p:spPr>
        <p:txBody>
          <a:bodyPr vert="horz" wrap="none" lIns="0" tIns="0" rIns="0" bIns="0"/>
          <a:lstStyle/>
          <a:p>
            <a:pPr algn="l" rtl="0" eaLnBrk="0"/>
            <a:r>
              <a:rPr sz="16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背景</a:t>
            </a:r>
            <a:endParaRPr sz="1600" dirty="0"/>
          </a:p>
        </p:txBody>
      </p:sp>
      <p:sp>
        <p:nvSpPr>
          <p:cNvPr id="142" name="textbox 142"/>
          <p:cNvSpPr/>
          <p:nvPr/>
        </p:nvSpPr>
        <p:spPr>
          <a:xfrm>
            <a:off x="10496550" y="3409950"/>
            <a:ext cx="1200150" cy="1162050"/>
          </a:xfrm>
          <a:prstGeom prst="rect">
            <a:avLst/>
          </a:prstGeom>
          <a:noFill/>
          <a:ln w="0" cap="flat">
            <a:noFill/>
            <a:prstDash val="solid"/>
            <a:miter lim="0"/>
          </a:ln>
        </p:spPr>
        <p:txBody>
          <a:bodyPr vert="horz" wrap="none" lIns="0" tIns="0" rIns="0" bIns="0"/>
          <a:lstStyle/>
          <a:p>
            <a:pPr algn="l" rtl="0" eaLnBrk="0"/>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人工智能为</a:t>
            </a:r>
            <a:endParaRPr sz="1800" dirty="0"/>
          </a:p>
          <a:p>
            <a:pPr algn="l" rtl="0" eaLnBrk="0">
              <a:spcBef>
                <a:spcPts val="375"/>
              </a:spcBef>
            </a:pPr>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新型电力系</a:t>
            </a:r>
            <a:endParaRPr sz="1800" dirty="0"/>
          </a:p>
          <a:p>
            <a:pPr algn="l" rtl="0" eaLnBrk="0">
              <a:spcBef>
                <a:spcPts val="375"/>
              </a:spcBef>
            </a:pPr>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统发展提供</a:t>
            </a:r>
            <a:endParaRPr sz="1800" dirty="0"/>
          </a:p>
          <a:p>
            <a:pPr marL="333375" algn="l" rtl="0" eaLnBrk="0">
              <a:spcBef>
                <a:spcPts val="375"/>
              </a:spcBef>
            </a:pPr>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支持</a:t>
            </a:r>
            <a:endParaRPr sz="1800" dirty="0"/>
          </a:p>
        </p:txBody>
      </p:sp>
      <p:sp>
        <p:nvSpPr>
          <p:cNvPr id="144" name="textbox 144"/>
          <p:cNvSpPr/>
          <p:nvPr/>
        </p:nvSpPr>
        <p:spPr>
          <a:xfrm>
            <a:off x="847725" y="5743575"/>
            <a:ext cx="6362700" cy="23812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研究基于因果推理的场景生成技术、对抗性生成网络用于极端样本生成</a:t>
            </a:r>
            <a:endParaRPr sz="1500" dirty="0"/>
          </a:p>
        </p:txBody>
      </p:sp>
      <p:sp>
        <p:nvSpPr>
          <p:cNvPr id="146" name="textbox 146"/>
          <p:cNvSpPr/>
          <p:nvPr/>
        </p:nvSpPr>
        <p:spPr>
          <a:xfrm>
            <a:off x="847725" y="6086475"/>
            <a:ext cx="9629775" cy="23812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研究多目标深度强化学习、分层强化学习和元强化学习决策框架，实现“源-网-荷-储”的分布式自组织优化</a:t>
            </a:r>
            <a:endParaRPr sz="1500" dirty="0"/>
          </a:p>
        </p:txBody>
      </p:sp>
      <p:sp>
        <p:nvSpPr>
          <p:cNvPr id="148" name="textbox 148"/>
          <p:cNvSpPr/>
          <p:nvPr/>
        </p:nvSpPr>
        <p:spPr>
          <a:xfrm>
            <a:off x="390525" y="6124575"/>
            <a:ext cx="238125" cy="16192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Arial" panose="020B0604020202020204"/>
                <a:ea typeface="Arial" panose="020B0604020202020204"/>
                <a:cs typeface="Arial" panose="020B0604020202020204"/>
              </a:rPr>
              <a:t>02</a:t>
            </a:r>
            <a:endParaRPr sz="1400" dirty="0"/>
          </a:p>
        </p:txBody>
      </p:sp>
      <p:pic>
        <p:nvPicPr>
          <p:cNvPr id="2" name="picture 712"/>
          <p:cNvPicPr>
            <a:picLocks noChangeAspect="1"/>
          </p:cNvPicPr>
          <p:nvPr/>
        </p:nvPicPr>
        <p:blipFill>
          <a:blip r:embed="rId10">
            <a:grayscl/>
          </a:blip>
          <a:stretch>
            <a:fillRect/>
          </a:stretch>
        </p:blipFill>
        <p:spPr>
          <a:xfrm>
            <a:off x="4343400" y="1552575"/>
            <a:ext cx="190500" cy="247650"/>
          </a:xfrm>
          <a:prstGeom prst="rect">
            <a:avLst/>
          </a:prstGeom>
        </p:spPr>
      </p:pic>
      <p:pic>
        <p:nvPicPr>
          <p:cNvPr id="3" name="picture 712"/>
          <p:cNvPicPr>
            <a:picLocks noChangeAspect="1"/>
          </p:cNvPicPr>
          <p:nvPr/>
        </p:nvPicPr>
        <p:blipFill>
          <a:blip r:embed="rId10">
            <a:grayscl/>
          </a:blip>
          <a:stretch>
            <a:fillRect/>
          </a:stretch>
        </p:blipFill>
        <p:spPr>
          <a:xfrm>
            <a:off x="4343400" y="1800225"/>
            <a:ext cx="190500" cy="247650"/>
          </a:xfrm>
          <a:prstGeom prst="rect">
            <a:avLst/>
          </a:prstGeom>
        </p:spPr>
      </p:pic>
      <p:pic>
        <p:nvPicPr>
          <p:cNvPr id="4" name="picture 712"/>
          <p:cNvPicPr>
            <a:picLocks noChangeAspect="1"/>
          </p:cNvPicPr>
          <p:nvPr/>
        </p:nvPicPr>
        <p:blipFill>
          <a:blip r:embed="rId10">
            <a:grayscl/>
          </a:blip>
          <a:stretch>
            <a:fillRect/>
          </a:stretch>
        </p:blipFill>
        <p:spPr>
          <a:xfrm>
            <a:off x="4343400" y="2044700"/>
            <a:ext cx="190500" cy="247650"/>
          </a:xfrm>
          <a:prstGeom prst="rect">
            <a:avLst/>
          </a:prstGeom>
        </p:spPr>
      </p:pic>
      <p:sp>
        <p:nvSpPr>
          <p:cNvPr id="5" name="矩形 4"/>
          <p:cNvSpPr/>
          <p:nvPr/>
        </p:nvSpPr>
        <p:spPr>
          <a:xfrm>
            <a:off x="390525" y="883920"/>
            <a:ext cx="11446510" cy="499110"/>
          </a:xfrm>
          <a:prstGeom prst="rect">
            <a:avLst/>
          </a:prstGeom>
          <a:solidFill>
            <a:srgbClr val="0C5DB8"/>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eaLnBrk="0"/>
            <a:r>
              <a:rPr sz="2000" b="1" kern="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设计多智能体协同（MAS）机制，实现“源-网-荷-储”的分布式自组织优化</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 name="picture 152"/>
          <p:cNvPicPr>
            <a:picLocks noChangeAspect="1"/>
          </p:cNvPicPr>
          <p:nvPr/>
        </p:nvPicPr>
        <p:blipFill>
          <a:blip r:embed="rId1"/>
          <a:stretch>
            <a:fillRect/>
          </a:stretch>
        </p:blipFill>
        <p:spPr>
          <a:xfrm>
            <a:off x="0" y="0"/>
            <a:ext cx="12192000" cy="6858000"/>
          </a:xfrm>
          <a:prstGeom prst="rect">
            <a:avLst/>
          </a:prstGeom>
        </p:spPr>
      </p:pic>
      <p:sp>
        <p:nvSpPr>
          <p:cNvPr id="154" name="textbox 154"/>
          <p:cNvSpPr/>
          <p:nvPr/>
        </p:nvSpPr>
        <p:spPr>
          <a:xfrm>
            <a:off x="342900" y="133350"/>
            <a:ext cx="2533650" cy="438150"/>
          </a:xfrm>
          <a:prstGeom prst="rect">
            <a:avLst/>
          </a:prstGeom>
          <a:noFill/>
          <a:ln w="0" cap="flat">
            <a:noFill/>
            <a:prstDash val="solid"/>
            <a:miter lim="0"/>
          </a:ln>
        </p:spPr>
        <p:txBody>
          <a:bodyPr vert="horz" wrap="none" lIns="0" tIns="0" rIns="0" bIns="0"/>
          <a:lstStyle/>
          <a:p>
            <a:pPr indent="0" algn="l" rtl="0" eaLnBrk="0">
              <a:buNone/>
            </a:pPr>
            <a:r>
              <a:rPr lang="en-US"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2.</a:t>
            </a: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1 研究思路</a:t>
            </a:r>
            <a:endParaRPr sz="3200" dirty="0"/>
          </a:p>
        </p:txBody>
      </p:sp>
      <p:pic>
        <p:nvPicPr>
          <p:cNvPr id="158" name="picture 158"/>
          <p:cNvPicPr>
            <a:picLocks noChangeAspect="1"/>
          </p:cNvPicPr>
          <p:nvPr/>
        </p:nvPicPr>
        <p:blipFill>
          <a:blip r:embed="rId2"/>
          <a:stretch>
            <a:fillRect/>
          </a:stretch>
        </p:blipFill>
        <p:spPr>
          <a:xfrm>
            <a:off x="9915525" y="152400"/>
            <a:ext cx="1838325" cy="419100"/>
          </a:xfrm>
          <a:prstGeom prst="rect">
            <a:avLst/>
          </a:prstGeom>
        </p:spPr>
      </p:pic>
      <p:sp>
        <p:nvSpPr>
          <p:cNvPr id="160" name="textbox 160"/>
          <p:cNvSpPr/>
          <p:nvPr/>
        </p:nvSpPr>
        <p:spPr>
          <a:xfrm>
            <a:off x="419100" y="933450"/>
            <a:ext cx="25908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多源异构数据融合感知</a:t>
            </a:r>
            <a:endParaRPr sz="1800" dirty="0"/>
          </a:p>
        </p:txBody>
      </p:sp>
      <p:sp>
        <p:nvSpPr>
          <p:cNvPr id="162" name="textbox 162"/>
          <p:cNvSpPr/>
          <p:nvPr/>
        </p:nvSpPr>
        <p:spPr>
          <a:xfrm>
            <a:off x="704850" y="1343025"/>
            <a:ext cx="10725150" cy="295275"/>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利用联邦学习技术，在保障各数据主体（电网公司）隐私的前提下，协同训练全局特征提取模型</a:t>
            </a:r>
            <a:endParaRPr sz="1900" dirty="0"/>
          </a:p>
        </p:txBody>
      </p:sp>
      <p:pic>
        <p:nvPicPr>
          <p:cNvPr id="166" name="picture 166"/>
          <p:cNvPicPr>
            <a:picLocks noChangeAspect="1"/>
          </p:cNvPicPr>
          <p:nvPr/>
        </p:nvPicPr>
        <p:blipFill>
          <a:blip r:embed="rId3"/>
          <a:stretch>
            <a:fillRect/>
          </a:stretch>
        </p:blipFill>
        <p:spPr>
          <a:xfrm>
            <a:off x="342900" y="1809750"/>
            <a:ext cx="11449050" cy="4143375"/>
          </a:xfrm>
          <a:prstGeom prst="rect">
            <a:avLst/>
          </a:prstGeom>
        </p:spPr>
      </p:pic>
      <p:sp>
        <p:nvSpPr>
          <p:cNvPr id="168" name="textbox 168"/>
          <p:cNvSpPr/>
          <p:nvPr/>
        </p:nvSpPr>
        <p:spPr>
          <a:xfrm>
            <a:off x="466725" y="1914525"/>
            <a:ext cx="561975" cy="285750"/>
          </a:xfrm>
          <a:prstGeom prst="rect">
            <a:avLst/>
          </a:prstGeom>
          <a:noFill/>
          <a:ln w="0" cap="flat">
            <a:noFill/>
            <a:prstDash val="solid"/>
            <a:miter lim="0"/>
          </a:ln>
        </p:spPr>
        <p:txBody>
          <a:bodyPr vert="horz" wrap="none" lIns="0" tIns="0" rIns="0" bIns="0"/>
          <a:lstStyle/>
          <a:p>
            <a:pPr algn="l" rtl="0" eaLnBrk="0"/>
            <a:r>
              <a:rPr sz="19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基础</a:t>
            </a:r>
            <a:endParaRPr sz="1900" dirty="0"/>
          </a:p>
        </p:txBody>
      </p:sp>
      <p:sp>
        <p:nvSpPr>
          <p:cNvPr id="170" name="textbox 170"/>
          <p:cNvSpPr/>
          <p:nvPr/>
        </p:nvSpPr>
        <p:spPr>
          <a:xfrm>
            <a:off x="2209800" y="1933575"/>
            <a:ext cx="1952625" cy="266700"/>
          </a:xfrm>
          <a:prstGeom prst="rect">
            <a:avLst/>
          </a:prstGeom>
          <a:noFill/>
          <a:ln w="0" cap="flat">
            <a:noFill/>
            <a:prstDash val="solid"/>
            <a:miter lim="0"/>
          </a:ln>
        </p:spPr>
        <p:txBody>
          <a:bodyPr vert="horz" wrap="none" lIns="0" tIns="0" rIns="0" bIns="0"/>
          <a:lstStyle/>
          <a:p>
            <a:pPr marL="314325" indent="-276225"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多源数据融合感知</a:t>
            </a:r>
            <a:endParaRPr sz="1600" dirty="0"/>
          </a:p>
        </p:txBody>
      </p:sp>
      <p:sp>
        <p:nvSpPr>
          <p:cNvPr id="172" name="textbox 172"/>
          <p:cNvSpPr/>
          <p:nvPr/>
        </p:nvSpPr>
        <p:spPr>
          <a:xfrm>
            <a:off x="10363200" y="2000250"/>
            <a:ext cx="1257300" cy="266700"/>
          </a:xfrm>
          <a:prstGeom prst="rect">
            <a:avLst/>
          </a:prstGeom>
          <a:noFill/>
          <a:ln w="0" cap="flat">
            <a:noFill/>
            <a:prstDash val="solid"/>
            <a:miter lim="0"/>
          </a:ln>
        </p:spPr>
        <p:txBody>
          <a:bodyPr vert="horz" wrap="none" lIns="0" tIns="0" rIns="0" bIns="0"/>
          <a:lstStyle/>
          <a:p>
            <a:pPr algn="l" rtl="0" eaLnBrk="0"/>
            <a:r>
              <a:rPr sz="1800" b="1" kern="0" spc="0" dirty="0">
                <a:solidFill>
                  <a:srgbClr val="186092">
                    <a:alpha val="100000"/>
                  </a:srgbClr>
                </a:solidFill>
                <a:latin typeface="Times New Roman" panose="02020603050405020304" charset="0"/>
                <a:ea typeface="Calibri" panose="020F0502020204030204"/>
                <a:cs typeface="Times New Roman" panose="02020603050405020304" charset="0"/>
              </a:rPr>
              <a:t>Sim-to-Real</a:t>
            </a:r>
            <a:endParaRPr sz="1800" dirty="0">
              <a:latin typeface="Times New Roman" panose="02020603050405020304" charset="0"/>
              <a:cs typeface="Times New Roman" panose="02020603050405020304" charset="0"/>
            </a:endParaRPr>
          </a:p>
        </p:txBody>
      </p:sp>
      <p:sp>
        <p:nvSpPr>
          <p:cNvPr id="174" name="textbox 174"/>
          <p:cNvSpPr/>
          <p:nvPr/>
        </p:nvSpPr>
        <p:spPr>
          <a:xfrm>
            <a:off x="7134225" y="2038350"/>
            <a:ext cx="2133600" cy="28575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攻克关键科学问题三</a:t>
            </a:r>
            <a:endParaRPr sz="1800" dirty="0"/>
          </a:p>
        </p:txBody>
      </p:sp>
      <p:sp>
        <p:nvSpPr>
          <p:cNvPr id="176" name="textbox 176"/>
          <p:cNvSpPr/>
          <p:nvPr/>
        </p:nvSpPr>
        <p:spPr>
          <a:xfrm>
            <a:off x="466725" y="2209800"/>
            <a:ext cx="56197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支撑</a:t>
            </a:r>
            <a:endParaRPr sz="2000" dirty="0"/>
          </a:p>
        </p:txBody>
      </p:sp>
      <p:sp>
        <p:nvSpPr>
          <p:cNvPr id="178" name="textbox 178"/>
          <p:cNvSpPr/>
          <p:nvPr/>
        </p:nvSpPr>
        <p:spPr>
          <a:xfrm>
            <a:off x="2209800" y="2238375"/>
            <a:ext cx="2362200" cy="257175"/>
          </a:xfrm>
          <a:prstGeom prst="rect">
            <a:avLst/>
          </a:prstGeom>
          <a:noFill/>
          <a:ln w="0" cap="flat">
            <a:noFill/>
            <a:prstDash val="solid"/>
            <a:miter lim="0"/>
          </a:ln>
        </p:spPr>
        <p:txBody>
          <a:bodyPr vert="horz" wrap="none" lIns="0" tIns="0" rIns="0" bIns="0"/>
          <a:lstStyle/>
          <a:p>
            <a:pPr marL="304800" indent="-266700"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混合建模与高精度预测</a:t>
            </a:r>
            <a:endParaRPr sz="1600" dirty="0"/>
          </a:p>
        </p:txBody>
      </p:sp>
      <p:sp>
        <p:nvSpPr>
          <p:cNvPr id="180" name="textbox 180"/>
          <p:cNvSpPr/>
          <p:nvPr/>
        </p:nvSpPr>
        <p:spPr>
          <a:xfrm>
            <a:off x="10410825" y="2276475"/>
            <a:ext cx="1143000" cy="304800"/>
          </a:xfrm>
          <a:prstGeom prst="rect">
            <a:avLst/>
          </a:prstGeom>
          <a:noFill/>
          <a:ln w="0" cap="flat">
            <a:noFill/>
            <a:prstDash val="solid"/>
            <a:miter lim="0"/>
          </a:ln>
        </p:spPr>
        <p:txBody>
          <a:bodyPr vert="horz" wrap="none" lIns="0" tIns="0" rIns="0" bIns="0"/>
          <a:lstStyle/>
          <a:p>
            <a:pPr algn="l" rtl="0" eaLnBrk="0"/>
            <a:r>
              <a:rPr sz="1500" b="1" kern="0" spc="0" dirty="0">
                <a:solidFill>
                  <a:srgbClr val="1B75BC">
                    <a:alpha val="100000"/>
                  </a:srgbClr>
                </a:solidFill>
                <a:latin typeface="微软雅黑" panose="020B0503020204020204" charset="-122"/>
                <a:ea typeface="微软雅黑" panose="020B0503020204020204" charset="-122"/>
                <a:cs typeface="微软雅黑" panose="020B0503020204020204" charset="-122"/>
              </a:rPr>
              <a:t>迁移与验证</a:t>
            </a:r>
            <a:endParaRPr sz="1500" dirty="0"/>
          </a:p>
        </p:txBody>
      </p:sp>
      <p:sp>
        <p:nvSpPr>
          <p:cNvPr id="182" name="textbox 182"/>
          <p:cNvSpPr/>
          <p:nvPr/>
        </p:nvSpPr>
        <p:spPr>
          <a:xfrm>
            <a:off x="10325100" y="2752725"/>
            <a:ext cx="1314450" cy="304800"/>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弥补仿真差异</a:t>
            </a:r>
            <a:endParaRPr sz="1500" dirty="0"/>
          </a:p>
        </p:txBody>
      </p:sp>
      <p:sp>
        <p:nvSpPr>
          <p:cNvPr id="184" name="textbox 184"/>
          <p:cNvSpPr/>
          <p:nvPr/>
        </p:nvSpPr>
        <p:spPr>
          <a:xfrm>
            <a:off x="2981325" y="2847975"/>
            <a:ext cx="1666875" cy="285750"/>
          </a:xfrm>
          <a:prstGeom prst="rect">
            <a:avLst/>
          </a:prstGeom>
          <a:noFill/>
          <a:ln w="0" cap="flat">
            <a:noFill/>
            <a:prstDash val="solid"/>
            <a:miter lim="0"/>
          </a:ln>
        </p:spPr>
        <p:txBody>
          <a:bodyPr vert="horz" wrap="none" lIns="0" tIns="0" rIns="0" bIns="0"/>
          <a:lstStyle/>
          <a:p>
            <a:pPr algn="l" rtl="0" eaLnBrk="0"/>
            <a:r>
              <a:rPr sz="1800" b="1" kern="0" spc="0" dirty="0">
                <a:solidFill>
                  <a:srgbClr val="1B75BC">
                    <a:alpha val="100000"/>
                  </a:srgbClr>
                </a:solidFill>
                <a:latin typeface="微软雅黑" panose="020B0503020204020204" charset="-122"/>
                <a:ea typeface="微软雅黑" panose="020B0503020204020204" charset="-122"/>
                <a:cs typeface="微软雅黑" panose="020B0503020204020204" charset="-122"/>
              </a:rPr>
              <a:t>韧性优化算法库</a:t>
            </a:r>
            <a:endParaRPr sz="1800" dirty="0"/>
          </a:p>
        </p:txBody>
      </p:sp>
      <p:sp>
        <p:nvSpPr>
          <p:cNvPr id="186" name="textbox 186"/>
          <p:cNvSpPr/>
          <p:nvPr/>
        </p:nvSpPr>
        <p:spPr>
          <a:xfrm>
            <a:off x="6553200" y="2895600"/>
            <a:ext cx="352425" cy="2771775"/>
          </a:xfrm>
          <a:prstGeom prst="rect">
            <a:avLst/>
          </a:prstGeom>
          <a:noFill/>
          <a:ln w="0" cap="flat">
            <a:noFill/>
            <a:prstDash val="solid"/>
            <a:miter lim="0"/>
          </a:ln>
        </p:spPr>
        <p:txBody>
          <a:bodyPr vert="horz" wrap="none" lIns="0" tIns="0" rIns="0" bIns="0"/>
          <a:lstStyle/>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高</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保</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真</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认</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知</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孪</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生</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构</a:t>
            </a:r>
            <a:endParaRPr sz="2000" dirty="0">
              <a:latin typeface="微软雅黑" panose="020B0503020204020204" charset="-122"/>
              <a:ea typeface="微软雅黑" panose="020B0503020204020204" charset="-122"/>
            </a:endParaRPr>
          </a:p>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建</a:t>
            </a:r>
            <a:endParaRPr sz="2000" dirty="0">
              <a:latin typeface="微软雅黑" panose="020B0503020204020204" charset="-122"/>
              <a:ea typeface="微软雅黑" panose="020B0503020204020204" charset="-122"/>
            </a:endParaRPr>
          </a:p>
        </p:txBody>
      </p:sp>
      <p:sp>
        <p:nvSpPr>
          <p:cNvPr id="188" name="textbox 188"/>
          <p:cNvSpPr/>
          <p:nvPr/>
        </p:nvSpPr>
        <p:spPr>
          <a:xfrm>
            <a:off x="9505950" y="2895600"/>
            <a:ext cx="361950" cy="2771775"/>
          </a:xfrm>
          <a:prstGeom prst="rect">
            <a:avLst/>
          </a:prstGeom>
          <a:noFill/>
          <a:ln w="0" cap="flat">
            <a:noFill/>
            <a:prstDash val="solid"/>
            <a:miter lim="0"/>
          </a:ln>
        </p:spPr>
        <p:txBody>
          <a:bodyPr vert="horz" wrap="none" lIns="0" tIns="0" rIns="0" bIns="0"/>
          <a:lstStyle/>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对</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抗</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性</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场</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景</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生</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成</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学</a:t>
            </a:r>
            <a:endParaRPr sz="2000" dirty="0">
              <a:latin typeface="微软雅黑" panose="020B0503020204020204" charset="-122"/>
              <a:ea typeface="微软雅黑" panose="020B0503020204020204" charset="-122"/>
            </a:endParaRPr>
          </a:p>
          <a:p>
            <a:pPr algn="l" rtl="0" eaLnBrk="0"/>
            <a:r>
              <a:rPr sz="20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习</a:t>
            </a:r>
            <a:endParaRPr sz="2000" dirty="0">
              <a:latin typeface="微软雅黑" panose="020B0503020204020204" charset="-122"/>
              <a:ea typeface="微软雅黑" panose="020B0503020204020204" charset="-122"/>
            </a:endParaRPr>
          </a:p>
        </p:txBody>
      </p:sp>
      <p:sp>
        <p:nvSpPr>
          <p:cNvPr id="190" name="textbox 190"/>
          <p:cNvSpPr/>
          <p:nvPr/>
        </p:nvSpPr>
        <p:spPr>
          <a:xfrm>
            <a:off x="1238250" y="3171825"/>
            <a:ext cx="285750" cy="1333500"/>
          </a:xfrm>
          <a:prstGeom prst="rect">
            <a:avLst/>
          </a:prstGeom>
          <a:noFill/>
          <a:ln w="0" cap="flat">
            <a:noFill/>
            <a:prstDash val="solid"/>
            <a:miter lim="0"/>
          </a:ln>
        </p:spPr>
        <p:txBody>
          <a:bodyPr vert="horz" wrap="none" lIns="0" tIns="0" rIns="0" bIns="0"/>
          <a:lstStyle/>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多</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时</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间</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尺</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度</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优</a:t>
            </a:r>
            <a:endParaRPr sz="1200" dirty="0"/>
          </a:p>
          <a:p>
            <a:pPr algn="l" rtl="0" eaLnBrk="0"/>
            <a:r>
              <a:rPr sz="1200" b="1" kern="0" spc="0" dirty="0">
                <a:solidFill>
                  <a:srgbClr val="18605A">
                    <a:alpha val="100000"/>
                  </a:srgbClr>
                </a:solidFill>
                <a:latin typeface="微软雅黑" panose="020B0503020204020204" charset="-122"/>
                <a:ea typeface="微软雅黑" panose="020B0503020204020204" charset="-122"/>
                <a:cs typeface="微软雅黑" panose="020B0503020204020204" charset="-122"/>
              </a:rPr>
              <a:t>化</a:t>
            </a:r>
            <a:endParaRPr sz="1200" dirty="0"/>
          </a:p>
        </p:txBody>
      </p:sp>
      <p:sp>
        <p:nvSpPr>
          <p:cNvPr id="192" name="textbox 192"/>
          <p:cNvSpPr/>
          <p:nvPr/>
        </p:nvSpPr>
        <p:spPr>
          <a:xfrm>
            <a:off x="2476500" y="3295650"/>
            <a:ext cx="2724150" cy="25717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“预防-抵御-恢复”全周期管理</a:t>
            </a:r>
            <a:endParaRPr sz="1500" dirty="0"/>
          </a:p>
        </p:txBody>
      </p:sp>
      <p:sp>
        <p:nvSpPr>
          <p:cNvPr id="194" name="textbox 194"/>
          <p:cNvSpPr/>
          <p:nvPr/>
        </p:nvSpPr>
        <p:spPr>
          <a:xfrm>
            <a:off x="6038850" y="3333750"/>
            <a:ext cx="400050" cy="228600"/>
          </a:xfrm>
          <a:prstGeom prst="rect">
            <a:avLst/>
          </a:prstGeom>
          <a:noFill/>
          <a:ln w="0" cap="flat">
            <a:noFill/>
            <a:prstDash val="solid"/>
            <a:miter lim="0"/>
          </a:ln>
        </p:spPr>
        <p:txBody>
          <a:bodyPr vert="horz" wrap="none" lIns="0" tIns="0" rIns="0" bIns="0"/>
          <a:lstStyle/>
          <a:p>
            <a:pPr algn="l" rtl="0" eaLnBrk="0"/>
            <a:r>
              <a:rPr sz="1200" b="1" kern="0" spc="750" dirty="0">
                <a:solidFill>
                  <a:srgbClr val="000000">
                    <a:alpha val="100000"/>
                  </a:srgbClr>
                </a:solidFill>
                <a:latin typeface="微软雅黑" panose="020B0503020204020204" charset="-122"/>
                <a:ea typeface="微软雅黑" panose="020B0503020204020204" charset="-122"/>
                <a:cs typeface="微软雅黑" panose="020B0503020204020204" charset="-122"/>
              </a:rPr>
              <a:t>反馈</a:t>
            </a:r>
            <a:endParaRPr sz="1200" dirty="0"/>
          </a:p>
        </p:txBody>
      </p:sp>
      <p:sp>
        <p:nvSpPr>
          <p:cNvPr id="196" name="textbox 196"/>
          <p:cNvSpPr/>
          <p:nvPr/>
        </p:nvSpPr>
        <p:spPr>
          <a:xfrm>
            <a:off x="10420350" y="3352800"/>
            <a:ext cx="1123950" cy="29527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自适应技术</a:t>
            </a:r>
            <a:endParaRPr sz="1500" dirty="0"/>
          </a:p>
        </p:txBody>
      </p:sp>
      <p:sp>
        <p:nvSpPr>
          <p:cNvPr id="198" name="textbox 198"/>
          <p:cNvSpPr/>
          <p:nvPr/>
        </p:nvSpPr>
        <p:spPr>
          <a:xfrm>
            <a:off x="6038850" y="3514725"/>
            <a:ext cx="400050" cy="228600"/>
          </a:xfrm>
          <a:prstGeom prst="rect">
            <a:avLst/>
          </a:prstGeom>
          <a:noFill/>
          <a:ln w="0" cap="flat">
            <a:noFill/>
            <a:prstDash val="solid"/>
            <a:miter lim="0"/>
          </a:ln>
        </p:spPr>
        <p:txBody>
          <a:bodyPr vert="horz" wrap="none" lIns="0" tIns="0" rIns="0" bIns="0"/>
          <a:lstStyle/>
          <a:p>
            <a:pPr algn="l" rtl="0" eaLnBrk="0"/>
            <a:r>
              <a:rPr sz="1200" b="1" kern="0" spc="750" dirty="0">
                <a:solidFill>
                  <a:srgbClr val="000000">
                    <a:alpha val="100000"/>
                  </a:srgbClr>
                </a:solidFill>
                <a:latin typeface="微软雅黑" panose="020B0503020204020204" charset="-122"/>
                <a:ea typeface="微软雅黑" panose="020B0503020204020204" charset="-122"/>
                <a:cs typeface="微软雅黑" panose="020B0503020204020204" charset="-122"/>
              </a:rPr>
              <a:t>优化</a:t>
            </a:r>
            <a:endParaRPr sz="1200" dirty="0"/>
          </a:p>
        </p:txBody>
      </p:sp>
      <p:sp>
        <p:nvSpPr>
          <p:cNvPr id="200" name="textbox 200"/>
          <p:cNvSpPr/>
          <p:nvPr/>
        </p:nvSpPr>
        <p:spPr>
          <a:xfrm>
            <a:off x="466725" y="3524250"/>
            <a:ext cx="561975" cy="30480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核心</a:t>
            </a:r>
            <a:endPar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a:p>
            <a:pPr algn="l" rtl="0" eaLnBrk="0"/>
            <a:r>
              <a:rPr b="1" kern="0" dirty="0">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引擎</a:t>
            </a:r>
            <a:endParaRPr sz="1800" dirty="0"/>
          </a:p>
        </p:txBody>
      </p:sp>
      <p:sp>
        <p:nvSpPr>
          <p:cNvPr id="202" name="textbox 202"/>
          <p:cNvSpPr/>
          <p:nvPr/>
        </p:nvSpPr>
        <p:spPr>
          <a:xfrm>
            <a:off x="8382000" y="3571875"/>
            <a:ext cx="704850" cy="304800"/>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试验场</a:t>
            </a:r>
            <a:endParaRPr sz="1600" dirty="0"/>
          </a:p>
        </p:txBody>
      </p:sp>
      <p:sp>
        <p:nvSpPr>
          <p:cNvPr id="204" name="textbox 204"/>
          <p:cNvSpPr/>
          <p:nvPr/>
        </p:nvSpPr>
        <p:spPr>
          <a:xfrm>
            <a:off x="7334250" y="3590925"/>
            <a:ext cx="676275" cy="276225"/>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训练场</a:t>
            </a:r>
            <a:endParaRPr sz="1600" dirty="0"/>
          </a:p>
        </p:txBody>
      </p:sp>
      <p:sp>
        <p:nvSpPr>
          <p:cNvPr id="206" name="textbox 206"/>
          <p:cNvSpPr/>
          <p:nvPr/>
        </p:nvSpPr>
        <p:spPr>
          <a:xfrm>
            <a:off x="495300" y="3838575"/>
            <a:ext cx="514350" cy="295275"/>
          </a:xfrm>
          <a:prstGeom prst="rect">
            <a:avLst/>
          </a:prstGeom>
          <a:noFill/>
          <a:ln w="0" cap="flat">
            <a:noFill/>
            <a:prstDash val="solid"/>
            <a:miter lim="0"/>
          </a:ln>
        </p:spPr>
        <p:txBody>
          <a:bodyPr vert="horz" wrap="none" lIns="0" tIns="0" rIns="0" bIns="0"/>
          <a:lstStyle/>
          <a:p>
            <a:pPr algn="l" rtl="0" eaLnBrk="0"/>
            <a:endParaRPr sz="2000" dirty="0"/>
          </a:p>
        </p:txBody>
      </p:sp>
      <p:sp>
        <p:nvSpPr>
          <p:cNvPr id="208" name="textbox 208"/>
          <p:cNvSpPr/>
          <p:nvPr/>
        </p:nvSpPr>
        <p:spPr>
          <a:xfrm>
            <a:off x="10410825" y="3914775"/>
            <a:ext cx="1143000" cy="342900"/>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全方位验证</a:t>
            </a:r>
            <a:endParaRPr sz="1600" dirty="0"/>
          </a:p>
        </p:txBody>
      </p:sp>
      <mc:AlternateContent xmlns:mc="http://schemas.openxmlformats.org/markup-compatibility/2006">
        <mc:Choice xmlns:a14="http://schemas.microsoft.com/office/drawing/2010/main" Requires="a14">
          <p:sp>
            <p:nvSpPr>
              <p:cNvPr id="210" name="textbox 210"/>
              <p:cNvSpPr/>
              <p:nvPr/>
            </p:nvSpPr>
            <p:spPr>
              <a:xfrm>
                <a:off x="2057400" y="4133850"/>
                <a:ext cx="276225" cy="23812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d>
                        <m:dPr>
                          <m:ctrlPr>
                            <a:rPr/>
                          </m:ctrlPr>
                        </m:dPr>
                        <m:e>
                          <m:m>
                            <m:mPr>
                              <m:mcs>
                                <m:mc>
                                  <m:mcPr>
                                    <m:count m:val="1"/>
                                    <m:mcJc m:val="center"/>
                                  </m:mcPr>
                                </m:mc>
                              </m:mcs>
                              <m:ctrlPr>
                                <a:rPr/>
                              </m:ctrlPr>
                            </m:mPr>
                            <m:mr>
                              <m:e>
                                <m:r>
                                  <m:rPr>
                                    <m:sty m:val="p"/>
                                  </m:rPr>
                                  <a:rPr lang="en-US" sz="700" dirty="0">
                                    <a:latin typeface="Cambria Math" panose="02040503050406030204"/>
                                    <a:ea typeface="Cambria Math" panose="02040503050406030204"/>
                                  </a:rPr>
                                  <m:t>z</m:t>
                                </m:r>
                              </m:e>
                            </m:mr>
                            <m:mr>
                              <m:e>
                                <m:r>
                                  <m:rPr>
                                    <m:sty m:val="p"/>
                                  </m:rPr>
                                  <a:rPr lang="en-US" sz="700" dirty="0">
                                    <a:latin typeface="Cambria Math" panose="02040503050406030204"/>
                                    <a:ea typeface="Cambria Math" panose="02040503050406030204"/>
                                  </a:rPr>
                                  <m:t>r</m:t>
                                </m:r>
                              </m:e>
                            </m:mr>
                            <m:mr>
                              <m:e>
                                <m:r>
                                  <m:rPr>
                                    <m:sty m:val="p"/>
                                  </m:rPr>
                                  <a:rPr lang="en-US" sz="700" dirty="0">
                                    <a:latin typeface="Cambria Math" panose="02040503050406030204"/>
                                    <a:ea typeface="Cambria Math" panose="02040503050406030204"/>
                                  </a:rPr>
                                  <m:t>f</m:t>
                                </m:r>
                              </m:e>
                            </m:mr>
                          </m:m>
                        </m:e>
                      </m:d>
                      <m:r>
                        <a:rPr lang="en-US" sz="700" dirty="0">
                          <a:latin typeface="Cambria Math" panose="02040503050406030204"/>
                          <a:ea typeface="Cambria Math" panose="02040503050406030204"/>
                        </a:rPr>
                        <m:t>+</m:t>
                      </m:r>
                      <m:r>
                        <a:rPr lang="en-US" sz="700" dirty="0">
                          <a:latin typeface="Cambria Math" panose="02040503050406030204"/>
                          <a:ea typeface="Cambria Math" panose="02040503050406030204"/>
                        </a:rPr>
                        <m:t>1</m:t>
                      </m:r>
                    </m:oMath>
                  </m:oMathPara>
                </a14:m>
                <a:endParaRPr sz="700" dirty="0"/>
              </a:p>
            </p:txBody>
          </p:sp>
        </mc:Choice>
        <mc:Fallback>
          <p:sp>
            <p:nvSpPr>
              <p:cNvPr id="210" name="textbox 210"/>
              <p:cNvSpPr>
                <a:spLocks noRot="1" noChangeAspect="1" noMove="1" noResize="1" noEditPoints="1" noAdjustHandles="1" noChangeArrowheads="1" noChangeShapeType="1" noTextEdit="1"/>
              </p:cNvSpPr>
              <p:nvPr/>
            </p:nvSpPr>
            <p:spPr>
              <a:xfrm>
                <a:off x="2057400" y="4133850"/>
                <a:ext cx="276225" cy="238125"/>
              </a:xfrm>
              <a:prstGeom prst="rect">
                <a:avLst/>
              </a:prstGeom>
              <a:blipFill rotWithShape="1">
                <a:blip r:embed="rId4"/>
                <a:stretch>
                  <a:fillRect r="-95862" b="-156800"/>
                </a:stretch>
              </a:blipFill>
              <a:ln w="0" cap="flat">
                <a:noFill/>
                <a:prstDash val="solid"/>
                <a:miter lim="0"/>
              </a:ln>
            </p:spPr>
            <p:txBody>
              <a:bodyPr/>
              <a:lstStyle/>
              <a:p>
                <a:r>
                  <a:rPr lang="zh-CN" altLang="en-US">
                    <a:noFill/>
                  </a:rPr>
                  <a:t> </a:t>
                </a:r>
              </a:p>
            </p:txBody>
          </p:sp>
        </mc:Fallback>
      </mc:AlternateContent>
      <p:sp>
        <p:nvSpPr>
          <p:cNvPr id="212" name="textbox 212"/>
          <p:cNvSpPr/>
          <p:nvPr/>
        </p:nvSpPr>
        <p:spPr>
          <a:xfrm>
            <a:off x="8039100" y="4543425"/>
            <a:ext cx="352425" cy="266700"/>
          </a:xfrm>
          <a:prstGeom prst="rect">
            <a:avLst/>
          </a:prstGeom>
          <a:noFill/>
          <a:ln w="0" cap="flat">
            <a:noFill/>
            <a:prstDash val="solid"/>
            <a:miter lim="0"/>
          </a:ln>
        </p:spPr>
        <p:txBody>
          <a:bodyPr vert="horz" wrap="none" lIns="0" tIns="0" rIns="0" bIns="0"/>
          <a:lstStyle/>
          <a:p>
            <a:pPr algn="l" rtl="0" eaLnBrk="0"/>
            <a:r>
              <a:rPr sz="1500" b="1" kern="0" spc="900" dirty="0">
                <a:solidFill>
                  <a:srgbClr val="000000">
                    <a:alpha val="100000"/>
                  </a:srgbClr>
                </a:solidFill>
                <a:latin typeface="微软雅黑" panose="020B0503020204020204" charset="-122"/>
                <a:ea typeface="微软雅黑" panose="020B0503020204020204" charset="-122"/>
                <a:cs typeface="微软雅黑" panose="020B0503020204020204" charset="-122"/>
              </a:rPr>
              <a:t>3D</a:t>
            </a:r>
            <a:endParaRPr sz="1500" dirty="0"/>
          </a:p>
        </p:txBody>
      </p:sp>
      <p:sp>
        <p:nvSpPr>
          <p:cNvPr id="214" name="textbox 214"/>
          <p:cNvSpPr/>
          <p:nvPr/>
        </p:nvSpPr>
        <p:spPr>
          <a:xfrm>
            <a:off x="6057900" y="4600575"/>
            <a:ext cx="361950" cy="219075"/>
          </a:xfrm>
          <a:prstGeom prst="rect">
            <a:avLst/>
          </a:prstGeom>
          <a:noFill/>
          <a:ln w="0" cap="flat">
            <a:noFill/>
            <a:prstDash val="solid"/>
            <a:miter lim="0"/>
          </a:ln>
        </p:spPr>
        <p:txBody>
          <a:bodyPr vert="horz" wrap="none" lIns="0" tIns="0" rIns="0" bIns="0"/>
          <a:lstStyle/>
          <a:p>
            <a:pPr algn="l"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反馈</a:t>
            </a:r>
            <a:endParaRPr sz="1200" dirty="0"/>
          </a:p>
        </p:txBody>
      </p:sp>
      <p:sp>
        <p:nvSpPr>
          <p:cNvPr id="216" name="textbox 216"/>
          <p:cNvSpPr/>
          <p:nvPr/>
        </p:nvSpPr>
        <p:spPr>
          <a:xfrm>
            <a:off x="6057900" y="4772025"/>
            <a:ext cx="381000" cy="238125"/>
          </a:xfrm>
          <a:prstGeom prst="rect">
            <a:avLst/>
          </a:prstGeom>
          <a:noFill/>
          <a:ln w="0" cap="flat">
            <a:noFill/>
            <a:prstDash val="solid"/>
            <a:miter lim="0"/>
          </a:ln>
        </p:spPr>
        <p:txBody>
          <a:bodyPr vert="horz" wrap="none" lIns="0" tIns="0" rIns="0" bIns="0"/>
          <a:lstStyle/>
          <a:p>
            <a:pPr algn="l" rtl="0" eaLnBrk="0"/>
            <a:r>
              <a:rPr sz="1200" b="1" kern="0" spc="0" dirty="0">
                <a:solidFill>
                  <a:srgbClr val="000000">
                    <a:alpha val="100000"/>
                  </a:srgbClr>
                </a:solidFill>
                <a:latin typeface="华文中宋" panose="02010600040101010101" charset="-122"/>
                <a:ea typeface="华文中宋" panose="02010600040101010101" charset="-122"/>
                <a:cs typeface="华文中宋" panose="02010600040101010101" charset="-122"/>
              </a:rPr>
              <a:t>优化</a:t>
            </a:r>
            <a:endParaRPr sz="1200" dirty="0"/>
          </a:p>
        </p:txBody>
      </p:sp>
      <p:sp>
        <p:nvSpPr>
          <p:cNvPr id="218" name="textbox 218"/>
          <p:cNvSpPr/>
          <p:nvPr/>
        </p:nvSpPr>
        <p:spPr>
          <a:xfrm>
            <a:off x="7858125" y="4772025"/>
            <a:ext cx="714375" cy="295275"/>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可视化</a:t>
            </a:r>
            <a:endParaRPr sz="1600" dirty="0"/>
          </a:p>
        </p:txBody>
      </p:sp>
      <p:sp>
        <p:nvSpPr>
          <p:cNvPr id="220" name="textbox 220"/>
          <p:cNvSpPr/>
          <p:nvPr/>
        </p:nvSpPr>
        <p:spPr>
          <a:xfrm>
            <a:off x="4629150" y="5048250"/>
            <a:ext cx="752475" cy="257175"/>
          </a:xfrm>
          <a:prstGeom prst="rect">
            <a:avLst/>
          </a:prstGeom>
          <a:noFill/>
          <a:ln w="0" cap="flat">
            <a:noFill/>
            <a:prstDash val="solid"/>
            <a:miter lim="0"/>
          </a:ln>
        </p:spPr>
        <p:txBody>
          <a:bodyPr vert="horz" wrap="none" lIns="0" tIns="0" rIns="0" bIns="0"/>
          <a:lstStyle/>
          <a:p>
            <a:pPr algn="ctr" rtl="0" eaLnBrk="0"/>
            <a:r>
              <a:rPr sz="1200" kern="0" dirty="0">
                <a:solidFill>
                  <a:srgbClr val="D6F4F2">
                    <a:alpha val="100000"/>
                  </a:srgbClr>
                </a:solidFill>
                <a:latin typeface="微软雅黑" panose="020B0503020204020204" charset="-122"/>
                <a:ea typeface="微软雅黑" panose="020B0503020204020204" charset="-122"/>
                <a:cs typeface="微软雅黑" panose="020B0503020204020204" charset="-122"/>
              </a:rPr>
              <a:t>效果验证</a:t>
            </a:r>
            <a:endParaRPr sz="1100" dirty="0"/>
          </a:p>
        </p:txBody>
      </p:sp>
      <p:sp>
        <p:nvSpPr>
          <p:cNvPr id="222" name="textbox 222"/>
          <p:cNvSpPr/>
          <p:nvPr/>
        </p:nvSpPr>
        <p:spPr>
          <a:xfrm>
            <a:off x="2257425" y="5048250"/>
            <a:ext cx="733425" cy="247650"/>
          </a:xfrm>
          <a:prstGeom prst="rect">
            <a:avLst/>
          </a:prstGeom>
          <a:noFill/>
          <a:ln w="0" cap="flat">
            <a:noFill/>
            <a:prstDash val="solid"/>
            <a:miter lim="0"/>
          </a:ln>
        </p:spPr>
        <p:txBody>
          <a:bodyPr vert="horz" wrap="none" lIns="0" tIns="0" rIns="0" bIns="0"/>
          <a:lstStyle/>
          <a:p>
            <a:pPr algn="ctr" rtl="0" eaLnBrk="0"/>
            <a:r>
              <a:rPr sz="1200" kern="0" dirty="0">
                <a:solidFill>
                  <a:srgbClr val="D6F4F2">
                    <a:alpha val="100000"/>
                  </a:srgbClr>
                </a:solidFill>
                <a:latin typeface="微软雅黑" panose="020B0503020204020204" charset="-122"/>
                <a:ea typeface="微软雅黑" panose="020B0503020204020204" charset="-122"/>
                <a:cs typeface="微软雅黑" panose="020B0503020204020204" charset="-122"/>
              </a:rPr>
              <a:t>算法验证</a:t>
            </a:r>
            <a:endParaRPr sz="1200" kern="0" dirty="0">
              <a:solidFill>
                <a:srgbClr val="D6F4F2">
                  <a:alpha val="100000"/>
                </a:srgbClr>
              </a:solidFill>
              <a:latin typeface="微软雅黑" panose="020B0503020204020204" charset="-122"/>
              <a:ea typeface="微软雅黑" panose="020B0503020204020204" charset="-122"/>
              <a:cs typeface="微软雅黑" panose="020B0503020204020204" charset="-122"/>
            </a:endParaRPr>
          </a:p>
        </p:txBody>
      </p:sp>
      <p:sp>
        <p:nvSpPr>
          <p:cNvPr id="224" name="textbox 224"/>
          <p:cNvSpPr/>
          <p:nvPr/>
        </p:nvSpPr>
        <p:spPr>
          <a:xfrm>
            <a:off x="3467100" y="5048250"/>
            <a:ext cx="733425" cy="219075"/>
          </a:xfrm>
          <a:prstGeom prst="rect">
            <a:avLst/>
          </a:prstGeom>
          <a:noFill/>
          <a:ln w="0" cap="flat">
            <a:noFill/>
            <a:prstDash val="solid"/>
            <a:miter lim="0"/>
          </a:ln>
        </p:spPr>
        <p:txBody>
          <a:bodyPr vert="horz" wrap="none" lIns="0" tIns="0" rIns="0" bIns="0"/>
          <a:lstStyle/>
          <a:p>
            <a:pPr algn="ctr" rtl="0" eaLnBrk="0"/>
            <a:r>
              <a:rPr sz="1200" kern="0" spc="0" dirty="0">
                <a:solidFill>
                  <a:srgbClr val="D6F4F2">
                    <a:alpha val="100000"/>
                  </a:srgbClr>
                </a:solidFill>
                <a:latin typeface="微软雅黑" panose="020B0503020204020204" charset="-122"/>
                <a:ea typeface="微软雅黑" panose="020B0503020204020204" charset="-122"/>
                <a:cs typeface="微软雅黑" panose="020B0503020204020204" charset="-122"/>
              </a:rPr>
              <a:t>策略验证</a:t>
            </a:r>
            <a:endParaRPr sz="1200" dirty="0"/>
          </a:p>
        </p:txBody>
      </p:sp>
      <mc:AlternateContent xmlns:mc="http://schemas.openxmlformats.org/markup-compatibility/2006">
        <mc:Choice xmlns:a14="http://schemas.microsoft.com/office/drawing/2010/main" Requires="a14">
          <p:sp>
            <p:nvSpPr>
              <p:cNvPr id="226" name="textbox 226"/>
              <p:cNvSpPr/>
              <p:nvPr/>
            </p:nvSpPr>
            <p:spPr>
              <a:xfrm>
                <a:off x="10248900" y="5048250"/>
                <a:ext cx="133350" cy="257175"/>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f>
                        <m:fPr>
                          <m:ctrlPr>
                            <a:rPr/>
                          </m:ctrlPr>
                        </m:fPr>
                        <m:num/>
                        <m:den/>
                      </m:f>
                    </m:oMath>
                  </m:oMathPara>
                </a14:m>
                <a:endParaRPr sz="800" dirty="0"/>
              </a:p>
            </p:txBody>
          </p:sp>
        </mc:Choice>
        <mc:Fallback>
          <p:sp>
            <p:nvSpPr>
              <p:cNvPr id="226" name="textbox 226"/>
              <p:cNvSpPr>
                <a:spLocks noRot="1" noChangeAspect="1" noMove="1" noResize="1" noEditPoints="1" noAdjustHandles="1" noChangeArrowheads="1" noChangeShapeType="1" noTextEdit="1"/>
              </p:cNvSpPr>
              <p:nvPr/>
            </p:nvSpPr>
            <p:spPr>
              <a:xfrm>
                <a:off x="10248900" y="5048250"/>
                <a:ext cx="133350" cy="257175"/>
              </a:xfrm>
              <a:prstGeom prst="rect">
                <a:avLst/>
              </a:prstGeom>
              <a:blipFill rotWithShape="1">
                <a:blip r:embed="rId5"/>
                <a:stretch>
                  <a:fillRect r="-73810" b="-107654"/>
                </a:stretch>
              </a:blipFill>
              <a:ln w="0" cap="flat">
                <a:noFill/>
                <a:prstDash val="solid"/>
                <a:miter lim="0"/>
              </a:ln>
            </p:spPr>
            <p:txBody>
              <a:bodyPr/>
              <a:lstStyle/>
              <a:p>
                <a:r>
                  <a:rPr lang="zh-CN" altLang="en-US">
                    <a:noFill/>
                  </a:rPr>
                  <a:t> </a:t>
                </a:r>
              </a:p>
            </p:txBody>
          </p:sp>
        </mc:Fallback>
      </mc:AlternateContent>
      <p:sp>
        <p:nvSpPr>
          <p:cNvPr id="228" name="textbox 228"/>
          <p:cNvSpPr/>
          <p:nvPr/>
        </p:nvSpPr>
        <p:spPr>
          <a:xfrm>
            <a:off x="476250" y="5191125"/>
            <a:ext cx="56197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验证</a:t>
            </a:r>
            <a:endParaRPr sz="2000" dirty="0"/>
          </a:p>
        </p:txBody>
      </p:sp>
      <p:sp>
        <p:nvSpPr>
          <p:cNvPr id="230" name="textbox 230"/>
          <p:cNvSpPr/>
          <p:nvPr/>
        </p:nvSpPr>
        <p:spPr>
          <a:xfrm>
            <a:off x="2295525" y="5267325"/>
            <a:ext cx="676275" cy="266700"/>
          </a:xfrm>
          <a:prstGeom prst="rect">
            <a:avLst/>
          </a:prstGeom>
          <a:noFill/>
          <a:ln w="0" cap="flat">
            <a:noFill/>
            <a:prstDash val="solid"/>
            <a:miter lim="0"/>
          </a:ln>
        </p:spPr>
        <p:txBody>
          <a:bodyPr vert="horz" wrap="none" lIns="0" tIns="0" rIns="0" bIns="0"/>
          <a:lstStyle/>
          <a:p>
            <a:pPr algn="l" rtl="0" eaLnBrk="0"/>
            <a:r>
              <a:rPr sz="16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标准测</a:t>
            </a:r>
            <a:endParaRPr sz="1600" dirty="0"/>
          </a:p>
        </p:txBody>
      </p:sp>
      <p:sp>
        <p:nvSpPr>
          <p:cNvPr id="232" name="textbox 232"/>
          <p:cNvSpPr/>
          <p:nvPr/>
        </p:nvSpPr>
        <p:spPr>
          <a:xfrm>
            <a:off x="3476625" y="5276850"/>
            <a:ext cx="676275" cy="257175"/>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历史事</a:t>
            </a:r>
            <a:endParaRPr sz="1600" dirty="0"/>
          </a:p>
        </p:txBody>
      </p:sp>
      <p:sp>
        <p:nvSpPr>
          <p:cNvPr id="234" name="textbox 234"/>
          <p:cNvSpPr/>
          <p:nvPr/>
        </p:nvSpPr>
        <p:spPr>
          <a:xfrm>
            <a:off x="4772025" y="5276850"/>
            <a:ext cx="457200" cy="238125"/>
          </a:xfrm>
          <a:prstGeom prst="rect">
            <a:avLst/>
          </a:prstGeom>
          <a:noFill/>
          <a:ln w="0" cap="flat">
            <a:noFill/>
            <a:prstDash val="solid"/>
            <a:miter lim="0"/>
          </a:ln>
        </p:spPr>
        <p:txBody>
          <a:bodyPr vert="horz" wrap="none" lIns="0" tIns="0" rIns="0" bIns="0"/>
          <a:lstStyle/>
          <a:p>
            <a:pPr algn="l" rtl="0" eaLnBrk="0"/>
            <a:r>
              <a:rPr sz="16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示范</a:t>
            </a:r>
            <a:endParaRPr sz="1600" dirty="0"/>
          </a:p>
        </p:txBody>
      </p:sp>
      <p:sp>
        <p:nvSpPr>
          <p:cNvPr id="236" name="textbox 236"/>
          <p:cNvSpPr/>
          <p:nvPr/>
        </p:nvSpPr>
        <p:spPr>
          <a:xfrm>
            <a:off x="7658100" y="5429250"/>
            <a:ext cx="1152525" cy="266700"/>
          </a:xfrm>
          <a:prstGeom prst="rect">
            <a:avLst/>
          </a:prstGeom>
          <a:noFill/>
          <a:ln w="0" cap="flat">
            <a:noFill/>
            <a:prstDash val="solid"/>
            <a:miter lim="0"/>
          </a:ln>
        </p:spPr>
        <p:txBody>
          <a:bodyPr vert="horz" wrap="none" lIns="0" tIns="0" rIns="0" bIns="0"/>
          <a:lstStyle/>
          <a:p>
            <a:pPr algn="l" rtl="0" eaLnBrk="0"/>
            <a:r>
              <a:rPr sz="1400" b="1" kern="0" spc="0" dirty="0">
                <a:solidFill>
                  <a:srgbClr val="1B75BC">
                    <a:alpha val="100000"/>
                  </a:srgbClr>
                </a:solidFill>
                <a:latin typeface="微软雅黑" panose="020B0503020204020204" charset="-122"/>
                <a:ea typeface="微软雅黑" panose="020B0503020204020204" charset="-122"/>
                <a:cs typeface="微软雅黑" panose="020B0503020204020204" charset="-122"/>
              </a:rPr>
              <a:t>动态虚拟系统</a:t>
            </a:r>
            <a:endParaRPr sz="1400" dirty="0"/>
          </a:p>
        </p:txBody>
      </p:sp>
      <p:sp>
        <p:nvSpPr>
          <p:cNvPr id="238" name="textbox 238"/>
          <p:cNvSpPr/>
          <p:nvPr/>
        </p:nvSpPr>
        <p:spPr>
          <a:xfrm>
            <a:off x="11249025" y="5476875"/>
            <a:ext cx="219075" cy="333375"/>
          </a:xfrm>
          <a:prstGeom prst="rect">
            <a:avLst/>
          </a:prstGeom>
          <a:noFill/>
          <a:ln w="0" cap="flat">
            <a:noFill/>
            <a:prstDash val="solid"/>
            <a:miter lim="0"/>
          </a:ln>
        </p:spPr>
        <p:txBody>
          <a:bodyPr vert="horz" wrap="none" lIns="0" tIns="0" rIns="0" bIns="0"/>
          <a:lstStyle/>
          <a:p>
            <a:pPr algn="l" rtl="0" eaLnBrk="0"/>
            <a:r>
              <a:rPr sz="1200" kern="0" spc="0" dirty="0">
                <a:solidFill>
                  <a:srgbClr val="BDBDBD">
                    <a:alpha val="100000"/>
                  </a:srgbClr>
                </a:solidFill>
                <a:latin typeface="楷体" panose="02010609060101010101" charset="-122"/>
                <a:ea typeface="楷体" panose="02010609060101010101" charset="-122"/>
                <a:cs typeface="楷体" panose="02010609060101010101" charset="-122"/>
              </a:rPr>
              <a:t>函一</a:t>
            </a:r>
            <a:endParaRPr sz="1200" dirty="0"/>
          </a:p>
        </p:txBody>
      </p:sp>
      <p:sp>
        <p:nvSpPr>
          <p:cNvPr id="240" name="textbox 240"/>
          <p:cNvSpPr/>
          <p:nvPr/>
        </p:nvSpPr>
        <p:spPr>
          <a:xfrm>
            <a:off x="476250" y="5495925"/>
            <a:ext cx="561975" cy="314325"/>
          </a:xfrm>
          <a:prstGeom prst="rect">
            <a:avLst/>
          </a:prstGeom>
          <a:noFill/>
          <a:ln w="0" cap="flat">
            <a:noFill/>
            <a:prstDash val="solid"/>
            <a:miter lim="0"/>
          </a:ln>
        </p:spPr>
        <p:txBody>
          <a:bodyPr vert="horz" wrap="none" lIns="0" tIns="0" rIns="0" bIns="0"/>
          <a:lstStyle/>
          <a:p>
            <a:pPr algn="l" rtl="0" eaLnBrk="0"/>
            <a:r>
              <a:rPr sz="19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循环</a:t>
            </a:r>
            <a:endParaRPr sz="1900" dirty="0"/>
          </a:p>
        </p:txBody>
      </p:sp>
      <p:sp>
        <p:nvSpPr>
          <p:cNvPr id="242" name="textbox 242"/>
          <p:cNvSpPr/>
          <p:nvPr/>
        </p:nvSpPr>
        <p:spPr>
          <a:xfrm>
            <a:off x="2266950" y="5505450"/>
            <a:ext cx="714375" cy="276225"/>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试系统</a:t>
            </a:r>
            <a:endParaRPr sz="1600" dirty="0"/>
          </a:p>
        </p:txBody>
      </p:sp>
      <p:sp>
        <p:nvSpPr>
          <p:cNvPr id="244" name="textbox 244"/>
          <p:cNvSpPr/>
          <p:nvPr/>
        </p:nvSpPr>
        <p:spPr>
          <a:xfrm>
            <a:off x="3467100" y="5505450"/>
            <a:ext cx="704850" cy="27622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件反演</a:t>
            </a:r>
            <a:endParaRPr sz="1500" dirty="0"/>
          </a:p>
        </p:txBody>
      </p:sp>
      <p:sp>
        <p:nvSpPr>
          <p:cNvPr id="246" name="textbox 246"/>
          <p:cNvSpPr/>
          <p:nvPr/>
        </p:nvSpPr>
        <p:spPr>
          <a:xfrm>
            <a:off x="4781550" y="5514975"/>
            <a:ext cx="447675" cy="257175"/>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应用</a:t>
            </a:r>
            <a:endParaRPr sz="1600" dirty="0"/>
          </a:p>
        </p:txBody>
      </p:sp>
      <p:sp>
        <p:nvSpPr>
          <p:cNvPr id="248" name="textbox 248"/>
          <p:cNvSpPr/>
          <p:nvPr/>
        </p:nvSpPr>
        <p:spPr>
          <a:xfrm>
            <a:off x="609600" y="6086475"/>
            <a:ext cx="1076325" cy="304800"/>
          </a:xfrm>
          <a:prstGeom prst="rect">
            <a:avLst/>
          </a:prstGeom>
          <a:noFill/>
          <a:ln w="0" cap="flat">
            <a:noFill/>
            <a:prstDash val="solid"/>
            <a:miter lim="0"/>
          </a:ln>
        </p:spPr>
        <p:txBody>
          <a:bodyPr vert="horz" wrap="none" lIns="0" tIns="0" rIns="0" bIns="0"/>
          <a:lstStyle/>
          <a:p>
            <a:pPr algn="l" rtl="0" eaLnBrk="0"/>
            <a:r>
              <a:rPr sz="2000" b="1" kern="0" spc="0" dirty="0">
                <a:solidFill>
                  <a:srgbClr val="02307C">
                    <a:alpha val="100000"/>
                  </a:srgbClr>
                </a:solidFill>
                <a:latin typeface="微软雅黑" panose="020B0503020204020204" charset="-122"/>
                <a:ea typeface="微软雅黑" panose="020B0503020204020204" charset="-122"/>
                <a:cs typeface="微软雅黑" panose="020B0503020204020204" charset="-122"/>
              </a:rPr>
              <a:t>最终目标</a:t>
            </a:r>
            <a:endParaRPr sz="2000" dirty="0"/>
          </a:p>
        </p:txBody>
      </p:sp>
      <p:sp>
        <p:nvSpPr>
          <p:cNvPr id="250" name="textbox 250"/>
          <p:cNvSpPr/>
          <p:nvPr/>
        </p:nvSpPr>
        <p:spPr>
          <a:xfrm>
            <a:off x="2114550" y="6105525"/>
            <a:ext cx="6896100" cy="266700"/>
          </a:xfrm>
          <a:prstGeom prst="rect">
            <a:avLst/>
          </a:prstGeom>
          <a:noFill/>
          <a:ln w="0" cap="flat">
            <a:noFill/>
            <a:prstDash val="solid"/>
            <a:miter lim="0"/>
          </a:ln>
        </p:spPr>
        <p:txBody>
          <a:bodyPr vert="horz" wrap="none" lIns="0" tIns="0" rIns="0" bIns="0"/>
          <a:lstStyle/>
          <a:p>
            <a:pPr algn="l" rtl="0" eaLnBrk="0"/>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解决“决策优不优”的问题，生成经济与韧性兼顾的多时间尺度策略</a:t>
            </a:r>
            <a:endParaRPr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4" name="picture 254"/>
          <p:cNvPicPr>
            <a:picLocks noChangeAspect="1"/>
          </p:cNvPicPr>
          <p:nvPr/>
        </p:nvPicPr>
        <p:blipFill>
          <a:blip r:embed="rId1"/>
          <a:stretch>
            <a:fillRect/>
          </a:stretch>
        </p:blipFill>
        <p:spPr>
          <a:xfrm>
            <a:off x="0" y="0"/>
            <a:ext cx="12192000" cy="6858000"/>
          </a:xfrm>
          <a:prstGeom prst="rect">
            <a:avLst/>
          </a:prstGeom>
        </p:spPr>
      </p:pic>
      <p:sp>
        <p:nvSpPr>
          <p:cNvPr id="256" name="textbox 256"/>
          <p:cNvSpPr/>
          <p:nvPr/>
        </p:nvSpPr>
        <p:spPr>
          <a:xfrm>
            <a:off x="333375" y="123825"/>
            <a:ext cx="8058150" cy="438150"/>
          </a:xfrm>
          <a:prstGeom prst="rect">
            <a:avLst/>
          </a:prstGeom>
          <a:noFill/>
          <a:ln w="0" cap="flat">
            <a:noFill/>
            <a:prstDash val="solid"/>
            <a:miter lim="0"/>
          </a:ln>
        </p:spPr>
        <p:txBody>
          <a:bodyPr vert="horz" wrap="none" lIns="0" tIns="0" rIns="0" bIns="0"/>
          <a:lstStyle/>
          <a:p>
            <a:pPr marL="47625"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2.2 研究内容1：分布式能源聚合与协调调度</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60" name="picture 260"/>
          <p:cNvPicPr>
            <a:picLocks noChangeAspect="1"/>
          </p:cNvPicPr>
          <p:nvPr/>
        </p:nvPicPr>
        <p:blipFill>
          <a:blip r:embed="rId2"/>
          <a:stretch>
            <a:fillRect/>
          </a:stretch>
        </p:blipFill>
        <p:spPr>
          <a:xfrm>
            <a:off x="9896475" y="152400"/>
            <a:ext cx="1847850" cy="419100"/>
          </a:xfrm>
          <a:prstGeom prst="rect">
            <a:avLst/>
          </a:prstGeom>
        </p:spPr>
      </p:pic>
      <p:sp>
        <p:nvSpPr>
          <p:cNvPr id="262" name="textbox 262"/>
          <p:cNvSpPr/>
          <p:nvPr/>
        </p:nvSpPr>
        <p:spPr>
          <a:xfrm>
            <a:off x="419100" y="933450"/>
            <a:ext cx="10668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核心内涵</a:t>
            </a:r>
            <a:endParaRPr sz="2000" dirty="0"/>
          </a:p>
        </p:txBody>
      </p:sp>
      <p:sp>
        <p:nvSpPr>
          <p:cNvPr id="264" name="textbox 264"/>
          <p:cNvSpPr/>
          <p:nvPr/>
        </p:nvSpPr>
        <p:spPr>
          <a:xfrm>
            <a:off x="704850" y="1343025"/>
            <a:ext cx="10210800" cy="295275"/>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通过人工智能技术，将海量、分散、异构的分布式能源，</a:t>
            </a:r>
            <a:r>
              <a:rPr sz="1900" b="1" kern="0" spc="0" dirty="0">
                <a:solidFill>
                  <a:srgbClr val="B00E0C">
                    <a:alpha val="100000"/>
                  </a:srgbClr>
                </a:solidFill>
                <a:latin typeface="微软雅黑" panose="020B0503020204020204" charset="-122"/>
                <a:ea typeface="微软雅黑" panose="020B0503020204020204" charset="-122"/>
                <a:cs typeface="微软雅黑" panose="020B0503020204020204" charset="-122"/>
              </a:rPr>
              <a:t>虚拟化为一个可控、可调度的整体</a:t>
            </a:r>
            <a:endParaRPr sz="1900" dirty="0"/>
          </a:p>
        </p:txBody>
      </p:sp>
      <p:pic>
        <p:nvPicPr>
          <p:cNvPr id="268" name="picture 268"/>
          <p:cNvPicPr>
            <a:picLocks noChangeAspect="1"/>
          </p:cNvPicPr>
          <p:nvPr/>
        </p:nvPicPr>
        <p:blipFill>
          <a:blip r:embed="rId3"/>
          <a:stretch>
            <a:fillRect/>
          </a:stretch>
        </p:blipFill>
        <p:spPr>
          <a:xfrm>
            <a:off x="361950" y="1866900"/>
            <a:ext cx="2686050" cy="2209800"/>
          </a:xfrm>
          <a:prstGeom prst="rect">
            <a:avLst/>
          </a:prstGeom>
        </p:spPr>
      </p:pic>
      <p:sp>
        <p:nvSpPr>
          <p:cNvPr id="270" name="textbox 270"/>
          <p:cNvSpPr/>
          <p:nvPr/>
        </p:nvSpPr>
        <p:spPr>
          <a:xfrm>
            <a:off x="2152650" y="2066925"/>
            <a:ext cx="295275" cy="104775"/>
          </a:xfrm>
          <a:prstGeom prst="rect">
            <a:avLst/>
          </a:prstGeom>
          <a:noFill/>
          <a:ln w="0" cap="flat">
            <a:noFill/>
            <a:prstDash val="solid"/>
            <a:miter lim="0"/>
          </a:ln>
        </p:spPr>
        <p:txBody>
          <a:bodyPr vert="horz" wrap="none" lIns="0" tIns="0" rIns="0" bIns="0"/>
          <a:lstStyle/>
          <a:p>
            <a:pPr algn="l" rtl="0" eaLnBrk="0"/>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、联系地址</a:t>
            </a:r>
            <a:endParaRPr sz="500" dirty="0"/>
          </a:p>
        </p:txBody>
      </p:sp>
      <p:sp>
        <p:nvSpPr>
          <p:cNvPr id="272" name="textbox 272"/>
          <p:cNvSpPr/>
          <p:nvPr/>
        </p:nvSpPr>
        <p:spPr>
          <a:xfrm>
            <a:off x="2667000" y="2066925"/>
            <a:ext cx="304800" cy="104775"/>
          </a:xfrm>
          <a:prstGeom prst="rect">
            <a:avLst/>
          </a:prstGeom>
          <a:noFill/>
          <a:ln w="0" cap="flat">
            <a:noFill/>
            <a:prstDash val="solid"/>
            <a:miter lim="0"/>
          </a:ln>
        </p:spPr>
        <p:txBody>
          <a:bodyPr vert="horz" wrap="none" lIns="0" tIns="0" rIns="0" bIns="0"/>
          <a:lstStyle/>
          <a:p>
            <a:pPr algn="l" rtl="0" eaLnBrk="0"/>
            <a:r>
              <a:rPr sz="500" kern="0" spc="0" dirty="0">
                <a:solidFill>
                  <a:srgbClr val="795D01">
                    <a:alpha val="100000"/>
                  </a:srgbClr>
                </a:solidFill>
                <a:latin typeface="方正小标宋简体"/>
                <a:ea typeface="方正小标宋简体"/>
                <a:cs typeface="方正小标宋简体"/>
              </a:rPr>
              <a:t>故障时间</a:t>
            </a:r>
            <a:endParaRPr sz="500" dirty="0"/>
          </a:p>
        </p:txBody>
      </p:sp>
      <p:pic>
        <p:nvPicPr>
          <p:cNvPr id="276" name="picture 276"/>
          <p:cNvPicPr>
            <a:picLocks noChangeAspect="1"/>
          </p:cNvPicPr>
          <p:nvPr/>
        </p:nvPicPr>
        <p:blipFill>
          <a:blip r:embed="rId4"/>
          <a:stretch>
            <a:fillRect/>
          </a:stretch>
        </p:blipFill>
        <p:spPr>
          <a:xfrm>
            <a:off x="3314700" y="1895475"/>
            <a:ext cx="2609850" cy="2181225"/>
          </a:xfrm>
          <a:prstGeom prst="rect">
            <a:avLst/>
          </a:prstGeom>
        </p:spPr>
      </p:pic>
      <p:sp>
        <p:nvSpPr>
          <p:cNvPr id="278" name="textbox 278"/>
          <p:cNvSpPr/>
          <p:nvPr/>
        </p:nvSpPr>
        <p:spPr>
          <a:xfrm>
            <a:off x="4391025" y="1990725"/>
            <a:ext cx="390525" cy="114300"/>
          </a:xfrm>
          <a:prstGeom prst="rect">
            <a:avLst/>
          </a:prstGeom>
          <a:noFill/>
          <a:ln w="0" cap="flat">
            <a:noFill/>
            <a:prstDash val="solid"/>
            <a:miter lim="0"/>
          </a:ln>
        </p:spPr>
        <p:txBody>
          <a:bodyPr vert="horz" wrap="none" lIns="0" tIns="0" rIns="0" bIns="0"/>
          <a:lstStyle/>
          <a:p>
            <a:pPr algn="l" rtl="0" eaLnBrk="0"/>
            <a:r>
              <a:rPr sz="700" b="1" kern="0" spc="0" dirty="0">
                <a:solidFill>
                  <a:srgbClr val="181717">
                    <a:alpha val="100000"/>
                  </a:srgbClr>
                </a:solidFill>
                <a:latin typeface="方正小标宋简体"/>
                <a:ea typeface="方正小标宋简体"/>
                <a:cs typeface="方正小标宋简体"/>
              </a:rPr>
              <a:t>光伏电站</a:t>
            </a:r>
            <a:endParaRPr sz="700" dirty="0"/>
          </a:p>
        </p:txBody>
      </p:sp>
      <p:sp>
        <p:nvSpPr>
          <p:cNvPr id="280" name="textbox 280"/>
          <p:cNvSpPr/>
          <p:nvPr/>
        </p:nvSpPr>
        <p:spPr>
          <a:xfrm>
            <a:off x="4467225" y="2857500"/>
            <a:ext cx="219075" cy="114300"/>
          </a:xfrm>
          <a:prstGeom prst="rect">
            <a:avLst/>
          </a:prstGeom>
          <a:noFill/>
          <a:ln w="0" cap="flat">
            <a:noFill/>
            <a:prstDash val="solid"/>
            <a:miter lim="0"/>
          </a:ln>
        </p:spPr>
        <p:txBody>
          <a:bodyPr vert="horz" wrap="none" lIns="0" tIns="0" rIns="0" bIns="0"/>
          <a:lstStyle/>
          <a:p>
            <a:pPr algn="l" rtl="0" eaLnBrk="0"/>
            <a:r>
              <a:rPr sz="600" u="sng" kern="0" spc="525" dirty="0">
                <a:solidFill>
                  <a:srgbClr val="851321">
                    <a:alpha val="100000"/>
                  </a:srgbClr>
                </a:solidFill>
                <a:latin typeface="华文琥珀" panose="02010800040101010101" charset="-122"/>
                <a:ea typeface="华文琥珀" panose="02010800040101010101" charset="-122"/>
                <a:cs typeface="华文琥珀" panose="02010800040101010101" charset="-122"/>
              </a:rPr>
              <a:t>常性</a:t>
            </a:r>
            <a:endParaRPr sz="600" dirty="0"/>
          </a:p>
        </p:txBody>
      </p:sp>
      <p:sp>
        <p:nvSpPr>
          <p:cNvPr id="282" name="textbox 282"/>
          <p:cNvSpPr/>
          <p:nvPr/>
        </p:nvSpPr>
        <p:spPr>
          <a:xfrm>
            <a:off x="4352925" y="2933700"/>
            <a:ext cx="419100" cy="266700"/>
          </a:xfrm>
          <a:prstGeom prst="rect">
            <a:avLst/>
          </a:prstGeom>
          <a:noFill/>
          <a:ln w="0" cap="flat">
            <a:noFill/>
            <a:prstDash val="solid"/>
            <a:miter lim="0"/>
          </a:ln>
        </p:spPr>
        <p:txBody>
          <a:bodyPr vert="horz" wrap="none" lIns="0" tIns="0" rIns="0" bIns="0"/>
          <a:lstStyle/>
          <a:p>
            <a:pPr algn="l" rtl="0" eaLnBrk="0"/>
            <a:r>
              <a:rPr sz="600" b="1" kern="0" spc="300" dirty="0">
                <a:solidFill>
                  <a:srgbClr val="851321">
                    <a:alpha val="100000"/>
                  </a:srgbClr>
                </a:solidFill>
                <a:latin typeface="微软雅黑" panose="020B0503020204020204" charset="-122"/>
                <a:ea typeface="微软雅黑" panose="020B0503020204020204" charset="-122"/>
                <a:cs typeface="微软雅黑" panose="020B0503020204020204" charset="-122"/>
              </a:rPr>
              <a:t>密说视频</a:t>
            </a:r>
            <a:endParaRPr sz="600" dirty="0"/>
          </a:p>
          <a:p>
            <a:pPr algn="l" rtl="0" eaLnBrk="0"/>
            <a:r>
              <a:rPr sz="600" b="1" kern="0" spc="300" dirty="0">
                <a:solidFill>
                  <a:srgbClr val="851321">
                    <a:alpha val="100000"/>
                  </a:srgbClr>
                </a:solidFill>
                <a:latin typeface="微软雅黑" panose="020B0503020204020204" charset="-122"/>
                <a:ea typeface="微软雅黑" panose="020B0503020204020204" charset="-122"/>
                <a:cs typeface="微软雅黑" panose="020B0503020204020204" charset="-122"/>
              </a:rPr>
              <a:t>关键节点</a:t>
            </a:r>
            <a:endParaRPr sz="600" dirty="0"/>
          </a:p>
        </p:txBody>
      </p:sp>
      <p:sp>
        <p:nvSpPr>
          <p:cNvPr id="284" name="textbox 284"/>
          <p:cNvSpPr/>
          <p:nvPr/>
        </p:nvSpPr>
        <p:spPr>
          <a:xfrm>
            <a:off x="5267325" y="3143250"/>
            <a:ext cx="619125" cy="190500"/>
          </a:xfrm>
          <a:prstGeom prst="rect">
            <a:avLst/>
          </a:prstGeom>
          <a:noFill/>
          <a:ln w="0" cap="flat">
            <a:noFill/>
            <a:prstDash val="solid"/>
            <a:miter lim="0"/>
          </a:ln>
        </p:spPr>
        <p:txBody>
          <a:bodyPr vert="horz" wrap="none" lIns="0" tIns="0" rIns="0" bIns="0"/>
          <a:lstStyle/>
          <a:p>
            <a:pPr algn="l" rtl="0" eaLnBrk="0"/>
            <a:r>
              <a:rPr sz="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直流带通用户</a:t>
            </a:r>
            <a:endParaRPr sz="700" dirty="0"/>
          </a:p>
        </p:txBody>
      </p:sp>
      <p:sp>
        <p:nvSpPr>
          <p:cNvPr id="286" name="textbox 286"/>
          <p:cNvSpPr/>
          <p:nvPr/>
        </p:nvSpPr>
        <p:spPr>
          <a:xfrm>
            <a:off x="3409950" y="3171825"/>
            <a:ext cx="361950" cy="142875"/>
          </a:xfrm>
          <a:prstGeom prst="rect">
            <a:avLst/>
          </a:prstGeom>
          <a:noFill/>
          <a:ln w="0" cap="flat">
            <a:noFill/>
            <a:prstDash val="solid"/>
            <a:miter lim="0"/>
          </a:ln>
        </p:spPr>
        <p:txBody>
          <a:bodyPr vert="horz" wrap="none" lIns="0" tIns="0" rIns="0" bIns="0"/>
          <a:lstStyle/>
          <a:p>
            <a:pPr algn="l" rtl="0" eaLnBrk="0"/>
            <a:r>
              <a:rPr sz="700" b="1" kern="0" spc="375" dirty="0">
                <a:solidFill>
                  <a:srgbClr val="1A1A1A">
                    <a:alpha val="100000"/>
                  </a:srgbClr>
                </a:solidFill>
                <a:latin typeface="微软雅黑" panose="020B0503020204020204" charset="-122"/>
                <a:ea typeface="微软雅黑" panose="020B0503020204020204" charset="-122"/>
                <a:cs typeface="微软雅黑" panose="020B0503020204020204" charset="-122"/>
              </a:rPr>
              <a:t>充电站</a:t>
            </a:r>
            <a:endParaRPr sz="700" dirty="0"/>
          </a:p>
        </p:txBody>
      </p:sp>
      <p:sp>
        <p:nvSpPr>
          <p:cNvPr id="288" name="textbox 288"/>
          <p:cNvSpPr/>
          <p:nvPr/>
        </p:nvSpPr>
        <p:spPr>
          <a:xfrm>
            <a:off x="4362450" y="3905250"/>
            <a:ext cx="438150" cy="161925"/>
          </a:xfrm>
          <a:prstGeom prst="rect">
            <a:avLst/>
          </a:prstGeom>
          <a:noFill/>
          <a:ln w="0" cap="flat">
            <a:noFill/>
            <a:prstDash val="solid"/>
            <a:miter lim="0"/>
          </a:ln>
        </p:spPr>
        <p:txBody>
          <a:bodyPr vert="horz" wrap="none" lIns="0" tIns="0" rIns="0" bIns="0"/>
          <a:lstStyle/>
          <a:p>
            <a:pPr algn="l" rtl="0" eaLnBrk="0"/>
            <a:r>
              <a:rPr sz="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储能电路</a:t>
            </a:r>
            <a:endParaRPr sz="700" dirty="0"/>
          </a:p>
        </p:txBody>
      </p:sp>
      <p:pic>
        <p:nvPicPr>
          <p:cNvPr id="292" name="picture 292"/>
          <p:cNvPicPr>
            <a:picLocks noChangeAspect="1"/>
          </p:cNvPicPr>
          <p:nvPr/>
        </p:nvPicPr>
        <p:blipFill>
          <a:blip r:embed="rId5"/>
          <a:stretch>
            <a:fillRect/>
          </a:stretch>
        </p:blipFill>
        <p:spPr>
          <a:xfrm>
            <a:off x="6391275" y="1962150"/>
            <a:ext cx="2362200" cy="2114550"/>
          </a:xfrm>
          <a:prstGeom prst="rect">
            <a:avLst/>
          </a:prstGeom>
        </p:spPr>
      </p:pic>
      <p:pic>
        <p:nvPicPr>
          <p:cNvPr id="296" name="picture 296"/>
          <p:cNvPicPr>
            <a:picLocks noChangeAspect="1"/>
          </p:cNvPicPr>
          <p:nvPr/>
        </p:nvPicPr>
        <p:blipFill>
          <a:blip r:embed="rId6"/>
          <a:stretch>
            <a:fillRect/>
          </a:stretch>
        </p:blipFill>
        <p:spPr>
          <a:xfrm>
            <a:off x="9220200" y="1962150"/>
            <a:ext cx="2495550" cy="2114550"/>
          </a:xfrm>
          <a:prstGeom prst="rect">
            <a:avLst/>
          </a:prstGeom>
        </p:spPr>
      </p:pic>
      <p:sp>
        <p:nvSpPr>
          <p:cNvPr id="298" name="textbox 298"/>
          <p:cNvSpPr/>
          <p:nvPr/>
        </p:nvSpPr>
        <p:spPr>
          <a:xfrm>
            <a:off x="9391650" y="2571750"/>
            <a:ext cx="285750" cy="104775"/>
          </a:xfrm>
          <a:prstGeom prst="rect">
            <a:avLst/>
          </a:prstGeom>
          <a:noFill/>
          <a:ln w="0" cap="flat">
            <a:noFill/>
            <a:prstDash val="solid"/>
            <a:miter lim="0"/>
          </a:ln>
        </p:spPr>
        <p:txBody>
          <a:bodyPr vert="horz" wrap="none" lIns="0" tIns="0" rIns="0" bIns="0"/>
          <a:lstStyle/>
          <a:p>
            <a:pPr algn="l" rtl="0" eaLnBrk="0"/>
            <a:r>
              <a:rPr sz="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罚款未为困</a:t>
            </a:r>
            <a:endParaRPr sz="600" dirty="0"/>
          </a:p>
        </p:txBody>
      </p:sp>
      <p:sp>
        <p:nvSpPr>
          <p:cNvPr id="300" name="textbox 300"/>
          <p:cNvSpPr/>
          <p:nvPr/>
        </p:nvSpPr>
        <p:spPr>
          <a:xfrm>
            <a:off x="11220450" y="2571750"/>
            <a:ext cx="419100" cy="95250"/>
          </a:xfrm>
          <a:prstGeom prst="rect">
            <a:avLst/>
          </a:prstGeom>
          <a:noFill/>
          <a:ln w="0" cap="flat">
            <a:noFill/>
            <a:prstDash val="solid"/>
            <a:miter lim="0"/>
          </a:ln>
        </p:spPr>
        <p:txBody>
          <a:bodyPr vert="horz" wrap="none" lIns="0" tIns="0" rIns="0" bIns="0"/>
          <a:lstStyle/>
          <a:p>
            <a:pPr algn="l" rtl="0" eaLnBrk="0"/>
            <a:r>
              <a:rPr sz="500" kern="0" spc="0" dirty="0">
                <a:solidFill>
                  <a:srgbClr val="262626">
                    <a:alpha val="100000"/>
                  </a:srgbClr>
                </a:solidFill>
                <a:latin typeface="方正小标宋简体"/>
                <a:ea typeface="方正小标宋简体"/>
                <a:cs typeface="方正小标宋简体"/>
              </a:rPr>
              <a:t>用户应检验结果</a:t>
            </a:r>
            <a:endParaRPr sz="500" dirty="0"/>
          </a:p>
        </p:txBody>
      </p:sp>
      <p:sp>
        <p:nvSpPr>
          <p:cNvPr id="302" name="textbox 302"/>
          <p:cNvSpPr/>
          <p:nvPr/>
        </p:nvSpPr>
        <p:spPr>
          <a:xfrm>
            <a:off x="9372600" y="2638425"/>
            <a:ext cx="314325" cy="133350"/>
          </a:xfrm>
          <a:prstGeom prst="rect">
            <a:avLst/>
          </a:prstGeom>
          <a:noFill/>
          <a:ln w="0" cap="flat">
            <a:noFill/>
            <a:prstDash val="solid"/>
            <a:miter lim="0"/>
          </a:ln>
        </p:spPr>
        <p:txBody>
          <a:bodyPr vert="horz" wrap="none" lIns="0" tIns="0" rIns="0" bIns="0"/>
          <a:lstStyle/>
          <a:p>
            <a:pPr algn="l" rtl="0" eaLnBrk="0"/>
            <a:r>
              <a:rPr sz="500" kern="0" spc="0" dirty="0">
                <a:solidFill>
                  <a:srgbClr val="000000">
                    <a:alpha val="100000"/>
                  </a:srgbClr>
                </a:solidFill>
                <a:latin typeface="Arial" panose="020B0604020202020204"/>
                <a:ea typeface="Arial" panose="020B0604020202020204"/>
                <a:cs typeface="Arial" panose="020B0604020202020204"/>
              </a:rPr>
              <a:t>[</a:t>
            </a:r>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无法识别</a:t>
            </a:r>
            <a:r>
              <a:rPr sz="500" kern="0" spc="0" dirty="0">
                <a:solidFill>
                  <a:srgbClr val="000000">
                    <a:alpha val="100000"/>
                  </a:srgbClr>
                </a:solidFill>
                <a:latin typeface="Arial" panose="020B0604020202020204"/>
                <a:ea typeface="Arial" panose="020B0604020202020204"/>
                <a:cs typeface="Arial" panose="020B0604020202020204"/>
              </a:rPr>
              <a:t>]</a:t>
            </a:r>
            <a:endParaRPr sz="500" dirty="0"/>
          </a:p>
        </p:txBody>
      </p:sp>
      <p:sp>
        <p:nvSpPr>
          <p:cNvPr id="304" name="textbox 304"/>
          <p:cNvSpPr/>
          <p:nvPr/>
        </p:nvSpPr>
        <p:spPr>
          <a:xfrm>
            <a:off x="9810750" y="2905125"/>
            <a:ext cx="152400" cy="95250"/>
          </a:xfrm>
          <a:prstGeom prst="rect">
            <a:avLst/>
          </a:prstGeom>
          <a:noFill/>
          <a:ln w="0" cap="flat">
            <a:noFill/>
            <a:prstDash val="solid"/>
            <a:miter lim="0"/>
          </a:ln>
        </p:spPr>
        <p:txBody>
          <a:bodyPr vert="horz" wrap="none" lIns="0" tIns="0" rIns="0" bIns="0"/>
          <a:lstStyle/>
          <a:p>
            <a:pPr algn="l" rtl="0" eaLnBrk="0"/>
            <a:r>
              <a:rPr sz="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聚卷站</a:t>
            </a:r>
            <a:endParaRPr sz="600" dirty="0"/>
          </a:p>
        </p:txBody>
      </p:sp>
      <p:sp>
        <p:nvSpPr>
          <p:cNvPr id="306" name="textbox 306"/>
          <p:cNvSpPr/>
          <p:nvPr/>
        </p:nvSpPr>
        <p:spPr>
          <a:xfrm>
            <a:off x="9305925" y="3219450"/>
            <a:ext cx="314325" cy="114300"/>
          </a:xfrm>
          <a:prstGeom prst="rect">
            <a:avLst/>
          </a:prstGeom>
          <a:noFill/>
          <a:ln w="0" cap="flat">
            <a:noFill/>
            <a:prstDash val="solid"/>
            <a:miter lim="0"/>
          </a:ln>
        </p:spPr>
        <p:txBody>
          <a:bodyPr vert="horz" wrap="none" lIns="0" tIns="0" rIns="0" bIns="0"/>
          <a:lstStyle/>
          <a:p>
            <a:pPr algn="l" rtl="0" eaLnBrk="0"/>
            <a:r>
              <a:rPr sz="500" kern="0" spc="75" dirty="0">
                <a:solidFill>
                  <a:srgbClr val="000000">
                    <a:alpha val="100000"/>
                  </a:srgbClr>
                </a:solidFill>
                <a:latin typeface="微软雅黑" panose="020B0503020204020204" charset="-122"/>
                <a:ea typeface="微软雅黑" panose="020B0503020204020204" charset="-122"/>
                <a:cs typeface="微软雅黑" panose="020B0503020204020204" charset="-122"/>
              </a:rPr>
              <a:t>批准前</a:t>
            </a:r>
            <a:r>
              <a:rPr sz="500" kern="0" spc="75" dirty="0">
                <a:solidFill>
                  <a:srgbClr val="000000">
                    <a:alpha val="100000"/>
                  </a:srgbClr>
                </a:solidFill>
                <a:latin typeface="Arial" panose="020B0604020202020204"/>
                <a:ea typeface="Arial" panose="020B0604020202020204"/>
                <a:cs typeface="Arial" panose="020B0604020202020204"/>
              </a:rPr>
              <a:t>10</a:t>
            </a:r>
            <a:endParaRPr sz="500" dirty="0"/>
          </a:p>
        </p:txBody>
      </p:sp>
      <p:sp>
        <p:nvSpPr>
          <p:cNvPr id="308" name="textbox 308"/>
          <p:cNvSpPr/>
          <p:nvPr/>
        </p:nvSpPr>
        <p:spPr>
          <a:xfrm>
            <a:off x="9296400" y="3295650"/>
            <a:ext cx="314325" cy="133350"/>
          </a:xfrm>
          <a:prstGeom prst="rect">
            <a:avLst/>
          </a:prstGeom>
          <a:noFill/>
          <a:ln w="0" cap="flat">
            <a:noFill/>
            <a:prstDash val="solid"/>
            <a:miter lim="0"/>
          </a:ln>
        </p:spPr>
        <p:txBody>
          <a:bodyPr vert="horz" wrap="none" lIns="0" tIns="0" rIns="0" bIns="0"/>
          <a:lstStyle/>
          <a:p>
            <a:pPr algn="l" rtl="0" eaLnBrk="0"/>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检测测试仪</a:t>
            </a:r>
            <a:endParaRPr sz="500" dirty="0"/>
          </a:p>
          <a:p>
            <a:pPr algn="l" rtl="0" eaLnBrk="0"/>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检测码点</a:t>
            </a:r>
            <a:endParaRPr sz="500" dirty="0"/>
          </a:p>
        </p:txBody>
      </p:sp>
      <p:sp>
        <p:nvSpPr>
          <p:cNvPr id="310" name="textbox 310"/>
          <p:cNvSpPr/>
          <p:nvPr/>
        </p:nvSpPr>
        <p:spPr>
          <a:xfrm>
            <a:off x="1228725" y="4171950"/>
            <a:ext cx="962025" cy="276225"/>
          </a:xfrm>
          <a:prstGeom prst="rect">
            <a:avLst/>
          </a:prstGeom>
          <a:noFill/>
          <a:ln w="0" cap="flat">
            <a:noFill/>
            <a:prstDash val="solid"/>
            <a:miter lim="0"/>
          </a:ln>
        </p:spPr>
        <p:txBody>
          <a:bodyPr vert="horz" wrap="none" lIns="0" tIns="0" rIns="0" bIns="0"/>
          <a:lstStyle/>
          <a:p>
            <a:pPr algn="l" rtl="0" eaLnBrk="0">
              <a:buClrTx/>
              <a:buSzTx/>
              <a:buFontTx/>
            </a:pPr>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单体建模</a:t>
            </a:r>
            <a:endParaRPr sz="1800" kern="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312" name="textbox 312"/>
          <p:cNvSpPr/>
          <p:nvPr/>
        </p:nvSpPr>
        <p:spPr>
          <a:xfrm>
            <a:off x="4152900" y="4171950"/>
            <a:ext cx="952500" cy="2762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集群聚合</a:t>
            </a:r>
            <a:endParaRPr sz="1800" dirty="0"/>
          </a:p>
        </p:txBody>
      </p:sp>
      <p:sp>
        <p:nvSpPr>
          <p:cNvPr id="314" name="textbox 314"/>
          <p:cNvSpPr/>
          <p:nvPr/>
        </p:nvSpPr>
        <p:spPr>
          <a:xfrm>
            <a:off x="7086600" y="4171950"/>
            <a:ext cx="952500" cy="2762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协同调度</a:t>
            </a:r>
            <a:endParaRPr sz="1800" dirty="0"/>
          </a:p>
        </p:txBody>
      </p:sp>
      <p:sp>
        <p:nvSpPr>
          <p:cNvPr id="316" name="textbox 316"/>
          <p:cNvSpPr/>
          <p:nvPr/>
        </p:nvSpPr>
        <p:spPr>
          <a:xfrm>
            <a:off x="10010775" y="4171950"/>
            <a:ext cx="952500" cy="276225"/>
          </a:xfrm>
          <a:prstGeom prst="rect">
            <a:avLst/>
          </a:prstGeom>
          <a:noFill/>
          <a:ln w="0" cap="flat">
            <a:noFill/>
            <a:prstDash val="solid"/>
            <a:miter lim="0"/>
          </a:ln>
        </p:spPr>
        <p:txBody>
          <a:bodyPr vert="horz" wrap="none" lIns="0" tIns="0" rIns="0" bIns="0"/>
          <a:lstStyle/>
          <a:p>
            <a:pPr algn="l" rtl="0" eaLnBrk="0"/>
            <a:r>
              <a:rPr sz="1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市场激励</a:t>
            </a:r>
            <a:endParaRPr sz="1800" dirty="0"/>
          </a:p>
        </p:txBody>
      </p:sp>
      <p:sp>
        <p:nvSpPr>
          <p:cNvPr id="318" name="textbox 318"/>
          <p:cNvSpPr/>
          <p:nvPr/>
        </p:nvSpPr>
        <p:spPr>
          <a:xfrm>
            <a:off x="1543050" y="4695825"/>
            <a:ext cx="3238500" cy="257175"/>
          </a:xfrm>
          <a:prstGeom prst="rect">
            <a:avLst/>
          </a:prstGeom>
          <a:noFill/>
          <a:ln w="0" cap="flat">
            <a:noFill/>
            <a:prstDash val="solid"/>
            <a:miter lim="0"/>
          </a:ln>
        </p:spPr>
        <p:txBody>
          <a:bodyPr vert="horz" wrap="none" lIns="0" tIns="0" rIns="0" bIns="0"/>
          <a:lstStyle/>
          <a:p>
            <a:pPr algn="l" rtl="0" eaLnBrk="0"/>
            <a:r>
              <a:rPr sz="17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分布式能源的智能化建模与聚合</a:t>
            </a:r>
            <a:endParaRPr sz="1700" dirty="0"/>
          </a:p>
        </p:txBody>
      </p:sp>
      <p:sp>
        <p:nvSpPr>
          <p:cNvPr id="320" name="textbox 320"/>
          <p:cNvSpPr/>
          <p:nvPr/>
        </p:nvSpPr>
        <p:spPr>
          <a:xfrm>
            <a:off x="7277100" y="4686300"/>
            <a:ext cx="3476625" cy="276225"/>
          </a:xfrm>
          <a:prstGeom prst="rect">
            <a:avLst/>
          </a:prstGeom>
          <a:noFill/>
          <a:ln w="0" cap="flat">
            <a:noFill/>
            <a:prstDash val="solid"/>
            <a:miter lim="0"/>
          </a:ln>
        </p:spPr>
        <p:txBody>
          <a:bodyPr vert="horz" wrap="none" lIns="0" tIns="0" rIns="0" bIns="0"/>
          <a:lstStyle/>
          <a:p>
            <a:pPr algn="l" rtl="0" eaLnBrk="0"/>
            <a:r>
              <a:rPr sz="18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基于区块链与智能合约的激励机制</a:t>
            </a:r>
            <a:endParaRPr sz="1800" dirty="0"/>
          </a:p>
        </p:txBody>
      </p:sp>
      <p:sp>
        <p:nvSpPr>
          <p:cNvPr id="322" name="textbox 322"/>
          <p:cNvSpPr/>
          <p:nvPr/>
        </p:nvSpPr>
        <p:spPr>
          <a:xfrm>
            <a:off x="5153025" y="5143500"/>
            <a:ext cx="1876425" cy="285750"/>
          </a:xfrm>
          <a:prstGeom prst="rect">
            <a:avLst/>
          </a:prstGeom>
          <a:noFill/>
          <a:ln w="0" cap="flat">
            <a:noFill/>
            <a:prstDash val="solid"/>
            <a:miter lim="0"/>
          </a:ln>
        </p:spPr>
        <p:txBody>
          <a:bodyPr vert="horz" wrap="none" lIns="0" tIns="0" rIns="0" bIns="0"/>
          <a:lstStyle/>
          <a:p>
            <a:pPr algn="l" rtl="0" eaLnBrk="0"/>
            <a:r>
              <a:rPr sz="1700" b="1" kern="0" spc="0" dirty="0">
                <a:solidFill>
                  <a:srgbClr val="FFD23B">
                    <a:alpha val="100000"/>
                  </a:srgbClr>
                </a:solidFill>
                <a:latin typeface="微软雅黑" panose="020B0503020204020204" charset="-122"/>
                <a:ea typeface="微软雅黑" panose="020B0503020204020204" charset="-122"/>
                <a:cs typeface="微软雅黑" panose="020B0503020204020204" charset="-122"/>
              </a:rPr>
              <a:t>创新性与预期成果</a:t>
            </a:r>
            <a:endParaRPr sz="1700" dirty="0"/>
          </a:p>
        </p:txBody>
      </p:sp>
      <p:sp>
        <p:nvSpPr>
          <p:cNvPr id="324" name="textbox 324"/>
          <p:cNvSpPr/>
          <p:nvPr/>
        </p:nvSpPr>
        <p:spPr>
          <a:xfrm>
            <a:off x="857250" y="5743575"/>
            <a:ext cx="10420350" cy="238125"/>
          </a:xfrm>
          <a:prstGeom prst="rect">
            <a:avLst/>
          </a:prstGeom>
          <a:noFill/>
          <a:ln w="0" cap="flat">
            <a:noFill/>
            <a:prstDash val="solid"/>
            <a:miter lim="0"/>
          </a:ln>
        </p:spPr>
        <p:txBody>
          <a:bodyPr vert="horz" wrap="none" lIns="0" tIns="0" rIns="0" bIns="0"/>
          <a:lstStyle/>
          <a:p>
            <a:pPr algn="l" rtl="0" eaLnBrk="0"/>
            <a:r>
              <a:rPr sz="16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理论创新：</a:t>
            </a: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提出“联邦学习+DRO”的DER集群聚合建模新方法；建立“MARL+区块链”的去中心化协同调度新范式</a:t>
            </a:r>
            <a:endParaRPr sz="1500" dirty="0"/>
          </a:p>
        </p:txBody>
      </p:sp>
      <p:sp>
        <p:nvSpPr>
          <p:cNvPr id="326" name="textbox 326"/>
          <p:cNvSpPr/>
          <p:nvPr/>
        </p:nvSpPr>
        <p:spPr>
          <a:xfrm>
            <a:off x="419100" y="5810250"/>
            <a:ext cx="190500" cy="123825"/>
          </a:xfrm>
          <a:prstGeom prst="rect">
            <a:avLst/>
          </a:prstGeom>
          <a:noFill/>
          <a:ln w="0" cap="flat">
            <a:noFill/>
            <a:prstDash val="solid"/>
            <a:miter lim="0"/>
          </a:ln>
        </p:spPr>
        <p:txBody>
          <a:bodyPr vert="horz" wrap="none" lIns="0" tIns="0" rIns="0" bIns="0"/>
          <a:lstStyle/>
          <a:p>
            <a:pPr algn="l" rtl="0" eaLnBrk="0"/>
            <a:r>
              <a:rPr sz="1500" b="1" kern="0" dirty="0">
                <a:solidFill>
                  <a:srgbClr val="FFFFFF">
                    <a:alpha val="100000"/>
                  </a:srgbClr>
                </a:solidFill>
                <a:latin typeface="Calibri" panose="020F0502020204030204"/>
                <a:ea typeface="Calibri" panose="020F0502020204030204"/>
                <a:cs typeface="Calibri" panose="020F0502020204030204"/>
              </a:rPr>
              <a:t>01</a:t>
            </a:r>
            <a:endParaRPr sz="1400" dirty="0"/>
          </a:p>
        </p:txBody>
      </p:sp>
      <p:sp>
        <p:nvSpPr>
          <p:cNvPr id="328" name="textbox 328"/>
          <p:cNvSpPr/>
          <p:nvPr/>
        </p:nvSpPr>
        <p:spPr>
          <a:xfrm>
            <a:off x="847725" y="6076950"/>
            <a:ext cx="8991600" cy="247650"/>
          </a:xfrm>
          <a:prstGeom prst="rect">
            <a:avLst/>
          </a:prstGeom>
          <a:noFill/>
          <a:ln w="0" cap="flat">
            <a:noFill/>
            <a:prstDash val="solid"/>
            <a:miter lim="0"/>
          </a:ln>
        </p:spPr>
        <p:txBody>
          <a:bodyPr vert="horz" wrap="none" lIns="0" tIns="0" rIns="0" bIns="0"/>
          <a:lstStyle/>
          <a:p>
            <a:pPr algn="l" rtl="0" eaLnBrk="0"/>
            <a:r>
              <a:rPr sz="16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技术创新：</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开发基于AI的分布式协调调度核心算法库与软件平台；实现基于智能合约的自动结算系统</a:t>
            </a:r>
            <a:endParaRPr sz="1600" dirty="0"/>
          </a:p>
        </p:txBody>
      </p:sp>
      <p:sp>
        <p:nvSpPr>
          <p:cNvPr id="330" name="textbox 330"/>
          <p:cNvSpPr/>
          <p:nvPr/>
        </p:nvSpPr>
        <p:spPr>
          <a:xfrm>
            <a:off x="390525" y="6105525"/>
            <a:ext cx="257175" cy="190500"/>
          </a:xfrm>
          <a:prstGeom prst="rect">
            <a:avLst/>
          </a:prstGeom>
          <a:noFill/>
          <a:ln w="0" cap="flat">
            <a:noFill/>
            <a:prstDash val="solid"/>
            <a:miter lim="0"/>
          </a:ln>
        </p:spPr>
        <p:txBody>
          <a:bodyPr vert="horz" wrap="none" lIns="0" tIns="0" rIns="0" bIns="0"/>
          <a:lstStyle/>
          <a:p>
            <a:pPr algn="l" rtl="0" eaLnBrk="0"/>
            <a:r>
              <a:rPr sz="1500" b="1" kern="0" spc="0" dirty="0">
                <a:solidFill>
                  <a:srgbClr val="FFFFFF">
                    <a:alpha val="100000"/>
                  </a:srgbClr>
                </a:solidFill>
                <a:latin typeface="Calibri" panose="020F0502020204030204"/>
                <a:ea typeface="Calibri" panose="020F0502020204030204"/>
                <a:cs typeface="Calibri" panose="020F0502020204030204"/>
              </a:rPr>
              <a:t>02</a:t>
            </a:r>
            <a:endParaRPr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4" name="picture 334"/>
          <p:cNvPicPr>
            <a:picLocks noChangeAspect="1"/>
          </p:cNvPicPr>
          <p:nvPr/>
        </p:nvPicPr>
        <p:blipFill>
          <a:blip r:embed="rId1"/>
          <a:stretch>
            <a:fillRect/>
          </a:stretch>
        </p:blipFill>
        <p:spPr>
          <a:xfrm>
            <a:off x="0" y="0"/>
            <a:ext cx="12192000" cy="6858000"/>
          </a:xfrm>
          <a:prstGeom prst="rect">
            <a:avLst/>
          </a:prstGeom>
        </p:spPr>
      </p:pic>
      <p:sp>
        <p:nvSpPr>
          <p:cNvPr id="336" name="textbox 336"/>
          <p:cNvSpPr/>
          <p:nvPr/>
        </p:nvSpPr>
        <p:spPr>
          <a:xfrm>
            <a:off x="333375" y="123825"/>
            <a:ext cx="7648575" cy="447675"/>
          </a:xfrm>
          <a:prstGeom prst="rect">
            <a:avLst/>
          </a:prstGeom>
          <a:noFill/>
          <a:ln w="0" cap="flat">
            <a:noFill/>
            <a:prstDash val="solid"/>
            <a:miter lim="0"/>
          </a:ln>
        </p:spPr>
        <p:txBody>
          <a:bodyPr vert="horz" wrap="none" lIns="0" tIns="0" rIns="0" bIns="0"/>
          <a:lstStyle/>
          <a:p>
            <a:pPr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2.3 研究内容2：多时间尺度协同调度方法</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340" name="picture 340"/>
          <p:cNvPicPr>
            <a:picLocks noChangeAspect="1"/>
          </p:cNvPicPr>
          <p:nvPr/>
        </p:nvPicPr>
        <p:blipFill>
          <a:blip r:embed="rId2"/>
          <a:stretch>
            <a:fillRect/>
          </a:stretch>
        </p:blipFill>
        <p:spPr>
          <a:xfrm>
            <a:off x="9915525" y="152400"/>
            <a:ext cx="1838325" cy="419100"/>
          </a:xfrm>
          <a:prstGeom prst="rect">
            <a:avLst/>
          </a:prstGeom>
        </p:spPr>
      </p:pic>
      <p:sp>
        <p:nvSpPr>
          <p:cNvPr id="342" name="textbox 342"/>
          <p:cNvSpPr/>
          <p:nvPr/>
        </p:nvSpPr>
        <p:spPr>
          <a:xfrm>
            <a:off x="428625" y="933450"/>
            <a:ext cx="1057275" cy="304800"/>
          </a:xfrm>
          <a:prstGeom prst="rect">
            <a:avLst/>
          </a:prstGeom>
          <a:noFill/>
          <a:ln w="0" cap="flat">
            <a:noFill/>
            <a:prstDash val="solid"/>
            <a:miter lim="0"/>
          </a:ln>
        </p:spPr>
        <p:txBody>
          <a:bodyPr vert="horz" wrap="none" lIns="0" tIns="0" rIns="0" bIns="0"/>
          <a:lstStyle/>
          <a:p>
            <a:pPr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分层决策</a:t>
            </a:r>
            <a:endParaRPr sz="1800" dirty="0"/>
          </a:p>
        </p:txBody>
      </p:sp>
      <p:sp>
        <p:nvSpPr>
          <p:cNvPr id="344" name="textbox 344"/>
          <p:cNvSpPr/>
          <p:nvPr/>
        </p:nvSpPr>
        <p:spPr>
          <a:xfrm>
            <a:off x="723900" y="1352550"/>
            <a:ext cx="10439400" cy="285750"/>
          </a:xfrm>
          <a:prstGeom prst="rect">
            <a:avLst/>
          </a:prstGeom>
          <a:noFill/>
          <a:ln w="0" cap="flat">
            <a:noFill/>
            <a:prstDash val="solid"/>
            <a:miter lim="0"/>
          </a:ln>
        </p:spPr>
        <p:txBody>
          <a:bodyPr vert="horz" wrap="none" lIns="0" tIns="0" rIns="0" bIns="0"/>
          <a:lstStyle/>
          <a:p>
            <a:pPr algn="l" rtl="0" eaLnBrk="0"/>
            <a:r>
              <a:rPr sz="1900" b="1" kern="0" spc="0" dirty="0">
                <a:solidFill>
                  <a:srgbClr val="A30909">
                    <a:alpha val="100000"/>
                  </a:srgbClr>
                </a:solidFill>
                <a:latin typeface="微软雅黑" panose="020B0503020204020204" charset="-122"/>
                <a:ea typeface="微软雅黑" panose="020B0503020204020204" charset="-122"/>
                <a:cs typeface="微软雅黑" panose="020B0503020204020204" charset="-122"/>
              </a:rPr>
              <a:t>将复杂的调度问题按时间尺度分解为多个层次</a:t>
            </a:r>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，不同层次解决不同精度的决策问题，层层细化</a:t>
            </a:r>
            <a:endParaRPr sz="1900" dirty="0"/>
          </a:p>
        </p:txBody>
      </p:sp>
      <p:sp>
        <p:nvSpPr>
          <p:cNvPr id="346" name="textbox 346"/>
          <p:cNvSpPr/>
          <p:nvPr/>
        </p:nvSpPr>
        <p:spPr>
          <a:xfrm>
            <a:off x="1885950" y="1943100"/>
            <a:ext cx="258127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基于AI的协同优化策略</a:t>
            </a:r>
            <a:endParaRPr sz="2000" dirty="0"/>
          </a:p>
        </p:txBody>
      </p:sp>
      <p:sp>
        <p:nvSpPr>
          <p:cNvPr id="348" name="textbox 348"/>
          <p:cNvSpPr/>
          <p:nvPr/>
        </p:nvSpPr>
        <p:spPr>
          <a:xfrm>
            <a:off x="8486775" y="1943100"/>
            <a:ext cx="1057275" cy="295275"/>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简单示例</a:t>
            </a:r>
            <a:endParaRPr sz="2000" dirty="0"/>
          </a:p>
        </p:txBody>
      </p:sp>
      <p:pic>
        <p:nvPicPr>
          <p:cNvPr id="352" name="picture 352"/>
          <p:cNvPicPr>
            <a:picLocks noChangeAspect="1"/>
          </p:cNvPicPr>
          <p:nvPr/>
        </p:nvPicPr>
        <p:blipFill>
          <a:blip r:embed="rId3"/>
          <a:stretch>
            <a:fillRect/>
          </a:stretch>
        </p:blipFill>
        <p:spPr>
          <a:xfrm>
            <a:off x="619125" y="2409825"/>
            <a:ext cx="5114925" cy="1543050"/>
          </a:xfrm>
          <a:prstGeom prst="rect">
            <a:avLst/>
          </a:prstGeom>
        </p:spPr>
      </p:pic>
      <p:sp>
        <p:nvSpPr>
          <p:cNvPr id="354" name="textbox 354"/>
          <p:cNvSpPr/>
          <p:nvPr/>
        </p:nvSpPr>
        <p:spPr>
          <a:xfrm>
            <a:off x="1428750" y="3638550"/>
            <a:ext cx="971550" cy="314325"/>
          </a:xfrm>
          <a:prstGeom prst="rect">
            <a:avLst/>
          </a:prstGeom>
          <a:noFill/>
          <a:ln w="0" cap="flat">
            <a:noFill/>
            <a:prstDash val="solid"/>
            <a:miter lim="0"/>
          </a:ln>
        </p:spPr>
        <p:txBody>
          <a:bodyPr vert="horz" wrap="none" lIns="0" tIns="0" rIns="0" bIns="0"/>
          <a:lstStyle/>
          <a:p>
            <a:pPr algn="l" rtl="0" eaLnBrk="0"/>
            <a:r>
              <a:rPr sz="18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自上而下</a:t>
            </a:r>
            <a:endParaRPr sz="1800" dirty="0"/>
          </a:p>
        </p:txBody>
      </p:sp>
      <p:sp>
        <p:nvSpPr>
          <p:cNvPr id="356" name="textbox 356"/>
          <p:cNvSpPr/>
          <p:nvPr/>
        </p:nvSpPr>
        <p:spPr>
          <a:xfrm>
            <a:off x="4010025" y="3638550"/>
            <a:ext cx="1000125" cy="314325"/>
          </a:xfrm>
          <a:prstGeom prst="rect">
            <a:avLst/>
          </a:prstGeom>
          <a:noFill/>
          <a:ln w="0" cap="flat">
            <a:noFill/>
            <a:prstDash val="solid"/>
            <a:miter lim="0"/>
          </a:ln>
        </p:spPr>
        <p:txBody>
          <a:bodyPr vert="horz" wrap="none" lIns="0" tIns="0" rIns="0" bIns="0"/>
          <a:lstStyle/>
          <a:p>
            <a:pPr algn="l" rtl="0" eaLnBrk="0"/>
            <a:r>
              <a:rPr sz="18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自下而上</a:t>
            </a:r>
            <a:endParaRPr sz="1800" dirty="0"/>
          </a:p>
        </p:txBody>
      </p:sp>
      <p:pic>
        <p:nvPicPr>
          <p:cNvPr id="360" name="picture 360"/>
          <p:cNvPicPr>
            <a:picLocks noChangeAspect="1"/>
          </p:cNvPicPr>
          <p:nvPr/>
        </p:nvPicPr>
        <p:blipFill>
          <a:blip r:embed="rId4"/>
          <a:stretch>
            <a:fillRect/>
          </a:stretch>
        </p:blipFill>
        <p:spPr>
          <a:xfrm>
            <a:off x="619125" y="4086225"/>
            <a:ext cx="5086350" cy="904875"/>
          </a:xfrm>
          <a:prstGeom prst="rect">
            <a:avLst/>
          </a:prstGeom>
        </p:spPr>
      </p:pic>
      <p:sp>
        <p:nvSpPr>
          <p:cNvPr id="362" name="textbox 362"/>
          <p:cNvSpPr/>
          <p:nvPr/>
        </p:nvSpPr>
        <p:spPr>
          <a:xfrm>
            <a:off x="609600" y="4105275"/>
            <a:ext cx="266700" cy="895350"/>
          </a:xfrm>
          <a:prstGeom prst="rect">
            <a:avLst/>
          </a:prstGeom>
          <a:noFill/>
          <a:ln w="0" cap="flat">
            <a:noFill/>
            <a:prstDash val="solid"/>
            <a:miter lim="0"/>
          </a:ln>
        </p:spPr>
        <p:txBody>
          <a:bodyPr vert="horz" wrap="none" lIns="0" tIns="0" rIns="0" bIns="0"/>
          <a:lstStyle/>
          <a:p>
            <a:pPr algn="l" rtl="0" eaLnBrk="0"/>
            <a:r>
              <a:rPr sz="13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变</a:t>
            </a:r>
            <a:endParaRPr sz="1300" dirty="0"/>
          </a:p>
          <a:p>
            <a:pPr algn="l" rtl="0" eaLnBrk="0"/>
            <a:r>
              <a:rPr sz="13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压</a:t>
            </a:r>
            <a:endParaRPr sz="1300" dirty="0"/>
          </a:p>
          <a:p>
            <a:pPr algn="l" rtl="0" eaLnBrk="0"/>
            <a:r>
              <a:rPr sz="13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器</a:t>
            </a:r>
            <a:endParaRPr sz="1300" dirty="0"/>
          </a:p>
          <a:p>
            <a:pPr algn="l" rtl="0" eaLnBrk="0"/>
            <a:r>
              <a:rPr sz="1300" b="1" kern="0" spc="0" dirty="0">
                <a:solidFill>
                  <a:srgbClr val="0D0D0D">
                    <a:alpha val="100000"/>
                  </a:srgbClr>
                </a:solidFill>
                <a:latin typeface="微软雅黑" panose="020B0503020204020204" charset="-122"/>
                <a:ea typeface="微软雅黑" panose="020B0503020204020204" charset="-122"/>
                <a:cs typeface="微软雅黑" panose="020B0503020204020204" charset="-122"/>
              </a:rPr>
              <a:t>热</a:t>
            </a:r>
            <a:endParaRPr sz="1300" dirty="0"/>
          </a:p>
        </p:txBody>
      </p:sp>
      <p:sp>
        <p:nvSpPr>
          <p:cNvPr id="364" name="textbox 364"/>
          <p:cNvSpPr/>
          <p:nvPr/>
        </p:nvSpPr>
        <p:spPr>
          <a:xfrm>
            <a:off x="1257300" y="4229100"/>
            <a:ext cx="2628900" cy="257175"/>
          </a:xfrm>
          <a:prstGeom prst="rect">
            <a:avLst/>
          </a:prstGeom>
          <a:noFill/>
          <a:ln w="0" cap="flat">
            <a:noFill/>
            <a:prstDash val="solid"/>
            <a:miter lim="0"/>
          </a:ln>
        </p:spPr>
        <p:txBody>
          <a:bodyPr vert="horz" wrap="none" lIns="0" tIns="0" rIns="0" bIns="0"/>
          <a:lstStyle/>
          <a:p>
            <a:pPr algn="l" rtl="0" eaLnBrk="0"/>
            <a:r>
              <a:rPr sz="15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日前-日内-实时的双向信息流</a:t>
            </a:r>
            <a:endParaRPr sz="1500" dirty="0"/>
          </a:p>
        </p:txBody>
      </p:sp>
      <p:sp>
        <p:nvSpPr>
          <p:cNvPr id="366" name="textbox 366"/>
          <p:cNvSpPr/>
          <p:nvPr/>
        </p:nvSpPr>
        <p:spPr>
          <a:xfrm>
            <a:off x="1238250" y="4657725"/>
            <a:ext cx="2771775" cy="257175"/>
          </a:xfrm>
          <a:prstGeom prst="rect">
            <a:avLst/>
          </a:prstGeom>
          <a:noFill/>
          <a:ln w="0" cap="flat">
            <a:noFill/>
            <a:prstDash val="solid"/>
            <a:miter lim="0"/>
          </a:ln>
        </p:spPr>
        <p:txBody>
          <a:bodyPr vert="horz" wrap="none" lIns="0" tIns="0" rIns="0" bIns="0"/>
          <a:lstStyle/>
          <a:p>
            <a:pPr algn="l" rtl="0" eaLnBrk="0"/>
            <a:r>
              <a:rPr sz="15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AI作为“协调器”和“加速器”</a:t>
            </a:r>
            <a:endParaRPr sz="1500" dirty="0"/>
          </a:p>
        </p:txBody>
      </p:sp>
      <p:pic>
        <p:nvPicPr>
          <p:cNvPr id="370" name="picture 370"/>
          <p:cNvPicPr>
            <a:picLocks noChangeAspect="1"/>
          </p:cNvPicPr>
          <p:nvPr/>
        </p:nvPicPr>
        <p:blipFill>
          <a:blip r:embed="rId5"/>
          <a:stretch>
            <a:fillRect/>
          </a:stretch>
        </p:blipFill>
        <p:spPr>
          <a:xfrm>
            <a:off x="695325" y="5238750"/>
            <a:ext cx="1533525" cy="685800"/>
          </a:xfrm>
          <a:prstGeom prst="rect">
            <a:avLst/>
          </a:prstGeom>
        </p:spPr>
      </p:pic>
      <p:pic>
        <p:nvPicPr>
          <p:cNvPr id="374" name="picture 374"/>
          <p:cNvPicPr>
            <a:picLocks noChangeAspect="1"/>
          </p:cNvPicPr>
          <p:nvPr/>
        </p:nvPicPr>
        <p:blipFill>
          <a:blip r:embed="rId6"/>
          <a:stretch>
            <a:fillRect/>
          </a:stretch>
        </p:blipFill>
        <p:spPr>
          <a:xfrm>
            <a:off x="3038475" y="4991100"/>
            <a:ext cx="276225" cy="266700"/>
          </a:xfrm>
          <a:prstGeom prst="rect">
            <a:avLst/>
          </a:prstGeom>
        </p:spPr>
      </p:pic>
      <p:sp>
        <p:nvSpPr>
          <p:cNvPr id="376" name="textbox 376"/>
          <p:cNvSpPr/>
          <p:nvPr/>
        </p:nvSpPr>
        <p:spPr>
          <a:xfrm>
            <a:off x="2362200" y="5295900"/>
            <a:ext cx="1628775" cy="600075"/>
          </a:xfrm>
          <a:prstGeom prst="rect">
            <a:avLst/>
          </a:prstGeom>
          <a:noFill/>
          <a:ln w="0" cap="flat">
            <a:noFill/>
            <a:prstDash val="solid"/>
            <a:miter lim="0"/>
          </a:ln>
        </p:spPr>
        <p:txBody>
          <a:bodyPr vert="horz" wrap="none" lIns="0" tIns="0" rIns="0" bIns="0"/>
          <a:lstStyle/>
          <a:p>
            <a:pPr marL="85725" algn="l" rtl="0" eaLnBrk="0"/>
            <a:r>
              <a:rPr sz="1800" b="1" kern="0" spc="0" dirty="0">
                <a:solidFill>
                  <a:srgbClr val="AD0101">
                    <a:alpha val="100000"/>
                  </a:srgbClr>
                </a:solidFill>
                <a:latin typeface="微软雅黑" panose="020B0503020204020204" charset="-122"/>
                <a:ea typeface="微软雅黑" panose="020B0503020204020204" charset="-122"/>
                <a:cs typeface="微软雅黑" panose="020B0503020204020204" charset="-122"/>
              </a:rPr>
              <a:t>作为调整明日</a:t>
            </a:r>
            <a:endParaRPr sz="1800" dirty="0"/>
          </a:p>
          <a:p>
            <a:pPr algn="l" rtl="0" eaLnBrk="0">
              <a:spcBef>
                <a:spcPts val="525"/>
              </a:spcBef>
            </a:pPr>
            <a:r>
              <a:rPr sz="1800" b="1" kern="0" spc="0" dirty="0">
                <a:solidFill>
                  <a:srgbClr val="AD0101">
                    <a:alpha val="100000"/>
                  </a:srgbClr>
                </a:solidFill>
                <a:latin typeface="微软雅黑" panose="020B0503020204020204" charset="-122"/>
                <a:ea typeface="微软雅黑" panose="020B0503020204020204" charset="-122"/>
                <a:cs typeface="微软雅黑" panose="020B0503020204020204" charset="-122"/>
              </a:rPr>
              <a:t>机组组合的参考</a:t>
            </a:r>
            <a:endParaRPr sz="1800" dirty="0"/>
          </a:p>
        </p:txBody>
      </p:sp>
      <p:pic>
        <p:nvPicPr>
          <p:cNvPr id="380" name="picture 380"/>
          <p:cNvPicPr>
            <a:picLocks noChangeAspect="1"/>
          </p:cNvPicPr>
          <p:nvPr/>
        </p:nvPicPr>
        <p:blipFill>
          <a:blip r:embed="rId7"/>
          <a:stretch>
            <a:fillRect/>
          </a:stretch>
        </p:blipFill>
        <p:spPr>
          <a:xfrm>
            <a:off x="4124325" y="5238750"/>
            <a:ext cx="1543050" cy="685800"/>
          </a:xfrm>
          <a:prstGeom prst="rect">
            <a:avLst/>
          </a:prstGeom>
        </p:spPr>
      </p:pic>
      <p:sp>
        <p:nvSpPr>
          <p:cNvPr id="382" name="textbox 382"/>
          <p:cNvSpPr/>
          <p:nvPr/>
        </p:nvSpPr>
        <p:spPr>
          <a:xfrm>
            <a:off x="6372225" y="2438400"/>
            <a:ext cx="5267325" cy="257175"/>
          </a:xfrm>
          <a:prstGeom prst="rect">
            <a:avLst/>
          </a:prstGeom>
          <a:noFill/>
          <a:ln w="0" cap="flat">
            <a:noFill/>
            <a:prstDash val="solid"/>
            <a:miter lim="0"/>
          </a:ln>
        </p:spPr>
        <p:txBody>
          <a:bodyPr vert="horz" wrap="none" lIns="0" tIns="0" rIns="0" bIns="0"/>
          <a:lstStyle/>
          <a:p>
            <a:pPr algn="l" rtl="0" eaLnBrk="0"/>
            <a:r>
              <a:rPr sz="1700" b="1" kern="0" spc="0" dirty="0">
                <a:solidFill>
                  <a:srgbClr val="1B75BC">
                    <a:alpha val="100000"/>
                  </a:srgbClr>
                </a:solidFill>
                <a:latin typeface="微软雅黑" panose="020B0503020204020204" charset="-122"/>
                <a:ea typeface="微软雅黑" panose="020B0503020204020204" charset="-122"/>
                <a:cs typeface="微软雅黑" panose="020B0503020204020204" charset="-122"/>
              </a:rPr>
              <a:t>天气预报预测明日中午有云层经过，光伏出力会下降</a:t>
            </a:r>
            <a:endParaRPr sz="1700" dirty="0"/>
          </a:p>
        </p:txBody>
      </p:sp>
      <p:pic>
        <p:nvPicPr>
          <p:cNvPr id="386" name="picture 386"/>
          <p:cNvPicPr>
            <a:picLocks noChangeAspect="1"/>
          </p:cNvPicPr>
          <p:nvPr/>
        </p:nvPicPr>
        <p:blipFill>
          <a:blip r:embed="rId8"/>
          <a:stretch>
            <a:fillRect/>
          </a:stretch>
        </p:blipFill>
        <p:spPr>
          <a:xfrm>
            <a:off x="6572250" y="2771775"/>
            <a:ext cx="4895850" cy="2066925"/>
          </a:xfrm>
          <a:prstGeom prst="rect">
            <a:avLst/>
          </a:prstGeom>
        </p:spPr>
      </p:pic>
      <p:sp>
        <p:nvSpPr>
          <p:cNvPr id="388" name="textbox 388"/>
          <p:cNvSpPr/>
          <p:nvPr/>
        </p:nvSpPr>
        <p:spPr>
          <a:xfrm>
            <a:off x="6667500" y="5191125"/>
            <a:ext cx="2190750" cy="200025"/>
          </a:xfrm>
          <a:prstGeom prst="rect">
            <a:avLst/>
          </a:prstGeom>
          <a:noFill/>
          <a:ln w="0" cap="flat">
            <a:noFill/>
            <a:prstDash val="solid"/>
            <a:miter lim="0"/>
          </a:ln>
        </p:spPr>
        <p:txBody>
          <a:bodyPr vert="horz" wrap="none" lIns="0" tIns="0" rIns="0" bIns="0"/>
          <a:lstStyle/>
          <a:p>
            <a:pPr algn="l" rtl="0" eaLnBrk="0"/>
            <a:r>
              <a:rPr sz="14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①指令储能电站按计划放电</a:t>
            </a:r>
            <a:endParaRPr sz="1400" dirty="0"/>
          </a:p>
        </p:txBody>
      </p:sp>
      <p:sp>
        <p:nvSpPr>
          <p:cNvPr id="390" name="textbox 390"/>
          <p:cNvSpPr/>
          <p:nvPr/>
        </p:nvSpPr>
        <p:spPr>
          <a:xfrm>
            <a:off x="6667500" y="5448300"/>
            <a:ext cx="167640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AD1A2C">
                    <a:alpha val="100000"/>
                  </a:srgbClr>
                </a:solidFill>
                <a:latin typeface="微软雅黑" panose="020B0503020204020204" charset="-122"/>
                <a:ea typeface="微软雅黑" panose="020B0503020204020204" charset="-122"/>
                <a:cs typeface="微软雅黑" panose="020B0503020204020204" charset="-122"/>
              </a:rPr>
              <a:t>②微调燃气轮机出力</a:t>
            </a:r>
            <a:endParaRPr sz="1400" dirty="0"/>
          </a:p>
        </p:txBody>
      </p:sp>
      <p:sp>
        <p:nvSpPr>
          <p:cNvPr id="392" name="textbox 392"/>
          <p:cNvSpPr/>
          <p:nvPr/>
        </p:nvSpPr>
        <p:spPr>
          <a:xfrm>
            <a:off x="6677025" y="5705475"/>
            <a:ext cx="3590925" cy="200025"/>
          </a:xfrm>
          <a:prstGeom prst="rect">
            <a:avLst/>
          </a:prstGeom>
          <a:noFill/>
          <a:ln w="0" cap="flat">
            <a:noFill/>
            <a:prstDash val="solid"/>
            <a:miter lim="0"/>
          </a:ln>
        </p:spPr>
        <p:txBody>
          <a:bodyPr vert="horz" wrap="none" lIns="0" tIns="0" rIns="0" bIns="0"/>
          <a:lstStyle/>
          <a:p>
            <a:pPr algn="l" rtl="0" eaLnBrk="0"/>
            <a:r>
              <a:rPr sz="1400" b="1" kern="0" spc="0" dirty="0">
                <a:solidFill>
                  <a:srgbClr val="AD0101">
                    <a:alpha val="100000"/>
                  </a:srgbClr>
                </a:solidFill>
                <a:latin typeface="微软雅黑" panose="020B0503020204020204" charset="-122"/>
                <a:ea typeface="微软雅黑" panose="020B0503020204020204" charset="-122"/>
                <a:cs typeface="微软雅黑" panose="020B0503020204020204" charset="-122"/>
              </a:rPr>
              <a:t>③向可中断负荷发送信号，请求削减少量用电</a:t>
            </a:r>
            <a:endParaRPr sz="1400" dirty="0"/>
          </a:p>
        </p:txBody>
      </p:sp>
      <p:pic>
        <p:nvPicPr>
          <p:cNvPr id="396" name="picture 396"/>
          <p:cNvPicPr>
            <a:picLocks noChangeAspect="1"/>
          </p:cNvPicPr>
          <p:nvPr/>
        </p:nvPicPr>
        <p:blipFill>
          <a:blip r:embed="rId9"/>
          <a:stretch>
            <a:fillRect/>
          </a:stretch>
        </p:blipFill>
        <p:spPr>
          <a:xfrm>
            <a:off x="8886825" y="4991100"/>
            <a:ext cx="285750" cy="266700"/>
          </a:xfrm>
          <a:prstGeom prst="rect">
            <a:avLst/>
          </a:prstGeom>
        </p:spPr>
      </p:pic>
      <p:sp>
        <p:nvSpPr>
          <p:cNvPr id="398" name="textbox 398"/>
          <p:cNvSpPr/>
          <p:nvPr/>
        </p:nvSpPr>
        <p:spPr>
          <a:xfrm>
            <a:off x="647700" y="6181725"/>
            <a:ext cx="10906125" cy="295275"/>
          </a:xfrm>
          <a:prstGeom prst="rect">
            <a:avLst/>
          </a:prstGeom>
          <a:noFill/>
          <a:ln w="0" cap="flat">
            <a:noFill/>
            <a:prstDash val="solid"/>
            <a:miter lim="0"/>
          </a:ln>
        </p:spPr>
        <p:txBody>
          <a:bodyPr vert="horz" wrap="none" lIns="0" tIns="0" rIns="0" bIns="0"/>
          <a:lstStyle/>
          <a:p>
            <a:pPr algn="l" rtl="0" eaLnBrk="0"/>
            <a:r>
              <a:rPr sz="2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使电力系统从一个“僵化”的计划系统转变为一个“灵活、自适应、自学习”的智能系统</a:t>
            </a:r>
            <a:endParaRPr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2" name="picture 402"/>
          <p:cNvPicPr>
            <a:picLocks noChangeAspect="1"/>
          </p:cNvPicPr>
          <p:nvPr/>
        </p:nvPicPr>
        <p:blipFill>
          <a:blip r:embed="rId1"/>
          <a:stretch>
            <a:fillRect/>
          </a:stretch>
        </p:blipFill>
        <p:spPr>
          <a:xfrm>
            <a:off x="0" y="0"/>
            <a:ext cx="12192000" cy="6858000"/>
          </a:xfrm>
          <a:prstGeom prst="rect">
            <a:avLst/>
          </a:prstGeom>
        </p:spPr>
      </p:pic>
      <p:sp>
        <p:nvSpPr>
          <p:cNvPr id="404" name="textbox 404"/>
          <p:cNvSpPr/>
          <p:nvPr/>
        </p:nvSpPr>
        <p:spPr>
          <a:xfrm>
            <a:off x="333375" y="123825"/>
            <a:ext cx="8048625" cy="438150"/>
          </a:xfrm>
          <a:prstGeom prst="rect">
            <a:avLst/>
          </a:prstGeom>
          <a:noFill/>
          <a:ln w="0" cap="flat">
            <a:noFill/>
            <a:prstDash val="solid"/>
            <a:miter lim="0"/>
          </a:ln>
        </p:spPr>
        <p:txBody>
          <a:bodyPr vert="horz" wrap="none" lIns="0" tIns="0" rIns="0" bIns="0"/>
          <a:lstStyle/>
          <a:p>
            <a:pPr marL="47625"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2.4 研究内容3：人工智能电力设备状态监测</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408" name="picture 408"/>
          <p:cNvPicPr>
            <a:picLocks noChangeAspect="1"/>
          </p:cNvPicPr>
          <p:nvPr/>
        </p:nvPicPr>
        <p:blipFill>
          <a:blip r:embed="rId2"/>
          <a:stretch>
            <a:fillRect/>
          </a:stretch>
        </p:blipFill>
        <p:spPr>
          <a:xfrm>
            <a:off x="9915525" y="152400"/>
            <a:ext cx="1828800" cy="419100"/>
          </a:xfrm>
          <a:prstGeom prst="rect">
            <a:avLst/>
          </a:prstGeom>
        </p:spPr>
      </p:pic>
      <p:sp>
        <p:nvSpPr>
          <p:cNvPr id="410" name="textbox 410"/>
          <p:cNvSpPr/>
          <p:nvPr/>
        </p:nvSpPr>
        <p:spPr>
          <a:xfrm>
            <a:off x="419100" y="933450"/>
            <a:ext cx="1066800" cy="304800"/>
          </a:xfrm>
          <a:prstGeom prst="rect">
            <a:avLst/>
          </a:prstGeom>
          <a:noFill/>
          <a:ln w="0" cap="flat">
            <a:noFill/>
            <a:prstDash val="solid"/>
            <a:miter lim="0"/>
          </a:ln>
        </p:spPr>
        <p:txBody>
          <a:bodyPr vert="horz" wrap="none" lIns="0" tIns="0" rIns="0" bIns="0"/>
          <a:lstStyle/>
          <a:p>
            <a:pPr algn="l" rtl="0" eaLnBrk="0"/>
            <a:r>
              <a:rPr sz="20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核心内涵</a:t>
            </a:r>
            <a:endParaRPr sz="2000" dirty="0"/>
          </a:p>
        </p:txBody>
      </p:sp>
      <p:sp>
        <p:nvSpPr>
          <p:cNvPr id="412" name="textbox 412"/>
          <p:cNvSpPr/>
          <p:nvPr/>
        </p:nvSpPr>
        <p:spPr>
          <a:xfrm>
            <a:off x="723900" y="1343025"/>
            <a:ext cx="11049000" cy="295275"/>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现设备状态的精准感知、健康评估、故障早期预警和剩余寿命预测，变“定期检修”为“状态检修”</a:t>
            </a:r>
            <a:endParaRPr sz="1900" dirty="0"/>
          </a:p>
        </p:txBody>
      </p:sp>
      <p:sp>
        <p:nvSpPr>
          <p:cNvPr id="414" name="textbox 414"/>
          <p:cNvSpPr/>
          <p:nvPr/>
        </p:nvSpPr>
        <p:spPr>
          <a:xfrm>
            <a:off x="428625" y="1962150"/>
            <a:ext cx="257175" cy="51435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问</a:t>
            </a:r>
            <a:endParaRPr sz="1800" dirty="0"/>
          </a:p>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题</a:t>
            </a:r>
            <a:endParaRPr sz="1800" dirty="0"/>
          </a:p>
        </p:txBody>
      </p:sp>
      <p:sp>
        <p:nvSpPr>
          <p:cNvPr id="416" name="textbox 416"/>
          <p:cNvSpPr/>
          <p:nvPr/>
        </p:nvSpPr>
        <p:spPr>
          <a:xfrm>
            <a:off x="1028700" y="1933575"/>
            <a:ext cx="4133850" cy="600075"/>
          </a:xfrm>
          <a:prstGeom prst="rect">
            <a:avLst/>
          </a:prstGeom>
          <a:noFill/>
          <a:ln w="0" cap="flat">
            <a:noFill/>
            <a:prstDash val="solid"/>
            <a:miter lim="0"/>
          </a:ln>
        </p:spPr>
        <p:txBody>
          <a:bodyPr vert="horz" wrap="none" lIns="0" tIns="0" rIns="0" bIns="0"/>
          <a:lstStyle/>
          <a:p>
            <a:pPr algn="l" rtl="0" eaLnBrk="0"/>
            <a:r>
              <a:rPr sz="1800" b="1" kern="0" spc="0" dirty="0">
                <a:solidFill>
                  <a:srgbClr val="0055A0">
                    <a:alpha val="100000"/>
                  </a:srgbClr>
                </a:solidFill>
                <a:latin typeface="微软雅黑" panose="020B0503020204020204" charset="-122"/>
                <a:ea typeface="微软雅黑" panose="020B0503020204020204" charset="-122"/>
                <a:cs typeface="微软雅黑" panose="020B0503020204020204" charset="-122"/>
              </a:rPr>
              <a:t>混杂的不同类型的局放信号给局放的识别</a:t>
            </a:r>
            <a:endParaRPr sz="1800" dirty="0"/>
          </a:p>
          <a:p>
            <a:pPr marL="1419225" algn="l" rtl="0" eaLnBrk="0">
              <a:spcBef>
                <a:spcPts val="600"/>
              </a:spcBef>
            </a:pPr>
            <a:r>
              <a:rPr sz="1800" b="1" kern="0" spc="0" dirty="0">
                <a:solidFill>
                  <a:srgbClr val="0055A0">
                    <a:alpha val="100000"/>
                  </a:srgbClr>
                </a:solidFill>
                <a:latin typeface="微软雅黑" panose="020B0503020204020204" charset="-122"/>
                <a:ea typeface="微软雅黑" panose="020B0503020204020204" charset="-122"/>
                <a:cs typeface="微软雅黑" panose="020B0503020204020204" charset="-122"/>
              </a:rPr>
              <a:t>带来了困难!</a:t>
            </a:r>
            <a:endParaRPr sz="1800" dirty="0"/>
          </a:p>
        </p:txBody>
      </p:sp>
      <p:sp>
        <p:nvSpPr>
          <p:cNvPr id="418" name="textbox 418"/>
          <p:cNvSpPr/>
          <p:nvPr/>
        </p:nvSpPr>
        <p:spPr>
          <a:xfrm>
            <a:off x="8324850" y="1924050"/>
            <a:ext cx="1066800" cy="295275"/>
          </a:xfrm>
          <a:prstGeom prst="rect">
            <a:avLst/>
          </a:prstGeom>
          <a:noFill/>
          <a:ln w="0" cap="flat">
            <a:noFill/>
            <a:prstDash val="solid"/>
            <a:miter lim="0"/>
          </a:ln>
        </p:spPr>
        <p:txBody>
          <a:bodyPr vert="horz" wrap="none" lIns="0" tIns="0" rIns="0" bIns="0"/>
          <a:lstStyle/>
          <a:p>
            <a:pPr algn="l" rtl="0" eaLnBrk="0"/>
            <a:r>
              <a:rPr sz="2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创新效果</a:t>
            </a:r>
            <a:endParaRPr sz="2000" dirty="0"/>
          </a:p>
        </p:txBody>
      </p:sp>
      <p:sp>
        <p:nvSpPr>
          <p:cNvPr id="420" name="textbox 420"/>
          <p:cNvSpPr/>
          <p:nvPr/>
        </p:nvSpPr>
        <p:spPr>
          <a:xfrm>
            <a:off x="6115050" y="2343150"/>
            <a:ext cx="5410200" cy="247650"/>
          </a:xfrm>
          <a:prstGeom prst="rect">
            <a:avLst/>
          </a:prstGeom>
          <a:noFill/>
          <a:ln w="0" cap="flat">
            <a:noFill/>
            <a:prstDash val="solid"/>
            <a:miter lim="0"/>
          </a:ln>
        </p:spPr>
        <p:txBody>
          <a:bodyPr vert="horz" wrap="none" lIns="0" tIns="0" rIns="0" bIns="0"/>
          <a:lstStyle/>
          <a:p>
            <a:pPr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随着神经网络层数的增加，不同类型的缺陷信号逐渐分开</a:t>
            </a:r>
            <a:endParaRPr sz="1600" dirty="0"/>
          </a:p>
        </p:txBody>
      </p:sp>
      <p:sp>
        <p:nvSpPr>
          <p:cNvPr id="422" name="textbox 422"/>
          <p:cNvSpPr/>
          <p:nvPr/>
        </p:nvSpPr>
        <p:spPr>
          <a:xfrm>
            <a:off x="419100" y="4048125"/>
            <a:ext cx="276225" cy="1095375"/>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创</a:t>
            </a:r>
            <a:endParaRPr sz="1800" dirty="0"/>
          </a:p>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新</a:t>
            </a:r>
            <a:endParaRPr sz="1800" dirty="0"/>
          </a:p>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方</a:t>
            </a:r>
            <a:endParaRPr sz="1800" dirty="0"/>
          </a:p>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法</a:t>
            </a:r>
            <a:endParaRPr sz="1800" dirty="0"/>
          </a:p>
        </p:txBody>
      </p:sp>
      <p:pic>
        <p:nvPicPr>
          <p:cNvPr id="426" name="picture 426"/>
          <p:cNvPicPr>
            <a:picLocks noChangeAspect="1"/>
          </p:cNvPicPr>
          <p:nvPr/>
        </p:nvPicPr>
        <p:blipFill>
          <a:blip r:embed="rId3"/>
          <a:stretch>
            <a:fillRect/>
          </a:stretch>
        </p:blipFill>
        <p:spPr>
          <a:xfrm>
            <a:off x="923925" y="2771775"/>
            <a:ext cx="4591050" cy="1476375"/>
          </a:xfrm>
          <a:prstGeom prst="rect">
            <a:avLst/>
          </a:prstGeom>
        </p:spPr>
      </p:pic>
      <p:sp>
        <p:nvSpPr>
          <p:cNvPr id="428" name="textbox 428"/>
          <p:cNvSpPr/>
          <p:nvPr/>
        </p:nvSpPr>
        <p:spPr>
          <a:xfrm>
            <a:off x="5124450" y="2895600"/>
            <a:ext cx="285750" cy="152400"/>
          </a:xfrm>
          <a:prstGeom prst="rect">
            <a:avLst/>
          </a:prstGeom>
          <a:noFill/>
          <a:ln w="0" cap="flat">
            <a:noFill/>
            <a:prstDash val="solid"/>
            <a:miter lim="0"/>
          </a:ln>
        </p:spPr>
        <p:txBody>
          <a:bodyPr vert="horz" wrap="none" lIns="0" tIns="0" rIns="0" bIns="0"/>
          <a:lstStyle/>
          <a:p>
            <a:pPr algn="l" rtl="0" eaLnBrk="0"/>
            <a:r>
              <a:rPr sz="1000" b="1" kern="0" spc="0" dirty="0">
                <a:solidFill>
                  <a:srgbClr val="99FF00">
                    <a:alpha val="100000"/>
                  </a:srgbClr>
                </a:solidFill>
                <a:latin typeface="微软雅黑" panose="020B0503020204020204" charset="-122"/>
                <a:ea typeface="微软雅黑" panose="020B0503020204020204" charset="-122"/>
                <a:cs typeface="微软雅黑" panose="020B0503020204020204" charset="-122"/>
              </a:rPr>
              <a:t>精廬</a:t>
            </a:r>
            <a:endParaRPr sz="1000" dirty="0"/>
          </a:p>
        </p:txBody>
      </p:sp>
      <p:sp>
        <p:nvSpPr>
          <p:cNvPr id="430" name="textbox 430"/>
          <p:cNvSpPr/>
          <p:nvPr/>
        </p:nvSpPr>
        <p:spPr>
          <a:xfrm>
            <a:off x="5114925" y="3086100"/>
            <a:ext cx="295275" cy="152400"/>
          </a:xfrm>
          <a:prstGeom prst="rect">
            <a:avLst/>
          </a:prstGeom>
          <a:noFill/>
          <a:ln w="0" cap="flat">
            <a:noFill/>
            <a:prstDash val="solid"/>
            <a:miter lim="0"/>
          </a:ln>
        </p:spPr>
        <p:txBody>
          <a:bodyPr vert="horz" wrap="none" lIns="0" tIns="0" rIns="0" bIns="0"/>
          <a:lstStyle/>
          <a:p>
            <a:pPr algn="l" rtl="0" eaLnBrk="0"/>
            <a:r>
              <a:rPr sz="1000" kern="0" spc="0" dirty="0">
                <a:solidFill>
                  <a:srgbClr val="851321">
                    <a:alpha val="100000"/>
                  </a:srgbClr>
                </a:solidFill>
                <a:latin typeface="华文琥珀" panose="02010800040101010101" charset="-122"/>
                <a:ea typeface="华文琥珀" panose="02010800040101010101" charset="-122"/>
                <a:cs typeface="华文琥珀" panose="02010800040101010101" charset="-122"/>
              </a:rPr>
              <a:t>预测</a:t>
            </a:r>
            <a:endParaRPr sz="1000" dirty="0"/>
          </a:p>
        </p:txBody>
      </p:sp>
      <p:sp>
        <p:nvSpPr>
          <p:cNvPr id="432" name="textbox 432"/>
          <p:cNvSpPr/>
          <p:nvPr/>
        </p:nvSpPr>
        <p:spPr>
          <a:xfrm>
            <a:off x="1085850" y="3276600"/>
            <a:ext cx="100965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同一点不同类型</a:t>
            </a:r>
            <a:endParaRPr sz="1000" dirty="0"/>
          </a:p>
        </p:txBody>
      </p:sp>
      <p:sp>
        <p:nvSpPr>
          <p:cNvPr id="434" name="textbox 434"/>
          <p:cNvSpPr/>
          <p:nvPr/>
        </p:nvSpPr>
        <p:spPr>
          <a:xfrm>
            <a:off x="2552700" y="3276600"/>
            <a:ext cx="100965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同一电缆不同点</a:t>
            </a:r>
            <a:endParaRPr sz="1000" dirty="0"/>
          </a:p>
        </p:txBody>
      </p:sp>
      <p:sp>
        <p:nvSpPr>
          <p:cNvPr id="436" name="textbox 436"/>
          <p:cNvSpPr/>
          <p:nvPr/>
        </p:nvSpPr>
        <p:spPr>
          <a:xfrm>
            <a:off x="3924300" y="3286125"/>
            <a:ext cx="971550" cy="200025"/>
          </a:xfrm>
          <a:prstGeom prst="rect">
            <a:avLst/>
          </a:prstGeom>
          <a:noFill/>
          <a:ln w="0" cap="flat">
            <a:noFill/>
            <a:prstDash val="solid"/>
            <a:miter lim="0"/>
          </a:ln>
        </p:spPr>
        <p:txBody>
          <a:bodyPr vert="horz" wrap="none" lIns="0" tIns="0" rIns="0" bIns="0"/>
          <a:lstStyle/>
          <a:p>
            <a:pPr algn="l" rtl="0" eaLnBrk="0"/>
            <a:r>
              <a:rPr sz="900" b="1" kern="0" spc="0" dirty="0">
                <a:solidFill>
                  <a:srgbClr val="404040">
                    <a:alpha val="100000"/>
                  </a:srgbClr>
                </a:solidFill>
                <a:latin typeface="微软雅黑" panose="020B0503020204020204" charset="-122"/>
                <a:ea typeface="微软雅黑" panose="020B0503020204020204" charset="-122"/>
                <a:cs typeface="微软雅黑" panose="020B0503020204020204" charset="-122"/>
              </a:rPr>
              <a:t>电缆及电缆连接的</a:t>
            </a:r>
            <a:endParaRPr sz="900" dirty="0"/>
          </a:p>
        </p:txBody>
      </p:sp>
      <p:sp>
        <p:nvSpPr>
          <p:cNvPr id="438" name="textbox 438"/>
          <p:cNvSpPr/>
          <p:nvPr/>
        </p:nvSpPr>
        <p:spPr>
          <a:xfrm>
            <a:off x="1276350" y="3448050"/>
            <a:ext cx="62865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局放数据</a:t>
            </a:r>
            <a:endParaRPr sz="1000" dirty="0"/>
          </a:p>
        </p:txBody>
      </p:sp>
      <p:sp>
        <p:nvSpPr>
          <p:cNvPr id="440" name="textbox 440"/>
          <p:cNvSpPr/>
          <p:nvPr/>
        </p:nvSpPr>
        <p:spPr>
          <a:xfrm>
            <a:off x="2752725" y="3448050"/>
            <a:ext cx="60960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A1A1A">
                    <a:alpha val="100000"/>
                  </a:srgbClr>
                </a:solidFill>
                <a:latin typeface="微软雅黑" panose="020B0503020204020204" charset="-122"/>
                <a:ea typeface="微软雅黑" panose="020B0503020204020204" charset="-122"/>
                <a:cs typeface="微软雅黑" panose="020B0503020204020204" charset="-122"/>
              </a:rPr>
              <a:t>局放数据</a:t>
            </a:r>
            <a:endParaRPr sz="1000" dirty="0"/>
          </a:p>
        </p:txBody>
      </p:sp>
      <p:sp>
        <p:nvSpPr>
          <p:cNvPr id="442" name="textbox 442"/>
          <p:cNvSpPr/>
          <p:nvPr/>
        </p:nvSpPr>
        <p:spPr>
          <a:xfrm>
            <a:off x="3933825" y="3448050"/>
            <a:ext cx="952500" cy="180975"/>
          </a:xfrm>
          <a:prstGeom prst="rect">
            <a:avLst/>
          </a:prstGeom>
          <a:noFill/>
          <a:ln w="0" cap="flat">
            <a:noFill/>
            <a:prstDash val="solid"/>
            <a:miter lim="0"/>
          </a:ln>
        </p:spPr>
        <p:txBody>
          <a:bodyPr vert="horz" wrap="none" lIns="0" tIns="0" rIns="0" bIns="0"/>
          <a:lstStyle/>
          <a:p>
            <a:pPr algn="l" rtl="0" eaLnBrk="0"/>
            <a:r>
              <a:rPr sz="900" kern="0" spc="0" dirty="0">
                <a:solidFill>
                  <a:srgbClr val="45494C">
                    <a:alpha val="100000"/>
                  </a:srgbClr>
                </a:solidFill>
                <a:latin typeface="华文琥珀" panose="02010800040101010101" charset="-122"/>
                <a:ea typeface="华文琥珀" panose="02010800040101010101" charset="-122"/>
                <a:cs typeface="华文琥珀" panose="02010800040101010101" charset="-122"/>
              </a:rPr>
              <a:t>电力设备局放数据</a:t>
            </a:r>
            <a:endParaRPr sz="900" dirty="0"/>
          </a:p>
        </p:txBody>
      </p:sp>
      <p:sp>
        <p:nvSpPr>
          <p:cNvPr id="444" name="textbox 444"/>
          <p:cNvSpPr/>
          <p:nvPr/>
        </p:nvSpPr>
        <p:spPr>
          <a:xfrm>
            <a:off x="1190625" y="3781425"/>
            <a:ext cx="80010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PD单个脉冲</a:t>
            </a:r>
            <a:endParaRPr sz="1000" dirty="0"/>
          </a:p>
        </p:txBody>
      </p:sp>
      <p:sp>
        <p:nvSpPr>
          <p:cNvPr id="446" name="textbox 446"/>
          <p:cNvSpPr/>
          <p:nvPr/>
        </p:nvSpPr>
        <p:spPr>
          <a:xfrm>
            <a:off x="2667000" y="3867150"/>
            <a:ext cx="781050" cy="171450"/>
          </a:xfrm>
          <a:prstGeom prst="rect">
            <a:avLst/>
          </a:prstGeom>
          <a:noFill/>
          <a:ln w="0" cap="flat">
            <a:noFill/>
            <a:prstDash val="solid"/>
            <a:miter lim="0"/>
          </a:ln>
        </p:spPr>
        <p:txBody>
          <a:bodyPr vert="horz" wrap="none" lIns="0" tIns="0" rIns="0" bIns="0"/>
          <a:lstStyle/>
          <a:p>
            <a:pPr algn="l" rtl="0" eaLnBrk="0"/>
            <a:r>
              <a:rPr sz="800"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加压测试获效的</a:t>
            </a:r>
            <a:endParaRPr sz="800" dirty="0"/>
          </a:p>
        </p:txBody>
      </p:sp>
      <p:sp>
        <p:nvSpPr>
          <p:cNvPr id="448" name="textbox 448"/>
          <p:cNvSpPr/>
          <p:nvPr/>
        </p:nvSpPr>
        <p:spPr>
          <a:xfrm>
            <a:off x="1085850" y="3952875"/>
            <a:ext cx="1019175" cy="219075"/>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特征构造与提取</a:t>
            </a:r>
            <a:endParaRPr sz="1000" dirty="0"/>
          </a:p>
        </p:txBody>
      </p:sp>
      <p:sp>
        <p:nvSpPr>
          <p:cNvPr id="450" name="textbox 450"/>
          <p:cNvSpPr/>
          <p:nvPr/>
        </p:nvSpPr>
        <p:spPr>
          <a:xfrm>
            <a:off x="2819400" y="4000500"/>
            <a:ext cx="476250" cy="171450"/>
          </a:xfrm>
          <a:prstGeom prst="rect">
            <a:avLst/>
          </a:prstGeom>
          <a:noFill/>
          <a:ln w="0" cap="flat">
            <a:noFill/>
            <a:prstDash val="solid"/>
            <a:miter lim="0"/>
          </a:ln>
        </p:spPr>
        <p:txBody>
          <a:bodyPr vert="horz" wrap="none" lIns="0" tIns="0" rIns="0" bIns="0"/>
          <a:lstStyle/>
          <a:p>
            <a:pPr algn="l" rtl="0" eaLnBrk="0"/>
            <a:r>
              <a:rPr sz="800" b="1" kern="0" spc="0" dirty="0">
                <a:solidFill>
                  <a:srgbClr val="D6F4F2">
                    <a:alpha val="100000"/>
                  </a:srgbClr>
                </a:solidFill>
                <a:latin typeface="微软雅黑" panose="020B0503020204020204" charset="-122"/>
                <a:ea typeface="微软雅黑" panose="020B0503020204020204" charset="-122"/>
                <a:cs typeface="微软雅黑" panose="020B0503020204020204" charset="-122"/>
              </a:rPr>
              <a:t>原始数据</a:t>
            </a:r>
            <a:endParaRPr sz="800" dirty="0"/>
          </a:p>
        </p:txBody>
      </p:sp>
      <p:pic>
        <p:nvPicPr>
          <p:cNvPr id="454" name="picture 454"/>
          <p:cNvPicPr>
            <a:picLocks noChangeAspect="1"/>
          </p:cNvPicPr>
          <p:nvPr/>
        </p:nvPicPr>
        <p:blipFill>
          <a:blip r:embed="rId4"/>
          <a:stretch>
            <a:fillRect/>
          </a:stretch>
        </p:blipFill>
        <p:spPr>
          <a:xfrm>
            <a:off x="923925" y="4419600"/>
            <a:ext cx="4591050" cy="2000250"/>
          </a:xfrm>
          <a:prstGeom prst="rect">
            <a:avLst/>
          </a:prstGeom>
        </p:spPr>
      </p:pic>
      <p:sp>
        <p:nvSpPr>
          <p:cNvPr id="456" name="textbox 456"/>
          <p:cNvSpPr/>
          <p:nvPr/>
        </p:nvSpPr>
        <p:spPr>
          <a:xfrm>
            <a:off x="1123950" y="4505325"/>
            <a:ext cx="933450" cy="209550"/>
          </a:xfrm>
          <a:prstGeom prst="rect">
            <a:avLst/>
          </a:prstGeom>
          <a:noFill/>
          <a:ln w="0" cap="flat">
            <a:noFill/>
            <a:prstDash val="solid"/>
            <a:miter lim="0"/>
          </a:ln>
        </p:spPr>
        <p:txBody>
          <a:bodyPr vert="horz" wrap="none" lIns="0" tIns="0" rIns="0" bIns="0"/>
          <a:lstStyle/>
          <a:p>
            <a:pPr algn="l" rtl="0" eaLnBrk="0"/>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PC特征数据集</a:t>
            </a:r>
            <a:endParaRPr sz="1000" dirty="0"/>
          </a:p>
        </p:txBody>
      </p:sp>
      <p:sp>
        <p:nvSpPr>
          <p:cNvPr id="458" name="textbox 458"/>
          <p:cNvSpPr/>
          <p:nvPr/>
        </p:nvSpPr>
        <p:spPr>
          <a:xfrm>
            <a:off x="2600325" y="4505325"/>
            <a:ext cx="752475" cy="209550"/>
          </a:xfrm>
          <a:prstGeom prst="rect">
            <a:avLst/>
          </a:prstGeom>
          <a:noFill/>
          <a:ln w="0" cap="flat">
            <a:noFill/>
            <a:prstDash val="solid"/>
            <a:miter lim="0"/>
          </a:ln>
        </p:spPr>
        <p:txBody>
          <a:bodyPr vert="horz" wrap="none" lIns="0" tIns="0" rIns="0" bIns="0"/>
          <a:lstStyle/>
          <a:p>
            <a:pPr algn="l" rtl="0" eaLnBrk="0"/>
            <a:r>
              <a:rPr sz="10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训练数据集</a:t>
            </a:r>
            <a:endParaRPr sz="1000" dirty="0"/>
          </a:p>
        </p:txBody>
      </p:sp>
      <p:sp>
        <p:nvSpPr>
          <p:cNvPr id="460" name="textbox 460"/>
          <p:cNvSpPr/>
          <p:nvPr/>
        </p:nvSpPr>
        <p:spPr>
          <a:xfrm>
            <a:off x="3971925" y="4638675"/>
            <a:ext cx="561975" cy="171450"/>
          </a:xfrm>
          <a:prstGeom prst="rect">
            <a:avLst/>
          </a:prstGeom>
          <a:noFill/>
          <a:ln w="0" cap="flat">
            <a:noFill/>
            <a:prstDash val="solid"/>
            <a:miter lim="0"/>
          </a:ln>
        </p:spPr>
        <p:txBody>
          <a:bodyPr vert="horz" wrap="none" lIns="0" tIns="0" rIns="0" bIns="0"/>
          <a:lstStyle/>
          <a:p>
            <a:pPr algn="l" rtl="0" eaLnBrk="0"/>
            <a:r>
              <a:rPr sz="9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不同网络</a:t>
            </a:r>
            <a:endParaRPr sz="900" dirty="0"/>
          </a:p>
        </p:txBody>
      </p:sp>
      <p:sp>
        <p:nvSpPr>
          <p:cNvPr id="462" name="textbox 462"/>
          <p:cNvSpPr/>
          <p:nvPr/>
        </p:nvSpPr>
        <p:spPr>
          <a:xfrm>
            <a:off x="4695825" y="4638675"/>
            <a:ext cx="352425" cy="142875"/>
          </a:xfrm>
          <a:prstGeom prst="rect">
            <a:avLst/>
          </a:prstGeom>
          <a:noFill/>
          <a:ln w="0" cap="flat">
            <a:noFill/>
            <a:prstDash val="solid"/>
            <a:miter lim="0"/>
          </a:ln>
        </p:spPr>
        <p:txBody>
          <a:bodyPr vert="horz" wrap="none" lIns="0" tIns="0" rIns="0" bIns="0"/>
          <a:lstStyle/>
          <a:p>
            <a:pPr algn="l" rtl="0" eaLnBrk="0"/>
            <a:r>
              <a:rPr sz="800" b="1" kern="0" spc="0" dirty="0">
                <a:solidFill>
                  <a:srgbClr val="851321">
                    <a:alpha val="100000"/>
                  </a:srgbClr>
                </a:solidFill>
                <a:latin typeface="方正大标宋简体"/>
                <a:ea typeface="方正大标宋简体"/>
                <a:cs typeface="方正大标宋简体"/>
              </a:rPr>
              <a:t>训练化</a:t>
            </a:r>
            <a:endParaRPr sz="800" dirty="0"/>
          </a:p>
        </p:txBody>
      </p:sp>
      <p:sp>
        <p:nvSpPr>
          <p:cNvPr id="464" name="textbox 464"/>
          <p:cNvSpPr/>
          <p:nvPr/>
        </p:nvSpPr>
        <p:spPr>
          <a:xfrm>
            <a:off x="3981450" y="4800600"/>
            <a:ext cx="561975" cy="171450"/>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层数选择</a:t>
            </a:r>
            <a:endParaRPr sz="1000" dirty="0"/>
          </a:p>
        </p:txBody>
      </p:sp>
      <p:sp>
        <p:nvSpPr>
          <p:cNvPr id="466" name="textbox 466"/>
          <p:cNvSpPr/>
          <p:nvPr/>
        </p:nvSpPr>
        <p:spPr>
          <a:xfrm>
            <a:off x="1219200" y="4895850"/>
            <a:ext cx="762000" cy="219075"/>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测试数据集</a:t>
            </a:r>
            <a:endParaRPr sz="1000" dirty="0"/>
          </a:p>
        </p:txBody>
      </p:sp>
      <p:sp>
        <p:nvSpPr>
          <p:cNvPr id="468" name="textbox 468"/>
          <p:cNvSpPr/>
          <p:nvPr/>
        </p:nvSpPr>
        <p:spPr>
          <a:xfrm>
            <a:off x="4781550" y="5000625"/>
            <a:ext cx="571500" cy="209550"/>
          </a:xfrm>
          <a:prstGeom prst="rect">
            <a:avLst/>
          </a:prstGeom>
          <a:noFill/>
          <a:ln w="0" cap="flat">
            <a:noFill/>
            <a:prstDash val="solid"/>
            <a:miter lim="0"/>
          </a:ln>
        </p:spPr>
        <p:txBody>
          <a:bodyPr vert="horz" wrap="none" lIns="0" tIns="0" rIns="0" bIns="0"/>
          <a:lstStyle/>
          <a:p>
            <a:pPr algn="l" rtl="0" eaLnBrk="0"/>
            <a:r>
              <a:rPr sz="1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选代选择</a:t>
            </a:r>
            <a:endParaRPr sz="1000" dirty="0"/>
          </a:p>
        </p:txBody>
      </p:sp>
      <p:sp>
        <p:nvSpPr>
          <p:cNvPr id="470" name="textbox 470"/>
          <p:cNvSpPr/>
          <p:nvPr/>
        </p:nvSpPr>
        <p:spPr>
          <a:xfrm>
            <a:off x="3962400" y="5191125"/>
            <a:ext cx="581025"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不同激活</a:t>
            </a:r>
            <a:endParaRPr sz="1000" dirty="0"/>
          </a:p>
        </p:txBody>
      </p:sp>
      <p:sp>
        <p:nvSpPr>
          <p:cNvPr id="472" name="textbox 472"/>
          <p:cNvSpPr/>
          <p:nvPr/>
        </p:nvSpPr>
        <p:spPr>
          <a:xfrm>
            <a:off x="1123950" y="5267325"/>
            <a:ext cx="942975" cy="209550"/>
          </a:xfrm>
          <a:prstGeom prst="rect">
            <a:avLst/>
          </a:prstGeom>
          <a:noFill/>
          <a:ln w="0" cap="flat">
            <a:noFill/>
            <a:prstDash val="solid"/>
            <a:miter lim="0"/>
          </a:ln>
        </p:spPr>
        <p:txBody>
          <a:bodyPr vert="horz" wrap="none" lIns="0" tIns="0" rIns="0" bIns="0"/>
          <a:lstStyle/>
          <a:p>
            <a:pPr algn="l" rtl="0" eaLnBrk="0"/>
            <a:r>
              <a:rPr sz="1000" b="1" kern="0" spc="0" dirty="0">
                <a:solidFill>
                  <a:srgbClr val="851321">
                    <a:alpha val="100000"/>
                  </a:srgbClr>
                </a:solidFill>
                <a:latin typeface="微软雅黑" panose="020B0503020204020204" charset="-122"/>
                <a:ea typeface="微软雅黑" panose="020B0503020204020204" charset="-122"/>
                <a:cs typeface="微软雅黑" panose="020B0503020204020204" charset="-122"/>
              </a:rPr>
              <a:t>基于CNN的PD</a:t>
            </a:r>
            <a:endParaRPr sz="1000" dirty="0"/>
          </a:p>
        </p:txBody>
      </p:sp>
      <p:sp>
        <p:nvSpPr>
          <p:cNvPr id="474" name="textbox 474"/>
          <p:cNvSpPr/>
          <p:nvPr/>
        </p:nvSpPr>
        <p:spPr>
          <a:xfrm>
            <a:off x="3981450" y="5353050"/>
            <a:ext cx="55245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3B3838">
                    <a:alpha val="100000"/>
                  </a:srgbClr>
                </a:solidFill>
                <a:latin typeface="微软雅黑" panose="020B0503020204020204" charset="-122"/>
                <a:ea typeface="微软雅黑" panose="020B0503020204020204" charset="-122"/>
                <a:cs typeface="微软雅黑" panose="020B0503020204020204" charset="-122"/>
              </a:rPr>
              <a:t>函数选择</a:t>
            </a:r>
            <a:endParaRPr sz="1000" dirty="0"/>
          </a:p>
        </p:txBody>
      </p:sp>
      <p:sp>
        <p:nvSpPr>
          <p:cNvPr id="476" name="textbox 476"/>
          <p:cNvSpPr/>
          <p:nvPr/>
        </p:nvSpPr>
        <p:spPr>
          <a:xfrm>
            <a:off x="4762500" y="5438775"/>
            <a:ext cx="609600" cy="219075"/>
          </a:xfrm>
          <a:prstGeom prst="rect">
            <a:avLst/>
          </a:prstGeom>
          <a:noFill/>
          <a:ln w="0" cap="flat">
            <a:noFill/>
            <a:prstDash val="solid"/>
            <a:miter lim="0"/>
          </a:ln>
        </p:spPr>
        <p:txBody>
          <a:bodyPr vert="horz" wrap="none" lIns="0" tIns="0" rIns="0" bIns="0"/>
          <a:lstStyle/>
          <a:p>
            <a:pPr algn="l" rtl="0" eaLnBrk="0"/>
            <a:r>
              <a:rPr sz="10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网络参数</a:t>
            </a:r>
            <a:endParaRPr sz="1000" dirty="0"/>
          </a:p>
        </p:txBody>
      </p:sp>
      <p:sp>
        <p:nvSpPr>
          <p:cNvPr id="478" name="textbox 478"/>
          <p:cNvSpPr/>
          <p:nvPr/>
        </p:nvSpPr>
        <p:spPr>
          <a:xfrm>
            <a:off x="1152525" y="5457825"/>
            <a:ext cx="885825" cy="200025"/>
          </a:xfrm>
          <a:prstGeom prst="rect">
            <a:avLst/>
          </a:prstGeom>
          <a:noFill/>
          <a:ln w="0" cap="flat">
            <a:noFill/>
            <a:prstDash val="solid"/>
            <a:miter lim="0"/>
          </a:ln>
        </p:spPr>
        <p:txBody>
          <a:bodyPr vert="horz" wrap="none" lIns="0" tIns="0" rIns="0" bIns="0"/>
          <a:lstStyle/>
          <a:p>
            <a:pPr algn="l" rtl="0" eaLnBrk="0"/>
            <a:r>
              <a:rPr sz="1000" b="1" kern="0" spc="0" dirty="0">
                <a:solidFill>
                  <a:srgbClr val="851321">
                    <a:alpha val="100000"/>
                  </a:srgbClr>
                </a:solidFill>
                <a:latin typeface="微软雅黑" panose="020B0503020204020204" charset="-122"/>
                <a:ea typeface="微软雅黑" panose="020B0503020204020204" charset="-122"/>
                <a:cs typeface="微软雅黑" panose="020B0503020204020204" charset="-122"/>
              </a:rPr>
              <a:t>模式识别系统</a:t>
            </a:r>
            <a:endParaRPr sz="1000" dirty="0"/>
          </a:p>
        </p:txBody>
      </p:sp>
      <p:sp>
        <p:nvSpPr>
          <p:cNvPr id="480" name="textbox 480"/>
          <p:cNvSpPr/>
          <p:nvPr/>
        </p:nvSpPr>
        <p:spPr>
          <a:xfrm>
            <a:off x="4914900" y="5629275"/>
            <a:ext cx="323850" cy="190500"/>
          </a:xfrm>
          <a:prstGeom prst="rect">
            <a:avLst/>
          </a:prstGeom>
          <a:noFill/>
          <a:ln w="0" cap="flat">
            <a:noFill/>
            <a:prstDash val="solid"/>
            <a:miter lim="0"/>
          </a:ln>
        </p:spPr>
        <p:txBody>
          <a:bodyPr vert="horz" wrap="none" lIns="0" tIns="0" rIns="0" bIns="0"/>
          <a:lstStyle/>
          <a:p>
            <a:pPr algn="l" rtl="0" eaLnBrk="0"/>
            <a:r>
              <a:rPr sz="1000" b="1" kern="0" spc="525" dirty="0">
                <a:solidFill>
                  <a:srgbClr val="FFFFFF">
                    <a:alpha val="100000"/>
                  </a:srgbClr>
                </a:solidFill>
                <a:latin typeface="华文细黑" panose="02010600040101010101" charset="-122"/>
                <a:ea typeface="华文细黑" panose="02010600040101010101" charset="-122"/>
                <a:cs typeface="华文细黑" panose="02010600040101010101" charset="-122"/>
              </a:rPr>
              <a:t>寻优</a:t>
            </a:r>
            <a:endParaRPr sz="1000" dirty="0"/>
          </a:p>
        </p:txBody>
      </p:sp>
      <p:sp>
        <p:nvSpPr>
          <p:cNvPr id="482" name="textbox 482"/>
          <p:cNvSpPr/>
          <p:nvPr/>
        </p:nvSpPr>
        <p:spPr>
          <a:xfrm>
            <a:off x="3962400" y="5743575"/>
            <a:ext cx="590550" cy="219075"/>
          </a:xfrm>
          <a:prstGeom prst="rect">
            <a:avLst/>
          </a:prstGeom>
          <a:noFill/>
          <a:ln w="0" cap="flat">
            <a:noFill/>
            <a:prstDash val="solid"/>
            <a:miter lim="0"/>
          </a:ln>
        </p:spPr>
        <p:txBody>
          <a:bodyPr vert="horz" wrap="none" lIns="0" tIns="0" rIns="0" bIns="0"/>
          <a:lstStyle/>
          <a:p>
            <a:pPr algn="l" rtl="0" eaLnBrk="0"/>
            <a:r>
              <a:rPr sz="900" b="1" kern="0" spc="300" dirty="0">
                <a:solidFill>
                  <a:srgbClr val="1D1D1A">
                    <a:alpha val="100000"/>
                  </a:srgbClr>
                </a:solidFill>
                <a:latin typeface="微软雅黑" panose="020B0503020204020204" charset="-122"/>
                <a:ea typeface="微软雅黑" panose="020B0503020204020204" charset="-122"/>
                <a:cs typeface="微软雅黑" panose="020B0503020204020204" charset="-122"/>
              </a:rPr>
              <a:t>不同网络</a:t>
            </a:r>
            <a:endParaRPr sz="900" dirty="0"/>
          </a:p>
        </p:txBody>
      </p:sp>
      <p:sp>
        <p:nvSpPr>
          <p:cNvPr id="484" name="textbox 484"/>
          <p:cNvSpPr/>
          <p:nvPr/>
        </p:nvSpPr>
        <p:spPr>
          <a:xfrm>
            <a:off x="1085850" y="5810250"/>
            <a:ext cx="1019175"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A1A1A">
                    <a:alpha val="100000"/>
                  </a:srgbClr>
                </a:solidFill>
                <a:latin typeface="微软雅黑" panose="020B0503020204020204" charset="-122"/>
                <a:ea typeface="微软雅黑" panose="020B0503020204020204" charset="-122"/>
                <a:cs typeface="微软雅黑" panose="020B0503020204020204" charset="-122"/>
              </a:rPr>
              <a:t>电缆绝缘缺陷识</a:t>
            </a:r>
            <a:endParaRPr sz="1000" dirty="0"/>
          </a:p>
        </p:txBody>
      </p:sp>
      <p:sp>
        <p:nvSpPr>
          <p:cNvPr id="486" name="textbox 486"/>
          <p:cNvSpPr/>
          <p:nvPr/>
        </p:nvSpPr>
        <p:spPr>
          <a:xfrm>
            <a:off x="2476500" y="5810250"/>
            <a:ext cx="1009650"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A1A1A">
                    <a:alpha val="100000"/>
                  </a:srgbClr>
                </a:solidFill>
                <a:latin typeface="微软雅黑" panose="020B0503020204020204" charset="-122"/>
                <a:ea typeface="微软雅黑" panose="020B0503020204020204" charset="-122"/>
                <a:cs typeface="微软雅黑" panose="020B0503020204020204" charset="-122"/>
              </a:rPr>
              <a:t>CNN设计与网络</a:t>
            </a:r>
            <a:endParaRPr sz="1000" dirty="0"/>
          </a:p>
        </p:txBody>
      </p:sp>
      <p:sp>
        <p:nvSpPr>
          <p:cNvPr id="488" name="textbox 488"/>
          <p:cNvSpPr/>
          <p:nvPr/>
        </p:nvSpPr>
        <p:spPr>
          <a:xfrm>
            <a:off x="3971925" y="5924550"/>
            <a:ext cx="581025" cy="200025"/>
          </a:xfrm>
          <a:prstGeom prst="rect">
            <a:avLst/>
          </a:prstGeom>
          <a:noFill/>
          <a:ln w="0" cap="flat">
            <a:noFill/>
            <a:prstDash val="solid"/>
            <a:miter lim="0"/>
          </a:ln>
        </p:spPr>
        <p:txBody>
          <a:bodyPr vert="horz" wrap="none" lIns="0" tIns="0" rIns="0" bIns="0"/>
          <a:lstStyle/>
          <a:p>
            <a:pPr algn="l" rtl="0" eaLnBrk="0"/>
            <a:r>
              <a:rPr sz="1000" b="1" kern="0" spc="0" dirty="0">
                <a:solidFill>
                  <a:srgbClr val="1D1D1A">
                    <a:alpha val="100000"/>
                  </a:srgbClr>
                </a:solidFill>
                <a:latin typeface="微软雅黑" panose="020B0503020204020204" charset="-122"/>
                <a:ea typeface="微软雅黑" panose="020B0503020204020204" charset="-122"/>
                <a:cs typeface="微软雅黑" panose="020B0503020204020204" charset="-122"/>
              </a:rPr>
              <a:t>层数选择</a:t>
            </a:r>
            <a:endParaRPr sz="1000" dirty="0"/>
          </a:p>
        </p:txBody>
      </p:sp>
      <p:sp>
        <p:nvSpPr>
          <p:cNvPr id="490" name="textbox 490"/>
          <p:cNvSpPr/>
          <p:nvPr/>
        </p:nvSpPr>
        <p:spPr>
          <a:xfrm>
            <a:off x="1352550" y="5981700"/>
            <a:ext cx="485775" cy="200025"/>
          </a:xfrm>
          <a:prstGeom prst="rect">
            <a:avLst/>
          </a:prstGeom>
          <a:noFill/>
          <a:ln w="0" cap="flat">
            <a:noFill/>
            <a:prstDash val="solid"/>
            <a:miter lim="0"/>
          </a:ln>
        </p:spPr>
        <p:txBody>
          <a:bodyPr vert="horz" wrap="none" lIns="0" tIns="0" rIns="0" bIns="0"/>
          <a:lstStyle/>
          <a:p>
            <a:pPr algn="l" rtl="0" eaLnBrk="0"/>
            <a:r>
              <a:rPr sz="1000" b="1" kern="0" spc="375" dirty="0">
                <a:solidFill>
                  <a:srgbClr val="1A1A1A">
                    <a:alpha val="100000"/>
                  </a:srgbClr>
                </a:solidFill>
                <a:latin typeface="微软雅黑" panose="020B0503020204020204" charset="-122"/>
                <a:ea typeface="微软雅黑" panose="020B0503020204020204" charset="-122"/>
                <a:cs typeface="微软雅黑" panose="020B0503020204020204" charset="-122"/>
              </a:rPr>
              <a:t>别结果</a:t>
            </a:r>
            <a:endParaRPr sz="1000" dirty="0"/>
          </a:p>
        </p:txBody>
      </p:sp>
      <p:sp>
        <p:nvSpPr>
          <p:cNvPr id="492" name="textbox 492"/>
          <p:cNvSpPr/>
          <p:nvPr/>
        </p:nvSpPr>
        <p:spPr>
          <a:xfrm>
            <a:off x="2600325" y="5981700"/>
            <a:ext cx="762000" cy="219075"/>
          </a:xfrm>
          <a:prstGeom prst="rect">
            <a:avLst/>
          </a:prstGeom>
          <a:noFill/>
          <a:ln w="0" cap="flat">
            <a:noFill/>
            <a:prstDash val="solid"/>
            <a:miter lim="0"/>
          </a:ln>
        </p:spPr>
        <p:txBody>
          <a:bodyPr vert="horz" wrap="none" lIns="0" tIns="0" rIns="0" bIns="0"/>
          <a:lstStyle/>
          <a:p>
            <a:pPr algn="l" rtl="0" eaLnBrk="0"/>
            <a:r>
              <a:rPr sz="1000" b="1" kern="0" spc="0" dirty="0">
                <a:solidFill>
                  <a:srgbClr val="262626">
                    <a:alpha val="100000"/>
                  </a:srgbClr>
                </a:solidFill>
                <a:latin typeface="微软雅黑" panose="020B0503020204020204" charset="-122"/>
                <a:ea typeface="微软雅黑" panose="020B0503020204020204" charset="-122"/>
                <a:cs typeface="微软雅黑" panose="020B0503020204020204" charset="-122"/>
              </a:rPr>
              <a:t>参数初始化</a:t>
            </a:r>
            <a:endParaRPr sz="1000" dirty="0"/>
          </a:p>
        </p:txBody>
      </p:sp>
      <p:pic>
        <p:nvPicPr>
          <p:cNvPr id="496" name="picture 496"/>
          <p:cNvPicPr>
            <a:picLocks noChangeAspect="1"/>
          </p:cNvPicPr>
          <p:nvPr/>
        </p:nvPicPr>
        <p:blipFill>
          <a:blip r:embed="rId5"/>
          <a:stretch>
            <a:fillRect/>
          </a:stretch>
        </p:blipFill>
        <p:spPr>
          <a:xfrm>
            <a:off x="6067425" y="2657475"/>
            <a:ext cx="5486400" cy="2638425"/>
          </a:xfrm>
          <a:prstGeom prst="rect">
            <a:avLst/>
          </a:prstGeom>
        </p:spPr>
      </p:pic>
      <p:graphicFrame>
        <p:nvGraphicFramePr>
          <p:cNvPr id="498" name="table 498"/>
          <p:cNvGraphicFramePr>
            <a:graphicFrameLocks noGrp="1"/>
          </p:cNvGraphicFramePr>
          <p:nvPr/>
        </p:nvGraphicFramePr>
        <p:xfrm>
          <a:off x="6000750" y="5429250"/>
          <a:ext cx="5705475" cy="1019175"/>
        </p:xfrm>
        <a:graphic>
          <a:graphicData uri="http://schemas.openxmlformats.org/drawingml/2006/table">
            <a:tbl>
              <a:tblPr/>
              <a:tblGrid>
                <a:gridCol w="904875"/>
                <a:gridCol w="2333625"/>
                <a:gridCol w="2466975"/>
              </a:tblGrid>
              <a:tr h="381000">
                <a:tc>
                  <a:txBody>
                    <a:bodyPr/>
                    <a:lstStyle/>
                    <a:p>
                      <a:pPr algn="ctr" rtl="0" eaLnBrk="0"/>
                      <a:r>
                        <a:rPr sz="1100" b="1" kern="0" spc="0" dirty="0">
                          <a:solidFill>
                            <a:srgbClr val="ADA9A9">
                              <a:alpha val="100000"/>
                            </a:srgbClr>
                          </a:solidFill>
                          <a:latin typeface="微软雅黑" panose="020B0503020204020204" charset="-122"/>
                          <a:ea typeface="微软雅黑" panose="020B0503020204020204" charset="-122"/>
                          <a:cs typeface="微软雅黑" panose="020B0503020204020204" charset="-122"/>
                        </a:rPr>
                        <a:t>创新维度</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E2EFF9"/>
                    </a:solidFill>
                  </a:tcPr>
                </a:tc>
                <a:tc>
                  <a:txBody>
                    <a:bodyPr/>
                    <a:lstStyle/>
                    <a:p>
                      <a:pPr algn="ctr" rtl="0" eaLnBrk="0"/>
                      <a:r>
                        <a:rPr sz="1100" b="1" kern="0" spc="0" dirty="0">
                          <a:solidFill>
                            <a:srgbClr val="ADA9A9">
                              <a:alpha val="100000"/>
                            </a:srgbClr>
                          </a:solidFill>
                          <a:latin typeface="微软雅黑" panose="020B0503020204020204" charset="-122"/>
                          <a:ea typeface="微软雅黑" panose="020B0503020204020204" charset="-122"/>
                          <a:cs typeface="微软雅黑" panose="020B0503020204020204" charset="-122"/>
                        </a:rPr>
                        <a:t>本研究提出的创新方法</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E3EFF9"/>
                    </a:solidFill>
                  </a:tcPr>
                </a:tc>
                <a:tc>
                  <a:txBody>
                    <a:bodyPr/>
                    <a:lstStyle/>
                    <a:p>
                      <a:pPr algn="ctr" rtl="0" eaLnBrk="0"/>
                      <a:r>
                        <a:rPr sz="1100" b="1" kern="0" spc="0" dirty="0">
                          <a:solidFill>
                            <a:srgbClr val="ADA9A9">
                              <a:alpha val="100000"/>
                            </a:srgbClr>
                          </a:solidFill>
                          <a:latin typeface="微软雅黑" panose="020B0503020204020204" charset="-122"/>
                          <a:ea typeface="微软雅黑" panose="020B0503020204020204" charset="-122"/>
                          <a:cs typeface="微软雅黑" panose="020B0503020204020204" charset="-122"/>
                        </a:rPr>
                        <a:t>预期实现的创新效果</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E4EFF9"/>
                    </a:solidFill>
                  </a:tcPr>
                </a:tc>
              </a:tr>
              <a:tr h="638175">
                <a:tc>
                  <a:txBody>
                    <a:bodyPr/>
                    <a:lstStyle/>
                    <a:p>
                      <a:pPr algn="ctr"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模型构建</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FEFEFE"/>
                    </a:solidFill>
                  </a:tcPr>
                </a:tc>
                <a:tc>
                  <a:txBody>
                    <a:bodyPr/>
                    <a:lstStyle/>
                    <a:p>
                      <a:pPr algn="ctr"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将物理方程作为约束嵌入深度</a:t>
                      </a:r>
                      <a:endParaRPr sz="1100" dirty="0"/>
                    </a:p>
                    <a:p>
                      <a:pPr algn="ctr"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学习模型</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FDFEFD"/>
                    </a:solidFill>
                  </a:tcPr>
                </a:tc>
                <a:tc>
                  <a:txBody>
                    <a:bodyPr/>
                    <a:lstStyle/>
                    <a:p>
                      <a:pPr algn="ctr"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模型可解释性增强，在数据稀缺</a:t>
                      </a:r>
                      <a:endParaRPr sz="1100" dirty="0"/>
                    </a:p>
                    <a:p>
                      <a:pPr algn="ctr"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区预测精度和泛化能力显著提升</a:t>
                      </a:r>
                      <a:endParaRPr sz="1100" dirty="0"/>
                    </a:p>
                  </a:txBody>
                  <a:tcPr marL="0" marR="0" marT="0" marB="0" vert="horz" anchor="ctr">
                    <a:lnL w="19050" cap="flat" cmpd="sng" algn="ctr">
                      <a:solidFill>
                        <a:srgbClr val="DBDDDB"/>
                      </a:solidFill>
                      <a:prstDash val="solid"/>
                      <a:round/>
                      <a:headEnd type="none" w="med" len="med"/>
                      <a:tailEnd type="none" w="med" len="med"/>
                    </a:lnL>
                    <a:lnR w="19050" cap="flat" cmpd="sng" algn="ctr">
                      <a:solidFill>
                        <a:srgbClr val="DBDDDB"/>
                      </a:solidFill>
                      <a:prstDash val="solid"/>
                      <a:round/>
                      <a:headEnd type="none" w="med" len="med"/>
                      <a:tailEnd type="none" w="med" len="med"/>
                    </a:lnR>
                    <a:lnT w="19050" cap="flat" cmpd="sng" algn="ctr">
                      <a:solidFill>
                        <a:srgbClr val="DBDDDB"/>
                      </a:solidFill>
                      <a:prstDash val="solid"/>
                      <a:round/>
                      <a:headEnd type="none" w="med" len="med"/>
                      <a:tailEnd type="none" w="med" len="med"/>
                    </a:lnT>
                    <a:lnB w="19050" cap="flat" cmpd="sng" algn="ctr">
                      <a:solidFill>
                        <a:srgbClr val="DBDDDB"/>
                      </a:solidFill>
                      <a:prstDash val="solid"/>
                      <a:round/>
                      <a:headEnd type="none" w="med" len="med"/>
                      <a:tailEnd type="none" w="med" len="med"/>
                    </a:lnB>
                    <a:solidFill>
                      <a:srgbClr val="FAFC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2" name="picture 502"/>
          <p:cNvPicPr>
            <a:picLocks noChangeAspect="1"/>
          </p:cNvPicPr>
          <p:nvPr/>
        </p:nvPicPr>
        <p:blipFill>
          <a:blip r:embed="rId1"/>
          <a:stretch>
            <a:fillRect/>
          </a:stretch>
        </p:blipFill>
        <p:spPr>
          <a:xfrm>
            <a:off x="0" y="0"/>
            <a:ext cx="12192000" cy="6858000"/>
          </a:xfrm>
          <a:prstGeom prst="rect">
            <a:avLst/>
          </a:prstGeom>
        </p:spPr>
      </p:pic>
      <p:sp>
        <p:nvSpPr>
          <p:cNvPr id="504" name="textbox 504"/>
          <p:cNvSpPr/>
          <p:nvPr/>
        </p:nvSpPr>
        <p:spPr>
          <a:xfrm>
            <a:off x="342900" y="123825"/>
            <a:ext cx="2533650" cy="447675"/>
          </a:xfrm>
          <a:prstGeom prst="rect">
            <a:avLst/>
          </a:prstGeom>
          <a:noFill/>
          <a:ln w="0" cap="flat">
            <a:noFill/>
            <a:prstDash val="solid"/>
            <a:miter lim="0"/>
          </a:ln>
        </p:spPr>
        <p:txBody>
          <a:bodyPr vert="horz" wrap="none" lIns="0" tIns="0" rIns="0" bIns="0"/>
          <a:lstStyle/>
          <a:p>
            <a:pPr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2.5 技术路线</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508" name="picture 508"/>
          <p:cNvPicPr>
            <a:picLocks noChangeAspect="1"/>
          </p:cNvPicPr>
          <p:nvPr/>
        </p:nvPicPr>
        <p:blipFill>
          <a:blip r:embed="rId2"/>
          <a:stretch>
            <a:fillRect/>
          </a:stretch>
        </p:blipFill>
        <p:spPr>
          <a:xfrm>
            <a:off x="9896475" y="152400"/>
            <a:ext cx="1847850" cy="419100"/>
          </a:xfrm>
          <a:prstGeom prst="rect">
            <a:avLst/>
          </a:prstGeom>
        </p:spPr>
      </p:pic>
      <p:sp>
        <p:nvSpPr>
          <p:cNvPr id="510" name="textbox 510"/>
          <p:cNvSpPr/>
          <p:nvPr/>
        </p:nvSpPr>
        <p:spPr>
          <a:xfrm>
            <a:off x="419100" y="933450"/>
            <a:ext cx="1838325" cy="304800"/>
          </a:xfrm>
          <a:prstGeom prst="rect">
            <a:avLst/>
          </a:prstGeom>
          <a:noFill/>
          <a:ln w="0" cap="flat">
            <a:noFill/>
            <a:prstDash val="solid"/>
            <a:miter lim="0"/>
          </a:ln>
        </p:spPr>
        <p:txBody>
          <a:bodyPr vert="horz" wrap="none" lIns="0" tIns="0" rIns="0" bIns="0"/>
          <a:lstStyle/>
          <a:p>
            <a:pPr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核心内涵与挑战</a:t>
            </a:r>
            <a:endParaRPr sz="1800" dirty="0"/>
          </a:p>
        </p:txBody>
      </p:sp>
      <p:sp>
        <p:nvSpPr>
          <p:cNvPr id="512" name="textbox 512"/>
          <p:cNvSpPr/>
          <p:nvPr/>
        </p:nvSpPr>
        <p:spPr>
          <a:xfrm>
            <a:off x="704850" y="1343025"/>
            <a:ext cx="9963150" cy="304800"/>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进行深度融合分析，实现设备状态的</a:t>
            </a:r>
            <a:r>
              <a:rPr sz="1900" b="1" kern="0" spc="0" dirty="0">
                <a:solidFill>
                  <a:srgbClr val="B01302">
                    <a:alpha val="100000"/>
                  </a:srgbClr>
                </a:solidFill>
                <a:latin typeface="微软雅黑" panose="020B0503020204020204" charset="-122"/>
                <a:ea typeface="微软雅黑" panose="020B0503020204020204" charset="-122"/>
                <a:cs typeface="微软雅黑" panose="020B0503020204020204" charset="-122"/>
              </a:rPr>
              <a:t>精准感知、健康评估、故障早期预警和剩余寿命预测</a:t>
            </a:r>
            <a:endParaRPr sz="1900" dirty="0"/>
          </a:p>
        </p:txBody>
      </p:sp>
      <p:sp>
        <p:nvSpPr>
          <p:cNvPr id="514" name="textbox 514"/>
          <p:cNvSpPr/>
          <p:nvPr/>
        </p:nvSpPr>
        <p:spPr>
          <a:xfrm>
            <a:off x="1333500" y="2114550"/>
            <a:ext cx="163830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FFFF00">
                    <a:alpha val="100000"/>
                  </a:srgbClr>
                </a:solidFill>
                <a:latin typeface="微软雅黑" panose="020B0503020204020204" charset="-122"/>
                <a:ea typeface="微软雅黑" panose="020B0503020204020204" charset="-122"/>
                <a:cs typeface="微软雅黑" panose="020B0503020204020204" charset="-122"/>
              </a:rPr>
              <a:t>数据感知与融合</a:t>
            </a:r>
            <a:endParaRPr sz="1800" b="1" kern="0" dirty="0">
              <a:solidFill>
                <a:srgbClr val="FFFF00">
                  <a:alpha val="100000"/>
                </a:srgbClr>
              </a:solidFill>
              <a:latin typeface="微软雅黑" panose="020B0503020204020204" charset="-122"/>
              <a:ea typeface="微软雅黑" panose="020B0503020204020204" charset="-122"/>
              <a:cs typeface="微软雅黑" panose="020B0503020204020204" charset="-122"/>
            </a:endParaRPr>
          </a:p>
        </p:txBody>
      </p:sp>
      <p:sp>
        <p:nvSpPr>
          <p:cNvPr id="516" name="textbox 516"/>
          <p:cNvSpPr/>
          <p:nvPr/>
        </p:nvSpPr>
        <p:spPr>
          <a:xfrm>
            <a:off x="5276850" y="2114550"/>
            <a:ext cx="163830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FFFF00">
                    <a:alpha val="100000"/>
                  </a:srgbClr>
                </a:solidFill>
                <a:latin typeface="微软雅黑" panose="020B0503020204020204" charset="-122"/>
                <a:ea typeface="微软雅黑" panose="020B0503020204020204" charset="-122"/>
                <a:cs typeface="微软雅黑" panose="020B0503020204020204" charset="-122"/>
              </a:rPr>
              <a:t>核心AI算法模型</a:t>
            </a:r>
            <a:endParaRPr sz="1800" dirty="0"/>
          </a:p>
        </p:txBody>
      </p:sp>
      <p:sp>
        <p:nvSpPr>
          <p:cNvPr id="518" name="textbox 518"/>
          <p:cNvSpPr/>
          <p:nvPr/>
        </p:nvSpPr>
        <p:spPr>
          <a:xfrm>
            <a:off x="9439275" y="2114550"/>
            <a:ext cx="1181100" cy="276225"/>
          </a:xfrm>
          <a:prstGeom prst="rect">
            <a:avLst/>
          </a:prstGeom>
          <a:noFill/>
          <a:ln w="0" cap="flat">
            <a:noFill/>
            <a:prstDash val="solid"/>
            <a:miter lim="0"/>
          </a:ln>
        </p:spPr>
        <p:txBody>
          <a:bodyPr vert="horz" wrap="none" lIns="0" tIns="0" rIns="0" bIns="0"/>
          <a:lstStyle/>
          <a:p>
            <a:pPr algn="l" rtl="0" eaLnBrk="0"/>
            <a:r>
              <a:rPr sz="1800" b="1" kern="0" spc="0" dirty="0">
                <a:solidFill>
                  <a:srgbClr val="FFFF00">
                    <a:alpha val="100000"/>
                  </a:srgbClr>
                </a:solidFill>
                <a:latin typeface="微软雅黑" panose="020B0503020204020204" charset="-122"/>
                <a:ea typeface="微软雅黑" panose="020B0503020204020204" charset="-122"/>
                <a:cs typeface="微软雅黑" panose="020B0503020204020204" charset="-122"/>
              </a:rPr>
              <a:t>平台与应用</a:t>
            </a:r>
            <a:endParaRPr sz="1800" dirty="0"/>
          </a:p>
        </p:txBody>
      </p:sp>
      <p:sp>
        <p:nvSpPr>
          <p:cNvPr id="520" name="textbox 520"/>
          <p:cNvSpPr/>
          <p:nvPr/>
        </p:nvSpPr>
        <p:spPr>
          <a:xfrm>
            <a:off x="771525" y="2495550"/>
            <a:ext cx="2781300" cy="571500"/>
          </a:xfrm>
          <a:prstGeom prst="rect">
            <a:avLst/>
          </a:prstGeom>
          <a:noFill/>
          <a:ln w="0" cap="flat">
            <a:noFill/>
            <a:prstDash val="solid"/>
            <a:miter lim="0"/>
          </a:ln>
        </p:spPr>
        <p:txBody>
          <a:bodyPr vert="horz" wrap="none" lIns="0" tIns="0" rIns="0" bIns="0"/>
          <a:lstStyle/>
          <a:p>
            <a:pPr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多源异构数据采集DGA、振</a:t>
            </a:r>
            <a:endParaRPr sz="1800" dirty="0"/>
          </a:p>
          <a:p>
            <a:pPr marL="457200" algn="l" rtl="0" eaLnBrk="0">
              <a:spcBef>
                <a:spcPts val="525"/>
              </a:spcBef>
            </a:pP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动、超声、红外等</a:t>
            </a:r>
            <a:endParaRPr sz="1800" dirty="0"/>
          </a:p>
        </p:txBody>
      </p:sp>
      <p:sp>
        <p:nvSpPr>
          <p:cNvPr id="522" name="textbox 522"/>
          <p:cNvSpPr/>
          <p:nvPr/>
        </p:nvSpPr>
        <p:spPr>
          <a:xfrm>
            <a:off x="4695825" y="2495550"/>
            <a:ext cx="2771775" cy="571500"/>
          </a:xfrm>
          <a:prstGeom prst="rect">
            <a:avLst/>
          </a:prstGeom>
          <a:noFill/>
          <a:ln w="0" cap="flat">
            <a:noFill/>
            <a:prstDash val="solid"/>
            <a:miter lim="0"/>
          </a:ln>
        </p:spPr>
        <p:txBody>
          <a:bodyPr vert="horz" wrap="none" lIns="0" tIns="0" rIns="0" bIns="0"/>
          <a:lstStyle/>
          <a:p>
            <a:pPr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采用图神经网络，</a:t>
            </a:r>
            <a:r>
              <a:rPr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将设备结</a:t>
            </a:r>
            <a:endParaRPr dirty="0"/>
          </a:p>
          <a:p>
            <a:pPr algn="l" rtl="0" eaLnBrk="0">
              <a:spcBef>
                <a:spcPts val="675"/>
              </a:spcBef>
            </a:pPr>
            <a:r>
              <a:rPr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构作为先验知识构建图结构</a:t>
            </a:r>
            <a:endParaRPr dirty="0"/>
          </a:p>
        </p:txBody>
      </p:sp>
      <p:sp>
        <p:nvSpPr>
          <p:cNvPr id="524" name="textbox 524"/>
          <p:cNvSpPr/>
          <p:nvPr/>
        </p:nvSpPr>
        <p:spPr>
          <a:xfrm>
            <a:off x="9096375" y="2495550"/>
            <a:ext cx="1876425" cy="600075"/>
          </a:xfrm>
          <a:prstGeom prst="rect">
            <a:avLst/>
          </a:prstGeom>
          <a:noFill/>
          <a:ln w="0" cap="flat">
            <a:noFill/>
            <a:prstDash val="solid"/>
            <a:miter lim="0"/>
          </a:ln>
        </p:spPr>
        <p:txBody>
          <a:bodyPr vert="horz" wrap="none" lIns="0" tIns="0" rIns="0" bIns="0"/>
          <a:lstStyle/>
          <a:p>
            <a:pPr marL="314325" algn="l" rtl="0" eaLnBrk="0"/>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数字孪生体</a:t>
            </a:r>
            <a:endParaRPr sz="1800" b="1" kern="0" dirty="0">
              <a:solidFill>
                <a:srgbClr val="C00000">
                  <a:alpha val="100000"/>
                </a:srgbClr>
              </a:solidFill>
              <a:latin typeface="微软雅黑" panose="020B0503020204020204" charset="-122"/>
              <a:ea typeface="微软雅黑" panose="020B0503020204020204" charset="-122"/>
              <a:cs typeface="微软雅黑" panose="020B0503020204020204" charset="-122"/>
            </a:endParaRPr>
          </a:p>
          <a:p>
            <a:pPr algn="l" rtl="0" eaLnBrk="0">
              <a:spcBef>
                <a:spcPts val="525"/>
              </a:spcBef>
            </a:pP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映射设备实时状态</a:t>
            </a:r>
            <a:endParaRPr sz="1800" dirty="0"/>
          </a:p>
        </p:txBody>
      </p:sp>
      <p:pic>
        <p:nvPicPr>
          <p:cNvPr id="528" name="picture 528"/>
          <p:cNvPicPr>
            <a:picLocks noChangeAspect="1"/>
          </p:cNvPicPr>
          <p:nvPr/>
        </p:nvPicPr>
        <p:blipFill>
          <a:blip r:embed="rId3"/>
          <a:stretch>
            <a:fillRect/>
          </a:stretch>
        </p:blipFill>
        <p:spPr>
          <a:xfrm>
            <a:off x="1857375" y="3295650"/>
            <a:ext cx="628650" cy="295275"/>
          </a:xfrm>
          <a:prstGeom prst="rect">
            <a:avLst/>
          </a:prstGeom>
        </p:spPr>
      </p:pic>
      <p:pic>
        <p:nvPicPr>
          <p:cNvPr id="532" name="picture 532"/>
          <p:cNvPicPr>
            <a:picLocks noChangeAspect="1"/>
          </p:cNvPicPr>
          <p:nvPr/>
        </p:nvPicPr>
        <p:blipFill>
          <a:blip r:embed="rId4"/>
          <a:stretch>
            <a:fillRect/>
          </a:stretch>
        </p:blipFill>
        <p:spPr>
          <a:xfrm>
            <a:off x="5781675" y="3295650"/>
            <a:ext cx="628650" cy="295275"/>
          </a:xfrm>
          <a:prstGeom prst="rect">
            <a:avLst/>
          </a:prstGeom>
        </p:spPr>
      </p:pic>
      <p:pic>
        <p:nvPicPr>
          <p:cNvPr id="536" name="picture 536"/>
          <p:cNvPicPr>
            <a:picLocks noChangeAspect="1"/>
          </p:cNvPicPr>
          <p:nvPr/>
        </p:nvPicPr>
        <p:blipFill>
          <a:blip r:embed="rId5"/>
          <a:stretch>
            <a:fillRect/>
          </a:stretch>
        </p:blipFill>
        <p:spPr>
          <a:xfrm>
            <a:off x="9725025" y="3295650"/>
            <a:ext cx="542925" cy="295275"/>
          </a:xfrm>
          <a:prstGeom prst="rect">
            <a:avLst/>
          </a:prstGeom>
        </p:spPr>
      </p:pic>
      <p:sp>
        <p:nvSpPr>
          <p:cNvPr id="538" name="textbox 538"/>
          <p:cNvSpPr/>
          <p:nvPr/>
        </p:nvSpPr>
        <p:spPr>
          <a:xfrm>
            <a:off x="619125" y="3657600"/>
            <a:ext cx="3076575" cy="533400"/>
          </a:xfrm>
          <a:prstGeom prst="rect">
            <a:avLst/>
          </a:prstGeom>
          <a:noFill/>
          <a:ln w="0" cap="flat">
            <a:noFill/>
            <a:prstDash val="solid"/>
            <a:miter lim="0"/>
          </a:ln>
        </p:spPr>
        <p:txBody>
          <a:bodyPr vert="horz" wrap="none" lIns="0" tIns="0" rIns="0" bIns="0"/>
          <a:lstStyle/>
          <a:p>
            <a:pPr algn="l" rtl="0" eaLnBrk="0"/>
            <a:r>
              <a:rPr sz="16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先进AI方法：</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联邦学习、自编码器</a:t>
            </a:r>
            <a:endParaRPr sz="1600" dirty="0"/>
          </a:p>
          <a:p>
            <a:pPr marL="904875" algn="l" rtl="0" eaLnBrk="0">
              <a:spcBef>
                <a:spcPts val="525"/>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小波神经网络</a:t>
            </a:r>
            <a:endParaRPr sz="1600" dirty="0"/>
          </a:p>
        </p:txBody>
      </p:sp>
      <p:sp>
        <p:nvSpPr>
          <p:cNvPr id="540" name="textbox 540"/>
          <p:cNvSpPr/>
          <p:nvPr/>
        </p:nvSpPr>
        <p:spPr>
          <a:xfrm>
            <a:off x="4572000" y="3657600"/>
            <a:ext cx="3028950" cy="533400"/>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应用：变压器DGA故障诊断、GIS</a:t>
            </a:r>
            <a:endParaRPr sz="1500" dirty="0"/>
          </a:p>
          <a:p>
            <a:pPr marL="885825" algn="l" rtl="0" eaLnBrk="0">
              <a:spcBef>
                <a:spcPts val="67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局部放电定位</a:t>
            </a:r>
            <a:endParaRPr sz="1500" dirty="0"/>
          </a:p>
        </p:txBody>
      </p:sp>
      <p:sp>
        <p:nvSpPr>
          <p:cNvPr id="542" name="textbox 542"/>
          <p:cNvSpPr/>
          <p:nvPr/>
        </p:nvSpPr>
        <p:spPr>
          <a:xfrm>
            <a:off x="8486775" y="3657600"/>
            <a:ext cx="3076575" cy="552450"/>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使用大量带标签的历史故障数据验</a:t>
            </a:r>
            <a:endParaRPr sz="1500" dirty="0"/>
          </a:p>
          <a:p>
            <a:pPr marL="895350" algn="l" rtl="0" eaLnBrk="0">
              <a:spcBef>
                <a:spcPts val="67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证模型准确率</a:t>
            </a:r>
            <a:endParaRPr sz="1500" dirty="0"/>
          </a:p>
        </p:txBody>
      </p:sp>
      <p:pic>
        <p:nvPicPr>
          <p:cNvPr id="546" name="picture 546"/>
          <p:cNvPicPr>
            <a:picLocks noChangeAspect="1"/>
          </p:cNvPicPr>
          <p:nvPr/>
        </p:nvPicPr>
        <p:blipFill>
          <a:blip r:embed="rId6"/>
          <a:stretch>
            <a:fillRect/>
          </a:stretch>
        </p:blipFill>
        <p:spPr>
          <a:xfrm>
            <a:off x="466725" y="4391025"/>
            <a:ext cx="3381375" cy="1562100"/>
          </a:xfrm>
          <a:prstGeom prst="rect">
            <a:avLst/>
          </a:prstGeom>
        </p:spPr>
      </p:pic>
      <p:sp>
        <p:nvSpPr>
          <p:cNvPr id="548" name="textbox 548"/>
          <p:cNvSpPr/>
          <p:nvPr/>
        </p:nvSpPr>
        <p:spPr>
          <a:xfrm>
            <a:off x="495300" y="4733925"/>
            <a:ext cx="209550" cy="104775"/>
          </a:xfrm>
          <a:prstGeom prst="rect">
            <a:avLst/>
          </a:prstGeom>
          <a:noFill/>
          <a:ln w="0" cap="flat">
            <a:noFill/>
            <a:prstDash val="solid"/>
            <a:miter lim="0"/>
          </a:ln>
        </p:spPr>
        <p:txBody>
          <a:bodyPr vert="horz" wrap="none" lIns="0" tIns="0" rIns="0" bIns="0"/>
          <a:lstStyle/>
          <a:p>
            <a:pPr marL="85725" indent="-66675" algn="l" rtl="0" eaLnBrk="0">
              <a:buAutoNum type="arabicPeriod" startAt="3"/>
            </a:pPr>
            <a:r>
              <a:rPr sz="600" b="1" kern="0" spc="0" dirty="0">
                <a:solidFill>
                  <a:srgbClr val="000000">
                    <a:alpha val="100000"/>
                  </a:srgbClr>
                </a:solidFill>
                <a:latin typeface="Times New Roman" panose="02020603050405020304"/>
                <a:ea typeface="Times New Roman" panose="02020603050405020304"/>
                <a:cs typeface="Times New Roman" panose="02020603050405020304"/>
              </a:rPr>
              <a:t>ayotti</a:t>
            </a:r>
            <a:endParaRPr sz="600" dirty="0"/>
          </a:p>
        </p:txBody>
      </p:sp>
      <p:sp>
        <p:nvSpPr>
          <p:cNvPr id="550" name="textbox 550"/>
          <p:cNvSpPr/>
          <p:nvPr/>
        </p:nvSpPr>
        <p:spPr>
          <a:xfrm>
            <a:off x="1847850" y="5038725"/>
            <a:ext cx="419100" cy="114300"/>
          </a:xfrm>
          <a:prstGeom prst="rect">
            <a:avLst/>
          </a:prstGeom>
          <a:noFill/>
          <a:ln w="0" cap="flat">
            <a:noFill/>
            <a:prstDash val="solid"/>
            <a:miter lim="0"/>
          </a:ln>
        </p:spPr>
        <p:txBody>
          <a:bodyPr vert="horz" wrap="none" lIns="0" tIns="0" rIns="0" bIns="0"/>
          <a:lstStyle/>
          <a:p>
            <a:pPr algn="l" rtl="0" eaLnBrk="0"/>
            <a:r>
              <a:rPr sz="500" b="1" kern="0" spc="150" dirty="0">
                <a:solidFill>
                  <a:srgbClr val="588E32">
                    <a:alpha val="100000"/>
                  </a:srgbClr>
                </a:solidFill>
                <a:latin typeface="Verdana" panose="020B0604030504040204"/>
                <a:ea typeface="Verdana" panose="020B0604030504040204"/>
                <a:cs typeface="Verdana" panose="020B0604030504040204"/>
              </a:rPr>
              <a:t>GANLow&amp;</a:t>
            </a:r>
            <a:endParaRPr sz="500" dirty="0"/>
          </a:p>
        </p:txBody>
      </p:sp>
      <p:sp>
        <p:nvSpPr>
          <p:cNvPr id="552" name="textbox 552"/>
          <p:cNvSpPr/>
          <p:nvPr/>
        </p:nvSpPr>
        <p:spPr>
          <a:xfrm>
            <a:off x="476250" y="5419725"/>
            <a:ext cx="247650" cy="114300"/>
          </a:xfrm>
          <a:prstGeom prst="rect">
            <a:avLst/>
          </a:prstGeom>
          <a:noFill/>
          <a:ln w="0" cap="flat">
            <a:noFill/>
            <a:prstDash val="solid"/>
            <a:miter lim="0"/>
          </a:ln>
        </p:spPr>
        <p:txBody>
          <a:bodyPr vert="horz" wrap="none" lIns="0" tIns="0" rIns="0" bIns="0"/>
          <a:lstStyle/>
          <a:p>
            <a:pPr algn="l" rtl="0" eaLnBrk="0"/>
            <a:r>
              <a:rPr sz="600" b="1" kern="0" spc="0" dirty="0">
                <a:solidFill>
                  <a:srgbClr val="000000">
                    <a:alpha val="100000"/>
                  </a:srgbClr>
                </a:solidFill>
                <a:latin typeface="Times New Roman" panose="02020603050405020304"/>
                <a:ea typeface="Times New Roman" panose="02020603050405020304"/>
                <a:cs typeface="Times New Roman" panose="02020603050405020304"/>
              </a:rPr>
              <a:t>Level</a:t>
            </a:r>
            <a:endParaRPr sz="600" dirty="0"/>
          </a:p>
        </p:txBody>
      </p:sp>
      <p:sp>
        <p:nvSpPr>
          <p:cNvPr id="554" name="textbox 554"/>
          <p:cNvSpPr/>
          <p:nvPr/>
        </p:nvSpPr>
        <p:spPr>
          <a:xfrm>
            <a:off x="1762125" y="5772150"/>
            <a:ext cx="419100" cy="161925"/>
          </a:xfrm>
          <a:prstGeom prst="rect">
            <a:avLst/>
          </a:prstGeom>
          <a:noFill/>
          <a:ln w="0" cap="flat">
            <a:noFill/>
            <a:prstDash val="solid"/>
            <a:miter lim="0"/>
          </a:ln>
        </p:spPr>
        <p:txBody>
          <a:bodyPr vert="horz" wrap="none" lIns="0" tIns="0" rIns="0" bIns="0"/>
          <a:lstStyle/>
          <a:p>
            <a:pPr algn="l" rtl="0" eaLnBrk="0"/>
            <a:r>
              <a:rPr sz="500" b="1" kern="0" spc="0" dirty="0">
                <a:solidFill>
                  <a:srgbClr val="000000">
                    <a:alpha val="100000"/>
                  </a:srgbClr>
                </a:solidFill>
                <a:latin typeface="Times New Roman" panose="02020603050405020304"/>
                <a:ea typeface="Times New Roman" panose="02020603050405020304"/>
                <a:cs typeface="Times New Roman" panose="02020603050405020304"/>
              </a:rPr>
              <a:t>Multi-scale Disintegration</a:t>
            </a:r>
            <a:endParaRPr sz="500" dirty="0"/>
          </a:p>
        </p:txBody>
      </p:sp>
      <p:sp>
        <p:nvSpPr>
          <p:cNvPr id="556" name="textbox 556"/>
          <p:cNvSpPr/>
          <p:nvPr/>
        </p:nvSpPr>
        <p:spPr>
          <a:xfrm>
            <a:off x="2514600" y="5791200"/>
            <a:ext cx="238125" cy="114300"/>
          </a:xfrm>
          <a:prstGeom prst="rect">
            <a:avLst/>
          </a:prstGeom>
          <a:noFill/>
          <a:ln w="0" cap="flat">
            <a:noFill/>
            <a:prstDash val="solid"/>
            <a:miter lim="0"/>
          </a:ln>
        </p:spPr>
        <p:txBody>
          <a:bodyPr vert="horz" wrap="none" lIns="0" tIns="0" rIns="0" bIns="0"/>
          <a:lstStyle/>
          <a:p>
            <a:pPr algn="l" rtl="0" eaLnBrk="0"/>
            <a:r>
              <a:rPr sz="600" b="1" kern="0" spc="0" dirty="0">
                <a:solidFill>
                  <a:srgbClr val="7F7F7F">
                    <a:alpha val="100000"/>
                  </a:srgbClr>
                </a:solidFill>
                <a:latin typeface="Times New Roman" panose="02020603050405020304"/>
                <a:ea typeface="Times New Roman" panose="02020603050405020304"/>
                <a:cs typeface="Times New Roman" panose="02020603050405020304"/>
              </a:rPr>
              <a:t>Levitt</a:t>
            </a:r>
            <a:endParaRPr sz="600" dirty="0"/>
          </a:p>
        </p:txBody>
      </p:sp>
      <p:pic>
        <p:nvPicPr>
          <p:cNvPr id="560" name="picture 560"/>
          <p:cNvPicPr>
            <a:picLocks noChangeAspect="1"/>
          </p:cNvPicPr>
          <p:nvPr/>
        </p:nvPicPr>
        <p:blipFill>
          <a:blip r:embed="rId7"/>
          <a:stretch>
            <a:fillRect/>
          </a:stretch>
        </p:blipFill>
        <p:spPr>
          <a:xfrm>
            <a:off x="4572000" y="4391025"/>
            <a:ext cx="3009900" cy="1590675"/>
          </a:xfrm>
          <a:prstGeom prst="rect">
            <a:avLst/>
          </a:prstGeom>
        </p:spPr>
      </p:pic>
      <p:sp>
        <p:nvSpPr>
          <p:cNvPr id="562" name="textbox 562"/>
          <p:cNvSpPr/>
          <p:nvPr/>
        </p:nvSpPr>
        <p:spPr>
          <a:xfrm>
            <a:off x="4581525" y="5048250"/>
            <a:ext cx="152400" cy="847725"/>
          </a:xfrm>
          <a:prstGeom prst="rect">
            <a:avLst/>
          </a:prstGeom>
          <a:noFill/>
          <a:ln w="0" cap="flat">
            <a:noFill/>
            <a:prstDash val="solid"/>
            <a:miter lim="0"/>
          </a:ln>
        </p:spPr>
        <p:txBody>
          <a:bodyPr vert="horz" wrap="none" lIns="0" tIns="0" rIns="0" bIns="0"/>
          <a:lstStyle/>
          <a:p>
            <a:pPr algn="l" rtl="0" eaLnBrk="0"/>
            <a:r>
              <a:rPr sz="700" kern="0" spc="0" dirty="0">
                <a:solidFill>
                  <a:srgbClr val="595959">
                    <a:alpha val="100000"/>
                  </a:srgbClr>
                </a:solidFill>
                <a:latin typeface="Calibri" panose="020F0502020204030204"/>
                <a:ea typeface="Calibri" panose="020F0502020204030204"/>
                <a:cs typeface="Calibri" panose="020F0502020204030204"/>
              </a:rPr>
              <a:t>Zero Data Parallel</a:t>
            </a:r>
            <a:endParaRPr sz="700" dirty="0"/>
          </a:p>
        </p:txBody>
      </p:sp>
      <p:sp>
        <p:nvSpPr>
          <p:cNvPr id="564" name="textbox 564"/>
          <p:cNvSpPr/>
          <p:nvPr/>
        </p:nvSpPr>
        <p:spPr>
          <a:xfrm>
            <a:off x="6477000" y="5124450"/>
            <a:ext cx="361950" cy="152400"/>
          </a:xfrm>
          <a:prstGeom prst="rect">
            <a:avLst/>
          </a:prstGeom>
          <a:noFill/>
          <a:ln w="0" cap="flat">
            <a:noFill/>
            <a:prstDash val="solid"/>
            <a:miter lim="0"/>
          </a:ln>
        </p:spPr>
        <p:txBody>
          <a:bodyPr vert="horz" wrap="none" lIns="0" tIns="0" rIns="0" bIns="0"/>
          <a:lstStyle/>
          <a:p>
            <a:pPr algn="l" rtl="0" eaLnBrk="0"/>
            <a:r>
              <a:rPr sz="800" kern="0" spc="0" dirty="0">
                <a:solidFill>
                  <a:srgbClr val="000000">
                    <a:alpha val="100000"/>
                  </a:srgbClr>
                </a:solidFill>
                <a:latin typeface="Calibri" panose="020F0502020204030204"/>
                <a:ea typeface="Calibri" panose="020F0502020204030204"/>
                <a:cs typeface="Calibri" panose="020F0502020204030204"/>
              </a:rPr>
              <a:t>GPU 24</a:t>
            </a:r>
            <a:endParaRPr sz="800" dirty="0"/>
          </a:p>
        </p:txBody>
      </p:sp>
      <p:sp>
        <p:nvSpPr>
          <p:cNvPr id="566" name="textbox 566"/>
          <p:cNvSpPr/>
          <p:nvPr/>
        </p:nvSpPr>
        <p:spPr>
          <a:xfrm>
            <a:off x="4895850" y="5143500"/>
            <a:ext cx="323850" cy="133350"/>
          </a:xfrm>
          <a:prstGeom prst="rect">
            <a:avLst/>
          </a:prstGeom>
          <a:noFill/>
          <a:ln w="0" cap="flat">
            <a:noFill/>
            <a:prstDash val="solid"/>
            <a:miter lim="0"/>
          </a:ln>
        </p:spPr>
        <p:txBody>
          <a:bodyPr vert="horz" wrap="none" lIns="0" tIns="0" rIns="0" bIns="0"/>
          <a:lstStyle/>
          <a:p>
            <a:pPr algn="l" rtl="0" eaLnBrk="0"/>
            <a:r>
              <a:rPr sz="800" kern="0" spc="0" dirty="0">
                <a:solidFill>
                  <a:srgbClr val="000000">
                    <a:alpha val="100000"/>
                  </a:srgbClr>
                </a:solidFill>
                <a:latin typeface="Calibri" panose="020F0502020204030204"/>
                <a:ea typeface="Calibri" panose="020F0502020204030204"/>
                <a:cs typeface="Calibri" panose="020F0502020204030204"/>
              </a:rPr>
              <a:t>GPU 0</a:t>
            </a:r>
            <a:endParaRPr sz="800" dirty="0"/>
          </a:p>
        </p:txBody>
      </p:sp>
      <p:sp>
        <p:nvSpPr>
          <p:cNvPr id="568" name="textbox 568"/>
          <p:cNvSpPr/>
          <p:nvPr/>
        </p:nvSpPr>
        <p:spPr>
          <a:xfrm>
            <a:off x="5410200" y="5143500"/>
            <a:ext cx="323850" cy="133350"/>
          </a:xfrm>
          <a:prstGeom prst="rect">
            <a:avLst/>
          </a:prstGeom>
          <a:noFill/>
          <a:ln w="0" cap="flat">
            <a:noFill/>
            <a:prstDash val="solid"/>
            <a:miter lim="0"/>
          </a:ln>
        </p:spPr>
        <p:txBody>
          <a:bodyPr vert="horz" wrap="none" lIns="0" tIns="0" rIns="0" bIns="0"/>
          <a:lstStyle/>
          <a:p>
            <a:pPr algn="l" rtl="0" eaLnBrk="0"/>
            <a:r>
              <a:rPr sz="800" kern="0" spc="0" dirty="0">
                <a:solidFill>
                  <a:srgbClr val="000000">
                    <a:alpha val="100000"/>
                  </a:srgbClr>
                </a:solidFill>
                <a:latin typeface="Calibri" panose="020F0502020204030204"/>
                <a:ea typeface="Calibri" panose="020F0502020204030204"/>
                <a:cs typeface="Calibri" panose="020F0502020204030204"/>
              </a:rPr>
              <a:t>GPU 8</a:t>
            </a:r>
            <a:endParaRPr sz="800" dirty="0"/>
          </a:p>
        </p:txBody>
      </p:sp>
      <p:sp>
        <p:nvSpPr>
          <p:cNvPr id="570" name="textbox 570"/>
          <p:cNvSpPr/>
          <p:nvPr/>
        </p:nvSpPr>
        <p:spPr>
          <a:xfrm>
            <a:off x="5943600" y="5143500"/>
            <a:ext cx="361950" cy="133350"/>
          </a:xfrm>
          <a:prstGeom prst="rect">
            <a:avLst/>
          </a:prstGeom>
          <a:noFill/>
          <a:ln w="0" cap="flat">
            <a:noFill/>
            <a:prstDash val="solid"/>
            <a:miter lim="0"/>
          </a:ln>
        </p:spPr>
        <p:txBody>
          <a:bodyPr vert="horz" wrap="none" lIns="0" tIns="0" rIns="0" bIns="0"/>
          <a:lstStyle/>
          <a:p>
            <a:pPr algn="l" rtl="0" eaLnBrk="0"/>
            <a:r>
              <a:rPr sz="800" b="1" kern="0" spc="0" dirty="0">
                <a:solidFill>
                  <a:srgbClr val="B05041">
                    <a:alpha val="100000"/>
                  </a:srgbClr>
                </a:solidFill>
                <a:latin typeface="楷体" panose="02010609060101010101" charset="-122"/>
                <a:ea typeface="楷体" panose="02010609060101010101" charset="-122"/>
                <a:cs typeface="楷体" panose="02010609060101010101" charset="-122"/>
              </a:rPr>
              <a:t>GPU 16</a:t>
            </a:r>
            <a:endParaRPr sz="800" dirty="0"/>
          </a:p>
        </p:txBody>
      </p:sp>
      <p:sp>
        <p:nvSpPr>
          <p:cNvPr id="572" name="textbox 572"/>
          <p:cNvSpPr/>
          <p:nvPr/>
        </p:nvSpPr>
        <p:spPr>
          <a:xfrm rot="8115485">
            <a:off x="6953250" y="5353050"/>
            <a:ext cx="723900" cy="714375"/>
          </a:xfrm>
          <a:prstGeom prst="rect">
            <a:avLst/>
          </a:prstGeom>
          <a:noFill/>
          <a:ln w="0" cap="flat">
            <a:noFill/>
            <a:prstDash val="solid"/>
            <a:miter lim="0"/>
          </a:ln>
        </p:spPr>
        <p:txBody>
          <a:bodyPr vert="horz" wrap="none" lIns="0" tIns="0" rIns="0" bIns="0"/>
          <a:lstStyle/>
          <a:p>
            <a:pPr algn="l" rtl="0" eaLnBrk="0"/>
            <a:r>
              <a:rPr sz="700" kern="0" spc="0" dirty="0">
                <a:solidFill>
                  <a:srgbClr val="000000">
                    <a:alpha val="100000"/>
                  </a:srgbClr>
                </a:solidFill>
                <a:latin typeface="Calibri" panose="020F0502020204030204"/>
                <a:ea typeface="Calibri" panose="020F0502020204030204"/>
                <a:cs typeface="Calibri" panose="020F0502020204030204"/>
              </a:rPr>
              <a:t>Model Parallel</a:t>
            </a:r>
            <a:endParaRPr sz="700" dirty="0"/>
          </a:p>
        </p:txBody>
      </p:sp>
      <p:sp>
        <p:nvSpPr>
          <p:cNvPr id="574" name="textbox 574"/>
          <p:cNvSpPr/>
          <p:nvPr/>
        </p:nvSpPr>
        <p:spPr>
          <a:xfrm>
            <a:off x="4886325" y="5657850"/>
            <a:ext cx="333375" cy="133350"/>
          </a:xfrm>
          <a:prstGeom prst="rect">
            <a:avLst/>
          </a:prstGeom>
          <a:noFill/>
          <a:ln w="0" cap="flat">
            <a:noFill/>
            <a:prstDash val="solid"/>
            <a:miter lim="0"/>
          </a:ln>
        </p:spPr>
        <p:txBody>
          <a:bodyPr vert="horz" wrap="none" lIns="0" tIns="0" rIns="0" bIns="0"/>
          <a:lstStyle/>
          <a:p>
            <a:pPr algn="l" rtl="0" eaLnBrk="0"/>
            <a:r>
              <a:rPr sz="700" b="1" kern="0" spc="150" dirty="0">
                <a:solidFill>
                  <a:srgbClr val="767171">
                    <a:alpha val="100000"/>
                  </a:srgbClr>
                </a:solidFill>
                <a:latin typeface="Arial" panose="020B0604020202020204"/>
                <a:ea typeface="Arial" panose="020B0604020202020204"/>
                <a:cs typeface="Arial" panose="020B0604020202020204"/>
              </a:rPr>
              <a:t>GPU 4</a:t>
            </a:r>
            <a:endParaRPr sz="700" dirty="0"/>
          </a:p>
        </p:txBody>
      </p:sp>
      <p:sp>
        <p:nvSpPr>
          <p:cNvPr id="576" name="textbox 576"/>
          <p:cNvSpPr/>
          <p:nvPr/>
        </p:nvSpPr>
        <p:spPr>
          <a:xfrm>
            <a:off x="5381625" y="5657850"/>
            <a:ext cx="371475" cy="133350"/>
          </a:xfrm>
          <a:prstGeom prst="rect">
            <a:avLst/>
          </a:prstGeom>
          <a:noFill/>
          <a:ln w="0" cap="flat">
            <a:noFill/>
            <a:prstDash val="solid"/>
            <a:miter lim="0"/>
          </a:ln>
        </p:spPr>
        <p:txBody>
          <a:bodyPr vert="horz" wrap="none" lIns="0" tIns="0" rIns="0" bIns="0"/>
          <a:lstStyle/>
          <a:p>
            <a:pPr algn="l" rtl="0" eaLnBrk="0"/>
            <a:r>
              <a:rPr sz="800" kern="0" spc="0" dirty="0">
                <a:solidFill>
                  <a:srgbClr val="000000">
                    <a:alpha val="100000"/>
                  </a:srgbClr>
                </a:solidFill>
                <a:latin typeface="Calibri" panose="020F0502020204030204"/>
                <a:ea typeface="Calibri" panose="020F0502020204030204"/>
                <a:cs typeface="Calibri" panose="020F0502020204030204"/>
              </a:rPr>
              <a:t>GPU 12</a:t>
            </a:r>
            <a:endParaRPr sz="800" dirty="0"/>
          </a:p>
        </p:txBody>
      </p:sp>
      <p:sp>
        <p:nvSpPr>
          <p:cNvPr id="578" name="textbox 578"/>
          <p:cNvSpPr/>
          <p:nvPr/>
        </p:nvSpPr>
        <p:spPr>
          <a:xfrm>
            <a:off x="5924550" y="5657850"/>
            <a:ext cx="371475" cy="133350"/>
          </a:xfrm>
          <a:prstGeom prst="rect">
            <a:avLst/>
          </a:prstGeom>
          <a:noFill/>
          <a:ln w="0" cap="flat">
            <a:noFill/>
            <a:prstDash val="solid"/>
            <a:miter lim="0"/>
          </a:ln>
        </p:spPr>
        <p:txBody>
          <a:bodyPr vert="horz" wrap="none" lIns="0" tIns="0" rIns="0" bIns="0"/>
          <a:lstStyle/>
          <a:p>
            <a:pPr algn="l" rtl="0" eaLnBrk="0"/>
            <a:r>
              <a:rPr sz="700" kern="0" spc="75" dirty="0">
                <a:solidFill>
                  <a:srgbClr val="000000">
                    <a:alpha val="100000"/>
                  </a:srgbClr>
                </a:solidFill>
                <a:latin typeface="微软雅黑" panose="020B0503020204020204" charset="-122"/>
                <a:ea typeface="微软雅黑" panose="020B0503020204020204" charset="-122"/>
                <a:cs typeface="微软雅黑" panose="020B0503020204020204" charset="-122"/>
              </a:rPr>
              <a:t>GPU 20</a:t>
            </a:r>
            <a:endParaRPr sz="700" dirty="0"/>
          </a:p>
        </p:txBody>
      </p:sp>
      <p:sp>
        <p:nvSpPr>
          <p:cNvPr id="580" name="textbox 580"/>
          <p:cNvSpPr/>
          <p:nvPr/>
        </p:nvSpPr>
        <p:spPr>
          <a:xfrm>
            <a:off x="6477000" y="5657850"/>
            <a:ext cx="361950" cy="133350"/>
          </a:xfrm>
          <a:prstGeom prst="rect">
            <a:avLst/>
          </a:prstGeom>
          <a:noFill/>
          <a:ln w="0" cap="flat">
            <a:noFill/>
            <a:prstDash val="solid"/>
            <a:miter lim="0"/>
          </a:ln>
        </p:spPr>
        <p:txBody>
          <a:bodyPr vert="horz" wrap="none" lIns="0" tIns="0" rIns="0" bIns="0"/>
          <a:lstStyle/>
          <a:p>
            <a:pPr algn="l" rtl="0" eaLnBrk="0"/>
            <a:r>
              <a:rPr sz="800" kern="0" spc="0" dirty="0">
                <a:solidFill>
                  <a:srgbClr val="000000">
                    <a:alpha val="100000"/>
                  </a:srgbClr>
                </a:solidFill>
                <a:latin typeface="楷体" panose="02010609060101010101" charset="-122"/>
                <a:ea typeface="楷体" panose="02010609060101010101" charset="-122"/>
                <a:cs typeface="楷体" panose="02010609060101010101" charset="-122"/>
              </a:rPr>
              <a:t>GPU28</a:t>
            </a:r>
            <a:endParaRPr sz="800" dirty="0"/>
          </a:p>
        </p:txBody>
      </p:sp>
      <p:pic>
        <p:nvPicPr>
          <p:cNvPr id="584" name="picture 584"/>
          <p:cNvPicPr>
            <a:picLocks noChangeAspect="1"/>
          </p:cNvPicPr>
          <p:nvPr/>
        </p:nvPicPr>
        <p:blipFill>
          <a:blip r:embed="rId8"/>
          <a:stretch>
            <a:fillRect/>
          </a:stretch>
        </p:blipFill>
        <p:spPr>
          <a:xfrm>
            <a:off x="8343900" y="4362450"/>
            <a:ext cx="3324225" cy="1600200"/>
          </a:xfrm>
          <a:prstGeom prst="rect">
            <a:avLst/>
          </a:prstGeom>
        </p:spPr>
      </p:pic>
      <p:sp>
        <p:nvSpPr>
          <p:cNvPr id="586" name="textbox 586"/>
          <p:cNvSpPr/>
          <p:nvPr/>
        </p:nvSpPr>
        <p:spPr>
          <a:xfrm>
            <a:off x="10782300" y="4381500"/>
            <a:ext cx="695325" cy="152400"/>
          </a:xfrm>
          <a:prstGeom prst="rect">
            <a:avLst/>
          </a:prstGeom>
          <a:noFill/>
          <a:ln w="0" cap="flat">
            <a:noFill/>
            <a:prstDash val="solid"/>
            <a:miter lim="0"/>
          </a:ln>
        </p:spPr>
        <p:txBody>
          <a:bodyPr vert="horz" wrap="none" lIns="0" tIns="0" rIns="0" bIns="0"/>
          <a:lstStyle/>
          <a:p>
            <a:pPr algn="l" rtl="0" eaLnBrk="0"/>
            <a:r>
              <a:rPr sz="500" kern="0" spc="75" dirty="0">
                <a:solidFill>
                  <a:srgbClr val="000000">
                    <a:alpha val="100000"/>
                  </a:srgbClr>
                </a:solidFill>
                <a:latin typeface="微软雅黑" panose="020B0503020204020204" charset="-122"/>
                <a:ea typeface="微软雅黑" panose="020B0503020204020204" charset="-122"/>
                <a:cs typeface="微软雅黑" panose="020B0503020204020204" charset="-122"/>
              </a:rPr>
              <a:t>成配分引算法</a:t>
            </a:r>
            <a:r>
              <a:rPr sz="500" kern="0" spc="75" dirty="0">
                <a:solidFill>
                  <a:srgbClr val="000000">
                    <a:alpha val="100000"/>
                  </a:srgbClr>
                </a:solidFill>
                <a:latin typeface="Times New Roman" panose="02020603050405020304"/>
                <a:ea typeface="Times New Roman" panose="02020603050405020304"/>
                <a:cs typeface="Times New Roman" panose="02020603050405020304"/>
              </a:rPr>
              <a:t>(6PC)</a:t>
            </a:r>
            <a:endParaRPr sz="500" dirty="0"/>
          </a:p>
        </p:txBody>
      </p:sp>
      <p:sp>
        <p:nvSpPr>
          <p:cNvPr id="588" name="textbox 588"/>
          <p:cNvSpPr/>
          <p:nvPr/>
        </p:nvSpPr>
        <p:spPr>
          <a:xfrm>
            <a:off x="9886950" y="4410075"/>
            <a:ext cx="590550" cy="114300"/>
          </a:xfrm>
          <a:prstGeom prst="rect">
            <a:avLst/>
          </a:prstGeom>
          <a:noFill/>
          <a:ln w="0" cap="flat">
            <a:noFill/>
            <a:prstDash val="solid"/>
            <a:miter lim="0"/>
          </a:ln>
        </p:spPr>
        <p:txBody>
          <a:bodyPr vert="horz" wrap="none" lIns="0" tIns="0" rIns="0" bIns="0"/>
          <a:lstStyle/>
          <a:p>
            <a:pPr algn="l" rtl="0" eaLnBrk="0"/>
            <a:r>
              <a:rPr sz="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实验结果评（云）</a:t>
            </a:r>
            <a:endParaRPr sz="500" dirty="0"/>
          </a:p>
        </p:txBody>
      </p:sp>
      <p:sp>
        <p:nvSpPr>
          <p:cNvPr id="590" name="textbox 590"/>
          <p:cNvSpPr/>
          <p:nvPr/>
        </p:nvSpPr>
        <p:spPr>
          <a:xfrm>
            <a:off x="9953625" y="5067300"/>
            <a:ext cx="1247775" cy="123825"/>
          </a:xfrm>
          <a:prstGeom prst="rect">
            <a:avLst/>
          </a:prstGeom>
          <a:noFill/>
          <a:ln w="0" cap="flat">
            <a:noFill/>
            <a:prstDash val="solid"/>
            <a:miter lim="0"/>
          </a:ln>
        </p:spPr>
        <p:txBody>
          <a:bodyPr vert="horz" wrap="none" lIns="0" tIns="0" rIns="0" bIns="0"/>
          <a:lstStyle/>
          <a:p>
            <a:pPr marL="104775" indent="-76200" algn="l" rtl="0" eaLnBrk="0">
              <a:buChar char="•"/>
            </a:pPr>
            <a:r>
              <a:rPr sz="700" kern="0" spc="0" dirty="0">
                <a:solidFill>
                  <a:srgbClr val="3B3838">
                    <a:alpha val="100000"/>
                  </a:srgbClr>
                </a:solidFill>
                <a:latin typeface="微软雅黑" panose="020B0503020204020204" charset="-122"/>
                <a:ea typeface="微软雅黑" panose="020B0503020204020204" charset="-122"/>
                <a:cs typeface="微软雅黑" panose="020B0503020204020204" charset="-122"/>
              </a:rPr>
              <a:t>首平台</a:t>
            </a:r>
            <a:r>
              <a:rPr sz="700" kern="0" spc="0" dirty="0">
                <a:solidFill>
                  <a:srgbClr val="3B3838">
                    <a:alpha val="100000"/>
                  </a:srgbClr>
                </a:solidFill>
                <a:latin typeface="Calibri" panose="020F0502020204030204"/>
                <a:ea typeface="Calibri" panose="020F0502020204030204"/>
                <a:cs typeface="Calibri" panose="020F0502020204030204"/>
              </a:rPr>
              <a:t> / </a:t>
            </a:r>
            <a:r>
              <a:rPr sz="700" kern="0" spc="0" dirty="0">
                <a:solidFill>
                  <a:srgbClr val="3B3838">
                    <a:alpha val="100000"/>
                  </a:srgbClr>
                </a:solidFill>
                <a:latin typeface="微软雅黑" panose="020B0503020204020204" charset="-122"/>
                <a:ea typeface="微软雅黑" panose="020B0503020204020204" charset="-122"/>
                <a:cs typeface="微软雅黑" panose="020B0503020204020204" charset="-122"/>
              </a:rPr>
              <a:t>需行业，如“软”不难“硬”</a:t>
            </a:r>
            <a:endParaRPr sz="700" dirty="0"/>
          </a:p>
        </p:txBody>
      </p:sp>
      <p:sp>
        <p:nvSpPr>
          <p:cNvPr id="592" name="textbox 592"/>
          <p:cNvSpPr/>
          <p:nvPr/>
        </p:nvSpPr>
        <p:spPr>
          <a:xfrm>
            <a:off x="10001250" y="5162550"/>
            <a:ext cx="1276350" cy="123825"/>
          </a:xfrm>
          <a:prstGeom prst="rect">
            <a:avLst/>
          </a:prstGeom>
          <a:noFill/>
          <a:ln w="0" cap="flat">
            <a:noFill/>
            <a:prstDash val="solid"/>
            <a:miter lim="0"/>
          </a:ln>
        </p:spPr>
        <p:txBody>
          <a:bodyPr vert="horz" wrap="none" lIns="0" tIns="0" rIns="0" bIns="0"/>
          <a:lstStyle/>
          <a:p>
            <a:pPr algn="l" rtl="0" eaLnBrk="0"/>
            <a:r>
              <a:rPr sz="500" kern="0" spc="75" dirty="0">
                <a:solidFill>
                  <a:srgbClr val="7F7F7F">
                    <a:alpha val="100000"/>
                  </a:srgbClr>
                </a:solidFill>
                <a:latin typeface="微软雅黑" panose="020B0503020204020204" charset="-122"/>
                <a:ea typeface="微软雅黑" panose="020B0503020204020204" charset="-122"/>
                <a:cs typeface="微软雅黑" panose="020B0503020204020204" charset="-122"/>
              </a:rPr>
              <a:t>通过</a:t>
            </a:r>
            <a:r>
              <a:rPr sz="500" kern="0" spc="75" dirty="0">
                <a:solidFill>
                  <a:srgbClr val="7F7F7F">
                    <a:alpha val="100000"/>
                  </a:srgbClr>
                </a:solidFill>
                <a:latin typeface="Arial" panose="020B0604020202020204"/>
                <a:ea typeface="Arial" panose="020B0604020202020204"/>
                <a:cs typeface="Arial" panose="020B0604020202020204"/>
              </a:rPr>
              <a:t>-4</a:t>
            </a:r>
            <a:r>
              <a:rPr sz="500" kern="0" spc="75" dirty="0">
                <a:solidFill>
                  <a:srgbClr val="7F7F7F">
                    <a:alpha val="100000"/>
                  </a:srgbClr>
                </a:solidFill>
                <a:latin typeface="微软雅黑" panose="020B0503020204020204" charset="-122"/>
                <a:ea typeface="微软雅黑" panose="020B0503020204020204" charset="-122"/>
                <a:cs typeface="微软雅黑" panose="020B0503020204020204" charset="-122"/>
              </a:rPr>
              <a:t>端优化，表现</a:t>
            </a:r>
            <a:r>
              <a:rPr sz="500" kern="0" spc="75" dirty="0">
                <a:solidFill>
                  <a:srgbClr val="7F7F7F">
                    <a:alpha val="100000"/>
                  </a:srgbClr>
                </a:solidFill>
                <a:latin typeface="Arial" panose="020B0604020202020204"/>
                <a:ea typeface="Arial" panose="020B0604020202020204"/>
                <a:cs typeface="Arial" panose="020B0604020202020204"/>
              </a:rPr>
              <a:t>75~97%</a:t>
            </a:r>
            <a:r>
              <a:rPr sz="500" kern="0" spc="75" dirty="0">
                <a:solidFill>
                  <a:srgbClr val="7F7F7F">
                    <a:alpha val="100000"/>
                  </a:srgbClr>
                </a:solidFill>
                <a:latin typeface="微软雅黑" panose="020B0503020204020204" charset="-122"/>
                <a:ea typeface="微软雅黑" panose="020B0503020204020204" charset="-122"/>
                <a:cs typeface="微软雅黑" panose="020B0503020204020204" charset="-122"/>
              </a:rPr>
              <a:t>窄波空间</a:t>
            </a:r>
            <a:endParaRPr sz="500" dirty="0"/>
          </a:p>
        </p:txBody>
      </p:sp>
      <p:sp>
        <p:nvSpPr>
          <p:cNvPr id="594" name="textbox 594"/>
          <p:cNvSpPr/>
          <p:nvPr/>
        </p:nvSpPr>
        <p:spPr>
          <a:xfrm>
            <a:off x="9791700" y="5362575"/>
            <a:ext cx="1009650" cy="152400"/>
          </a:xfrm>
          <a:prstGeom prst="rect">
            <a:avLst/>
          </a:prstGeom>
          <a:noFill/>
          <a:ln w="0" cap="flat">
            <a:noFill/>
            <a:prstDash val="solid"/>
            <a:miter lim="0"/>
          </a:ln>
        </p:spPr>
        <p:txBody>
          <a:bodyPr vert="horz" wrap="none" lIns="0" tIns="0" rIns="0" bIns="0"/>
          <a:lstStyle/>
          <a:p>
            <a:pPr algn="l" rtl="0" eaLnBrk="0"/>
            <a:r>
              <a:rPr sz="700" kern="0" spc="0" dirty="0">
                <a:solidFill>
                  <a:srgbClr val="7F7F7F">
                    <a:alpha val="100000"/>
                  </a:srgbClr>
                </a:solidFill>
                <a:latin typeface="方正舒体" panose="02010601030101010101" charset="-122"/>
                <a:ea typeface="方正舒体" panose="02010601030101010101" charset="-122"/>
                <a:cs typeface="方正舒体" panose="02010601030101010101" charset="-122"/>
              </a:rPr>
              <a:t>节落</a:t>
            </a:r>
            <a:r>
              <a:rPr sz="700" kern="0" spc="0" dirty="0">
                <a:solidFill>
                  <a:srgbClr val="7F7F7F">
                    <a:alpha val="100000"/>
                  </a:srgbClr>
                </a:solidFill>
                <a:latin typeface="Arial" panose="020B0604020202020204"/>
                <a:ea typeface="Arial" panose="020B0604020202020204"/>
                <a:cs typeface="Arial" panose="020B0604020202020204"/>
              </a:rPr>
              <a:t>+</a:t>
            </a:r>
            <a:r>
              <a:rPr sz="700" kern="0" spc="0" dirty="0">
                <a:solidFill>
                  <a:srgbClr val="7F7F7F">
                    <a:alpha val="100000"/>
                  </a:srgbClr>
                </a:solidFill>
                <a:latin typeface="方正舒体" panose="02010601030101010101" charset="-122"/>
                <a:ea typeface="方正舒体" panose="02010601030101010101" charset="-122"/>
                <a:cs typeface="方正舒体" panose="02010601030101010101" charset="-122"/>
              </a:rPr>
              <a:t>一定距离的临界线</a:t>
            </a:r>
            <a:endParaRPr sz="700" dirty="0"/>
          </a:p>
        </p:txBody>
      </p:sp>
      <p:sp>
        <p:nvSpPr>
          <p:cNvPr id="596" name="textbox 596"/>
          <p:cNvSpPr/>
          <p:nvPr/>
        </p:nvSpPr>
        <p:spPr>
          <a:xfrm>
            <a:off x="10972800" y="5505450"/>
            <a:ext cx="495300" cy="152400"/>
          </a:xfrm>
          <a:prstGeom prst="rect">
            <a:avLst/>
          </a:prstGeom>
          <a:noFill/>
          <a:ln w="0" cap="flat">
            <a:noFill/>
            <a:prstDash val="solid"/>
            <a:miter lim="0"/>
          </a:ln>
        </p:spPr>
        <p:txBody>
          <a:bodyPr vert="horz" wrap="none" lIns="0" tIns="0" rIns="0" bIns="0"/>
          <a:lstStyle/>
          <a:p>
            <a:pPr algn="l" rtl="0" eaLnBrk="0"/>
            <a:r>
              <a:rPr sz="500" b="1"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开制运输优化</a:t>
            </a:r>
            <a:endParaRPr sz="500" dirty="0"/>
          </a:p>
        </p:txBody>
      </p:sp>
      <p:sp>
        <p:nvSpPr>
          <p:cNvPr id="598" name="textbox 598"/>
          <p:cNvSpPr/>
          <p:nvPr/>
        </p:nvSpPr>
        <p:spPr>
          <a:xfrm>
            <a:off x="9791700" y="5572125"/>
            <a:ext cx="1000125" cy="161925"/>
          </a:xfrm>
          <a:prstGeom prst="rect">
            <a:avLst/>
          </a:prstGeom>
          <a:noFill/>
          <a:ln w="0" cap="flat">
            <a:noFill/>
            <a:prstDash val="solid"/>
            <a:miter lim="0"/>
          </a:ln>
        </p:spPr>
        <p:txBody>
          <a:bodyPr vert="horz" wrap="none" lIns="0" tIns="0" rIns="0" bIns="0"/>
          <a:lstStyle/>
          <a:p>
            <a:pPr algn="l" rtl="0" eaLnBrk="0"/>
            <a:r>
              <a:rPr sz="500" kern="0" spc="225" dirty="0">
                <a:solidFill>
                  <a:srgbClr val="ADA9A9">
                    <a:alpha val="100000"/>
                  </a:srgbClr>
                </a:solidFill>
                <a:latin typeface="隶书" panose="02010509060101010101" charset="-122"/>
                <a:ea typeface="隶书" panose="02010509060101010101" charset="-122"/>
                <a:cs typeface="隶书" panose="02010509060101010101" charset="-122"/>
              </a:rPr>
              <a:t>首页</a:t>
            </a:r>
            <a:r>
              <a:rPr sz="500" kern="0" spc="225" dirty="0">
                <a:solidFill>
                  <a:srgbClr val="000000">
                    <a:alpha val="100000"/>
                  </a:srgbClr>
                </a:solidFill>
                <a:latin typeface="隶书" panose="02010509060101010101" charset="-122"/>
                <a:ea typeface="隶书" panose="02010509060101010101" charset="-122"/>
                <a:cs typeface="隶书" panose="02010509060101010101" charset="-122"/>
              </a:rPr>
              <a:t>不一定点通过该设备</a:t>
            </a:r>
            <a:endParaRPr sz="500" dirty="0"/>
          </a:p>
        </p:txBody>
      </p:sp>
      <p:sp>
        <p:nvSpPr>
          <p:cNvPr id="600" name="textbox 600"/>
          <p:cNvSpPr/>
          <p:nvPr/>
        </p:nvSpPr>
        <p:spPr>
          <a:xfrm>
            <a:off x="11010900" y="5629275"/>
            <a:ext cx="419100" cy="152400"/>
          </a:xfrm>
          <a:prstGeom prst="rect">
            <a:avLst/>
          </a:prstGeom>
          <a:noFill/>
          <a:ln w="0" cap="flat">
            <a:noFill/>
            <a:prstDash val="solid"/>
            <a:miter lim="0"/>
          </a:ln>
        </p:spPr>
        <p:txBody>
          <a:bodyPr vert="horz" wrap="none" lIns="0" tIns="0" rIns="0" bIns="0"/>
          <a:lstStyle/>
          <a:p>
            <a:pPr algn="l" rtl="0" eaLnBrk="0"/>
            <a:r>
              <a:rPr sz="500" b="1" kern="0" spc="150" dirty="0">
                <a:solidFill>
                  <a:srgbClr val="000000">
                    <a:alpha val="100000"/>
                  </a:srgbClr>
                </a:solidFill>
                <a:latin typeface="微软雅黑" panose="020B0503020204020204" charset="-122"/>
                <a:ea typeface="微软雅黑" panose="020B0503020204020204" charset="-122"/>
                <a:cs typeface="微软雅黑" panose="020B0503020204020204" charset="-122"/>
              </a:rPr>
              <a:t>节前新模式</a:t>
            </a:r>
            <a:endParaRPr sz="500" dirty="0"/>
          </a:p>
        </p:txBody>
      </p:sp>
      <p:sp>
        <p:nvSpPr>
          <p:cNvPr id="602" name="textbox 602"/>
          <p:cNvSpPr/>
          <p:nvPr/>
        </p:nvSpPr>
        <p:spPr>
          <a:xfrm>
            <a:off x="9801225" y="5781675"/>
            <a:ext cx="1019175" cy="152400"/>
          </a:xfrm>
          <a:prstGeom prst="rect">
            <a:avLst/>
          </a:prstGeom>
          <a:noFill/>
          <a:ln w="0" cap="flat">
            <a:noFill/>
            <a:prstDash val="solid"/>
            <a:miter lim="0"/>
          </a:ln>
        </p:spPr>
        <p:txBody>
          <a:bodyPr vert="horz" wrap="none" lIns="0" tIns="0" rIns="0" bIns="0"/>
          <a:lstStyle/>
          <a:p>
            <a:pPr algn="l" rtl="0" eaLnBrk="0"/>
            <a:r>
              <a:rPr sz="600" kern="0" spc="0" dirty="0">
                <a:solidFill>
                  <a:srgbClr val="91ACE0">
                    <a:alpha val="100000"/>
                  </a:srgbClr>
                </a:solidFill>
                <a:latin typeface="方正舒体" panose="02010601030101010101" charset="-122"/>
                <a:ea typeface="方正舒体" panose="02010601030101010101" charset="-122"/>
                <a:cs typeface="方正舒体" panose="02010601030101010101" charset="-122"/>
              </a:rPr>
              <a:t>书请</a:t>
            </a:r>
            <a:r>
              <a:rPr sz="600" kern="0" spc="0" dirty="0">
                <a:solidFill>
                  <a:srgbClr val="002060">
                    <a:alpha val="100000"/>
                  </a:srgbClr>
                </a:solidFill>
                <a:latin typeface="等线" panose="02010600030101010101" charset="-122"/>
                <a:ea typeface="等线" panose="02010600030101010101" charset="-122"/>
                <a:cs typeface="等线" panose="02010600030101010101" charset="-122"/>
              </a:rPr>
              <a:t>不一定要发出企业要求</a:t>
            </a:r>
            <a:endParaRPr sz="600" dirty="0"/>
          </a:p>
        </p:txBody>
      </p:sp>
      <p:sp>
        <p:nvSpPr>
          <p:cNvPr id="604" name="textbox 604"/>
          <p:cNvSpPr/>
          <p:nvPr/>
        </p:nvSpPr>
        <p:spPr>
          <a:xfrm>
            <a:off x="609600" y="6105525"/>
            <a:ext cx="1057275" cy="285750"/>
          </a:xfrm>
          <a:prstGeom prst="rect">
            <a:avLst/>
          </a:prstGeom>
          <a:noFill/>
          <a:ln w="0" cap="flat">
            <a:noFill/>
            <a:prstDash val="solid"/>
            <a:miter lim="0"/>
          </a:ln>
        </p:spPr>
        <p:txBody>
          <a:bodyPr vert="horz" wrap="none" lIns="0" tIns="0" rIns="0" bIns="0"/>
          <a:lstStyle/>
          <a:p>
            <a:pPr algn="l" rtl="0" eaLnBrk="0"/>
            <a:r>
              <a:rPr sz="2000" b="1" kern="0" spc="0" dirty="0">
                <a:solidFill>
                  <a:srgbClr val="012D86">
                    <a:alpha val="100000"/>
                  </a:srgbClr>
                </a:solidFill>
                <a:latin typeface="微软雅黑" panose="020B0503020204020204" charset="-122"/>
                <a:ea typeface="微软雅黑" panose="020B0503020204020204" charset="-122"/>
                <a:cs typeface="微软雅黑" panose="020B0503020204020204" charset="-122"/>
              </a:rPr>
              <a:t>应用价值</a:t>
            </a:r>
            <a:endParaRPr sz="2000" dirty="0"/>
          </a:p>
        </p:txBody>
      </p:sp>
      <p:sp>
        <p:nvSpPr>
          <p:cNvPr id="606" name="textbox 606"/>
          <p:cNvSpPr/>
          <p:nvPr/>
        </p:nvSpPr>
        <p:spPr>
          <a:xfrm>
            <a:off x="2133600" y="6124575"/>
            <a:ext cx="7553325" cy="238125"/>
          </a:xfrm>
          <a:prstGeom prst="rect">
            <a:avLst/>
          </a:prstGeom>
          <a:noFill/>
          <a:ln w="0" cap="flat">
            <a:noFill/>
            <a:prstDash val="solid"/>
            <a:miter lim="0"/>
          </a:ln>
        </p:spPr>
        <p:txBody>
          <a:bodyPr vert="horz" wrap="none" lIns="0" tIns="0" rIns="0" bIns="0"/>
          <a:lstStyle/>
          <a:p>
            <a:pPr algn="l" rtl="0" eaLnBrk="0"/>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大幅提升故障预警的准确性和提前量，减少非计划停运，优化检修资源配置</a:t>
            </a:r>
            <a:endParaRPr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0" name="picture 610"/>
          <p:cNvPicPr>
            <a:picLocks noChangeAspect="1"/>
          </p:cNvPicPr>
          <p:nvPr/>
        </p:nvPicPr>
        <p:blipFill>
          <a:blip r:embed="rId1"/>
          <a:stretch>
            <a:fillRect/>
          </a:stretch>
        </p:blipFill>
        <p:spPr>
          <a:xfrm>
            <a:off x="0" y="0"/>
            <a:ext cx="12192000" cy="6858000"/>
          </a:xfrm>
          <a:prstGeom prst="rect">
            <a:avLst/>
          </a:prstGeom>
        </p:spPr>
      </p:pic>
      <p:sp>
        <p:nvSpPr>
          <p:cNvPr id="612" name="textbox 612"/>
          <p:cNvSpPr/>
          <p:nvPr/>
        </p:nvSpPr>
        <p:spPr>
          <a:xfrm>
            <a:off x="333375" y="123825"/>
            <a:ext cx="4562475" cy="438150"/>
          </a:xfrm>
          <a:prstGeom prst="rect">
            <a:avLst/>
          </a:prstGeom>
          <a:noFill/>
          <a:ln w="0" cap="flat">
            <a:noFill/>
            <a:prstDash val="solid"/>
            <a:miter lim="0"/>
          </a:ln>
        </p:spPr>
        <p:txBody>
          <a:bodyPr vert="horz" wrap="none" lIns="0" tIns="0" rIns="0" bIns="0"/>
          <a:lstStyle/>
          <a:p>
            <a:pPr marL="57150"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3.1 项目特色与研究创新</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616" name="picture 616"/>
          <p:cNvPicPr>
            <a:picLocks noChangeAspect="1"/>
          </p:cNvPicPr>
          <p:nvPr/>
        </p:nvPicPr>
        <p:blipFill>
          <a:blip r:embed="rId2"/>
          <a:stretch>
            <a:fillRect/>
          </a:stretch>
        </p:blipFill>
        <p:spPr>
          <a:xfrm>
            <a:off x="9896475" y="152400"/>
            <a:ext cx="1847850" cy="419100"/>
          </a:xfrm>
          <a:prstGeom prst="rect">
            <a:avLst/>
          </a:prstGeom>
        </p:spPr>
      </p:pic>
      <p:sp>
        <p:nvSpPr>
          <p:cNvPr id="618" name="textbox 618"/>
          <p:cNvSpPr/>
          <p:nvPr/>
        </p:nvSpPr>
        <p:spPr>
          <a:xfrm>
            <a:off x="2705100" y="942975"/>
            <a:ext cx="6648450" cy="371475"/>
          </a:xfrm>
          <a:prstGeom prst="rect">
            <a:avLst/>
          </a:prstGeom>
          <a:noFill/>
          <a:ln w="0" cap="flat">
            <a:noFill/>
            <a:prstDash val="solid"/>
            <a:miter lim="0"/>
          </a:ln>
        </p:spPr>
        <p:txBody>
          <a:bodyPr vert="horz" wrap="none" lIns="0" tIns="0" rIns="0" bIns="0"/>
          <a:lstStyle/>
          <a:p>
            <a:pPr algn="l" rtl="0" eaLnBrk="0"/>
            <a:r>
              <a:rPr sz="2400" b="1" kern="0" spc="0" dirty="0">
                <a:solidFill>
                  <a:srgbClr val="C00000">
                    <a:alpha val="100000"/>
                  </a:srgbClr>
                </a:solidFill>
                <a:latin typeface="方正大标宋简体"/>
                <a:ea typeface="方正大标宋简体"/>
                <a:cs typeface="方正大标宋简体"/>
              </a:rPr>
              <a:t>从“数据驱动”迈向“物理机理与数据融合驱动”</a:t>
            </a:r>
            <a:endParaRPr sz="2400" dirty="0"/>
          </a:p>
        </p:txBody>
      </p:sp>
      <p:sp>
        <p:nvSpPr>
          <p:cNvPr id="620" name="textbox 620"/>
          <p:cNvSpPr/>
          <p:nvPr/>
        </p:nvSpPr>
        <p:spPr>
          <a:xfrm>
            <a:off x="619125" y="1504950"/>
            <a:ext cx="10896600" cy="257175"/>
          </a:xfrm>
          <a:prstGeom prst="rect">
            <a:avLst/>
          </a:prstGeom>
          <a:noFill/>
          <a:ln w="0" cap="flat">
            <a:noFill/>
            <a:prstDash val="solid"/>
            <a:miter lim="0"/>
          </a:ln>
        </p:spPr>
        <p:txBody>
          <a:bodyPr vert="horz" wrap="none" lIns="0" tIns="0" rIns="0" bIns="0"/>
          <a:lstStyle/>
          <a:p>
            <a:pPr marL="304800" indent="-276225" algn="l" rtl="0" eaLnBrk="0">
              <a:buChar char="►"/>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将电力系统微分代数方程、设备运行物理约束作为正则化项直接嵌入深度学习模型的损失函数中，用规律引导模型训练</a:t>
            </a:r>
            <a:endParaRPr sz="1500" dirty="0"/>
          </a:p>
        </p:txBody>
      </p:sp>
      <p:sp>
        <p:nvSpPr>
          <p:cNvPr id="622" name="textbox 622"/>
          <p:cNvSpPr/>
          <p:nvPr/>
        </p:nvSpPr>
        <p:spPr>
          <a:xfrm>
            <a:off x="647700" y="1828800"/>
            <a:ext cx="9620250" cy="219075"/>
          </a:xfrm>
          <a:prstGeom prst="rect">
            <a:avLst/>
          </a:prstGeom>
          <a:noFill/>
          <a:ln w="0" cap="flat">
            <a:noFill/>
            <a:prstDash val="solid"/>
            <a:miter lim="0"/>
          </a:ln>
        </p:spPr>
        <p:txBody>
          <a:bodyPr vert="horz" wrap="none" lIns="0" tIns="0" rIns="0" bIns="0"/>
          <a:lstStyle/>
          <a:p>
            <a:pPr marL="276225" indent="-276225" algn="l" rtl="0" eaLnBrk="0">
              <a:buChar char="►"/>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这不仅破解了AI模型的“黑箱”难题，提升了可解释性，更显著增强了在数据稀缺区的泛化能力和可靠性</a:t>
            </a:r>
            <a:endParaRPr sz="1500" dirty="0"/>
          </a:p>
        </p:txBody>
      </p:sp>
      <p:sp>
        <p:nvSpPr>
          <p:cNvPr id="624" name="textbox 624"/>
          <p:cNvSpPr/>
          <p:nvPr/>
        </p:nvSpPr>
        <p:spPr>
          <a:xfrm>
            <a:off x="1771650" y="2486025"/>
            <a:ext cx="2324100" cy="266700"/>
          </a:xfrm>
          <a:prstGeom prst="rect">
            <a:avLst/>
          </a:prstGeom>
          <a:noFill/>
          <a:ln w="0" cap="flat">
            <a:noFill/>
            <a:prstDash val="solid"/>
            <a:miter lim="0"/>
          </a:ln>
        </p:spPr>
        <p:txBody>
          <a:bodyPr vert="horz" wrap="none" lIns="0" tIns="0" rIns="0" bIns="0"/>
          <a:lstStyle/>
          <a:p>
            <a:pPr algn="l" rtl="0" eaLnBrk="0"/>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传统电网电力系统现状</a:t>
            </a:r>
            <a:endParaRPr sz="1700" dirty="0"/>
          </a:p>
        </p:txBody>
      </p:sp>
      <p:sp>
        <p:nvSpPr>
          <p:cNvPr id="626" name="textbox 626"/>
          <p:cNvSpPr/>
          <p:nvPr/>
        </p:nvSpPr>
        <p:spPr>
          <a:xfrm>
            <a:off x="6134100" y="2571750"/>
            <a:ext cx="3895725" cy="247650"/>
          </a:xfrm>
          <a:prstGeom prst="rect">
            <a:avLst/>
          </a:prstGeom>
          <a:noFill/>
          <a:ln w="0" cap="flat">
            <a:noFill/>
            <a:prstDash val="solid"/>
            <a:miter lim="0"/>
          </a:ln>
        </p:spPr>
        <p:txBody>
          <a:bodyPr vert="horz" wrap="none" lIns="0" tIns="0" rIns="0" bIns="0"/>
          <a:lstStyle/>
          <a:p>
            <a:pPr algn="l" rtl="0" eaLnBrk="0"/>
            <a:r>
              <a:rPr sz="1800" b="1" kern="0" spc="0" dirty="0">
                <a:solidFill>
                  <a:srgbClr val="1166B0">
                    <a:alpha val="100000"/>
                  </a:srgbClr>
                </a:solidFill>
                <a:latin typeface="微软雅黑" panose="020B0503020204020204" charset="-122"/>
                <a:ea typeface="微软雅黑" panose="020B0503020204020204" charset="-122"/>
                <a:cs typeface="微软雅黑" panose="020B0503020204020204" charset="-122"/>
              </a:rPr>
              <a:t>技术方法创新→</a:t>
            </a:r>
            <a:r>
              <a:rPr sz="18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全周期一体化智能决策</a:t>
            </a:r>
            <a:endParaRPr sz="1800" dirty="0"/>
          </a:p>
        </p:txBody>
      </p:sp>
      <p:sp>
        <p:nvSpPr>
          <p:cNvPr id="628" name="textbox 628"/>
          <p:cNvSpPr/>
          <p:nvPr/>
        </p:nvSpPr>
        <p:spPr>
          <a:xfrm>
            <a:off x="781050" y="2962275"/>
            <a:ext cx="125730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电力生产和分配</a:t>
            </a:r>
            <a:endParaRPr sz="1400" dirty="0"/>
          </a:p>
        </p:txBody>
      </p:sp>
      <p:sp>
        <p:nvSpPr>
          <p:cNvPr id="630" name="textbox 630"/>
          <p:cNvSpPr/>
          <p:nvPr/>
        </p:nvSpPr>
        <p:spPr>
          <a:xfrm>
            <a:off x="2095500" y="2971800"/>
            <a:ext cx="762000" cy="209550"/>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相对低效</a:t>
            </a:r>
            <a:endParaRPr sz="1400" dirty="0"/>
          </a:p>
        </p:txBody>
      </p:sp>
      <p:pic>
        <p:nvPicPr>
          <p:cNvPr id="634" name="picture 634"/>
          <p:cNvPicPr>
            <a:picLocks noChangeAspect="1"/>
          </p:cNvPicPr>
          <p:nvPr/>
        </p:nvPicPr>
        <p:blipFill>
          <a:blip r:embed="rId3"/>
          <a:stretch>
            <a:fillRect/>
          </a:stretch>
        </p:blipFill>
        <p:spPr>
          <a:xfrm>
            <a:off x="2971800" y="2990850"/>
            <a:ext cx="209550" cy="190500"/>
          </a:xfrm>
          <a:prstGeom prst="rect">
            <a:avLst/>
          </a:prstGeom>
        </p:spPr>
      </p:pic>
      <p:sp>
        <p:nvSpPr>
          <p:cNvPr id="636" name="textbox 636"/>
          <p:cNvSpPr/>
          <p:nvPr/>
        </p:nvSpPr>
        <p:spPr>
          <a:xfrm>
            <a:off x="781050" y="3314700"/>
            <a:ext cx="1257300" cy="228600"/>
          </a:xfrm>
          <a:prstGeom prst="rect">
            <a:avLst/>
          </a:prstGeom>
          <a:noFill/>
          <a:ln w="0" cap="flat">
            <a:noFill/>
            <a:prstDash val="solid"/>
            <a:miter lim="0"/>
          </a:ln>
        </p:spPr>
        <p:txBody>
          <a:bodyPr vert="horz" wrap="none" lIns="0" tIns="0" rIns="0" bIns="0"/>
          <a:lstStyle/>
          <a:p>
            <a:pPr algn="l" rtl="0" eaLnBrk="0"/>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人工监控与巡检</a:t>
            </a:r>
            <a:endParaRPr sz="1400" dirty="0"/>
          </a:p>
        </p:txBody>
      </p:sp>
      <p:sp>
        <p:nvSpPr>
          <p:cNvPr id="638" name="textbox 638"/>
          <p:cNvSpPr/>
          <p:nvPr/>
        </p:nvSpPr>
        <p:spPr>
          <a:xfrm>
            <a:off x="2095500" y="3314700"/>
            <a:ext cx="762000" cy="228600"/>
          </a:xfrm>
          <a:prstGeom prst="rect">
            <a:avLst/>
          </a:prstGeom>
          <a:noFill/>
          <a:ln w="0" cap="flat">
            <a:noFill/>
            <a:prstDash val="solid"/>
            <a:miter lim="0"/>
          </a:ln>
        </p:spPr>
        <p:txBody>
          <a:bodyPr vert="horz" wrap="none" lIns="0" tIns="0" rIns="0" bIns="0"/>
          <a:lstStyle/>
          <a:p>
            <a:pPr algn="l" rtl="0" eaLnBrk="0"/>
            <a:r>
              <a:rPr sz="13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成本较高</a:t>
            </a:r>
            <a:endParaRPr sz="1300" dirty="0"/>
          </a:p>
        </p:txBody>
      </p:sp>
      <p:pic>
        <p:nvPicPr>
          <p:cNvPr id="642" name="picture 642"/>
          <p:cNvPicPr>
            <a:picLocks noChangeAspect="1"/>
          </p:cNvPicPr>
          <p:nvPr/>
        </p:nvPicPr>
        <p:blipFill>
          <a:blip r:embed="rId4"/>
          <a:stretch>
            <a:fillRect/>
          </a:stretch>
        </p:blipFill>
        <p:spPr>
          <a:xfrm>
            <a:off x="2971800" y="3333750"/>
            <a:ext cx="209550" cy="209550"/>
          </a:xfrm>
          <a:prstGeom prst="rect">
            <a:avLst/>
          </a:prstGeom>
        </p:spPr>
      </p:pic>
      <p:pic>
        <p:nvPicPr>
          <p:cNvPr id="646" name="picture 646"/>
          <p:cNvPicPr>
            <a:picLocks noChangeAspect="1"/>
          </p:cNvPicPr>
          <p:nvPr/>
        </p:nvPicPr>
        <p:blipFill>
          <a:blip r:embed="rId5"/>
          <a:stretch>
            <a:fillRect/>
          </a:stretch>
        </p:blipFill>
        <p:spPr>
          <a:xfrm>
            <a:off x="3781425" y="2876550"/>
            <a:ext cx="1495425" cy="1028700"/>
          </a:xfrm>
          <a:prstGeom prst="rect">
            <a:avLst/>
          </a:prstGeom>
        </p:spPr>
      </p:pic>
      <p:sp>
        <p:nvSpPr>
          <p:cNvPr id="648" name="textbox 648"/>
          <p:cNvSpPr/>
          <p:nvPr/>
        </p:nvSpPr>
        <p:spPr>
          <a:xfrm>
            <a:off x="6124575" y="3086100"/>
            <a:ext cx="4362450" cy="238125"/>
          </a:xfrm>
          <a:prstGeom prst="rect">
            <a:avLst/>
          </a:prstGeom>
          <a:noFill/>
          <a:ln w="0" cap="flat">
            <a:noFill/>
            <a:prstDash val="solid"/>
            <a:miter lim="0"/>
          </a:ln>
        </p:spPr>
        <p:txBody>
          <a:bodyPr vert="horz" wrap="none" lIns="0" tIns="0" rIns="0" bIns="0"/>
          <a:lstStyle/>
          <a:p>
            <a:pPr marL="285750" indent="-276225" algn="l" rtl="0" eaLnBrk="0">
              <a:buChar char="►"/>
            </a:pPr>
            <a:r>
              <a:rPr sz="16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构建高保真数字孪生环境，模拟各种极端扰动</a:t>
            </a:r>
            <a:endParaRPr sz="1600" dirty="0"/>
          </a:p>
        </p:txBody>
      </p:sp>
      <p:sp>
        <p:nvSpPr>
          <p:cNvPr id="650" name="textbox 650"/>
          <p:cNvSpPr/>
          <p:nvPr/>
        </p:nvSpPr>
        <p:spPr>
          <a:xfrm>
            <a:off x="6124575" y="3371850"/>
            <a:ext cx="5000625" cy="257175"/>
          </a:xfrm>
          <a:prstGeom prst="rect">
            <a:avLst/>
          </a:prstGeom>
          <a:noFill/>
          <a:ln w="0" cap="flat">
            <a:noFill/>
            <a:prstDash val="solid"/>
            <a:miter lim="0"/>
          </a:ln>
        </p:spPr>
        <p:txBody>
          <a:bodyPr vert="horz" wrap="none" lIns="0" tIns="0" rIns="0" bIns="0"/>
          <a:lstStyle/>
          <a:p>
            <a:pPr marL="276225" indent="-257175" algn="l" rtl="0" eaLnBrk="0">
              <a:buChar char="►"/>
            </a:pPr>
            <a:r>
              <a:rPr sz="15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在此“训练场”中训练深度强化学习（DRL）智能体</a:t>
            </a:r>
            <a:endParaRPr sz="1500" dirty="0"/>
          </a:p>
        </p:txBody>
      </p:sp>
      <p:sp>
        <p:nvSpPr>
          <p:cNvPr id="652" name="textbox 652"/>
          <p:cNvSpPr/>
          <p:nvPr/>
        </p:nvSpPr>
        <p:spPr>
          <a:xfrm>
            <a:off x="781050" y="3676650"/>
            <a:ext cx="1095375" cy="219075"/>
          </a:xfrm>
          <a:prstGeom prst="rect">
            <a:avLst/>
          </a:prstGeom>
          <a:noFill/>
          <a:ln w="0" cap="flat">
            <a:noFill/>
            <a:prstDash val="solid"/>
            <a:miter lim="0"/>
          </a:ln>
        </p:spPr>
        <p:txBody>
          <a:bodyPr vert="horz" wrap="none" lIns="0" tIns="0" rIns="0" bIns="0"/>
          <a:lstStyle/>
          <a:p>
            <a:pPr algn="l" rtl="0" eaLnBrk="0"/>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设备故障响应</a:t>
            </a:r>
            <a:endParaRPr sz="1400" dirty="0"/>
          </a:p>
        </p:txBody>
      </p:sp>
      <p:sp>
        <p:nvSpPr>
          <p:cNvPr id="654" name="textbox 654"/>
          <p:cNvSpPr/>
          <p:nvPr/>
        </p:nvSpPr>
        <p:spPr>
          <a:xfrm>
            <a:off x="1924050" y="3676650"/>
            <a:ext cx="1438275" cy="2190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全天候实时响应差</a:t>
            </a:r>
            <a:endParaRPr sz="1400" dirty="0"/>
          </a:p>
        </p:txBody>
      </p:sp>
      <p:pic>
        <p:nvPicPr>
          <p:cNvPr id="658" name="picture 658"/>
          <p:cNvPicPr>
            <a:picLocks noChangeAspect="1"/>
          </p:cNvPicPr>
          <p:nvPr/>
        </p:nvPicPr>
        <p:blipFill>
          <a:blip r:embed="rId6"/>
          <a:stretch>
            <a:fillRect/>
          </a:stretch>
        </p:blipFill>
        <p:spPr>
          <a:xfrm>
            <a:off x="3486150" y="3686175"/>
            <a:ext cx="200025" cy="209550"/>
          </a:xfrm>
          <a:prstGeom prst="rect">
            <a:avLst/>
          </a:prstGeom>
        </p:spPr>
      </p:pic>
      <p:sp>
        <p:nvSpPr>
          <p:cNvPr id="660" name="textbox 660"/>
          <p:cNvSpPr/>
          <p:nvPr/>
        </p:nvSpPr>
        <p:spPr>
          <a:xfrm>
            <a:off x="1771650" y="4248150"/>
            <a:ext cx="2314575" cy="247650"/>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新型电网电力系统发展</a:t>
            </a:r>
            <a:endParaRPr sz="1800" dirty="0"/>
          </a:p>
        </p:txBody>
      </p:sp>
      <p:sp>
        <p:nvSpPr>
          <p:cNvPr id="662" name="textbox 662"/>
          <p:cNvSpPr/>
          <p:nvPr/>
        </p:nvSpPr>
        <p:spPr>
          <a:xfrm>
            <a:off x="781050" y="4714875"/>
            <a:ext cx="2295525" cy="219075"/>
          </a:xfrm>
          <a:prstGeom prst="rect">
            <a:avLst/>
          </a:prstGeom>
          <a:noFill/>
          <a:ln w="0" cap="flat">
            <a:noFill/>
            <a:prstDash val="solid"/>
            <a:miter lim="0"/>
          </a:ln>
        </p:spPr>
        <p:txBody>
          <a:bodyPr vert="horz" wrap="none" lIns="0" tIns="0" rIns="0" bIns="0"/>
          <a:lstStyle/>
          <a:p>
            <a:pPr algn="l" rtl="0" eaLnBrk="0"/>
            <a:r>
              <a:rPr sz="14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发电</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智能调度</a:t>
            </a:r>
            <a:r>
              <a:rPr sz="1400" b="1" kern="0" spc="0" dirty="0">
                <a:solidFill>
                  <a:srgbClr val="990000">
                    <a:alpha val="100000"/>
                  </a:srgbClr>
                </a:solidFill>
                <a:latin typeface="Times New Roman" panose="02020603050405020304"/>
                <a:ea typeface="Times New Roman" panose="02020603050405020304"/>
                <a:cs typeface="Times New Roman" panose="02020603050405020304"/>
              </a:rPr>
              <a:t>&amp;</a:t>
            </a:r>
            <a:r>
              <a:rPr sz="14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输电</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网络优化</a:t>
            </a:r>
            <a:endParaRPr sz="1400" dirty="0"/>
          </a:p>
        </p:txBody>
      </p:sp>
      <p:sp>
        <p:nvSpPr>
          <p:cNvPr id="664" name="textbox 664"/>
          <p:cNvSpPr/>
          <p:nvPr/>
        </p:nvSpPr>
        <p:spPr>
          <a:xfrm>
            <a:off x="3124200" y="4733925"/>
            <a:ext cx="57150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损耗低</a:t>
            </a:r>
            <a:endParaRPr sz="1400" dirty="0"/>
          </a:p>
        </p:txBody>
      </p:sp>
      <p:pic>
        <p:nvPicPr>
          <p:cNvPr id="668" name="picture 668"/>
          <p:cNvPicPr>
            <a:picLocks noChangeAspect="1"/>
          </p:cNvPicPr>
          <p:nvPr/>
        </p:nvPicPr>
        <p:blipFill>
          <a:blip r:embed="rId7"/>
          <a:stretch>
            <a:fillRect/>
          </a:stretch>
        </p:blipFill>
        <p:spPr>
          <a:xfrm>
            <a:off x="3800475" y="4733925"/>
            <a:ext cx="209550" cy="219075"/>
          </a:xfrm>
          <a:prstGeom prst="rect">
            <a:avLst/>
          </a:prstGeom>
        </p:spPr>
      </p:pic>
      <p:sp>
        <p:nvSpPr>
          <p:cNvPr id="670" name="textbox 670"/>
          <p:cNvSpPr/>
          <p:nvPr/>
        </p:nvSpPr>
        <p:spPr>
          <a:xfrm>
            <a:off x="781050" y="5076825"/>
            <a:ext cx="2295525" cy="209550"/>
          </a:xfrm>
          <a:prstGeom prst="rect">
            <a:avLst/>
          </a:prstGeom>
          <a:noFill/>
          <a:ln w="0" cap="flat">
            <a:noFill/>
            <a:prstDash val="solid"/>
            <a:miter lim="0"/>
          </a:ln>
        </p:spPr>
        <p:txBody>
          <a:bodyPr vert="horz" wrap="none" lIns="0" tIns="0" rIns="0" bIns="0"/>
          <a:lstStyle/>
          <a:p>
            <a:pPr algn="l" rtl="0" eaLnBrk="0"/>
            <a:r>
              <a:rPr sz="1400" b="1" kern="0" spc="0" dirty="0">
                <a:solidFill>
                  <a:srgbClr val="A31515">
                    <a:alpha val="100000"/>
                  </a:srgbClr>
                </a:solidFill>
                <a:latin typeface="微软雅黑" panose="020B0503020204020204" charset="-122"/>
                <a:ea typeface="微软雅黑" panose="020B0503020204020204" charset="-122"/>
                <a:cs typeface="微软雅黑" panose="020B0503020204020204" charset="-122"/>
              </a:rPr>
              <a:t>配电</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灵活管控</a:t>
            </a:r>
            <a:r>
              <a:rPr sz="1400" b="1" kern="0" spc="0" dirty="0">
                <a:solidFill>
                  <a:srgbClr val="A31515">
                    <a:alpha val="100000"/>
                  </a:srgbClr>
                </a:solidFill>
                <a:latin typeface="微软雅黑" panose="020B0503020204020204" charset="-122"/>
                <a:ea typeface="微软雅黑" panose="020B0503020204020204" charset="-122"/>
                <a:cs typeface="微软雅黑" panose="020B0503020204020204" charset="-122"/>
              </a:rPr>
              <a:t>&amp;变电</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精准检修</a:t>
            </a:r>
            <a:endParaRPr sz="1400" dirty="0"/>
          </a:p>
        </p:txBody>
      </p:sp>
      <p:sp>
        <p:nvSpPr>
          <p:cNvPr id="672" name="textbox 672"/>
          <p:cNvSpPr/>
          <p:nvPr/>
        </p:nvSpPr>
        <p:spPr>
          <a:xfrm>
            <a:off x="3124200" y="5076825"/>
            <a:ext cx="57150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响应快</a:t>
            </a:r>
            <a:endParaRPr sz="1400" dirty="0"/>
          </a:p>
        </p:txBody>
      </p:sp>
      <p:pic>
        <p:nvPicPr>
          <p:cNvPr id="676" name="picture 676"/>
          <p:cNvPicPr>
            <a:picLocks noChangeAspect="1"/>
          </p:cNvPicPr>
          <p:nvPr/>
        </p:nvPicPr>
        <p:blipFill>
          <a:blip r:embed="rId8"/>
          <a:stretch>
            <a:fillRect/>
          </a:stretch>
        </p:blipFill>
        <p:spPr>
          <a:xfrm>
            <a:off x="3800475" y="5076825"/>
            <a:ext cx="209550" cy="219075"/>
          </a:xfrm>
          <a:prstGeom prst="rect">
            <a:avLst/>
          </a:prstGeom>
        </p:spPr>
      </p:pic>
      <p:pic>
        <p:nvPicPr>
          <p:cNvPr id="680" name="picture 680"/>
          <p:cNvPicPr>
            <a:picLocks noChangeAspect="1"/>
          </p:cNvPicPr>
          <p:nvPr/>
        </p:nvPicPr>
        <p:blipFill>
          <a:blip r:embed="rId9"/>
          <a:stretch>
            <a:fillRect/>
          </a:stretch>
        </p:blipFill>
        <p:spPr>
          <a:xfrm>
            <a:off x="4133850" y="4676775"/>
            <a:ext cx="1143000" cy="581025"/>
          </a:xfrm>
          <a:prstGeom prst="rect">
            <a:avLst/>
          </a:prstGeom>
        </p:spPr>
      </p:pic>
      <mc:AlternateContent xmlns:mc="http://schemas.openxmlformats.org/markup-compatibility/2006">
        <mc:Choice xmlns:a14="http://schemas.microsoft.com/office/drawing/2010/main" Requires="a14">
          <p:sp>
            <p:nvSpPr>
              <p:cNvPr id="682" name="textbox 682"/>
              <p:cNvSpPr/>
              <p:nvPr/>
            </p:nvSpPr>
            <p:spPr>
              <a:xfrm>
                <a:off x="6067425" y="4333875"/>
                <a:ext cx="1219200" cy="4572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eqArr>
                        <m:eqArrPr>
                          <m:ctrlPr>
                            <a:rPr/>
                          </m:ctrlPr>
                        </m:eqArrPr>
                        <m:e>
                          <m:f>
                            <m:fPr>
                              <m:ctrlPr>
                                <a:rPr/>
                              </m:ctrlPr>
                            </m:fPr>
                            <m:num>
                              <m:r>
                                <m:rPr>
                                  <m:sty m:val="p"/>
                                </m:rPr>
                                <a:rPr lang="en-US" sz="1000" dirty="0">
                                  <a:latin typeface="Cambria Math" panose="02040503050406030204"/>
                                  <a:ea typeface="Cambria Math" panose="02040503050406030204"/>
                                </a:rPr>
                                <m:t>d</m:t>
                              </m:r>
                            </m:num>
                            <m:den>
                              <m:r>
                                <m:rPr>
                                  <m:sty m:val="p"/>
                                </m:rPr>
                                <a:rPr lang="en-US" sz="1000" dirty="0">
                                  <a:latin typeface="Cambria Math" panose="02040503050406030204"/>
                                  <a:ea typeface="Cambria Math" panose="02040503050406030204"/>
                                </a:rPr>
                                <m:t>d</m:t>
                              </m:r>
                              <m:r>
                                <m:rPr>
                                  <m:sty m:val="p"/>
                                </m:rPr>
                                <a:rPr lang="en-US" sz="1000" dirty="0">
                                  <a:latin typeface="Cambria Math" panose="02040503050406030204"/>
                                  <a:ea typeface="Cambria Math" panose="02040503050406030204"/>
                                </a:rPr>
                                <m:t>t</m:t>
                              </m:r>
                            </m:den>
                          </m:f>
                          <m:f>
                            <m:fPr>
                              <m:ctrlPr>
                                <a:rPr/>
                              </m:ctrlPr>
                            </m:fPr>
                            <m:num>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L</m:t>
                              </m:r>
                            </m:num>
                            <m:den>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den>
                          </m:f>
                          <m:r>
                            <a:rPr lang="en-US" sz="1000" dirty="0">
                              <a:latin typeface="Cambria Math" panose="02040503050406030204"/>
                              <a:ea typeface="Cambria Math" panose="02040503050406030204"/>
                            </a:rPr>
                            <m:t>−</m:t>
                          </m:r>
                          <m:f>
                            <m:fPr>
                              <m:ctrlPr>
                                <a:rPr/>
                              </m:ctrlPr>
                            </m:fPr>
                            <m:num>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L</m:t>
                              </m:r>
                            </m:num>
                            <m:den>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den>
                          </m:f>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e>
                        <m:e>
                          <m:r>
                            <m:rPr>
                              <m:sty m:val="p"/>
                            </m:rPr>
                            <a:rPr lang="en-US" sz="1000" dirty="0">
                              <a:latin typeface="Cambria Math" panose="02040503050406030204"/>
                              <a:ea typeface="Cambria Math" panose="02040503050406030204"/>
                            </a:rPr>
                            <m:t>H</m:t>
                          </m:r>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r>
                            <a:rPr lang="en-US" sz="1000" dirty="0">
                              <a:latin typeface="Cambria Math" panose="02040503050406030204"/>
                              <a:ea typeface="Cambria Math" panose="02040503050406030204"/>
                            </a:rPr>
                            <m:t>)</m:t>
                          </m:r>
                          <m:acc>
                            <m:accPr>
                              <m:chr m:val="⃗"/>
                              <m:ctrlPr>
                                <a:rPr/>
                              </m:ctrlPr>
                            </m:accPr>
                            <m:e>
                              <m:r>
                                <m:rPr>
                                  <m:sty m:val="p"/>
                                </m:rPr>
                                <a:rPr lang="en-US" sz="1000" dirty="0">
                                  <a:latin typeface="Cambria Math" panose="02040503050406030204"/>
                                  <a:ea typeface="Cambria Math" panose="02040503050406030204"/>
                                </a:rPr>
                                <m:t>q</m:t>
                              </m:r>
                            </m:e>
                          </m:acc>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C</m:t>
                          </m:r>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r>
                            <a:rPr lang="en-US" sz="1000" dirty="0">
                              <a:latin typeface="Cambria Math" panose="02040503050406030204"/>
                              <a:ea typeface="Cambria Math" panose="02040503050406030204"/>
                            </a:rPr>
                            <m:t>,</m:t>
                          </m:r>
                          <m:acc>
                            <m:accPr>
                              <m:chr m:val="⃗"/>
                              <m:ctrlPr>
                                <a:rPr/>
                              </m:ctrlPr>
                            </m:accPr>
                            <m:e>
                              <m:r>
                                <m:rPr>
                                  <m:sty m:val="p"/>
                                </m:rPr>
                                <a:rPr lang="en-US" sz="1000" dirty="0">
                                  <a:latin typeface="Cambria Math" panose="02040503050406030204"/>
                                  <a:ea typeface="Cambria Math" panose="02040503050406030204"/>
                                </a:rPr>
                                <m:t>q</m:t>
                              </m:r>
                            </m:e>
                          </m:acc>
                          <m:r>
                            <a:rPr lang="en-US" sz="1000" dirty="0">
                              <a:latin typeface="Cambria Math" panose="02040503050406030204"/>
                              <a:ea typeface="Cambria Math" panose="02040503050406030204"/>
                            </a:rPr>
                            <m:t>)</m:t>
                          </m:r>
                          <m:acc>
                            <m:accPr>
                              <m:chr m:val="̇"/>
                              <m:ctrlPr>
                                <a:rPr/>
                              </m:ctrlPr>
                            </m:accPr>
                            <m:e>
                              <m:r>
                                <m:rPr>
                                  <m:sty m:val="p"/>
                                </m:rPr>
                                <a:rPr lang="en-US" sz="1000" dirty="0">
                                  <a:latin typeface="Cambria Math" panose="02040503050406030204"/>
                                  <a:ea typeface="Cambria Math" panose="02040503050406030204"/>
                                </a:rPr>
                                <m:t>q</m:t>
                              </m:r>
                            </m:e>
                          </m:acc>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G</m:t>
                          </m:r>
                          <m:r>
                            <a:rPr lang="en-US" sz="1000" dirty="0">
                              <a:latin typeface="Cambria Math" panose="02040503050406030204"/>
                              <a:ea typeface="Cambria Math" panose="02040503050406030204"/>
                            </a:rPr>
                            <m:t>(</m:t>
                          </m:r>
                          <m:r>
                            <m:rPr>
                              <m:sty m:val="p"/>
                            </m:rPr>
                            <a:rPr lang="en-US" sz="1000" dirty="0">
                              <a:latin typeface="Cambria Math" panose="02040503050406030204"/>
                              <a:ea typeface="Cambria Math" panose="02040503050406030204"/>
                            </a:rPr>
                            <m:t>q</m:t>
                          </m:r>
                          <m:r>
                            <a:rPr lang="en-US" sz="1000" dirty="0">
                              <a:latin typeface="Cambria Math" panose="02040503050406030204"/>
                              <a:ea typeface="Cambria Math" panose="02040503050406030204"/>
                            </a:rPr>
                            <m:t>)</m:t>
                          </m:r>
                          <m:r>
                            <a:rPr lang="en-US" sz="1000" dirty="0">
                              <a:latin typeface="Cambria Math" panose="02040503050406030204"/>
                              <a:ea typeface="Cambria Math" panose="02040503050406030204"/>
                            </a:rPr>
                            <m:t>=</m:t>
                          </m:r>
                          <m:r>
                            <a:rPr lang="en-US" sz="1000" dirty="0">
                              <a:latin typeface="Cambria Math" panose="02040503050406030204"/>
                              <a:ea typeface="Cambria Math" panose="02040503050406030204"/>
                            </a:rPr>
                            <m:t>𝜏</m:t>
                          </m:r>
                        </m:e>
                      </m:eqArr>
                    </m:oMath>
                  </m:oMathPara>
                </a14:m>
                <a:endParaRPr sz="600" dirty="0"/>
              </a:p>
            </p:txBody>
          </p:sp>
        </mc:Choice>
        <mc:Fallback>
          <p:sp>
            <p:nvSpPr>
              <p:cNvPr id="682" name="textbox 682"/>
              <p:cNvSpPr>
                <a:spLocks noRot="1" noChangeAspect="1" noMove="1" noResize="1" noEditPoints="1" noAdjustHandles="1" noChangeArrowheads="1" noChangeShapeType="1" noTextEdit="1"/>
              </p:cNvSpPr>
              <p:nvPr/>
            </p:nvSpPr>
            <p:spPr>
              <a:xfrm>
                <a:off x="6067425" y="4333875"/>
                <a:ext cx="1219200" cy="457200"/>
              </a:xfrm>
              <a:prstGeom prst="rect">
                <a:avLst/>
              </a:prstGeom>
              <a:blipFill rotWithShape="1">
                <a:blip r:embed="rId10"/>
                <a:stretch>
                  <a:fillRect r="-41354" b="-53889"/>
                </a:stretch>
              </a:blipFill>
              <a:ln w="0" cap="flat">
                <a:noFill/>
                <a:prstDash val="solid"/>
                <a:miter lim="0"/>
              </a:ln>
            </p:spPr>
            <p:txBody>
              <a:bodyPr/>
              <a:lstStyle/>
              <a:p>
                <a:r>
                  <a:rPr lang="zh-CN" altLang="en-US">
                    <a:noFill/>
                  </a:rPr>
                  <a:t> </a:t>
                </a:r>
              </a:p>
            </p:txBody>
          </p:sp>
        </mc:Fallback>
      </mc:AlternateContent>
      <p:pic>
        <p:nvPicPr>
          <p:cNvPr id="686" name="picture 686"/>
          <p:cNvPicPr>
            <a:picLocks noChangeAspect="1"/>
          </p:cNvPicPr>
          <p:nvPr/>
        </p:nvPicPr>
        <p:blipFill>
          <a:blip r:embed="rId11"/>
          <a:stretch>
            <a:fillRect/>
          </a:stretch>
        </p:blipFill>
        <p:spPr>
          <a:xfrm>
            <a:off x="7286625" y="3933825"/>
            <a:ext cx="1133475" cy="1019175"/>
          </a:xfrm>
          <a:prstGeom prst="rect">
            <a:avLst/>
          </a:prstGeom>
        </p:spPr>
      </p:pic>
      <mc:AlternateContent xmlns:mc="http://schemas.openxmlformats.org/markup-compatibility/2006">
        <mc:Choice xmlns:a14="http://schemas.microsoft.com/office/drawing/2010/main" Requires="a14">
          <p:sp>
            <p:nvSpPr>
              <p:cNvPr id="688" name="textbox 688"/>
              <p:cNvSpPr/>
              <p:nvPr/>
            </p:nvSpPr>
            <p:spPr>
              <a:xfrm>
                <a:off x="8810625" y="4333875"/>
                <a:ext cx="1171575" cy="457200"/>
              </a:xfrm>
              <a:prstGeom prst="rect">
                <a:avLst/>
              </a:prstGeom>
              <a:noFill/>
              <a:ln w="0" cap="flat">
                <a:noFill/>
                <a:prstDash val="solid"/>
                <a:miter lim="0"/>
              </a:ln>
            </p:spPr>
            <p:txBody>
              <a:bodyPr vert="horz" wrap="none" lIns="0" tIns="0" rIns="0" bIns="0"/>
              <a:lstStyle/>
              <a:p>
                <a:pPr algn="l" rtl="0" eaLnBrk="0"/>
                <a14:m>
                  <m:oMathPara xmlns:m="http://schemas.openxmlformats.org/officeDocument/2006/math">
                    <m:oMathParaPr>
                      <m:jc m:val="centerGroup"/>
                    </m:oMathParaPr>
                    <m:oMath xmlns:m="http://schemas.openxmlformats.org/officeDocument/2006/math">
                      <m:eqArr>
                        <m:eqArrPr>
                          <m:ctrlPr>
                            <a:rPr/>
                          </m:ctrlPr>
                        </m:eqArrPr>
                        <m:e>
                          <m:f>
                            <m:fPr>
                              <m:ctrlPr>
                                <a:rPr/>
                              </m:ctrlPr>
                            </m:fPr>
                            <m:num>
                              <m:r>
                                <m:rPr>
                                  <m:sty m:val="p"/>
                                </m:rPr>
                                <a:rPr lang="en-US" sz="900" dirty="0">
                                  <a:latin typeface="Cambria Math" panose="02040503050406030204"/>
                                  <a:ea typeface="Cambria Math" panose="02040503050406030204"/>
                                </a:rPr>
                                <m:t>d</m:t>
                              </m:r>
                            </m:num>
                            <m:den>
                              <m:r>
                                <m:rPr>
                                  <m:sty m:val="p"/>
                                </m:rPr>
                                <a:rPr lang="en-US" sz="900" dirty="0">
                                  <a:latin typeface="Cambria Math" panose="02040503050406030204"/>
                                  <a:ea typeface="Cambria Math" panose="02040503050406030204"/>
                                </a:rPr>
                                <m:t>d</m:t>
                              </m:r>
                              <m:r>
                                <m:rPr>
                                  <m:sty m:val="p"/>
                                </m:rPr>
                                <a:rPr lang="en-US" sz="900" dirty="0">
                                  <a:latin typeface="Cambria Math" panose="02040503050406030204"/>
                                  <a:ea typeface="Cambria Math" panose="02040503050406030204"/>
                                </a:rPr>
                                <m:t>t</m:t>
                              </m:r>
                            </m:den>
                          </m:f>
                          <m:f>
                            <m:fPr>
                              <m:ctrlPr>
                                <a:rPr/>
                              </m:ctrlPr>
                            </m:fPr>
                            <m:num>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L</m:t>
                              </m:r>
                            </m:num>
                            <m:den>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q</m:t>
                              </m:r>
                            </m:den>
                          </m:f>
                          <m:r>
                            <a:rPr lang="en-US" sz="900" dirty="0">
                              <a:latin typeface="Cambria Math" panose="02040503050406030204"/>
                              <a:ea typeface="Cambria Math" panose="02040503050406030204"/>
                            </a:rPr>
                            <m:t>−</m:t>
                          </m:r>
                          <m:f>
                            <m:fPr>
                              <m:ctrlPr>
                                <a:rPr/>
                              </m:ctrlPr>
                            </m:fPr>
                            <m:num>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L</m:t>
                              </m:r>
                            </m:num>
                            <m:den>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q</m:t>
                              </m:r>
                            </m:den>
                          </m:f>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Q</m:t>
                          </m:r>
                        </m:e>
                        <m:e>
                          <m:r>
                            <m:rPr>
                              <m:sty m:val="p"/>
                            </m:rPr>
                            <a:rPr lang="en-US" sz="900" dirty="0">
                              <a:latin typeface="Cambria Math" panose="02040503050406030204"/>
                              <a:ea typeface="Cambria Math" panose="02040503050406030204"/>
                            </a:rPr>
                            <m:t>H</m:t>
                          </m:r>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q</m:t>
                          </m:r>
                          <m:r>
                            <a:rPr lang="en-US" sz="900" dirty="0">
                              <a:latin typeface="Cambria Math" panose="02040503050406030204"/>
                              <a:ea typeface="Cambria Math" panose="02040503050406030204"/>
                            </a:rPr>
                            <m:t>)</m:t>
                          </m:r>
                          <m:acc>
                            <m:accPr>
                              <m:chr m:val="⃗"/>
                              <m:ctrlPr>
                                <a:rPr/>
                              </m:ctrlPr>
                            </m:accPr>
                            <m:e>
                              <m:r>
                                <m:rPr>
                                  <m:sty m:val="p"/>
                                </m:rPr>
                                <a:rPr lang="en-US" sz="900" dirty="0">
                                  <a:latin typeface="Cambria Math" panose="02040503050406030204"/>
                                  <a:ea typeface="Cambria Math" panose="02040503050406030204"/>
                                </a:rPr>
                                <m:t>q</m:t>
                              </m:r>
                            </m:e>
                          </m:acc>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C</m:t>
                          </m:r>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q</m:t>
                          </m:r>
                          <m:r>
                            <a:rPr lang="en-US" sz="900" dirty="0">
                              <a:latin typeface="Cambria Math" panose="02040503050406030204"/>
                              <a:ea typeface="Cambria Math" panose="02040503050406030204"/>
                            </a:rPr>
                            <m:t>,</m:t>
                          </m:r>
                          <m:acc>
                            <m:accPr>
                              <m:chr m:val="⃗"/>
                              <m:ctrlPr>
                                <a:rPr/>
                              </m:ctrlPr>
                            </m:accPr>
                            <m:e>
                              <m:r>
                                <m:rPr>
                                  <m:sty m:val="p"/>
                                </m:rPr>
                                <a:rPr lang="en-US" sz="900" dirty="0">
                                  <a:latin typeface="Cambria Math" panose="02040503050406030204"/>
                                  <a:ea typeface="Cambria Math" panose="02040503050406030204"/>
                                </a:rPr>
                                <m:t>q</m:t>
                              </m:r>
                            </m:e>
                          </m:acc>
                          <m:r>
                            <a:rPr lang="en-US" sz="900" dirty="0">
                              <a:latin typeface="Cambria Math" panose="02040503050406030204"/>
                              <a:ea typeface="Cambria Math" panose="02040503050406030204"/>
                            </a:rPr>
                            <m:t>)</m:t>
                          </m:r>
                          <m:acc>
                            <m:accPr>
                              <m:chr m:val="⃗"/>
                              <m:ctrlPr>
                                <a:rPr/>
                              </m:ctrlPr>
                            </m:accPr>
                            <m:e>
                              <m:r>
                                <m:rPr>
                                  <m:sty m:val="p"/>
                                </m:rPr>
                                <a:rPr lang="en-US" sz="900" dirty="0">
                                  <a:latin typeface="Cambria Math" panose="02040503050406030204"/>
                                  <a:ea typeface="Cambria Math" panose="02040503050406030204"/>
                                </a:rPr>
                                <m:t>q</m:t>
                              </m:r>
                            </m:e>
                          </m:acc>
                          <m:r>
                            <a:rPr lang="en-US" sz="900" dirty="0">
                              <a:latin typeface="Cambria Math" panose="02040503050406030204"/>
                              <a:ea typeface="Cambria Math" panose="02040503050406030204"/>
                            </a:rPr>
                            <m:t>+</m:t>
                          </m:r>
                          <m:r>
                            <m:rPr>
                              <m:sty m:val="p"/>
                            </m:rPr>
                            <a:rPr lang="en-US" sz="900" dirty="0">
                              <a:latin typeface="Cambria Math" panose="02040503050406030204"/>
                              <a:ea typeface="Cambria Math" panose="02040503050406030204"/>
                            </a:rPr>
                            <m:t>G</m:t>
                          </m:r>
                          <m:r>
                            <a:rPr lang="en-US" sz="900" dirty="0">
                              <a:latin typeface="Cambria Math" panose="02040503050406030204"/>
                              <a:ea typeface="Cambria Math" panose="02040503050406030204"/>
                            </a:rPr>
                            <m:t>(</m:t>
                          </m:r>
                          <m:acc>
                            <m:accPr>
                              <m:chr m:val="⃗"/>
                              <m:ctrlPr>
                                <a:rPr/>
                              </m:ctrlPr>
                            </m:accPr>
                            <m:e>
                              <m:r>
                                <m:rPr>
                                  <m:sty m:val="p"/>
                                </m:rPr>
                                <a:rPr lang="en-US" sz="900" dirty="0">
                                  <a:latin typeface="Cambria Math" panose="02040503050406030204"/>
                                  <a:ea typeface="Cambria Math" panose="02040503050406030204"/>
                                </a:rPr>
                                <m:t>q</m:t>
                              </m:r>
                            </m:e>
                          </m:acc>
                          <m:r>
                            <a:rPr lang="en-US" sz="900" dirty="0">
                              <a:latin typeface="Cambria Math" panose="02040503050406030204"/>
                              <a:ea typeface="Cambria Math" panose="02040503050406030204"/>
                            </a:rPr>
                            <m:t>)</m:t>
                          </m:r>
                          <m:r>
                            <a:rPr lang="en-US" sz="900" dirty="0">
                              <a:latin typeface="Cambria Math" panose="02040503050406030204"/>
                              <a:ea typeface="Cambria Math" panose="02040503050406030204"/>
                            </a:rPr>
                            <m:t>=</m:t>
                          </m:r>
                          <m:r>
                            <a:rPr lang="en-US" sz="900" dirty="0">
                              <a:latin typeface="Cambria Math" panose="02040503050406030204"/>
                              <a:ea typeface="Cambria Math" panose="02040503050406030204"/>
                            </a:rPr>
                            <m:t>𝜏</m:t>
                          </m:r>
                        </m:e>
                      </m:eqArr>
                    </m:oMath>
                  </m:oMathPara>
                </a14:m>
                <a:endParaRPr sz="600" dirty="0"/>
              </a:p>
            </p:txBody>
          </p:sp>
        </mc:Choice>
        <mc:Fallback>
          <p:sp>
            <p:nvSpPr>
              <p:cNvPr id="688" name="textbox 688"/>
              <p:cNvSpPr>
                <a:spLocks noRot="1" noChangeAspect="1" noMove="1" noResize="1" noEditPoints="1" noAdjustHandles="1" noChangeArrowheads="1" noChangeShapeType="1" noTextEdit="1"/>
              </p:cNvSpPr>
              <p:nvPr/>
            </p:nvSpPr>
            <p:spPr>
              <a:xfrm>
                <a:off x="8810625" y="4333875"/>
                <a:ext cx="1171575" cy="457200"/>
              </a:xfrm>
              <a:prstGeom prst="rect">
                <a:avLst/>
              </a:prstGeom>
              <a:blipFill rotWithShape="1">
                <a:blip r:embed="rId12"/>
                <a:stretch>
                  <a:fillRect r="-35772" b="-49306"/>
                </a:stretch>
              </a:blipFill>
              <a:ln w="0" cap="flat">
                <a:noFill/>
                <a:prstDash val="solid"/>
                <a:miter lim="0"/>
              </a:ln>
            </p:spPr>
            <p:txBody>
              <a:bodyPr/>
              <a:lstStyle/>
              <a:p>
                <a:r>
                  <a:rPr lang="zh-CN" altLang="en-US">
                    <a:noFill/>
                  </a:rPr>
                  <a:t> </a:t>
                </a:r>
              </a:p>
            </p:txBody>
          </p:sp>
        </mc:Fallback>
      </mc:AlternateContent>
      <p:pic>
        <p:nvPicPr>
          <p:cNvPr id="692" name="picture 692"/>
          <p:cNvPicPr>
            <a:picLocks noChangeAspect="1"/>
          </p:cNvPicPr>
          <p:nvPr/>
        </p:nvPicPr>
        <p:blipFill>
          <a:blip r:embed="rId13"/>
          <a:stretch>
            <a:fillRect/>
          </a:stretch>
        </p:blipFill>
        <p:spPr>
          <a:xfrm>
            <a:off x="9896475" y="3933825"/>
            <a:ext cx="1257300" cy="1019175"/>
          </a:xfrm>
          <a:prstGeom prst="rect">
            <a:avLst/>
          </a:prstGeom>
        </p:spPr>
      </p:pic>
      <p:sp>
        <p:nvSpPr>
          <p:cNvPr id="694" name="textbox 694"/>
          <p:cNvSpPr/>
          <p:nvPr/>
        </p:nvSpPr>
        <p:spPr>
          <a:xfrm>
            <a:off x="6286500" y="5048250"/>
            <a:ext cx="192405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数字孪生+深度强化学习</a:t>
            </a:r>
            <a:endParaRPr sz="1400" dirty="0"/>
          </a:p>
        </p:txBody>
      </p:sp>
      <p:sp>
        <p:nvSpPr>
          <p:cNvPr id="696" name="textbox 696"/>
          <p:cNvSpPr/>
          <p:nvPr/>
        </p:nvSpPr>
        <p:spPr>
          <a:xfrm>
            <a:off x="9144000" y="5048250"/>
            <a:ext cx="1695450" cy="219075"/>
          </a:xfrm>
          <a:prstGeom prst="rect">
            <a:avLst/>
          </a:prstGeom>
          <a:noFill/>
          <a:ln w="0" cap="flat">
            <a:noFill/>
            <a:prstDash val="solid"/>
            <a:miter lim="0"/>
          </a:ln>
        </p:spPr>
        <p:txBody>
          <a:bodyPr vert="horz" wrap="none" lIns="0" tIns="0" rIns="0" bIns="0"/>
          <a:lstStyle/>
          <a:p>
            <a:pPr algn="l" rtl="0" eaLnBrk="0"/>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分层-分布式协同架构</a:t>
            </a:r>
            <a:endParaRPr sz="1300" dirty="0"/>
          </a:p>
        </p:txBody>
      </p:sp>
      <p:sp>
        <p:nvSpPr>
          <p:cNvPr id="698" name="textbox 698"/>
          <p:cNvSpPr/>
          <p:nvPr/>
        </p:nvSpPr>
        <p:spPr>
          <a:xfrm>
            <a:off x="781050" y="5429250"/>
            <a:ext cx="2295525" cy="209550"/>
          </a:xfrm>
          <a:prstGeom prst="rect">
            <a:avLst/>
          </a:prstGeom>
          <a:noFill/>
          <a:ln w="0" cap="flat">
            <a:noFill/>
            <a:prstDash val="solid"/>
            <a:miter lim="0"/>
          </a:ln>
        </p:spPr>
        <p:txBody>
          <a:bodyPr vert="horz" wrap="none" lIns="0" tIns="0" rIns="0" bIns="0"/>
          <a:lstStyle/>
          <a:p>
            <a:pPr algn="l" rtl="0" eaLnBrk="0"/>
            <a:r>
              <a:rPr sz="14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用户</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负荷预测</a:t>
            </a:r>
            <a:r>
              <a:rPr sz="1400" b="1" kern="0" spc="0" dirty="0">
                <a:solidFill>
                  <a:srgbClr val="990000">
                    <a:alpha val="100000"/>
                  </a:srgbClr>
                </a:solidFill>
                <a:latin typeface="Times New Roman" panose="02020603050405020304"/>
                <a:ea typeface="Times New Roman" panose="02020603050405020304"/>
                <a:cs typeface="Times New Roman" panose="02020603050405020304"/>
              </a:rPr>
              <a:t>&amp;</a:t>
            </a:r>
            <a:r>
              <a:rPr sz="14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用电</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科学管理</a:t>
            </a:r>
            <a:endParaRPr sz="1400" dirty="0"/>
          </a:p>
        </p:txBody>
      </p:sp>
      <p:sp>
        <p:nvSpPr>
          <p:cNvPr id="700" name="textbox 700"/>
          <p:cNvSpPr/>
          <p:nvPr/>
        </p:nvSpPr>
        <p:spPr>
          <a:xfrm>
            <a:off x="3124200" y="5429250"/>
            <a:ext cx="571500" cy="219075"/>
          </a:xfrm>
          <a:prstGeom prst="rect">
            <a:avLst/>
          </a:prstGeom>
          <a:noFill/>
          <a:ln w="0" cap="flat">
            <a:noFill/>
            <a:prstDash val="solid"/>
            <a:miter lim="0"/>
          </a:ln>
        </p:spPr>
        <p:txBody>
          <a:bodyPr vert="horz" wrap="none" lIns="0" tIns="0" rIns="0" bIns="0"/>
          <a:lstStyle/>
          <a:p>
            <a:pPr algn="l" rtl="0" eaLnBrk="0"/>
            <a:r>
              <a:rPr sz="1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体验佳</a:t>
            </a:r>
            <a:endParaRPr sz="1400" dirty="0"/>
          </a:p>
        </p:txBody>
      </p:sp>
      <p:pic>
        <p:nvPicPr>
          <p:cNvPr id="704" name="picture 704"/>
          <p:cNvPicPr>
            <a:picLocks noChangeAspect="1"/>
          </p:cNvPicPr>
          <p:nvPr/>
        </p:nvPicPr>
        <p:blipFill>
          <a:blip r:embed="rId14"/>
          <a:stretch>
            <a:fillRect/>
          </a:stretch>
        </p:blipFill>
        <p:spPr>
          <a:xfrm>
            <a:off x="3800475" y="5448300"/>
            <a:ext cx="209550" cy="200025"/>
          </a:xfrm>
          <a:prstGeom prst="rect">
            <a:avLst/>
          </a:prstGeom>
        </p:spPr>
      </p:pic>
      <p:pic>
        <p:nvPicPr>
          <p:cNvPr id="708" name="picture 708"/>
          <p:cNvPicPr>
            <a:picLocks noChangeAspect="1"/>
          </p:cNvPicPr>
          <p:nvPr/>
        </p:nvPicPr>
        <p:blipFill>
          <a:blip r:embed="rId15"/>
          <a:stretch>
            <a:fillRect/>
          </a:stretch>
        </p:blipFill>
        <p:spPr>
          <a:xfrm>
            <a:off x="4133850" y="5324475"/>
            <a:ext cx="1143000" cy="419100"/>
          </a:xfrm>
          <a:prstGeom prst="rect">
            <a:avLst/>
          </a:prstGeom>
        </p:spPr>
      </p:pic>
      <p:pic>
        <p:nvPicPr>
          <p:cNvPr id="712" name="picture 712"/>
          <p:cNvPicPr>
            <a:picLocks noChangeAspect="1"/>
          </p:cNvPicPr>
          <p:nvPr/>
        </p:nvPicPr>
        <p:blipFill>
          <a:blip r:embed="rId16"/>
          <a:stretch>
            <a:fillRect/>
          </a:stretch>
        </p:blipFill>
        <p:spPr>
          <a:xfrm>
            <a:off x="6124575" y="5514975"/>
            <a:ext cx="190500" cy="247650"/>
          </a:xfrm>
          <a:prstGeom prst="rect">
            <a:avLst/>
          </a:prstGeom>
        </p:spPr>
      </p:pic>
      <p:sp>
        <p:nvSpPr>
          <p:cNvPr id="714" name="textbox 714"/>
          <p:cNvSpPr/>
          <p:nvPr/>
        </p:nvSpPr>
        <p:spPr>
          <a:xfrm>
            <a:off x="6400800" y="5514975"/>
            <a:ext cx="4438650" cy="266700"/>
          </a:xfrm>
          <a:prstGeom prst="rect">
            <a:avLst/>
          </a:prstGeom>
          <a:noFill/>
          <a:ln w="0" cap="flat">
            <a:noFill/>
            <a:prstDash val="solid"/>
            <a:miter lim="0"/>
          </a:ln>
        </p:spPr>
        <p:txBody>
          <a:bodyPr vert="horz" wrap="none" lIns="0" tIns="0" rIns="0" bIns="0"/>
          <a:lstStyle/>
          <a:p>
            <a:pPr algn="l" rtl="0" eaLnBrk="0"/>
            <a:r>
              <a:rPr sz="1700" b="1" kern="0" spc="0" dirty="0">
                <a:solidFill>
                  <a:srgbClr val="1B75BC">
                    <a:alpha val="100000"/>
                  </a:srgbClr>
                </a:solidFill>
                <a:latin typeface="微软雅黑" panose="020B0503020204020204" charset="-122"/>
                <a:ea typeface="微软雅黑" panose="020B0503020204020204" charset="-122"/>
                <a:cs typeface="微软雅黑" panose="020B0503020204020204" charset="-122"/>
              </a:rPr>
              <a:t>从“被动响应”迈向“主动预测与韧性增强”</a:t>
            </a:r>
            <a:endParaRPr sz="1700" dirty="0"/>
          </a:p>
        </p:txBody>
      </p:sp>
      <p:pic>
        <p:nvPicPr>
          <p:cNvPr id="718" name="picture 718"/>
          <p:cNvPicPr>
            <a:picLocks noChangeAspect="1"/>
          </p:cNvPicPr>
          <p:nvPr/>
        </p:nvPicPr>
        <p:blipFill>
          <a:blip r:embed="rId17"/>
          <a:stretch>
            <a:fillRect/>
          </a:stretch>
        </p:blipFill>
        <p:spPr>
          <a:xfrm>
            <a:off x="11287125" y="2486025"/>
            <a:ext cx="352425" cy="2905125"/>
          </a:xfrm>
          <a:prstGeom prst="rect">
            <a:avLst/>
          </a:prstGeom>
        </p:spPr>
      </p:pic>
      <p:sp>
        <p:nvSpPr>
          <p:cNvPr id="720" name="textbox 720"/>
          <p:cNvSpPr/>
          <p:nvPr/>
        </p:nvSpPr>
        <p:spPr>
          <a:xfrm>
            <a:off x="11287125" y="5429250"/>
            <a:ext cx="447675" cy="466725"/>
          </a:xfrm>
          <a:prstGeom prst="rect">
            <a:avLst/>
          </a:prstGeom>
          <a:noFill/>
          <a:ln w="0" cap="flat">
            <a:noFill/>
            <a:prstDash val="solid"/>
            <a:miter lim="0"/>
          </a:ln>
        </p:spPr>
        <p:txBody>
          <a:bodyPr vert="horz" wrap="none" lIns="0" tIns="0" rIns="0" bIns="0"/>
          <a:lstStyle/>
          <a:p>
            <a:pPr algn="l" rtl="0" eaLnBrk="0"/>
            <a:r>
              <a:rPr sz="16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强化</a:t>
            </a:r>
            <a:endParaRPr sz="1600" dirty="0"/>
          </a:p>
          <a:p>
            <a:pPr algn="l" rtl="0" eaLnBrk="0"/>
            <a:r>
              <a:rPr sz="16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学习</a:t>
            </a:r>
            <a:endParaRPr sz="1600" dirty="0"/>
          </a:p>
        </p:txBody>
      </p:sp>
      <p:sp>
        <p:nvSpPr>
          <p:cNvPr id="722" name="textbox 722"/>
          <p:cNvSpPr/>
          <p:nvPr/>
        </p:nvSpPr>
        <p:spPr>
          <a:xfrm>
            <a:off x="2895600" y="6143625"/>
            <a:ext cx="6410325" cy="257175"/>
          </a:xfrm>
          <a:prstGeom prst="rect">
            <a:avLst/>
          </a:prstGeom>
          <a:noFill/>
          <a:ln w="0" cap="flat">
            <a:noFill/>
            <a:prstDash val="solid"/>
            <a:miter lim="0"/>
          </a:ln>
        </p:spPr>
        <p:txBody>
          <a:bodyPr vert="horz" wrap="none" lIns="0" tIns="0" rIns="0" bIns="0"/>
          <a:lstStyle/>
          <a:p>
            <a:pPr algn="l" rtl="0" eaLnBrk="0"/>
            <a:r>
              <a:rPr sz="17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实现毫秒级的故障精准诊断、定位和最优供电恢复方案自动生成</a:t>
            </a:r>
            <a:endParaRPr sz="1700" dirty="0"/>
          </a:p>
        </p:txBody>
      </p:sp>
      <p:pic>
        <p:nvPicPr>
          <p:cNvPr id="2" name="picture 712"/>
          <p:cNvPicPr>
            <a:picLocks noChangeAspect="1"/>
          </p:cNvPicPr>
          <p:nvPr/>
        </p:nvPicPr>
        <p:blipFill>
          <a:blip r:embed="rId16">
            <a:grayscl/>
          </a:blip>
          <a:stretch>
            <a:fillRect/>
          </a:stretch>
        </p:blipFill>
        <p:spPr>
          <a:xfrm>
            <a:off x="6096000" y="3086100"/>
            <a:ext cx="190500" cy="247650"/>
          </a:xfrm>
          <a:prstGeom prst="rect">
            <a:avLst/>
          </a:prstGeom>
        </p:spPr>
      </p:pic>
      <p:pic>
        <p:nvPicPr>
          <p:cNvPr id="3" name="picture 712"/>
          <p:cNvPicPr>
            <a:picLocks noChangeAspect="1"/>
          </p:cNvPicPr>
          <p:nvPr/>
        </p:nvPicPr>
        <p:blipFill>
          <a:blip r:embed="rId16">
            <a:grayscl/>
          </a:blip>
          <a:stretch>
            <a:fillRect/>
          </a:stretch>
        </p:blipFill>
        <p:spPr>
          <a:xfrm>
            <a:off x="6096000" y="3349625"/>
            <a:ext cx="190500" cy="247650"/>
          </a:xfrm>
          <a:prstGeom prst="rect">
            <a:avLst/>
          </a:prstGeom>
        </p:spPr>
      </p:pic>
      <p:pic>
        <p:nvPicPr>
          <p:cNvPr id="4" name="picture 712"/>
          <p:cNvPicPr>
            <a:picLocks noChangeAspect="1"/>
          </p:cNvPicPr>
          <p:nvPr/>
        </p:nvPicPr>
        <p:blipFill>
          <a:blip r:embed="rId16">
            <a:grayscl/>
          </a:blip>
          <a:stretch>
            <a:fillRect/>
          </a:stretch>
        </p:blipFill>
        <p:spPr>
          <a:xfrm>
            <a:off x="590550" y="1504950"/>
            <a:ext cx="190500" cy="247650"/>
          </a:xfrm>
          <a:prstGeom prst="rect">
            <a:avLst/>
          </a:prstGeom>
        </p:spPr>
      </p:pic>
      <p:pic>
        <p:nvPicPr>
          <p:cNvPr id="5" name="picture 712"/>
          <p:cNvPicPr>
            <a:picLocks noChangeAspect="1"/>
          </p:cNvPicPr>
          <p:nvPr/>
        </p:nvPicPr>
        <p:blipFill>
          <a:blip r:embed="rId16">
            <a:grayscl/>
          </a:blip>
          <a:stretch>
            <a:fillRect/>
          </a:stretch>
        </p:blipFill>
        <p:spPr>
          <a:xfrm>
            <a:off x="590550" y="1800225"/>
            <a:ext cx="190500" cy="2476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6" name="picture 726"/>
          <p:cNvPicPr>
            <a:picLocks noChangeAspect="1"/>
          </p:cNvPicPr>
          <p:nvPr/>
        </p:nvPicPr>
        <p:blipFill>
          <a:blip r:embed="rId1"/>
          <a:stretch>
            <a:fillRect/>
          </a:stretch>
        </p:blipFill>
        <p:spPr>
          <a:xfrm>
            <a:off x="0" y="0"/>
            <a:ext cx="12192000" cy="6858000"/>
          </a:xfrm>
          <a:prstGeom prst="rect">
            <a:avLst/>
          </a:prstGeom>
        </p:spPr>
      </p:pic>
      <p:sp>
        <p:nvSpPr>
          <p:cNvPr id="728" name="textbox 728"/>
          <p:cNvSpPr/>
          <p:nvPr/>
        </p:nvSpPr>
        <p:spPr>
          <a:xfrm>
            <a:off x="342900" y="133350"/>
            <a:ext cx="4543425" cy="428625"/>
          </a:xfrm>
          <a:prstGeom prst="rect">
            <a:avLst/>
          </a:prstGeom>
          <a:noFill/>
          <a:ln w="0" cap="flat">
            <a:noFill/>
            <a:prstDash val="solid"/>
            <a:miter lim="0"/>
          </a:ln>
        </p:spPr>
        <p:txBody>
          <a:bodyPr vert="horz" wrap="none" lIns="0" tIns="0" rIns="0" bIns="0"/>
          <a:lstStyle/>
          <a:p>
            <a:pPr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4.1 研究进度及预期成果</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732" name="picture 732"/>
          <p:cNvPicPr>
            <a:picLocks noChangeAspect="1"/>
          </p:cNvPicPr>
          <p:nvPr/>
        </p:nvPicPr>
        <p:blipFill>
          <a:blip r:embed="rId2"/>
          <a:stretch>
            <a:fillRect/>
          </a:stretch>
        </p:blipFill>
        <p:spPr>
          <a:xfrm>
            <a:off x="9896475" y="152400"/>
            <a:ext cx="1847850" cy="419100"/>
          </a:xfrm>
          <a:prstGeom prst="rect">
            <a:avLst/>
          </a:prstGeom>
        </p:spPr>
      </p:pic>
      <p:sp>
        <p:nvSpPr>
          <p:cNvPr id="734" name="textbox 734"/>
          <p:cNvSpPr/>
          <p:nvPr/>
        </p:nvSpPr>
        <p:spPr>
          <a:xfrm>
            <a:off x="390525" y="971550"/>
            <a:ext cx="4867275" cy="276225"/>
          </a:xfrm>
          <a:prstGeom prst="rect">
            <a:avLst/>
          </a:prstGeom>
          <a:noFill/>
          <a:ln w="0" cap="flat">
            <a:noFill/>
            <a:prstDash val="solid"/>
            <a:miter lim="0"/>
          </a:ln>
        </p:spPr>
        <p:txBody>
          <a:bodyPr vert="horz" wrap="none" lIns="0" tIns="0" rIns="0" bIns="0"/>
          <a:lstStyle/>
          <a:p>
            <a:pPr algn="l" rtl="0" eaLnBrk="0"/>
            <a:r>
              <a:rPr sz="1700" b="1" kern="0" spc="0" dirty="0">
                <a:solidFill>
                  <a:srgbClr val="FFFF00">
                    <a:alpha val="100000"/>
                  </a:srgbClr>
                </a:solidFill>
                <a:latin typeface="微软雅黑" panose="020B0503020204020204" charset="-122"/>
                <a:ea typeface="微软雅黑" panose="020B0503020204020204" charset="-122"/>
                <a:cs typeface="微软雅黑" panose="020B0503020204020204" charset="-122"/>
              </a:rPr>
              <a:t>项目拟在2025年12月至2028年1月共3年内完成</a:t>
            </a:r>
            <a:endParaRPr sz="1700" dirty="0"/>
          </a:p>
        </p:txBody>
      </p:sp>
      <p:sp>
        <p:nvSpPr>
          <p:cNvPr id="736" name="textbox 736"/>
          <p:cNvSpPr/>
          <p:nvPr/>
        </p:nvSpPr>
        <p:spPr>
          <a:xfrm>
            <a:off x="685800" y="1457325"/>
            <a:ext cx="6629400" cy="238125"/>
          </a:xfrm>
          <a:prstGeom prst="rect">
            <a:avLst/>
          </a:prstGeom>
          <a:noFill/>
          <a:ln w="0" cap="flat">
            <a:noFill/>
            <a:prstDash val="solid"/>
            <a:miter lim="0"/>
          </a:ln>
        </p:spPr>
        <p:txBody>
          <a:bodyPr vert="horz" wrap="none" lIns="0" tIns="0" rIns="0" bIns="0"/>
          <a:lstStyle/>
          <a:p>
            <a:pPr marL="314325" indent="-276225" algn="l" rtl="0" eaLnBrk="0">
              <a:buChar char="►"/>
            </a:pPr>
            <a:r>
              <a:rPr sz="16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数字孪生平台：</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构建</a:t>
            </a:r>
            <a:r>
              <a:rPr sz="1600" b="1" kern="0" spc="0" dirty="0">
                <a:solidFill>
                  <a:srgbClr val="000000">
                    <a:alpha val="100000"/>
                  </a:srgbClr>
                </a:solidFill>
                <a:latin typeface="Verdana" panose="020B0604030504040204"/>
                <a:ea typeface="Verdana" panose="020B0604030504040204"/>
                <a:cs typeface="Verdana" panose="020B0604030504040204"/>
              </a:rPr>
              <a:t>1</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个高保真、可计算的电力系统数字孪生仿真环境</a:t>
            </a:r>
            <a:endParaRPr sz="1600" dirty="0"/>
          </a:p>
        </p:txBody>
      </p:sp>
      <p:sp>
        <p:nvSpPr>
          <p:cNvPr id="738" name="textbox 738"/>
          <p:cNvSpPr/>
          <p:nvPr/>
        </p:nvSpPr>
        <p:spPr>
          <a:xfrm>
            <a:off x="666750" y="1762125"/>
            <a:ext cx="5210175" cy="247650"/>
          </a:xfrm>
          <a:prstGeom prst="rect">
            <a:avLst/>
          </a:prstGeom>
          <a:noFill/>
          <a:ln w="0" cap="flat">
            <a:noFill/>
            <a:prstDash val="solid"/>
            <a:miter lim="0"/>
          </a:ln>
        </p:spPr>
        <p:txBody>
          <a:bodyPr vert="horz" wrap="none" lIns="0" tIns="0" rIns="0" bIns="0"/>
          <a:lstStyle/>
          <a:p>
            <a:pPr marL="323850" indent="-266700" algn="l" rtl="0" eaLnBrk="0">
              <a:buChar char="►"/>
            </a:pPr>
            <a:r>
              <a:rPr sz="1600" b="1" kern="0" spc="0" dirty="0">
                <a:solidFill>
                  <a:srgbClr val="0053A3">
                    <a:alpha val="100000"/>
                  </a:srgbClr>
                </a:solidFill>
                <a:latin typeface="微软雅黑" panose="020B0503020204020204" charset="-122"/>
                <a:ea typeface="微软雅黑" panose="020B0503020204020204" charset="-122"/>
                <a:cs typeface="微软雅黑" panose="020B0503020204020204" charset="-122"/>
              </a:rPr>
              <a:t>核心算法库：</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形成</a:t>
            </a:r>
            <a:r>
              <a:rPr sz="1600" b="1" kern="0" spc="0" dirty="0">
                <a:solidFill>
                  <a:srgbClr val="000000">
                    <a:alpha val="100000"/>
                  </a:srgbClr>
                </a:solidFill>
                <a:latin typeface="Verdana" panose="020B0604030504040204"/>
                <a:ea typeface="Verdana" panose="020B0604030504040204"/>
                <a:cs typeface="Verdana" panose="020B0604030504040204"/>
              </a:rPr>
              <a:t>1</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套 完整的核心</a:t>
            </a:r>
            <a:r>
              <a:rPr sz="1600" b="1" kern="0" spc="0" dirty="0">
                <a:solidFill>
                  <a:srgbClr val="000000">
                    <a:alpha val="100000"/>
                  </a:srgbClr>
                </a:solidFill>
                <a:latin typeface="Verdana" panose="020B0604030504040204"/>
                <a:ea typeface="Verdana" panose="020B0604030504040204"/>
                <a:cs typeface="Verdana" panose="020B0604030504040204"/>
              </a:rPr>
              <a:t>AI</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算法库（</a:t>
            </a:r>
            <a:r>
              <a:rPr sz="1600" b="1" kern="0" spc="0" dirty="0">
                <a:solidFill>
                  <a:srgbClr val="000000">
                    <a:alpha val="100000"/>
                  </a:srgbClr>
                </a:solidFill>
                <a:latin typeface="Verdana" panose="020B0604030504040204"/>
                <a:ea typeface="Verdana" panose="020B0604030504040204"/>
                <a:cs typeface="Verdana" panose="020B0604030504040204"/>
              </a:rPr>
              <a:t>Python</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a:t>
            </a:r>
            <a:endParaRPr sz="1600" dirty="0"/>
          </a:p>
        </p:txBody>
      </p:sp>
      <p:pic>
        <p:nvPicPr>
          <p:cNvPr id="742" name="picture 742"/>
          <p:cNvPicPr>
            <a:picLocks noChangeAspect="1"/>
          </p:cNvPicPr>
          <p:nvPr/>
        </p:nvPicPr>
        <p:blipFill>
          <a:blip r:embed="rId3"/>
          <a:stretch>
            <a:fillRect/>
          </a:stretch>
        </p:blipFill>
        <p:spPr>
          <a:xfrm>
            <a:off x="438150" y="2190750"/>
            <a:ext cx="2419350" cy="2333625"/>
          </a:xfrm>
          <a:prstGeom prst="rect">
            <a:avLst/>
          </a:prstGeom>
        </p:spPr>
      </p:pic>
      <p:sp>
        <p:nvSpPr>
          <p:cNvPr id="744" name="textbox 744"/>
          <p:cNvSpPr/>
          <p:nvPr/>
        </p:nvSpPr>
        <p:spPr>
          <a:xfrm>
            <a:off x="3295650" y="2381250"/>
            <a:ext cx="2200275"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理论成果（学术论文）</a:t>
            </a:r>
            <a:endParaRPr sz="1800" dirty="0"/>
          </a:p>
        </p:txBody>
      </p:sp>
      <p:sp>
        <p:nvSpPr>
          <p:cNvPr id="746" name="textbox 746"/>
          <p:cNvSpPr/>
          <p:nvPr/>
        </p:nvSpPr>
        <p:spPr>
          <a:xfrm>
            <a:off x="3133725" y="3038475"/>
            <a:ext cx="2676525" cy="1419225"/>
          </a:xfrm>
          <a:prstGeom prst="rect">
            <a:avLst/>
          </a:prstGeom>
          <a:noFill/>
          <a:ln w="0" cap="flat">
            <a:noFill/>
            <a:prstDash val="solid"/>
            <a:miter lim="0"/>
          </a:ln>
        </p:spPr>
        <p:txBody>
          <a:bodyPr vert="horz" wrap="none" lIns="0" tIns="0" rIns="0" bIns="0"/>
          <a:lstStyle/>
          <a:p>
            <a:pPr marL="190500" algn="l" rtl="0" eaLnBrk="0"/>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在国内外高水平期刊（如</a:t>
            </a:r>
            <a:endParaRPr sz="1600" dirty="0"/>
          </a:p>
          <a:p>
            <a:pPr marL="266700" algn="l" rtl="0" eaLnBrk="0">
              <a:spcBef>
                <a:spcPts val="525"/>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《IEEE Transactions on</a:t>
            </a:r>
            <a:endParaRPr sz="1600" dirty="0"/>
          </a:p>
          <a:p>
            <a:pPr algn="l" rtl="0" eaLnBrk="0">
              <a:spcBef>
                <a:spcPts val="525"/>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Power Systems》、《中国</a:t>
            </a:r>
            <a:endParaRPr sz="1600" dirty="0"/>
          </a:p>
          <a:p>
            <a:pPr algn="l" rtl="0" eaLnBrk="0">
              <a:spcBef>
                <a:spcPts val="525"/>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电机工程学报》）和会议上发</a:t>
            </a:r>
            <a:endParaRPr sz="1600" dirty="0"/>
          </a:p>
          <a:p>
            <a:pPr marL="657225" algn="l" rtl="0" eaLnBrk="0">
              <a:spcBef>
                <a:spcPts val="525"/>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表论文</a:t>
            </a:r>
            <a:r>
              <a:rPr sz="16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8-10篇</a:t>
            </a:r>
            <a:endParaRPr sz="1600" dirty="0"/>
          </a:p>
        </p:txBody>
      </p:sp>
      <p:pic>
        <p:nvPicPr>
          <p:cNvPr id="750" name="picture 750"/>
          <p:cNvPicPr>
            <a:picLocks noChangeAspect="1"/>
          </p:cNvPicPr>
          <p:nvPr/>
        </p:nvPicPr>
        <p:blipFill>
          <a:blip r:embed="rId4"/>
          <a:stretch>
            <a:fillRect/>
          </a:stretch>
        </p:blipFill>
        <p:spPr>
          <a:xfrm>
            <a:off x="6267450" y="2286000"/>
            <a:ext cx="2400300" cy="2428875"/>
          </a:xfrm>
          <a:prstGeom prst="rect">
            <a:avLst/>
          </a:prstGeom>
        </p:spPr>
      </p:pic>
      <p:sp>
        <p:nvSpPr>
          <p:cNvPr id="752" name="textbox 752"/>
          <p:cNvSpPr/>
          <p:nvPr/>
        </p:nvSpPr>
        <p:spPr>
          <a:xfrm>
            <a:off x="9753600" y="2381250"/>
            <a:ext cx="962025"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055A0">
                    <a:alpha val="100000"/>
                  </a:srgbClr>
                </a:solidFill>
                <a:latin typeface="微软雅黑" panose="020B0503020204020204" charset="-122"/>
                <a:ea typeface="微软雅黑" panose="020B0503020204020204" charset="-122"/>
                <a:cs typeface="微软雅黑" panose="020B0503020204020204" charset="-122"/>
              </a:rPr>
              <a:t>技术成果</a:t>
            </a:r>
            <a:endParaRPr sz="1800" dirty="0"/>
          </a:p>
        </p:txBody>
      </p:sp>
      <p:sp>
        <p:nvSpPr>
          <p:cNvPr id="754" name="textbox 754"/>
          <p:cNvSpPr/>
          <p:nvPr/>
        </p:nvSpPr>
        <p:spPr>
          <a:xfrm>
            <a:off x="8896350" y="2905125"/>
            <a:ext cx="2686050" cy="542925"/>
          </a:xfrm>
          <a:prstGeom prst="rect">
            <a:avLst/>
          </a:prstGeom>
          <a:noFill/>
          <a:ln w="0" cap="flat">
            <a:noFill/>
            <a:prstDash val="solid"/>
            <a:miter lim="0"/>
          </a:ln>
        </p:spPr>
        <p:txBody>
          <a:bodyPr vert="horz" wrap="none" lIns="0" tIns="0" rIns="0" bIns="0"/>
          <a:lstStyle/>
          <a:p>
            <a:pPr algn="l" rtl="0" eaLnBrk="0"/>
            <a:r>
              <a:rPr sz="16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发明专利：</a:t>
            </a: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申请国家发明专利</a:t>
            </a:r>
            <a:endParaRPr sz="1600" dirty="0"/>
          </a:p>
          <a:p>
            <a:pPr marL="1047750" algn="l" rtl="0" eaLnBrk="0">
              <a:spcBef>
                <a:spcPts val="600"/>
              </a:spcBef>
            </a:pPr>
            <a:r>
              <a:rPr sz="16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5-8项</a:t>
            </a:r>
            <a:endParaRPr sz="1600" dirty="0"/>
          </a:p>
        </p:txBody>
      </p:sp>
      <p:sp>
        <p:nvSpPr>
          <p:cNvPr id="756" name="textbox 756"/>
          <p:cNvSpPr/>
          <p:nvPr/>
        </p:nvSpPr>
        <p:spPr>
          <a:xfrm>
            <a:off x="8839200" y="3695700"/>
            <a:ext cx="2800350" cy="847725"/>
          </a:xfrm>
          <a:prstGeom prst="rect">
            <a:avLst/>
          </a:prstGeom>
          <a:noFill/>
          <a:ln w="0" cap="flat">
            <a:noFill/>
            <a:prstDash val="solid"/>
            <a:miter lim="0"/>
          </a:ln>
        </p:spPr>
        <p:txBody>
          <a:bodyPr vert="horz" wrap="none" lIns="0" tIns="0" rIns="0" bIns="0"/>
          <a:lstStyle/>
          <a:p>
            <a:pPr algn="l" rtl="0" eaLnBrk="0"/>
            <a:r>
              <a:rPr sz="15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技术标准/规范草案：</a:t>
            </a: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形成《基</a:t>
            </a:r>
            <a:endParaRPr sz="1500" dirty="0"/>
          </a:p>
          <a:p>
            <a:pPr algn="l" rtl="0" eaLnBrk="0">
              <a:spcBef>
                <a:spcPts val="67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于人工智能的电网韧性优化技</a:t>
            </a:r>
            <a:endParaRPr sz="1500" dirty="0"/>
          </a:p>
          <a:p>
            <a:pPr marL="571500" algn="l" rtl="0" eaLnBrk="0">
              <a:spcBef>
                <a:spcPts val="67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术导则》草案1部</a:t>
            </a:r>
            <a:endParaRPr sz="1500" dirty="0"/>
          </a:p>
        </p:txBody>
      </p:sp>
      <p:graphicFrame>
        <p:nvGraphicFramePr>
          <p:cNvPr id="758" name="table 758"/>
          <p:cNvGraphicFramePr>
            <a:graphicFrameLocks noGrp="1"/>
          </p:cNvGraphicFramePr>
          <p:nvPr/>
        </p:nvGraphicFramePr>
        <p:xfrm>
          <a:off x="352425" y="4857750"/>
          <a:ext cx="11477625" cy="1647825"/>
        </p:xfrm>
        <a:graphic>
          <a:graphicData uri="http://schemas.openxmlformats.org/drawingml/2006/table">
            <a:tbl>
              <a:tblPr/>
              <a:tblGrid>
                <a:gridCol w="1685925"/>
                <a:gridCol w="1447800"/>
                <a:gridCol w="4000500"/>
                <a:gridCol w="4343400"/>
              </a:tblGrid>
              <a:tr h="352425">
                <a:tc>
                  <a:txBody>
                    <a:bodyPr/>
                    <a:lstStyle/>
                    <a:p>
                      <a:pPr algn="ctr" rtl="0" eaLnBrk="0"/>
                      <a:r>
                        <a:rPr sz="1400" b="1" kern="0" spc="0" dirty="0">
                          <a:solidFill>
                            <a:srgbClr val="E3F2D9">
                              <a:alpha val="100000"/>
                            </a:srgbClr>
                          </a:solidFill>
                          <a:latin typeface="微软雅黑" panose="020B0503020204020204" charset="-122"/>
                          <a:ea typeface="微软雅黑" panose="020B0503020204020204" charset="-122"/>
                          <a:cs typeface="微软雅黑" panose="020B0503020204020204" charset="-122"/>
                        </a:rPr>
                        <a:t>阶段划分</a:t>
                      </a:r>
                      <a:endParaRPr sz="14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0C5DB7"/>
                    </a:solidFill>
                  </a:tcPr>
                </a:tc>
                <a:tc>
                  <a:txBody>
                    <a:bodyPr/>
                    <a:lstStyle/>
                    <a:p>
                      <a:pPr algn="ctr" rtl="0" eaLnBrk="0"/>
                      <a:r>
                        <a:rPr sz="1400" b="1" kern="0" spc="0" dirty="0">
                          <a:solidFill>
                            <a:srgbClr val="E3F2D9">
                              <a:alpha val="100000"/>
                            </a:srgbClr>
                          </a:solidFill>
                          <a:latin typeface="微软雅黑" panose="020B0503020204020204" charset="-122"/>
                          <a:ea typeface="微软雅黑" panose="020B0503020204020204" charset="-122"/>
                          <a:cs typeface="微软雅黑" panose="020B0503020204020204" charset="-122"/>
                        </a:rPr>
                        <a:t>时间节点</a:t>
                      </a:r>
                      <a:endParaRPr sz="14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0C5CB7"/>
                    </a:solidFill>
                  </a:tcPr>
                </a:tc>
                <a:tc>
                  <a:txBody>
                    <a:bodyPr/>
                    <a:lstStyle/>
                    <a:p>
                      <a:pPr algn="ctr" rtl="0" eaLnBrk="0"/>
                      <a:r>
                        <a:rPr sz="1200" b="1" kern="0" spc="0" dirty="0">
                          <a:solidFill>
                            <a:srgbClr val="E3F2D9">
                              <a:alpha val="100000"/>
                            </a:srgbClr>
                          </a:solidFill>
                          <a:latin typeface="微软雅黑" panose="020B0503020204020204" charset="-122"/>
                          <a:ea typeface="微软雅黑" panose="020B0503020204020204" charset="-122"/>
                          <a:cs typeface="微软雅黑" panose="020B0503020204020204" charset="-122"/>
                        </a:rPr>
                        <a:t>主要研究任务</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0D5CB7"/>
                    </a:solidFill>
                  </a:tcPr>
                </a:tc>
                <a:tc>
                  <a:txBody>
                    <a:bodyPr/>
                    <a:lstStyle/>
                    <a:p>
                      <a:pPr algn="ctr" rtl="0" eaLnBrk="0"/>
                      <a:r>
                        <a:rPr sz="1200" b="1" kern="0" spc="0" dirty="0">
                          <a:solidFill>
                            <a:srgbClr val="E3F2D9">
                              <a:alpha val="100000"/>
                            </a:srgbClr>
                          </a:solidFill>
                          <a:latin typeface="微软雅黑" panose="020B0503020204020204" charset="-122"/>
                          <a:ea typeface="微软雅黑" panose="020B0503020204020204" charset="-122"/>
                          <a:cs typeface="微软雅黑" panose="020B0503020204020204" charset="-122"/>
                        </a:rPr>
                        <a:t>预期成果产出</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0D5CB8"/>
                    </a:solidFill>
                  </a:tcPr>
                </a:tc>
              </a:tr>
              <a:tr h="619125">
                <a:tc>
                  <a:txBody>
                    <a:bodyPr/>
                    <a:lstStyle/>
                    <a:p>
                      <a:pPr algn="ctr" rtl="0" eaLnBrk="0"/>
                      <a:r>
                        <a:rPr sz="1200" kern="0" spc="0" dirty="0">
                          <a:solidFill>
                            <a:srgbClr val="2068AC">
                              <a:alpha val="100000"/>
                            </a:srgbClr>
                          </a:solidFill>
                          <a:latin typeface="微软雅黑" panose="020B0503020204020204" charset="-122"/>
                          <a:ea typeface="微软雅黑" panose="020B0503020204020204" charset="-122"/>
                          <a:cs typeface="微软雅黑" panose="020B0503020204020204" charset="-122"/>
                        </a:rPr>
                        <a:t>第一阶段</a:t>
                      </a:r>
                      <a:endParaRPr sz="1200" dirty="0"/>
                    </a:p>
                    <a:p>
                      <a:pPr algn="ctr" rtl="0" eaLnBrk="0"/>
                      <a:r>
                        <a:rPr sz="1200" kern="0" spc="0" dirty="0">
                          <a:solidFill>
                            <a:srgbClr val="2068AC">
                              <a:alpha val="100000"/>
                            </a:srgbClr>
                          </a:solidFill>
                          <a:latin typeface="微软雅黑" panose="020B0503020204020204" charset="-122"/>
                          <a:ea typeface="微软雅黑" panose="020B0503020204020204" charset="-122"/>
                          <a:cs typeface="微软雅黑" panose="020B0503020204020204" charset="-122"/>
                        </a:rPr>
                        <a:t>理论与数据基础</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1F5FC"/>
                    </a:solidFill>
                  </a:tcPr>
                </a:tc>
                <a:tc>
                  <a:txBody>
                    <a:bodyPr/>
                    <a:lstStyle/>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第1年</a:t>
                      </a:r>
                      <a:endParaRPr sz="1200" dirty="0"/>
                    </a:p>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(Q1-Q4)</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C"/>
                    </a:solidFill>
                  </a:tcPr>
                </a:tc>
                <a:tc>
                  <a:txBody>
                    <a:bodyPr/>
                    <a:lstStyle/>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国内外研究现状深入调研</a:t>
                      </a:r>
                      <a:endParaRPr sz="1200" dirty="0"/>
                    </a:p>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多源异构数据收集、清洗与治理</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C"/>
                    </a:solidFill>
                  </a:tcPr>
                </a:tc>
                <a:tc>
                  <a:txBody>
                    <a:bodyPr/>
                    <a:lstStyle/>
                    <a:p>
                      <a:pPr algn="ctr" rtl="0" eaLnBrk="0"/>
                      <a:r>
                        <a:rPr sz="1200" b="1" kern="0" spc="0" dirty="0">
                          <a:solidFill>
                            <a:srgbClr val="A61010">
                              <a:alpha val="100000"/>
                            </a:srgbClr>
                          </a:solidFill>
                          <a:latin typeface="微软雅黑" panose="020B0503020204020204" charset="-122"/>
                          <a:ea typeface="微软雅黑" panose="020B0503020204020204" charset="-122"/>
                          <a:cs typeface="微软雅黑" panose="020B0503020204020204" charset="-122"/>
                        </a:rPr>
                        <a:t>研究报告：</a:t>
                      </a:r>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《国内外技术发展研究报告》</a:t>
                      </a:r>
                      <a:endParaRPr sz="1200" dirty="0"/>
                    </a:p>
                    <a:p>
                      <a:pPr algn="ctr" rtl="0" eaLnBrk="0"/>
                      <a:r>
                        <a:rPr sz="1200" b="1" kern="0" spc="0" dirty="0">
                          <a:solidFill>
                            <a:srgbClr val="A61010">
                              <a:alpha val="100000"/>
                            </a:srgbClr>
                          </a:solidFill>
                          <a:latin typeface="微软雅黑" panose="020B0503020204020204" charset="-122"/>
                          <a:ea typeface="微软雅黑" panose="020B0503020204020204" charset="-122"/>
                          <a:cs typeface="微软雅黑" panose="020B0503020204020204" charset="-122"/>
                        </a:rPr>
                        <a:t>数据集：</a:t>
                      </a:r>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标准化多源数据库</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D"/>
                    </a:solidFill>
                  </a:tcPr>
                </a:tc>
              </a:tr>
              <a:tr h="676275">
                <a:tc>
                  <a:txBody>
                    <a:bodyPr/>
                    <a:lstStyle/>
                    <a:p>
                      <a:pPr algn="ctr" rtl="0" eaLnBrk="0"/>
                      <a:r>
                        <a:rPr sz="1200" kern="0" spc="0" dirty="0">
                          <a:solidFill>
                            <a:srgbClr val="2068AC">
                              <a:alpha val="100000"/>
                            </a:srgbClr>
                          </a:solidFill>
                          <a:latin typeface="微软雅黑" panose="020B0503020204020204" charset="-122"/>
                          <a:ea typeface="微软雅黑" panose="020B0503020204020204" charset="-122"/>
                          <a:cs typeface="微软雅黑" panose="020B0503020204020204" charset="-122"/>
                        </a:rPr>
                        <a:t>第二阶段</a:t>
                      </a:r>
                      <a:endParaRPr sz="1200" dirty="0"/>
                    </a:p>
                    <a:p>
                      <a:pPr algn="ctr" rtl="0" eaLnBrk="0"/>
                      <a:r>
                        <a:rPr sz="1200" kern="0" spc="0" dirty="0">
                          <a:solidFill>
                            <a:srgbClr val="2068AC">
                              <a:alpha val="100000"/>
                            </a:srgbClr>
                          </a:solidFill>
                          <a:latin typeface="微软雅黑" panose="020B0503020204020204" charset="-122"/>
                          <a:ea typeface="微软雅黑" panose="020B0503020204020204" charset="-122"/>
                          <a:cs typeface="微软雅黑" panose="020B0503020204020204" charset="-122"/>
                        </a:rPr>
                        <a:t>核心算法攻关</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C"/>
                    </a:solidFill>
                  </a:tcPr>
                </a:tc>
                <a:tc>
                  <a:txBody>
                    <a:bodyPr/>
                    <a:lstStyle/>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第2年</a:t>
                      </a:r>
                      <a:endParaRPr sz="1200" dirty="0"/>
                    </a:p>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(Q1-Q4)</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E"/>
                    </a:solidFill>
                  </a:tcPr>
                </a:tc>
                <a:tc>
                  <a:txBody>
                    <a:bodyPr/>
                    <a:lstStyle/>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基于PINN的混合预测模型开发</a:t>
                      </a:r>
                      <a:endParaRPr sz="1200" dirty="0"/>
                    </a:p>
                    <a:p>
                      <a:pPr algn="ctr"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多时间尺度调度算法开发（Meta-RL，MADDPG）</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B"/>
                    </a:solidFill>
                  </a:tcPr>
                </a:tc>
                <a:tc>
                  <a:txBody>
                    <a:bodyPr/>
                    <a:lstStyle/>
                    <a:p>
                      <a:pPr algn="ctr" rtl="0" eaLnBrk="0"/>
                      <a:r>
                        <a:rPr sz="1200" b="1" kern="0" spc="0" dirty="0">
                          <a:solidFill>
                            <a:srgbClr val="A61010">
                              <a:alpha val="100000"/>
                            </a:srgbClr>
                          </a:solidFill>
                          <a:latin typeface="微软雅黑" panose="020B0503020204020204" charset="-122"/>
                          <a:ea typeface="微软雅黑" panose="020B0503020204020204" charset="-122"/>
                          <a:cs typeface="微软雅黑" panose="020B0503020204020204" charset="-122"/>
                        </a:rPr>
                        <a:t>算法模块：</a:t>
                      </a:r>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高精度预测API、调度算法库</a:t>
                      </a:r>
                      <a:endParaRPr sz="1200" dirty="0"/>
                    </a:p>
                    <a:p>
                      <a:pPr algn="ctr" rtl="0" eaLnBrk="0"/>
                      <a:r>
                        <a:rPr sz="1200" b="1" kern="0" spc="0" dirty="0">
                          <a:solidFill>
                            <a:srgbClr val="A61010">
                              <a:alpha val="100000"/>
                            </a:srgbClr>
                          </a:solidFill>
                          <a:latin typeface="微软雅黑" panose="020B0503020204020204" charset="-122"/>
                          <a:ea typeface="微软雅黑" panose="020B0503020204020204" charset="-122"/>
                          <a:cs typeface="微软雅黑" panose="020B0503020204020204" charset="-122"/>
                        </a:rPr>
                        <a:t>论文：</a:t>
                      </a:r>
                      <a:r>
                        <a:rPr sz="1200"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发表期刊/会议论文2-3篇</a:t>
                      </a:r>
                      <a:endParaRPr sz="1200" dirty="0"/>
                    </a:p>
                  </a:txBody>
                  <a:tcPr marL="0" marR="0" marT="0" marB="0" vert="horz" anchor="ctr">
                    <a:lnL w="19050" cap="flat" cmpd="sng" algn="ctr">
                      <a:solidFill>
                        <a:srgbClr val="DADDDF"/>
                      </a:solidFill>
                      <a:prstDash val="solid"/>
                      <a:round/>
                      <a:headEnd type="none" w="med" len="med"/>
                      <a:tailEnd type="none" w="med" len="med"/>
                    </a:lnL>
                    <a:lnR w="19050" cap="flat" cmpd="sng" algn="ctr">
                      <a:solidFill>
                        <a:srgbClr val="DADDDF"/>
                      </a:solidFill>
                      <a:prstDash val="solid"/>
                      <a:round/>
                      <a:headEnd type="none" w="med" len="med"/>
                      <a:tailEnd type="none" w="med" len="med"/>
                    </a:lnR>
                    <a:lnT w="19050" cap="flat" cmpd="sng" algn="ctr">
                      <a:solidFill>
                        <a:srgbClr val="DADDDF"/>
                      </a:solidFill>
                      <a:prstDash val="solid"/>
                      <a:round/>
                      <a:headEnd type="none" w="med" len="med"/>
                      <a:tailEnd type="none" w="med" len="med"/>
                    </a:lnT>
                    <a:lnB w="19050" cap="flat" cmpd="sng" algn="ctr">
                      <a:solidFill>
                        <a:srgbClr val="DADDDF"/>
                      </a:solidFill>
                      <a:prstDash val="solid"/>
                      <a:round/>
                      <a:headEnd type="none" w="med" len="med"/>
                      <a:tailEnd type="none" w="med" len="med"/>
                    </a:lnB>
                    <a:solidFill>
                      <a:srgbClr val="F2F5FB"/>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2" name="picture 762"/>
          <p:cNvPicPr>
            <a:picLocks noChangeAspect="1"/>
          </p:cNvPicPr>
          <p:nvPr/>
        </p:nvPicPr>
        <p:blipFill>
          <a:blip r:embed="rId1"/>
          <a:stretch>
            <a:fillRect/>
          </a:stretch>
        </p:blipFill>
        <p:spPr>
          <a:xfrm>
            <a:off x="0" y="0"/>
            <a:ext cx="12192000" cy="6858000"/>
          </a:xfrm>
          <a:prstGeom prst="rect">
            <a:avLst/>
          </a:prstGeom>
        </p:spPr>
      </p:pic>
      <p:sp>
        <p:nvSpPr>
          <p:cNvPr id="764" name="textbox 764"/>
          <p:cNvSpPr/>
          <p:nvPr/>
        </p:nvSpPr>
        <p:spPr>
          <a:xfrm>
            <a:off x="342900" y="123825"/>
            <a:ext cx="6972300" cy="447675"/>
          </a:xfrm>
          <a:prstGeom prst="rect">
            <a:avLst/>
          </a:prstGeom>
          <a:noFill/>
          <a:ln w="0" cap="flat">
            <a:noFill/>
            <a:prstDash val="solid"/>
            <a:miter lim="0"/>
          </a:ln>
        </p:spPr>
        <p:txBody>
          <a:bodyPr vert="horz" wrap="none" lIns="0" tIns="0" rIns="0" bIns="0"/>
          <a:lstStyle/>
          <a:p>
            <a:pPr marL="38100"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5.1 工作基础与平台条件-申请人概况</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768" name="picture 768"/>
          <p:cNvPicPr>
            <a:picLocks noChangeAspect="1"/>
          </p:cNvPicPr>
          <p:nvPr/>
        </p:nvPicPr>
        <p:blipFill>
          <a:blip r:embed="rId2"/>
          <a:stretch>
            <a:fillRect/>
          </a:stretch>
        </p:blipFill>
        <p:spPr>
          <a:xfrm>
            <a:off x="9896475" y="152400"/>
            <a:ext cx="1847850" cy="419100"/>
          </a:xfrm>
          <a:prstGeom prst="rect">
            <a:avLst/>
          </a:prstGeom>
        </p:spPr>
      </p:pic>
      <p:sp>
        <p:nvSpPr>
          <p:cNvPr id="770" name="textbox 770"/>
          <p:cNvSpPr/>
          <p:nvPr/>
        </p:nvSpPr>
        <p:spPr>
          <a:xfrm>
            <a:off x="1219200" y="952500"/>
            <a:ext cx="9753600" cy="342900"/>
          </a:xfrm>
          <a:prstGeom prst="rect">
            <a:avLst/>
          </a:prstGeom>
          <a:noFill/>
          <a:ln w="0" cap="flat">
            <a:noFill/>
            <a:prstDash val="solid"/>
            <a:miter lim="0"/>
          </a:ln>
        </p:spPr>
        <p:txBody>
          <a:bodyPr vert="horz" wrap="none" lIns="0" tIns="0" rIns="0" bIns="0"/>
          <a:lstStyle/>
          <a:p>
            <a:pPr algn="l" rtl="0" eaLnBrk="0"/>
            <a:r>
              <a:rPr sz="2400" b="1" kern="0" spc="0" dirty="0">
                <a:solidFill>
                  <a:srgbClr val="AD0101">
                    <a:alpha val="100000"/>
                  </a:srgbClr>
                </a:solidFill>
                <a:latin typeface="方正大标宋简体"/>
                <a:ea typeface="方正大标宋简体"/>
                <a:cs typeface="方正大标宋简体"/>
              </a:rPr>
              <a:t>已主持多项国家级课题，为本项目的顺利实施提供了坚实基础与有力保障</a:t>
            </a:r>
            <a:endParaRPr sz="2400" dirty="0"/>
          </a:p>
        </p:txBody>
      </p:sp>
      <p:pic>
        <p:nvPicPr>
          <p:cNvPr id="774" name="picture 774"/>
          <p:cNvPicPr>
            <a:picLocks noChangeAspect="1"/>
          </p:cNvPicPr>
          <p:nvPr/>
        </p:nvPicPr>
        <p:blipFill>
          <a:blip r:embed="rId3"/>
          <a:stretch>
            <a:fillRect/>
          </a:stretch>
        </p:blipFill>
        <p:spPr>
          <a:xfrm>
            <a:off x="552450" y="1619250"/>
            <a:ext cx="1447800" cy="1381125"/>
          </a:xfrm>
          <a:prstGeom prst="rect">
            <a:avLst/>
          </a:prstGeom>
        </p:spPr>
      </p:pic>
      <p:sp>
        <p:nvSpPr>
          <p:cNvPr id="776" name="textbox 776"/>
          <p:cNvSpPr/>
          <p:nvPr/>
        </p:nvSpPr>
        <p:spPr>
          <a:xfrm>
            <a:off x="2076450" y="1619250"/>
            <a:ext cx="942975" cy="276225"/>
          </a:xfrm>
          <a:prstGeom prst="rect">
            <a:avLst/>
          </a:prstGeom>
          <a:noFill/>
          <a:ln w="0" cap="flat">
            <a:noFill/>
            <a:prstDash val="solid"/>
            <a:miter lim="0"/>
          </a:ln>
        </p:spPr>
        <p:txBody>
          <a:bodyPr vert="horz" wrap="none" lIns="0" tIns="0" rIns="0" bIns="0"/>
          <a:lstStyle/>
          <a:p>
            <a:pPr algn="l" rtl="0" eaLnBrk="0"/>
            <a:r>
              <a:rPr sz="1800" b="1" kern="0" spc="0" dirty="0">
                <a:solidFill>
                  <a:srgbClr val="0E6797">
                    <a:alpha val="100000"/>
                  </a:srgbClr>
                </a:solidFill>
                <a:latin typeface="微软雅黑" panose="020B0503020204020204" charset="-122"/>
                <a:ea typeface="微软雅黑" panose="020B0503020204020204" charset="-122"/>
                <a:cs typeface="微软雅黑" panose="020B0503020204020204" charset="-122"/>
              </a:rPr>
              <a:t>像素答辩</a:t>
            </a:r>
            <a:endParaRPr sz="1800" dirty="0"/>
          </a:p>
        </p:txBody>
      </p:sp>
      <p:sp>
        <p:nvSpPr>
          <p:cNvPr id="778" name="textbox 778"/>
          <p:cNvSpPr/>
          <p:nvPr/>
        </p:nvSpPr>
        <p:spPr>
          <a:xfrm>
            <a:off x="2057400" y="2066925"/>
            <a:ext cx="1476375" cy="419100"/>
          </a:xfrm>
          <a:prstGeom prst="rect">
            <a:avLst/>
          </a:prstGeom>
          <a:noFill/>
          <a:ln w="0" cap="flat">
            <a:noFill/>
            <a:prstDash val="solid"/>
            <a:miter lim="0"/>
          </a:ln>
        </p:spPr>
        <p:txBody>
          <a:bodyPr vert="horz" wrap="none" lIns="0" tIns="0" rIns="0" bIns="0"/>
          <a:lstStyle/>
          <a:p>
            <a:pPr algn="l"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像素生物大学（华中）</a:t>
            </a:r>
            <a:endParaRPr sz="1200" dirty="0"/>
          </a:p>
          <a:p>
            <a:pPr algn="l" rtl="0" eaLnBrk="0">
              <a:spcBef>
                <a:spcPts val="300"/>
              </a:spcBef>
            </a:pPr>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教授/博导</a:t>
            </a:r>
            <a:endParaRPr sz="1200" dirty="0"/>
          </a:p>
        </p:txBody>
      </p:sp>
      <p:sp>
        <p:nvSpPr>
          <p:cNvPr id="780" name="textbox 780"/>
          <p:cNvSpPr/>
          <p:nvPr/>
        </p:nvSpPr>
        <p:spPr>
          <a:xfrm>
            <a:off x="2057400" y="2552700"/>
            <a:ext cx="1571625" cy="381000"/>
          </a:xfrm>
          <a:prstGeom prst="rect">
            <a:avLst/>
          </a:prstGeom>
          <a:noFill/>
          <a:ln w="0" cap="flat">
            <a:noFill/>
            <a:prstDash val="solid"/>
            <a:miter lim="0"/>
          </a:ln>
        </p:spPr>
        <p:txBody>
          <a:bodyPr vert="horz" wrap="none" lIns="0" tIns="0" rIns="0" bIns="0"/>
          <a:lstStyle/>
          <a:p>
            <a:pPr algn="l" rtl="0" eaLnBrk="0"/>
            <a:r>
              <a:rPr sz="11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智慧能源系统中心研究</a:t>
            </a:r>
            <a:endParaRPr sz="1100" dirty="0"/>
          </a:p>
          <a:p>
            <a:pPr algn="l" rtl="0" eaLnBrk="0"/>
            <a:r>
              <a:rPr sz="1100" b="1" kern="0" spc="0" dirty="0">
                <a:solidFill>
                  <a:srgbClr val="C00000">
                    <a:alpha val="100000"/>
                  </a:srgbClr>
                </a:solidFill>
                <a:latin typeface="微软雅黑" panose="020B0503020204020204" charset="-122"/>
                <a:ea typeface="微软雅黑" panose="020B0503020204020204" charset="-122"/>
                <a:cs typeface="微软雅黑" panose="020B0503020204020204" charset="-122"/>
              </a:rPr>
              <a:t>所所长</a:t>
            </a:r>
            <a:endParaRPr sz="1100" dirty="0"/>
          </a:p>
        </p:txBody>
      </p:sp>
      <p:sp>
        <p:nvSpPr>
          <p:cNvPr id="782" name="textbox 782"/>
          <p:cNvSpPr/>
          <p:nvPr/>
        </p:nvSpPr>
        <p:spPr>
          <a:xfrm>
            <a:off x="647700" y="3143250"/>
            <a:ext cx="2781300" cy="638175"/>
          </a:xfrm>
          <a:prstGeom prst="rect">
            <a:avLst/>
          </a:prstGeom>
          <a:noFill/>
          <a:ln w="0" cap="flat">
            <a:noFill/>
            <a:prstDash val="solid"/>
            <a:miter lim="0"/>
          </a:ln>
        </p:spPr>
        <p:txBody>
          <a:bodyPr vert="horz" wrap="none" lIns="0" tIns="0" rIns="0" bIns="0"/>
          <a:lstStyle/>
          <a:p>
            <a:pPr marL="885825" algn="l"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主要研究方向</a:t>
            </a:r>
            <a:endParaRPr sz="1100" dirty="0"/>
          </a:p>
          <a:p>
            <a:pPr algn="l" rtl="0" eaLnBrk="0">
              <a:spcBef>
                <a:spcPts val="450"/>
              </a:spcBef>
            </a:pPr>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长期从事电力系统运行与控制、可再生能</a:t>
            </a:r>
            <a:endParaRPr sz="1100" dirty="0"/>
          </a:p>
          <a:p>
            <a:pPr marL="819150" algn="l" rtl="0" eaLnBrk="0">
              <a:spcBef>
                <a:spcPts val="450"/>
              </a:spcBef>
            </a:pPr>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源并网技术研究</a:t>
            </a:r>
            <a:endParaRPr sz="1100" dirty="0"/>
          </a:p>
        </p:txBody>
      </p:sp>
      <p:sp>
        <p:nvSpPr>
          <p:cNvPr id="784" name="textbox 784"/>
          <p:cNvSpPr/>
          <p:nvPr/>
        </p:nvSpPr>
        <p:spPr>
          <a:xfrm>
            <a:off x="4791075" y="1628775"/>
            <a:ext cx="6229350" cy="285750"/>
          </a:xfrm>
          <a:prstGeom prst="rect">
            <a:avLst/>
          </a:prstGeom>
          <a:noFill/>
          <a:ln w="0" cap="flat">
            <a:noFill/>
            <a:prstDash val="solid"/>
            <a:miter lim="0"/>
          </a:ln>
        </p:spPr>
        <p:txBody>
          <a:bodyPr vert="horz" wrap="none" lIns="0" tIns="0" rIns="0" bIns="0"/>
          <a:lstStyle/>
          <a:p>
            <a:pPr algn="l" rtl="0" eaLnBrk="0"/>
            <a:r>
              <a:rPr sz="17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在基于深度学习的新能源功率预测方面取得国内外公认的成果</a:t>
            </a:r>
            <a:endParaRPr sz="1700" dirty="0"/>
          </a:p>
        </p:txBody>
      </p:sp>
      <p:sp>
        <p:nvSpPr>
          <p:cNvPr id="786" name="textbox 786"/>
          <p:cNvSpPr/>
          <p:nvPr/>
        </p:nvSpPr>
        <p:spPr>
          <a:xfrm>
            <a:off x="4591050" y="2143125"/>
            <a:ext cx="6515100" cy="447675"/>
          </a:xfrm>
          <a:prstGeom prst="rect">
            <a:avLst/>
          </a:prstGeom>
          <a:noFill/>
          <a:ln w="0" cap="flat">
            <a:noFill/>
            <a:prstDash val="solid"/>
            <a:miter lim="0"/>
          </a:ln>
        </p:spPr>
        <p:txBody>
          <a:bodyPr vert="horz" wrap="none" lIns="0" tIns="0" rIns="0" bIns="0"/>
          <a:lstStyle/>
          <a:p>
            <a:pPr algn="l" rtl="0" eaLnBrk="0"/>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》作为负责人主持国家自然科学基金面上项目</a:t>
            </a:r>
            <a:r>
              <a:rPr sz="1300" b="1" kern="0" spc="0" dirty="0">
                <a:solidFill>
                  <a:srgbClr val="005DA2">
                    <a:alpha val="100000"/>
                  </a:srgbClr>
                </a:solidFill>
                <a:latin typeface="微软雅黑" panose="020B0503020204020204" charset="-122"/>
                <a:ea typeface="微软雅黑" panose="020B0503020204020204" charset="-122"/>
                <a:cs typeface="微软雅黑" panose="020B0503020204020204" charset="-122"/>
              </a:rPr>
              <a:t>《</a:t>
            </a:r>
            <a:r>
              <a:rPr sz="13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基于数据驱动与模型驱动融合的风</a:t>
            </a:r>
            <a:endParaRPr sz="1300" dirty="0"/>
          </a:p>
          <a:p>
            <a:pPr marL="266700" algn="l" rtl="0" eaLnBrk="0">
              <a:spcBef>
                <a:spcPts val="450"/>
              </a:spcBef>
            </a:pPr>
            <a:r>
              <a:rPr sz="1300" b="1" kern="0" spc="0" dirty="0">
                <a:solidFill>
                  <a:srgbClr val="0F6FC6">
                    <a:alpha val="100000"/>
                  </a:srgbClr>
                </a:solidFill>
                <a:latin typeface="微软雅黑" panose="020B0503020204020204" charset="-122"/>
                <a:ea typeface="微软雅黑" panose="020B0503020204020204" charset="-122"/>
                <a:cs typeface="微软雅黑" panose="020B0503020204020204" charset="-122"/>
              </a:rPr>
              <a:t>电集群功率波动时空预测研究》</a:t>
            </a:r>
            <a:endParaRPr sz="1300" dirty="0"/>
          </a:p>
        </p:txBody>
      </p:sp>
      <p:sp>
        <p:nvSpPr>
          <p:cNvPr id="788" name="textbox 788"/>
          <p:cNvSpPr/>
          <p:nvPr/>
        </p:nvSpPr>
        <p:spPr>
          <a:xfrm>
            <a:off x="4610100" y="2743200"/>
            <a:ext cx="6591300" cy="466725"/>
          </a:xfrm>
          <a:prstGeom prst="rect">
            <a:avLst/>
          </a:prstGeom>
          <a:noFill/>
          <a:ln w="0" cap="flat">
            <a:noFill/>
            <a:prstDash val="solid"/>
            <a:miter lim="0"/>
          </a:ln>
        </p:spPr>
        <p:txBody>
          <a:bodyPr vert="horz" wrap="none" lIns="0" tIns="0" rIns="0" bIns="0"/>
          <a:lstStyle/>
          <a:p>
            <a:pPr algn="l" rtl="0" eaLnBrk="0"/>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》与国家电网分部合作项目</a:t>
            </a:r>
            <a:r>
              <a:rPr sz="1300" b="1" kern="0" spc="0" dirty="0">
                <a:solidFill>
                  <a:srgbClr val="005DA2">
                    <a:alpha val="100000"/>
                  </a:srgbClr>
                </a:solidFill>
                <a:latin typeface="微软雅黑" panose="020B0503020204020204" charset="-122"/>
                <a:ea typeface="微软雅黑" panose="020B0503020204020204" charset="-122"/>
                <a:cs typeface="微软雅黑" panose="020B0503020204020204" charset="-122"/>
              </a:rPr>
              <a:t>《高比例新能源环境下电网智能调度决策支持系统开发》</a:t>
            </a:r>
            <a:endParaRPr sz="1300" dirty="0"/>
          </a:p>
          <a:p>
            <a:pPr marL="247650" algn="l" rtl="0" eaLnBrk="0">
              <a:spcBef>
                <a:spcPts val="525"/>
              </a:spcBef>
            </a:pPr>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深入理解电网调度的实际工程需求与技术痛点</a:t>
            </a:r>
            <a:endParaRPr sz="1300" dirty="0"/>
          </a:p>
        </p:txBody>
      </p:sp>
      <p:sp>
        <p:nvSpPr>
          <p:cNvPr id="790" name="textbox 790"/>
          <p:cNvSpPr/>
          <p:nvPr/>
        </p:nvSpPr>
        <p:spPr>
          <a:xfrm>
            <a:off x="4581525" y="3343275"/>
            <a:ext cx="6810375" cy="485775"/>
          </a:xfrm>
          <a:prstGeom prst="rect">
            <a:avLst/>
          </a:prstGeom>
          <a:noFill/>
          <a:ln w="0" cap="flat">
            <a:noFill/>
            <a:prstDash val="solid"/>
            <a:miter lim="0"/>
          </a:ln>
        </p:spPr>
        <p:txBody>
          <a:bodyPr vert="horz" wrap="none" lIns="0" tIns="0" rIns="0" bIns="0"/>
          <a:lstStyle/>
          <a:p>
            <a:pPr algn="l" rtl="0" eaLnBrk="0"/>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》近5年，在《IEEE Transactions on Power Systems》、《中国电机工程学报》等</a:t>
            </a:r>
            <a:endParaRPr sz="1300" dirty="0"/>
          </a:p>
          <a:p>
            <a:pPr marL="276225" algn="l" rtl="0" eaLnBrk="0">
              <a:spcBef>
                <a:spcPts val="450"/>
              </a:spcBef>
            </a:pPr>
            <a:r>
              <a:rPr sz="13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顶级期刊</a:t>
            </a:r>
            <a:r>
              <a:rPr sz="1300" b="1" kern="0" spc="0" dirty="0">
                <a:solidFill>
                  <a:srgbClr val="9E0000">
                    <a:alpha val="100000"/>
                  </a:srgbClr>
                </a:solidFill>
                <a:latin typeface="微软雅黑" panose="020B0503020204020204" charset="-122"/>
                <a:ea typeface="微软雅黑" panose="020B0503020204020204" charset="-122"/>
                <a:cs typeface="微软雅黑" panose="020B0503020204020204" charset="-122"/>
              </a:rPr>
              <a:t>发表相关学术论文20余篇</a:t>
            </a:r>
            <a:endParaRPr sz="1300" dirty="0"/>
          </a:p>
        </p:txBody>
      </p:sp>
      <p:pic>
        <p:nvPicPr>
          <p:cNvPr id="794" name="picture 794"/>
          <p:cNvPicPr>
            <a:picLocks noChangeAspect="1"/>
          </p:cNvPicPr>
          <p:nvPr/>
        </p:nvPicPr>
        <p:blipFill>
          <a:blip r:embed="rId4"/>
          <a:stretch>
            <a:fillRect/>
          </a:stretch>
        </p:blipFill>
        <p:spPr>
          <a:xfrm>
            <a:off x="561975" y="4333875"/>
            <a:ext cx="1438275" cy="1409700"/>
          </a:xfrm>
          <a:prstGeom prst="rect">
            <a:avLst/>
          </a:prstGeom>
        </p:spPr>
      </p:pic>
      <p:sp>
        <p:nvSpPr>
          <p:cNvPr id="796" name="textbox 796"/>
          <p:cNvSpPr/>
          <p:nvPr/>
        </p:nvSpPr>
        <p:spPr>
          <a:xfrm>
            <a:off x="2076450" y="4371975"/>
            <a:ext cx="714375" cy="266700"/>
          </a:xfrm>
          <a:prstGeom prst="rect">
            <a:avLst/>
          </a:prstGeom>
          <a:noFill/>
          <a:ln w="0" cap="flat">
            <a:noFill/>
            <a:prstDash val="solid"/>
            <a:miter lim="0"/>
          </a:ln>
        </p:spPr>
        <p:txBody>
          <a:bodyPr vert="horz" wrap="none" lIns="0" tIns="0" rIns="0" bIns="0"/>
          <a:lstStyle/>
          <a:p>
            <a:pPr algn="l" rtl="0" eaLnBrk="0"/>
            <a:r>
              <a:rPr sz="1700" b="1" kern="0" spc="0" dirty="0">
                <a:solidFill>
                  <a:srgbClr val="1A71AA">
                    <a:alpha val="100000"/>
                  </a:srgbClr>
                </a:solidFill>
                <a:latin typeface="微软雅黑" panose="020B0503020204020204" charset="-122"/>
                <a:ea typeface="微软雅黑" panose="020B0503020204020204" charset="-122"/>
                <a:cs typeface="微软雅黑" panose="020B0503020204020204" charset="-122"/>
              </a:rPr>
              <a:t>张像素</a:t>
            </a:r>
            <a:endParaRPr sz="1700" dirty="0"/>
          </a:p>
        </p:txBody>
      </p:sp>
      <p:sp>
        <p:nvSpPr>
          <p:cNvPr id="798" name="textbox 798"/>
          <p:cNvSpPr/>
          <p:nvPr/>
        </p:nvSpPr>
        <p:spPr>
          <a:xfrm>
            <a:off x="2057400" y="4810125"/>
            <a:ext cx="1428750" cy="933450"/>
          </a:xfrm>
          <a:prstGeom prst="rect">
            <a:avLst/>
          </a:prstGeom>
          <a:noFill/>
          <a:ln w="0" cap="flat">
            <a:noFill/>
            <a:prstDash val="solid"/>
            <a:miter lim="0"/>
          </a:ln>
        </p:spPr>
        <p:txBody>
          <a:bodyPr vert="horz" wrap="none" lIns="0" tIns="0" rIns="0" bIns="0"/>
          <a:lstStyle/>
          <a:p>
            <a:pPr algn="l" rtl="0" eaLnBrk="0"/>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像素人工智能研究院</a:t>
            </a:r>
            <a:endParaRPr sz="1200" dirty="0"/>
          </a:p>
          <a:p>
            <a:pPr algn="l" rtl="0" eaLnBrk="0">
              <a:spcBef>
                <a:spcPts val="600"/>
              </a:spcBef>
            </a:pPr>
            <a:r>
              <a:rPr sz="12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研究员、博士生导师</a:t>
            </a:r>
            <a:endParaRPr sz="1200" dirty="0"/>
          </a:p>
          <a:p>
            <a:pPr algn="l" rtl="0" eaLnBrk="0">
              <a:spcBef>
                <a:spcPts val="600"/>
              </a:spcBef>
            </a:pPr>
            <a:r>
              <a:rPr sz="12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人机协同决策研究中</a:t>
            </a:r>
            <a:endParaRPr sz="1200" dirty="0"/>
          </a:p>
          <a:p>
            <a:pPr algn="l" rtl="0" eaLnBrk="0">
              <a:spcBef>
                <a:spcPts val="600"/>
              </a:spcBef>
            </a:pPr>
            <a:r>
              <a:rPr sz="1200" b="1" kern="0" spc="0" dirty="0">
                <a:solidFill>
                  <a:srgbClr val="990000">
                    <a:alpha val="100000"/>
                  </a:srgbClr>
                </a:solidFill>
                <a:latin typeface="微软雅黑" panose="020B0503020204020204" charset="-122"/>
                <a:ea typeface="微软雅黑" panose="020B0503020204020204" charset="-122"/>
                <a:cs typeface="微软雅黑" panose="020B0503020204020204" charset="-122"/>
              </a:rPr>
              <a:t>心主任</a:t>
            </a:r>
            <a:endParaRPr sz="1200" dirty="0"/>
          </a:p>
        </p:txBody>
      </p:sp>
      <p:sp>
        <p:nvSpPr>
          <p:cNvPr id="800" name="textbox 800"/>
          <p:cNvSpPr/>
          <p:nvPr/>
        </p:nvSpPr>
        <p:spPr>
          <a:xfrm>
            <a:off x="723900" y="5886450"/>
            <a:ext cx="2638425" cy="409575"/>
          </a:xfrm>
          <a:prstGeom prst="rect">
            <a:avLst/>
          </a:prstGeom>
          <a:noFill/>
          <a:ln w="0" cap="flat">
            <a:noFill/>
            <a:prstDash val="solid"/>
            <a:miter lim="0"/>
          </a:ln>
        </p:spPr>
        <p:txBody>
          <a:bodyPr vert="horz" wrap="none" lIns="0" tIns="0" rIns="0" bIns="0"/>
          <a:lstStyle/>
          <a:p>
            <a:pPr marL="809625" algn="l" rtl="0" eaLnBrk="0"/>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主要研究方向</a:t>
            </a:r>
            <a:endParaRPr sz="1100" dirty="0"/>
          </a:p>
          <a:p>
            <a:pPr algn="l" rtl="0" eaLnBrk="0">
              <a:spcBef>
                <a:spcPts val="450"/>
              </a:spcBef>
            </a:pPr>
            <a:r>
              <a:rPr sz="11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深度强化学习（DRL）、多智能体系统</a:t>
            </a:r>
            <a:endParaRPr sz="1100" dirty="0"/>
          </a:p>
        </p:txBody>
      </p:sp>
      <p:sp>
        <p:nvSpPr>
          <p:cNvPr id="802" name="textbox 802"/>
          <p:cNvSpPr/>
          <p:nvPr/>
        </p:nvSpPr>
        <p:spPr>
          <a:xfrm>
            <a:off x="4800600" y="4391025"/>
            <a:ext cx="5505450" cy="257175"/>
          </a:xfrm>
          <a:prstGeom prst="rect">
            <a:avLst/>
          </a:prstGeom>
          <a:noFill/>
          <a:ln w="0" cap="flat">
            <a:noFill/>
            <a:prstDash val="solid"/>
            <a:miter lim="0"/>
          </a:ln>
        </p:spPr>
        <p:txBody>
          <a:bodyPr vert="horz" wrap="none" lIns="0" tIns="0" rIns="0" bIns="0"/>
          <a:lstStyle/>
          <a:p>
            <a:pPr algn="l" rtl="0" eaLnBrk="0"/>
            <a:r>
              <a:rPr sz="18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在DRL算法的可解释性和稳定性方面有深入的理论研究</a:t>
            </a:r>
            <a:endParaRPr sz="1800" dirty="0"/>
          </a:p>
        </p:txBody>
      </p:sp>
      <p:sp>
        <p:nvSpPr>
          <p:cNvPr id="804" name="textbox 804"/>
          <p:cNvSpPr/>
          <p:nvPr/>
        </p:nvSpPr>
        <p:spPr>
          <a:xfrm>
            <a:off x="4619625" y="5000625"/>
            <a:ext cx="6505575" cy="476250"/>
          </a:xfrm>
          <a:prstGeom prst="rect">
            <a:avLst/>
          </a:prstGeom>
          <a:noFill/>
          <a:ln w="0" cap="flat">
            <a:noFill/>
            <a:prstDash val="solid"/>
            <a:miter lim="0"/>
          </a:ln>
        </p:spPr>
        <p:txBody>
          <a:bodyPr vert="horz" wrap="none" lIns="0" tIns="0" rIns="0" bIns="0"/>
          <a:lstStyle/>
          <a:p>
            <a:pPr algn="l" rtl="0" eaLnBrk="0"/>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》作为负责人主持国家自然科学基金优秀青年科学基金项目</a:t>
            </a:r>
            <a:r>
              <a:rPr sz="1400" b="1" kern="0" spc="0" dirty="0">
                <a:solidFill>
                  <a:srgbClr val="AD0101">
                    <a:alpha val="100000"/>
                  </a:srgbClr>
                </a:solidFill>
                <a:latin typeface="微软雅黑" panose="020B0503020204020204" charset="-122"/>
                <a:ea typeface="微软雅黑" panose="020B0503020204020204" charset="-122"/>
                <a:cs typeface="微软雅黑" panose="020B0503020204020204" charset="-122"/>
              </a:rPr>
              <a:t>《面向开放环境的强化</a:t>
            </a:r>
            <a:endParaRPr sz="1400" dirty="0"/>
          </a:p>
          <a:p>
            <a:pPr marL="228600" algn="l" rtl="0" eaLnBrk="0">
              <a:spcBef>
                <a:spcPts val="450"/>
              </a:spcBef>
            </a:pPr>
            <a:r>
              <a:rPr sz="1400" b="1" kern="0" spc="0" dirty="0">
                <a:solidFill>
                  <a:srgbClr val="AD0101">
                    <a:alpha val="100000"/>
                  </a:srgbClr>
                </a:solidFill>
                <a:latin typeface="微软雅黑" panose="020B0503020204020204" charset="-122"/>
                <a:ea typeface="微软雅黑" panose="020B0503020204020204" charset="-122"/>
                <a:cs typeface="微软雅黑" panose="020B0503020204020204" charset="-122"/>
              </a:rPr>
              <a:t>学习理论与方法》</a:t>
            </a:r>
            <a:endParaRPr sz="1400" dirty="0"/>
          </a:p>
        </p:txBody>
      </p:sp>
      <p:sp>
        <p:nvSpPr>
          <p:cNvPr id="806" name="textbox 806"/>
          <p:cNvSpPr/>
          <p:nvPr/>
        </p:nvSpPr>
        <p:spPr>
          <a:xfrm>
            <a:off x="4610100" y="5705475"/>
            <a:ext cx="6677025" cy="457200"/>
          </a:xfrm>
          <a:prstGeom prst="rect">
            <a:avLst/>
          </a:prstGeom>
          <a:noFill/>
          <a:ln w="0" cap="flat">
            <a:noFill/>
            <a:prstDash val="solid"/>
            <a:miter lim="0"/>
          </a:ln>
        </p:spPr>
        <p:txBody>
          <a:bodyPr vert="horz" wrap="none" lIns="0" tIns="0" rIns="0" bIns="0"/>
          <a:lstStyle/>
          <a:p>
            <a:pPr algn="l" rtl="0" eaLnBrk="0"/>
            <a:r>
              <a:rPr sz="1400" kern="0" spc="0" dirty="0">
                <a:solidFill>
                  <a:srgbClr val="0070C0">
                    <a:alpha val="100000"/>
                  </a:srgbClr>
                </a:solidFill>
                <a:latin typeface="微软雅黑" panose="020B0503020204020204" charset="-122"/>
                <a:ea typeface="微软雅黑" panose="020B0503020204020204" charset="-122"/>
                <a:cs typeface="微软雅黑" panose="020B0503020204020204" charset="-122"/>
              </a:rPr>
              <a:t>》</a:t>
            </a: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与像素诺亚方舟实验室合作，成功将多智能体强化学习应用于物流机器人协同调度</a:t>
            </a:r>
            <a:endParaRPr sz="1400" dirty="0"/>
          </a:p>
          <a:p>
            <a:pPr marL="247650" algn="l" rtl="0" eaLnBrk="0">
              <a:spcBef>
                <a:spcPts val="450"/>
              </a:spcBef>
            </a:pPr>
            <a:r>
              <a:rPr sz="14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证明了其方法在复杂实时决策问题中的有效性</a:t>
            </a:r>
            <a:endParaRPr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0" name="picture 810"/>
          <p:cNvPicPr>
            <a:picLocks noChangeAspect="1"/>
          </p:cNvPicPr>
          <p:nvPr/>
        </p:nvPicPr>
        <p:blipFill>
          <a:blip r:embed="rId1"/>
          <a:stretch>
            <a:fillRect/>
          </a:stretch>
        </p:blipFill>
        <p:spPr>
          <a:xfrm>
            <a:off x="0" y="0"/>
            <a:ext cx="12192000" cy="6858000"/>
          </a:xfrm>
          <a:prstGeom prst="rect">
            <a:avLst/>
          </a:prstGeom>
        </p:spPr>
      </p:pic>
      <p:sp>
        <p:nvSpPr>
          <p:cNvPr id="812" name="textbox 812"/>
          <p:cNvSpPr/>
          <p:nvPr/>
        </p:nvSpPr>
        <p:spPr>
          <a:xfrm>
            <a:off x="342900" y="133350"/>
            <a:ext cx="8543925" cy="428625"/>
          </a:xfrm>
          <a:prstGeom prst="rect">
            <a:avLst/>
          </a:prstGeom>
          <a:noFill/>
          <a:ln w="0" cap="flat">
            <a:noFill/>
            <a:prstDash val="solid"/>
            <a:miter lim="0"/>
          </a:ln>
        </p:spPr>
        <p:txBody>
          <a:bodyPr vert="horz" wrap="none" lIns="0" tIns="0" rIns="0" bIns="0"/>
          <a:lstStyle/>
          <a:p>
            <a:pPr marL="38100" indent="0" algn="l" rtl="0" eaLnBrk="0">
              <a:buNone/>
            </a:pPr>
            <a:r>
              <a:rPr sz="3200" b="1" kern="0" spc="0" dirty="0">
                <a:solidFill>
                  <a:srgbClr val="0153BF">
                    <a:alpha val="100000"/>
                  </a:srgbClr>
                </a:solidFill>
                <a:latin typeface="微软雅黑" panose="020B0503020204020204" charset="-122"/>
                <a:ea typeface="微软雅黑" panose="020B0503020204020204" charset="-122"/>
                <a:cs typeface="微软雅黑" panose="020B0503020204020204" charset="-122"/>
              </a:rPr>
              <a:t>5.2 工作基础与平台条件-工作条件及科研项目</a:t>
            </a:r>
            <a:endParaRPr sz="3200" b="1" kern="0" dirty="0">
              <a:solidFill>
                <a:srgbClr val="0153B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816" name="picture 816"/>
          <p:cNvPicPr>
            <a:picLocks noChangeAspect="1"/>
          </p:cNvPicPr>
          <p:nvPr/>
        </p:nvPicPr>
        <p:blipFill>
          <a:blip r:embed="rId2"/>
          <a:stretch>
            <a:fillRect/>
          </a:stretch>
        </p:blipFill>
        <p:spPr>
          <a:xfrm>
            <a:off x="9896475" y="152400"/>
            <a:ext cx="1847850" cy="419100"/>
          </a:xfrm>
          <a:prstGeom prst="rect">
            <a:avLst/>
          </a:prstGeom>
        </p:spPr>
      </p:pic>
      <p:sp>
        <p:nvSpPr>
          <p:cNvPr id="818" name="textbox 818"/>
          <p:cNvSpPr/>
          <p:nvPr/>
        </p:nvSpPr>
        <p:spPr>
          <a:xfrm>
            <a:off x="723900" y="1066800"/>
            <a:ext cx="10801350" cy="666750"/>
          </a:xfrm>
          <a:prstGeom prst="rect">
            <a:avLst/>
          </a:prstGeom>
          <a:noFill/>
          <a:ln w="0" cap="flat">
            <a:noFill/>
            <a:prstDash val="solid"/>
            <a:miter lim="0"/>
          </a:ln>
        </p:spPr>
        <p:txBody>
          <a:bodyPr vert="horz" wrap="none" lIns="0" tIns="0" rIns="0" bIns="0"/>
          <a:lstStyle/>
          <a:p>
            <a:pPr algn="l" rtl="0" eaLnBrk="0"/>
            <a:r>
              <a:rPr sz="19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拥有专属的人工智能计算集群，配备超过50个计算节点，</a:t>
            </a:r>
            <a:r>
              <a:rPr sz="1900" b="1" kern="0" spc="0" dirty="0">
                <a:solidFill>
                  <a:srgbClr val="AC0000">
                    <a:alpha val="100000"/>
                  </a:srgbClr>
                </a:solidFill>
                <a:latin typeface="微软雅黑" panose="020B0503020204020204" charset="-122"/>
                <a:ea typeface="微软雅黑" panose="020B0503020204020204" charset="-122"/>
                <a:cs typeface="微软雅黑" panose="020B0503020204020204" charset="-122"/>
              </a:rPr>
              <a:t>其中包括8台搭载NVIDIA A100 Tensor</a:t>
            </a:r>
            <a:endParaRPr sz="1900" dirty="0"/>
          </a:p>
          <a:p>
            <a:pPr marL="2438400" algn="l" rtl="0" eaLnBrk="0">
              <a:spcBef>
                <a:spcPts val="900"/>
              </a:spcBef>
            </a:pPr>
            <a:r>
              <a:rPr sz="1900" b="1" kern="0" spc="0" dirty="0">
                <a:solidFill>
                  <a:srgbClr val="AC0000">
                    <a:alpha val="100000"/>
                  </a:srgbClr>
                </a:solidFill>
                <a:latin typeface="微软雅黑" panose="020B0503020204020204" charset="-122"/>
                <a:ea typeface="微软雅黑" panose="020B0503020204020204" charset="-122"/>
                <a:cs typeface="微软雅黑" panose="020B0503020204020204" charset="-122"/>
              </a:rPr>
              <a:t>Core GPU的高性能服务器，总算力超过50 PFLOPS</a:t>
            </a:r>
            <a:endParaRPr sz="1900" dirty="0"/>
          </a:p>
        </p:txBody>
      </p:sp>
      <p:sp>
        <p:nvSpPr>
          <p:cNvPr id="820" name="textbox 820"/>
          <p:cNvSpPr/>
          <p:nvPr/>
        </p:nvSpPr>
        <p:spPr>
          <a:xfrm>
            <a:off x="4800600" y="2085975"/>
            <a:ext cx="2590800" cy="314325"/>
          </a:xfrm>
          <a:prstGeom prst="rect">
            <a:avLst/>
          </a:prstGeom>
          <a:noFill/>
          <a:ln w="0" cap="flat">
            <a:noFill/>
            <a:prstDash val="solid"/>
            <a:miter lim="0"/>
          </a:ln>
        </p:spPr>
        <p:txBody>
          <a:bodyPr vert="horz" wrap="none" lIns="0" tIns="0" rIns="0" bIns="0"/>
          <a:lstStyle/>
          <a:p>
            <a:pPr algn="l" rtl="0" eaLnBrk="0"/>
            <a:r>
              <a:rPr sz="19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专业的软件与数据资源</a:t>
            </a:r>
            <a:endParaRPr sz="1900" dirty="0"/>
          </a:p>
        </p:txBody>
      </p:sp>
      <p:sp>
        <p:nvSpPr>
          <p:cNvPr id="822" name="textbox 822"/>
          <p:cNvSpPr/>
          <p:nvPr/>
        </p:nvSpPr>
        <p:spPr>
          <a:xfrm>
            <a:off x="1457325" y="2581275"/>
            <a:ext cx="9258300" cy="542925"/>
          </a:xfrm>
          <a:prstGeom prst="rect">
            <a:avLst/>
          </a:prstGeom>
          <a:noFill/>
          <a:ln w="0" cap="flat">
            <a:noFill/>
            <a:prstDash val="solid"/>
            <a:miter lim="0"/>
          </a:ln>
        </p:spPr>
        <p:txBody>
          <a:bodyPr vert="horz" wrap="none" lIns="0" tIns="0" rIns="0" bIns="0"/>
          <a:lstStyle/>
          <a:p>
            <a:pPr algn="l" rtl="0" eaLnBrk="0"/>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已授权并熟练掌握全套电力系统分析软件（PSS®E, DigSILENT PowerFactory, PSASP）、商业优化求</a:t>
            </a:r>
            <a:endParaRPr sz="1500" dirty="0"/>
          </a:p>
          <a:p>
            <a:pPr marL="2219325" algn="l" rtl="0" eaLnBrk="0">
              <a:spcBef>
                <a:spcPts val="675"/>
              </a:spcBef>
            </a:pPr>
            <a:r>
              <a:rPr sz="1500" b="1" kern="0" spc="0" dirty="0">
                <a:solidFill>
                  <a:srgbClr val="000000">
                    <a:alpha val="100000"/>
                  </a:srgbClr>
                </a:solidFill>
                <a:latin typeface="微软雅黑" panose="020B0503020204020204" charset="-122"/>
                <a:ea typeface="微软雅黑" panose="020B0503020204020204" charset="-122"/>
                <a:cs typeface="微软雅黑" panose="020B0503020204020204" charset="-122"/>
              </a:rPr>
              <a:t>解器（Gurobi,Cplex）、以及主流人工智能开发框架</a:t>
            </a:r>
            <a:endParaRPr sz="1500" dirty="0"/>
          </a:p>
        </p:txBody>
      </p:sp>
      <p:sp>
        <p:nvSpPr>
          <p:cNvPr id="824" name="textbox 824"/>
          <p:cNvSpPr/>
          <p:nvPr/>
        </p:nvSpPr>
        <p:spPr>
          <a:xfrm>
            <a:off x="2647950" y="3286125"/>
            <a:ext cx="6886575" cy="247650"/>
          </a:xfrm>
          <a:prstGeom prst="rect">
            <a:avLst/>
          </a:prstGeom>
          <a:noFill/>
          <a:ln w="0" cap="flat">
            <a:noFill/>
            <a:prstDash val="solid"/>
            <a:miter lim="0"/>
          </a:ln>
        </p:spPr>
        <p:txBody>
          <a:bodyPr vert="horz" wrap="none" lIns="0" tIns="0" rIns="0" bIns="0"/>
          <a:lstStyle/>
          <a:p>
            <a:pPr algn="l" rtl="0" eaLnBrk="0"/>
            <a:r>
              <a:rPr sz="1700" b="1" kern="0" spc="0" dirty="0">
                <a:solidFill>
                  <a:srgbClr val="1166B0">
                    <a:alpha val="100000"/>
                  </a:srgbClr>
                </a:solidFill>
                <a:latin typeface="微软雅黑" panose="020B0503020204020204" charset="-122"/>
                <a:ea typeface="微软雅黑" panose="020B0503020204020204" charset="-122"/>
                <a:cs typeface="微软雅黑" panose="020B0503020204020204" charset="-122"/>
              </a:rPr>
              <a:t>覆盖3年的新能源出力、负荷、气象监测等超过10TB的历史运行数据</a:t>
            </a:r>
            <a:endParaRPr sz="1700" dirty="0"/>
          </a:p>
        </p:txBody>
      </p:sp>
      <p:pic>
        <p:nvPicPr>
          <p:cNvPr id="828" name="picture 828"/>
          <p:cNvPicPr>
            <a:picLocks noChangeAspect="1"/>
          </p:cNvPicPr>
          <p:nvPr/>
        </p:nvPicPr>
        <p:blipFill>
          <a:blip r:embed="rId3"/>
          <a:stretch>
            <a:fillRect/>
          </a:stretch>
        </p:blipFill>
        <p:spPr>
          <a:xfrm>
            <a:off x="828675" y="3829050"/>
            <a:ext cx="3352800" cy="2276475"/>
          </a:xfrm>
          <a:prstGeom prst="rect">
            <a:avLst/>
          </a:prstGeom>
        </p:spPr>
      </p:pic>
      <p:pic>
        <p:nvPicPr>
          <p:cNvPr id="832" name="picture 832"/>
          <p:cNvPicPr>
            <a:picLocks noChangeAspect="1"/>
          </p:cNvPicPr>
          <p:nvPr/>
        </p:nvPicPr>
        <p:blipFill>
          <a:blip r:embed="rId4"/>
          <a:stretch>
            <a:fillRect/>
          </a:stretch>
        </p:blipFill>
        <p:spPr>
          <a:xfrm>
            <a:off x="4362450" y="3829050"/>
            <a:ext cx="3219450" cy="2276475"/>
          </a:xfrm>
          <a:prstGeom prst="rect">
            <a:avLst/>
          </a:prstGeom>
        </p:spPr>
      </p:pic>
      <p:pic>
        <p:nvPicPr>
          <p:cNvPr id="836" name="picture 836"/>
          <p:cNvPicPr>
            <a:picLocks noChangeAspect="1"/>
          </p:cNvPicPr>
          <p:nvPr/>
        </p:nvPicPr>
        <p:blipFill>
          <a:blip r:embed="rId5"/>
          <a:stretch>
            <a:fillRect/>
          </a:stretch>
        </p:blipFill>
        <p:spPr>
          <a:xfrm>
            <a:off x="7762875" y="3867150"/>
            <a:ext cx="3571875" cy="2190750"/>
          </a:xfrm>
          <a:prstGeom prst="rect">
            <a:avLst/>
          </a:prstGeom>
        </p:spPr>
      </p:pic>
      <p:sp>
        <p:nvSpPr>
          <p:cNvPr id="838" name="textbox 838"/>
          <p:cNvSpPr/>
          <p:nvPr/>
        </p:nvSpPr>
        <p:spPr>
          <a:xfrm>
            <a:off x="9620250" y="3867150"/>
            <a:ext cx="381000" cy="114300"/>
          </a:xfrm>
          <a:prstGeom prst="rect">
            <a:avLst/>
          </a:prstGeom>
          <a:noFill/>
          <a:ln w="0" cap="flat">
            <a:noFill/>
            <a:prstDash val="solid"/>
            <a:miter lim="0"/>
          </a:ln>
        </p:spPr>
        <p:txBody>
          <a:bodyPr vert="horz" wrap="none" lIns="0" tIns="0" rIns="0" bIns="0"/>
          <a:lstStyle/>
          <a:p>
            <a:pPr algn="l" rtl="0" eaLnBrk="0"/>
            <a:r>
              <a:rPr sz="500" kern="0" spc="0" dirty="0">
                <a:solidFill>
                  <a:srgbClr val="249087">
                    <a:alpha val="100000"/>
                  </a:srgbClr>
                </a:solidFill>
                <a:latin typeface="微软雅黑" panose="020B0503020204020204" charset="-122"/>
                <a:ea typeface="微软雅黑" panose="020B0503020204020204" charset="-122"/>
                <a:cs typeface="微软雅黑" panose="020B0503020204020204" charset="-122"/>
              </a:rPr>
              <a:t>现金，政府筹措</a:t>
            </a:r>
            <a:endParaRPr sz="500" dirty="0"/>
          </a:p>
        </p:txBody>
      </p:sp>
      <p:sp>
        <p:nvSpPr>
          <p:cNvPr id="840" name="textbox 840"/>
          <p:cNvSpPr/>
          <p:nvPr/>
        </p:nvSpPr>
        <p:spPr>
          <a:xfrm>
            <a:off x="10229850" y="3876675"/>
            <a:ext cx="561975" cy="104775"/>
          </a:xfrm>
          <a:prstGeom prst="rect">
            <a:avLst/>
          </a:prstGeom>
          <a:noFill/>
          <a:ln w="0" cap="flat">
            <a:noFill/>
            <a:prstDash val="solid"/>
            <a:miter lim="0"/>
          </a:ln>
        </p:spPr>
        <p:txBody>
          <a:bodyPr vert="horz" wrap="none" lIns="0" tIns="0" rIns="0" bIns="0"/>
          <a:lstStyle/>
          <a:p>
            <a:pPr algn="l" rtl="0" eaLnBrk="0"/>
            <a:r>
              <a:rPr sz="500" kern="0" spc="0" dirty="0">
                <a:solidFill>
                  <a:srgbClr val="0070C0">
                    <a:alpha val="100000"/>
                  </a:srgbClr>
                </a:solidFill>
                <a:latin typeface="方正小标宋简体"/>
                <a:ea typeface="方正小标宋简体"/>
                <a:cs typeface="方正小标宋简体"/>
              </a:rPr>
              <a:t>道路运输向办事处运输日</a:t>
            </a:r>
            <a:endParaRPr sz="500" dirty="0"/>
          </a:p>
        </p:txBody>
      </p:sp>
      <p:sp>
        <p:nvSpPr>
          <p:cNvPr id="842" name="textbox 842"/>
          <p:cNvSpPr/>
          <p:nvPr/>
        </p:nvSpPr>
        <p:spPr>
          <a:xfrm>
            <a:off x="9677400" y="4352925"/>
            <a:ext cx="161925" cy="76200"/>
          </a:xfrm>
          <a:prstGeom prst="rect">
            <a:avLst/>
          </a:prstGeom>
          <a:noFill/>
          <a:ln w="0" cap="flat">
            <a:noFill/>
            <a:prstDash val="solid"/>
            <a:miter lim="0"/>
          </a:ln>
        </p:spPr>
        <p:txBody>
          <a:bodyPr vert="horz" wrap="none" lIns="0" tIns="0" rIns="0" bIns="0"/>
          <a:lstStyle/>
          <a:p>
            <a:pPr algn="l" rtl="0" eaLnBrk="0"/>
            <a:r>
              <a:rPr sz="500" kern="0" spc="0" dirty="0">
                <a:solidFill>
                  <a:srgbClr val="404040">
                    <a:alpha val="100000"/>
                  </a:srgbClr>
                </a:solidFill>
                <a:latin typeface="微软雅黑" panose="020B0503020204020204" charset="-122"/>
                <a:ea typeface="微软雅黑" panose="020B0503020204020204" charset="-122"/>
                <a:cs typeface="微软雅黑" panose="020B0503020204020204" charset="-122"/>
              </a:rPr>
              <a:t>自然境</a:t>
            </a:r>
            <a:endParaRPr sz="500" dirty="0"/>
          </a:p>
        </p:txBody>
      </p:sp>
      <p:sp>
        <p:nvSpPr>
          <p:cNvPr id="844" name="textbox 844"/>
          <p:cNvSpPr/>
          <p:nvPr/>
        </p:nvSpPr>
        <p:spPr>
          <a:xfrm>
            <a:off x="9582150" y="5353050"/>
            <a:ext cx="942975" cy="152400"/>
          </a:xfrm>
          <a:prstGeom prst="rect">
            <a:avLst/>
          </a:prstGeom>
          <a:noFill/>
          <a:ln w="0" cap="flat">
            <a:noFill/>
            <a:prstDash val="solid"/>
            <a:miter lim="0"/>
          </a:ln>
        </p:spPr>
        <p:txBody>
          <a:bodyPr vert="horz" wrap="none" lIns="0" tIns="0" rIns="0" bIns="0"/>
          <a:lstStyle/>
          <a:p>
            <a:pPr algn="l" rtl="0" eaLnBrk="0"/>
            <a:r>
              <a:rPr sz="700" kern="0" spc="0" dirty="0">
                <a:solidFill>
                  <a:srgbClr val="595959">
                    <a:alpha val="100000"/>
                  </a:srgbClr>
                </a:solidFill>
                <a:latin typeface="微软雅黑" panose="020B0503020204020204" charset="-122"/>
                <a:ea typeface="微软雅黑" panose="020B0503020204020204" charset="-122"/>
                <a:cs typeface="微软雅黑" panose="020B0503020204020204" charset="-122"/>
              </a:rPr>
              <a:t>安科瑞丁一18600590001</a:t>
            </a:r>
            <a:endParaRPr sz="700" dirty="0"/>
          </a:p>
        </p:txBody>
      </p:sp>
      <p:sp>
        <p:nvSpPr>
          <p:cNvPr id="846" name="textbox 846"/>
          <p:cNvSpPr/>
          <p:nvPr/>
        </p:nvSpPr>
        <p:spPr>
          <a:xfrm>
            <a:off x="2266950" y="6143625"/>
            <a:ext cx="7648575" cy="333375"/>
          </a:xfrm>
          <a:prstGeom prst="rect">
            <a:avLst/>
          </a:prstGeom>
          <a:noFill/>
          <a:ln w="0" cap="flat">
            <a:noFill/>
            <a:prstDash val="solid"/>
            <a:miter lim="0"/>
          </a:ln>
        </p:spPr>
        <p:txBody>
          <a:bodyPr vert="horz" wrap="none" lIns="0" tIns="0" rIns="0" bIns="0"/>
          <a:lstStyle/>
          <a:p>
            <a:pPr algn="l" rtl="0" eaLnBrk="0"/>
            <a:r>
              <a:rPr sz="2400" b="1" kern="0" spc="0" dirty="0">
                <a:solidFill>
                  <a:srgbClr val="A31515">
                    <a:alpha val="100000"/>
                  </a:srgbClr>
                </a:solidFill>
                <a:latin typeface="方正大标宋简体"/>
                <a:ea typeface="方正大标宋简体"/>
                <a:cs typeface="方正大标宋简体"/>
              </a:rPr>
              <a:t>构建一个能思考、会学习、可进化的下一代智慧电网大脑</a:t>
            </a:r>
            <a:endParaRPr sz="2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4100</Words>
  <Application>WPS 演示</Application>
  <PresentationFormat/>
  <Paragraphs>657</Paragraphs>
  <Slides>12</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12</vt:i4>
      </vt:variant>
    </vt:vector>
  </HeadingPairs>
  <TitlesOfParts>
    <vt:vector size="34" baseType="lpstr">
      <vt:lpstr>Arial</vt:lpstr>
      <vt:lpstr>宋体</vt:lpstr>
      <vt:lpstr>Wingdings</vt:lpstr>
      <vt:lpstr>微软雅黑</vt:lpstr>
      <vt:lpstr>方正小标宋简体</vt:lpstr>
      <vt:lpstr>华文琥珀</vt:lpstr>
      <vt:lpstr>Arial</vt:lpstr>
      <vt:lpstr>Times New Roman</vt:lpstr>
      <vt:lpstr>Calibri</vt:lpstr>
      <vt:lpstr>Cambria Math</vt:lpstr>
      <vt:lpstr>华文中宋</vt:lpstr>
      <vt:lpstr>Cambria Math</vt:lpstr>
      <vt:lpstr>楷体</vt:lpstr>
      <vt:lpstr>方正大标宋简体</vt:lpstr>
      <vt:lpstr>华文细黑</vt:lpstr>
      <vt:lpstr>Times New Roman</vt:lpstr>
      <vt:lpstr>Verdana</vt:lpstr>
      <vt:lpstr>方正舒体</vt:lpstr>
      <vt:lpstr>隶书</vt:lpstr>
      <vt:lpstr>等线</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WPS_1779984719</cp:lastModifiedBy>
  <cp:revision>6</cp:revision>
  <dcterms:created xsi:type="dcterms:W3CDTF">2026-08-14T13:52:00Z</dcterms:created>
  <dcterms:modified xsi:type="dcterms:W3CDTF">2026-09-09T07:36:12Z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N">
    <vt:lpwstr>V1BTLUFJLUVuZ2luZQ</vt:lpwstr>
  </property>
  <property fmtid="{D5CDD505-2E9C-101B-9397-08002B2CF9AE}" pid="3" name="KSOProductBuildVer">
    <vt:lpwstr>2052-12.1.0.28043</vt:lpwstr>
  </property>
  <property fmtid="{D5CDD505-2E9C-101B-9397-08002B2CF9AE}" pid="4" name="ICV">
    <vt:lpwstr>B4314717C2C844D686E085E6510F72D6_12</vt:lpwstr>
  </property>
</Properties>
</file>