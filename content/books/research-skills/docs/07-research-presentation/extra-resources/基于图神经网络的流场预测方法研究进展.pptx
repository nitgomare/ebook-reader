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1A18"/>
    <a:srgbClr val="FF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8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8.png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6.png"/><Relationship Id="rId2" Type="http://schemas.openxmlformats.org/officeDocument/2006/relationships/image" Target="../media/image8.png"/><Relationship Id="rId1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0.png"/><Relationship Id="rId2" Type="http://schemas.openxmlformats.org/officeDocument/2006/relationships/image" Target="../media/image49.png"/><Relationship Id="rId1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49.png"/><Relationship Id="rId1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9.png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8.png"/><Relationship Id="rId1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8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82.png"/><Relationship Id="rId13" Type="http://schemas.openxmlformats.org/officeDocument/2006/relationships/image" Target="../media/image81.png"/><Relationship Id="rId12" Type="http://schemas.openxmlformats.org/officeDocument/2006/relationships/image" Target="../media/image80.png"/><Relationship Id="rId11" Type="http://schemas.openxmlformats.org/officeDocument/2006/relationships/image" Target="../media/image79.png"/><Relationship Id="rId10" Type="http://schemas.openxmlformats.org/officeDocument/2006/relationships/image" Target="../media/image78.png"/><Relationship Id="rId1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49.png"/><Relationship Id="rId1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8.png"/><Relationship Id="rId1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8.png"/><Relationship Id="rId7" Type="http://schemas.openxmlformats.org/officeDocument/2006/relationships/image" Target="../media/image107.png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Relationship Id="rId3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09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1.png"/><Relationship Id="rId1" Type="http://schemas.openxmlformats.org/officeDocument/2006/relationships/image" Target="../media/image114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93.png"/><Relationship Id="rId1" Type="http://schemas.openxmlformats.org/officeDocument/2006/relationships/image" Target="../media/image118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8.png"/><Relationship Id="rId1" Type="http://schemas.openxmlformats.org/officeDocument/2006/relationships/image" Target="../media/image122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1.png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8.png"/><Relationship Id="rId1" Type="http://schemas.openxmlformats.org/officeDocument/2006/relationships/image" Target="../media/image125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3.png"/><Relationship Id="rId2" Type="http://schemas.openxmlformats.org/officeDocument/2006/relationships/image" Target="../media/image51.png"/><Relationship Id="rId1" Type="http://schemas.openxmlformats.org/officeDocument/2006/relationships/image" Target="../media/image1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3.png"/><Relationship Id="rId1" Type="http://schemas.openxmlformats.org/officeDocument/2006/relationships/image" Target="../media/image1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35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7.png"/><Relationship Id="rId2" Type="http://schemas.openxmlformats.org/officeDocument/2006/relationships/image" Target="../media/image51.png"/><Relationship Id="rId1" Type="http://schemas.openxmlformats.org/officeDocument/2006/relationships/image" Target="../media/image13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3.png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3" Type="http://schemas.openxmlformats.org/officeDocument/2006/relationships/image" Target="../media/image139.png"/><Relationship Id="rId2" Type="http://schemas.openxmlformats.org/officeDocument/2006/relationships/image" Target="../media/image93.png"/><Relationship Id="rId1" Type="http://schemas.openxmlformats.org/officeDocument/2006/relationships/image" Target="../media/image138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5.png"/><Relationship Id="rId2" Type="http://schemas.openxmlformats.org/officeDocument/2006/relationships/image" Target="../media/image8.png"/><Relationship Id="rId1" Type="http://schemas.openxmlformats.org/officeDocument/2006/relationships/image" Target="../media/image144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93.png"/><Relationship Id="rId1" Type="http://schemas.openxmlformats.org/officeDocument/2006/relationships/image" Target="../media/image14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2.png"/><Relationship Id="rId2" Type="http://schemas.openxmlformats.org/officeDocument/2006/relationships/image" Target="../media/image111.png"/><Relationship Id="rId1" Type="http://schemas.openxmlformats.org/officeDocument/2006/relationships/image" Target="../media/image1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image" Target="../media/image153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3" Type="http://schemas.openxmlformats.org/officeDocument/2006/relationships/image" Target="../media/image155.png"/><Relationship Id="rId2" Type="http://schemas.openxmlformats.org/officeDocument/2006/relationships/image" Target="../media/image8.png"/><Relationship Id="rId1" Type="http://schemas.openxmlformats.org/officeDocument/2006/relationships/image" Target="../media/image1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image" Target="../media/image1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image" Target="../media/image159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png"/><Relationship Id="rId8" Type="http://schemas.openxmlformats.org/officeDocument/2006/relationships/image" Target="../media/image167.png"/><Relationship Id="rId7" Type="http://schemas.openxmlformats.org/officeDocument/2006/relationships/image" Target="../media/image166.png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74.png"/><Relationship Id="rId14" Type="http://schemas.openxmlformats.org/officeDocument/2006/relationships/image" Target="../media/image173.png"/><Relationship Id="rId13" Type="http://schemas.openxmlformats.org/officeDocument/2006/relationships/image" Target="../media/image172.png"/><Relationship Id="rId12" Type="http://schemas.openxmlformats.org/officeDocument/2006/relationships/image" Target="../media/image171.png"/><Relationship Id="rId11" Type="http://schemas.openxmlformats.org/officeDocument/2006/relationships/image" Target="../media/image170.png"/><Relationship Id="rId10" Type="http://schemas.openxmlformats.org/officeDocument/2006/relationships/image" Target="../media/image169.png"/><Relationship Id="rId1" Type="http://schemas.openxmlformats.org/officeDocument/2006/relationships/image" Target="../media/image160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2.png"/><Relationship Id="rId8" Type="http://schemas.openxmlformats.org/officeDocument/2006/relationships/image" Target="../media/image181.png"/><Relationship Id="rId7" Type="http://schemas.openxmlformats.org/officeDocument/2006/relationships/image" Target="../media/image180.png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Relationship Id="rId3" Type="http://schemas.openxmlformats.org/officeDocument/2006/relationships/image" Target="../media/image176.png"/><Relationship Id="rId2" Type="http://schemas.openxmlformats.org/officeDocument/2006/relationships/image" Target="../media/image8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91.png"/><Relationship Id="rId17" Type="http://schemas.openxmlformats.org/officeDocument/2006/relationships/image" Target="../media/image190.png"/><Relationship Id="rId16" Type="http://schemas.openxmlformats.org/officeDocument/2006/relationships/image" Target="../media/image189.png"/><Relationship Id="rId15" Type="http://schemas.openxmlformats.org/officeDocument/2006/relationships/image" Target="../media/image188.png"/><Relationship Id="rId14" Type="http://schemas.openxmlformats.org/officeDocument/2006/relationships/image" Target="../media/image187.png"/><Relationship Id="rId13" Type="http://schemas.openxmlformats.org/officeDocument/2006/relationships/image" Target="../media/image186.png"/><Relationship Id="rId12" Type="http://schemas.openxmlformats.org/officeDocument/2006/relationships/image" Target="../media/image185.png"/><Relationship Id="rId11" Type="http://schemas.openxmlformats.org/officeDocument/2006/relationships/image" Target="../media/image184.png"/><Relationship Id="rId10" Type="http://schemas.openxmlformats.org/officeDocument/2006/relationships/image" Target="../media/image183.png"/><Relationship Id="rId1" Type="http://schemas.openxmlformats.org/officeDocument/2006/relationships/image" Target="../media/image175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3" Type="http://schemas.openxmlformats.org/officeDocument/2006/relationships/image" Target="../media/image193.png"/><Relationship Id="rId2" Type="http://schemas.openxmlformats.org/officeDocument/2006/relationships/image" Target="../media/image8.png"/><Relationship Id="rId1" Type="http://schemas.openxmlformats.org/officeDocument/2006/relationships/image" Target="../media/image192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3" Type="http://schemas.openxmlformats.org/officeDocument/2006/relationships/image" Target="../media/image197.png"/><Relationship Id="rId2" Type="http://schemas.openxmlformats.org/officeDocument/2006/relationships/image" Target="../media/image8.png"/><Relationship Id="rId1" Type="http://schemas.openxmlformats.org/officeDocument/2006/relationships/image" Target="../media/image196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06.png"/><Relationship Id="rId7" Type="http://schemas.openxmlformats.org/officeDocument/2006/relationships/image" Target="../media/image205.png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Relationship Id="rId3" Type="http://schemas.openxmlformats.org/officeDocument/2006/relationships/image" Target="../media/image201.png"/><Relationship Id="rId2" Type="http://schemas.openxmlformats.org/officeDocument/2006/relationships/image" Target="../media/image93.png"/><Relationship Id="rId1" Type="http://schemas.openxmlformats.org/officeDocument/2006/relationships/image" Target="../media/image200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13.png"/><Relationship Id="rId7" Type="http://schemas.openxmlformats.org/officeDocument/2006/relationships/image" Target="../media/image212.png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Relationship Id="rId3" Type="http://schemas.openxmlformats.org/officeDocument/2006/relationships/image" Target="../media/image208.png"/><Relationship Id="rId2" Type="http://schemas.openxmlformats.org/officeDocument/2006/relationships/image" Target="../media/image8.png"/><Relationship Id="rId1" Type="http://schemas.openxmlformats.org/officeDocument/2006/relationships/image" Target="../media/image207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5.png"/><Relationship Id="rId2" Type="http://schemas.openxmlformats.org/officeDocument/2006/relationships/image" Target="../media/image93.png"/><Relationship Id="rId1" Type="http://schemas.openxmlformats.org/officeDocument/2006/relationships/image" Target="../media/image214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2.png"/><Relationship Id="rId7" Type="http://schemas.openxmlformats.org/officeDocument/2006/relationships/image" Target="../media/image221.png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3" Type="http://schemas.openxmlformats.org/officeDocument/2006/relationships/image" Target="../media/image217.png"/><Relationship Id="rId2" Type="http://schemas.openxmlformats.org/officeDocument/2006/relationships/image" Target="../media/image8.png"/><Relationship Id="rId1" Type="http://schemas.openxmlformats.org/officeDocument/2006/relationships/image" Target="../media/image216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6.png"/><Relationship Id="rId4" Type="http://schemas.openxmlformats.org/officeDocument/2006/relationships/image" Target="../media/image225.png"/><Relationship Id="rId3" Type="http://schemas.openxmlformats.org/officeDocument/2006/relationships/image" Target="../media/image224.png"/><Relationship Id="rId2" Type="http://schemas.openxmlformats.org/officeDocument/2006/relationships/image" Target="../media/image93.png"/><Relationship Id="rId1" Type="http://schemas.openxmlformats.org/officeDocument/2006/relationships/image" Target="../media/image223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3.png"/><Relationship Id="rId7" Type="http://schemas.openxmlformats.org/officeDocument/2006/relationships/image" Target="../media/image232.png"/><Relationship Id="rId6" Type="http://schemas.openxmlformats.org/officeDocument/2006/relationships/image" Target="../media/image231.png"/><Relationship Id="rId5" Type="http://schemas.openxmlformats.org/officeDocument/2006/relationships/image" Target="../media/image230.png"/><Relationship Id="rId4" Type="http://schemas.openxmlformats.org/officeDocument/2006/relationships/image" Target="../media/image229.png"/><Relationship Id="rId3" Type="http://schemas.openxmlformats.org/officeDocument/2006/relationships/image" Target="../media/image228.png"/><Relationship Id="rId2" Type="http://schemas.openxmlformats.org/officeDocument/2006/relationships/image" Target="../media/image93.png"/><Relationship Id="rId1" Type="http://schemas.openxmlformats.org/officeDocument/2006/relationships/image" Target="../media/image227.png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0.png"/><Relationship Id="rId7" Type="http://schemas.openxmlformats.org/officeDocument/2006/relationships/image" Target="../media/image239.png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Relationship Id="rId3" Type="http://schemas.openxmlformats.org/officeDocument/2006/relationships/image" Target="../media/image235.png"/><Relationship Id="rId2" Type="http://schemas.openxmlformats.org/officeDocument/2006/relationships/image" Target="../media/image111.png"/><Relationship Id="rId1" Type="http://schemas.openxmlformats.org/officeDocument/2006/relationships/image" Target="../media/image234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3.png"/><Relationship Id="rId3" Type="http://schemas.openxmlformats.org/officeDocument/2006/relationships/image" Target="../media/image242.png"/><Relationship Id="rId2" Type="http://schemas.openxmlformats.org/officeDocument/2006/relationships/image" Target="../media/image93.png"/><Relationship Id="rId1" Type="http://schemas.openxmlformats.org/officeDocument/2006/relationships/image" Target="../media/image241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6.png"/><Relationship Id="rId3" Type="http://schemas.openxmlformats.org/officeDocument/2006/relationships/image" Target="../media/image245.png"/><Relationship Id="rId2" Type="http://schemas.openxmlformats.org/officeDocument/2006/relationships/image" Target="../media/image8.png"/><Relationship Id="rId1" Type="http://schemas.openxmlformats.org/officeDocument/2006/relationships/image" Target="../media/image244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8.png"/><Relationship Id="rId2" Type="http://schemas.openxmlformats.org/officeDocument/2006/relationships/image" Target="../media/image84.png"/><Relationship Id="rId1" Type="http://schemas.openxmlformats.org/officeDocument/2006/relationships/image" Target="../media/image247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0.png"/><Relationship Id="rId2" Type="http://schemas.openxmlformats.org/officeDocument/2006/relationships/image" Target="../media/image93.png"/><Relationship Id="rId1" Type="http://schemas.openxmlformats.org/officeDocument/2006/relationships/image" Target="../media/image249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2.png"/><Relationship Id="rId2" Type="http://schemas.openxmlformats.org/officeDocument/2006/relationships/image" Target="../media/image93.png"/><Relationship Id="rId1" Type="http://schemas.openxmlformats.org/officeDocument/2006/relationships/image" Target="../media/image251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0.png"/><Relationship Id="rId8" Type="http://schemas.openxmlformats.org/officeDocument/2006/relationships/image" Target="../media/image259.png"/><Relationship Id="rId7" Type="http://schemas.openxmlformats.org/officeDocument/2006/relationships/image" Target="../media/image258.png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Relationship Id="rId3" Type="http://schemas.openxmlformats.org/officeDocument/2006/relationships/image" Target="../media/image254.png"/><Relationship Id="rId2" Type="http://schemas.openxmlformats.org/officeDocument/2006/relationships/image" Target="../media/image93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53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2.png"/><Relationship Id="rId2" Type="http://schemas.openxmlformats.org/officeDocument/2006/relationships/image" Target="../media/image93.png"/><Relationship Id="rId1" Type="http://schemas.openxmlformats.org/officeDocument/2006/relationships/image" Target="../media/image26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68.png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Relationship Id="rId3" Type="http://schemas.openxmlformats.org/officeDocument/2006/relationships/image" Target="../media/image264.png"/><Relationship Id="rId2" Type="http://schemas.openxmlformats.org/officeDocument/2006/relationships/image" Target="../media/image8.png"/><Relationship Id="rId1" Type="http://schemas.openxmlformats.org/officeDocument/2006/relationships/image" Target="../media/image2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26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75.png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Relationship Id="rId3" Type="http://schemas.openxmlformats.org/officeDocument/2006/relationships/image" Target="../media/image271.png"/><Relationship Id="rId2" Type="http://schemas.openxmlformats.org/officeDocument/2006/relationships/image" Target="../media/image8.png"/><Relationship Id="rId1" Type="http://schemas.openxmlformats.org/officeDocument/2006/relationships/image" Target="../media/image270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7.png"/><Relationship Id="rId2" Type="http://schemas.openxmlformats.org/officeDocument/2006/relationships/image" Target="../media/image93.png"/><Relationship Id="rId1" Type="http://schemas.openxmlformats.org/officeDocument/2006/relationships/image" Target="../media/image276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9.png"/><Relationship Id="rId2" Type="http://schemas.openxmlformats.org/officeDocument/2006/relationships/image" Target="../media/image111.png"/><Relationship Id="rId1" Type="http://schemas.openxmlformats.org/officeDocument/2006/relationships/image" Target="../media/image2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90500"/>
            <a:ext cx="828675" cy="809625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219200" y="371475"/>
            <a:ext cx="48958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工程数值模拟基础算法与模型全国重点实验室</a:t>
            </a:r>
            <a:endParaRPr sz="1800" dirty="0"/>
          </a:p>
          <a:p>
            <a:pPr algn="l" rtl="0" eaLnBrk="0"/>
            <a:r>
              <a:rPr sz="7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NATIONAL KEY LABORATORY OF FUNDAMENTAL ALGORITHMS AND MODELS FOR ENGINEERING SIMULATION</a:t>
            </a:r>
            <a:endParaRPr sz="700" dirty="0"/>
          </a:p>
        </p:txBody>
      </p:sp>
      <p:sp>
        <p:nvSpPr>
          <p:cNvPr id="12" name="textbox 12"/>
          <p:cNvSpPr/>
          <p:nvPr/>
        </p:nvSpPr>
        <p:spPr>
          <a:xfrm>
            <a:off x="8420100" y="200025"/>
            <a:ext cx="343852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85725" algn="l" rtl="0" eaLnBrk="0"/>
            <a:r>
              <a:rPr sz="1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中国力学大会-2025：湖南 长沙</a:t>
            </a:r>
            <a:endParaRPr sz="1800" dirty="0"/>
          </a:p>
          <a:p>
            <a:pPr algn="l" rtl="0" eaLnBrk="0"/>
            <a:r>
              <a:rPr sz="1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MS53：人工智能在力学中的应用</a:t>
            </a:r>
            <a:endParaRPr sz="1800" dirty="0"/>
          </a:p>
        </p:txBody>
      </p:sp>
      <p:sp>
        <p:nvSpPr>
          <p:cNvPr id="14" name="textbox 14"/>
          <p:cNvSpPr/>
          <p:nvPr/>
        </p:nvSpPr>
        <p:spPr>
          <a:xfrm>
            <a:off x="723900" y="2085975"/>
            <a:ext cx="107251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4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基于图神经网络的流场预测方法研究进展</a:t>
            </a:r>
            <a:endParaRPr sz="4400" dirty="0"/>
          </a:p>
        </p:txBody>
      </p:sp>
      <p:sp>
        <p:nvSpPr>
          <p:cNvPr id="16" name="textbox 16"/>
          <p:cNvSpPr/>
          <p:nvPr/>
        </p:nvSpPr>
        <p:spPr>
          <a:xfrm>
            <a:off x="5267325" y="4686300"/>
            <a:ext cx="16287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292A2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2025</a:t>
            </a:r>
            <a:r>
              <a:rPr sz="2400" b="1" kern="0" spc="0" dirty="0">
                <a:solidFill>
                  <a:srgbClr val="292A2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2400" b="1" kern="0" spc="0" dirty="0">
                <a:solidFill>
                  <a:srgbClr val="292A2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sz="2400" b="1" kern="0" spc="0" dirty="0">
                <a:solidFill>
                  <a:srgbClr val="292A2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800225"/>
            <a:ext cx="1657350" cy="1219200"/>
          </a:xfrm>
          <a:prstGeom prst="rect">
            <a:avLst/>
          </a:prstGeom>
        </p:spPr>
      </p:pic>
      <p:sp>
        <p:nvSpPr>
          <p:cNvPr id="26" name="textbox 26"/>
          <p:cNvSpPr/>
          <p:nvPr>
            <p:custDataLst>
              <p:tags r:id="rId3"/>
            </p:custDataLst>
          </p:nvPr>
        </p:nvSpPr>
        <p:spPr>
          <a:xfrm>
            <a:off x="6057900" y="1524000"/>
            <a:ext cx="39433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CC18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研究背景及国内外进展</a:t>
            </a:r>
            <a:endParaRPr sz="2800" dirty="0"/>
          </a:p>
        </p:txBody>
      </p:sp>
      <p:sp>
        <p:nvSpPr>
          <p:cNvPr id="28" name="textbox 28"/>
          <p:cNvSpPr/>
          <p:nvPr>
            <p:custDataLst>
              <p:tags r:id="rId4"/>
            </p:custDataLst>
          </p:nvPr>
        </p:nvSpPr>
        <p:spPr>
          <a:xfrm>
            <a:off x="5324475" y="1543050"/>
            <a:ext cx="39052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9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dirty="0"/>
          </a:p>
        </p:txBody>
      </p:sp>
      <p:sp>
        <p:nvSpPr>
          <p:cNvPr id="30" name="textbox 30"/>
          <p:cNvSpPr/>
          <p:nvPr>
            <p:custDataLst>
              <p:tags r:id="rId5"/>
            </p:custDataLst>
          </p:nvPr>
        </p:nvSpPr>
        <p:spPr>
          <a:xfrm>
            <a:off x="6038850" y="2743200"/>
            <a:ext cx="39624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B5263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数据驱动方法研究进展</a:t>
            </a:r>
            <a:endParaRPr sz="2800" dirty="0"/>
          </a:p>
        </p:txBody>
      </p:sp>
      <p:sp>
        <p:nvSpPr>
          <p:cNvPr id="32" name="textbox 32"/>
          <p:cNvSpPr/>
          <p:nvPr>
            <p:custDataLst>
              <p:tags r:id="rId6"/>
            </p:custDataLst>
          </p:nvPr>
        </p:nvSpPr>
        <p:spPr>
          <a:xfrm>
            <a:off x="5324475" y="2752725"/>
            <a:ext cx="4286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6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dirty="0"/>
          </a:p>
        </p:txBody>
      </p:sp>
      <p:sp>
        <p:nvSpPr>
          <p:cNvPr id="34" name="textbox 34"/>
          <p:cNvSpPr/>
          <p:nvPr>
            <p:custDataLst>
              <p:tags r:id="rId7"/>
            </p:custDataLst>
          </p:nvPr>
        </p:nvSpPr>
        <p:spPr>
          <a:xfrm>
            <a:off x="6057900" y="3952875"/>
            <a:ext cx="39338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BD22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物理约束方法研究进展</a:t>
            </a:r>
            <a:endParaRPr sz="2800" dirty="0"/>
          </a:p>
        </p:txBody>
      </p:sp>
      <p:sp>
        <p:nvSpPr>
          <p:cNvPr id="36" name="textbox 36"/>
          <p:cNvSpPr/>
          <p:nvPr>
            <p:custDataLst>
              <p:tags r:id="rId8"/>
            </p:custDataLst>
          </p:nvPr>
        </p:nvSpPr>
        <p:spPr>
          <a:xfrm>
            <a:off x="5324475" y="3981450"/>
            <a:ext cx="4095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dirty="0"/>
          </a:p>
        </p:txBody>
      </p:sp>
      <p:sp>
        <p:nvSpPr>
          <p:cNvPr id="38" name="textbox 38"/>
          <p:cNvSpPr/>
          <p:nvPr>
            <p:custDataLst>
              <p:tags r:id="rId9"/>
            </p:custDataLst>
          </p:nvPr>
        </p:nvSpPr>
        <p:spPr>
          <a:xfrm>
            <a:off x="6038850" y="5153025"/>
            <a:ext cx="20097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B82C3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2800" dirty="0"/>
          </a:p>
        </p:txBody>
      </p:sp>
      <p:sp>
        <p:nvSpPr>
          <p:cNvPr id="40" name="textbox 40"/>
          <p:cNvSpPr/>
          <p:nvPr>
            <p:custDataLst>
              <p:tags r:id="rId10"/>
            </p:custDataLst>
          </p:nvPr>
        </p:nvSpPr>
        <p:spPr>
          <a:xfrm>
            <a:off x="5324475" y="5191125"/>
            <a:ext cx="4381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7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552450" y="2905125"/>
            <a:ext cx="7448550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400" b="1" kern="0" spc="0" dirty="0">
                <a:solidFill>
                  <a:srgbClr val="BA22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4400" dirty="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0"/>
            <a:ext cx="352425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666750" y="304800"/>
            <a:ext cx="3533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66750" y="1143000"/>
            <a:ext cx="10887075" cy="1371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57200"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近年来，以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深度神经网络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为代表的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被大量用于图像处理、语音识别、</a:t>
            </a:r>
            <a:endParaRPr sz="2400" dirty="0"/>
          </a:p>
          <a:p>
            <a:pPr algn="l" rtl="0" eaLnBrk="0">
              <a:spcBef>
                <a:spcPts val="135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计算机视觉、模式识别、自然语言处理等诸多领域。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ChatGPT和DeepSeek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sz="2400" dirty="0"/>
          </a:p>
          <a:p>
            <a:pPr algn="l" rtl="0" eaLnBrk="0">
              <a:spcBef>
                <a:spcPts val="135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通用大语言模型的问世，在各行各业掀起了前所未有的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AI热潮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76525"/>
            <a:ext cx="2028825" cy="1685925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150" y="3705225"/>
            <a:ext cx="561975" cy="342900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3771900"/>
            <a:ext cx="1514475" cy="14097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225" y="3705225"/>
            <a:ext cx="552450" cy="371475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2676525"/>
            <a:ext cx="2000250" cy="168592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25" y="2895600"/>
            <a:ext cx="2752725" cy="1533525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1409700" y="4400550"/>
            <a:ext cx="10572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图像处理</a:t>
            </a:r>
            <a:endParaRPr sz="2000" dirty="0"/>
          </a:p>
        </p:txBody>
      </p:sp>
      <p:sp>
        <p:nvSpPr>
          <p:cNvPr id="90" name="textbox 90"/>
          <p:cNvSpPr/>
          <p:nvPr/>
        </p:nvSpPr>
        <p:spPr>
          <a:xfrm>
            <a:off x="6486525" y="4400550"/>
            <a:ext cx="10572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语音识别</a:t>
            </a:r>
            <a:endParaRPr sz="2000" dirty="0"/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4743450"/>
            <a:ext cx="2009775" cy="167640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0875" y="5133975"/>
            <a:ext cx="495300" cy="43815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3819525" y="5305425"/>
            <a:ext cx="123825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</a:t>
            </a:r>
            <a:endParaRPr sz="2400" dirty="0"/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0175" y="5133975"/>
            <a:ext cx="504825" cy="41910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0750" y="4743450"/>
            <a:ext cx="2000250" cy="16764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2025" y="4676775"/>
            <a:ext cx="2752725" cy="1552575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1276350" y="6457950"/>
            <a:ext cx="15621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自然语言处理</a:t>
            </a:r>
            <a:endParaRPr sz="2000" dirty="0"/>
          </a:p>
        </p:txBody>
      </p:sp>
      <p:sp>
        <p:nvSpPr>
          <p:cNvPr id="116" name="textbox 116"/>
          <p:cNvSpPr/>
          <p:nvPr/>
        </p:nvSpPr>
        <p:spPr>
          <a:xfrm>
            <a:off x="6486525" y="6457950"/>
            <a:ext cx="10572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机器视觉</a:t>
            </a:r>
            <a:endParaRPr sz="2000" dirty="0"/>
          </a:p>
        </p:txBody>
      </p:sp>
      <p:sp>
        <p:nvSpPr>
          <p:cNvPr id="118" name="textbox 118"/>
          <p:cNvSpPr/>
          <p:nvPr/>
        </p:nvSpPr>
        <p:spPr>
          <a:xfrm>
            <a:off x="12011025" y="6638925"/>
            <a:ext cx="1238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D3D3D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685800" y="314325"/>
            <a:ext cx="35147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504825" y="1057275"/>
            <a:ext cx="109347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30480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机器学习与流体力学的结合日益紧密：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智能流体力学（AI4Science）</a:t>
            </a:r>
            <a:endParaRPr sz="2800" dirty="0"/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752600"/>
            <a:ext cx="4381500" cy="436245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752600"/>
            <a:ext cx="4362450" cy="4362450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2105025" y="6257925"/>
            <a:ext cx="328612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Raissi et al., 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Science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367, 2020</a:t>
            </a:r>
            <a:endParaRPr sz="2000" dirty="0"/>
          </a:p>
        </p:txBody>
      </p:sp>
      <p:sp>
        <p:nvSpPr>
          <p:cNvPr id="142" name="textbox 142"/>
          <p:cNvSpPr/>
          <p:nvPr/>
        </p:nvSpPr>
        <p:spPr>
          <a:xfrm>
            <a:off x="6886575" y="6286500"/>
            <a:ext cx="338137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Karniadakis et al., 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Nature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2021.</a:t>
            </a:r>
            <a:endParaRPr sz="2000" dirty="0"/>
          </a:p>
        </p:txBody>
      </p:sp>
      <p:sp>
        <p:nvSpPr>
          <p:cNvPr id="144" name="textbox 144"/>
          <p:cNvSpPr/>
          <p:nvPr/>
        </p:nvSpPr>
        <p:spPr>
          <a:xfrm>
            <a:off x="12011025" y="6638925"/>
            <a:ext cx="11430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C6C6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685800" y="304800"/>
            <a:ext cx="351472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476250" y="1057275"/>
            <a:ext cx="109632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4290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机器学习与流体力学的结合日益紧密：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智能流体力学（AI4Science）</a:t>
            </a:r>
            <a:endParaRPr sz="2800" dirty="0"/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771650"/>
            <a:ext cx="3305175" cy="419100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771650"/>
            <a:ext cx="3295650" cy="4191000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050" y="1771650"/>
            <a:ext cx="3295650" cy="4191000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742950" y="6124575"/>
            <a:ext cx="274320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Brunton S. L. et al., 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Annu.</a:t>
            </a:r>
            <a:endParaRPr sz="2000" dirty="0"/>
          </a:p>
          <a:p>
            <a:pPr marL="114300" algn="l" rtl="0" eaLnBrk="0"/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Rev. Fluid Mech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., 2020.</a:t>
            </a:r>
            <a:endParaRPr sz="2000" dirty="0"/>
          </a:p>
        </p:txBody>
      </p:sp>
      <p:sp>
        <p:nvSpPr>
          <p:cNvPr id="172" name="textbox 172"/>
          <p:cNvSpPr/>
          <p:nvPr/>
        </p:nvSpPr>
        <p:spPr>
          <a:xfrm>
            <a:off x="4276725" y="6257925"/>
            <a:ext cx="353377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Kutz, 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Journal Fluid Mech.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2017.</a:t>
            </a:r>
            <a:endParaRPr sz="2000" dirty="0"/>
          </a:p>
        </p:txBody>
      </p:sp>
      <p:sp>
        <p:nvSpPr>
          <p:cNvPr id="174" name="textbox 174"/>
          <p:cNvSpPr/>
          <p:nvPr/>
        </p:nvSpPr>
        <p:spPr>
          <a:xfrm>
            <a:off x="8439150" y="6057900"/>
            <a:ext cx="3076575" cy="57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Zhang WW, et al. </a:t>
            </a:r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Progress in</a:t>
            </a:r>
            <a:endParaRPr sz="2000" dirty="0"/>
          </a:p>
          <a:p>
            <a:pPr marL="152400" algn="l" rtl="0" eaLnBrk="0"/>
            <a:r>
              <a:rPr sz="2000" b="1" i="1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Aerospace Sciences</a:t>
            </a:r>
            <a:r>
              <a:rPr sz="2000" kern="0" spc="0" dirty="0">
                <a:solidFill>
                  <a:srgbClr val="C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2025</a:t>
            </a:r>
            <a:endParaRPr sz="2000" dirty="0"/>
          </a:p>
        </p:txBody>
      </p:sp>
      <p:sp>
        <p:nvSpPr>
          <p:cNvPr id="176" name="textbox 176"/>
          <p:cNvSpPr/>
          <p:nvPr/>
        </p:nvSpPr>
        <p:spPr>
          <a:xfrm>
            <a:off x="12011025" y="6648450"/>
            <a:ext cx="11430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CE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2" name="textbox 182"/>
          <p:cNvSpPr/>
          <p:nvPr/>
        </p:nvSpPr>
        <p:spPr>
          <a:xfrm>
            <a:off x="685800" y="314325"/>
            <a:ext cx="35147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257175"/>
            <a:ext cx="3390900" cy="485775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704850" y="1038225"/>
            <a:ext cx="56673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0480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机器学习在流体力学中的典型应用</a:t>
            </a:r>
            <a:endParaRPr sz="2800" dirty="0"/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5076825"/>
            <a:ext cx="3295650" cy="1676400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1628775"/>
            <a:ext cx="1828800" cy="1885950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2219325" y="3743325"/>
            <a:ext cx="8382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Cai S Z.</a:t>
            </a:r>
            <a:endParaRPr sz="1800" dirty="0"/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950" y="1752600"/>
            <a:ext cx="3848100" cy="4286250"/>
          </a:xfrm>
          <a:prstGeom prst="rect">
            <a:avLst/>
          </a:prstGeom>
        </p:spPr>
      </p:pic>
      <p:sp>
        <p:nvSpPr>
          <p:cNvPr id="204" name="textbox 204"/>
          <p:cNvSpPr/>
          <p:nvPr/>
        </p:nvSpPr>
        <p:spPr>
          <a:xfrm>
            <a:off x="5772150" y="1990725"/>
            <a:ext cx="63817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4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ROM</a:t>
            </a:r>
            <a:endParaRPr sz="1800" dirty="0"/>
          </a:p>
        </p:txBody>
      </p:sp>
      <p:sp>
        <p:nvSpPr>
          <p:cNvPr id="206" name="textbox 206"/>
          <p:cNvSpPr/>
          <p:nvPr/>
        </p:nvSpPr>
        <p:spPr>
          <a:xfrm>
            <a:off x="5838825" y="2324100"/>
            <a:ext cx="4953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1800" dirty="0"/>
          </a:p>
        </p:txBody>
      </p:sp>
      <p:sp>
        <p:nvSpPr>
          <p:cNvPr id="208" name="textbox 208"/>
          <p:cNvSpPr/>
          <p:nvPr/>
        </p:nvSpPr>
        <p:spPr>
          <a:xfrm>
            <a:off x="7058025" y="2752725"/>
            <a:ext cx="76200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流场特</a:t>
            </a:r>
            <a:endParaRPr sz="1800" dirty="0"/>
          </a:p>
        </p:txBody>
      </p:sp>
      <p:sp>
        <p:nvSpPr>
          <p:cNvPr id="210" name="textbox 210"/>
          <p:cNvSpPr/>
          <p:nvPr/>
        </p:nvSpPr>
        <p:spPr>
          <a:xfrm>
            <a:off x="4352925" y="2771775"/>
            <a:ext cx="7620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</a:t>
            </a:r>
            <a:endParaRPr sz="1800" dirty="0"/>
          </a:p>
        </p:txBody>
      </p:sp>
      <p:sp>
        <p:nvSpPr>
          <p:cNvPr id="212" name="textbox 212"/>
          <p:cNvSpPr/>
          <p:nvPr/>
        </p:nvSpPr>
        <p:spPr>
          <a:xfrm>
            <a:off x="4352925" y="3086100"/>
            <a:ext cx="76200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据处理</a:t>
            </a:r>
            <a:endParaRPr sz="1800" dirty="0"/>
          </a:p>
        </p:txBody>
      </p:sp>
      <p:sp>
        <p:nvSpPr>
          <p:cNvPr id="214" name="textbox 214"/>
          <p:cNvSpPr/>
          <p:nvPr/>
        </p:nvSpPr>
        <p:spPr>
          <a:xfrm>
            <a:off x="7058025" y="3086100"/>
            <a:ext cx="76200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征提取</a:t>
            </a:r>
            <a:endParaRPr sz="1800" dirty="0"/>
          </a:p>
        </p:txBody>
      </p:sp>
      <p:sp>
        <p:nvSpPr>
          <p:cNvPr id="216" name="textbox 216"/>
          <p:cNvSpPr/>
          <p:nvPr/>
        </p:nvSpPr>
        <p:spPr>
          <a:xfrm>
            <a:off x="5762625" y="3552825"/>
            <a:ext cx="6191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ML+</a:t>
            </a:r>
            <a:endParaRPr sz="2100" dirty="0"/>
          </a:p>
        </p:txBody>
      </p:sp>
      <p:sp>
        <p:nvSpPr>
          <p:cNvPr id="218" name="textbox 218"/>
          <p:cNvSpPr/>
          <p:nvPr/>
        </p:nvSpPr>
        <p:spPr>
          <a:xfrm>
            <a:off x="5562600" y="3857625"/>
            <a:ext cx="10477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流体力学</a:t>
            </a:r>
            <a:endParaRPr sz="1900" dirty="0"/>
          </a:p>
        </p:txBody>
      </p:sp>
      <p:sp>
        <p:nvSpPr>
          <p:cNvPr id="220" name="textbox 220"/>
          <p:cNvSpPr/>
          <p:nvPr/>
        </p:nvSpPr>
        <p:spPr>
          <a:xfrm>
            <a:off x="7143750" y="4295775"/>
            <a:ext cx="57150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流动</a:t>
            </a:r>
            <a:endParaRPr sz="2000" dirty="0"/>
          </a:p>
        </p:txBody>
      </p:sp>
      <p:sp>
        <p:nvSpPr>
          <p:cNvPr id="222" name="textbox 222"/>
          <p:cNvSpPr/>
          <p:nvPr/>
        </p:nvSpPr>
        <p:spPr>
          <a:xfrm>
            <a:off x="4457700" y="4305300"/>
            <a:ext cx="57150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湍流</a:t>
            </a:r>
            <a:endParaRPr sz="2000" dirty="0"/>
          </a:p>
        </p:txBody>
      </p:sp>
      <p:sp>
        <p:nvSpPr>
          <p:cNvPr id="224" name="textbox 224"/>
          <p:cNvSpPr/>
          <p:nvPr/>
        </p:nvSpPr>
        <p:spPr>
          <a:xfrm>
            <a:off x="4457700" y="4648200"/>
            <a:ext cx="5524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8F8F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2000" dirty="0"/>
          </a:p>
        </p:txBody>
      </p:sp>
      <p:sp>
        <p:nvSpPr>
          <p:cNvPr id="226" name="textbox 226"/>
          <p:cNvSpPr/>
          <p:nvPr/>
        </p:nvSpPr>
        <p:spPr>
          <a:xfrm>
            <a:off x="7143750" y="4648200"/>
            <a:ext cx="57150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endParaRPr sz="2000" dirty="0"/>
          </a:p>
        </p:txBody>
      </p:sp>
      <p:sp>
        <p:nvSpPr>
          <p:cNvPr id="228" name="textbox 228"/>
          <p:cNvSpPr/>
          <p:nvPr/>
        </p:nvSpPr>
        <p:spPr>
          <a:xfrm>
            <a:off x="5715000" y="4953000"/>
            <a:ext cx="7620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气动力</a:t>
            </a:r>
            <a:endParaRPr sz="1800" dirty="0"/>
          </a:p>
        </p:txBody>
      </p:sp>
      <p:sp>
        <p:nvSpPr>
          <p:cNvPr id="230" name="textbox 230"/>
          <p:cNvSpPr/>
          <p:nvPr/>
        </p:nvSpPr>
        <p:spPr>
          <a:xfrm>
            <a:off x="5695950" y="5267325"/>
            <a:ext cx="7810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预测与</a:t>
            </a:r>
            <a:endParaRPr sz="1800" dirty="0"/>
          </a:p>
        </p:txBody>
      </p:sp>
      <p:sp>
        <p:nvSpPr>
          <p:cNvPr id="232" name="textbox 232"/>
          <p:cNvSpPr/>
          <p:nvPr/>
        </p:nvSpPr>
        <p:spPr>
          <a:xfrm>
            <a:off x="5724525" y="5572125"/>
            <a:ext cx="75247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反设计</a:t>
            </a:r>
            <a:endParaRPr sz="1800" dirty="0"/>
          </a:p>
        </p:txBody>
      </p:sp>
      <p:sp>
        <p:nvSpPr>
          <p:cNvPr id="234" name="textbox 234"/>
          <p:cNvSpPr/>
          <p:nvPr/>
        </p:nvSpPr>
        <p:spPr>
          <a:xfrm>
            <a:off x="6953250" y="5581650"/>
            <a:ext cx="93345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111111">
                    <a:alpha val="100000"/>
                  </a:srgbClr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Airfoil Shape</a:t>
            </a:r>
            <a:endParaRPr sz="1200" dirty="0"/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825" y="1114425"/>
            <a:ext cx="3362325" cy="1228725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7753350" y="1095375"/>
            <a:ext cx="93345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Deng L.</a:t>
            </a:r>
            <a:endParaRPr sz="1800" dirty="0"/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486400"/>
            <a:ext cx="5048250" cy="1266825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6953250" y="5581650"/>
            <a:ext cx="93345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111111">
                    <a:alpha val="100000"/>
                  </a:srgbClr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Airfoil Shape</a:t>
            </a:r>
            <a:endParaRPr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textbox 248"/>
              <p:cNvSpPr/>
              <p:nvPr/>
            </p:nvSpPr>
            <p:spPr>
              <a:xfrm>
                <a:off x="10344150" y="5667375"/>
                <a:ext cx="1028700" cy="2190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 xmlns:m="http://schemas.openxmlformats.org/officeDocument/2006/math"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/>
                            <a:ea typeface="Cambria Math" panose="02040503050406030204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/>
                            <a:ea typeface="Cambria Math" panose="02040503050406030204"/>
                          </a:rPr>
                          <m:t>p</m:t>
                        </m:r>
                      </m:sub>
                    </m:sSub>
                  </m:oMath>
                </a14:m>
                <a:r>
                  <a:rPr sz="1200" kern="0" spc="0" dirty="0">
                    <a:solidFill>
                      <a:srgbClr val="000000">
                        <a:alpha val="100000"/>
                      </a:srgbClr>
                    </a:solidFill>
                    <a:latin typeface="Georgia" panose="02040502050405020303"/>
                    <a:ea typeface="Georgia" panose="02040502050405020303"/>
                    <a:cs typeface="Georgia" panose="02040502050405020303"/>
                  </a:rPr>
                  <a:t> distribution</a:t>
                </a:r>
                <a:endParaRPr sz="1200" dirty="0"/>
              </a:p>
            </p:txBody>
          </p:sp>
        </mc:Choice>
        <mc:Fallback>
          <p:sp>
            <p:nvSpPr>
              <p:cNvPr id="248" name="textbox 2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150" y="5667375"/>
                <a:ext cx="1028700" cy="219075"/>
              </a:xfrm>
              <a:prstGeom prst="rect">
                <a:avLst/>
              </a:prstGeom>
              <a:blipFill rotWithShape="1">
                <a:blip r:embed="rId8"/>
                <a:stretch>
                  <a:fillRect r="-309" b="-3913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0" name="textbox 250"/>
          <p:cNvSpPr/>
          <p:nvPr/>
        </p:nvSpPr>
        <p:spPr>
          <a:xfrm>
            <a:off x="8810625" y="5676900"/>
            <a:ext cx="8382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Flow Solver</a:t>
            </a:r>
            <a:endParaRPr sz="1200" dirty="0"/>
          </a:p>
        </p:txBody>
      </p:sp>
      <p:sp>
        <p:nvSpPr>
          <p:cNvPr id="252" name="textbox 252"/>
          <p:cNvSpPr/>
          <p:nvPr/>
        </p:nvSpPr>
        <p:spPr>
          <a:xfrm>
            <a:off x="8658225" y="5886450"/>
            <a:ext cx="10668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Forward Model</a:t>
            </a:r>
            <a:endParaRPr sz="1200" dirty="0"/>
          </a:p>
        </p:txBody>
      </p:sp>
      <p:sp>
        <p:nvSpPr>
          <p:cNvPr id="254" name="textbox 254"/>
          <p:cNvSpPr/>
          <p:nvPr/>
        </p:nvSpPr>
        <p:spPr>
          <a:xfrm>
            <a:off x="8991600" y="6315075"/>
            <a:ext cx="4191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CNN</a:t>
            </a:r>
            <a:endParaRPr sz="1400" dirty="0"/>
          </a:p>
        </p:txBody>
      </p:sp>
      <p:sp>
        <p:nvSpPr>
          <p:cNvPr id="256" name="textbox 256"/>
          <p:cNvSpPr/>
          <p:nvPr/>
        </p:nvSpPr>
        <p:spPr>
          <a:xfrm>
            <a:off x="6867525" y="6457950"/>
            <a:ext cx="80010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Shu C.</a:t>
            </a:r>
            <a:endParaRPr sz="1800" dirty="0"/>
          </a:p>
        </p:txBody>
      </p:sp>
      <p:sp>
        <p:nvSpPr>
          <p:cNvPr id="258" name="textbox 258"/>
          <p:cNvSpPr/>
          <p:nvPr/>
        </p:nvSpPr>
        <p:spPr>
          <a:xfrm>
            <a:off x="8696325" y="6496050"/>
            <a:ext cx="9810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Inverse Model</a:t>
            </a:r>
            <a:endParaRPr sz="1200" dirty="0"/>
          </a:p>
        </p:txBody>
      </p:sp>
      <p:sp>
        <p:nvSpPr>
          <p:cNvPr id="260" name="textbox 260"/>
          <p:cNvSpPr/>
          <p:nvPr/>
        </p:nvSpPr>
        <p:spPr>
          <a:xfrm>
            <a:off x="12011025" y="6648450"/>
            <a:ext cx="12382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E7E7E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6" name="textbox 266"/>
          <p:cNvSpPr/>
          <p:nvPr/>
        </p:nvSpPr>
        <p:spPr>
          <a:xfrm>
            <a:off x="666750" y="314325"/>
            <a:ext cx="35337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352425" y="1066800"/>
            <a:ext cx="53625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61950" indent="-314325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大型CAE工业软件的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AI发展趋势</a:t>
            </a:r>
            <a:endParaRPr sz="2800" dirty="0"/>
          </a:p>
        </p:txBody>
      </p:sp>
      <p:sp>
        <p:nvSpPr>
          <p:cNvPr id="274" name="textbox 274"/>
          <p:cNvSpPr/>
          <p:nvPr/>
        </p:nvSpPr>
        <p:spPr>
          <a:xfrm>
            <a:off x="683895" y="1828800"/>
            <a:ext cx="5019675" cy="160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ANSYS FLUENT: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2200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GPU高性能计算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spcBef>
                <a:spcPts val="900"/>
              </a:spcBef>
            </a:pPr>
            <a:r>
              <a:rPr sz="2200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等领域引领CAE仿真技术换代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spcBef>
                <a:spcPts val="90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升级，2024年1月推出了SimAI平台；近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spcBef>
                <a:spcPts val="90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期又推出了AnsysGPT。</a:t>
            </a:r>
            <a:endParaRPr sz="2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066800"/>
            <a:ext cx="3276600" cy="2524125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0" y="1085850"/>
            <a:ext cx="1724025" cy="2524125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86175"/>
            <a:ext cx="5200650" cy="2847975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3686175"/>
            <a:ext cx="5019675" cy="2847975"/>
          </a:xfrm>
          <a:prstGeom prst="rect">
            <a:avLst/>
          </a:prstGeom>
        </p:spPr>
      </p:pic>
      <p:sp>
        <p:nvSpPr>
          <p:cNvPr id="292" name="textbox 292"/>
          <p:cNvSpPr/>
          <p:nvPr/>
        </p:nvSpPr>
        <p:spPr>
          <a:xfrm>
            <a:off x="12011025" y="6638925"/>
            <a:ext cx="1238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D0D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666750" y="304800"/>
            <a:ext cx="3533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304" name="textbox 304"/>
          <p:cNvSpPr/>
          <p:nvPr/>
        </p:nvSpPr>
        <p:spPr>
          <a:xfrm>
            <a:off x="438150" y="1019175"/>
            <a:ext cx="57054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14325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机器学习催生CFD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研究范式的变革</a:t>
            </a:r>
            <a:endParaRPr sz="2800" dirty="0"/>
          </a:p>
        </p:txBody>
      </p:sp>
      <p:sp>
        <p:nvSpPr>
          <p:cNvPr id="306" name="textbox 306"/>
          <p:cNvSpPr/>
          <p:nvPr/>
        </p:nvSpPr>
        <p:spPr>
          <a:xfrm>
            <a:off x="876300" y="1638300"/>
            <a:ext cx="294322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61950" indent="-3143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传统计算流体力学：</a:t>
            </a:r>
            <a:endParaRPr sz="2400" dirty="0"/>
          </a:p>
        </p:txBody>
      </p:sp>
      <p:sp>
        <p:nvSpPr>
          <p:cNvPr id="308" name="textbox 308"/>
          <p:cNvSpPr/>
          <p:nvPr/>
        </p:nvSpPr>
        <p:spPr>
          <a:xfrm>
            <a:off x="6305550" y="1638300"/>
            <a:ext cx="32004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143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基于神经网络的方法:</a:t>
            </a:r>
            <a:endParaRPr sz="2400" dirty="0"/>
          </a:p>
        </p:txBody>
      </p:sp>
      <p:sp>
        <p:nvSpPr>
          <p:cNvPr id="310" name="textbox 310"/>
          <p:cNvSpPr/>
          <p:nvPr/>
        </p:nvSpPr>
        <p:spPr>
          <a:xfrm>
            <a:off x="1276350" y="2162175"/>
            <a:ext cx="38290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数值方法：FDM, FVM, FEM……</a:t>
            </a:r>
            <a:endParaRPr sz="2000" dirty="0"/>
          </a:p>
        </p:txBody>
      </p:sp>
      <p:sp>
        <p:nvSpPr>
          <p:cNvPr id="312" name="textbox 312"/>
          <p:cNvSpPr/>
          <p:nvPr/>
        </p:nvSpPr>
        <p:spPr>
          <a:xfrm>
            <a:off x="6753225" y="2162175"/>
            <a:ext cx="34004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CNN, GNN, PINN, MLP......</a:t>
            </a:r>
            <a:endParaRPr sz="2000" dirty="0"/>
          </a:p>
        </p:txBody>
      </p:sp>
      <p:pic>
        <p:nvPicPr>
          <p:cNvPr id="316" name="picture 3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476750"/>
            <a:ext cx="3686175" cy="2152650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5" y="2876550"/>
            <a:ext cx="3248025" cy="1466850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676525"/>
            <a:ext cx="4991100" cy="2238375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6486525" y="5057775"/>
            <a:ext cx="153352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 </a:t>
            </a:r>
            <a:r>
              <a:rPr sz="1200" i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dataset</a:t>
            </a:r>
            <a:endParaRPr sz="1400" dirty="0"/>
          </a:p>
        </p:txBody>
      </p:sp>
      <p:pic>
        <p:nvPicPr>
          <p:cNvPr id="330" name="picture 3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0" y="5276850"/>
            <a:ext cx="1466850" cy="1352550"/>
          </a:xfrm>
          <a:prstGeom prst="rect">
            <a:avLst/>
          </a:prstGeom>
        </p:spPr>
      </p:pic>
      <p:sp>
        <p:nvSpPr>
          <p:cNvPr id="332" name="textbox 332"/>
          <p:cNvSpPr/>
          <p:nvPr/>
        </p:nvSpPr>
        <p:spPr>
          <a:xfrm>
            <a:off x="9258300" y="5133975"/>
            <a:ext cx="1362075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i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Generalization tests</a:t>
            </a:r>
            <a:endParaRPr sz="1200" dirty="0"/>
          </a:p>
        </p:txBody>
      </p:sp>
      <p:pic>
        <p:nvPicPr>
          <p:cNvPr id="336" name="picture 3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100" y="5334000"/>
            <a:ext cx="990600" cy="1190625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9275" y="5334000"/>
            <a:ext cx="981075" cy="1190625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8925" y="5334000"/>
            <a:ext cx="1009650" cy="1190625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12011025" y="6638925"/>
            <a:ext cx="11430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D1D1D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</a:t>
            </a:r>
            <a:endParaRPr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picture 3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666750" y="314325"/>
            <a:ext cx="35337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419100" y="1076325"/>
            <a:ext cx="71056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2385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基于机器学习的流场预测方法得到</a:t>
            </a:r>
            <a:r>
              <a:rPr sz="2800" b="1" kern="0" spc="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飞速发展</a:t>
            </a:r>
            <a:endParaRPr sz="2800" dirty="0"/>
          </a:p>
        </p:txBody>
      </p:sp>
      <p:sp>
        <p:nvSpPr>
          <p:cNvPr id="360" name="textbox 360"/>
          <p:cNvSpPr/>
          <p:nvPr/>
        </p:nvSpPr>
        <p:spPr>
          <a:xfrm>
            <a:off x="1076325" y="1800225"/>
            <a:ext cx="38385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66725" indent="-438150" algn="l" rtl="0" eaLnBrk="0">
              <a:buAutoNum type="arabicPeriod"/>
            </a:pPr>
            <a:r>
              <a:rPr sz="2400" b="1" kern="0" spc="0" dirty="0">
                <a:solidFill>
                  <a:srgbClr val="0E71B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高维流场数据的高效建模</a:t>
            </a:r>
            <a:endParaRPr sz="2400" dirty="0"/>
          </a:p>
        </p:txBody>
      </p:sp>
      <p:sp>
        <p:nvSpPr>
          <p:cNvPr id="362" name="textbox 362"/>
          <p:cNvSpPr/>
          <p:nvPr/>
        </p:nvSpPr>
        <p:spPr>
          <a:xfrm>
            <a:off x="1524000" y="2390775"/>
            <a:ext cx="957262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143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深度神经网络的应用：卷积神经网络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(CNN)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和生成对抗网络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(GAN)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sz="2400" dirty="0"/>
          </a:p>
          <a:p>
            <a:pPr marL="342900" algn="l" rtl="0" eaLnBrk="0">
              <a:spcBef>
                <a:spcPts val="82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功用于流场重构与预测，如湍流场的快速生成。</a:t>
            </a:r>
            <a:endParaRPr sz="2400" dirty="0"/>
          </a:p>
        </p:txBody>
      </p:sp>
      <p:sp>
        <p:nvSpPr>
          <p:cNvPr id="364" name="textbox 364"/>
          <p:cNvSpPr/>
          <p:nvPr/>
        </p:nvSpPr>
        <p:spPr>
          <a:xfrm>
            <a:off x="1524000" y="3429000"/>
            <a:ext cx="957262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物理信息神经网络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(PINNs)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NS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方程嵌入损失函数，提升预测的物</a:t>
            </a:r>
            <a:endParaRPr sz="2400" dirty="0"/>
          </a:p>
          <a:p>
            <a:pPr marL="323850" algn="l" rtl="0" eaLnBrk="0">
              <a:spcBef>
                <a:spcPts val="75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理一致性，例如在翼型绕流和涡旋脱落问题中的应用。</a:t>
            </a:r>
            <a:endParaRPr sz="2400" dirty="0"/>
          </a:p>
        </p:txBody>
      </p:sp>
      <p:sp>
        <p:nvSpPr>
          <p:cNvPr id="366" name="textbox 366"/>
          <p:cNvSpPr/>
          <p:nvPr/>
        </p:nvSpPr>
        <p:spPr>
          <a:xfrm>
            <a:off x="1047750" y="4448175"/>
            <a:ext cx="35718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85775" indent="-428625" algn="l" rtl="0" eaLnBrk="0">
              <a:buAutoNum type="arabicPeriod" startAt="2"/>
            </a:pPr>
            <a:r>
              <a:rPr sz="2400" b="1" kern="0" spc="0" dirty="0">
                <a:solidFill>
                  <a:srgbClr val="0A6FB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非定常流动的时序预测</a:t>
            </a:r>
            <a:endParaRPr sz="2400" dirty="0"/>
          </a:p>
        </p:txBody>
      </p:sp>
      <p:sp>
        <p:nvSpPr>
          <p:cNvPr id="368" name="textbox 368"/>
          <p:cNvSpPr/>
          <p:nvPr/>
        </p:nvSpPr>
        <p:spPr>
          <a:xfrm>
            <a:off x="1524000" y="5038725"/>
            <a:ext cx="9582150" cy="1219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143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循环神经网络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(RNN)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Transformer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：长短时记忆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(LSTM)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2400" dirty="0"/>
          </a:p>
          <a:p>
            <a:pPr marL="342900" algn="l" rtl="0" eaLnBrk="0">
              <a:spcBef>
                <a:spcPts val="75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Transformer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架构在非定常流场（如气象预测、涡街演化）中实现长</a:t>
            </a:r>
            <a:endParaRPr sz="2400" dirty="0"/>
          </a:p>
          <a:p>
            <a:pPr marL="342900" algn="l" rtl="0" eaLnBrk="0">
              <a:spcBef>
                <a:spcPts val="75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期依赖建模，准确率接近传统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CFD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sp>
        <p:nvSpPr>
          <p:cNvPr id="370" name="textbox 370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525" dirty="0">
                <a:solidFill>
                  <a:srgbClr val="D4D4D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picture 3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666750" y="314325"/>
            <a:ext cx="35337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400050" y="1076325"/>
            <a:ext cx="71151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14325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基于机器学习的流场预测方法得到</a:t>
            </a:r>
            <a:r>
              <a:rPr sz="2800" b="1" kern="0" spc="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飞速发展</a:t>
            </a:r>
            <a:endParaRPr sz="2800" dirty="0"/>
          </a:p>
        </p:txBody>
      </p:sp>
      <p:sp>
        <p:nvSpPr>
          <p:cNvPr id="384" name="textbox 384"/>
          <p:cNvSpPr/>
          <p:nvPr>
            <p:custDataLst>
              <p:tags r:id="rId3"/>
            </p:custDataLst>
          </p:nvPr>
        </p:nvSpPr>
        <p:spPr>
          <a:xfrm>
            <a:off x="990600" y="1771650"/>
            <a:ext cx="366712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76250" indent="-428625" algn="l" rtl="0" eaLnBrk="0">
              <a:buAutoNum type="arabicPeriod" startAt="3"/>
            </a:pPr>
            <a:r>
              <a:rPr sz="2400" b="1" kern="0" spc="0" dirty="0">
                <a:solidFill>
                  <a:srgbClr val="0F73B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数据-模型混合驱动方法</a:t>
            </a:r>
            <a:endParaRPr sz="2400" dirty="0"/>
          </a:p>
        </p:txBody>
      </p:sp>
      <p:sp>
        <p:nvSpPr>
          <p:cNvPr id="386" name="textbox 386"/>
          <p:cNvSpPr/>
          <p:nvPr>
            <p:custDataLst>
              <p:tags r:id="rId4"/>
            </p:custDataLst>
          </p:nvPr>
        </p:nvSpPr>
        <p:spPr>
          <a:xfrm>
            <a:off x="1466850" y="2352675"/>
            <a:ext cx="9705975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与传统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CFD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的融合：如使用机器学习替代传统求解器中的子模块（如</a:t>
            </a:r>
            <a:endParaRPr sz="2400" dirty="0"/>
          </a:p>
          <a:p>
            <a:pPr marL="333375" algn="l" rtl="0" eaLnBrk="0">
              <a:spcBef>
                <a:spcPts val="82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湍流模型），显著加速计算（如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Google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的“加速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CFD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”项目）。</a:t>
            </a:r>
            <a:endParaRPr sz="2400" dirty="0"/>
          </a:p>
        </p:txBody>
      </p:sp>
      <p:sp>
        <p:nvSpPr>
          <p:cNvPr id="388" name="textbox 388"/>
          <p:cNvSpPr/>
          <p:nvPr>
            <p:custDataLst>
              <p:tags r:id="rId5"/>
            </p:custDataLst>
          </p:nvPr>
        </p:nvSpPr>
        <p:spPr>
          <a:xfrm>
            <a:off x="990600" y="3390900"/>
            <a:ext cx="447675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76250" indent="-447675" algn="l" rtl="0" eaLnBrk="0">
              <a:buAutoNum type="arabicPeriod" startAt="4"/>
            </a:pPr>
            <a:r>
              <a:rPr sz="2400" b="1" kern="0" spc="0" dirty="0">
                <a:solidFill>
                  <a:srgbClr val="126EB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复杂几何与边界条件的适应性</a:t>
            </a:r>
            <a:endParaRPr sz="2400" dirty="0"/>
          </a:p>
        </p:txBody>
      </p:sp>
      <p:sp>
        <p:nvSpPr>
          <p:cNvPr id="390" name="textbox 390"/>
          <p:cNvSpPr/>
          <p:nvPr>
            <p:custDataLst>
              <p:tags r:id="rId6"/>
            </p:custDataLst>
          </p:nvPr>
        </p:nvSpPr>
        <p:spPr>
          <a:xfrm>
            <a:off x="1447800" y="3981450"/>
            <a:ext cx="9715500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333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图神经网络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(GNN)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：处理非结构网格数据，实现对不规则几何流场</a:t>
            </a:r>
            <a:endParaRPr sz="2400" dirty="0"/>
          </a:p>
          <a:p>
            <a:pPr marL="533400" algn="l" rtl="0" eaLnBrk="0">
              <a:spcBef>
                <a:spcPts val="75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（如汽车空气动力学）的精准预测。</a:t>
            </a:r>
            <a:endParaRPr sz="2400" dirty="0"/>
          </a:p>
        </p:txBody>
      </p:sp>
      <p:sp>
        <p:nvSpPr>
          <p:cNvPr id="392" name="textbox 392"/>
          <p:cNvSpPr/>
          <p:nvPr>
            <p:custDataLst>
              <p:tags r:id="rId7"/>
            </p:custDataLst>
          </p:nvPr>
        </p:nvSpPr>
        <p:spPr>
          <a:xfrm>
            <a:off x="990600" y="5010150"/>
            <a:ext cx="32480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85775" indent="-438150" algn="l" rtl="0" eaLnBrk="0">
              <a:buAutoNum type="arabicPeriod" startAt="5"/>
            </a:pPr>
            <a:r>
              <a:rPr sz="2400" b="1" kern="0" spc="0" dirty="0">
                <a:solidFill>
                  <a:srgbClr val="156B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实时流场控制与优化</a:t>
            </a:r>
            <a:endParaRPr sz="2400" dirty="0"/>
          </a:p>
        </p:txBody>
      </p:sp>
      <p:sp>
        <p:nvSpPr>
          <p:cNvPr id="394" name="textbox 394"/>
          <p:cNvSpPr/>
          <p:nvPr>
            <p:custDataLst>
              <p:tags r:id="rId8"/>
            </p:custDataLst>
          </p:nvPr>
        </p:nvSpPr>
        <p:spPr>
          <a:xfrm>
            <a:off x="1457325" y="5600700"/>
            <a:ext cx="9715500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333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强化学习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(RL)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：在主动流动控制中实现实时反馈，如减少翼型阻力或</a:t>
            </a:r>
            <a:endParaRPr sz="2400" dirty="0"/>
          </a:p>
          <a:p>
            <a:pPr marL="342900" algn="l" rtl="0" eaLnBrk="0">
              <a:spcBef>
                <a:spcPts val="90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抑制流动分离（如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DeepMind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的湍流控制研究）。</a:t>
            </a:r>
            <a:endParaRPr sz="2400" dirty="0"/>
          </a:p>
        </p:txBody>
      </p:sp>
      <p:sp>
        <p:nvSpPr>
          <p:cNvPr id="396" name="textbox 396"/>
          <p:cNvSpPr/>
          <p:nvPr/>
        </p:nvSpPr>
        <p:spPr>
          <a:xfrm>
            <a:off x="11944350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600" dirty="0">
                <a:solidFill>
                  <a:srgbClr val="CE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657225" y="304800"/>
            <a:ext cx="35528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406" name="picture 4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390525" y="914400"/>
            <a:ext cx="70961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14325" algn="l" rtl="0" eaLnBrk="0">
              <a:buChar char="►"/>
            </a:pPr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机器学习流场预测：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</a:t>
            </a:r>
            <a:r>
              <a:rPr sz="2800" b="1" kern="0" spc="0" dirty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物理信息</a:t>
            </a:r>
            <a:endParaRPr sz="2800" dirty="0"/>
          </a:p>
        </p:txBody>
      </p:sp>
      <p:pic>
        <p:nvPicPr>
          <p:cNvPr id="412" name="picture 4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28750"/>
            <a:ext cx="9982200" cy="5248275"/>
          </a:xfrm>
          <a:prstGeom prst="rect">
            <a:avLst/>
          </a:prstGeom>
        </p:spPr>
      </p:pic>
      <p:sp>
        <p:nvSpPr>
          <p:cNvPr id="414" name="textbox 414"/>
          <p:cNvSpPr/>
          <p:nvPr/>
        </p:nvSpPr>
        <p:spPr>
          <a:xfrm>
            <a:off x="8201025" y="1409700"/>
            <a:ext cx="134302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Small Data</a:t>
            </a:r>
            <a:endParaRPr sz="1800" dirty="0"/>
          </a:p>
        </p:txBody>
      </p:sp>
      <p:sp>
        <p:nvSpPr>
          <p:cNvPr id="416" name="textbox 416"/>
          <p:cNvSpPr/>
          <p:nvPr/>
        </p:nvSpPr>
        <p:spPr>
          <a:xfrm>
            <a:off x="2590800" y="1419225"/>
            <a:ext cx="10668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Big Data</a:t>
            </a:r>
            <a:endParaRPr sz="2000" dirty="0"/>
          </a:p>
        </p:txBody>
      </p:sp>
      <p:sp>
        <p:nvSpPr>
          <p:cNvPr id="418" name="textbox 418"/>
          <p:cNvSpPr/>
          <p:nvPr/>
        </p:nvSpPr>
        <p:spPr>
          <a:xfrm>
            <a:off x="5305425" y="1419225"/>
            <a:ext cx="13430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Some Data</a:t>
            </a:r>
            <a:endParaRPr sz="1800" dirty="0"/>
          </a:p>
        </p:txBody>
      </p:sp>
      <p:sp>
        <p:nvSpPr>
          <p:cNvPr id="420" name="textbox 420"/>
          <p:cNvSpPr/>
          <p:nvPr/>
        </p:nvSpPr>
        <p:spPr>
          <a:xfrm>
            <a:off x="9982200" y="1781175"/>
            <a:ext cx="7810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500" b="1" kern="0" spc="0" dirty="0">
                <a:solidFill>
                  <a:srgbClr val="C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Data</a:t>
            </a:r>
            <a:endParaRPr sz="2500" dirty="0"/>
          </a:p>
        </p:txBody>
      </p:sp>
      <p:sp>
        <p:nvSpPr>
          <p:cNvPr id="422" name="textbox 422"/>
          <p:cNvSpPr/>
          <p:nvPr/>
        </p:nvSpPr>
        <p:spPr>
          <a:xfrm>
            <a:off x="10001250" y="2505075"/>
            <a:ext cx="123825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Physics</a:t>
            </a:r>
            <a:endParaRPr sz="2400" dirty="0"/>
          </a:p>
        </p:txBody>
      </p:sp>
      <p:sp>
        <p:nvSpPr>
          <p:cNvPr id="424" name="textbox 424"/>
          <p:cNvSpPr/>
          <p:nvPr/>
        </p:nvSpPr>
        <p:spPr>
          <a:xfrm>
            <a:off x="2590800" y="2905125"/>
            <a:ext cx="13811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 Physics</a:t>
            </a:r>
            <a:endParaRPr sz="1800" dirty="0"/>
          </a:p>
        </p:txBody>
      </p:sp>
      <p:sp>
        <p:nvSpPr>
          <p:cNvPr id="426" name="textbox 426"/>
          <p:cNvSpPr/>
          <p:nvPr/>
        </p:nvSpPr>
        <p:spPr>
          <a:xfrm>
            <a:off x="5153025" y="2933700"/>
            <a:ext cx="16478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Some Physics</a:t>
            </a:r>
            <a:endParaRPr sz="1800" dirty="0"/>
          </a:p>
        </p:txBody>
      </p:sp>
      <p:sp>
        <p:nvSpPr>
          <p:cNvPr id="428" name="textbox 428"/>
          <p:cNvSpPr/>
          <p:nvPr/>
        </p:nvSpPr>
        <p:spPr>
          <a:xfrm>
            <a:off x="8086725" y="2943225"/>
            <a:ext cx="17621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Lots of Physics</a:t>
            </a:r>
            <a:endParaRPr sz="2200" dirty="0"/>
          </a:p>
        </p:txBody>
      </p:sp>
      <p:sp>
        <p:nvSpPr>
          <p:cNvPr id="430" name="textbox 430"/>
          <p:cNvSpPr/>
          <p:nvPr/>
        </p:nvSpPr>
        <p:spPr>
          <a:xfrm>
            <a:off x="7296150" y="4105275"/>
            <a:ext cx="9525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Observation space</a:t>
            </a:r>
            <a:endParaRPr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2" name="textbox 432"/>
              <p:cNvSpPr/>
              <p:nvPr/>
            </p:nvSpPr>
            <p:spPr>
              <a:xfrm>
                <a:off x="4171950" y="4213225"/>
                <a:ext cx="676275" cy="36004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60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00" dirty="0">
                              <a:latin typeface="Cambria Math" panose="02040503050406030204"/>
                              <a:ea typeface="Cambria Math" panose="02040503050406030204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00" dirty="0">
                              <a:latin typeface="Cambria Math" panose="02040503050406030204"/>
                              <a:ea typeface="Cambria Math" panose="02040503050406030204"/>
                            </a:rPr>
                            <m:t>data</m:t>
                          </m:r>
                        </m:sub>
                      </m:sSub>
                      <m:r>
                        <a:rPr lang="en-US" sz="600" dirty="0">
                          <a:latin typeface="Cambria Math" panose="02040503050406030204"/>
                          <a:ea typeface="Cambria Math" panose="02040503050406030204"/>
                        </a:rPr>
                        <m:t>=[</m:t>
                      </m:r>
                      <m:sSup>
                        <m:sSupPr>
                          <m:ctrlPr>
                            <a:rPr sz="600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600" dirty="0">
                              <a:latin typeface="Cambria Math" panose="02040503050406030204"/>
                              <a:ea typeface="Cambria Math" panose="02040503050406030204"/>
                            </a:rPr>
                            <m:t>f</m:t>
                          </m:r>
                        </m:e>
                        <m:sup>
                          <m:r>
                            <a:rPr lang="en-US" sz="600" dirty="0"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lang="en-US" sz="6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 sz="60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00" dirty="0">
                              <a:latin typeface="Cambria Math" panose="02040503050406030204"/>
                              <a:ea typeface="Cambria Math" panose="02040503050406030204"/>
                            </a:rPr>
                            <m:t>z</m:t>
                          </m:r>
                        </m:e>
                        <m:sub>
                          <m:r>
                            <a:rPr lang="en-US" sz="6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lang="en-US" sz="600" dirty="0">
                          <a:latin typeface="Cambria Math" panose="02040503050406030204"/>
                          <a:ea typeface="Cambria Math" panose="02040503050406030204"/>
                        </a:rPr>
                        <m:t>]</m:t>
                      </m:r>
                    </m:oMath>
                  </m:oMathPara>
                </a14:m>
                <a:endParaRPr lang="en-US" sz="600" dirty="0">
                  <a:latin typeface="Cambria Math" panose="02040503050406030204"/>
                  <a:ea typeface="Cambria Math" panose="02040503050406030204"/>
                </a:endParaRPr>
              </a:p>
              <a:p>
                <a:pPr algn="l" rtl="0" eaLnBrk="0"/>
                <a:r>
                  <a:rPr lang="en-US" sz="6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00"/>
                        </m:ctrlPr>
                      </m:sSubPr>
                      <m:e>
                        <m:r>
                          <a:rPr lang="en-US" sz="600">
                            <a:latin typeface="Cambria Math" panose="02040503050406030204" charset="0"/>
                          </a:rPr>
                          <m:t> </m:t>
                        </m:r>
                        <m:r>
                          <m:rPr>
                            <m:sty m:val="p"/>
                          </m:rPr>
                          <a:rPr sz="600">
                            <a:latin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600">
                            <a:latin typeface="Cambria Math" panose="02040503050406030204" charset="0"/>
                          </a:rPr>
                          <m:t>max</m:t>
                        </m:r>
                      </m:sub>
                    </m:sSub>
                    <m:r>
                      <a:rPr sz="600">
                        <a:latin typeface="Cambria Math" panose="02040503050406030204" charset="0"/>
                      </a:rPr>
                      <m:t>=||</m:t>
                    </m:r>
                    <m:r>
                      <a:rPr sz="600">
                        <a:latin typeface="Cambria Math" panose="02040503050406030204" charset="0"/>
                      </a:rPr>
                      <m:t>𝛻</m:t>
                    </m:r>
                    <m:acc>
                      <m:accPr>
                        <m:ctrlPr>
                          <a:rPr sz="600"/>
                        </m:ctrlPr>
                      </m:accPr>
                      <m:e>
                        <m:r>
                          <a:rPr sz="600">
                            <a:latin typeface="Cambria Math" panose="02040503050406030204" charset="0"/>
                          </a:rPr>
                          <m:t>𝐮</m:t>
                        </m:r>
                      </m:e>
                    </m:acc>
                    <m:r>
                      <a:rPr sz="600">
                        <a:latin typeface="Cambria Math" panose="02040503050406030204" charset="0"/>
                      </a:rPr>
                      <m:t>|</m:t>
                    </m:r>
                    <m:sSup>
                      <m:sSupPr>
                        <m:ctrlPr>
                          <a:rPr sz="600"/>
                        </m:ctrlPr>
                      </m:sSupPr>
                      <m:e>
                        <m:r>
                          <a:rPr sz="600">
                            <a:latin typeface="Cambria Math" panose="02040503050406030204" charset="0"/>
                          </a:rPr>
                          <m:t>|</m:t>
                        </m:r>
                      </m:e>
                      <m:sup>
                        <m:r>
                          <a:rPr sz="600">
                            <a:latin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sz="600">
                  <a:latin typeface="Cambria Math" panose="02040503050406030204" charset="0"/>
                </a:endParaRPr>
              </a:p>
              <a:p>
                <a:pPr algn="l" rtl="0" eaLnBrk="0"/>
                <a:r>
                  <a:rPr lang="en-US" sz="6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6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600">
                            <a:latin typeface="Cambria Math" panose="0204050305040603020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600">
                            <a:latin typeface="Cambria Math" panose="02040503050406030204" charset="0"/>
                          </a:rPr>
                          <m:t>molecular</m:t>
                        </m:r>
                      </m:sub>
                    </m:sSub>
                    <m:r>
                      <a:rPr sz="600">
                        <a:latin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sz="600"/>
                        </m:ctrlPr>
                      </m:fPr>
                      <m:num>
                        <m:r>
                          <a:rPr sz="600">
                            <a:latin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sz="600">
                            <a:latin typeface="Cambria Math" panose="02040503050406030204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sz="600"/>
                        </m:ctrlPr>
                      </m:fPr>
                      <m:num>
                        <m:sSup>
                          <m:sSupPr>
                            <m:ctrlPr>
                              <a:rPr sz="6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sz="600">
                                <a:latin typeface="Cambria Math" panose="02040503050406030204" charset="0"/>
                              </a:rPr>
                              <m:t>m</m:t>
                            </m:r>
                          </m:e>
                          <m:sup>
                            <m:r>
                              <a:rPr sz="600">
                                <a:latin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sz="600">
                            <a:latin typeface="Cambria Math" panose="02040503050406030204" charset="0"/>
                          </a:rPr>
                          <m:t>2</m:t>
                        </m:r>
                        <m:r>
                          <a:rPr sz="600">
                            <a:latin typeface="Cambria Math" panose="02040503050406030204" charset="0"/>
                          </a:rPr>
                          <m:t>𝜋</m:t>
                        </m:r>
                      </m:den>
                    </m:f>
                    <m:r>
                      <a:rPr sz="600">
                        <a:latin typeface="Cambria Math" panose="02040503050406030204" charset="0"/>
                      </a:rPr>
                      <m:t>+(</m:t>
                    </m:r>
                    <m:acc>
                      <m:accPr>
                        <m:ctrlPr>
                          <a:rPr sz="600"/>
                        </m:ctrlPr>
                      </m:accPr>
                      <m:e>
                        <m:r>
                          <a:rPr sz="600">
                            <a:latin typeface="Cambria Math" panose="02040503050406030204" charset="0"/>
                          </a:rPr>
                          <m:t>𝐮</m:t>
                        </m:r>
                      </m:e>
                    </m:acc>
                    <m:r>
                      <a:rPr sz="600">
                        <a:latin typeface="Cambria Math" panose="02040503050406030204" charset="0"/>
                      </a:rPr>
                      <m:t>𝛻</m:t>
                    </m:r>
                    <m:r>
                      <a:rPr sz="600">
                        <a:latin typeface="Cambria Math" panose="02040503050406030204" charset="0"/>
                      </a:rPr>
                      <m:t>)</m:t>
                    </m:r>
                    <m:acc>
                      <m:accPr>
                        <m:ctrlPr>
                          <a:rPr sz="600"/>
                        </m:ctrlPr>
                      </m:accPr>
                      <m:e>
                        <m:r>
                          <a:rPr sz="600">
                            <a:latin typeface="Cambria Math" panose="02040503050406030204" charset="0"/>
                          </a:rPr>
                          <m:t>𝐮</m:t>
                        </m:r>
                      </m:e>
                    </m:acc>
                    <m:r>
                      <a:rPr sz="600">
                        <a:latin typeface="Cambria Math" panose="02040503050406030204" charset="0"/>
                      </a:rPr>
                      <m:t>+</m:t>
                    </m:r>
                    <m:f>
                      <m:fPr>
                        <m:ctrlPr>
                          <a:rPr sz="600"/>
                        </m:ctrlPr>
                      </m:fPr>
                      <m:num>
                        <m:r>
                          <a:rPr sz="600">
                            <a:latin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sz="600">
                            <a:latin typeface="Cambria Math" panose="02040503050406030204" charset="0"/>
                          </a:rPr>
                          <m:t>𝜇</m:t>
                        </m:r>
                      </m:den>
                    </m:f>
                    <m:r>
                      <a:rPr sz="600">
                        <a:latin typeface="Cambria Math" panose="02040503050406030204" charset="0"/>
                      </a:rPr>
                      <m:t>𝛻</m:t>
                    </m:r>
                    <m:acc>
                      <m:accPr>
                        <m:ctrlPr>
                          <a:rPr sz="600"/>
                        </m:ctrlPr>
                      </m:accPr>
                      <m:e>
                        <m:r>
                          <a:rPr sz="600">
                            <a:latin typeface="Cambria Math" panose="02040503050406030204" charset="0"/>
                          </a:rPr>
                          <m:t>𝐩</m:t>
                        </m:r>
                      </m:e>
                    </m:acc>
                    <m:r>
                      <a:rPr sz="600">
                        <a:latin typeface="Cambria Math" panose="02040503050406030204" charset="0"/>
                      </a:rPr>
                      <m:t>−</m:t>
                    </m:r>
                    <m:r>
                      <a:rPr sz="600">
                        <a:latin typeface="Cambria Math" panose="02040503050406030204" charset="0"/>
                      </a:rPr>
                      <m:t>𝜈</m:t>
                    </m:r>
                    <m:sSup>
                      <m:sSupPr>
                        <m:ctrlPr>
                          <a:rPr sz="600"/>
                        </m:ctrlPr>
                      </m:sSupPr>
                      <m:e>
                        <m:r>
                          <a:rPr sz="600">
                            <a:latin typeface="Cambria Math" panose="02040503050406030204" charset="0"/>
                          </a:rPr>
                          <m:t>𝛻</m:t>
                        </m:r>
                      </m:e>
                      <m:sup>
                        <m:r>
                          <a:rPr sz="600">
                            <a:latin typeface="Cambria Math" panose="02040503050406030204" charset="0"/>
                          </a:rPr>
                          <m:t>2</m:t>
                        </m:r>
                      </m:sup>
                    </m:sSup>
                    <m:acc>
                      <m:accPr>
                        <m:ctrlPr>
                          <a:rPr sz="600"/>
                        </m:ctrlPr>
                      </m:accPr>
                      <m:e>
                        <m:r>
                          <a:rPr sz="600">
                            <a:latin typeface="Cambria Math" panose="02040503050406030204" charset="0"/>
                          </a:rPr>
                          <m:t>𝐮</m:t>
                        </m:r>
                      </m:e>
                    </m:acc>
                    <m:r>
                      <a:rPr sz="600">
                        <a:latin typeface="Cambria Math" panose="02040503050406030204" charset="0"/>
                      </a:rPr>
                      <m:t> </m:t>
                    </m:r>
                    <m:sSup>
                      <m:sSupPr>
                        <m:ctrlPr>
                          <a:rPr sz="600"/>
                        </m:ctrlPr>
                      </m:sSupPr>
                      <m:e>
                        <m:r>
                          <a:rPr sz="600">
                            <a:latin typeface="Cambria Math" panose="02040503050406030204" charset="0"/>
                          </a:rPr>
                          <m:t>|</m:t>
                        </m:r>
                      </m:e>
                      <m:sup>
                        <m:r>
                          <a:rPr sz="600">
                            <a:latin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sz="600"/>
              </a:p>
              <a:p>
                <a:pPr algn="l" rtl="0" eaLnBrk="0"/>
                <a:endParaRPr lang="en-US" sz="600" dirty="0"/>
              </a:p>
            </p:txBody>
          </p:sp>
        </mc:Choice>
        <mc:Fallback>
          <p:sp>
            <p:nvSpPr>
              <p:cNvPr id="432" name="textbox 4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50" y="4213225"/>
                <a:ext cx="676275" cy="360045"/>
              </a:xfrm>
              <a:prstGeom prst="rect">
                <a:avLst/>
              </a:prstGeom>
              <a:blipFill rotWithShape="1">
                <a:blip r:embed="rId4"/>
                <a:stretch>
                  <a:fillRect r="-115399" b="-23104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6" name="textbox 436"/>
          <p:cNvSpPr/>
          <p:nvPr/>
        </p:nvSpPr>
        <p:spPr>
          <a:xfrm>
            <a:off x="7696200" y="4448175"/>
            <a:ext cx="4381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" kern="0" spc="0" dirty="0">
                <a:solidFill>
                  <a:srgbClr val="7030A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TCD data</a:t>
            </a:r>
            <a:endParaRPr sz="800" dirty="0"/>
          </a:p>
        </p:txBody>
      </p:sp>
      <p:sp>
        <p:nvSpPr>
          <p:cNvPr id="438" name="textbox 438"/>
          <p:cNvSpPr/>
          <p:nvPr/>
        </p:nvSpPr>
        <p:spPr>
          <a:xfrm>
            <a:off x="8963025" y="4457700"/>
            <a:ext cx="147637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Physics-based</a:t>
            </a:r>
            <a:endParaRPr sz="1600" dirty="0"/>
          </a:p>
        </p:txBody>
      </p:sp>
      <p:sp>
        <p:nvSpPr>
          <p:cNvPr id="440" name="textbox 440"/>
          <p:cNvSpPr/>
          <p:nvPr/>
        </p:nvSpPr>
        <p:spPr>
          <a:xfrm>
            <a:off x="4133850" y="3187065"/>
            <a:ext cx="141922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>
              <a:buClrTx/>
              <a:buSzTx/>
              <a:buFontTx/>
            </a:pPr>
            <a:endParaRPr sz="600"/>
          </a:p>
        </p:txBody>
      </p:sp>
      <p:sp>
        <p:nvSpPr>
          <p:cNvPr id="442" name="textbox 442"/>
          <p:cNvSpPr/>
          <p:nvPr/>
        </p:nvSpPr>
        <p:spPr>
          <a:xfrm>
            <a:off x="6372225" y="4486275"/>
            <a:ext cx="90487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Physical model</a:t>
            </a:r>
            <a:endParaRPr sz="900" dirty="0"/>
          </a:p>
        </p:txBody>
      </p:sp>
      <p:sp>
        <p:nvSpPr>
          <p:cNvPr id="444" name="textbox 444"/>
          <p:cNvSpPr/>
          <p:nvPr/>
        </p:nvSpPr>
        <p:spPr>
          <a:xfrm>
            <a:off x="1457325" y="4533900"/>
            <a:ext cx="19907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Purely Data-Driven</a:t>
            </a:r>
            <a:endParaRPr sz="1700" dirty="0"/>
          </a:p>
        </p:txBody>
      </p:sp>
      <p:sp>
        <p:nvSpPr>
          <p:cNvPr id="446" name="textbox 446"/>
          <p:cNvSpPr/>
          <p:nvPr/>
        </p:nvSpPr>
        <p:spPr>
          <a:xfrm>
            <a:off x="4267200" y="4695825"/>
            <a:ext cx="130492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Physics-informed</a:t>
            </a:r>
            <a:endParaRPr sz="1100" dirty="0"/>
          </a:p>
        </p:txBody>
      </p:sp>
      <p:sp>
        <p:nvSpPr>
          <p:cNvPr id="448" name="textbox 448"/>
          <p:cNvSpPr/>
          <p:nvPr/>
        </p:nvSpPr>
        <p:spPr>
          <a:xfrm>
            <a:off x="8953500" y="4695825"/>
            <a:ext cx="14859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</a:t>
            </a:r>
            <a:endParaRPr sz="1500" dirty="0"/>
          </a:p>
        </p:txBody>
      </p:sp>
      <p:sp>
        <p:nvSpPr>
          <p:cNvPr id="450" name="textbox 450"/>
          <p:cNvSpPr/>
          <p:nvPr/>
        </p:nvSpPr>
        <p:spPr>
          <a:xfrm>
            <a:off x="6515100" y="4781550"/>
            <a:ext cx="146685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assimilation</a:t>
            </a:r>
            <a:endParaRPr sz="1400" dirty="0"/>
          </a:p>
        </p:txBody>
      </p:sp>
      <p:sp>
        <p:nvSpPr>
          <p:cNvPr id="452" name="textbox 452"/>
          <p:cNvSpPr/>
          <p:nvPr/>
        </p:nvSpPr>
        <p:spPr>
          <a:xfrm>
            <a:off x="1676400" y="4800600"/>
            <a:ext cx="15716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Deep Learning</a:t>
            </a:r>
            <a:endParaRPr sz="1700" dirty="0"/>
          </a:p>
        </p:txBody>
      </p:sp>
      <p:sp>
        <p:nvSpPr>
          <p:cNvPr id="454" name="textbox 454"/>
          <p:cNvSpPr/>
          <p:nvPr/>
        </p:nvSpPr>
        <p:spPr>
          <a:xfrm>
            <a:off x="4248150" y="4876800"/>
            <a:ext cx="13335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Machine Learning</a:t>
            </a:r>
            <a:endParaRPr sz="1100" dirty="0"/>
          </a:p>
        </p:txBody>
      </p:sp>
      <p:sp>
        <p:nvSpPr>
          <p:cNvPr id="456" name="textbox 456"/>
          <p:cNvSpPr/>
          <p:nvPr/>
        </p:nvSpPr>
        <p:spPr>
          <a:xfrm>
            <a:off x="9191625" y="4924425"/>
            <a:ext cx="9906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33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Modeling</a:t>
            </a:r>
            <a:endParaRPr sz="1600" dirty="0"/>
          </a:p>
        </p:txBody>
      </p:sp>
      <p:sp>
        <p:nvSpPr>
          <p:cNvPr id="458" name="textbox 458"/>
          <p:cNvSpPr/>
          <p:nvPr/>
        </p:nvSpPr>
        <p:spPr>
          <a:xfrm>
            <a:off x="1790700" y="5143500"/>
            <a:ext cx="100965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大量数据</a:t>
            </a:r>
            <a:endParaRPr sz="1800" dirty="0"/>
          </a:p>
        </p:txBody>
      </p:sp>
      <p:sp>
        <p:nvSpPr>
          <p:cNvPr id="460" name="textbox 460"/>
          <p:cNvSpPr/>
          <p:nvPr/>
        </p:nvSpPr>
        <p:spPr>
          <a:xfrm>
            <a:off x="6896100" y="5143500"/>
            <a:ext cx="10001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少量数据</a:t>
            </a:r>
            <a:endParaRPr sz="1800" dirty="0"/>
          </a:p>
        </p:txBody>
      </p:sp>
      <p:sp>
        <p:nvSpPr>
          <p:cNvPr id="462" name="textbox 462"/>
          <p:cNvSpPr/>
          <p:nvPr/>
        </p:nvSpPr>
        <p:spPr>
          <a:xfrm>
            <a:off x="4133850" y="5153025"/>
            <a:ext cx="14382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少量数据+AD</a:t>
            </a:r>
            <a:endParaRPr sz="1800" dirty="0"/>
          </a:p>
        </p:txBody>
      </p:sp>
      <p:sp>
        <p:nvSpPr>
          <p:cNvPr id="464" name="textbox 464"/>
          <p:cNvSpPr/>
          <p:nvPr/>
        </p:nvSpPr>
        <p:spPr>
          <a:xfrm>
            <a:off x="9182100" y="5153025"/>
            <a:ext cx="122872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无监督+ND</a:t>
            </a:r>
            <a:endParaRPr sz="1800" dirty="0"/>
          </a:p>
        </p:txBody>
      </p:sp>
      <p:sp>
        <p:nvSpPr>
          <p:cNvPr id="466" name="textbox 466"/>
          <p:cNvSpPr/>
          <p:nvPr/>
        </p:nvSpPr>
        <p:spPr>
          <a:xfrm>
            <a:off x="1200150" y="5429250"/>
            <a:ext cx="208597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依赖大规模的解算器求</a:t>
            </a:r>
            <a:endParaRPr sz="1600" dirty="0"/>
          </a:p>
        </p:txBody>
      </p:sp>
      <p:sp>
        <p:nvSpPr>
          <p:cNvPr id="468" name="textbox 468"/>
          <p:cNvSpPr/>
          <p:nvPr/>
        </p:nvSpPr>
        <p:spPr>
          <a:xfrm>
            <a:off x="3752850" y="5429250"/>
            <a:ext cx="20764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自动微分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技术构成方程</a:t>
            </a:r>
            <a:endParaRPr sz="1600" dirty="0"/>
          </a:p>
        </p:txBody>
      </p:sp>
      <p:sp>
        <p:nvSpPr>
          <p:cNvPr id="470" name="textbox 470"/>
          <p:cNvSpPr/>
          <p:nvPr/>
        </p:nvSpPr>
        <p:spPr>
          <a:xfrm>
            <a:off x="6296025" y="5429250"/>
            <a:ext cx="208597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泛指基于神经网络的流</a:t>
            </a:r>
            <a:endParaRPr sz="1600" dirty="0"/>
          </a:p>
        </p:txBody>
      </p:sp>
      <p:sp>
        <p:nvSpPr>
          <p:cNvPr id="472" name="textbox 472"/>
          <p:cNvSpPr/>
          <p:nvPr/>
        </p:nvSpPr>
        <p:spPr>
          <a:xfrm>
            <a:off x="8696325" y="5429250"/>
            <a:ext cx="20669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使用传统的物理建模构</a:t>
            </a:r>
            <a:endParaRPr sz="1600" dirty="0"/>
          </a:p>
        </p:txBody>
      </p:sp>
      <p:sp>
        <p:nvSpPr>
          <p:cNvPr id="474" name="textbox 474"/>
          <p:cNvSpPr/>
          <p:nvPr/>
        </p:nvSpPr>
        <p:spPr>
          <a:xfrm>
            <a:off x="1200150" y="5667375"/>
            <a:ext cx="207645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解结果或实验数据，</a:t>
            </a:r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600" dirty="0"/>
          </a:p>
        </p:txBody>
      </p:sp>
      <p:sp>
        <p:nvSpPr>
          <p:cNvPr id="476" name="textbox 476"/>
          <p:cNvSpPr/>
          <p:nvPr/>
        </p:nvSpPr>
        <p:spPr>
          <a:xfrm>
            <a:off x="3743325" y="5667375"/>
            <a:ext cx="208597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残差，加上一部分</a:t>
            </a:r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endParaRPr sz="1600" dirty="0"/>
          </a:p>
        </p:txBody>
      </p:sp>
      <p:sp>
        <p:nvSpPr>
          <p:cNvPr id="478" name="textbox 478"/>
          <p:cNvSpPr/>
          <p:nvPr/>
        </p:nvSpPr>
        <p:spPr>
          <a:xfrm>
            <a:off x="6296025" y="5676900"/>
            <a:ext cx="208597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场反演或可微物理，</a:t>
            </a:r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</a:t>
            </a:r>
            <a:endParaRPr sz="1600" dirty="0"/>
          </a:p>
        </p:txBody>
      </p:sp>
      <p:sp>
        <p:nvSpPr>
          <p:cNvPr id="480" name="textbox 480"/>
          <p:cNvSpPr/>
          <p:nvPr/>
        </p:nvSpPr>
        <p:spPr>
          <a:xfrm>
            <a:off x="8696325" y="5676900"/>
            <a:ext cx="19907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造方程残差训练网络，</a:t>
            </a:r>
            <a:endParaRPr sz="1600" dirty="0"/>
          </a:p>
        </p:txBody>
      </p:sp>
      <p:sp>
        <p:nvSpPr>
          <p:cNvPr id="482" name="textbox 482"/>
          <p:cNvSpPr/>
          <p:nvPr/>
        </p:nvSpPr>
        <p:spPr>
          <a:xfrm>
            <a:off x="1200150" y="5924550"/>
            <a:ext cx="20764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据获得的代价相对高昂</a:t>
            </a:r>
            <a:endParaRPr sz="1600" dirty="0"/>
          </a:p>
        </p:txBody>
      </p:sp>
      <p:sp>
        <p:nvSpPr>
          <p:cNvPr id="484" name="textbox 484"/>
          <p:cNvSpPr/>
          <p:nvPr/>
        </p:nvSpPr>
        <p:spPr>
          <a:xfrm>
            <a:off x="3743325" y="5924550"/>
            <a:ext cx="18764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或仿真数据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训练模型</a:t>
            </a:r>
            <a:endParaRPr sz="1600" dirty="0"/>
          </a:p>
        </p:txBody>
      </p:sp>
      <p:sp>
        <p:nvSpPr>
          <p:cNvPr id="486" name="textbox 486"/>
          <p:cNvSpPr/>
          <p:nvPr/>
        </p:nvSpPr>
        <p:spPr>
          <a:xfrm>
            <a:off x="6296025" y="5924550"/>
            <a:ext cx="20669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确数据难以获取，模型</a:t>
            </a:r>
            <a:endParaRPr sz="1600" dirty="0"/>
          </a:p>
        </p:txBody>
      </p:sp>
      <p:sp>
        <p:nvSpPr>
          <p:cNvPr id="488" name="textbox 488"/>
          <p:cNvSpPr/>
          <p:nvPr/>
        </p:nvSpPr>
        <p:spPr>
          <a:xfrm>
            <a:off x="8705850" y="5924550"/>
            <a:ext cx="20764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可以实现完全的无监督</a:t>
            </a:r>
            <a:endParaRPr sz="1600" dirty="0"/>
          </a:p>
        </p:txBody>
      </p:sp>
      <p:sp>
        <p:nvSpPr>
          <p:cNvPr id="490" name="textbox 490"/>
          <p:cNvSpPr/>
          <p:nvPr/>
        </p:nvSpPr>
        <p:spPr>
          <a:xfrm>
            <a:off x="6296025" y="6162675"/>
            <a:ext cx="20669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的性能受监督数据分布</a:t>
            </a:r>
            <a:endParaRPr sz="1600" dirty="0"/>
          </a:p>
        </p:txBody>
      </p:sp>
      <p:sp>
        <p:nvSpPr>
          <p:cNvPr id="492" name="textbox 492"/>
          <p:cNvSpPr/>
          <p:nvPr/>
        </p:nvSpPr>
        <p:spPr>
          <a:xfrm>
            <a:off x="8696325" y="6162675"/>
            <a:ext cx="21717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式的神经网络流场求解，</a:t>
            </a:r>
            <a:endParaRPr sz="1600" dirty="0"/>
          </a:p>
        </p:txBody>
      </p:sp>
      <p:sp>
        <p:nvSpPr>
          <p:cNvPr id="494" name="textbox 494"/>
          <p:cNvSpPr/>
          <p:nvPr/>
        </p:nvSpPr>
        <p:spPr>
          <a:xfrm>
            <a:off x="6296025" y="6400800"/>
            <a:ext cx="6572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的制约</a:t>
            </a:r>
            <a:endParaRPr sz="1600" dirty="0"/>
          </a:p>
        </p:txBody>
      </p:sp>
      <p:sp>
        <p:nvSpPr>
          <p:cNvPr id="496" name="textbox 496"/>
          <p:cNvSpPr/>
          <p:nvPr/>
        </p:nvSpPr>
        <p:spPr>
          <a:xfrm>
            <a:off x="8696325" y="6410325"/>
            <a:ext cx="20669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不依赖仿真或实验数据</a:t>
            </a:r>
            <a:endParaRPr sz="1600" dirty="0"/>
          </a:p>
        </p:txBody>
      </p:sp>
      <p:sp>
        <p:nvSpPr>
          <p:cNvPr id="498" name="textbox 498"/>
          <p:cNvSpPr/>
          <p:nvPr/>
        </p:nvSpPr>
        <p:spPr>
          <a:xfrm>
            <a:off x="11944350" y="6553200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450" dirty="0">
                <a:solidFill>
                  <a:srgbClr val="CCCC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picture 5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666750" y="304800"/>
            <a:ext cx="3533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一、研究背景及国内外进展</a:t>
            </a:r>
            <a:endParaRPr sz="2000" dirty="0"/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510" name="textbox 510"/>
          <p:cNvSpPr/>
          <p:nvPr/>
        </p:nvSpPr>
        <p:spPr>
          <a:xfrm>
            <a:off x="419100" y="1076325"/>
            <a:ext cx="755332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2385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团队在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图神经网络(GNN)流场预测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方面的工作</a:t>
            </a:r>
            <a:endParaRPr sz="2800" dirty="0"/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1752600"/>
            <a:ext cx="6829425" cy="2162175"/>
          </a:xfrm>
          <a:prstGeom prst="rect">
            <a:avLst/>
          </a:prstGeom>
        </p:spPr>
      </p:pic>
      <p:sp>
        <p:nvSpPr>
          <p:cNvPr id="516" name="textbox 516"/>
          <p:cNvSpPr/>
          <p:nvPr/>
        </p:nvSpPr>
        <p:spPr>
          <a:xfrm>
            <a:off x="6229350" y="1895475"/>
            <a:ext cx="15621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数据驱动方法</a:t>
            </a:r>
            <a:endParaRPr sz="2000" dirty="0"/>
          </a:p>
        </p:txBody>
      </p:sp>
      <p:sp>
        <p:nvSpPr>
          <p:cNvPr id="518" name="textbox 518"/>
          <p:cNvSpPr/>
          <p:nvPr/>
        </p:nvSpPr>
        <p:spPr>
          <a:xfrm>
            <a:off x="2133600" y="2457450"/>
            <a:ext cx="253365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Al serve as PDE</a:t>
            </a:r>
            <a:endParaRPr sz="2400" dirty="0"/>
          </a:p>
        </p:txBody>
      </p:sp>
      <p:sp>
        <p:nvSpPr>
          <p:cNvPr id="520" name="textbox 520"/>
          <p:cNvSpPr/>
          <p:nvPr/>
        </p:nvSpPr>
        <p:spPr>
          <a:xfrm>
            <a:off x="2876550" y="2828925"/>
            <a:ext cx="11239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Solver</a:t>
            </a:r>
            <a:endParaRPr sz="2400" dirty="0"/>
          </a:p>
        </p:txBody>
      </p:sp>
      <p:sp>
        <p:nvSpPr>
          <p:cNvPr id="522" name="textbox 522"/>
          <p:cNvSpPr/>
          <p:nvPr/>
        </p:nvSpPr>
        <p:spPr>
          <a:xfrm>
            <a:off x="6248400" y="3438525"/>
            <a:ext cx="20288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物理信息神经网络</a:t>
            </a:r>
            <a:endParaRPr sz="2000" dirty="0"/>
          </a:p>
        </p:txBody>
      </p:sp>
      <p:sp>
        <p:nvSpPr>
          <p:cNvPr id="524" name="textbox 524"/>
          <p:cNvSpPr/>
          <p:nvPr/>
        </p:nvSpPr>
        <p:spPr>
          <a:xfrm>
            <a:off x="819150" y="3857625"/>
            <a:ext cx="214312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85750" algn="l" rtl="0" eaLnBrk="0">
              <a:buChar char="►"/>
            </a:pPr>
            <a:r>
              <a:rPr sz="2400" b="1" kern="0" spc="0" dirty="0">
                <a:solidFill>
                  <a:srgbClr val="0D6BA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数据驱动方法</a:t>
            </a:r>
            <a:endParaRPr sz="2400" dirty="0"/>
          </a:p>
        </p:txBody>
      </p:sp>
      <p:sp>
        <p:nvSpPr>
          <p:cNvPr id="526" name="textbox 526"/>
          <p:cNvSpPr/>
          <p:nvPr/>
        </p:nvSpPr>
        <p:spPr>
          <a:xfrm>
            <a:off x="1257300" y="4286250"/>
            <a:ext cx="62865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76225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多重网格图网络AMGNET：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多重网格（AMG）+GNN</a:t>
            </a:r>
            <a:endParaRPr sz="2000" dirty="0"/>
          </a:p>
        </p:txBody>
      </p:sp>
      <p:sp>
        <p:nvSpPr>
          <p:cNvPr id="528" name="textbox 528"/>
          <p:cNvSpPr/>
          <p:nvPr/>
        </p:nvSpPr>
        <p:spPr>
          <a:xfrm>
            <a:off x="1247775" y="4676775"/>
            <a:ext cx="66198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66700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有限体积图网络FVGN：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GNN+非结构网格+有限体积法</a:t>
            </a:r>
            <a:endParaRPr sz="2000" dirty="0"/>
          </a:p>
        </p:txBody>
      </p:sp>
      <p:sp>
        <p:nvSpPr>
          <p:cNvPr id="530" name="textbox 530"/>
          <p:cNvSpPr/>
          <p:nvPr/>
        </p:nvSpPr>
        <p:spPr>
          <a:xfrm>
            <a:off x="1247775" y="5048250"/>
            <a:ext cx="60483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66700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多尺度增强图网络ME-GNN：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全局和局部混合架构</a:t>
            </a:r>
            <a:endParaRPr sz="2000" dirty="0"/>
          </a:p>
        </p:txBody>
      </p:sp>
      <p:sp>
        <p:nvSpPr>
          <p:cNvPr id="532" name="textbox 532"/>
          <p:cNvSpPr/>
          <p:nvPr/>
        </p:nvSpPr>
        <p:spPr>
          <a:xfrm>
            <a:off x="9420225" y="1533525"/>
            <a:ext cx="21336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B904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基于GNN原因：</a:t>
            </a:r>
            <a:endParaRPr sz="2400" dirty="0"/>
          </a:p>
        </p:txBody>
      </p:sp>
      <p:sp>
        <p:nvSpPr>
          <p:cNvPr id="534" name="textbox 534"/>
          <p:cNvSpPr/>
          <p:nvPr/>
        </p:nvSpPr>
        <p:spPr>
          <a:xfrm>
            <a:off x="9401175" y="2143125"/>
            <a:ext cx="2257425" cy="3276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相较于卷积神经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网络(CNN)适应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于结构化数据，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GNN对非结构化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数据具有天然优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势，其自然适配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CFD中的非结构/</a:t>
            </a:r>
            <a:endParaRPr sz="2200" dirty="0"/>
          </a:p>
          <a:p>
            <a:pPr algn="l" rtl="0" eaLnBrk="0">
              <a:spcBef>
                <a:spcPts val="90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混合网格。</a:t>
            </a:r>
            <a:endParaRPr sz="2200" dirty="0"/>
          </a:p>
        </p:txBody>
      </p:sp>
      <p:sp>
        <p:nvSpPr>
          <p:cNvPr id="536" name="textbox 536"/>
          <p:cNvSpPr/>
          <p:nvPr/>
        </p:nvSpPr>
        <p:spPr>
          <a:xfrm>
            <a:off x="819150" y="5514975"/>
            <a:ext cx="413385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38125" algn="l" rtl="0" eaLnBrk="0">
              <a:buChar char="►"/>
            </a:pPr>
            <a:r>
              <a:rPr sz="2400" b="1" kern="0" spc="0" dirty="0">
                <a:solidFill>
                  <a:srgbClr val="0A68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物理信息神经网络（PINNs）</a:t>
            </a:r>
            <a:endParaRPr sz="2400" dirty="0"/>
          </a:p>
        </p:txBody>
      </p:sp>
      <p:sp>
        <p:nvSpPr>
          <p:cNvPr id="538" name="textbox 538"/>
          <p:cNvSpPr/>
          <p:nvPr/>
        </p:nvSpPr>
        <p:spPr>
          <a:xfrm>
            <a:off x="1257300" y="5943600"/>
            <a:ext cx="83820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66700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有限体积Gen-FVGN：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采用FVM计算损失函数，继承传统FV方法的优势</a:t>
            </a:r>
            <a:endParaRPr sz="2000" dirty="0"/>
          </a:p>
        </p:txBody>
      </p:sp>
      <p:sp>
        <p:nvSpPr>
          <p:cNvPr id="540" name="textbox 540"/>
          <p:cNvSpPr/>
          <p:nvPr/>
        </p:nvSpPr>
        <p:spPr>
          <a:xfrm>
            <a:off x="1257300" y="6334125"/>
            <a:ext cx="76962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66700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有限差分FDGN：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采用有限差分法替代自动微分，降低计算复杂度</a:t>
            </a:r>
            <a:endParaRPr sz="2000" dirty="0"/>
          </a:p>
        </p:txBody>
      </p:sp>
      <p:sp>
        <p:nvSpPr>
          <p:cNvPr id="542" name="textbox 542"/>
          <p:cNvSpPr/>
          <p:nvPr/>
        </p:nvSpPr>
        <p:spPr>
          <a:xfrm>
            <a:off x="11944350" y="6638925"/>
            <a:ext cx="17145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450" dirty="0">
                <a:solidFill>
                  <a:srgbClr val="D7D7D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picture 5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48" name="textbox 548"/>
          <p:cNvSpPr/>
          <p:nvPr/>
        </p:nvSpPr>
        <p:spPr>
          <a:xfrm>
            <a:off x="1190625" y="2924175"/>
            <a:ext cx="6781800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400" b="1" kern="0" spc="0" dirty="0">
                <a:solidFill>
                  <a:srgbClr val="C41B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、数据驱动方法研究进展</a:t>
            </a:r>
            <a:endParaRPr sz="4400" dirty="0"/>
          </a:p>
        </p:txBody>
      </p:sp>
      <p:sp>
        <p:nvSpPr>
          <p:cNvPr id="550" name="textbox 550"/>
          <p:cNvSpPr/>
          <p:nvPr/>
        </p:nvSpPr>
        <p:spPr>
          <a:xfrm>
            <a:off x="2266950" y="3905250"/>
            <a:ext cx="45148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33375" algn="l" rtl="0" eaLnBrk="0">
              <a:buChar char="►"/>
            </a:pPr>
            <a:r>
              <a:rPr sz="2800" b="1" kern="0" spc="0" dirty="0">
                <a:solidFill>
                  <a:srgbClr val="0B6CB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多重网格图网络AMGNET</a:t>
            </a:r>
            <a:endParaRPr sz="2800" dirty="0"/>
          </a:p>
        </p:txBody>
      </p:sp>
      <p:sp>
        <p:nvSpPr>
          <p:cNvPr id="552" name="textbox 552"/>
          <p:cNvSpPr/>
          <p:nvPr/>
        </p:nvSpPr>
        <p:spPr>
          <a:xfrm>
            <a:off x="2286000" y="4495800"/>
            <a:ext cx="38576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52425" algn="l" rtl="0" eaLnBrk="0">
              <a:buChar char="►"/>
            </a:pPr>
            <a:r>
              <a:rPr sz="2800" b="1" kern="0" spc="0" dirty="0">
                <a:solidFill>
                  <a:srgbClr val="076CB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有限体积图网络FVGN</a:t>
            </a:r>
            <a:endParaRPr sz="2800" dirty="0"/>
          </a:p>
        </p:txBody>
      </p:sp>
      <p:sp>
        <p:nvSpPr>
          <p:cNvPr id="554" name="textbox 554"/>
          <p:cNvSpPr/>
          <p:nvPr/>
        </p:nvSpPr>
        <p:spPr>
          <a:xfrm>
            <a:off x="2247900" y="5076825"/>
            <a:ext cx="48482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00050" indent="-3429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多尺度增强图网络ME-GNN</a:t>
            </a:r>
            <a:endParaRPr sz="2800" dirty="0"/>
          </a:p>
        </p:txBody>
      </p:sp>
      <p:pic>
        <p:nvPicPr>
          <p:cNvPr id="558" name="picture 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5" y="0"/>
            <a:ext cx="3514725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picture 5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64" name="textbox 564"/>
          <p:cNvSpPr/>
          <p:nvPr/>
        </p:nvSpPr>
        <p:spPr>
          <a:xfrm>
            <a:off x="666750" y="314325"/>
            <a:ext cx="39814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000" dirty="0"/>
          </a:p>
        </p:txBody>
      </p:sp>
      <p:pic>
        <p:nvPicPr>
          <p:cNvPr id="568" name="picture 5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570" name="textbox 570"/>
          <p:cNvSpPr/>
          <p:nvPr/>
        </p:nvSpPr>
        <p:spPr>
          <a:xfrm>
            <a:off x="533400" y="1104900"/>
            <a:ext cx="60388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0480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现有图神经网络流场预测方法的不足</a:t>
            </a:r>
            <a:endParaRPr sz="2800" dirty="0"/>
          </a:p>
        </p:txBody>
      </p:sp>
      <p:sp>
        <p:nvSpPr>
          <p:cNvPr id="572" name="textbox 572"/>
          <p:cNvSpPr/>
          <p:nvPr/>
        </p:nvSpPr>
        <p:spPr>
          <a:xfrm>
            <a:off x="1085850" y="1885950"/>
            <a:ext cx="10810875" cy="1285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52425" algn="l" rtl="0" eaLnBrk="0">
              <a:buChar char="►"/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图消息传递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是GNN流场预测的机理。边界区域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过密的网格会增加图消息传递</a:t>
            </a:r>
            <a:endParaRPr sz="2400" dirty="0"/>
          </a:p>
          <a:p>
            <a:pPr marL="371475" algn="l" rtl="0" eaLnBrk="0">
              <a:spcBef>
                <a:spcPts val="1125"/>
              </a:spcBef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的距离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，长距离的消息传递容易出现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过度挤压现象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，从而造成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图节点聚合消息</a:t>
            </a:r>
            <a:endParaRPr sz="2400" dirty="0"/>
          </a:p>
          <a:p>
            <a:pPr marL="361950" algn="l" rtl="0" eaLnBrk="0">
              <a:spcBef>
                <a:spcPts val="1125"/>
              </a:spcBef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的丢失，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由此导致在流场梯度变化较大的区域往往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预测精度较低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pic>
        <p:nvPicPr>
          <p:cNvPr id="576" name="picture 5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648075"/>
            <a:ext cx="11258550" cy="2686050"/>
          </a:xfrm>
          <a:prstGeom prst="rect">
            <a:avLst/>
          </a:prstGeom>
        </p:spPr>
      </p:pic>
      <p:sp>
        <p:nvSpPr>
          <p:cNvPr id="578" name="textbox 578"/>
          <p:cNvSpPr/>
          <p:nvPr/>
        </p:nvSpPr>
        <p:spPr>
          <a:xfrm>
            <a:off x="11944350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450" dirty="0">
                <a:solidFill>
                  <a:srgbClr val="D4D4D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picture 5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84" name="textbox 584"/>
          <p:cNvSpPr/>
          <p:nvPr/>
        </p:nvSpPr>
        <p:spPr>
          <a:xfrm>
            <a:off x="666750" y="314325"/>
            <a:ext cx="39814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000" dirty="0"/>
          </a:p>
        </p:txBody>
      </p:sp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514350" y="1085850"/>
            <a:ext cx="94773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0480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多重网格图神经网络AMGNET提升边界附近流场预测精度</a:t>
            </a:r>
            <a:endParaRPr sz="2800" dirty="0"/>
          </a:p>
        </p:txBody>
      </p:sp>
      <p:sp>
        <p:nvSpPr>
          <p:cNvPr id="592" name="textbox 592"/>
          <p:cNvSpPr/>
          <p:nvPr/>
        </p:nvSpPr>
        <p:spPr>
          <a:xfrm>
            <a:off x="971550" y="1685925"/>
            <a:ext cx="10725150" cy="1238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</a:t>
            </a:r>
            <a:r>
              <a:rPr sz="24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AMG多重网格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加速代数方程组求解速度的思想，发挥图神经网络学习局</a:t>
            </a:r>
            <a:endParaRPr sz="2400" dirty="0"/>
          </a:p>
          <a:p>
            <a:pPr marL="333375" algn="l" rtl="0" eaLnBrk="0">
              <a:spcBef>
                <a:spcPts val="90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部通用法则和多层次方法的优势，在流场梯度变化较大的边界区域，能够更</a:t>
            </a:r>
            <a:endParaRPr sz="2400" dirty="0"/>
          </a:p>
          <a:p>
            <a:pPr marL="333375" algn="l" rtl="0" eaLnBrk="0">
              <a:spcBef>
                <a:spcPts val="900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好的捕捉到流场特征，从而</a:t>
            </a:r>
            <a:r>
              <a:rPr sz="24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降低边界区域的流场预测误差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pic>
        <p:nvPicPr>
          <p:cNvPr id="596" name="picture 5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048000"/>
            <a:ext cx="7724775" cy="2876550"/>
          </a:xfrm>
          <a:prstGeom prst="rect">
            <a:avLst/>
          </a:prstGeom>
        </p:spPr>
      </p:pic>
      <p:sp>
        <p:nvSpPr>
          <p:cNvPr id="598" name="textbox 598"/>
          <p:cNvSpPr/>
          <p:nvPr/>
        </p:nvSpPr>
        <p:spPr>
          <a:xfrm>
            <a:off x="7791450" y="3019425"/>
            <a:ext cx="5715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</a:t>
            </a:r>
            <a:endParaRPr sz="1200" dirty="0"/>
          </a:p>
        </p:txBody>
      </p:sp>
      <p:sp>
        <p:nvSpPr>
          <p:cNvPr id="600" name="textbox 600"/>
          <p:cNvSpPr/>
          <p:nvPr/>
        </p:nvSpPr>
        <p:spPr>
          <a:xfrm>
            <a:off x="3933825" y="3086100"/>
            <a:ext cx="4857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375" dirty="0">
                <a:solidFill>
                  <a:srgbClr val="95959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输入图</a:t>
            </a:r>
            <a:endParaRPr sz="1000" dirty="0"/>
          </a:p>
        </p:txBody>
      </p:sp>
      <p:sp>
        <p:nvSpPr>
          <p:cNvPr id="602" name="textbox 602"/>
          <p:cNvSpPr/>
          <p:nvPr/>
        </p:nvSpPr>
        <p:spPr>
          <a:xfrm>
            <a:off x="7705725" y="3324225"/>
            <a:ext cx="4286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b="1" kern="0" spc="75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粗化</a:t>
            </a:r>
            <a:endParaRPr sz="1300" dirty="0"/>
          </a:p>
        </p:txBody>
      </p:sp>
      <p:sp>
        <p:nvSpPr>
          <p:cNvPr id="604" name="textbox 604"/>
          <p:cNvSpPr/>
          <p:nvPr/>
        </p:nvSpPr>
        <p:spPr>
          <a:xfrm>
            <a:off x="5162550" y="3762375"/>
            <a:ext cx="62865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</a:t>
            </a:r>
            <a:endParaRPr sz="1200" dirty="0"/>
          </a:p>
        </p:txBody>
      </p:sp>
      <p:sp>
        <p:nvSpPr>
          <p:cNvPr id="606" name="textbox 606"/>
          <p:cNvSpPr/>
          <p:nvPr/>
        </p:nvSpPr>
        <p:spPr>
          <a:xfrm rot="1191312">
            <a:off x="7010400" y="3762375"/>
            <a:ext cx="39052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gCoarsi</a:t>
            </a:r>
            <a:endParaRPr sz="800" dirty="0"/>
          </a:p>
        </p:txBody>
      </p:sp>
      <p:sp>
        <p:nvSpPr>
          <p:cNvPr id="608" name="textbox 608"/>
          <p:cNvSpPr/>
          <p:nvPr/>
        </p:nvSpPr>
        <p:spPr>
          <a:xfrm rot="956865">
            <a:off x="8286750" y="3962400"/>
            <a:ext cx="40005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700" b="1" kern="0" spc="0" dirty="0">
                <a:solidFill>
                  <a:srgbClr val="26262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gCoursis</a:t>
            </a:r>
            <a:endParaRPr sz="700" dirty="0"/>
          </a:p>
        </p:txBody>
      </p:sp>
      <p:sp>
        <p:nvSpPr>
          <p:cNvPr id="610" name="textbox 610"/>
          <p:cNvSpPr/>
          <p:nvPr/>
        </p:nvSpPr>
        <p:spPr>
          <a:xfrm>
            <a:off x="3943350" y="4562475"/>
            <a:ext cx="47625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物理场</a:t>
            </a:r>
            <a:endParaRPr sz="1100" dirty="0"/>
          </a:p>
        </p:txBody>
      </p:sp>
      <p:sp>
        <p:nvSpPr>
          <p:cNvPr id="612" name="textbox 612"/>
          <p:cNvSpPr/>
          <p:nvPr/>
        </p:nvSpPr>
        <p:spPr>
          <a:xfrm>
            <a:off x="9277350" y="4562475"/>
            <a:ext cx="53340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GN </a:t>
            </a:r>
            <a:r>
              <a:rPr sz="1000" b="1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 n</a:t>
            </a:r>
            <a:endParaRPr sz="1000" dirty="0"/>
          </a:p>
        </p:txBody>
      </p:sp>
      <p:sp>
        <p:nvSpPr>
          <p:cNvPr id="614" name="textbox 614"/>
          <p:cNvSpPr/>
          <p:nvPr/>
        </p:nvSpPr>
        <p:spPr>
          <a:xfrm>
            <a:off x="8248650" y="4848225"/>
            <a:ext cx="5334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gRecovery</a:t>
            </a:r>
            <a:endParaRPr sz="800" dirty="0"/>
          </a:p>
        </p:txBody>
      </p:sp>
      <p:sp>
        <p:nvSpPr>
          <p:cNvPr id="616" name="textbox 616"/>
          <p:cNvSpPr/>
          <p:nvPr/>
        </p:nvSpPr>
        <p:spPr>
          <a:xfrm rot="-1262250">
            <a:off x="6905625" y="4953000"/>
            <a:ext cx="5619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" b="1" kern="0" spc="0" dirty="0">
                <a:solidFill>
                  <a:srgbClr val="3B383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gRecovery</a:t>
            </a:r>
            <a:endParaRPr sz="800" dirty="0"/>
          </a:p>
        </p:txBody>
      </p:sp>
      <p:sp>
        <p:nvSpPr>
          <p:cNvPr id="618" name="textbox 618"/>
          <p:cNvSpPr/>
          <p:nvPr/>
        </p:nvSpPr>
        <p:spPr>
          <a:xfrm>
            <a:off x="4648200" y="5210175"/>
            <a:ext cx="11525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Char char="•"/>
            </a:pP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← Decoder</a:t>
            </a:r>
            <a:endParaRPr sz="1200" dirty="0"/>
          </a:p>
        </p:txBody>
      </p:sp>
      <p:sp>
        <p:nvSpPr>
          <p:cNvPr id="620" name="textbox 620"/>
          <p:cNvSpPr/>
          <p:nvPr/>
        </p:nvSpPr>
        <p:spPr>
          <a:xfrm>
            <a:off x="7743825" y="5591175"/>
            <a:ext cx="5334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b="1" kern="0" spc="0" dirty="0">
                <a:solidFill>
                  <a:srgbClr val="262626">
                    <a:alpha val="100000"/>
                  </a:srgb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上采样</a:t>
            </a:r>
            <a:endParaRPr sz="1200" dirty="0"/>
          </a:p>
        </p:txBody>
      </p:sp>
      <p:pic>
        <p:nvPicPr>
          <p:cNvPr id="624" name="picture 6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5019675"/>
            <a:ext cx="1485900" cy="428625"/>
          </a:xfrm>
          <a:prstGeom prst="rect">
            <a:avLst/>
          </a:prstGeom>
        </p:spPr>
      </p:pic>
      <p:sp>
        <p:nvSpPr>
          <p:cNvPr id="626" name="textbox 626"/>
          <p:cNvSpPr/>
          <p:nvPr/>
        </p:nvSpPr>
        <p:spPr>
          <a:xfrm>
            <a:off x="10334625" y="5610225"/>
            <a:ext cx="1562100" cy="914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90500"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入选2023</a:t>
            </a:r>
            <a:endParaRPr sz="2000" dirty="0"/>
          </a:p>
          <a:p>
            <a:pPr marL="238125"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百度飞桨</a:t>
            </a:r>
            <a:endParaRPr sz="2000" dirty="0"/>
          </a:p>
          <a:p>
            <a:pPr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八大赛题之一</a:t>
            </a:r>
            <a:endParaRPr sz="2000" dirty="0"/>
          </a:p>
        </p:txBody>
      </p:sp>
      <p:sp>
        <p:nvSpPr>
          <p:cNvPr id="628" name="textbox 628"/>
          <p:cNvSpPr/>
          <p:nvPr/>
        </p:nvSpPr>
        <p:spPr>
          <a:xfrm>
            <a:off x="581025" y="6086475"/>
            <a:ext cx="8562975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66700" indent="-266700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Yang, et al. AMGNET: multi-scale graph neural networks for flow</a:t>
            </a:r>
            <a:endParaRPr sz="2000" dirty="0"/>
          </a:p>
          <a:p>
            <a:pPr marL="257175"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field prediction, </a:t>
            </a:r>
            <a:r>
              <a:rPr sz="2000" b="1" i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Connection Science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34(2022), 2500-2519</a:t>
            </a:r>
            <a:endParaRPr sz="2000" dirty="0"/>
          </a:p>
        </p:txBody>
      </p:sp>
      <p:sp>
        <p:nvSpPr>
          <p:cNvPr id="630" name="textbox 630"/>
          <p:cNvSpPr/>
          <p:nvPr/>
        </p:nvSpPr>
        <p:spPr>
          <a:xfrm>
            <a:off x="11944350" y="6638925"/>
            <a:ext cx="15240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E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picture 6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36" name="textbox 636"/>
          <p:cNvSpPr/>
          <p:nvPr/>
        </p:nvSpPr>
        <p:spPr>
          <a:xfrm>
            <a:off x="666750" y="314325"/>
            <a:ext cx="39814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000" dirty="0"/>
          </a:p>
        </p:txBody>
      </p:sp>
      <p:pic>
        <p:nvPicPr>
          <p:cNvPr id="640" name="picture 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642" name="textbox 642"/>
          <p:cNvSpPr/>
          <p:nvPr/>
        </p:nvSpPr>
        <p:spPr>
          <a:xfrm>
            <a:off x="514350" y="1085850"/>
            <a:ext cx="94773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04800" algn="l" rtl="0" eaLnBrk="0">
              <a:buChar char="►"/>
            </a:pP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多重网格图神经网络AMGNET提升边界附近流场预测精度</a:t>
            </a:r>
            <a:endParaRPr sz="2800" dirty="0"/>
          </a:p>
        </p:txBody>
      </p:sp>
      <p:sp>
        <p:nvSpPr>
          <p:cNvPr id="644" name="textbox 644"/>
          <p:cNvSpPr/>
          <p:nvPr/>
        </p:nvSpPr>
        <p:spPr>
          <a:xfrm>
            <a:off x="990600" y="1714500"/>
            <a:ext cx="10687050" cy="1190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进一步融合</a:t>
            </a:r>
            <a:r>
              <a:rPr sz="24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，构建</a:t>
            </a:r>
            <a:r>
              <a:rPr sz="24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TransMPNET网络模型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全局注意力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</a:t>
            </a:r>
            <a:endParaRPr sz="2400" dirty="0"/>
          </a:p>
          <a:p>
            <a:pPr marL="314325" algn="l" rtl="0" eaLnBrk="0">
              <a:spcBef>
                <a:spcPts val="82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制，能够有效缓解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图消息传递的过度挤压与信息丢失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降低流场预测的</a:t>
            </a:r>
            <a:endParaRPr sz="2400" dirty="0"/>
          </a:p>
          <a:p>
            <a:pPr marL="304800" algn="l" rtl="0" eaLnBrk="0">
              <a:spcBef>
                <a:spcPts val="825"/>
              </a:spcBef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pic>
        <p:nvPicPr>
          <p:cNvPr id="648" name="picture 6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2924175"/>
            <a:ext cx="8372475" cy="3524250"/>
          </a:xfrm>
          <a:prstGeom prst="rect">
            <a:avLst/>
          </a:prstGeom>
        </p:spPr>
      </p:pic>
      <p:sp>
        <p:nvSpPr>
          <p:cNvPr id="650" name="textbox 650"/>
          <p:cNvSpPr/>
          <p:nvPr/>
        </p:nvSpPr>
        <p:spPr>
          <a:xfrm>
            <a:off x="8343900" y="2886075"/>
            <a:ext cx="6667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</a:t>
            </a:r>
            <a:endParaRPr sz="1500" dirty="0"/>
          </a:p>
        </p:txBody>
      </p:sp>
      <p:sp>
        <p:nvSpPr>
          <p:cNvPr id="652" name="textbox 652"/>
          <p:cNvSpPr/>
          <p:nvPr/>
        </p:nvSpPr>
        <p:spPr>
          <a:xfrm>
            <a:off x="4267200" y="2981325"/>
            <a:ext cx="59055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26262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输入图</a:t>
            </a:r>
            <a:endParaRPr sz="1300" dirty="0"/>
          </a:p>
        </p:txBody>
      </p:sp>
      <p:sp>
        <p:nvSpPr>
          <p:cNvPr id="654" name="textbox 654"/>
          <p:cNvSpPr/>
          <p:nvPr/>
        </p:nvSpPr>
        <p:spPr>
          <a:xfrm>
            <a:off x="7391400" y="3400425"/>
            <a:ext cx="196215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u="sng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</a:t>
            </a:r>
            <a:r>
              <a:rPr sz="1200" u="sng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Transformer</a:t>
            </a:r>
            <a:r>
              <a:rPr sz="1200" u="sng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的消息传递层</a:t>
            </a:r>
            <a:endParaRPr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6" name="textbox 656"/>
              <p:cNvSpPr/>
              <p:nvPr/>
            </p:nvSpPr>
            <p:spPr>
              <a:xfrm>
                <a:off x="8734425" y="3676650"/>
                <a:ext cx="238125" cy="2095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l</m:t>
                          </m:r>
                        </m:sup>
                      </m:sSup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656" name="textbox 6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425" y="3676650"/>
                <a:ext cx="238125" cy="209550"/>
              </a:xfrm>
              <a:prstGeom prst="rect">
                <a:avLst/>
              </a:prstGeom>
              <a:blipFill rotWithShape="1">
                <a:blip r:embed="rId4"/>
                <a:stretch>
                  <a:fillRect b="-4606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textbox 658"/>
              <p:cNvSpPr/>
              <p:nvPr/>
            </p:nvSpPr>
            <p:spPr>
              <a:xfrm>
                <a:off x="7400925" y="3686175"/>
                <a:ext cx="228600" cy="2286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l</m:t>
                          </m:r>
                        </m:sup>
                      </m:sSup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658" name="textbox 6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925" y="3686175"/>
                <a:ext cx="228600" cy="228600"/>
              </a:xfrm>
              <a:prstGeom prst="rect">
                <a:avLst/>
              </a:prstGeom>
              <a:blipFill rotWithShape="1">
                <a:blip r:embed="rId5"/>
                <a:stretch>
                  <a:fillRect r="-278" b="-3388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" name="textbox 660"/>
          <p:cNvSpPr/>
          <p:nvPr/>
        </p:nvSpPr>
        <p:spPr>
          <a:xfrm>
            <a:off x="9639300" y="3686175"/>
            <a:ext cx="34290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 L</a:t>
            </a:r>
            <a:endParaRPr sz="1800" dirty="0"/>
          </a:p>
        </p:txBody>
      </p:sp>
      <p:sp>
        <p:nvSpPr>
          <p:cNvPr id="662" name="textbox 662"/>
          <p:cNvSpPr/>
          <p:nvPr/>
        </p:nvSpPr>
        <p:spPr>
          <a:xfrm>
            <a:off x="5676900" y="3822700"/>
            <a:ext cx="7620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dirty="0">
                <a:solidFill>
                  <a:srgbClr val="4D4D4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Encoder</a:t>
            </a:r>
            <a:endParaRPr sz="1400" dirty="0"/>
          </a:p>
        </p:txBody>
      </p:sp>
      <p:sp>
        <p:nvSpPr>
          <p:cNvPr id="664" name="textbox 664"/>
          <p:cNvSpPr/>
          <p:nvPr/>
        </p:nvSpPr>
        <p:spPr>
          <a:xfrm>
            <a:off x="7372350" y="4191000"/>
            <a:ext cx="3333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750" dirty="0">
                <a:solidFill>
                  <a:srgbClr val="40474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GN</a:t>
            </a:r>
            <a:endParaRPr sz="1400" dirty="0"/>
          </a:p>
        </p:txBody>
      </p:sp>
      <p:sp>
        <p:nvSpPr>
          <p:cNvPr id="666" name="textbox 666"/>
          <p:cNvSpPr/>
          <p:nvPr/>
        </p:nvSpPr>
        <p:spPr>
          <a:xfrm>
            <a:off x="8001000" y="4762500"/>
            <a:ext cx="144780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21324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Mutil-head self-attention</a:t>
            </a:r>
            <a:endParaRPr sz="900" dirty="0"/>
          </a:p>
        </p:txBody>
      </p:sp>
      <p:sp>
        <p:nvSpPr>
          <p:cNvPr id="668" name="textbox 668"/>
          <p:cNvSpPr/>
          <p:nvPr/>
        </p:nvSpPr>
        <p:spPr>
          <a:xfrm>
            <a:off x="4238625" y="4781550"/>
            <a:ext cx="5810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物理场</a:t>
            </a:r>
            <a:endParaRPr sz="1300" dirty="0"/>
          </a:p>
        </p:txBody>
      </p:sp>
      <p:sp>
        <p:nvSpPr>
          <p:cNvPr id="670" name="textbox 670"/>
          <p:cNvSpPr/>
          <p:nvPr/>
        </p:nvSpPr>
        <p:spPr>
          <a:xfrm>
            <a:off x="8153400" y="5381625"/>
            <a:ext cx="11430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333F5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Feed-forward layer</a:t>
            </a:r>
            <a:endParaRPr sz="1000" dirty="0"/>
          </a:p>
        </p:txBody>
      </p:sp>
      <p:sp>
        <p:nvSpPr>
          <p:cNvPr id="672" name="textbox 672"/>
          <p:cNvSpPr/>
          <p:nvPr/>
        </p:nvSpPr>
        <p:spPr>
          <a:xfrm>
            <a:off x="5676900" y="5600700"/>
            <a:ext cx="8001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4D4D4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Decoder</a:t>
            </a:r>
            <a:endParaRPr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4" name="textbox 674"/>
              <p:cNvSpPr/>
              <p:nvPr/>
            </p:nvSpPr>
            <p:spPr>
              <a:xfrm>
                <a:off x="7400925" y="5867400"/>
                <a:ext cx="409575" cy="2571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l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674" name="textbox 6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925" y="5867400"/>
                <a:ext cx="409575" cy="257175"/>
              </a:xfrm>
              <a:prstGeom prst="rect">
                <a:avLst/>
              </a:prstGeom>
              <a:blipFill rotWithShape="1">
                <a:blip r:embed="rId6"/>
                <a:stretch>
                  <a:fillRect b="-19012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6" name="textbox 676"/>
              <p:cNvSpPr/>
              <p:nvPr/>
            </p:nvSpPr>
            <p:spPr>
              <a:xfrm>
                <a:off x="8543925" y="5867400"/>
                <a:ext cx="428625" cy="2571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l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676" name="textbox 6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925" y="5867400"/>
                <a:ext cx="428625" cy="257175"/>
              </a:xfrm>
              <a:prstGeom prst="rect">
                <a:avLst/>
              </a:prstGeom>
              <a:blipFill rotWithShape="1">
                <a:blip r:embed="rId7"/>
                <a:stretch>
                  <a:fillRect b="-19012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8" name="textbox 678"/>
          <p:cNvSpPr/>
          <p:nvPr/>
        </p:nvSpPr>
        <p:spPr>
          <a:xfrm>
            <a:off x="11944350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75" dirty="0">
                <a:solidFill>
                  <a:srgbClr val="D0D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picture 6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4" name="textbox 684"/>
          <p:cNvSpPr/>
          <p:nvPr/>
        </p:nvSpPr>
        <p:spPr>
          <a:xfrm>
            <a:off x="657225" y="314325"/>
            <a:ext cx="39909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AutoNum type="arabicPeriod" startAt="2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000" dirty="0"/>
          </a:p>
        </p:txBody>
      </p:sp>
      <p:pic>
        <p:nvPicPr>
          <p:cNvPr id="688" name="picture 6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pic>
        <p:nvPicPr>
          <p:cNvPr id="692" name="picture 6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14450"/>
            <a:ext cx="2238375" cy="2000250"/>
          </a:xfrm>
          <a:prstGeom prst="rect">
            <a:avLst/>
          </a:prstGeom>
        </p:spPr>
      </p:pic>
      <p:pic>
        <p:nvPicPr>
          <p:cNvPr id="696" name="picture 6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1314450"/>
            <a:ext cx="2200275" cy="2000250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1314450"/>
            <a:ext cx="742950" cy="2000250"/>
          </a:xfrm>
          <a:prstGeom prst="rect">
            <a:avLst/>
          </a:prstGeom>
        </p:spPr>
      </p:pic>
      <p:sp>
        <p:nvSpPr>
          <p:cNvPr id="702" name="textbox 702"/>
          <p:cNvSpPr/>
          <p:nvPr/>
        </p:nvSpPr>
        <p:spPr>
          <a:xfrm>
            <a:off x="5695950" y="1352550"/>
            <a:ext cx="45720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105000</a:t>
            </a:r>
            <a:endParaRPr sz="1000" dirty="0"/>
          </a:p>
        </p:txBody>
      </p:sp>
      <p:sp>
        <p:nvSpPr>
          <p:cNvPr id="704" name="textbox 704"/>
          <p:cNvSpPr/>
          <p:nvPr/>
        </p:nvSpPr>
        <p:spPr>
          <a:xfrm>
            <a:off x="5686425" y="1504950"/>
            <a:ext cx="46672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104000</a:t>
            </a:r>
            <a:endParaRPr sz="1000" dirty="0"/>
          </a:p>
        </p:txBody>
      </p:sp>
      <p:sp>
        <p:nvSpPr>
          <p:cNvPr id="706" name="textbox 706"/>
          <p:cNvSpPr/>
          <p:nvPr/>
        </p:nvSpPr>
        <p:spPr>
          <a:xfrm>
            <a:off x="5686425" y="1657350"/>
            <a:ext cx="4667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103000</a:t>
            </a:r>
            <a:endParaRPr sz="1000" dirty="0"/>
          </a:p>
        </p:txBody>
      </p:sp>
      <p:sp>
        <p:nvSpPr>
          <p:cNvPr id="708" name="textbox 708"/>
          <p:cNvSpPr/>
          <p:nvPr/>
        </p:nvSpPr>
        <p:spPr>
          <a:xfrm>
            <a:off x="5695950" y="1800225"/>
            <a:ext cx="4572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102000</a:t>
            </a:r>
            <a:endParaRPr sz="1000" dirty="0"/>
          </a:p>
        </p:txBody>
      </p:sp>
      <p:sp>
        <p:nvSpPr>
          <p:cNvPr id="710" name="textbox 710"/>
          <p:cNvSpPr/>
          <p:nvPr/>
        </p:nvSpPr>
        <p:spPr>
          <a:xfrm>
            <a:off x="5686425" y="1952625"/>
            <a:ext cx="4667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101000</a:t>
            </a:r>
            <a:endParaRPr sz="1000" dirty="0"/>
          </a:p>
        </p:txBody>
      </p:sp>
      <p:sp>
        <p:nvSpPr>
          <p:cNvPr id="712" name="textbox 712"/>
          <p:cNvSpPr/>
          <p:nvPr/>
        </p:nvSpPr>
        <p:spPr>
          <a:xfrm>
            <a:off x="5695950" y="2105025"/>
            <a:ext cx="4572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100000</a:t>
            </a:r>
            <a:endParaRPr sz="1000" dirty="0"/>
          </a:p>
        </p:txBody>
      </p:sp>
      <p:sp>
        <p:nvSpPr>
          <p:cNvPr id="714" name="textbox 714"/>
          <p:cNvSpPr/>
          <p:nvPr/>
        </p:nvSpPr>
        <p:spPr>
          <a:xfrm>
            <a:off x="5686425" y="2238375"/>
            <a:ext cx="4095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1818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99000</a:t>
            </a:r>
            <a:endParaRPr sz="1000" dirty="0"/>
          </a:p>
        </p:txBody>
      </p:sp>
      <p:sp>
        <p:nvSpPr>
          <p:cNvPr id="716" name="textbox 716"/>
          <p:cNvSpPr/>
          <p:nvPr/>
        </p:nvSpPr>
        <p:spPr>
          <a:xfrm>
            <a:off x="5686425" y="2390775"/>
            <a:ext cx="4095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B8B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98000</a:t>
            </a:r>
            <a:endParaRPr sz="1000" dirty="0"/>
          </a:p>
        </p:txBody>
      </p:sp>
      <p:sp>
        <p:nvSpPr>
          <p:cNvPr id="718" name="textbox 718"/>
          <p:cNvSpPr/>
          <p:nvPr/>
        </p:nvSpPr>
        <p:spPr>
          <a:xfrm>
            <a:off x="5676900" y="2543175"/>
            <a:ext cx="4191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97000</a:t>
            </a:r>
            <a:endParaRPr sz="1000" dirty="0"/>
          </a:p>
        </p:txBody>
      </p:sp>
      <p:sp>
        <p:nvSpPr>
          <p:cNvPr id="720" name="textbox 720"/>
          <p:cNvSpPr/>
          <p:nvPr/>
        </p:nvSpPr>
        <p:spPr>
          <a:xfrm>
            <a:off x="5686425" y="2676525"/>
            <a:ext cx="40957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96000</a:t>
            </a:r>
            <a:endParaRPr sz="1000" dirty="0"/>
          </a:p>
        </p:txBody>
      </p:sp>
      <p:sp>
        <p:nvSpPr>
          <p:cNvPr id="722" name="textbox 722"/>
          <p:cNvSpPr/>
          <p:nvPr/>
        </p:nvSpPr>
        <p:spPr>
          <a:xfrm>
            <a:off x="5686425" y="2828925"/>
            <a:ext cx="40957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93939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95000</a:t>
            </a:r>
            <a:endParaRPr sz="1000" dirty="0"/>
          </a:p>
        </p:txBody>
      </p:sp>
      <p:sp>
        <p:nvSpPr>
          <p:cNvPr id="724" name="textbox 724"/>
          <p:cNvSpPr/>
          <p:nvPr/>
        </p:nvSpPr>
        <p:spPr>
          <a:xfrm>
            <a:off x="5676900" y="2971800"/>
            <a:ext cx="41910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94000</a:t>
            </a:r>
            <a:endParaRPr sz="1000" dirty="0"/>
          </a:p>
        </p:txBody>
      </p:sp>
      <p:sp>
        <p:nvSpPr>
          <p:cNvPr id="726" name="textbox 726"/>
          <p:cNvSpPr/>
          <p:nvPr/>
        </p:nvSpPr>
        <p:spPr>
          <a:xfrm>
            <a:off x="5676900" y="3124200"/>
            <a:ext cx="4191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93000</a:t>
            </a:r>
            <a:endParaRPr sz="1000" dirty="0"/>
          </a:p>
        </p:txBody>
      </p:sp>
      <p:pic>
        <p:nvPicPr>
          <p:cNvPr id="730" name="picture 7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1314450"/>
            <a:ext cx="2200275" cy="2000250"/>
          </a:xfrm>
          <a:prstGeom prst="rect">
            <a:avLst/>
          </a:prstGeom>
        </p:spPr>
      </p:pic>
      <p:pic>
        <p:nvPicPr>
          <p:cNvPr id="734" name="picture 7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1314450"/>
            <a:ext cx="2200275" cy="2000250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5225" y="1314450"/>
            <a:ext cx="371475" cy="2000250"/>
          </a:xfrm>
          <a:prstGeom prst="rect">
            <a:avLst/>
          </a:prstGeom>
        </p:spPr>
      </p:pic>
      <p:sp>
        <p:nvSpPr>
          <p:cNvPr id="740" name="textbox 740"/>
          <p:cNvSpPr/>
          <p:nvPr/>
        </p:nvSpPr>
        <p:spPr>
          <a:xfrm>
            <a:off x="11506200" y="1333500"/>
            <a:ext cx="200025" cy="196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800" dirty="0"/>
          </a:p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</a:t>
            </a:r>
            <a:endParaRPr sz="800" dirty="0"/>
          </a:p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28</a:t>
            </a:r>
            <a:endParaRPr sz="800" dirty="0"/>
          </a:p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</a:t>
            </a:r>
            <a:endParaRPr sz="800" dirty="0"/>
          </a:p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</a:t>
            </a:r>
            <a:endParaRPr sz="800" dirty="0"/>
          </a:p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</a:t>
            </a:r>
            <a:endParaRPr sz="800" dirty="0"/>
          </a:p>
          <a:p>
            <a:pPr algn="l" rtl="0" eaLnBrk="0"/>
            <a:r>
              <a:rPr sz="800" kern="0" spc="60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800" dirty="0"/>
          </a:p>
          <a:p>
            <a:pPr algn="l" rtl="0" eaLnBrk="0"/>
            <a:r>
              <a:rPr sz="800" kern="0" spc="825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sz="800" dirty="0"/>
          </a:p>
          <a:p>
            <a:pPr algn="l" rtl="0" eaLnBrk="0"/>
            <a:r>
              <a:rPr sz="800" kern="0" spc="825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800" dirty="0"/>
          </a:p>
          <a:p>
            <a:pPr algn="l" rtl="0" eaLnBrk="0"/>
            <a:r>
              <a:rPr sz="800" kern="0" spc="825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800" dirty="0"/>
          </a:p>
          <a:p>
            <a:pPr algn="l" rtl="0" eaLnBrk="0"/>
            <a:r>
              <a:rPr sz="800" kern="0" spc="825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800" dirty="0"/>
          </a:p>
          <a:p>
            <a:pPr algn="l" rtl="0" eaLnBrk="0"/>
            <a:r>
              <a:rPr sz="800" kern="0" spc="825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800" dirty="0"/>
          </a:p>
          <a:p>
            <a:pPr algn="l" rtl="0" eaLnBrk="0"/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800" dirty="0"/>
          </a:p>
          <a:p>
            <a:pPr algn="l" rtl="0" eaLnBrk="0"/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800" dirty="0"/>
          </a:p>
          <a:p>
            <a:pPr algn="l" rtl="0" eaLnBrk="0"/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800" dirty="0"/>
          </a:p>
          <a:p>
            <a:pPr algn="l" rtl="0" eaLnBrk="0"/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800" dirty="0"/>
          </a:p>
          <a:p>
            <a:pPr algn="l" rtl="0" eaLnBrk="0"/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800" dirty="0"/>
          </a:p>
          <a:p>
            <a:pPr algn="l" rtl="0" eaLnBrk="0"/>
            <a:r>
              <a:rPr sz="800" kern="0" spc="75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-2</a:t>
            </a:r>
            <a:endParaRPr sz="800" dirty="0"/>
          </a:p>
        </p:txBody>
      </p:sp>
      <p:sp>
        <p:nvSpPr>
          <p:cNvPr id="742" name="textbox 742"/>
          <p:cNvSpPr/>
          <p:nvPr/>
        </p:nvSpPr>
        <p:spPr>
          <a:xfrm>
            <a:off x="952500" y="3438525"/>
            <a:ext cx="144780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AutoNum type="alphaLcParenBoth"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TransMPNET</a:t>
            </a:r>
            <a:endParaRPr sz="1500" dirty="0"/>
          </a:p>
        </p:txBody>
      </p:sp>
      <p:sp>
        <p:nvSpPr>
          <p:cNvPr id="744" name="textbox 744"/>
          <p:cNvSpPr/>
          <p:nvPr/>
        </p:nvSpPr>
        <p:spPr>
          <a:xfrm>
            <a:off x="3390900" y="3438525"/>
            <a:ext cx="137160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AutoNum type="alphaLcParenBoth" startAt="2"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Ground truth</a:t>
            </a:r>
            <a:endParaRPr sz="1500" dirty="0"/>
          </a:p>
        </p:txBody>
      </p:sp>
      <p:sp>
        <p:nvSpPr>
          <p:cNvPr id="746" name="textbox 746"/>
          <p:cNvSpPr/>
          <p:nvPr/>
        </p:nvSpPr>
        <p:spPr>
          <a:xfrm>
            <a:off x="6838950" y="3438525"/>
            <a:ext cx="144780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95275" algn="l" rtl="0" eaLnBrk="0">
              <a:buAutoNum type="alphaLcParenBoth"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TransMPNET</a:t>
            </a:r>
            <a:endParaRPr sz="1500" dirty="0"/>
          </a:p>
        </p:txBody>
      </p:sp>
      <p:sp>
        <p:nvSpPr>
          <p:cNvPr id="748" name="textbox 748"/>
          <p:cNvSpPr/>
          <p:nvPr/>
        </p:nvSpPr>
        <p:spPr>
          <a:xfrm>
            <a:off x="9267825" y="3438525"/>
            <a:ext cx="137160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AutoNum type="alphaLcParenBoth" startAt="2"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Ground truth</a:t>
            </a:r>
            <a:endParaRPr sz="1500" dirty="0"/>
          </a:p>
        </p:txBody>
      </p:sp>
      <p:pic>
        <p:nvPicPr>
          <p:cNvPr id="752" name="picture 7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3676650"/>
            <a:ext cx="2238375" cy="2000250"/>
          </a:xfrm>
          <a:prstGeom prst="rect">
            <a:avLst/>
          </a:prstGeom>
        </p:spPr>
      </p:pic>
      <p:pic>
        <p:nvPicPr>
          <p:cNvPr id="756" name="picture 7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8475" y="3676650"/>
            <a:ext cx="2200275" cy="2000250"/>
          </a:xfrm>
          <a:prstGeom prst="rect">
            <a:avLst/>
          </a:prstGeom>
        </p:spPr>
      </p:pic>
      <p:pic>
        <p:nvPicPr>
          <p:cNvPr id="760" name="picture 7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0200" y="3676650"/>
            <a:ext cx="742950" cy="2000250"/>
          </a:xfrm>
          <a:prstGeom prst="rect">
            <a:avLst/>
          </a:prstGeom>
        </p:spPr>
      </p:pic>
      <p:sp>
        <p:nvSpPr>
          <p:cNvPr id="762" name="textbox 762"/>
          <p:cNvSpPr/>
          <p:nvPr/>
        </p:nvSpPr>
        <p:spPr>
          <a:xfrm>
            <a:off x="5686425" y="3714750"/>
            <a:ext cx="46672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105000</a:t>
            </a:r>
            <a:endParaRPr sz="1000" dirty="0"/>
          </a:p>
        </p:txBody>
      </p:sp>
      <p:sp>
        <p:nvSpPr>
          <p:cNvPr id="764" name="textbox 764"/>
          <p:cNvSpPr/>
          <p:nvPr/>
        </p:nvSpPr>
        <p:spPr>
          <a:xfrm>
            <a:off x="5686425" y="3867150"/>
            <a:ext cx="4667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104000</a:t>
            </a:r>
            <a:endParaRPr sz="1000" dirty="0"/>
          </a:p>
        </p:txBody>
      </p:sp>
      <p:sp>
        <p:nvSpPr>
          <p:cNvPr id="766" name="textbox 766"/>
          <p:cNvSpPr/>
          <p:nvPr/>
        </p:nvSpPr>
        <p:spPr>
          <a:xfrm>
            <a:off x="5686425" y="4019550"/>
            <a:ext cx="4667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103000</a:t>
            </a:r>
            <a:endParaRPr sz="1000" dirty="0"/>
          </a:p>
        </p:txBody>
      </p:sp>
      <p:sp>
        <p:nvSpPr>
          <p:cNvPr id="768" name="textbox 768"/>
          <p:cNvSpPr/>
          <p:nvPr/>
        </p:nvSpPr>
        <p:spPr>
          <a:xfrm>
            <a:off x="5686425" y="4152900"/>
            <a:ext cx="46672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102000</a:t>
            </a:r>
            <a:endParaRPr sz="1000" dirty="0"/>
          </a:p>
        </p:txBody>
      </p:sp>
      <p:sp>
        <p:nvSpPr>
          <p:cNvPr id="770" name="textbox 770"/>
          <p:cNvSpPr/>
          <p:nvPr/>
        </p:nvSpPr>
        <p:spPr>
          <a:xfrm>
            <a:off x="5686425" y="4305300"/>
            <a:ext cx="46672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150" dirty="0">
                <a:solidFill>
                  <a:srgbClr val="88888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101000</a:t>
            </a:r>
            <a:endParaRPr sz="1000" dirty="0"/>
          </a:p>
        </p:txBody>
      </p:sp>
      <p:sp>
        <p:nvSpPr>
          <p:cNvPr id="772" name="textbox 772"/>
          <p:cNvSpPr/>
          <p:nvPr/>
        </p:nvSpPr>
        <p:spPr>
          <a:xfrm>
            <a:off x="5686425" y="4457700"/>
            <a:ext cx="4667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100000</a:t>
            </a:r>
            <a:endParaRPr sz="1000" dirty="0"/>
          </a:p>
        </p:txBody>
      </p:sp>
      <p:sp>
        <p:nvSpPr>
          <p:cNvPr id="774" name="textbox 774"/>
          <p:cNvSpPr/>
          <p:nvPr/>
        </p:nvSpPr>
        <p:spPr>
          <a:xfrm>
            <a:off x="5676900" y="4600575"/>
            <a:ext cx="41910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C8C8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99000</a:t>
            </a:r>
            <a:endParaRPr sz="1000" dirty="0"/>
          </a:p>
        </p:txBody>
      </p:sp>
      <p:sp>
        <p:nvSpPr>
          <p:cNvPr id="776" name="textbox 776"/>
          <p:cNvSpPr/>
          <p:nvPr/>
        </p:nvSpPr>
        <p:spPr>
          <a:xfrm>
            <a:off x="5676900" y="4743450"/>
            <a:ext cx="41910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A8A8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98000</a:t>
            </a:r>
            <a:endParaRPr sz="1000" dirty="0"/>
          </a:p>
        </p:txBody>
      </p:sp>
      <p:sp>
        <p:nvSpPr>
          <p:cNvPr id="778" name="textbox 778"/>
          <p:cNvSpPr/>
          <p:nvPr/>
        </p:nvSpPr>
        <p:spPr>
          <a:xfrm>
            <a:off x="5686425" y="4886325"/>
            <a:ext cx="40957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7A7A7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97000</a:t>
            </a:r>
            <a:endParaRPr sz="1000" dirty="0"/>
          </a:p>
        </p:txBody>
      </p:sp>
      <p:sp>
        <p:nvSpPr>
          <p:cNvPr id="780" name="textbox 780"/>
          <p:cNvSpPr/>
          <p:nvPr/>
        </p:nvSpPr>
        <p:spPr>
          <a:xfrm>
            <a:off x="5686425" y="5038725"/>
            <a:ext cx="40957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92929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96000</a:t>
            </a:r>
            <a:endParaRPr sz="1000" dirty="0"/>
          </a:p>
        </p:txBody>
      </p:sp>
      <p:sp>
        <p:nvSpPr>
          <p:cNvPr id="782" name="textbox 782"/>
          <p:cNvSpPr/>
          <p:nvPr/>
        </p:nvSpPr>
        <p:spPr>
          <a:xfrm>
            <a:off x="5686425" y="5191125"/>
            <a:ext cx="4095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7878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95000</a:t>
            </a:r>
            <a:endParaRPr sz="1000" dirty="0"/>
          </a:p>
        </p:txBody>
      </p:sp>
      <p:sp>
        <p:nvSpPr>
          <p:cNvPr id="784" name="textbox 784"/>
          <p:cNvSpPr/>
          <p:nvPr/>
        </p:nvSpPr>
        <p:spPr>
          <a:xfrm>
            <a:off x="5676900" y="5324475"/>
            <a:ext cx="40005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7D7D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94000</a:t>
            </a:r>
            <a:endParaRPr sz="1000" dirty="0"/>
          </a:p>
        </p:txBody>
      </p:sp>
      <p:sp>
        <p:nvSpPr>
          <p:cNvPr id="786" name="textbox 786"/>
          <p:cNvSpPr/>
          <p:nvPr/>
        </p:nvSpPr>
        <p:spPr>
          <a:xfrm>
            <a:off x="5676900" y="5476875"/>
            <a:ext cx="41910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0" dirty="0">
                <a:solidFill>
                  <a:srgbClr val="8A8A8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93000</a:t>
            </a:r>
            <a:endParaRPr sz="1000" dirty="0"/>
          </a:p>
        </p:txBody>
      </p:sp>
      <p:pic>
        <p:nvPicPr>
          <p:cNvPr id="790" name="picture 79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676650"/>
            <a:ext cx="2200275" cy="2000250"/>
          </a:xfrm>
          <a:prstGeom prst="rect">
            <a:avLst/>
          </a:prstGeom>
        </p:spPr>
      </p:pic>
      <p:pic>
        <p:nvPicPr>
          <p:cNvPr id="794" name="picture 7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3676650"/>
            <a:ext cx="2200275" cy="2000250"/>
          </a:xfrm>
          <a:prstGeom prst="rect">
            <a:avLst/>
          </a:prstGeom>
        </p:spPr>
      </p:pic>
      <p:pic>
        <p:nvPicPr>
          <p:cNvPr id="798" name="picture 79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25225" y="3676650"/>
            <a:ext cx="371475" cy="2000250"/>
          </a:xfrm>
          <a:prstGeom prst="rect">
            <a:avLst/>
          </a:prstGeom>
        </p:spPr>
      </p:pic>
      <p:sp>
        <p:nvSpPr>
          <p:cNvPr id="800" name="textbox 800"/>
          <p:cNvSpPr/>
          <p:nvPr/>
        </p:nvSpPr>
        <p:spPr>
          <a:xfrm>
            <a:off x="11506200" y="3705225"/>
            <a:ext cx="200025" cy="196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700" dirty="0"/>
          </a:p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</a:t>
            </a:r>
            <a:endParaRPr sz="700" dirty="0"/>
          </a:p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28</a:t>
            </a:r>
            <a:endParaRPr sz="700" dirty="0"/>
          </a:p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</a:t>
            </a:r>
            <a:endParaRPr sz="700" dirty="0"/>
          </a:p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</a:t>
            </a:r>
            <a:endParaRPr sz="700" dirty="0"/>
          </a:p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</a:t>
            </a:r>
            <a:endParaRPr sz="700" dirty="0"/>
          </a:p>
          <a:p>
            <a:pPr algn="l" rtl="0" eaLnBrk="0"/>
            <a:r>
              <a:rPr sz="700" kern="0" spc="7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700" dirty="0"/>
          </a:p>
          <a:p>
            <a:pPr algn="l" rtl="0" eaLnBrk="0"/>
            <a:r>
              <a:rPr sz="700" kern="0" spc="9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sz="700" dirty="0"/>
          </a:p>
          <a:p>
            <a:pPr algn="l" rtl="0" eaLnBrk="0"/>
            <a:r>
              <a:rPr sz="700" kern="0" spc="9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700" dirty="0"/>
          </a:p>
          <a:p>
            <a:pPr algn="l" rtl="0" eaLnBrk="0"/>
            <a:r>
              <a:rPr sz="700" kern="0" spc="9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700" dirty="0"/>
          </a:p>
          <a:p>
            <a:pPr algn="l" rtl="0" eaLnBrk="0"/>
            <a:r>
              <a:rPr sz="700" kern="0" spc="9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700" dirty="0"/>
          </a:p>
          <a:p>
            <a:pPr algn="l" rtl="0" eaLnBrk="0"/>
            <a:r>
              <a:rPr sz="700" kern="0" spc="9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700" dirty="0"/>
          </a:p>
          <a:p>
            <a:pPr algn="l" rtl="0" eaLnBrk="0"/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700" dirty="0"/>
          </a:p>
          <a:p>
            <a:pPr algn="l" rtl="0" eaLnBrk="0"/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700" dirty="0"/>
          </a:p>
          <a:p>
            <a:pPr algn="l" rtl="0" eaLnBrk="0"/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700" dirty="0"/>
          </a:p>
          <a:p>
            <a:pPr algn="l" rtl="0" eaLnBrk="0"/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700" dirty="0"/>
          </a:p>
          <a:p>
            <a:pPr algn="l" rtl="0" eaLnBrk="0"/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700" dirty="0"/>
          </a:p>
          <a:p>
            <a:pPr algn="l" rtl="0" eaLnBrk="0"/>
            <a:r>
              <a:rPr sz="700" kern="0" spc="8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-2</a:t>
            </a:r>
            <a:endParaRPr sz="700" dirty="0"/>
          </a:p>
        </p:txBody>
      </p:sp>
      <p:sp>
        <p:nvSpPr>
          <p:cNvPr id="802" name="textbox 802"/>
          <p:cNvSpPr/>
          <p:nvPr/>
        </p:nvSpPr>
        <p:spPr>
          <a:xfrm>
            <a:off x="952500" y="5886450"/>
            <a:ext cx="11811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lphaLcParenBoth" startAt="3"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AMGNET</a:t>
            </a:r>
            <a:endParaRPr sz="1500" dirty="0"/>
          </a:p>
        </p:txBody>
      </p:sp>
      <p:sp>
        <p:nvSpPr>
          <p:cNvPr id="804" name="textbox 804"/>
          <p:cNvSpPr/>
          <p:nvPr/>
        </p:nvSpPr>
        <p:spPr>
          <a:xfrm>
            <a:off x="3476625" y="5886450"/>
            <a:ext cx="9620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33400" indent="-514350" algn="l" rtl="0" eaLnBrk="0">
              <a:buAutoNum type="alphaLcParenBoth" startAt="4"/>
            </a:pPr>
            <a:r>
              <a:rPr sz="1600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GCN</a:t>
            </a:r>
            <a:endParaRPr sz="1600" dirty="0"/>
          </a:p>
        </p:txBody>
      </p:sp>
      <p:sp>
        <p:nvSpPr>
          <p:cNvPr id="806" name="textbox 806"/>
          <p:cNvSpPr/>
          <p:nvPr/>
        </p:nvSpPr>
        <p:spPr>
          <a:xfrm>
            <a:off x="6838950" y="5886450"/>
            <a:ext cx="11715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314325" algn="l" rtl="0" eaLnBrk="0">
              <a:buAutoNum type="alphaLcParenBoth" startAt="3"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AMGNET</a:t>
            </a:r>
            <a:endParaRPr sz="1500" dirty="0"/>
          </a:p>
        </p:txBody>
      </p:sp>
      <p:sp>
        <p:nvSpPr>
          <p:cNvPr id="808" name="textbox 808"/>
          <p:cNvSpPr/>
          <p:nvPr/>
        </p:nvSpPr>
        <p:spPr>
          <a:xfrm>
            <a:off x="9353550" y="5886450"/>
            <a:ext cx="9620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23875" indent="-523875" algn="l" rtl="0" eaLnBrk="0">
              <a:buAutoNum type="alphaLcParenBoth" startAt="4"/>
            </a:pPr>
            <a:r>
              <a:rPr sz="1500" kern="0" spc="37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GCN</a:t>
            </a:r>
            <a:endParaRPr sz="1500" dirty="0"/>
          </a:p>
        </p:txBody>
      </p:sp>
      <p:sp>
        <p:nvSpPr>
          <p:cNvPr id="810" name="textbox 810"/>
          <p:cNvSpPr/>
          <p:nvPr/>
        </p:nvSpPr>
        <p:spPr>
          <a:xfrm>
            <a:off x="971550" y="6296025"/>
            <a:ext cx="470535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翼型压力场预测结果(AoA=5.0, Mach=0.25)</a:t>
            </a:r>
            <a:endParaRPr sz="1800" dirty="0"/>
          </a:p>
        </p:txBody>
      </p:sp>
      <p:sp>
        <p:nvSpPr>
          <p:cNvPr id="812" name="textbox 812"/>
          <p:cNvSpPr/>
          <p:nvPr/>
        </p:nvSpPr>
        <p:spPr>
          <a:xfrm>
            <a:off x="7124700" y="6296025"/>
            <a:ext cx="35814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圆柱x方向速度场预测结果(Re=54)</a:t>
            </a:r>
            <a:endParaRPr sz="1800" dirty="0"/>
          </a:p>
        </p:txBody>
      </p:sp>
      <p:sp>
        <p:nvSpPr>
          <p:cNvPr id="814" name="textbox 814"/>
          <p:cNvSpPr/>
          <p:nvPr/>
        </p:nvSpPr>
        <p:spPr>
          <a:xfrm>
            <a:off x="11944350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450" dirty="0">
                <a:solidFill>
                  <a:srgbClr val="D0D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picture 8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20" name="textbox 820"/>
          <p:cNvSpPr/>
          <p:nvPr/>
        </p:nvSpPr>
        <p:spPr>
          <a:xfrm>
            <a:off x="666750" y="314325"/>
            <a:ext cx="39814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000" dirty="0"/>
          </a:p>
        </p:txBody>
      </p:sp>
      <p:pic>
        <p:nvPicPr>
          <p:cNvPr id="824" name="picture 8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pic>
        <p:nvPicPr>
          <p:cNvPr id="828" name="picture 8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71675"/>
            <a:ext cx="4095750" cy="3448050"/>
          </a:xfrm>
          <a:prstGeom prst="rect">
            <a:avLst/>
          </a:prstGeom>
        </p:spPr>
      </p:pic>
      <p:pic>
        <p:nvPicPr>
          <p:cNvPr id="832" name="picture 8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1724025"/>
            <a:ext cx="3943350" cy="3676650"/>
          </a:xfrm>
          <a:prstGeom prst="rect">
            <a:avLst/>
          </a:prstGeom>
        </p:spPr>
      </p:pic>
      <p:sp>
        <p:nvSpPr>
          <p:cNvPr id="834" name="textbox 834"/>
          <p:cNvSpPr/>
          <p:nvPr/>
        </p:nvSpPr>
        <p:spPr>
          <a:xfrm>
            <a:off x="1752600" y="5743575"/>
            <a:ext cx="256222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翼型表面压力分布</a:t>
            </a:r>
            <a:endParaRPr sz="1800" dirty="0"/>
          </a:p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(AoA=5.0,Mach=0.25)</a:t>
            </a:r>
            <a:endParaRPr sz="1800" dirty="0"/>
          </a:p>
        </p:txBody>
      </p:sp>
      <p:sp>
        <p:nvSpPr>
          <p:cNvPr id="836" name="textbox 836"/>
          <p:cNvSpPr/>
          <p:nvPr/>
        </p:nvSpPr>
        <p:spPr>
          <a:xfrm>
            <a:off x="7658100" y="5743575"/>
            <a:ext cx="256222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翼型表面压力分布误差</a:t>
            </a:r>
            <a:endParaRPr sz="1800" dirty="0"/>
          </a:p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(AoA=5.0,Mach=0.25)</a:t>
            </a:r>
            <a:endParaRPr sz="1800" dirty="0"/>
          </a:p>
        </p:txBody>
      </p:sp>
      <p:sp>
        <p:nvSpPr>
          <p:cNvPr id="838" name="textbox 838"/>
          <p:cNvSpPr/>
          <p:nvPr/>
        </p:nvSpPr>
        <p:spPr>
          <a:xfrm>
            <a:off x="11944350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450" dirty="0">
                <a:solidFill>
                  <a:srgbClr val="CCCC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endParaRPr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picture 8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4" name="textbox 844"/>
          <p:cNvSpPr/>
          <p:nvPr/>
        </p:nvSpPr>
        <p:spPr>
          <a:xfrm>
            <a:off x="666750" y="314325"/>
            <a:ext cx="39909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100" dirty="0"/>
          </a:p>
        </p:txBody>
      </p:sp>
      <p:pic>
        <p:nvPicPr>
          <p:cNvPr id="848" name="picture 8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pic>
        <p:nvPicPr>
          <p:cNvPr id="852" name="picture 8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781175"/>
            <a:ext cx="4010025" cy="3476625"/>
          </a:xfrm>
          <a:prstGeom prst="rect">
            <a:avLst/>
          </a:prstGeom>
        </p:spPr>
      </p:pic>
      <p:pic>
        <p:nvPicPr>
          <p:cNvPr id="856" name="picture 8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781175"/>
            <a:ext cx="3886200" cy="3476625"/>
          </a:xfrm>
          <a:prstGeom prst="rect">
            <a:avLst/>
          </a:prstGeom>
        </p:spPr>
      </p:pic>
      <p:sp>
        <p:nvSpPr>
          <p:cNvPr id="858" name="textbox 858"/>
          <p:cNvSpPr/>
          <p:nvPr/>
        </p:nvSpPr>
        <p:spPr>
          <a:xfrm>
            <a:off x="1828800" y="5734050"/>
            <a:ext cx="266700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90525"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圆柱表面压力分布</a:t>
            </a:r>
            <a:endParaRPr sz="1800" dirty="0"/>
          </a:p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(Reynolds number=54)</a:t>
            </a:r>
            <a:endParaRPr sz="1800" dirty="0"/>
          </a:p>
        </p:txBody>
      </p:sp>
      <p:sp>
        <p:nvSpPr>
          <p:cNvPr id="860" name="textbox 860"/>
          <p:cNvSpPr/>
          <p:nvPr/>
        </p:nvSpPr>
        <p:spPr>
          <a:xfrm>
            <a:off x="7600950" y="5734050"/>
            <a:ext cx="266700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71450"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圆柱表面压力分布误差</a:t>
            </a:r>
            <a:endParaRPr sz="1800" dirty="0"/>
          </a:p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(Reynolds number=54)</a:t>
            </a:r>
            <a:endParaRPr sz="1800" dirty="0"/>
          </a:p>
        </p:txBody>
      </p:sp>
      <p:sp>
        <p:nvSpPr>
          <p:cNvPr id="862" name="textbox 862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DFDFD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picture 8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68" name="textbox 868"/>
          <p:cNvSpPr/>
          <p:nvPr/>
        </p:nvSpPr>
        <p:spPr>
          <a:xfrm>
            <a:off x="666750" y="314325"/>
            <a:ext cx="39814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</a:t>
            </a: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AMGNET</a:t>
            </a:r>
            <a:endParaRPr sz="2000" dirty="0"/>
          </a:p>
        </p:txBody>
      </p:sp>
      <p:pic>
        <p:nvPicPr>
          <p:cNvPr id="872" name="picture 8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874" name="textbox 874"/>
          <p:cNvSpPr/>
          <p:nvPr/>
        </p:nvSpPr>
        <p:spPr>
          <a:xfrm>
            <a:off x="2343150" y="1876425"/>
            <a:ext cx="75057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翼型绕流与圆柱绕流任务测试集上的均方根误差</a:t>
            </a:r>
            <a:endParaRPr sz="2800" dirty="0"/>
          </a:p>
        </p:txBody>
      </p:sp>
      <p:sp>
        <p:nvSpPr>
          <p:cNvPr id="2" name="矩形 1"/>
          <p:cNvSpPr/>
          <p:nvPr/>
        </p:nvSpPr>
        <p:spPr>
          <a:xfrm>
            <a:off x="5068570" y="3816350"/>
            <a:ext cx="6041390" cy="541020"/>
          </a:xfrm>
          <a:prstGeom prst="rect">
            <a:avLst/>
          </a:prstGeom>
          <a:solidFill>
            <a:srgbClr val="FFF7DF"/>
          </a:solidFill>
          <a:ln w="19050">
            <a:solidFill>
              <a:srgbClr val="C71A1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76" name="table 876"/>
          <p:cNvGraphicFramePr>
            <a:graphicFrameLocks noGrp="1"/>
          </p:cNvGraphicFramePr>
          <p:nvPr/>
        </p:nvGraphicFramePr>
        <p:xfrm>
          <a:off x="537210" y="3038475"/>
          <a:ext cx="10797540" cy="2628900"/>
        </p:xfrm>
        <a:graphic>
          <a:graphicData uri="http://schemas.openxmlformats.org/drawingml/2006/table">
            <a:tbl>
              <a:tblPr/>
              <a:tblGrid>
                <a:gridCol w="3034665"/>
                <a:gridCol w="4676775"/>
                <a:gridCol w="3086100"/>
              </a:tblGrid>
              <a:tr h="676275"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Model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Airfoil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Cylinder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TransMPNET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1.0 · 10</a:t>
                      </a:r>
                      <a:r>
                        <a:rPr sz="2600" kern="0" spc="0" baseline="3000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-2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1.4 · 10</a:t>
                      </a:r>
                      <a:r>
                        <a:rPr sz="2600" kern="0" spc="0" baseline="3000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-2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GCN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1.4 · 10</a:t>
                      </a:r>
                      <a:r>
                        <a:rPr sz="26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-2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8.0 · 10</a:t>
                      </a:r>
                      <a:r>
                        <a:rPr sz="26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-2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AMGNET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1.4 · 10</a:t>
                      </a:r>
                      <a:r>
                        <a:rPr sz="26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-2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2.3 · 10</a:t>
                      </a:r>
                      <a:r>
                        <a:rPr sz="26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-2</a:t>
                      </a:r>
                      <a:endParaRPr sz="26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78" name="textbox 878"/>
          <p:cNvSpPr/>
          <p:nvPr/>
        </p:nvSpPr>
        <p:spPr>
          <a:xfrm>
            <a:off x="11934825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75" dirty="0">
                <a:solidFill>
                  <a:srgbClr val="E4E4E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endParaRPr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picture 8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84" name="textbox 884"/>
          <p:cNvSpPr/>
          <p:nvPr/>
        </p:nvSpPr>
        <p:spPr>
          <a:xfrm>
            <a:off x="666750" y="314325"/>
            <a:ext cx="4086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888" name="picture 8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890" name="textbox 890"/>
          <p:cNvSpPr/>
          <p:nvPr/>
        </p:nvSpPr>
        <p:spPr>
          <a:xfrm>
            <a:off x="990600" y="1562100"/>
            <a:ext cx="78200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90525" indent="-352425" algn="l" rtl="0" eaLnBrk="0">
              <a:buChar char="►"/>
            </a:pPr>
            <a:r>
              <a:rPr sz="2800" b="1" kern="0" spc="0" dirty="0">
                <a:solidFill>
                  <a:srgbClr val="006DB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GNN进行非结构网格非定常流场预测存在挑战</a:t>
            </a:r>
            <a:r>
              <a:rPr sz="2800" kern="0" spc="0" dirty="0">
                <a:solidFill>
                  <a:srgbClr val="006DB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sz="2800" dirty="0"/>
          </a:p>
        </p:txBody>
      </p:sp>
      <p:sp>
        <p:nvSpPr>
          <p:cNvPr id="892" name="textbox 892"/>
          <p:cNvSpPr/>
          <p:nvPr/>
        </p:nvSpPr>
        <p:spPr>
          <a:xfrm>
            <a:off x="1447800" y="2152650"/>
            <a:ext cx="765810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GNN消息传递瓶颈：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在密集非结构化网格中效率低下；</a:t>
            </a:r>
            <a:endParaRPr sz="2400" dirty="0"/>
          </a:p>
        </p:txBody>
      </p:sp>
      <p:sp>
        <p:nvSpPr>
          <p:cNvPr id="894" name="textbox 894"/>
          <p:cNvSpPr/>
          <p:nvPr/>
        </p:nvSpPr>
        <p:spPr>
          <a:xfrm>
            <a:off x="1428750" y="2638425"/>
            <a:ext cx="895350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571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长时间预测误差累积：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自回归神经网络长期预测时误差逐步积累。</a:t>
            </a:r>
            <a:endParaRPr sz="2400" dirty="0"/>
          </a:p>
        </p:txBody>
      </p:sp>
      <p:sp>
        <p:nvSpPr>
          <p:cNvPr id="896" name="textbox 896"/>
          <p:cNvSpPr/>
          <p:nvPr/>
        </p:nvSpPr>
        <p:spPr>
          <a:xfrm>
            <a:off x="1000125" y="3724275"/>
            <a:ext cx="39338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76225" algn="l" rtl="0" eaLnBrk="0">
              <a:buChar char="►"/>
            </a:pPr>
            <a:r>
              <a:rPr sz="2800" b="1" kern="0" spc="0" dirty="0">
                <a:solidFill>
                  <a:srgbClr val="0B6C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有限体积图网络FVGN:</a:t>
            </a:r>
            <a:endParaRPr sz="2800" dirty="0"/>
          </a:p>
        </p:txBody>
      </p:sp>
      <p:sp>
        <p:nvSpPr>
          <p:cNvPr id="898" name="textbox 898"/>
          <p:cNvSpPr/>
          <p:nvPr/>
        </p:nvSpPr>
        <p:spPr>
          <a:xfrm>
            <a:off x="1447800" y="4305300"/>
            <a:ext cx="10182225" cy="771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667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物理约束损失函数：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结合FVM设计空间积分策略，将</a:t>
            </a:r>
            <a:r>
              <a:rPr sz="2400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物理规律嵌入数据驱</a:t>
            </a:r>
            <a:endParaRPr sz="2400" dirty="0"/>
          </a:p>
          <a:p>
            <a:pPr marL="276225" algn="l" rtl="0" eaLnBrk="0">
              <a:spcBef>
                <a:spcPts val="750"/>
              </a:spcBef>
            </a:pPr>
            <a:r>
              <a:rPr sz="2400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动的损失函数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400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抑制长时间预测的误差累积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sp>
        <p:nvSpPr>
          <p:cNvPr id="900" name="textbox 900"/>
          <p:cNvSpPr/>
          <p:nvPr/>
        </p:nvSpPr>
        <p:spPr>
          <a:xfrm>
            <a:off x="1447800" y="5248275"/>
            <a:ext cx="10182225" cy="80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571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扩展模板消息传递机制：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融合有限体积法的网格节点与单元中心，在同一</a:t>
            </a:r>
            <a:endParaRPr sz="2400" dirty="0"/>
          </a:p>
          <a:p>
            <a:pPr marL="285750" algn="l" rtl="0" eaLnBrk="0">
              <a:spcBef>
                <a:spcPts val="90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GNN层中实现高效</a:t>
            </a:r>
            <a:r>
              <a:rPr sz="2400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双路径消息传递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，提升</a:t>
            </a:r>
            <a:r>
              <a:rPr sz="2400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几何表示学习能力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sp>
        <p:nvSpPr>
          <p:cNvPr id="902" name="textbox 902"/>
          <p:cNvSpPr/>
          <p:nvPr/>
        </p:nvSpPr>
        <p:spPr>
          <a:xfrm>
            <a:off x="11934825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D7D7D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</a:t>
            </a:r>
            <a:endParaRPr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picture 9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8" name="textbox 908"/>
          <p:cNvSpPr/>
          <p:nvPr/>
        </p:nvSpPr>
        <p:spPr>
          <a:xfrm>
            <a:off x="666750" y="304800"/>
            <a:ext cx="40862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912" name="picture 9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914" name="textbox 914"/>
          <p:cNvSpPr/>
          <p:nvPr/>
        </p:nvSpPr>
        <p:spPr>
          <a:xfrm>
            <a:off x="466725" y="1085850"/>
            <a:ext cx="19335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429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核心思路:</a:t>
            </a:r>
            <a:endParaRPr sz="2800" dirty="0"/>
          </a:p>
        </p:txBody>
      </p:sp>
      <p:sp>
        <p:nvSpPr>
          <p:cNvPr id="916" name="textbox 916"/>
          <p:cNvSpPr/>
          <p:nvPr/>
        </p:nvSpPr>
        <p:spPr>
          <a:xfrm>
            <a:off x="923925" y="1647825"/>
            <a:ext cx="5829300" cy="112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23850" algn="l" rtl="0" eaLnBrk="0">
              <a:buChar char="►"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神经网络预测出单元面中心的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流场通量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，基</a:t>
            </a:r>
            <a:endParaRPr sz="2200" dirty="0"/>
          </a:p>
          <a:p>
            <a:pPr marL="333375" algn="l" rtl="0" eaLnBrk="0">
              <a:spcBef>
                <a:spcPts val="75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有限体积法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，根据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连续性方程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对流通量</a:t>
            </a:r>
            <a:endParaRPr sz="2200" dirty="0"/>
          </a:p>
          <a:p>
            <a:pPr marL="333375" algn="l" rtl="0" eaLnBrk="0">
              <a:spcBef>
                <a:spcPts val="75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扩散通量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单元中心值（控制点值）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00" dirty="0"/>
          </a:p>
        </p:txBody>
      </p:sp>
      <p:sp>
        <p:nvSpPr>
          <p:cNvPr id="918" name="textbox 918"/>
          <p:cNvSpPr/>
          <p:nvPr/>
        </p:nvSpPr>
        <p:spPr>
          <a:xfrm>
            <a:off x="7048500" y="1562100"/>
            <a:ext cx="4686300" cy="1152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23850" algn="l" rtl="0" eaLnBrk="0">
              <a:buChar char="►"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Cell中心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Edge中心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的消息传</a:t>
            </a:r>
            <a:endParaRPr sz="2200" dirty="0"/>
          </a:p>
          <a:p>
            <a:pPr marL="342900" algn="l" rtl="0" eaLnBrk="0">
              <a:spcBef>
                <a:spcPts val="75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递机制，提高神经网络</a:t>
            </a: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几何表示学</a:t>
            </a:r>
            <a:endParaRPr sz="2200" dirty="0"/>
          </a:p>
          <a:p>
            <a:pPr marL="323850" algn="l" rtl="0" eaLnBrk="0">
              <a:spcBef>
                <a:spcPts val="750"/>
              </a:spcBef>
            </a:pPr>
            <a:r>
              <a:rPr sz="22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习能力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00" dirty="0"/>
          </a:p>
        </p:txBody>
      </p:sp>
      <p:pic>
        <p:nvPicPr>
          <p:cNvPr id="922" name="picture 9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2952750"/>
            <a:ext cx="6343650" cy="3771900"/>
          </a:xfrm>
          <a:prstGeom prst="rect">
            <a:avLst/>
          </a:prstGeom>
        </p:spPr>
      </p:pic>
      <p:sp>
        <p:nvSpPr>
          <p:cNvPr id="924" name="textbox 924"/>
          <p:cNvSpPr/>
          <p:nvPr/>
        </p:nvSpPr>
        <p:spPr>
          <a:xfrm>
            <a:off x="5276850" y="3162300"/>
            <a:ext cx="10668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Train phase</a:t>
            </a:r>
            <a:endParaRPr sz="1600" dirty="0"/>
          </a:p>
        </p:txBody>
      </p:sp>
      <p:sp>
        <p:nvSpPr>
          <p:cNvPr id="926" name="textbox 926"/>
          <p:cNvSpPr/>
          <p:nvPr/>
        </p:nvSpPr>
        <p:spPr>
          <a:xfrm>
            <a:off x="1200150" y="3286125"/>
            <a:ext cx="98107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Train Data</a:t>
            </a:r>
            <a:endParaRPr sz="1600" dirty="0"/>
          </a:p>
        </p:txBody>
      </p:sp>
      <p:sp>
        <p:nvSpPr>
          <p:cNvPr id="928" name="textbox 928"/>
          <p:cNvSpPr/>
          <p:nvPr/>
        </p:nvSpPr>
        <p:spPr>
          <a:xfrm>
            <a:off x="3019425" y="3876675"/>
            <a:ext cx="109537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FVGN blocks…</a:t>
            </a:r>
            <a:endParaRPr sz="1200" dirty="0"/>
          </a:p>
        </p:txBody>
      </p:sp>
      <p:sp>
        <p:nvSpPr>
          <p:cNvPr id="930" name="textbox 930"/>
          <p:cNvSpPr/>
          <p:nvPr/>
        </p:nvSpPr>
        <p:spPr>
          <a:xfrm>
            <a:off x="1190625" y="3886200"/>
            <a:ext cx="9048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 Input</a:t>
            </a:r>
            <a:endParaRPr sz="1200" dirty="0"/>
          </a:p>
        </p:txBody>
      </p:sp>
      <p:sp>
        <p:nvSpPr>
          <p:cNvPr id="932" name="textbox 932"/>
          <p:cNvSpPr/>
          <p:nvPr/>
        </p:nvSpPr>
        <p:spPr>
          <a:xfrm>
            <a:off x="3181350" y="4686300"/>
            <a:ext cx="76200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FVM Loss</a:t>
            </a:r>
            <a:endParaRPr sz="1200" dirty="0"/>
          </a:p>
        </p:txBody>
      </p:sp>
      <p:sp>
        <p:nvSpPr>
          <p:cNvPr id="934" name="textbox 934"/>
          <p:cNvSpPr/>
          <p:nvPr/>
        </p:nvSpPr>
        <p:spPr>
          <a:xfrm>
            <a:off x="1114425" y="4695825"/>
            <a:ext cx="10382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Ground Truth</a:t>
            </a:r>
            <a:endParaRPr sz="1200" dirty="0"/>
          </a:p>
        </p:txBody>
      </p:sp>
      <p:sp>
        <p:nvSpPr>
          <p:cNvPr id="936" name="textbox 936"/>
          <p:cNvSpPr/>
          <p:nvPr/>
        </p:nvSpPr>
        <p:spPr>
          <a:xfrm>
            <a:off x="5010150" y="4695825"/>
            <a:ext cx="4095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Pred</a:t>
            </a:r>
            <a:endParaRPr sz="1400" dirty="0"/>
          </a:p>
        </p:txBody>
      </p:sp>
      <p:sp>
        <p:nvSpPr>
          <p:cNvPr id="938" name="textbox 938"/>
          <p:cNvSpPr/>
          <p:nvPr/>
        </p:nvSpPr>
        <p:spPr>
          <a:xfrm>
            <a:off x="5314950" y="5467350"/>
            <a:ext cx="10096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Test phase</a:t>
            </a:r>
            <a:endParaRPr sz="1700" dirty="0"/>
          </a:p>
        </p:txBody>
      </p:sp>
      <p:sp>
        <p:nvSpPr>
          <p:cNvPr id="940" name="textbox 940"/>
          <p:cNvSpPr/>
          <p:nvPr/>
        </p:nvSpPr>
        <p:spPr>
          <a:xfrm>
            <a:off x="1181100" y="5695950"/>
            <a:ext cx="8953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Test Data</a:t>
            </a:r>
            <a:endParaRPr sz="1600" dirty="0"/>
          </a:p>
        </p:txBody>
      </p:sp>
      <p:sp>
        <p:nvSpPr>
          <p:cNvPr id="942" name="textbox 942"/>
          <p:cNvSpPr/>
          <p:nvPr/>
        </p:nvSpPr>
        <p:spPr>
          <a:xfrm>
            <a:off x="1190625" y="6067425"/>
            <a:ext cx="9144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 Input</a:t>
            </a:r>
            <a:endParaRPr sz="1200" dirty="0"/>
          </a:p>
        </p:txBody>
      </p:sp>
      <p:sp>
        <p:nvSpPr>
          <p:cNvPr id="944" name="textbox 944"/>
          <p:cNvSpPr/>
          <p:nvPr/>
        </p:nvSpPr>
        <p:spPr>
          <a:xfrm>
            <a:off x="3028950" y="6067425"/>
            <a:ext cx="109537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b="1" kern="0" spc="0" dirty="0">
                <a:solidFill>
                  <a:srgbClr val="1D1D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FVGN blocks…</a:t>
            </a:r>
            <a:endParaRPr sz="1200" dirty="0"/>
          </a:p>
        </p:txBody>
      </p:sp>
      <p:sp>
        <p:nvSpPr>
          <p:cNvPr id="946" name="textbox 946"/>
          <p:cNvSpPr/>
          <p:nvPr/>
        </p:nvSpPr>
        <p:spPr>
          <a:xfrm>
            <a:off x="5029200" y="6086475"/>
            <a:ext cx="39052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Pred</a:t>
            </a:r>
            <a:endParaRPr sz="1400" dirty="0"/>
          </a:p>
        </p:txBody>
      </p:sp>
      <p:pic>
        <p:nvPicPr>
          <p:cNvPr id="950" name="picture 9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3657600"/>
            <a:ext cx="2514600" cy="2743200"/>
          </a:xfrm>
          <a:prstGeom prst="rect">
            <a:avLst/>
          </a:prstGeom>
        </p:spPr>
      </p:pic>
      <p:pic>
        <p:nvPicPr>
          <p:cNvPr id="954" name="picture 9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657600"/>
            <a:ext cx="2514600" cy="2743200"/>
          </a:xfrm>
          <a:prstGeom prst="rect">
            <a:avLst/>
          </a:prstGeom>
        </p:spPr>
      </p:pic>
      <p:sp>
        <p:nvSpPr>
          <p:cNvPr id="956" name="textbox 956"/>
          <p:cNvSpPr/>
          <p:nvPr/>
        </p:nvSpPr>
        <p:spPr>
          <a:xfrm>
            <a:off x="11934825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C7C7C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</a:t>
            </a:r>
            <a:endParaRPr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picture 9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62" name="textbox 962"/>
          <p:cNvSpPr/>
          <p:nvPr/>
        </p:nvSpPr>
        <p:spPr>
          <a:xfrm>
            <a:off x="666750" y="304800"/>
            <a:ext cx="40862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966" name="picture 9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968" name="textbox 968"/>
          <p:cNvSpPr/>
          <p:nvPr/>
        </p:nvSpPr>
        <p:spPr>
          <a:xfrm>
            <a:off x="695325" y="1285875"/>
            <a:ext cx="19335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核心步骤:</a:t>
            </a:r>
            <a:endParaRPr sz="2800" dirty="0"/>
          </a:p>
        </p:txBody>
      </p:sp>
      <p:sp>
        <p:nvSpPr>
          <p:cNvPr id="970" name="textbox 970"/>
          <p:cNvSpPr/>
          <p:nvPr/>
        </p:nvSpPr>
        <p:spPr>
          <a:xfrm>
            <a:off x="1143000" y="1866900"/>
            <a:ext cx="61055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GNN：解码出控制体边界面上的通量Flux;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2" name="textbox 972"/>
              <p:cNvSpPr/>
              <p:nvPr/>
            </p:nvSpPr>
            <p:spPr>
              <a:xfrm>
                <a:off x="9191625" y="1847850"/>
                <a:ext cx="2600325" cy="12096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/>
                          </m:ctrlPr>
                        </m:eqArrPr>
                        <m:e>
                          <m:nary>
                            <m:naryPr>
                              <m:limLoc m:val="subSup"/>
                              <m:supHide m:val="on"/>
                              <m:ctrlPr>
                                <a:rPr/>
                              </m:ctrlPr>
                            </m:naryPr>
                            <m:sub>
                              <m: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𝛺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/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/>
                                      </m:ctrlPr>
                                    </m:sSupPr>
                                    <m:e>
                                      <m: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𝐮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t</m:t>
                                      </m:r>
                                      <m: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d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/>
                                      </m:ctrlPr>
                                    </m:sSupPr>
                                    <m:e>
                                      <m: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𝐮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3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t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△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t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V</m:t>
                              </m:r>
                              <m: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=</m:t>
                              </m:r>
                            </m:e>
                          </m:nary>
                        </m:e>
                        <m:e>
                          <m:nary>
                            <m:naryPr>
                              <m:limLoc m:val="subSup"/>
                              <m:supHide m:val="on"/>
                              <m:ctrlPr>
                                <a:rPr/>
                              </m:ctrlPr>
                            </m:naryPr>
                            <m:sub>
                              <m: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𝜕</m:t>
                              </m:r>
                              <m: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𝛺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t</m:t>
                                  </m:r>
                                  <m: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d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3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S</m:t>
                              </m:r>
                            </m:e>
                          </m:nary>
                        </m:e>
                      </m:eqArr>
                    </m:oMath>
                  </m:oMathPara>
                </a14:m>
                <a:endParaRPr sz="600" dirty="0"/>
              </a:p>
            </p:txBody>
          </p:sp>
        </mc:Choice>
        <mc:Fallback>
          <p:sp>
            <p:nvSpPr>
              <p:cNvPr id="972" name="textbox 9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25" y="1847850"/>
                <a:ext cx="2600325" cy="1209675"/>
              </a:xfrm>
              <a:prstGeom prst="rect">
                <a:avLst/>
              </a:prstGeom>
              <a:blipFill rotWithShape="1">
                <a:blip r:embed="rId3"/>
                <a:stretch>
                  <a:fillRect r="-12576" b="-1322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4" name="textbox 974"/>
          <p:cNvSpPr/>
          <p:nvPr/>
        </p:nvSpPr>
        <p:spPr>
          <a:xfrm>
            <a:off x="1123950" y="2371725"/>
            <a:ext cx="71437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90525" indent="-3429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FVM：空间积分层，求解NS方程，施加物理约束；</a:t>
            </a:r>
            <a:endParaRPr sz="2400" dirty="0"/>
          </a:p>
        </p:txBody>
      </p:sp>
      <p:sp>
        <p:nvSpPr>
          <p:cNvPr id="976" name="textbox 976"/>
          <p:cNvSpPr/>
          <p:nvPr/>
        </p:nvSpPr>
        <p:spPr>
          <a:xfrm>
            <a:off x="1143000" y="2895600"/>
            <a:ext cx="57150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429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Loss: 控制点值与训练样本数据的差值。</a:t>
            </a:r>
            <a:endParaRPr sz="2400" dirty="0"/>
          </a:p>
        </p:txBody>
      </p:sp>
      <p:pic>
        <p:nvPicPr>
          <p:cNvPr id="980" name="picture 9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3486150"/>
            <a:ext cx="10191750" cy="2838450"/>
          </a:xfrm>
          <a:prstGeom prst="rect">
            <a:avLst/>
          </a:prstGeom>
        </p:spPr>
      </p:pic>
      <p:sp>
        <p:nvSpPr>
          <p:cNvPr id="982" name="textbox 982"/>
          <p:cNvSpPr/>
          <p:nvPr/>
        </p:nvSpPr>
        <p:spPr>
          <a:xfrm>
            <a:off x="1371600" y="3590925"/>
            <a:ext cx="35242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b="1" kern="0" spc="0" dirty="0">
                <a:solidFill>
                  <a:srgbClr val="4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endParaRPr sz="1500" dirty="0"/>
          </a:p>
        </p:txBody>
      </p:sp>
      <p:sp>
        <p:nvSpPr>
          <p:cNvPr id="984" name="textbox 984"/>
          <p:cNvSpPr/>
          <p:nvPr/>
        </p:nvSpPr>
        <p:spPr>
          <a:xfrm>
            <a:off x="6534150" y="3867150"/>
            <a:ext cx="114300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47494B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Decode on edge</a:t>
            </a:r>
            <a:endParaRPr sz="1300" dirty="0"/>
          </a:p>
        </p:txBody>
      </p:sp>
      <p:sp>
        <p:nvSpPr>
          <p:cNvPr id="986" name="textbox 986"/>
          <p:cNvSpPr/>
          <p:nvPr/>
        </p:nvSpPr>
        <p:spPr>
          <a:xfrm>
            <a:off x="2590800" y="3876675"/>
            <a:ext cx="175260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 Var. at cell &amp; edge</a:t>
            </a:r>
            <a:endParaRPr sz="1300" dirty="0"/>
          </a:p>
        </p:txBody>
      </p:sp>
      <p:sp>
        <p:nvSpPr>
          <p:cNvPr id="988" name="textbox 988"/>
          <p:cNvSpPr/>
          <p:nvPr/>
        </p:nvSpPr>
        <p:spPr>
          <a:xfrm>
            <a:off x="8915400" y="3876675"/>
            <a:ext cx="11144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Integrate to cell</a:t>
            </a:r>
            <a:endParaRPr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0" name="textbox 990"/>
              <p:cNvSpPr/>
              <p:nvPr/>
            </p:nvSpPr>
            <p:spPr>
              <a:xfrm>
                <a:off x="1428750" y="4295775"/>
                <a:ext cx="257175" cy="2381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990" name="textbox 9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4295775"/>
                <a:ext cx="257175" cy="238125"/>
              </a:xfrm>
              <a:prstGeom prst="rect">
                <a:avLst/>
              </a:prstGeom>
              <a:blipFill rotWithShape="1">
                <a:blip r:embed="rId5"/>
                <a:stretch>
                  <a:fillRect r="-3210" b="-2853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2" name="textbox 992"/>
          <p:cNvSpPr/>
          <p:nvPr/>
        </p:nvSpPr>
        <p:spPr>
          <a:xfrm>
            <a:off x="9648825" y="4352925"/>
            <a:ext cx="3333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flux</a:t>
            </a:r>
            <a:endParaRPr sz="1200" dirty="0"/>
          </a:p>
        </p:txBody>
      </p:sp>
      <p:sp>
        <p:nvSpPr>
          <p:cNvPr id="994" name="textbox 994"/>
          <p:cNvSpPr/>
          <p:nvPr/>
        </p:nvSpPr>
        <p:spPr>
          <a:xfrm>
            <a:off x="10991850" y="4352925"/>
            <a:ext cx="3333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endParaRPr sz="1500" dirty="0"/>
          </a:p>
        </p:txBody>
      </p:sp>
      <p:sp>
        <p:nvSpPr>
          <p:cNvPr id="996" name="textbox 996"/>
          <p:cNvSpPr/>
          <p:nvPr/>
        </p:nvSpPr>
        <p:spPr>
          <a:xfrm>
            <a:off x="4953000" y="4810125"/>
            <a:ext cx="6477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GNN</a:t>
            </a:r>
            <a:endParaRPr sz="2100" dirty="0"/>
          </a:p>
        </p:txBody>
      </p:sp>
      <p:sp>
        <p:nvSpPr>
          <p:cNvPr id="998" name="textbox 998"/>
          <p:cNvSpPr/>
          <p:nvPr/>
        </p:nvSpPr>
        <p:spPr>
          <a:xfrm>
            <a:off x="5800725" y="4857750"/>
            <a:ext cx="27622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76200" indent="-76200" algn="l" rtl="0" eaLnBrk="0">
              <a:buChar char="•"/>
            </a:pPr>
            <a:r>
              <a:rPr sz="800" kern="0" spc="0" dirty="0">
                <a:solidFill>
                  <a:srgbClr val="CCC9C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后三</a:t>
            </a:r>
            <a:endParaRPr sz="800" dirty="0"/>
          </a:p>
        </p:txBody>
      </p:sp>
      <p:sp>
        <p:nvSpPr>
          <p:cNvPr id="1000" name="textbox 1000"/>
          <p:cNvSpPr/>
          <p:nvPr/>
        </p:nvSpPr>
        <p:spPr>
          <a:xfrm>
            <a:off x="8553450" y="4972050"/>
            <a:ext cx="3429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flux</a:t>
            </a:r>
            <a:endParaRPr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2" name="textbox 1002"/>
              <p:cNvSpPr/>
              <p:nvPr/>
            </p:nvSpPr>
            <p:spPr>
              <a:xfrm>
                <a:off x="10953750" y="5010150"/>
                <a:ext cx="438150" cy="2952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002" name="textbox 10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750" y="5010150"/>
                <a:ext cx="438150" cy="295275"/>
              </a:xfrm>
              <a:prstGeom prst="rect">
                <a:avLst/>
              </a:prstGeom>
              <a:blipFill rotWithShape="1">
                <a:blip r:embed="rId6"/>
                <a:stretch>
                  <a:fillRect r="-58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4" name="textbox 1004"/>
          <p:cNvSpPr/>
          <p:nvPr/>
        </p:nvSpPr>
        <p:spPr>
          <a:xfrm>
            <a:off x="1343025" y="5038725"/>
            <a:ext cx="41910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edge</a:t>
            </a:r>
            <a:endParaRPr sz="1500" dirty="0"/>
          </a:p>
        </p:txBody>
      </p:sp>
      <p:sp>
        <p:nvSpPr>
          <p:cNvPr id="1006" name="textbox 1006"/>
          <p:cNvSpPr/>
          <p:nvPr/>
        </p:nvSpPr>
        <p:spPr>
          <a:xfrm>
            <a:off x="9715500" y="5467350"/>
            <a:ext cx="31432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flux</a:t>
            </a:r>
            <a:endParaRPr sz="1200" dirty="0"/>
          </a:p>
        </p:txBody>
      </p:sp>
      <p:sp>
        <p:nvSpPr>
          <p:cNvPr id="1008" name="textbox 1008"/>
          <p:cNvSpPr/>
          <p:nvPr/>
        </p:nvSpPr>
        <p:spPr>
          <a:xfrm rot="1378239">
            <a:off x="1314450" y="5581650"/>
            <a:ext cx="5524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cij</a:t>
            </a:r>
            <a:endParaRPr sz="2000" dirty="0"/>
          </a:p>
        </p:txBody>
      </p:sp>
      <p:sp>
        <p:nvSpPr>
          <p:cNvPr id="1010" name="textbox 1010"/>
          <p:cNvSpPr/>
          <p:nvPr/>
        </p:nvSpPr>
        <p:spPr>
          <a:xfrm>
            <a:off x="3590925" y="6381750"/>
            <a:ext cx="28670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神经网络预测单元面Flux</a:t>
            </a:r>
            <a:endParaRPr sz="2000" dirty="0"/>
          </a:p>
        </p:txBody>
      </p:sp>
      <p:sp>
        <p:nvSpPr>
          <p:cNvPr id="1012" name="textbox 1012"/>
          <p:cNvSpPr/>
          <p:nvPr/>
        </p:nvSpPr>
        <p:spPr>
          <a:xfrm>
            <a:off x="8153400" y="6381750"/>
            <a:ext cx="240030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FVM求解单元中心值</a:t>
            </a:r>
            <a:endParaRPr sz="2000" dirty="0"/>
          </a:p>
        </p:txBody>
      </p:sp>
      <p:sp>
        <p:nvSpPr>
          <p:cNvPr id="1014" name="textbox 1014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CCC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</a:t>
            </a:r>
            <a:endParaRPr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picture 10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0" name="textbox 1020"/>
          <p:cNvSpPr/>
          <p:nvPr/>
        </p:nvSpPr>
        <p:spPr>
          <a:xfrm>
            <a:off x="657225" y="304800"/>
            <a:ext cx="40957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95275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024" name="picture 1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026" name="textbox 1026"/>
          <p:cNvSpPr/>
          <p:nvPr/>
        </p:nvSpPr>
        <p:spPr>
          <a:xfrm>
            <a:off x="704850" y="1162050"/>
            <a:ext cx="106299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429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FGVN vs MGN：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FVGN涉及单元中心值，且由FVM求得，引入物理约束</a:t>
            </a:r>
            <a:endParaRPr sz="2800" dirty="0"/>
          </a:p>
        </p:txBody>
      </p:sp>
      <p:sp>
        <p:nvSpPr>
          <p:cNvPr id="1028" name="textbox 1028"/>
          <p:cNvSpPr/>
          <p:nvPr/>
        </p:nvSpPr>
        <p:spPr>
          <a:xfrm>
            <a:off x="3667125" y="1800225"/>
            <a:ext cx="64770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 V G N</a:t>
            </a:r>
            <a:endParaRPr sz="1400" dirty="0"/>
          </a:p>
        </p:txBody>
      </p:sp>
      <p:sp>
        <p:nvSpPr>
          <p:cNvPr id="1030" name="textbox 1030"/>
          <p:cNvSpPr/>
          <p:nvPr/>
        </p:nvSpPr>
        <p:spPr>
          <a:xfrm>
            <a:off x="7753350" y="1771650"/>
            <a:ext cx="118110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MeshGraphNets</a:t>
            </a:r>
            <a:endParaRPr sz="1400" dirty="0"/>
          </a:p>
        </p:txBody>
      </p:sp>
      <p:pic>
        <p:nvPicPr>
          <p:cNvPr id="1034" name="picture 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200275"/>
            <a:ext cx="1704975" cy="1857375"/>
          </a:xfrm>
          <a:prstGeom prst="rect">
            <a:avLst/>
          </a:prstGeom>
        </p:spPr>
      </p:pic>
      <p:pic>
        <p:nvPicPr>
          <p:cNvPr id="1038" name="picture 10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675" y="2200275"/>
            <a:ext cx="1704975" cy="1857375"/>
          </a:xfrm>
          <a:prstGeom prst="rect">
            <a:avLst/>
          </a:prstGeom>
        </p:spPr>
      </p:pic>
      <p:pic>
        <p:nvPicPr>
          <p:cNvPr id="1042" name="picture 10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200275"/>
            <a:ext cx="1714500" cy="1857375"/>
          </a:xfrm>
          <a:prstGeom prst="rect">
            <a:avLst/>
          </a:prstGeom>
        </p:spPr>
      </p:pic>
      <p:pic>
        <p:nvPicPr>
          <p:cNvPr id="1046" name="picture 10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6325" y="2200275"/>
            <a:ext cx="1714500" cy="1857375"/>
          </a:xfrm>
          <a:prstGeom prst="rect">
            <a:avLst/>
          </a:prstGeom>
        </p:spPr>
      </p:pic>
      <p:sp>
        <p:nvSpPr>
          <p:cNvPr id="1048" name="textbox 1048"/>
          <p:cNvSpPr/>
          <p:nvPr/>
        </p:nvSpPr>
        <p:spPr>
          <a:xfrm>
            <a:off x="2105025" y="4152900"/>
            <a:ext cx="198120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66675"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Vertex-centered control volume</a:t>
            </a:r>
            <a:endParaRPr sz="1100" dirty="0"/>
          </a:p>
          <a:p>
            <a:pPr algn="l" rtl="0" eaLnBrk="0">
              <a:spcBef>
                <a:spcPts val="750"/>
              </a:spcBef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Cell-centered control volume</a:t>
            </a:r>
            <a:endParaRPr sz="1100" dirty="0"/>
          </a:p>
        </p:txBody>
      </p:sp>
      <p:sp>
        <p:nvSpPr>
          <p:cNvPr id="1050" name="textbox 1050"/>
          <p:cNvSpPr/>
          <p:nvPr/>
        </p:nvSpPr>
        <p:spPr>
          <a:xfrm>
            <a:off x="1943100" y="4686300"/>
            <a:ext cx="113347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57175" algn="l" rtl="0" eaLnBrk="0">
              <a:buChar char="•"/>
            </a:pPr>
            <a:r>
              <a:rPr sz="1100" kern="0" spc="0" dirty="0">
                <a:solidFill>
                  <a:srgbClr val="3B383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 attributes</a:t>
            </a:r>
            <a:endParaRPr sz="1100" dirty="0"/>
          </a:p>
        </p:txBody>
      </p:sp>
      <p:sp>
        <p:nvSpPr>
          <p:cNvPr id="1052" name="textbox 1052"/>
          <p:cNvSpPr/>
          <p:nvPr/>
        </p:nvSpPr>
        <p:spPr>
          <a:xfrm>
            <a:off x="1943100" y="4933950"/>
            <a:ext cx="202882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76225" algn="l" rtl="0" eaLnBrk="0">
              <a:buChar char="►"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Unidirectional edge attributes</a:t>
            </a:r>
            <a:endParaRPr sz="1200" dirty="0"/>
          </a:p>
        </p:txBody>
      </p:sp>
      <p:sp>
        <p:nvSpPr>
          <p:cNvPr id="1054" name="textbox 1054"/>
          <p:cNvSpPr/>
          <p:nvPr/>
        </p:nvSpPr>
        <p:spPr>
          <a:xfrm>
            <a:off x="1952625" y="5219700"/>
            <a:ext cx="23241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Aggregate edge attributes per node</a:t>
            </a:r>
            <a:endParaRPr sz="1200" dirty="0"/>
          </a:p>
        </p:txBody>
      </p:sp>
      <p:sp>
        <p:nvSpPr>
          <p:cNvPr id="1056" name="textbox 1056"/>
          <p:cNvSpPr/>
          <p:nvPr/>
        </p:nvSpPr>
        <p:spPr>
          <a:xfrm>
            <a:off x="1962150" y="5495925"/>
            <a:ext cx="22574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3B5F2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 </a:t>
            </a:r>
            <a:r>
              <a:rPr sz="1100" kern="0" spc="0" dirty="0">
                <a:solidFill>
                  <a:srgbClr val="181717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Aggregate node attributes per cell</a:t>
            </a:r>
            <a:endParaRPr sz="1100" dirty="0"/>
          </a:p>
        </p:txBody>
      </p:sp>
      <p:sp>
        <p:nvSpPr>
          <p:cNvPr id="1058" name="textbox 1058"/>
          <p:cNvSpPr/>
          <p:nvPr/>
        </p:nvSpPr>
        <p:spPr>
          <a:xfrm>
            <a:off x="2057400" y="5791200"/>
            <a:ext cx="211455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249087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Compute updated edge attributes</a:t>
            </a:r>
            <a:endParaRPr sz="1100" dirty="0"/>
          </a:p>
        </p:txBody>
      </p:sp>
      <p:sp>
        <p:nvSpPr>
          <p:cNvPr id="1060" name="textbox 1060"/>
          <p:cNvSpPr/>
          <p:nvPr/>
        </p:nvSpPr>
        <p:spPr>
          <a:xfrm>
            <a:off x="2190750" y="6057900"/>
            <a:ext cx="18859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Two grids Share the same edge</a:t>
            </a:r>
            <a:endParaRPr sz="1200" dirty="0"/>
          </a:p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attributes</a:t>
            </a:r>
            <a:endParaRPr sz="1200" dirty="0"/>
          </a:p>
        </p:txBody>
      </p:sp>
      <p:pic>
        <p:nvPicPr>
          <p:cNvPr id="1064" name="picture 10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4825" y="4124325"/>
            <a:ext cx="1647825" cy="2257425"/>
          </a:xfrm>
          <a:prstGeom prst="rect">
            <a:avLst/>
          </a:prstGeom>
        </p:spPr>
      </p:pic>
      <p:sp>
        <p:nvSpPr>
          <p:cNvPr id="1066" name="textbox 1066"/>
          <p:cNvSpPr/>
          <p:nvPr/>
        </p:nvSpPr>
        <p:spPr>
          <a:xfrm>
            <a:off x="6286500" y="4171950"/>
            <a:ext cx="195262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28600" indent="-228600" algn="l" rtl="0" eaLnBrk="0">
              <a:buChar char="►"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Cell-centered control volume</a:t>
            </a:r>
            <a:endParaRPr sz="1100" dirty="0"/>
          </a:p>
        </p:txBody>
      </p:sp>
      <p:sp>
        <p:nvSpPr>
          <p:cNvPr id="1068" name="textbox 1068"/>
          <p:cNvSpPr/>
          <p:nvPr/>
        </p:nvSpPr>
        <p:spPr>
          <a:xfrm>
            <a:off x="6286500" y="4667250"/>
            <a:ext cx="11620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47650" indent="-238125" algn="l" rtl="0" eaLnBrk="0">
              <a:buChar char="•"/>
            </a:pPr>
            <a:r>
              <a:rPr sz="1100" kern="0" spc="0" dirty="0">
                <a:solidFill>
                  <a:srgbClr val="181717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Node attributes</a:t>
            </a:r>
            <a:endParaRPr sz="1100" dirty="0"/>
          </a:p>
        </p:txBody>
      </p:sp>
      <p:sp>
        <p:nvSpPr>
          <p:cNvPr id="1070" name="textbox 1070"/>
          <p:cNvSpPr/>
          <p:nvPr/>
        </p:nvSpPr>
        <p:spPr>
          <a:xfrm>
            <a:off x="6286500" y="5114925"/>
            <a:ext cx="191452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47650" indent="-238125" algn="l" rtl="0" eaLnBrk="0">
              <a:buChar char="►"/>
            </a:pPr>
            <a:r>
              <a:rPr sz="1200" b="1" kern="0" spc="0" dirty="0">
                <a:solidFill>
                  <a:srgbClr val="4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Bidirectional edge attributes</a:t>
            </a:r>
            <a:endParaRPr sz="1200" dirty="0"/>
          </a:p>
        </p:txBody>
      </p:sp>
      <p:sp>
        <p:nvSpPr>
          <p:cNvPr id="1072" name="textbox 1072"/>
          <p:cNvSpPr/>
          <p:nvPr/>
        </p:nvSpPr>
        <p:spPr>
          <a:xfrm>
            <a:off x="6477000" y="5600700"/>
            <a:ext cx="21336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76200" algn="l" rtl="0" eaLnBrk="0">
              <a:buChar char="•"/>
            </a:pPr>
            <a:r>
              <a:rPr sz="1100" b="1" kern="0" spc="0" dirty="0">
                <a:solidFill>
                  <a:srgbClr val="3B383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Aggregate edge attributes per node</a:t>
            </a:r>
            <a:endParaRPr sz="1100" dirty="0"/>
          </a:p>
        </p:txBody>
      </p:sp>
      <p:sp>
        <p:nvSpPr>
          <p:cNvPr id="1074" name="textbox 1074"/>
          <p:cNvSpPr/>
          <p:nvPr/>
        </p:nvSpPr>
        <p:spPr>
          <a:xfrm>
            <a:off x="6515100" y="6029325"/>
            <a:ext cx="199072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Compute updated edge attributes</a:t>
            </a:r>
            <a:endParaRPr sz="1100" dirty="0"/>
          </a:p>
        </p:txBody>
      </p:sp>
      <p:pic>
        <p:nvPicPr>
          <p:cNvPr id="1078" name="picture 10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900" y="4124325"/>
            <a:ext cx="1695450" cy="2257425"/>
          </a:xfrm>
          <a:prstGeom prst="rect">
            <a:avLst/>
          </a:prstGeom>
        </p:spPr>
      </p:pic>
      <p:sp>
        <p:nvSpPr>
          <p:cNvPr id="1080" name="textbox 1080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D0D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</a:t>
            </a:r>
            <a:endParaRPr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picture 10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86" name="textbox 1086"/>
          <p:cNvSpPr/>
          <p:nvPr/>
        </p:nvSpPr>
        <p:spPr>
          <a:xfrm>
            <a:off x="666750" y="314325"/>
            <a:ext cx="4086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090" name="picture 10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092" name="textbox 1092"/>
          <p:cNvSpPr/>
          <p:nvPr/>
        </p:nvSpPr>
        <p:spPr>
          <a:xfrm>
            <a:off x="904875" y="1152525"/>
            <a:ext cx="28860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61950" indent="-304800" algn="l" rtl="0" eaLnBrk="0">
              <a:buChar char="►"/>
            </a:pPr>
            <a:r>
              <a:rPr sz="2800" b="1" kern="0" spc="0" dirty="0">
                <a:solidFill>
                  <a:srgbClr val="0C6E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模型训练数据集</a:t>
            </a:r>
            <a:endParaRPr sz="2800" dirty="0"/>
          </a:p>
        </p:txBody>
      </p:sp>
      <p:sp>
        <p:nvSpPr>
          <p:cNvPr id="1094" name="textbox 1094"/>
          <p:cNvSpPr/>
          <p:nvPr/>
        </p:nvSpPr>
        <p:spPr>
          <a:xfrm>
            <a:off x="1381125" y="1724025"/>
            <a:ext cx="68675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三个外形：圆柱、翼型和方柱（测试几何泛化性）</a:t>
            </a:r>
            <a:endParaRPr sz="2400" dirty="0"/>
          </a:p>
        </p:txBody>
      </p:sp>
      <p:sp>
        <p:nvSpPr>
          <p:cNvPr id="1096" name="textbox 1096"/>
          <p:cNvSpPr/>
          <p:nvPr/>
        </p:nvSpPr>
        <p:spPr>
          <a:xfrm>
            <a:off x="1371600" y="2238375"/>
            <a:ext cx="523875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两个数据集：单独圆柱；三外形混合</a:t>
            </a:r>
            <a:endParaRPr sz="2400" dirty="0"/>
          </a:p>
        </p:txBody>
      </p:sp>
      <p:graphicFrame>
        <p:nvGraphicFramePr>
          <p:cNvPr id="1098" name="table 1098"/>
          <p:cNvGraphicFramePr>
            <a:graphicFrameLocks noGrp="1"/>
          </p:cNvGraphicFramePr>
          <p:nvPr/>
        </p:nvGraphicFramePr>
        <p:xfrm>
          <a:off x="438150" y="2905125"/>
          <a:ext cx="11496675" cy="2981325"/>
        </p:xfrm>
        <a:graphic>
          <a:graphicData uri="http://schemas.openxmlformats.org/drawingml/2006/table">
            <a:tbl>
              <a:tblPr/>
              <a:tblGrid>
                <a:gridCol w="1828800"/>
                <a:gridCol w="1362075"/>
                <a:gridCol w="942975"/>
                <a:gridCol w="1381125"/>
                <a:gridCol w="1152525"/>
                <a:gridCol w="1381125"/>
                <a:gridCol w="1038225"/>
                <a:gridCol w="1838325"/>
                <a:gridCol w="571500"/>
              </a:tblGrid>
              <a:tr h="1495425">
                <a:tc>
                  <a:txBody>
                    <a:bodyPr/>
                    <a:lstStyle/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Dataset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Case</a:t>
                      </a:r>
                      <a:endParaRPr sz="1800" dirty="0"/>
                    </a:p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amount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Time</a:t>
                      </a:r>
                      <a:endParaRPr sz="1800" dirty="0"/>
                    </a:p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steps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Elements</a:t>
                      </a:r>
                      <a:endParaRPr sz="1800" dirty="0"/>
                    </a:p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(avg.)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Geo.</a:t>
                      </a:r>
                      <a:endParaRPr sz="1800" dirty="0"/>
                    </a:p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shape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Sample</a:t>
                      </a:r>
                      <a:endParaRPr sz="1800" dirty="0"/>
                    </a:p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ratio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Attack</a:t>
                      </a:r>
                      <a:endParaRPr sz="1800" dirty="0"/>
                    </a:p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angle</a:t>
                      </a:r>
                      <a:endParaRPr sz="1800" dirty="0"/>
                    </a:p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(start,</a:t>
                      </a:r>
                      <a:endParaRPr sz="1800" dirty="0"/>
                    </a:p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step,</a:t>
                      </a:r>
                      <a:endParaRPr sz="1800" dirty="0"/>
                    </a:p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end)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</a:t>
                      </a:r>
                      <a:endParaRPr sz="1800" dirty="0"/>
                    </a:p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number</a:t>
                      </a:r>
                      <a:endParaRPr sz="1800" dirty="0"/>
                    </a:p>
                    <a:p>
                      <a:pPr algn="ct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range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△t s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CYLINDERFLOW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1000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about</a:t>
                      </a:r>
                      <a:endParaRPr sz="1800" dirty="0"/>
                    </a:p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3500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cylinder</a:t>
                      </a:r>
                      <a:endParaRPr sz="1800" dirty="0"/>
                    </a:p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(only)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&lt;10,250&gt;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0.01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2975">
                <a:tc>
                  <a:txBody>
                    <a:bodyPr/>
                    <a:lstStyle/>
                    <a:p>
                      <a:pPr algn="l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HYBRIDFLOW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1000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about</a:t>
                      </a:r>
                      <a:endParaRPr sz="1800" dirty="0"/>
                    </a:p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7500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cylinder,</a:t>
                      </a:r>
                      <a:endParaRPr sz="1800" dirty="0"/>
                    </a:p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airfoil,</a:t>
                      </a:r>
                      <a:endParaRPr sz="1800" dirty="0"/>
                    </a:p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rect.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8:1:1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(-30°,</a:t>
                      </a:r>
                      <a:endParaRPr sz="1800" dirty="0"/>
                    </a:p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15°,</a:t>
                      </a:r>
                      <a:endParaRPr sz="1800" dirty="0"/>
                    </a:p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30°)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&lt;200,1000&gt;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0.01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00" name="textbox 1100"/>
          <p:cNvSpPr/>
          <p:nvPr/>
        </p:nvSpPr>
        <p:spPr>
          <a:xfrm>
            <a:off x="11934825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ACA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</a:t>
            </a:r>
            <a:endParaRPr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picture 1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06" name="textbox 1106"/>
          <p:cNvSpPr/>
          <p:nvPr/>
        </p:nvSpPr>
        <p:spPr>
          <a:xfrm>
            <a:off x="657225" y="304800"/>
            <a:ext cx="40957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110" name="picture 1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1112" name="textbox 1112"/>
          <p:cNvSpPr/>
          <p:nvPr/>
        </p:nvSpPr>
        <p:spPr>
          <a:xfrm>
            <a:off x="400050" y="1371600"/>
            <a:ext cx="86010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2800" b="1" kern="0" spc="0" dirty="0">
                <a:solidFill>
                  <a:srgbClr val="176CA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圆柱绕流FVGN预测结果与CFD结果比较（Re=320）</a:t>
            </a:r>
            <a:endParaRPr sz="2800" dirty="0"/>
          </a:p>
        </p:txBody>
      </p:sp>
      <p:pic>
        <p:nvPicPr>
          <p:cNvPr id="1116" name="picture 1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3028950"/>
            <a:ext cx="6438900" cy="2295525"/>
          </a:xfrm>
          <a:prstGeom prst="rect">
            <a:avLst/>
          </a:prstGeom>
        </p:spPr>
      </p:pic>
      <p:sp>
        <p:nvSpPr>
          <p:cNvPr id="1118" name="textbox 1118"/>
          <p:cNvSpPr/>
          <p:nvPr/>
        </p:nvSpPr>
        <p:spPr>
          <a:xfrm>
            <a:off x="6400800" y="3095625"/>
            <a:ext cx="3048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104775" algn="l" rtl="0" eaLnBrk="0">
              <a:buAutoNum type="arabicPeriod" startAt="3"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89</a:t>
            </a:r>
            <a:endParaRPr sz="1100" dirty="0"/>
          </a:p>
        </p:txBody>
      </p:sp>
      <p:sp>
        <p:nvSpPr>
          <p:cNvPr id="1120" name="textbox 1120"/>
          <p:cNvSpPr/>
          <p:nvPr/>
        </p:nvSpPr>
        <p:spPr>
          <a:xfrm>
            <a:off x="6400800" y="3295650"/>
            <a:ext cx="3048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14300" algn="l" rtl="0" eaLnBrk="0">
              <a:buAutoNum type="arabicPeriod" startAt="3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15</a:t>
            </a:r>
            <a:endParaRPr sz="1000" dirty="0"/>
          </a:p>
        </p:txBody>
      </p:sp>
      <p:sp>
        <p:nvSpPr>
          <p:cNvPr id="1122" name="textbox 1122"/>
          <p:cNvSpPr/>
          <p:nvPr/>
        </p:nvSpPr>
        <p:spPr>
          <a:xfrm>
            <a:off x="419100" y="3457575"/>
            <a:ext cx="314325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endParaRPr sz="2800" dirty="0"/>
          </a:p>
        </p:txBody>
      </p:sp>
      <p:sp>
        <p:nvSpPr>
          <p:cNvPr id="1124" name="textbox 1124"/>
          <p:cNvSpPr/>
          <p:nvPr/>
        </p:nvSpPr>
        <p:spPr>
          <a:xfrm>
            <a:off x="6400800" y="3486150"/>
            <a:ext cx="31432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04775" algn="l" rtl="0" eaLnBrk="0">
              <a:buAutoNum type="arabicPeriod" startAt="2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72</a:t>
            </a:r>
            <a:endParaRPr sz="1000" dirty="0"/>
          </a:p>
        </p:txBody>
      </p:sp>
      <p:sp>
        <p:nvSpPr>
          <p:cNvPr id="1126" name="textbox 1126"/>
          <p:cNvSpPr/>
          <p:nvPr/>
        </p:nvSpPr>
        <p:spPr>
          <a:xfrm>
            <a:off x="6400800" y="3686175"/>
            <a:ext cx="28575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104775" algn="l" rtl="0" eaLnBrk="0">
              <a:buAutoNum type="arabicPeriod" startAt="2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1000" dirty="0"/>
          </a:p>
        </p:txBody>
      </p:sp>
      <p:sp>
        <p:nvSpPr>
          <p:cNvPr id="1128" name="textbox 1128"/>
          <p:cNvSpPr/>
          <p:nvPr/>
        </p:nvSpPr>
        <p:spPr>
          <a:xfrm>
            <a:off x="6410325" y="3886200"/>
            <a:ext cx="29527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23825" indent="-95250" algn="l" rtl="0" eaLnBrk="0">
              <a:buAutoNum type="arabicPeriod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85</a:t>
            </a:r>
            <a:endParaRPr sz="1000" dirty="0"/>
          </a:p>
        </p:txBody>
      </p:sp>
      <p:sp>
        <p:nvSpPr>
          <p:cNvPr id="1130" name="textbox 1130"/>
          <p:cNvSpPr/>
          <p:nvPr/>
        </p:nvSpPr>
        <p:spPr>
          <a:xfrm>
            <a:off x="6410325" y="4095750"/>
            <a:ext cx="27622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95250" algn="l" rtl="0" eaLnBrk="0">
              <a:buAutoNum type="arabicPeriod"/>
            </a:pPr>
            <a:r>
              <a:rPr sz="900" b="1" kern="0" spc="2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800" b="1" kern="0" spc="2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900" dirty="0"/>
          </a:p>
        </p:txBody>
      </p:sp>
      <p:sp>
        <p:nvSpPr>
          <p:cNvPr id="1132" name="textbox 1132"/>
          <p:cNvSpPr/>
          <p:nvPr/>
        </p:nvSpPr>
        <p:spPr>
          <a:xfrm>
            <a:off x="6400800" y="4295775"/>
            <a:ext cx="3048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104775" algn="l" rtl="0" eaLnBrk="0">
              <a:buAutoNum type="arabicPeriod"/>
            </a:pPr>
            <a:r>
              <a:rPr sz="1000" kern="0" spc="150" dirty="0">
                <a:solidFill>
                  <a:srgbClr val="BBBB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</a:t>
            </a:r>
            <a:endParaRPr sz="1000" dirty="0"/>
          </a:p>
        </p:txBody>
      </p:sp>
      <p:sp>
        <p:nvSpPr>
          <p:cNvPr id="1134" name="textbox 1134"/>
          <p:cNvSpPr/>
          <p:nvPr/>
        </p:nvSpPr>
        <p:spPr>
          <a:xfrm>
            <a:off x="6400800" y="4495800"/>
            <a:ext cx="3048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104775" algn="l" rtl="0" eaLnBrk="0">
              <a:buAutoNum type="arabicPeriod"/>
            </a:pP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</a:t>
            </a:r>
            <a:endParaRPr sz="900" dirty="0"/>
          </a:p>
        </p:txBody>
      </p:sp>
      <p:sp>
        <p:nvSpPr>
          <p:cNvPr id="1136" name="textbox 1136"/>
          <p:cNvSpPr/>
          <p:nvPr/>
        </p:nvSpPr>
        <p:spPr>
          <a:xfrm>
            <a:off x="285750" y="4619625"/>
            <a:ext cx="6381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CFD</a:t>
            </a:r>
            <a:endParaRPr sz="2400" dirty="0"/>
          </a:p>
        </p:txBody>
      </p:sp>
      <p:sp>
        <p:nvSpPr>
          <p:cNvPr id="1138" name="textbox 1138"/>
          <p:cNvSpPr/>
          <p:nvPr/>
        </p:nvSpPr>
        <p:spPr>
          <a:xfrm>
            <a:off x="6400800" y="4695825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14300" algn="l" rtl="0" eaLnBrk="0">
              <a:buAutoNum type="arabicPeriod"/>
            </a:pPr>
            <a:r>
              <a:rPr sz="1000" kern="0" spc="225" dirty="0">
                <a:solidFill>
                  <a:srgbClr val="C1C1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000" dirty="0"/>
          </a:p>
        </p:txBody>
      </p:sp>
      <p:sp>
        <p:nvSpPr>
          <p:cNvPr id="1140" name="textbox 1140"/>
          <p:cNvSpPr/>
          <p:nvPr/>
        </p:nvSpPr>
        <p:spPr>
          <a:xfrm>
            <a:off x="6372225" y="4886325"/>
            <a:ext cx="3143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76200" indent="-57150" algn="l" rtl="0" eaLnBrk="0">
              <a:buChar char="-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0.33</a:t>
            </a:r>
            <a:endParaRPr sz="1000" dirty="0"/>
          </a:p>
        </p:txBody>
      </p:sp>
      <p:sp>
        <p:nvSpPr>
          <p:cNvPr id="1142" name="textbox 1142"/>
          <p:cNvSpPr/>
          <p:nvPr/>
        </p:nvSpPr>
        <p:spPr>
          <a:xfrm>
            <a:off x="6372225" y="5086350"/>
            <a:ext cx="3143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7150" indent="-28575" algn="l" rtl="0" eaLnBrk="0">
              <a:buChar char="-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0.76</a:t>
            </a:r>
            <a:endParaRPr sz="1000" dirty="0"/>
          </a:p>
        </p:txBody>
      </p:sp>
      <p:pic>
        <p:nvPicPr>
          <p:cNvPr id="1146" name="picture 11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25" y="1943100"/>
            <a:ext cx="5048250" cy="4105275"/>
          </a:xfrm>
          <a:prstGeom prst="rect">
            <a:avLst/>
          </a:prstGeom>
        </p:spPr>
      </p:pic>
      <p:sp>
        <p:nvSpPr>
          <p:cNvPr id="1148" name="textbox 1148"/>
          <p:cNvSpPr/>
          <p:nvPr/>
        </p:nvSpPr>
        <p:spPr>
          <a:xfrm>
            <a:off x="11934825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E5E5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27</a:t>
            </a:r>
            <a:endParaRPr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2" name="picture 1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54" name="textbox 1154"/>
          <p:cNvSpPr/>
          <p:nvPr/>
        </p:nvSpPr>
        <p:spPr>
          <a:xfrm>
            <a:off x="666750" y="314325"/>
            <a:ext cx="4086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158" name="picture 1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1160" name="textbox 1160"/>
          <p:cNvSpPr/>
          <p:nvPr/>
        </p:nvSpPr>
        <p:spPr>
          <a:xfrm>
            <a:off x="390525" y="1362075"/>
            <a:ext cx="861060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Char char="►"/>
            </a:pPr>
            <a:r>
              <a:rPr sz="2800" b="1" kern="0" spc="0" dirty="0">
                <a:solidFill>
                  <a:srgbClr val="176CA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翼型绕流FVGN预测结果与CFD结果比较（Re=900）</a:t>
            </a:r>
            <a:endParaRPr sz="2800" dirty="0"/>
          </a:p>
        </p:txBody>
      </p:sp>
      <p:pic>
        <p:nvPicPr>
          <p:cNvPr id="1164" name="picture 1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95625"/>
            <a:ext cx="5057775" cy="2447925"/>
          </a:xfrm>
          <a:prstGeom prst="rect">
            <a:avLst/>
          </a:prstGeom>
        </p:spPr>
      </p:pic>
      <p:pic>
        <p:nvPicPr>
          <p:cNvPr id="1168" name="picture 11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50" y="3143250"/>
            <a:ext cx="714375" cy="2333625"/>
          </a:xfrm>
          <a:prstGeom prst="rect">
            <a:avLst/>
          </a:prstGeom>
        </p:spPr>
      </p:pic>
      <p:sp>
        <p:nvSpPr>
          <p:cNvPr id="1170" name="textbox 1170"/>
          <p:cNvSpPr/>
          <p:nvPr/>
        </p:nvSpPr>
        <p:spPr>
          <a:xfrm>
            <a:off x="6219825" y="3162300"/>
            <a:ext cx="3333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4,42</a:t>
            </a:r>
            <a:endParaRPr sz="1000" dirty="0"/>
          </a:p>
        </p:txBody>
      </p:sp>
      <p:sp>
        <p:nvSpPr>
          <p:cNvPr id="1172" name="textbox 1172"/>
          <p:cNvSpPr/>
          <p:nvPr/>
        </p:nvSpPr>
        <p:spPr>
          <a:xfrm>
            <a:off x="6219825" y="3371850"/>
            <a:ext cx="3333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52400" indent="-114300" algn="l" rtl="0" eaLnBrk="0">
              <a:buAutoNum type="arabicPeriod" startAt="3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000" dirty="0"/>
          </a:p>
        </p:txBody>
      </p:sp>
      <p:sp>
        <p:nvSpPr>
          <p:cNvPr id="1174" name="textbox 1174"/>
          <p:cNvSpPr/>
          <p:nvPr/>
        </p:nvSpPr>
        <p:spPr>
          <a:xfrm>
            <a:off x="6219825" y="3590925"/>
            <a:ext cx="3143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61925" indent="-142875" algn="l" rtl="0" eaLnBrk="0">
              <a:buAutoNum type="arabicPeriod" startAt="3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14</a:t>
            </a:r>
            <a:endParaRPr sz="1000" dirty="0"/>
          </a:p>
        </p:txBody>
      </p:sp>
      <p:sp>
        <p:nvSpPr>
          <p:cNvPr id="1176" name="textbox 1176"/>
          <p:cNvSpPr/>
          <p:nvPr/>
        </p:nvSpPr>
        <p:spPr>
          <a:xfrm>
            <a:off x="6219825" y="3800475"/>
            <a:ext cx="3143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104775" algn="l" rtl="0" eaLnBrk="0">
              <a:buAutoNum type="arabicPeriod" startAt="2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51</a:t>
            </a:r>
            <a:endParaRPr sz="1000" dirty="0"/>
          </a:p>
        </p:txBody>
      </p:sp>
      <p:sp>
        <p:nvSpPr>
          <p:cNvPr id="1178" name="textbox 1178"/>
          <p:cNvSpPr/>
          <p:nvPr/>
        </p:nvSpPr>
        <p:spPr>
          <a:xfrm>
            <a:off x="6229350" y="4019550"/>
            <a:ext cx="2952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104775" algn="l" rtl="0" eaLnBrk="0">
              <a:buAutoNum type="arabicPeriod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87</a:t>
            </a:r>
            <a:endParaRPr sz="1000" dirty="0"/>
          </a:p>
        </p:txBody>
      </p:sp>
      <p:sp>
        <p:nvSpPr>
          <p:cNvPr id="1180" name="textbox 1180"/>
          <p:cNvSpPr/>
          <p:nvPr/>
        </p:nvSpPr>
        <p:spPr>
          <a:xfrm>
            <a:off x="6229350" y="4229100"/>
            <a:ext cx="3048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66675" algn="l" rtl="0" eaLnBrk="0">
              <a:buAutoNum type="arabicPeriod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</a:t>
            </a:r>
            <a:endParaRPr sz="1000" dirty="0"/>
          </a:p>
        </p:txBody>
      </p:sp>
      <p:sp>
        <p:nvSpPr>
          <p:cNvPr id="1182" name="textbox 1182"/>
          <p:cNvSpPr/>
          <p:nvPr/>
        </p:nvSpPr>
        <p:spPr>
          <a:xfrm>
            <a:off x="6219825" y="4448175"/>
            <a:ext cx="3143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23825" algn="l" rtl="0" eaLnBrk="0">
              <a:buAutoNum type="arabicPeriod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00</a:t>
            </a:r>
            <a:endParaRPr sz="1000" dirty="0"/>
          </a:p>
        </p:txBody>
      </p:sp>
      <p:sp>
        <p:nvSpPr>
          <p:cNvPr id="1184" name="textbox 1184"/>
          <p:cNvSpPr/>
          <p:nvPr/>
        </p:nvSpPr>
        <p:spPr>
          <a:xfrm>
            <a:off x="6181725" y="4657725"/>
            <a:ext cx="3524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85725" indent="-57150" algn="l" rtl="0" eaLnBrk="0">
              <a:buChar char="-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0.04</a:t>
            </a:r>
            <a:endParaRPr sz="1000" dirty="0"/>
          </a:p>
        </p:txBody>
      </p:sp>
      <p:sp>
        <p:nvSpPr>
          <p:cNvPr id="1186" name="textbox 1186"/>
          <p:cNvSpPr/>
          <p:nvPr/>
        </p:nvSpPr>
        <p:spPr>
          <a:xfrm>
            <a:off x="6181725" y="4886325"/>
            <a:ext cx="35242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76200" indent="-38100" algn="l" rtl="0" eaLnBrk="0">
              <a:buChar char="-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0.88</a:t>
            </a:r>
            <a:endParaRPr sz="1000" dirty="0"/>
          </a:p>
        </p:txBody>
      </p:sp>
      <p:sp>
        <p:nvSpPr>
          <p:cNvPr id="1188" name="textbox 1188"/>
          <p:cNvSpPr/>
          <p:nvPr/>
        </p:nvSpPr>
        <p:spPr>
          <a:xfrm>
            <a:off x="6172200" y="5086350"/>
            <a:ext cx="3619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Char char="-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1.31</a:t>
            </a:r>
            <a:endParaRPr sz="1000" dirty="0"/>
          </a:p>
        </p:txBody>
      </p:sp>
      <p:sp>
        <p:nvSpPr>
          <p:cNvPr id="1190" name="textbox 1190"/>
          <p:cNvSpPr/>
          <p:nvPr/>
        </p:nvSpPr>
        <p:spPr>
          <a:xfrm>
            <a:off x="6172200" y="5314950"/>
            <a:ext cx="3619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57150" algn="l" rtl="0" eaLnBrk="0">
              <a:buChar char="-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1,195</a:t>
            </a:r>
            <a:endParaRPr sz="1000" dirty="0"/>
          </a:p>
        </p:txBody>
      </p:sp>
      <p:pic>
        <p:nvPicPr>
          <p:cNvPr id="1194" name="picture 1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125" y="2190750"/>
            <a:ext cx="4819650" cy="4019550"/>
          </a:xfrm>
          <a:prstGeom prst="rect">
            <a:avLst/>
          </a:prstGeom>
        </p:spPr>
      </p:pic>
      <p:sp>
        <p:nvSpPr>
          <p:cNvPr id="1196" name="textbox 1196"/>
          <p:cNvSpPr/>
          <p:nvPr/>
        </p:nvSpPr>
        <p:spPr>
          <a:xfrm>
            <a:off x="11934825" y="6638925"/>
            <a:ext cx="18097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D0D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28</a:t>
            </a:r>
            <a:endParaRPr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0" name="picture 1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02" name="textbox 1202"/>
          <p:cNvSpPr/>
          <p:nvPr/>
        </p:nvSpPr>
        <p:spPr>
          <a:xfrm>
            <a:off x="657225" y="304800"/>
            <a:ext cx="40957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206" name="picture 1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208" name="textbox 1208"/>
          <p:cNvSpPr/>
          <p:nvPr/>
        </p:nvSpPr>
        <p:spPr>
          <a:xfrm>
            <a:off x="400050" y="1371600"/>
            <a:ext cx="86010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Char char="►"/>
            </a:pPr>
            <a:r>
              <a:rPr sz="2800" b="1" kern="0" spc="0" dirty="0">
                <a:solidFill>
                  <a:srgbClr val="176CA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方柱绕流FVGN预测结果与CFD结果比较（Re=370）</a:t>
            </a:r>
            <a:endParaRPr sz="2800" dirty="0"/>
          </a:p>
        </p:txBody>
      </p:sp>
      <p:pic>
        <p:nvPicPr>
          <p:cNvPr id="1212" name="picture 1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028950"/>
            <a:ext cx="4981575" cy="2419350"/>
          </a:xfrm>
          <a:prstGeom prst="rect">
            <a:avLst/>
          </a:prstGeom>
        </p:spPr>
      </p:pic>
      <p:pic>
        <p:nvPicPr>
          <p:cNvPr id="1216" name="picture 12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725" y="3076575"/>
            <a:ext cx="685800" cy="2295525"/>
          </a:xfrm>
          <a:prstGeom prst="rect">
            <a:avLst/>
          </a:prstGeom>
        </p:spPr>
      </p:pic>
      <p:sp>
        <p:nvSpPr>
          <p:cNvPr id="1218" name="textbox 1218"/>
          <p:cNvSpPr/>
          <p:nvPr/>
        </p:nvSpPr>
        <p:spPr>
          <a:xfrm>
            <a:off x="6143625" y="3095625"/>
            <a:ext cx="3333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52400" indent="-114300" algn="l" rtl="0" eaLnBrk="0">
              <a:buAutoNum type="arabicPeriod" startAt="3"/>
            </a:pPr>
            <a:r>
              <a:rPr sz="10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81</a:t>
            </a:r>
            <a:endParaRPr sz="1000" dirty="0"/>
          </a:p>
        </p:txBody>
      </p:sp>
      <p:sp>
        <p:nvSpPr>
          <p:cNvPr id="1220" name="textbox 1220"/>
          <p:cNvSpPr/>
          <p:nvPr/>
        </p:nvSpPr>
        <p:spPr>
          <a:xfrm>
            <a:off x="6153150" y="3314700"/>
            <a:ext cx="33337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52400" indent="-123825" algn="l" rtl="0" eaLnBrk="0">
              <a:buAutoNum type="arabicPeriod" startAt="3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000" dirty="0"/>
          </a:p>
        </p:txBody>
      </p:sp>
      <p:sp>
        <p:nvSpPr>
          <p:cNvPr id="1222" name="textbox 1222"/>
          <p:cNvSpPr/>
          <p:nvPr/>
        </p:nvSpPr>
        <p:spPr>
          <a:xfrm>
            <a:off x="6153150" y="3514725"/>
            <a:ext cx="3333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95250" algn="l" rtl="0" eaLnBrk="0">
              <a:buAutoNum type="arabicPeriod" startAt="2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83</a:t>
            </a:r>
            <a:endParaRPr sz="1000" dirty="0"/>
          </a:p>
        </p:txBody>
      </p:sp>
      <p:sp>
        <p:nvSpPr>
          <p:cNvPr id="1224" name="textbox 1224"/>
          <p:cNvSpPr/>
          <p:nvPr/>
        </p:nvSpPr>
        <p:spPr>
          <a:xfrm>
            <a:off x="6143625" y="3714750"/>
            <a:ext cx="35242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04775" algn="l" rtl="0" eaLnBrk="0">
              <a:buAutoNum type="arabicPeriod" startAt="2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34</a:t>
            </a:r>
            <a:endParaRPr sz="1000" dirty="0"/>
          </a:p>
        </p:txBody>
      </p:sp>
      <p:sp>
        <p:nvSpPr>
          <p:cNvPr id="1226" name="textbox 1226"/>
          <p:cNvSpPr/>
          <p:nvPr/>
        </p:nvSpPr>
        <p:spPr>
          <a:xfrm>
            <a:off x="6172200" y="3943350"/>
            <a:ext cx="3143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14300" indent="-85725" algn="l" rtl="0" eaLnBrk="0">
              <a:buAutoNum type="arabicPeriod"/>
            </a:pP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85</a:t>
            </a:r>
            <a:endParaRPr sz="1100" dirty="0"/>
          </a:p>
        </p:txBody>
      </p:sp>
      <p:sp>
        <p:nvSpPr>
          <p:cNvPr id="1228" name="textbox 1228"/>
          <p:cNvSpPr/>
          <p:nvPr/>
        </p:nvSpPr>
        <p:spPr>
          <a:xfrm>
            <a:off x="6172200" y="4152900"/>
            <a:ext cx="3048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14300" indent="-76200" algn="l" rtl="0" eaLnBrk="0">
              <a:buAutoNum type="arabicPeriod"/>
            </a:pPr>
            <a:r>
              <a:rPr sz="900" kern="0" spc="225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900" dirty="0"/>
          </a:p>
        </p:txBody>
      </p:sp>
      <p:sp>
        <p:nvSpPr>
          <p:cNvPr id="1230" name="textbox 1230"/>
          <p:cNvSpPr/>
          <p:nvPr/>
        </p:nvSpPr>
        <p:spPr>
          <a:xfrm>
            <a:off x="6153150" y="4371975"/>
            <a:ext cx="3238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14300" algn="l" rtl="0" eaLnBrk="0">
              <a:buAutoNum type="arabicPeriod" startAt="4"/>
            </a:pPr>
            <a:r>
              <a:rPr sz="1000" i="1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87</a:t>
            </a:r>
            <a:endParaRPr sz="1000" dirty="0"/>
          </a:p>
        </p:txBody>
      </p:sp>
      <p:sp>
        <p:nvSpPr>
          <p:cNvPr id="1232" name="textbox 1232"/>
          <p:cNvSpPr/>
          <p:nvPr/>
        </p:nvSpPr>
        <p:spPr>
          <a:xfrm>
            <a:off x="6153150" y="4581525"/>
            <a:ext cx="3238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52400" indent="-123825" algn="l" rtl="0" eaLnBrk="0">
              <a:buAutoNum type="arabicPeriod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000" dirty="0"/>
          </a:p>
        </p:txBody>
      </p:sp>
      <p:sp>
        <p:nvSpPr>
          <p:cNvPr id="1234" name="textbox 1234"/>
          <p:cNvSpPr/>
          <p:nvPr/>
        </p:nvSpPr>
        <p:spPr>
          <a:xfrm>
            <a:off x="6115050" y="4781550"/>
            <a:ext cx="36195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76200" indent="-47625" algn="l" rtl="0" eaLnBrk="0">
              <a:buChar char="-"/>
            </a:pPr>
            <a:r>
              <a:rPr sz="1000" kern="0" spc="225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0.11</a:t>
            </a:r>
            <a:endParaRPr sz="1000" dirty="0"/>
          </a:p>
        </p:txBody>
      </p:sp>
      <p:sp>
        <p:nvSpPr>
          <p:cNvPr id="1236" name="textbox 1236"/>
          <p:cNvSpPr/>
          <p:nvPr/>
        </p:nvSpPr>
        <p:spPr>
          <a:xfrm>
            <a:off x="6096000" y="4991100"/>
            <a:ext cx="400050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57150" algn="l" rtl="0" eaLnBrk="0">
              <a:buChar char="-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0.80</a:t>
            </a:r>
            <a:endParaRPr sz="1000" dirty="0"/>
          </a:p>
        </p:txBody>
      </p:sp>
      <p:sp>
        <p:nvSpPr>
          <p:cNvPr id="1238" name="textbox 1238"/>
          <p:cNvSpPr/>
          <p:nvPr/>
        </p:nvSpPr>
        <p:spPr>
          <a:xfrm>
            <a:off x="6105525" y="5210175"/>
            <a:ext cx="37147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66675" algn="l" rtl="0" eaLnBrk="0">
              <a:buChar char="-"/>
            </a:pPr>
            <a:r>
              <a:rPr sz="1000" kern="0" spc="150" dirty="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1,09</a:t>
            </a:r>
            <a:endParaRPr sz="1000" dirty="0"/>
          </a:p>
        </p:txBody>
      </p:sp>
      <p:pic>
        <p:nvPicPr>
          <p:cNvPr id="1242" name="picture 12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2133600"/>
            <a:ext cx="5133975" cy="4191000"/>
          </a:xfrm>
          <a:prstGeom prst="rect">
            <a:avLst/>
          </a:prstGeom>
        </p:spPr>
      </p:pic>
      <p:sp>
        <p:nvSpPr>
          <p:cNvPr id="1244" name="textbox 1244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1C1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29</a:t>
            </a:r>
            <a:endParaRPr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picture 12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50" name="textbox 1250"/>
          <p:cNvSpPr/>
          <p:nvPr/>
        </p:nvSpPr>
        <p:spPr>
          <a:xfrm>
            <a:off x="657225" y="304800"/>
            <a:ext cx="40957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95275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254" name="picture 1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256" name="textbox 1256"/>
          <p:cNvSpPr/>
          <p:nvPr/>
        </p:nvSpPr>
        <p:spPr>
          <a:xfrm>
            <a:off x="914400" y="1038225"/>
            <a:ext cx="373380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71475" algn="l" rtl="0" eaLnBrk="0">
              <a:buChar char="►"/>
            </a:pPr>
            <a:r>
              <a:rPr sz="2800" b="1" kern="0" spc="0" dirty="0">
                <a:solidFill>
                  <a:srgbClr val="0C6C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长时间预测误差统计</a:t>
            </a:r>
            <a:r>
              <a:rPr sz="2800" kern="0" spc="0" dirty="0">
                <a:solidFill>
                  <a:srgbClr val="0C6C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8" name="textbox 1258"/>
              <p:cNvSpPr/>
              <p:nvPr/>
            </p:nvSpPr>
            <p:spPr>
              <a:xfrm>
                <a:off x="2266950" y="1457325"/>
                <a:ext cx="7867650" cy="10096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𝐑𝐌</m:t>
                      </m:r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𝐒𝐄</m:t>
                      </m:r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𝐔</m:t>
                      </m:r>
                      <m:sSup>
                        <m:sSupPr>
                          <m:ctrlPr>
                            <a:rPr b="1"/>
                          </m:ctrlPr>
                        </m:sSupPr>
                        <m:e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𝐕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𝐩𝐫</m:t>
                          </m:r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𝐞𝐝</m:t>
                          </m:r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𝐢𝐜</m:t>
                          </m:r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𝐭𝐢</m:t>
                          </m:r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𝐨𝐧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𝐔</m:t>
                      </m:r>
                      <m:sSup>
                        <m:sSupPr>
                          <m:ctrlPr>
                            <a:rPr b="1"/>
                          </m:ctrlPr>
                        </m:sSupPr>
                        <m:e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𝐕</m:t>
                          </m:r>
                        </m:e>
                        <m:sup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𝐓</m:t>
                          </m:r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𝐫𝐮</m:t>
                          </m:r>
                          <m:r>
                            <a:rPr lang="en-US" sz="2400" b="1" dirty="0">
                              <a:latin typeface="Cambria Math" panose="02040503050406030204"/>
                              <a:ea typeface="Cambria Math" panose="02040503050406030204"/>
                            </a:rPr>
                            <m:t>𝐭𝐡</m:t>
                          </m:r>
                        </m:sup>
                      </m:sSup>
                      <m:r>
                        <a:rPr lang="en-US" sz="2400" b="1" dirty="0">
                          <a:latin typeface="Cambria Math" panose="02040503050406030204"/>
                          <a:ea typeface="Cambria Math" panose="02040503050406030204"/>
                        </a:rPr>
                        <m:t>)=</m:t>
                      </m:r>
                      <m:f>
                        <m:fPr>
                          <m:ctrlPr>
                            <a:rPr b="1"/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bHide m:val="on"/>
                              <m:supHide m:val="on"/>
                              <m:ctrlPr>
                                <a:rPr b="1"/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[(</m:t>
                              </m:r>
                              <m:sSub>
                                <m:sSubPr>
                                  <m:ctrlPr>
                                    <a:rPr b="1"/>
                                  </m:ctrlPr>
                                </m:sSubPr>
                                <m:e>
                                  <m:acc>
                                    <m:accPr>
                                      <m:ctrlPr>
                                        <a:rPr b="1"/>
                                      </m:ctrlPr>
                                    </m:accPr>
                                    <m:e>
                                      <m:r>
                                        <a:rPr lang="en-US" sz="2400" b="1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𝐮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𝐢</m:t>
                                  </m:r>
                                </m:sub>
                              </m:sSub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b="1"/>
                                  </m:ctrlPr>
                                </m:sSubPr>
                                <m:e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𝐢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b="1"/>
                                  </m:ctrlPr>
                                </m:sSupPr>
                                <m:e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+(</m:t>
                              </m:r>
                              <m:sSub>
                                <m:sSubPr>
                                  <m:ctrlPr>
                                    <a:rPr b="1"/>
                                  </m:ctrlPr>
                                </m:sSubPr>
                                <m:e>
                                  <m:acc>
                                    <m:accPr>
                                      <m:ctrlPr>
                                        <a:rPr b="1"/>
                                      </m:ctrlPr>
                                    </m:accPr>
                                    <m:e>
                                      <m:r>
                                        <a:rPr lang="en-US" sz="2400" b="1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𝐯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𝐢</m:t>
                                  </m:r>
                                </m:sub>
                              </m:sSub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b="1"/>
                                  </m:ctrlPr>
                                </m:sSubPr>
                                <m:e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𝐢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b="1"/>
                                  </m:ctrlPr>
                                </m:sSupPr>
                                <m:e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]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bHide m:val="on"/>
                              <m:supHide m:val="on"/>
                              <m:ctrlPr>
                                <a:rPr b="1"/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b="1"/>
                                  </m:ctrlPr>
                                </m:sSubSupPr>
                                <m:e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𝐢</m:t>
                                  </m:r>
                                </m:sub>
                                <m:sup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b="1"/>
                                  </m:ctrlPr>
                                </m:sSubSupPr>
                                <m:e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𝐯</m:t>
                                  </m:r>
                                </m:e>
                                <m:sub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𝐢</m:t>
                                  </m:r>
                                </m:sub>
                                <m:sup>
                                  <m:r>
                                    <a:rPr lang="en-US" sz="2400" b="1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sz="2400" b="1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sz="600" b="1" dirty="0"/>
              </a:p>
            </p:txBody>
          </p:sp>
        </mc:Choice>
        <mc:Fallback>
          <p:sp>
            <p:nvSpPr>
              <p:cNvPr id="1258" name="textbox 12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50" y="1457325"/>
                <a:ext cx="7867650" cy="10096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2" name="picture 12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2571750"/>
            <a:ext cx="9734550" cy="4162425"/>
          </a:xfrm>
          <a:prstGeom prst="rect">
            <a:avLst/>
          </a:prstGeom>
        </p:spPr>
      </p:pic>
      <p:sp>
        <p:nvSpPr>
          <p:cNvPr id="1264" name="textbox 1264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9C9C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</a:t>
            </a:r>
            <a:endParaRPr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8" name="picture 12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70" name="textbox 1270"/>
          <p:cNvSpPr/>
          <p:nvPr/>
        </p:nvSpPr>
        <p:spPr>
          <a:xfrm>
            <a:off x="666750" y="314325"/>
            <a:ext cx="4086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274" name="picture 12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276" name="textbox 1276"/>
          <p:cNvSpPr/>
          <p:nvPr/>
        </p:nvSpPr>
        <p:spPr>
          <a:xfrm>
            <a:off x="771525" y="1257300"/>
            <a:ext cx="915352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66700" indent="-2667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几何泛化性测试：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利用前述模型，测试椭圆与NACA2412翼型</a:t>
            </a:r>
            <a:endParaRPr sz="2800" dirty="0"/>
          </a:p>
        </p:txBody>
      </p:sp>
      <p:sp>
        <p:nvSpPr>
          <p:cNvPr id="1278" name="textbox 1278"/>
          <p:cNvSpPr/>
          <p:nvPr/>
        </p:nvSpPr>
        <p:spPr>
          <a:xfrm>
            <a:off x="1685925" y="1943100"/>
            <a:ext cx="12668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Prediction</a:t>
            </a:r>
            <a:endParaRPr sz="2400" dirty="0"/>
          </a:p>
        </p:txBody>
      </p:sp>
      <p:sp>
        <p:nvSpPr>
          <p:cNvPr id="1280" name="textbox 1280"/>
          <p:cNvSpPr/>
          <p:nvPr/>
        </p:nvSpPr>
        <p:spPr>
          <a:xfrm>
            <a:off x="5734050" y="1943100"/>
            <a:ext cx="6286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CFD</a:t>
            </a:r>
            <a:endParaRPr sz="2400" dirty="0"/>
          </a:p>
        </p:txBody>
      </p:sp>
      <p:sp>
        <p:nvSpPr>
          <p:cNvPr id="1282" name="textbox 1282"/>
          <p:cNvSpPr/>
          <p:nvPr/>
        </p:nvSpPr>
        <p:spPr>
          <a:xfrm>
            <a:off x="8982075" y="1943100"/>
            <a:ext cx="18288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Absolute Error</a:t>
            </a:r>
            <a:endParaRPr sz="2400" dirty="0"/>
          </a:p>
        </p:txBody>
      </p:sp>
      <p:pic>
        <p:nvPicPr>
          <p:cNvPr id="1286" name="picture 12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219325"/>
            <a:ext cx="3667125" cy="2009775"/>
          </a:xfrm>
          <a:prstGeom prst="rect">
            <a:avLst/>
          </a:prstGeom>
        </p:spPr>
      </p:pic>
      <p:pic>
        <p:nvPicPr>
          <p:cNvPr id="1290" name="picture 12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450" y="2219325"/>
            <a:ext cx="3638550" cy="2009775"/>
          </a:xfrm>
          <a:prstGeom prst="rect">
            <a:avLst/>
          </a:prstGeom>
        </p:spPr>
      </p:pic>
      <p:pic>
        <p:nvPicPr>
          <p:cNvPr id="1294" name="picture 12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219325"/>
            <a:ext cx="3609975" cy="2009775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>
            <a:off x="1647825" y="4333875"/>
            <a:ext cx="12573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Prediction</a:t>
            </a:r>
            <a:endParaRPr sz="2400" dirty="0"/>
          </a:p>
        </p:txBody>
      </p:sp>
      <p:sp>
        <p:nvSpPr>
          <p:cNvPr id="1298" name="textbox 1298"/>
          <p:cNvSpPr/>
          <p:nvPr/>
        </p:nvSpPr>
        <p:spPr>
          <a:xfrm>
            <a:off x="5753100" y="4333875"/>
            <a:ext cx="6096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CFD</a:t>
            </a:r>
            <a:endParaRPr sz="2400" dirty="0"/>
          </a:p>
        </p:txBody>
      </p:sp>
      <p:sp>
        <p:nvSpPr>
          <p:cNvPr id="1300" name="textbox 1300"/>
          <p:cNvSpPr/>
          <p:nvPr/>
        </p:nvSpPr>
        <p:spPr>
          <a:xfrm>
            <a:off x="9010650" y="4333875"/>
            <a:ext cx="18288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Absolute Error</a:t>
            </a:r>
            <a:endParaRPr sz="2400" dirty="0"/>
          </a:p>
        </p:txBody>
      </p:sp>
      <p:pic>
        <p:nvPicPr>
          <p:cNvPr id="1304" name="picture 13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91050"/>
            <a:ext cx="3657600" cy="1962150"/>
          </a:xfrm>
          <a:prstGeom prst="rect">
            <a:avLst/>
          </a:prstGeom>
        </p:spPr>
      </p:pic>
      <p:pic>
        <p:nvPicPr>
          <p:cNvPr id="1308" name="picture 13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2450" y="4591050"/>
            <a:ext cx="3638550" cy="1962150"/>
          </a:xfrm>
          <a:prstGeom prst="rect">
            <a:avLst/>
          </a:prstGeom>
        </p:spPr>
      </p:pic>
      <p:pic>
        <p:nvPicPr>
          <p:cNvPr id="1312" name="picture 13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0" y="4591050"/>
            <a:ext cx="3609975" cy="1962150"/>
          </a:xfrm>
          <a:prstGeom prst="rect">
            <a:avLst/>
          </a:prstGeom>
        </p:spPr>
      </p:pic>
      <p:sp>
        <p:nvSpPr>
          <p:cNvPr id="1314" name="textbox 1314"/>
          <p:cNvSpPr/>
          <p:nvPr/>
        </p:nvSpPr>
        <p:spPr>
          <a:xfrm>
            <a:off x="11934825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300" dirty="0">
                <a:solidFill>
                  <a:srgbClr val="E9E9E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31</a:t>
            </a:r>
            <a:endParaRPr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8" name="picture 13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20" name="textbox 1320"/>
          <p:cNvSpPr/>
          <p:nvPr/>
        </p:nvSpPr>
        <p:spPr>
          <a:xfrm>
            <a:off x="666750" y="314325"/>
            <a:ext cx="4086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324" name="picture 1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1326" name="textbox 1326"/>
          <p:cNvSpPr/>
          <p:nvPr/>
        </p:nvSpPr>
        <p:spPr>
          <a:xfrm>
            <a:off x="762000" y="1247775"/>
            <a:ext cx="64960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47650" algn="l" rtl="0" eaLnBrk="0">
              <a:buChar char="►"/>
            </a:pPr>
            <a:r>
              <a:rPr sz="2800" b="1" kern="0" spc="0" dirty="0">
                <a:solidFill>
                  <a:srgbClr val="0F6DB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几何泛化性测试：</a:t>
            </a:r>
            <a:r>
              <a:rPr sz="2400" b="1" kern="0" spc="0" dirty="0">
                <a:solidFill>
                  <a:srgbClr val="0F6DB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利用前述模型，测试椭圆</a:t>
            </a:r>
            <a:endParaRPr sz="2800" dirty="0"/>
          </a:p>
        </p:txBody>
      </p:sp>
      <p:pic>
        <p:nvPicPr>
          <p:cNvPr id="1330" name="picture 13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943100"/>
            <a:ext cx="10201275" cy="4381500"/>
          </a:xfrm>
          <a:prstGeom prst="rect">
            <a:avLst/>
          </a:prstGeom>
        </p:spPr>
      </p:pic>
      <p:sp>
        <p:nvSpPr>
          <p:cNvPr id="1332" name="textbox 1332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D3D3D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</a:t>
            </a:r>
            <a:endParaRPr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picture 13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38" name="textbox 1338"/>
          <p:cNvSpPr/>
          <p:nvPr/>
        </p:nvSpPr>
        <p:spPr>
          <a:xfrm>
            <a:off x="666750" y="304800"/>
            <a:ext cx="40862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342" name="picture 1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344" name="textbox 1344"/>
          <p:cNvSpPr/>
          <p:nvPr/>
        </p:nvSpPr>
        <p:spPr>
          <a:xfrm>
            <a:off x="704850" y="1314450"/>
            <a:ext cx="91725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66700" indent="-257175" algn="l" rtl="0" eaLnBrk="0">
              <a:buChar char="►"/>
            </a:pPr>
            <a:r>
              <a:rPr sz="2800" b="1" kern="0" spc="0" dirty="0">
                <a:solidFill>
                  <a:srgbClr val="0B6CB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几何泛化性测试：</a:t>
            </a:r>
            <a:r>
              <a:rPr sz="2400" b="1" kern="0" spc="0" dirty="0">
                <a:solidFill>
                  <a:srgbClr val="0B6CB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利用前述模型，测试椭圆与NACA2412翼型</a:t>
            </a:r>
            <a:endParaRPr sz="2800" dirty="0"/>
          </a:p>
        </p:txBody>
      </p:sp>
      <p:graphicFrame>
        <p:nvGraphicFramePr>
          <p:cNvPr id="1346" name="table 1346"/>
          <p:cNvGraphicFramePr>
            <a:graphicFrameLocks noGrp="1"/>
          </p:cNvGraphicFramePr>
          <p:nvPr/>
        </p:nvGraphicFramePr>
        <p:xfrm>
          <a:off x="1600200" y="2219325"/>
          <a:ext cx="9115425" cy="3800475"/>
        </p:xfrm>
        <a:graphic>
          <a:graphicData uri="http://schemas.openxmlformats.org/drawingml/2006/table">
            <a:tbl>
              <a:tblPr/>
              <a:tblGrid>
                <a:gridCol w="1685925"/>
                <a:gridCol w="1028700"/>
                <a:gridCol w="1219200"/>
                <a:gridCol w="1047750"/>
                <a:gridCol w="1057275"/>
                <a:gridCol w="1209675"/>
                <a:gridCol w="857250"/>
                <a:gridCol w="1009650"/>
              </a:tblGrid>
              <a:tr h="1257300"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Geo.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Model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Rollout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Time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Range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UV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RMSE</a:t>
                      </a:r>
                      <a:endParaRPr sz="26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RMSE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St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Number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6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6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Ellipse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Re=300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FVGN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843F0B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&lt;0,600&gt;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b="1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0.001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b="1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0.047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0.251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E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2.936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-0.427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D"/>
                    </a:solidFill>
                  </a:tcPr>
                </a:tc>
              </a:tr>
              <a:tr h="41910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MGN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&lt;0,600&gt;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0.095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0.184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0.251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3.250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-0.486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C"/>
                    </a:solidFill>
                  </a:tcPr>
                </a:tc>
              </a:tr>
              <a:tr h="38100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CFD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&lt;0,600&gt;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0.251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2.766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-0.484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390525">
                <a:tc rowSpan="3"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NACA2412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Re=800</a:t>
                      </a:r>
                      <a:endParaRPr sz="2600" dirty="0"/>
                    </a:p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aoa=30°</a:t>
                      </a:r>
                      <a:endParaRPr sz="26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FVGN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843F0B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&lt;0,600&gt;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b="1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0.034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b="1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0.221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0.591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1.938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3.537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DE"/>
                    </a:solidFill>
                  </a:tcPr>
                </a:tc>
              </a:tr>
              <a:tr h="40005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MGN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&lt;0,600&gt;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0.127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1.165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0.709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1.931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3.578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</a:tr>
              <a:tr h="57150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CFD</a:t>
                      </a:r>
                      <a:endParaRPr sz="26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&lt;0,600&gt;</a:t>
                      </a:r>
                      <a:endParaRPr sz="2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0.591</a:t>
                      </a:r>
                      <a:endParaRPr sz="26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2.081</a:t>
                      </a:r>
                      <a:endParaRPr sz="2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3.702</a:t>
                      </a:r>
                      <a:endParaRPr sz="26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316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1348" name="textbox 1348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2C2C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33</a:t>
            </a:r>
            <a:endParaRPr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picture 13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54" name="textbox 1354"/>
          <p:cNvSpPr/>
          <p:nvPr/>
        </p:nvSpPr>
        <p:spPr>
          <a:xfrm>
            <a:off x="666750" y="314325"/>
            <a:ext cx="4086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有限体积图神经网络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FVGN</a:t>
            </a:r>
            <a:endParaRPr sz="2000" dirty="0"/>
          </a:p>
        </p:txBody>
      </p:sp>
      <p:pic>
        <p:nvPicPr>
          <p:cNvPr id="1358" name="picture 1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360" name="textbox 1360"/>
          <p:cNvSpPr/>
          <p:nvPr/>
        </p:nvSpPr>
        <p:spPr>
          <a:xfrm>
            <a:off x="704850" y="1362075"/>
            <a:ext cx="53530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42900" algn="l" rtl="0" eaLnBrk="0">
              <a:buChar char="►"/>
            </a:pPr>
            <a:r>
              <a:rPr sz="2800" b="1" kern="0" spc="0" dirty="0">
                <a:solidFill>
                  <a:srgbClr val="0C6A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预测效率对比：</a:t>
            </a:r>
            <a:r>
              <a:rPr sz="2400" b="1" kern="0" spc="0" dirty="0">
                <a:solidFill>
                  <a:srgbClr val="0C6A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对比传统</a:t>
            </a:r>
            <a:r>
              <a:rPr sz="2400" b="1" kern="0" spc="0" dirty="0">
                <a:solidFill>
                  <a:srgbClr val="0C6AA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CFD</a:t>
            </a:r>
            <a:r>
              <a:rPr sz="2400" b="1" kern="0" spc="0" dirty="0">
                <a:solidFill>
                  <a:srgbClr val="0C6A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2800" dirty="0"/>
          </a:p>
        </p:txBody>
      </p:sp>
      <p:sp>
        <p:nvSpPr>
          <p:cNvPr id="1362" name="textbox 1362"/>
          <p:cNvSpPr/>
          <p:nvPr/>
        </p:nvSpPr>
        <p:spPr>
          <a:xfrm>
            <a:off x="1428750" y="2000250"/>
            <a:ext cx="48672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CPU上平均提升</a:t>
            </a: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4-5倍的计算效率</a:t>
            </a:r>
            <a:endParaRPr sz="2400" dirty="0"/>
          </a:p>
        </p:txBody>
      </p:sp>
      <p:sp>
        <p:nvSpPr>
          <p:cNvPr id="1364" name="textbox 1364"/>
          <p:cNvSpPr/>
          <p:nvPr/>
        </p:nvSpPr>
        <p:spPr>
          <a:xfrm>
            <a:off x="1419225" y="2524125"/>
            <a:ext cx="47720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333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GPU上平均提升</a:t>
            </a: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30倍的计算效率</a:t>
            </a:r>
            <a:endParaRPr sz="2400" dirty="0"/>
          </a:p>
        </p:txBody>
      </p:sp>
      <p:sp>
        <p:nvSpPr>
          <p:cNvPr id="1366" name="textbox 1366"/>
          <p:cNvSpPr/>
          <p:nvPr/>
        </p:nvSpPr>
        <p:spPr>
          <a:xfrm>
            <a:off x="6734175" y="3143250"/>
            <a:ext cx="14478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GPU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预测时间</a:t>
            </a:r>
            <a:endParaRPr sz="1800" dirty="0"/>
          </a:p>
        </p:txBody>
      </p:sp>
      <p:sp>
        <p:nvSpPr>
          <p:cNvPr id="1368" name="textbox 1368"/>
          <p:cNvSpPr/>
          <p:nvPr/>
        </p:nvSpPr>
        <p:spPr>
          <a:xfrm>
            <a:off x="8524875" y="3143250"/>
            <a:ext cx="1419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CPU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预测时间</a:t>
            </a:r>
            <a:endParaRPr sz="1800" dirty="0"/>
          </a:p>
        </p:txBody>
      </p:sp>
      <p:sp>
        <p:nvSpPr>
          <p:cNvPr id="1370" name="textbox 1370"/>
          <p:cNvSpPr/>
          <p:nvPr/>
        </p:nvSpPr>
        <p:spPr>
          <a:xfrm>
            <a:off x="10277475" y="3143250"/>
            <a:ext cx="1419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CFD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求解时间</a:t>
            </a:r>
            <a:endParaRPr sz="1800" dirty="0"/>
          </a:p>
        </p:txBody>
      </p:sp>
      <p:graphicFrame>
        <p:nvGraphicFramePr>
          <p:cNvPr id="1372" name="table 1372"/>
          <p:cNvGraphicFramePr>
            <a:graphicFrameLocks noGrp="1"/>
          </p:cNvGraphicFramePr>
          <p:nvPr/>
        </p:nvGraphicFramePr>
        <p:xfrm>
          <a:off x="381000" y="3552825"/>
          <a:ext cx="11372850" cy="2124075"/>
        </p:xfrm>
        <a:graphic>
          <a:graphicData uri="http://schemas.openxmlformats.org/drawingml/2006/table">
            <a:tbl>
              <a:tblPr/>
              <a:tblGrid>
                <a:gridCol w="838200"/>
                <a:gridCol w="1962150"/>
                <a:gridCol w="2076450"/>
                <a:gridCol w="1266825"/>
                <a:gridCol w="1752600"/>
                <a:gridCol w="1971675"/>
                <a:gridCol w="1504950"/>
              </a:tblGrid>
              <a:tr h="428625">
                <a:tc>
                  <a:txBody>
                    <a:bodyPr/>
                    <a:lstStyle/>
                    <a:p>
                      <a:pPr algn="l" rtl="0" eaLnBrk="0"/>
                      <a:r>
                        <a:rPr sz="16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Model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5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Dataset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6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 of nodes/cells (avg.)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No of steps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GPU tfull ms/step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CPU tfull ms/step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CPU tGT ms/step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 rowSpan="3">
                  <a:txBody>
                    <a:bodyPr/>
                    <a:lstStyle/>
                    <a:p>
                      <a:pPr algn="l" rtl="0" eaLnBrk="0"/>
                      <a:r>
                        <a:rPr sz="16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MGN</a:t>
                      </a:r>
                      <a:endParaRPr sz="16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/>
                      <a:r>
                        <a:rPr sz="16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CYLINDER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5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FLOW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1885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23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168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b="1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820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HYBRID FLOW</a:t>
                      </a:r>
                      <a:endParaRPr sz="12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4000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224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b="1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1520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 rowSpan="2">
                  <a:txBody>
                    <a:bodyPr/>
                    <a:lstStyle/>
                    <a:p>
                      <a:pPr algn="l" rtl="0" eaLnBrk="0"/>
                      <a:r>
                        <a:rPr sz="15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FVGN</a:t>
                      </a:r>
                      <a:endParaRPr sz="15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6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CYLINDER FLOW</a:t>
                      </a:r>
                      <a:endParaRPr sz="16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3500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57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354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b="1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820</a:t>
                      </a:r>
                      <a:endParaRPr sz="15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HYBRID FLOW</a:t>
                      </a:r>
                      <a:endParaRPr sz="12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7500</a:t>
                      </a:r>
                      <a:endParaRPr sz="15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15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88</a:t>
                      </a:r>
                      <a:endParaRPr sz="15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455</a:t>
                      </a:r>
                      <a:endParaRPr sz="15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1500" b="1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1520</a:t>
                      </a:r>
                      <a:endParaRPr sz="15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57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74" name="textbox 1374"/>
          <p:cNvSpPr/>
          <p:nvPr/>
        </p:nvSpPr>
        <p:spPr>
          <a:xfrm>
            <a:off x="962025" y="6048375"/>
            <a:ext cx="991552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1D1D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 et al. Predicting unsteady incompressible fluid dynamics with finite volume</a:t>
            </a:r>
            <a:endParaRPr sz="2000" dirty="0"/>
          </a:p>
          <a:p>
            <a:pPr algn="l" rtl="0" eaLnBrk="0"/>
            <a:r>
              <a:rPr sz="2000" b="1" kern="0" spc="0" dirty="0">
                <a:solidFill>
                  <a:srgbClr val="1D1D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informed neural network. </a:t>
            </a:r>
            <a:r>
              <a:rPr sz="2000" b="1" i="1" kern="0" spc="0" dirty="0">
                <a:solidFill>
                  <a:srgbClr val="046FC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Physics of Fluids</a:t>
            </a:r>
            <a:r>
              <a:rPr sz="2000" b="1" kern="0" spc="0" dirty="0">
                <a:solidFill>
                  <a:srgbClr val="1D1D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, 2024; 36 (4): 043601</a:t>
            </a:r>
            <a:endParaRPr sz="2000" dirty="0"/>
          </a:p>
        </p:txBody>
      </p:sp>
      <p:sp>
        <p:nvSpPr>
          <p:cNvPr id="1376" name="textbox 1376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D9D9D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34</a:t>
            </a:r>
            <a:endParaRPr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picture 1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82" name="textbox 1382"/>
          <p:cNvSpPr/>
          <p:nvPr/>
        </p:nvSpPr>
        <p:spPr>
          <a:xfrm>
            <a:off x="666750" y="314325"/>
            <a:ext cx="39052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386" name="picture 1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1388" name="textbox 1388"/>
          <p:cNvSpPr/>
          <p:nvPr/>
        </p:nvSpPr>
        <p:spPr>
          <a:xfrm>
            <a:off x="914400" y="1533525"/>
            <a:ext cx="681990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38125" indent="-238125" algn="l" rtl="0" eaLnBrk="0">
              <a:buChar char="►"/>
            </a:pPr>
            <a:r>
              <a:rPr sz="2800" b="1" kern="0" spc="0" dirty="0">
                <a:solidFill>
                  <a:srgbClr val="086EB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GNN求解三维实际工程问题面临如下挑战</a:t>
            </a:r>
            <a:endParaRPr sz="2800" dirty="0"/>
          </a:p>
        </p:txBody>
      </p:sp>
      <p:pic>
        <p:nvPicPr>
          <p:cNvPr id="1392" name="picture 13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50" y="1647825"/>
            <a:ext cx="2324100" cy="1866900"/>
          </a:xfrm>
          <a:prstGeom prst="rect">
            <a:avLst/>
          </a:prstGeom>
        </p:spPr>
      </p:pic>
      <p:sp>
        <p:nvSpPr>
          <p:cNvPr id="1394" name="textbox 1394"/>
          <p:cNvSpPr/>
          <p:nvPr/>
        </p:nvSpPr>
        <p:spPr>
          <a:xfrm>
            <a:off x="1333500" y="2095500"/>
            <a:ext cx="83153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几何表示能力不足：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面临复杂几何构型与大规模网格的挑战。</a:t>
            </a:r>
            <a:endParaRPr sz="2400" dirty="0"/>
          </a:p>
        </p:txBody>
      </p:sp>
      <p:sp>
        <p:nvSpPr>
          <p:cNvPr id="1396" name="textbox 1396"/>
          <p:cNvSpPr/>
          <p:nvPr/>
        </p:nvSpPr>
        <p:spPr>
          <a:xfrm>
            <a:off x="895350" y="3314700"/>
            <a:ext cx="4857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57175" indent="-257175" algn="l" rtl="0" eaLnBrk="0">
              <a:buChar char="►"/>
            </a:pPr>
            <a:r>
              <a:rPr sz="2800" b="1" kern="0" spc="0" dirty="0">
                <a:solidFill>
                  <a:srgbClr val="096EB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多尺度增强图网络ME-GNN:</a:t>
            </a:r>
            <a:endParaRPr sz="2800" dirty="0"/>
          </a:p>
        </p:txBody>
      </p:sp>
      <p:sp>
        <p:nvSpPr>
          <p:cNvPr id="1398" name="textbox 1398"/>
          <p:cNvSpPr/>
          <p:nvPr/>
        </p:nvSpPr>
        <p:spPr>
          <a:xfrm>
            <a:off x="1314450" y="3952875"/>
            <a:ext cx="9591675" cy="124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多尺度特征融合：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结合U-Net均匀网格离散化提取多尺度及全局特征，</a:t>
            </a:r>
            <a:endParaRPr sz="2400" dirty="0"/>
          </a:p>
          <a:p>
            <a:pPr marL="295275" algn="l" rtl="0" eaLnBrk="0">
              <a:spcBef>
                <a:spcPts val="82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GNN处理非结构网格，同步提取粗粒度和细粒度特征，增强几何表示</a:t>
            </a:r>
            <a:endParaRPr sz="2400" dirty="0"/>
          </a:p>
          <a:p>
            <a:pPr marL="266700" algn="l" rtl="0" eaLnBrk="0">
              <a:spcBef>
                <a:spcPts val="82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能力。</a:t>
            </a:r>
            <a:endParaRPr sz="2400" dirty="0"/>
          </a:p>
        </p:txBody>
      </p:sp>
      <p:sp>
        <p:nvSpPr>
          <p:cNvPr id="1400" name="textbox 1400"/>
          <p:cNvSpPr/>
          <p:nvPr/>
        </p:nvSpPr>
        <p:spPr>
          <a:xfrm>
            <a:off x="1314450" y="5438775"/>
            <a:ext cx="9867900" cy="80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高效训练优化：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采用K-hop采样构建子图，支持大规模数据集高效训练，</a:t>
            </a:r>
            <a:endParaRPr sz="2400" dirty="0"/>
          </a:p>
          <a:p>
            <a:pPr marL="285750" algn="l" rtl="0" eaLnBrk="0">
              <a:spcBef>
                <a:spcPts val="67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同时保留局部细节。</a:t>
            </a:r>
            <a:endParaRPr sz="2400" dirty="0"/>
          </a:p>
        </p:txBody>
      </p:sp>
      <p:sp>
        <p:nvSpPr>
          <p:cNvPr id="1402" name="textbox 1402"/>
          <p:cNvSpPr/>
          <p:nvPr/>
        </p:nvSpPr>
        <p:spPr>
          <a:xfrm>
            <a:off x="11934825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C9C9C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35</a:t>
            </a:r>
            <a:endParaRPr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picture 14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08" name="textbox 1408"/>
          <p:cNvSpPr/>
          <p:nvPr/>
        </p:nvSpPr>
        <p:spPr>
          <a:xfrm>
            <a:off x="657225" y="314325"/>
            <a:ext cx="39147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412" name="picture 14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414" name="textbox 1414"/>
          <p:cNvSpPr/>
          <p:nvPr/>
        </p:nvSpPr>
        <p:spPr>
          <a:xfrm>
            <a:off x="914400" y="1076325"/>
            <a:ext cx="89154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57175" indent="-257175" algn="l" rtl="0" eaLnBrk="0">
              <a:buChar char="►"/>
            </a:pPr>
            <a:r>
              <a:rPr sz="2800" b="1" kern="0" spc="0" dirty="0">
                <a:solidFill>
                  <a:srgbClr val="126AA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</a:t>
            </a:r>
            <a:r>
              <a:rPr sz="2400" b="1" kern="0" spc="0" dirty="0">
                <a:solidFill>
                  <a:srgbClr val="126AA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结合均匀网格U-Net和非均匀网格GNN各自的优势</a:t>
            </a:r>
            <a:endParaRPr sz="2800" dirty="0"/>
          </a:p>
        </p:txBody>
      </p:sp>
      <p:pic>
        <p:nvPicPr>
          <p:cNvPr id="1418" name="picture 14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714500"/>
            <a:ext cx="1933575" cy="1704975"/>
          </a:xfrm>
          <a:prstGeom prst="rect">
            <a:avLst/>
          </a:prstGeom>
        </p:spPr>
      </p:pic>
      <p:pic>
        <p:nvPicPr>
          <p:cNvPr id="1422" name="picture 14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647825"/>
            <a:ext cx="3495675" cy="1647825"/>
          </a:xfrm>
          <a:prstGeom prst="rect">
            <a:avLst/>
          </a:prstGeom>
        </p:spPr>
      </p:pic>
      <p:pic>
        <p:nvPicPr>
          <p:cNvPr id="1426" name="picture 14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0" y="1647825"/>
            <a:ext cx="2695575" cy="1647825"/>
          </a:xfrm>
          <a:prstGeom prst="rect">
            <a:avLst/>
          </a:prstGeom>
        </p:spPr>
      </p:pic>
      <p:sp>
        <p:nvSpPr>
          <p:cNvPr id="1428" name="textbox 1428"/>
          <p:cNvSpPr/>
          <p:nvPr/>
        </p:nvSpPr>
        <p:spPr>
          <a:xfrm>
            <a:off x="885825" y="3505200"/>
            <a:ext cx="2924175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均匀网格：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丢失局部精度，</a:t>
            </a:r>
            <a:endParaRPr sz="2000" dirty="0"/>
          </a:p>
          <a:p>
            <a:pPr algn="l" rtl="0" eaLnBrk="0"/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可使用卷积神经网络。</a:t>
            </a:r>
            <a:endParaRPr sz="2000" dirty="0"/>
          </a:p>
        </p:txBody>
      </p:sp>
      <p:sp>
        <p:nvSpPr>
          <p:cNvPr id="1430" name="textbox 1430"/>
          <p:cNvSpPr/>
          <p:nvPr/>
        </p:nvSpPr>
        <p:spPr>
          <a:xfrm>
            <a:off x="6153150" y="3543300"/>
            <a:ext cx="495300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不均匀网格：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数据结构复杂，但保留了细节，</a:t>
            </a:r>
            <a:endParaRPr sz="2000" dirty="0"/>
          </a:p>
          <a:p>
            <a:pPr algn="l" rtl="0" eaLnBrk="0"/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可使用图神经网络</a:t>
            </a:r>
            <a:endParaRPr sz="2000" dirty="0"/>
          </a:p>
        </p:txBody>
      </p:sp>
      <p:sp>
        <p:nvSpPr>
          <p:cNvPr id="1432" name="textbox 1432"/>
          <p:cNvSpPr/>
          <p:nvPr/>
        </p:nvSpPr>
        <p:spPr>
          <a:xfrm>
            <a:off x="952500" y="4371975"/>
            <a:ext cx="7905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43434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U-Net</a:t>
            </a:r>
            <a:endParaRPr sz="2400" dirty="0"/>
          </a:p>
        </p:txBody>
      </p:sp>
      <p:pic>
        <p:nvPicPr>
          <p:cNvPr id="1436" name="picture 14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4400550"/>
            <a:ext cx="2428875" cy="1019175"/>
          </a:xfrm>
          <a:prstGeom prst="rect">
            <a:avLst/>
          </a:prstGeom>
        </p:spPr>
      </p:pic>
      <p:sp>
        <p:nvSpPr>
          <p:cNvPr id="1438" name="textbox 1438"/>
          <p:cNvSpPr/>
          <p:nvPr/>
        </p:nvSpPr>
        <p:spPr>
          <a:xfrm>
            <a:off x="7781925" y="4295775"/>
            <a:ext cx="6191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</a:t>
            </a:r>
            <a:endParaRPr sz="2000" dirty="0"/>
          </a:p>
        </p:txBody>
      </p:sp>
      <p:pic>
        <p:nvPicPr>
          <p:cNvPr id="1442" name="picture 14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850" y="4295775"/>
            <a:ext cx="2438400" cy="1028700"/>
          </a:xfrm>
          <a:prstGeom prst="rect">
            <a:avLst/>
          </a:prstGeom>
        </p:spPr>
      </p:pic>
      <p:sp>
        <p:nvSpPr>
          <p:cNvPr id="1444" name="textbox 1444"/>
          <p:cNvSpPr/>
          <p:nvPr/>
        </p:nvSpPr>
        <p:spPr>
          <a:xfrm>
            <a:off x="9182100" y="5334000"/>
            <a:ext cx="148590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Message passing</a:t>
            </a:r>
            <a:endParaRPr sz="1600" dirty="0"/>
          </a:p>
        </p:txBody>
      </p:sp>
      <p:sp>
        <p:nvSpPr>
          <p:cNvPr id="1446" name="textbox 1446"/>
          <p:cNvSpPr/>
          <p:nvPr/>
        </p:nvSpPr>
        <p:spPr>
          <a:xfrm>
            <a:off x="828675" y="5572125"/>
            <a:ext cx="446722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42900" algn="l" rtl="0" eaLnBrk="0">
              <a:buChar char="►"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由于体素化或像素化丢失局部分辨率</a:t>
            </a:r>
            <a:endParaRPr sz="2000" dirty="0"/>
          </a:p>
        </p:txBody>
      </p:sp>
      <p:sp>
        <p:nvSpPr>
          <p:cNvPr id="1448" name="textbox 1448"/>
          <p:cNvSpPr/>
          <p:nvPr/>
        </p:nvSpPr>
        <p:spPr>
          <a:xfrm>
            <a:off x="828675" y="5876925"/>
            <a:ext cx="32670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61950" indent="-323850" algn="l" rtl="0" eaLnBrk="0">
              <a:buChar char="►"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长距离捕获关系的能力强。</a:t>
            </a:r>
            <a:endParaRPr sz="2000" dirty="0"/>
          </a:p>
        </p:txBody>
      </p:sp>
      <p:sp>
        <p:nvSpPr>
          <p:cNvPr id="1450" name="textbox 1450"/>
          <p:cNvSpPr/>
          <p:nvPr/>
        </p:nvSpPr>
        <p:spPr>
          <a:xfrm>
            <a:off x="828675" y="6181725"/>
            <a:ext cx="22574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33375" algn="l" rtl="0" eaLnBrk="0">
              <a:buChar char="►"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多尺度建模能力。</a:t>
            </a:r>
            <a:endParaRPr sz="2000" dirty="0"/>
          </a:p>
        </p:txBody>
      </p:sp>
      <p:sp>
        <p:nvSpPr>
          <p:cNvPr id="1452" name="textbox 1452"/>
          <p:cNvSpPr/>
          <p:nvPr/>
        </p:nvSpPr>
        <p:spPr>
          <a:xfrm>
            <a:off x="4743450" y="6296025"/>
            <a:ext cx="27051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066EB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组合两者的优势?</a:t>
            </a:r>
            <a:endParaRPr sz="2800" dirty="0"/>
          </a:p>
        </p:txBody>
      </p:sp>
      <p:sp>
        <p:nvSpPr>
          <p:cNvPr id="1454" name="textbox 1454"/>
          <p:cNvSpPr/>
          <p:nvPr/>
        </p:nvSpPr>
        <p:spPr>
          <a:xfrm>
            <a:off x="7696200" y="5686425"/>
            <a:ext cx="22479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61950" indent="-323850" algn="l" rtl="0" eaLnBrk="0">
              <a:buChar char="►"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局部特征提取强。</a:t>
            </a:r>
            <a:endParaRPr sz="2000" dirty="0"/>
          </a:p>
        </p:txBody>
      </p:sp>
      <p:sp>
        <p:nvSpPr>
          <p:cNvPr id="1456" name="textbox 1456"/>
          <p:cNvSpPr/>
          <p:nvPr/>
        </p:nvSpPr>
        <p:spPr>
          <a:xfrm>
            <a:off x="7705725" y="5991225"/>
            <a:ext cx="40005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23850" algn="l" rtl="0" eaLnBrk="0">
              <a:buChar char="►"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在实现长距离关系建模面临挑战。</a:t>
            </a:r>
            <a:endParaRPr sz="2000" dirty="0"/>
          </a:p>
        </p:txBody>
      </p:sp>
      <p:sp>
        <p:nvSpPr>
          <p:cNvPr id="1458" name="textbox 1458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9C9C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36</a:t>
            </a:r>
            <a:endParaRPr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picture 14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64" name="textbox 1464"/>
          <p:cNvSpPr/>
          <p:nvPr/>
        </p:nvSpPr>
        <p:spPr>
          <a:xfrm>
            <a:off x="657225" y="314325"/>
            <a:ext cx="39147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468" name="picture 1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470" name="textbox 1470"/>
          <p:cNvSpPr/>
          <p:nvPr/>
        </p:nvSpPr>
        <p:spPr>
          <a:xfrm>
            <a:off x="885825" y="1057275"/>
            <a:ext cx="29432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47650" algn="l" rtl="0" eaLnBrk="0">
              <a:buChar char="►"/>
            </a:pPr>
            <a:r>
              <a:rPr sz="2800" b="1" kern="0" spc="0" dirty="0">
                <a:solidFill>
                  <a:srgbClr val="0A70B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混合架构的优势：</a:t>
            </a:r>
            <a:endParaRPr sz="2800" dirty="0"/>
          </a:p>
        </p:txBody>
      </p:sp>
      <p:sp>
        <p:nvSpPr>
          <p:cNvPr id="1472" name="textbox 1472"/>
          <p:cNvSpPr/>
          <p:nvPr/>
        </p:nvSpPr>
        <p:spPr>
          <a:xfrm>
            <a:off x="1419225" y="1638300"/>
            <a:ext cx="9858375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76225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结合了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全局特征和局部细粒度特征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，同时处理流场整体趋势和局部细节，</a:t>
            </a:r>
            <a:endParaRPr sz="2400" dirty="0"/>
          </a:p>
          <a:p>
            <a:pPr marL="276225"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显著提升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模型预测精度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sp>
        <p:nvSpPr>
          <p:cNvPr id="1474" name="textbox 1474"/>
          <p:cNvSpPr/>
          <p:nvPr/>
        </p:nvSpPr>
        <p:spPr>
          <a:xfrm>
            <a:off x="1419225" y="2381250"/>
            <a:ext cx="857250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76225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U-Net 负责全局特征提取，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弥补GNN长距离建模能力的不足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2400" dirty="0"/>
          </a:p>
        </p:txBody>
      </p:sp>
      <p:sp>
        <p:nvSpPr>
          <p:cNvPr id="1476" name="textbox 1476"/>
          <p:cNvSpPr/>
          <p:nvPr/>
        </p:nvSpPr>
        <p:spPr>
          <a:xfrm>
            <a:off x="1419225" y="2752725"/>
            <a:ext cx="84201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95275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K-hop 采样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构造子图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输入图神经网络强化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局部细节特征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学习。</a:t>
            </a:r>
            <a:endParaRPr sz="2400" dirty="0"/>
          </a:p>
        </p:txBody>
      </p:sp>
      <p:pic>
        <p:nvPicPr>
          <p:cNvPr id="1480" name="picture 14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90900"/>
            <a:ext cx="11553825" cy="3257550"/>
          </a:xfrm>
          <a:prstGeom prst="rect">
            <a:avLst/>
          </a:prstGeom>
        </p:spPr>
      </p:pic>
      <p:sp>
        <p:nvSpPr>
          <p:cNvPr id="1482" name="textbox 1482"/>
          <p:cNvSpPr/>
          <p:nvPr/>
        </p:nvSpPr>
        <p:spPr>
          <a:xfrm>
            <a:off x="3819525" y="3876675"/>
            <a:ext cx="7620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Attention</a:t>
            </a:r>
            <a:endParaRPr sz="1400" dirty="0"/>
          </a:p>
        </p:txBody>
      </p:sp>
      <p:sp>
        <p:nvSpPr>
          <p:cNvPr id="1484" name="textbox 1484"/>
          <p:cNvSpPr/>
          <p:nvPr/>
        </p:nvSpPr>
        <p:spPr>
          <a:xfrm>
            <a:off x="3971925" y="4105275"/>
            <a:ext cx="44767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Unet</a:t>
            </a:r>
            <a:endParaRPr sz="1400" dirty="0"/>
          </a:p>
        </p:txBody>
      </p:sp>
      <p:sp>
        <p:nvSpPr>
          <p:cNvPr id="1486" name="textbox 1486"/>
          <p:cNvSpPr/>
          <p:nvPr/>
        </p:nvSpPr>
        <p:spPr>
          <a:xfrm>
            <a:off x="6715125" y="4610100"/>
            <a:ext cx="13335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Canonical Space query</a:t>
            </a:r>
            <a:endParaRPr sz="1100" dirty="0"/>
          </a:p>
        </p:txBody>
      </p:sp>
      <p:sp>
        <p:nvSpPr>
          <p:cNvPr id="1488" name="textbox 1488"/>
          <p:cNvSpPr/>
          <p:nvPr/>
        </p:nvSpPr>
        <p:spPr>
          <a:xfrm>
            <a:off x="5238750" y="4619625"/>
            <a:ext cx="7620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Latent Grid</a:t>
            </a:r>
            <a:endParaRPr sz="1100" dirty="0"/>
          </a:p>
        </p:txBody>
      </p:sp>
      <p:sp>
        <p:nvSpPr>
          <p:cNvPr id="1490" name="textbox 1490"/>
          <p:cNvSpPr/>
          <p:nvPr/>
        </p:nvSpPr>
        <p:spPr>
          <a:xfrm>
            <a:off x="2362200" y="4676775"/>
            <a:ext cx="8191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Uniform Grid</a:t>
            </a:r>
            <a:endParaRPr sz="1000" dirty="0"/>
          </a:p>
        </p:txBody>
      </p:sp>
      <p:sp>
        <p:nvSpPr>
          <p:cNvPr id="1492" name="textbox 1492"/>
          <p:cNvSpPr/>
          <p:nvPr/>
        </p:nvSpPr>
        <p:spPr>
          <a:xfrm>
            <a:off x="9944100" y="4924425"/>
            <a:ext cx="6858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Decoder</a:t>
            </a:r>
            <a:endParaRPr sz="1400" dirty="0"/>
          </a:p>
        </p:txBody>
      </p:sp>
      <p:sp>
        <p:nvSpPr>
          <p:cNvPr id="1494" name="textbox 1494"/>
          <p:cNvSpPr/>
          <p:nvPr/>
        </p:nvSpPr>
        <p:spPr>
          <a:xfrm>
            <a:off x="838200" y="5400675"/>
            <a:ext cx="6096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Geometry</a:t>
            </a:r>
            <a:endParaRPr sz="1000" dirty="0"/>
          </a:p>
        </p:txBody>
      </p:sp>
      <p:sp>
        <p:nvSpPr>
          <p:cNvPr id="1496" name="textbox 1496"/>
          <p:cNvSpPr/>
          <p:nvPr/>
        </p:nvSpPr>
        <p:spPr>
          <a:xfrm>
            <a:off x="10868025" y="5629275"/>
            <a:ext cx="5619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B9B9B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Prediction</a:t>
            </a:r>
            <a:endParaRPr sz="1000" dirty="0"/>
          </a:p>
        </p:txBody>
      </p:sp>
      <p:sp>
        <p:nvSpPr>
          <p:cNvPr id="1498" name="textbox 1498"/>
          <p:cNvSpPr/>
          <p:nvPr/>
        </p:nvSpPr>
        <p:spPr>
          <a:xfrm>
            <a:off x="7391400" y="5695950"/>
            <a:ext cx="58102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225" dirty="0">
                <a:solidFill>
                  <a:srgbClr val="333F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FVGN</a:t>
            </a:r>
            <a:endParaRPr sz="1400" dirty="0"/>
          </a:p>
        </p:txBody>
      </p:sp>
      <p:sp>
        <p:nvSpPr>
          <p:cNvPr id="1500" name="textbox 1500"/>
          <p:cNvSpPr/>
          <p:nvPr/>
        </p:nvSpPr>
        <p:spPr>
          <a:xfrm>
            <a:off x="3248025" y="6019800"/>
            <a:ext cx="100012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K-hop Sampling</a:t>
            </a:r>
            <a:endParaRPr sz="1100" dirty="0"/>
          </a:p>
        </p:txBody>
      </p:sp>
      <p:sp>
        <p:nvSpPr>
          <p:cNvPr id="1502" name="textbox 1502"/>
          <p:cNvSpPr/>
          <p:nvPr/>
        </p:nvSpPr>
        <p:spPr>
          <a:xfrm>
            <a:off x="2305050" y="6315075"/>
            <a:ext cx="86677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Irregular Grid</a:t>
            </a:r>
            <a:endParaRPr sz="1100" dirty="0"/>
          </a:p>
        </p:txBody>
      </p:sp>
      <p:sp>
        <p:nvSpPr>
          <p:cNvPr id="1504" name="textbox 1504"/>
          <p:cNvSpPr/>
          <p:nvPr/>
        </p:nvSpPr>
        <p:spPr>
          <a:xfrm>
            <a:off x="4543425" y="6410325"/>
            <a:ext cx="6096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b="1" kern="0" spc="0" dirty="0">
                <a:solidFill>
                  <a:srgbClr val="6666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Subgraphs</a:t>
            </a:r>
            <a:endParaRPr sz="900" dirty="0"/>
          </a:p>
        </p:txBody>
      </p:sp>
      <p:sp>
        <p:nvSpPr>
          <p:cNvPr id="1506" name="textbox 1506"/>
          <p:cNvSpPr/>
          <p:nvPr/>
        </p:nvSpPr>
        <p:spPr>
          <a:xfrm>
            <a:off x="5829300" y="6429375"/>
            <a:ext cx="83820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K-hop Subgraph</a:t>
            </a:r>
            <a:endParaRPr sz="1000" dirty="0"/>
          </a:p>
        </p:txBody>
      </p:sp>
      <p:sp>
        <p:nvSpPr>
          <p:cNvPr id="1508" name="textbox 1508"/>
          <p:cNvSpPr/>
          <p:nvPr/>
        </p:nvSpPr>
        <p:spPr>
          <a:xfrm>
            <a:off x="11934825" y="6638925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EAEAE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37</a:t>
            </a:r>
            <a:endParaRPr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picture 15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14" name="textbox 1514"/>
          <p:cNvSpPr/>
          <p:nvPr/>
        </p:nvSpPr>
        <p:spPr>
          <a:xfrm>
            <a:off x="666750" y="314325"/>
            <a:ext cx="39052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76225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520" name="textbox 1520"/>
          <p:cNvSpPr/>
          <p:nvPr/>
        </p:nvSpPr>
        <p:spPr>
          <a:xfrm>
            <a:off x="914400" y="1057275"/>
            <a:ext cx="39719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47650" indent="-247650" algn="l" rtl="0" eaLnBrk="0">
              <a:buChar char="►"/>
            </a:pPr>
            <a:r>
              <a:rPr sz="2800" b="1" kern="0" spc="0" dirty="0">
                <a:solidFill>
                  <a:srgbClr val="0D6DB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数据集及训练参数设置：</a:t>
            </a:r>
            <a:endParaRPr sz="2800" dirty="0"/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425" y="1038225"/>
            <a:ext cx="2762250" cy="523875"/>
          </a:xfrm>
          <a:prstGeom prst="rect">
            <a:avLst/>
          </a:prstGeom>
        </p:spPr>
      </p:pic>
      <p:graphicFrame>
        <p:nvGraphicFramePr>
          <p:cNvPr id="1526" name="table 1526"/>
          <p:cNvGraphicFramePr>
            <a:graphicFrameLocks noGrp="1"/>
          </p:cNvGraphicFramePr>
          <p:nvPr/>
        </p:nvGraphicFramePr>
        <p:xfrm>
          <a:off x="904875" y="1724025"/>
          <a:ext cx="8048625" cy="1895475"/>
        </p:xfrm>
        <a:graphic>
          <a:graphicData uri="http://schemas.openxmlformats.org/drawingml/2006/table">
            <a:tbl>
              <a:tblPr/>
              <a:tblGrid>
                <a:gridCol w="1905000"/>
                <a:gridCol w="952500"/>
                <a:gridCol w="952500"/>
                <a:gridCol w="1257300"/>
                <a:gridCol w="1362075"/>
                <a:gridCol w="1619250"/>
              </a:tblGrid>
              <a:tr h="314325">
                <a:tc rowSpan="2">
                  <a:txBody>
                    <a:bodyPr/>
                    <a:lstStyle/>
                    <a:p>
                      <a:pPr algn="l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Benchmarks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Training Configuration (Shared in all baselines)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Loss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Epochs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Initial LR</a:t>
                      </a:r>
                      <a:endParaRPr sz="1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Optimizer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Batch Size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SHAPE-Net Car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b="1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2000" b="1" i="1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2000" b="1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2000" b="1" i="1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250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DrivaERNet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2000" b="1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150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r>
                        <a:rPr sz="20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−3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Adam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/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AirFRANS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b="1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2000" b="1" i="1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</a:t>
                      </a: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2000" b="1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2000" b="1" i="1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600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0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D8D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30" name="picture 15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5" y="1724025"/>
            <a:ext cx="2762250" cy="581025"/>
          </a:xfrm>
          <a:prstGeom prst="rect">
            <a:avLst/>
          </a:prstGeom>
        </p:spPr>
      </p:pic>
      <p:pic>
        <p:nvPicPr>
          <p:cNvPr id="1534" name="picture 15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425" y="2305050"/>
            <a:ext cx="2762250" cy="685800"/>
          </a:xfrm>
          <a:prstGeom prst="rect">
            <a:avLst/>
          </a:prstGeom>
        </p:spPr>
      </p:pic>
      <p:pic>
        <p:nvPicPr>
          <p:cNvPr id="1538" name="picture 15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3076575"/>
            <a:ext cx="2762250" cy="514350"/>
          </a:xfrm>
          <a:prstGeom prst="rect">
            <a:avLst/>
          </a:prstGeom>
        </p:spPr>
      </p:pic>
      <p:sp>
        <p:nvSpPr>
          <p:cNvPr id="1540" name="textbox 1540"/>
          <p:cNvSpPr/>
          <p:nvPr/>
        </p:nvSpPr>
        <p:spPr>
          <a:xfrm>
            <a:off x="9410700" y="3686175"/>
            <a:ext cx="182880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Meshes visualization</a:t>
            </a:r>
            <a:endParaRPr sz="1600" dirty="0"/>
          </a:p>
        </p:txBody>
      </p:sp>
      <p:sp>
        <p:nvSpPr>
          <p:cNvPr id="1542" name="textbox 1542"/>
          <p:cNvSpPr/>
          <p:nvPr/>
        </p:nvSpPr>
        <p:spPr>
          <a:xfrm>
            <a:off x="533400" y="4067175"/>
            <a:ext cx="11210925" cy="695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95275" algn="l" rtl="0" eaLnBrk="0">
              <a:buChar char="►"/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Shape-Net Car: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汽车模型数据集，涵盖多种汽车的 3D 简略模型，提供多样化</a:t>
            </a:r>
            <a:endParaRPr sz="2400" dirty="0"/>
          </a:p>
          <a:p>
            <a:pPr marL="266700"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的车身结构，以支持几何形状分析和计算机辅助设计任务。</a:t>
            </a:r>
            <a:endParaRPr sz="2400" dirty="0"/>
          </a:p>
        </p:txBody>
      </p:sp>
      <p:sp>
        <p:nvSpPr>
          <p:cNvPr id="1544" name="textbox 1544"/>
          <p:cNvSpPr/>
          <p:nvPr/>
        </p:nvSpPr>
        <p:spPr>
          <a:xfrm>
            <a:off x="533400" y="4933950"/>
            <a:ext cx="11210925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85750" algn="l" rtl="0" eaLnBrk="0">
              <a:buChar char="►"/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DrivAerNet: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专为数据驱动的汽车气动设计开发的参数化真实汽车数据集，数据</a:t>
            </a:r>
            <a:endParaRPr sz="2400" dirty="0"/>
          </a:p>
          <a:p>
            <a:pPr marL="266700"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规模较大，每个汽车表面约40万网格。</a:t>
            </a:r>
            <a:endParaRPr sz="2400" dirty="0"/>
          </a:p>
        </p:txBody>
      </p:sp>
      <p:sp>
        <p:nvSpPr>
          <p:cNvPr id="1546" name="textbox 1546"/>
          <p:cNvSpPr/>
          <p:nvPr/>
        </p:nvSpPr>
        <p:spPr>
          <a:xfrm>
            <a:off x="533400" y="5829300"/>
            <a:ext cx="11182350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304800" algn="l" rtl="0" eaLnBrk="0">
              <a:buChar char="►"/>
            </a:pP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AirfRANS：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针对RANS的翼型流场数据集，包含大量不同翼型在不同飞行条件下</a:t>
            </a:r>
            <a:endParaRPr sz="2400" dirty="0"/>
          </a:p>
          <a:p>
            <a:pPr marL="276225"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的流场模拟结果（速度场、压力场和湍流场等详细信息）。</a:t>
            </a:r>
            <a:endParaRPr sz="2400" dirty="0"/>
          </a:p>
        </p:txBody>
      </p:sp>
      <p:sp>
        <p:nvSpPr>
          <p:cNvPr id="1548" name="textbox 1548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E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38</a:t>
            </a:r>
            <a:endParaRPr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2" name="picture 15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4" name="textbox 1554"/>
          <p:cNvSpPr/>
          <p:nvPr/>
        </p:nvSpPr>
        <p:spPr>
          <a:xfrm>
            <a:off x="666750" y="314325"/>
            <a:ext cx="39052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76225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1560" name="textbox 1560"/>
          <p:cNvSpPr/>
          <p:nvPr/>
        </p:nvSpPr>
        <p:spPr>
          <a:xfrm>
            <a:off x="857250" y="1200150"/>
            <a:ext cx="26765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71475" algn="l" rtl="0" eaLnBrk="0">
              <a:buChar char="►"/>
            </a:pPr>
            <a:r>
              <a:rPr sz="2800" b="1" kern="0" spc="0" dirty="0">
                <a:solidFill>
                  <a:srgbClr val="0B71B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预测结果比较：</a:t>
            </a:r>
            <a:endParaRPr sz="2800" dirty="0"/>
          </a:p>
        </p:txBody>
      </p:sp>
      <p:sp>
        <p:nvSpPr>
          <p:cNvPr id="1562" name="textbox 1562"/>
          <p:cNvSpPr/>
          <p:nvPr/>
        </p:nvSpPr>
        <p:spPr>
          <a:xfrm>
            <a:off x="1724025" y="1885950"/>
            <a:ext cx="67722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66700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总体误差与SOTA（现有效果最好的模型）一致。</a:t>
            </a:r>
            <a:endParaRPr sz="2400" dirty="0"/>
          </a:p>
        </p:txBody>
      </p:sp>
      <p:sp>
        <p:nvSpPr>
          <p:cNvPr id="1564" name="textbox 1564"/>
          <p:cNvSpPr/>
          <p:nvPr/>
        </p:nvSpPr>
        <p:spPr>
          <a:xfrm>
            <a:off x="1714500" y="2333625"/>
            <a:ext cx="704850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57175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细节误差水平优于SOTA；归一化误差在3e-2量级。</a:t>
            </a:r>
            <a:endParaRPr sz="2400" dirty="0"/>
          </a:p>
        </p:txBody>
      </p:sp>
      <p:pic>
        <p:nvPicPr>
          <p:cNvPr id="1568" name="picture 15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3028950"/>
            <a:ext cx="11582400" cy="3324225"/>
          </a:xfrm>
          <a:prstGeom prst="rect">
            <a:avLst/>
          </a:prstGeom>
        </p:spPr>
      </p:pic>
      <p:sp>
        <p:nvSpPr>
          <p:cNvPr id="1570" name="textbox 1570"/>
          <p:cNvSpPr/>
          <p:nvPr/>
        </p:nvSpPr>
        <p:spPr>
          <a:xfrm>
            <a:off x="11934825" y="6638925"/>
            <a:ext cx="18097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CCC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39</a:t>
            </a:r>
            <a:endParaRPr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picture 15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76" name="textbox 1576"/>
          <p:cNvSpPr/>
          <p:nvPr/>
        </p:nvSpPr>
        <p:spPr>
          <a:xfrm>
            <a:off x="666750" y="314325"/>
            <a:ext cx="390525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76225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580" name="picture 1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1582" name="textbox 1582"/>
          <p:cNvSpPr/>
          <p:nvPr/>
        </p:nvSpPr>
        <p:spPr>
          <a:xfrm>
            <a:off x="847725" y="1143000"/>
            <a:ext cx="26860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81000" algn="l" rtl="0" eaLnBrk="0">
              <a:buChar char="►"/>
            </a:pPr>
            <a:r>
              <a:rPr sz="2800" b="1" kern="0" spc="0" dirty="0">
                <a:solidFill>
                  <a:srgbClr val="0E6CA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预测结果比较：</a:t>
            </a:r>
            <a:endParaRPr sz="2800" dirty="0"/>
          </a:p>
        </p:txBody>
      </p:sp>
      <p:sp>
        <p:nvSpPr>
          <p:cNvPr id="1584" name="textbox 1584"/>
          <p:cNvSpPr/>
          <p:nvPr/>
        </p:nvSpPr>
        <p:spPr>
          <a:xfrm>
            <a:off x="1600200" y="1724025"/>
            <a:ext cx="621982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ME-GNN在大多数指标上都领先于现有模型</a:t>
            </a:r>
            <a:endParaRPr sz="2400" dirty="0"/>
          </a:p>
        </p:txBody>
      </p:sp>
      <p:sp>
        <p:nvSpPr>
          <p:cNvPr id="1586" name="textbox 1586"/>
          <p:cNvSpPr/>
          <p:nvPr/>
        </p:nvSpPr>
        <p:spPr>
          <a:xfrm>
            <a:off x="1600200" y="2171700"/>
            <a:ext cx="782955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57175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AirfRANS数据中的表面压力预测精度略低于Transolver。</a:t>
            </a:r>
            <a:endParaRPr sz="2400" dirty="0"/>
          </a:p>
        </p:txBody>
      </p:sp>
      <p:graphicFrame>
        <p:nvGraphicFramePr>
          <p:cNvPr id="1588" name="table 1588"/>
          <p:cNvGraphicFramePr>
            <a:graphicFrameLocks noGrp="1"/>
          </p:cNvGraphicFramePr>
          <p:nvPr/>
        </p:nvGraphicFramePr>
        <p:xfrm>
          <a:off x="2314575" y="2771775"/>
          <a:ext cx="7324725" cy="3790950"/>
        </p:xfrm>
        <a:graphic>
          <a:graphicData uri="http://schemas.openxmlformats.org/drawingml/2006/table">
            <a:tbl>
              <a:tblPr/>
              <a:tblGrid>
                <a:gridCol w="1562100"/>
                <a:gridCol w="885825"/>
                <a:gridCol w="1000125"/>
                <a:gridCol w="885825"/>
                <a:gridCol w="971550"/>
                <a:gridCol w="942975"/>
                <a:gridCol w="1076325"/>
              </a:tblGrid>
              <a:tr h="323850">
                <a:tc rowSpan="2"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Model*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ShapeNet-Car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AirfRANS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175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Vol↓</a:t>
                      </a:r>
                      <a:endParaRPr sz="2100" dirty="0"/>
                    </a:p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(×10</a:t>
                      </a:r>
                      <a:r>
                        <a:rPr sz="21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−2</a:t>
                      </a: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Surf↓</a:t>
                      </a:r>
                      <a:endParaRPr sz="2100" dirty="0"/>
                    </a:p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(×10</a:t>
                      </a:r>
                      <a:r>
                        <a:rPr sz="21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−2</a:t>
                      </a: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Vol↓</a:t>
                      </a:r>
                      <a:endParaRPr sz="21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Surf↓</a:t>
                      </a:r>
                      <a:endParaRPr sz="2100" dirty="0"/>
                    </a:p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(×10</a:t>
                      </a:r>
                      <a:r>
                        <a:rPr sz="2100" kern="0" spc="0" baseline="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−2</a:t>
                      </a:r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CL↓</a:t>
                      </a:r>
                      <a:endParaRPr sz="21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ρL↑</a:t>
                      </a:r>
                      <a:endParaRPr sz="21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MGN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3.54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7.81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2.14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3.87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22.52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0.9945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FVGN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4.60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11.48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3.36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4.87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22.87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0.9923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GNO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3.83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8.15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2.69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4.05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20.16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0.9938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Galerkin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3.39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8.78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0.74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1.59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23.36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0.9951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GNOT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3.29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7.98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0.49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1.52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19.92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0.9942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GINO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3.86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8.10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2.97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4.82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18.21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0.9958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3D-GeoCA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3.19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7.79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Transolver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2.07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7.45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0.37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1.42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10.30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0.9978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ME-GNN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1.96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3B5F21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0.36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1.51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4.40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795D01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0.9991</a:t>
                      </a:r>
                      <a:endParaRPr sz="21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292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</a:tr>
            </a:tbl>
          </a:graphicData>
        </a:graphic>
      </p:graphicFrame>
      <p:sp>
        <p:nvSpPr>
          <p:cNvPr id="1590" name="textbox 1590"/>
          <p:cNvSpPr/>
          <p:nvPr/>
        </p:nvSpPr>
        <p:spPr>
          <a:xfrm>
            <a:off x="11944350" y="6638925"/>
            <a:ext cx="17145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D6D6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40</a:t>
            </a:r>
            <a:endParaRPr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picture 15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96" name="textbox 1596"/>
          <p:cNvSpPr/>
          <p:nvPr/>
        </p:nvSpPr>
        <p:spPr>
          <a:xfrm>
            <a:off x="628650" y="314325"/>
            <a:ext cx="39147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85750" algn="l" rtl="0" eaLnBrk="0">
              <a:buAutoNum type="arabicPeriod" startAt="2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多尺度增强网络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ME-GNN</a:t>
            </a:r>
            <a:endParaRPr sz="2000" dirty="0"/>
          </a:p>
        </p:txBody>
      </p:sp>
      <p:pic>
        <p:nvPicPr>
          <p:cNvPr id="1600" name="picture 16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pic>
        <p:nvPicPr>
          <p:cNvPr id="1604" name="picture 16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62075"/>
            <a:ext cx="3829050" cy="2552700"/>
          </a:xfrm>
          <a:prstGeom prst="rect">
            <a:avLst/>
          </a:prstGeom>
        </p:spPr>
      </p:pic>
      <p:pic>
        <p:nvPicPr>
          <p:cNvPr id="1608" name="picture 16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575" y="1362075"/>
            <a:ext cx="3829050" cy="2552700"/>
          </a:xfrm>
          <a:prstGeom prst="rect">
            <a:avLst/>
          </a:prstGeom>
        </p:spPr>
      </p:pic>
      <p:pic>
        <p:nvPicPr>
          <p:cNvPr id="1612" name="picture 1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1362075"/>
            <a:ext cx="3810000" cy="2552700"/>
          </a:xfrm>
          <a:prstGeom prst="rect">
            <a:avLst/>
          </a:prstGeom>
        </p:spPr>
      </p:pic>
      <p:sp>
        <p:nvSpPr>
          <p:cNvPr id="1614" name="textbox 1614"/>
          <p:cNvSpPr/>
          <p:nvPr/>
        </p:nvSpPr>
        <p:spPr>
          <a:xfrm>
            <a:off x="666750" y="4524375"/>
            <a:ext cx="10848975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57175" indent="-257175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该方法在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IJCAI 2024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 "</a:t>
            </a:r>
            <a:r>
              <a:rPr sz="24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Rapid Aerodynamic Drag Prediction for Arbitrary</a:t>
            </a:r>
            <a:endParaRPr sz="2400" dirty="0"/>
          </a:p>
          <a:p>
            <a:pPr marL="285750" algn="l" rtl="0" eaLnBrk="0"/>
            <a:r>
              <a:rPr sz="24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 Vehicle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 取得如下成绩:</a:t>
            </a:r>
            <a:endParaRPr sz="2400" dirty="0"/>
          </a:p>
        </p:txBody>
      </p:sp>
      <p:sp>
        <p:nvSpPr>
          <p:cNvPr id="1616" name="textbox 1616"/>
          <p:cNvSpPr/>
          <p:nvPr/>
        </p:nvSpPr>
        <p:spPr>
          <a:xfrm>
            <a:off x="1114425" y="5314950"/>
            <a:ext cx="100965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66700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 A (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)：面向简化汽车模型（ShapeNet-Car）的表面压力预测</a:t>
            </a:r>
            <a:endParaRPr sz="2400" dirty="0"/>
          </a:p>
        </p:txBody>
      </p:sp>
      <p:sp>
        <p:nvSpPr>
          <p:cNvPr id="1618" name="textbox 1618"/>
          <p:cNvSpPr/>
          <p:nvPr/>
        </p:nvSpPr>
        <p:spPr>
          <a:xfrm>
            <a:off x="1123950" y="5772150"/>
            <a:ext cx="963930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66700" indent="-266700" algn="l" rtl="0" eaLnBrk="0">
              <a:buChar char="►"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 B (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第二名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 面向拟真汽车模型 (DrivAerNet) 的表面压力预测</a:t>
            </a:r>
            <a:endParaRPr sz="2400" dirty="0"/>
          </a:p>
        </p:txBody>
      </p:sp>
      <p:sp>
        <p:nvSpPr>
          <p:cNvPr id="1620" name="textbox 1620"/>
          <p:cNvSpPr/>
          <p:nvPr/>
        </p:nvSpPr>
        <p:spPr>
          <a:xfrm>
            <a:off x="1123950" y="6219825"/>
            <a:ext cx="909637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76225" algn="l" rtl="0" eaLnBrk="0">
              <a:buChar char="►"/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Track C (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):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面向混合数据的表面压力预测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(Track A+Track B)</a:t>
            </a:r>
            <a:endParaRPr sz="2600" dirty="0"/>
          </a:p>
        </p:txBody>
      </p:sp>
      <p:sp>
        <p:nvSpPr>
          <p:cNvPr id="1622" name="textbox 1622"/>
          <p:cNvSpPr/>
          <p:nvPr/>
        </p:nvSpPr>
        <p:spPr>
          <a:xfrm>
            <a:off x="11934825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75" dirty="0">
                <a:solidFill>
                  <a:srgbClr val="E9E9E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41</a:t>
            </a:r>
            <a:endParaRPr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6" name="picture 16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28" name="textbox 1628"/>
          <p:cNvSpPr/>
          <p:nvPr/>
        </p:nvSpPr>
        <p:spPr>
          <a:xfrm>
            <a:off x="542925" y="2924175"/>
            <a:ext cx="7429500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400" b="1" kern="0" spc="0" dirty="0">
                <a:solidFill>
                  <a:srgbClr val="C21E2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三、物理约束方法研究进展</a:t>
            </a:r>
            <a:endParaRPr sz="4400" dirty="0"/>
          </a:p>
        </p:txBody>
      </p:sp>
      <p:sp>
        <p:nvSpPr>
          <p:cNvPr id="1630" name="textbox 1630"/>
          <p:cNvSpPr/>
          <p:nvPr/>
        </p:nvSpPr>
        <p:spPr>
          <a:xfrm>
            <a:off x="2266950" y="3905250"/>
            <a:ext cx="43243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71475" indent="-323850" algn="l" rtl="0" eaLnBrk="0">
              <a:buChar char="►"/>
            </a:pPr>
            <a:r>
              <a:rPr sz="2800" b="1" kern="0" spc="0" dirty="0">
                <a:solidFill>
                  <a:srgbClr val="006FB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有限体积法物理约束方法</a:t>
            </a:r>
            <a:endParaRPr sz="2800" dirty="0"/>
          </a:p>
        </p:txBody>
      </p:sp>
      <p:sp>
        <p:nvSpPr>
          <p:cNvPr id="1632" name="textbox 1632"/>
          <p:cNvSpPr/>
          <p:nvPr/>
        </p:nvSpPr>
        <p:spPr>
          <a:xfrm>
            <a:off x="2295525" y="4495800"/>
            <a:ext cx="42767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42900" algn="l" rtl="0" eaLnBrk="0">
              <a:buChar char="►"/>
            </a:pPr>
            <a:r>
              <a:rPr sz="2800" b="1" kern="0" spc="0" dirty="0">
                <a:solidFill>
                  <a:srgbClr val="1066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有限差分法物理约束方法</a:t>
            </a:r>
            <a:endParaRPr sz="2800" dirty="0"/>
          </a:p>
        </p:txBody>
      </p:sp>
      <p:pic>
        <p:nvPicPr>
          <p:cNvPr id="1636" name="picture 16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0"/>
            <a:ext cx="352425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picture 16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42" name="textbox 1642"/>
          <p:cNvSpPr/>
          <p:nvPr/>
        </p:nvSpPr>
        <p:spPr>
          <a:xfrm>
            <a:off x="666750" y="304800"/>
            <a:ext cx="62007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有限体积物理约束神经网络（Gen-FVGN）</a:t>
            </a:r>
            <a:endParaRPr sz="2000" dirty="0"/>
          </a:p>
        </p:txBody>
      </p:sp>
      <p:pic>
        <p:nvPicPr>
          <p:cNvPr id="1646" name="picture 16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1648" name="textbox 1648"/>
          <p:cNvSpPr/>
          <p:nvPr/>
        </p:nvSpPr>
        <p:spPr>
          <a:xfrm>
            <a:off x="723900" y="1333500"/>
            <a:ext cx="1080135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42900" algn="l" rtl="0" eaLnBrk="0">
              <a:buChar char="►"/>
            </a:pPr>
            <a:r>
              <a:rPr sz="2600" b="1" kern="0" spc="0" dirty="0">
                <a:solidFill>
                  <a:srgbClr val="1071B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物理信息神经网络(PINN): 将控制方程作为Loss函数，由此引入物理信息</a:t>
            </a:r>
            <a:endParaRPr sz="2600" dirty="0"/>
          </a:p>
        </p:txBody>
      </p:sp>
      <p:sp>
        <p:nvSpPr>
          <p:cNvPr id="1650" name="textbox 1650"/>
          <p:cNvSpPr/>
          <p:nvPr/>
        </p:nvSpPr>
        <p:spPr>
          <a:xfrm>
            <a:off x="1143000" y="2076450"/>
            <a:ext cx="10448925" cy="1295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857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2019年，由Raissi等学者提出</a:t>
            </a: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（JCP2019，PINN: A Deep Learning</a:t>
            </a:r>
            <a:endParaRPr sz="2400" dirty="0"/>
          </a:p>
          <a:p>
            <a:pPr marL="276225" algn="l" rtl="0" eaLnBrk="0">
              <a:spcBef>
                <a:spcPts val="1050"/>
              </a:spcBef>
            </a:pP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Framework for Solving Forward and Inverse Problems Involving</a:t>
            </a:r>
            <a:endParaRPr sz="2400" dirty="0"/>
          </a:p>
          <a:p>
            <a:pPr marL="276225" algn="l" rtl="0" eaLnBrk="0">
              <a:spcBef>
                <a:spcPts val="1050"/>
              </a:spcBef>
            </a:pP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Nonlinear Partial Differential Equations)</a:t>
            </a:r>
            <a:endParaRPr sz="2400" dirty="0"/>
          </a:p>
        </p:txBody>
      </p:sp>
      <p:sp>
        <p:nvSpPr>
          <p:cNvPr id="1652" name="textbox 1652"/>
          <p:cNvSpPr/>
          <p:nvPr/>
        </p:nvSpPr>
        <p:spPr>
          <a:xfrm>
            <a:off x="1152525" y="3705225"/>
            <a:ext cx="10525125" cy="828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304800" algn="l" rtl="0" eaLnBrk="0">
              <a:buChar char="►"/>
            </a:pP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PINN在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CFD中的应用近年来迅速扩展</a:t>
            </a: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，如求解NS方程、逆问题、数据同化、</a:t>
            </a:r>
            <a:endParaRPr sz="2400" dirty="0"/>
          </a:p>
          <a:p>
            <a:pPr marL="266700" algn="l" rtl="0" eaLnBrk="0">
              <a:spcBef>
                <a:spcPts val="1125"/>
              </a:spcBef>
            </a:pP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混合建模等方面均取得良好进展。</a:t>
            </a:r>
            <a:endParaRPr sz="2400" dirty="0"/>
          </a:p>
        </p:txBody>
      </p:sp>
      <p:sp>
        <p:nvSpPr>
          <p:cNvPr id="1654" name="textbox 1654"/>
          <p:cNvSpPr/>
          <p:nvPr/>
        </p:nvSpPr>
        <p:spPr>
          <a:xfrm>
            <a:off x="1152525" y="4895850"/>
            <a:ext cx="10448925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314325" algn="l" rtl="0" eaLnBrk="0">
              <a:buChar char="►"/>
            </a:pP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PINN为CFD提供了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无网格</a:t>
            </a: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（自动微分）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、数据物理融合的新范式</a:t>
            </a: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，尤其在</a:t>
            </a:r>
            <a:endParaRPr sz="2400" dirty="0"/>
          </a:p>
          <a:p>
            <a:pPr marL="276225" algn="l" rtl="0" eaLnBrk="0">
              <a:spcBef>
                <a:spcPts val="1125"/>
              </a:spcBef>
            </a:pPr>
            <a:r>
              <a:rPr sz="2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逆问题和复杂边界场景中潜力显著。</a:t>
            </a:r>
            <a:endParaRPr sz="2400" dirty="0"/>
          </a:p>
        </p:txBody>
      </p:sp>
      <p:sp>
        <p:nvSpPr>
          <p:cNvPr id="1656" name="textbox 1656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b="1" kern="0" spc="300" dirty="0">
                <a:solidFill>
                  <a:srgbClr val="BEBEB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43</a:t>
            </a:r>
            <a:endParaRPr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picture 16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62" name="textbox 1662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1666" name="picture 1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1668" name="textbox 1668"/>
          <p:cNvSpPr/>
          <p:nvPr/>
        </p:nvSpPr>
        <p:spPr>
          <a:xfrm>
            <a:off x="695325" y="1419225"/>
            <a:ext cx="861060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81000" algn="l" rtl="0" eaLnBrk="0">
              <a:buChar char="►"/>
            </a:pPr>
            <a:r>
              <a:rPr sz="2800" b="1" kern="0" spc="0" dirty="0">
                <a:solidFill>
                  <a:srgbClr val="0C6BB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物理信息神经网络（PINN）在复杂场景下面临挑战：</a:t>
            </a:r>
            <a:endParaRPr sz="2800" dirty="0"/>
          </a:p>
        </p:txBody>
      </p:sp>
      <p:sp>
        <p:nvSpPr>
          <p:cNvPr id="1670" name="textbox 1670"/>
          <p:cNvSpPr/>
          <p:nvPr/>
        </p:nvSpPr>
        <p:spPr>
          <a:xfrm>
            <a:off x="1152525" y="2000250"/>
            <a:ext cx="852487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667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泛化能力有限：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多边界条件处理能力有限，且依赖预计算数据</a:t>
            </a:r>
            <a:endParaRPr sz="2400" dirty="0"/>
          </a:p>
        </p:txBody>
      </p:sp>
      <p:sp>
        <p:nvSpPr>
          <p:cNvPr id="1672" name="textbox 1672"/>
          <p:cNvSpPr/>
          <p:nvPr/>
        </p:nvSpPr>
        <p:spPr>
          <a:xfrm>
            <a:off x="1152525" y="2505075"/>
            <a:ext cx="73056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2857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自动微分计算消耗大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：难以拓展到三维复杂问题预测</a:t>
            </a:r>
            <a:endParaRPr sz="2400" dirty="0"/>
          </a:p>
        </p:txBody>
      </p:sp>
      <p:sp>
        <p:nvSpPr>
          <p:cNvPr id="1674" name="textbox 1674"/>
          <p:cNvSpPr/>
          <p:nvPr/>
        </p:nvSpPr>
        <p:spPr>
          <a:xfrm>
            <a:off x="733425" y="3314700"/>
            <a:ext cx="103346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7622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有限体积物理约束神经网络Gen-FVGN：</a:t>
            </a:r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数值微分替代自动微分</a:t>
            </a:r>
            <a:endParaRPr sz="2800" dirty="0"/>
          </a:p>
        </p:txBody>
      </p:sp>
      <p:sp>
        <p:nvSpPr>
          <p:cNvPr id="1676" name="textbox 1676"/>
          <p:cNvSpPr/>
          <p:nvPr/>
        </p:nvSpPr>
        <p:spPr>
          <a:xfrm>
            <a:off x="1190625" y="3886200"/>
            <a:ext cx="10429875" cy="771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857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图神经网络适配性：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结合图神经网络与有限体积法（FVM），灵活适应非结</a:t>
            </a:r>
            <a:endParaRPr sz="2400" dirty="0"/>
          </a:p>
          <a:p>
            <a:pPr marL="276225" algn="l" rtl="0" eaLnBrk="0">
              <a:spcBef>
                <a:spcPts val="825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构网格，支持多类物理方程与边界条件。</a:t>
            </a:r>
            <a:endParaRPr sz="2400" dirty="0"/>
          </a:p>
        </p:txBody>
      </p:sp>
      <p:sp>
        <p:nvSpPr>
          <p:cNvPr id="1678" name="textbox 1678"/>
          <p:cNvSpPr/>
          <p:nvPr/>
        </p:nvSpPr>
        <p:spPr>
          <a:xfrm>
            <a:off x="1190625" y="4838700"/>
            <a:ext cx="1036320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857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基于FVM的无监督可微分计算：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设计GPU并行化的全可微FVM离散化流程；</a:t>
            </a:r>
            <a:endParaRPr sz="2400" dirty="0"/>
          </a:p>
          <a:p>
            <a:pPr marL="295275" algn="l" rtl="0" eaLnBrk="0">
              <a:spcBef>
                <a:spcPts val="90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无需预计算数据，直接基于PDE方程端到端训练。</a:t>
            </a:r>
            <a:endParaRPr sz="2400" dirty="0"/>
          </a:p>
        </p:txBody>
      </p:sp>
      <p:sp>
        <p:nvSpPr>
          <p:cNvPr id="1680" name="textbox 1680"/>
          <p:cNvSpPr/>
          <p:nvPr/>
        </p:nvSpPr>
        <p:spPr>
          <a:xfrm>
            <a:off x="1190625" y="5791200"/>
            <a:ext cx="91725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66700" algn="l" rtl="0" eaLnBrk="0">
              <a:buChar char="►"/>
            </a:pP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继承传统数值方法和网格技术的优势，解决PINN模型泛化性问题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sp>
        <p:nvSpPr>
          <p:cNvPr id="1682" name="textbox 1682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BCBC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44</a:t>
            </a:r>
            <a:endParaRPr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6" name="picture 16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88" name="textbox 1688"/>
          <p:cNvSpPr/>
          <p:nvPr/>
        </p:nvSpPr>
        <p:spPr>
          <a:xfrm>
            <a:off x="685800" y="314325"/>
            <a:ext cx="621982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04800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有限体积物理约束神经网络（Gen-FVGN）</a:t>
            </a:r>
            <a:endParaRPr sz="2000" dirty="0"/>
          </a:p>
        </p:txBody>
      </p:sp>
      <p:pic>
        <p:nvPicPr>
          <p:cNvPr id="1692" name="picture 16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257175"/>
            <a:ext cx="3409950" cy="485775"/>
          </a:xfrm>
          <a:prstGeom prst="rect">
            <a:avLst/>
          </a:prstGeom>
        </p:spPr>
      </p:pic>
      <p:sp>
        <p:nvSpPr>
          <p:cNvPr id="1694" name="textbox 1694"/>
          <p:cNvSpPr/>
          <p:nvPr/>
        </p:nvSpPr>
        <p:spPr>
          <a:xfrm>
            <a:off x="742950" y="1162050"/>
            <a:ext cx="1028700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47650" indent="-247650" algn="l" rtl="0" eaLnBrk="0">
              <a:buChar char="►"/>
            </a:pPr>
            <a:r>
              <a:rPr sz="2800" b="1" kern="0" spc="0" dirty="0">
                <a:solidFill>
                  <a:srgbClr val="066E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Gen-FVGN网络结构：</a:t>
            </a:r>
            <a:r>
              <a:rPr sz="2400" b="1" kern="0" spc="0" dirty="0">
                <a:solidFill>
                  <a:srgbClr val="066E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输入输出物理量均在网格节点上（格点型FVM）</a:t>
            </a:r>
            <a:endParaRPr sz="2800" dirty="0"/>
          </a:p>
        </p:txBody>
      </p:sp>
      <p:pic>
        <p:nvPicPr>
          <p:cNvPr id="1698" name="picture 16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743075"/>
            <a:ext cx="10353675" cy="4905375"/>
          </a:xfrm>
          <a:prstGeom prst="rect">
            <a:avLst/>
          </a:prstGeom>
        </p:spPr>
      </p:pic>
      <p:sp>
        <p:nvSpPr>
          <p:cNvPr id="1700" name="textbox 1700"/>
          <p:cNvSpPr/>
          <p:nvPr/>
        </p:nvSpPr>
        <p:spPr>
          <a:xfrm>
            <a:off x="1200150" y="1781175"/>
            <a:ext cx="11334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Variables at Edge</a:t>
            </a:r>
            <a:endParaRPr sz="1200" dirty="0"/>
          </a:p>
        </p:txBody>
      </p:sp>
      <p:sp>
        <p:nvSpPr>
          <p:cNvPr id="1702" name="textbox 1702"/>
          <p:cNvSpPr/>
          <p:nvPr/>
        </p:nvSpPr>
        <p:spPr>
          <a:xfrm>
            <a:off x="3705225" y="1819275"/>
            <a:ext cx="9429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 Graph</a:t>
            </a:r>
            <a:endParaRPr sz="1500" dirty="0"/>
          </a:p>
        </p:txBody>
      </p:sp>
      <p:sp>
        <p:nvSpPr>
          <p:cNvPr id="1704" name="textbox 1704"/>
          <p:cNvSpPr/>
          <p:nvPr/>
        </p:nvSpPr>
        <p:spPr>
          <a:xfrm>
            <a:off x="7200900" y="1819275"/>
            <a:ext cx="12668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Decode on Node</a:t>
            </a:r>
            <a:endParaRPr sz="1400" dirty="0"/>
          </a:p>
        </p:txBody>
      </p:sp>
      <p:sp>
        <p:nvSpPr>
          <p:cNvPr id="1706" name="textbox 1706"/>
          <p:cNvSpPr/>
          <p:nvPr/>
        </p:nvSpPr>
        <p:spPr>
          <a:xfrm>
            <a:off x="9686925" y="1838325"/>
            <a:ext cx="12954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Hard Enforce BC</a:t>
            </a:r>
            <a:endParaRPr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8" name="textbox 1708"/>
              <p:cNvSpPr/>
              <p:nvPr/>
            </p:nvSpPr>
            <p:spPr>
              <a:xfrm>
                <a:off x="1381125" y="2028825"/>
                <a:ext cx="762000" cy="3333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bSup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08" name="textbox 17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25" y="2028825"/>
                <a:ext cx="762000" cy="333375"/>
              </a:xfrm>
              <a:prstGeom prst="rect">
                <a:avLst/>
              </a:prstGeom>
              <a:blipFill rotWithShape="1">
                <a:blip r:embed="rId4"/>
                <a:stretch>
                  <a:fillRect r="-858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0" name="textbox 1710"/>
              <p:cNvSpPr/>
              <p:nvPr/>
            </p:nvSpPr>
            <p:spPr>
              <a:xfrm>
                <a:off x="9715500" y="2286000"/>
                <a:ext cx="1190625" cy="6381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/>
                              </m:ctrlPr>
                            </m:mPr>
                            <m:mr>
                              <m:e>
                                <m: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𝐮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n</m:t>
                                </m:r>
                                <m: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+</m:t>
                                </m:r>
                                <m: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n</m:t>
                                </m:r>
                                <m: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+</m:t>
                                </m:r>
                                <m:r>
                                  <a:rPr lang="en-US" sz="24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×</m:t>
                      </m:r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𝜎</m:t>
                      </m:r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'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1710" name="textbox 17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0" y="2286000"/>
                <a:ext cx="1190625" cy="638175"/>
              </a:xfrm>
              <a:prstGeom prst="rect">
                <a:avLst/>
              </a:prstGeom>
              <a:blipFill rotWithShape="1">
                <a:blip r:embed="rId5"/>
                <a:stretch>
                  <a:fillRect r="-4032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2" name="textbox 1712"/>
          <p:cNvSpPr/>
          <p:nvPr/>
        </p:nvSpPr>
        <p:spPr>
          <a:xfrm>
            <a:off x="5838825" y="2324100"/>
            <a:ext cx="37147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GN</a:t>
            </a:r>
            <a:endParaRPr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4" name="textbox 1714"/>
              <p:cNvSpPr/>
              <p:nvPr/>
            </p:nvSpPr>
            <p:spPr>
              <a:xfrm>
                <a:off x="1381125" y="2343150"/>
                <a:ext cx="752475" cy="3238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bSup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14" name="textbox 17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25" y="2343150"/>
                <a:ext cx="752475" cy="323850"/>
              </a:xfrm>
              <a:prstGeom prst="rect">
                <a:avLst/>
              </a:prstGeom>
              <a:blipFill rotWithShape="1">
                <a:blip r:embed="rId6"/>
                <a:stretch>
                  <a:fillRect r="-666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6" name="textbox 1716"/>
          <p:cNvSpPr/>
          <p:nvPr/>
        </p:nvSpPr>
        <p:spPr>
          <a:xfrm>
            <a:off x="5686425" y="2638425"/>
            <a:ext cx="6572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Block</a:t>
            </a:r>
            <a:endParaRPr sz="2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8" name="textbox 1718"/>
              <p:cNvSpPr/>
              <p:nvPr/>
            </p:nvSpPr>
            <p:spPr>
              <a:xfrm>
                <a:off x="1419225" y="2705100"/>
                <a:ext cx="657225" cy="2667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18" name="textbox 17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225" y="2705100"/>
                <a:ext cx="657225" cy="266700"/>
              </a:xfrm>
              <a:prstGeom prst="rect">
                <a:avLst/>
              </a:prstGeom>
              <a:blipFill rotWithShape="1">
                <a:blip r:embed="rId7"/>
                <a:stretch>
                  <a:fillRect r="-5990" b="-1904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20" name="textbox 1720"/>
              <p:cNvSpPr/>
              <p:nvPr/>
            </p:nvSpPr>
            <p:spPr>
              <a:xfrm>
                <a:off x="1257300" y="2943225"/>
                <a:ext cx="1009650" cy="3429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|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|</m:t>
                      </m:r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20" name="textbox 17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2943225"/>
                <a:ext cx="1009650" cy="3429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2" name="textbox 1722"/>
          <p:cNvSpPr/>
          <p:nvPr/>
        </p:nvSpPr>
        <p:spPr>
          <a:xfrm>
            <a:off x="5543550" y="3086100"/>
            <a:ext cx="94297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181717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×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multiple</a:t>
            </a:r>
            <a:endParaRPr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4" name="textbox 1724"/>
              <p:cNvSpPr/>
              <p:nvPr/>
            </p:nvSpPr>
            <p:spPr>
              <a:xfrm>
                <a:off x="9572625" y="3086100"/>
                <a:ext cx="1562100" cy="4857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|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</m:sub>
                          </m:sSub>
                        </m:sub>
                      </m:sSub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1724" name="textbox 17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625" y="3086100"/>
                <a:ext cx="1562100" cy="485775"/>
              </a:xfrm>
              <a:prstGeom prst="rect">
                <a:avLst/>
              </a:prstGeom>
              <a:blipFill rotWithShape="1">
                <a:blip r:embed="rId9"/>
                <a:stretch>
                  <a:fillRect r="-2292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6" name="textbox 1726"/>
          <p:cNvSpPr/>
          <p:nvPr/>
        </p:nvSpPr>
        <p:spPr>
          <a:xfrm>
            <a:off x="1190625" y="3371850"/>
            <a:ext cx="11430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Variables at Node</a:t>
            </a:r>
            <a:endParaRPr sz="1200" dirty="0"/>
          </a:p>
        </p:txBody>
      </p:sp>
      <p:sp>
        <p:nvSpPr>
          <p:cNvPr id="1728" name="textbox 1728"/>
          <p:cNvSpPr/>
          <p:nvPr/>
        </p:nvSpPr>
        <p:spPr>
          <a:xfrm>
            <a:off x="5772150" y="3371850"/>
            <a:ext cx="4857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times</a:t>
            </a:r>
            <a:endParaRPr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0" name="textbox 1730"/>
              <p:cNvSpPr/>
              <p:nvPr/>
            </p:nvSpPr>
            <p:spPr>
              <a:xfrm>
                <a:off x="1571625" y="3743325"/>
                <a:ext cx="304800" cy="2381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30" name="textbox 17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5" y="3743325"/>
                <a:ext cx="304800" cy="238125"/>
              </a:xfrm>
              <a:prstGeom prst="rect">
                <a:avLst/>
              </a:prstGeom>
              <a:blipFill rotWithShape="1">
                <a:blip r:embed="rId10"/>
                <a:stretch>
                  <a:fillRect r="-7917" b="-2853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2" name="textbox 1732"/>
              <p:cNvSpPr/>
              <p:nvPr/>
            </p:nvSpPr>
            <p:spPr>
              <a:xfrm>
                <a:off x="1562100" y="3990975"/>
                <a:ext cx="323850" cy="3048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32" name="textbox 17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3990975"/>
                <a:ext cx="323850" cy="304800"/>
              </a:xfrm>
              <a:prstGeom prst="rect">
                <a:avLst/>
              </a:prstGeom>
              <a:blipFill rotWithShape="1">
                <a:blip r:embed="rId11"/>
                <a:stretch>
                  <a:fillRect r="-2549" b="-417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4" name="textbox 1734"/>
              <p:cNvSpPr/>
              <p:nvPr/>
            </p:nvSpPr>
            <p:spPr>
              <a:xfrm>
                <a:off x="1524000" y="4295775"/>
                <a:ext cx="428625" cy="2667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</m:sub>
                      </m:sSub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34" name="textbox 17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295775"/>
                <a:ext cx="428625" cy="266700"/>
              </a:xfrm>
              <a:prstGeom prst="rect">
                <a:avLst/>
              </a:prstGeom>
              <a:blipFill rotWithShape="1">
                <a:blip r:embed="rId12"/>
                <a:stretch>
                  <a:fillRect r="-21333" b="-14762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6" name="textbox 1736"/>
          <p:cNvSpPr/>
          <p:nvPr/>
        </p:nvSpPr>
        <p:spPr>
          <a:xfrm>
            <a:off x="10029825" y="4305300"/>
            <a:ext cx="7620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PDE loss</a:t>
            </a:r>
            <a:endParaRPr sz="1400" dirty="0"/>
          </a:p>
        </p:txBody>
      </p:sp>
      <p:sp>
        <p:nvSpPr>
          <p:cNvPr id="1738" name="textbox 1738"/>
          <p:cNvSpPr/>
          <p:nvPr/>
        </p:nvSpPr>
        <p:spPr>
          <a:xfrm>
            <a:off x="3810000" y="4381500"/>
            <a:ext cx="7048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500" dirty="0"/>
          </a:p>
        </p:txBody>
      </p:sp>
      <p:sp>
        <p:nvSpPr>
          <p:cNvPr id="1740" name="textbox 1740"/>
          <p:cNvSpPr/>
          <p:nvPr/>
        </p:nvSpPr>
        <p:spPr>
          <a:xfrm>
            <a:off x="7486650" y="4410075"/>
            <a:ext cx="7143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Decoder</a:t>
            </a:r>
            <a:endParaRPr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2" name="textbox 1742"/>
              <p:cNvSpPr/>
              <p:nvPr/>
            </p:nvSpPr>
            <p:spPr>
              <a:xfrm>
                <a:off x="9686925" y="4505325"/>
                <a:ext cx="1304925" cy="3048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</m:sub>
                      </m:sSub>
                      <m:r>
                        <a:rPr lang="en-US" sz="1400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1742" name="textbox 17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925" y="4505325"/>
                <a:ext cx="1304925" cy="304800"/>
              </a:xfrm>
              <a:prstGeom prst="rect">
                <a:avLst/>
              </a:prstGeom>
              <a:blipFill rotWithShape="1">
                <a:blip r:embed="rId13"/>
                <a:stretch>
                  <a:fillRect r="-7056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4" name="textbox 1744"/>
          <p:cNvSpPr/>
          <p:nvPr/>
        </p:nvSpPr>
        <p:spPr>
          <a:xfrm>
            <a:off x="1647825" y="4610100"/>
            <a:ext cx="1619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endParaRPr sz="1800" dirty="0"/>
          </a:p>
        </p:txBody>
      </p:sp>
      <p:sp>
        <p:nvSpPr>
          <p:cNvPr id="1746" name="textbox 1746"/>
          <p:cNvSpPr/>
          <p:nvPr/>
        </p:nvSpPr>
        <p:spPr>
          <a:xfrm>
            <a:off x="5153025" y="4686300"/>
            <a:ext cx="37147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grad</a:t>
            </a:r>
            <a:endParaRPr sz="1400" dirty="0"/>
          </a:p>
        </p:txBody>
      </p:sp>
      <p:sp>
        <p:nvSpPr>
          <p:cNvPr id="1748" name="textbox 1748"/>
          <p:cNvSpPr/>
          <p:nvPr/>
        </p:nvSpPr>
        <p:spPr>
          <a:xfrm>
            <a:off x="6438900" y="4686300"/>
            <a:ext cx="3905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grad</a:t>
            </a:r>
            <a:endParaRPr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0" name="textbox 1750"/>
              <p:cNvSpPr/>
              <p:nvPr/>
            </p:nvSpPr>
            <p:spPr>
              <a:xfrm>
                <a:off x="1790700" y="5514975"/>
                <a:ext cx="2686050" cy="3143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y</m:t>
                          </m:r>
                        </m:sub>
                      </m:sSub>
                      <m:r>
                        <a:rPr lang="en-US" sz="14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/>
                              </m:ctrlPr>
                            </m:dPr>
                            <m:e>
                              <m:r>
                                <a:rPr lang="en-US" sz="1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(</m:t>
                              </m:r>
                              <m:r>
                                <a:rPr lang="en-US" sz="1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𝛻</m:t>
                              </m:r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𝐮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n</m:t>
                                  </m:r>
                                  <m: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+</m:t>
                                  </m:r>
                                  <m: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V</m:t>
                              </m:r>
                              <m:r>
                                <a:rPr lang="en-US" sz="1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D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E</m:t>
                                  </m:r>
                                  <m: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,</m:t>
                                  </m:r>
                                  <m:r>
                                    <a:rPr lang="en-US" sz="14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1750" name="textbox 17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5514975"/>
                <a:ext cx="2686050" cy="314325"/>
              </a:xfrm>
              <a:prstGeom prst="rect">
                <a:avLst/>
              </a:prstGeom>
              <a:blipFill rotWithShape="1">
                <a:blip r:embed="rId14"/>
                <a:stretch>
                  <a:fillRect b="-828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2" name="textbox 1752"/>
              <p:cNvSpPr/>
              <p:nvPr/>
            </p:nvSpPr>
            <p:spPr>
              <a:xfrm>
                <a:off x="1771650" y="5886450"/>
                <a:ext cx="9324975" cy="6286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m</m:t>
                          </m:r>
                        </m:sub>
                      </m:sSub>
                      <m:r>
                        <a:rPr lang="en-US" sz="12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/>
                          </m:ctrlPr>
                        </m:dPr>
                        <m:e>
                          <m:d>
                            <m:dPr>
                              <m:ctrlPr>
                                <a:rPr/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c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n</m:t>
                                  </m:r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+</m:t>
                                  </m:r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c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n</m:t>
                                  </m:r>
                                </m:sup>
                              </m:sSubSup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V</m:t>
                              </m:r>
                            </m:e>
                          </m:d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E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,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d>
                            <m:dPr>
                              <m:ctrlPr>
                                <a:rPr/>
                              </m:ctrlPr>
                            </m:dPr>
                            <m:e>
                              <m:d>
                                <m:dPr>
                                  <m:ctrlPr>
                                    <a:rPr/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/>
                                      </m:ctrlPr>
                                    </m:sSubSupPr>
                                    <m:e>
                                      <m: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𝐮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c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n</m:t>
                                      </m:r>
                                      <m: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'</m:t>
                                      </m:r>
                                    </m:sup>
                                  </m:sSubSup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𝛻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c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n</m:t>
                                  </m:r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'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V</m:t>
                              </m:r>
                            </m:e>
                          </m:d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E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,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d>
                            <m:dPr>
                              <m:ctrlPr>
                                <a:rPr/>
                              </m:ctrlPr>
                            </m:dPr>
                            <m:e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𝛻</m:t>
                              </m:r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c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n</m:t>
                                  </m:r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+</m:t>
                                  </m:r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V</m:t>
                              </m:r>
                            </m:e>
                          </m:d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E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,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d>
                            <m:dPr>
                              <m:ctrlPr>
                                <a:rPr/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/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f</m:t>
                                  </m:r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∈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e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l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l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bigtriangledown</m:t>
                                  </m:r>
                                  <m:sSubSup>
                                    <m:sSubSupPr>
                                      <m:ctrlPr>
                                        <a:rPr/>
                                      </m:ctrlPr>
                                    </m:sSubSupPr>
                                    <m:e>
                                      <m: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𝐮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f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n</m:t>
                                      </m:r>
                                      <m:r>
                                        <a:rPr lang="en-US" sz="1200" dirty="0">
                                          <a:latin typeface="Cambria Math" panose="02040503050406030204"/>
                                          <a:ea typeface="Cambria Math" panose="02040503050406030204"/>
                                        </a:rPr>
                                        <m:t>'</m:t>
                                      </m:r>
                                    </m:sup>
                                  </m:sSubSup>
                                  <m: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𝐧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 dirty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S</m:t>
                                  </m:r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E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,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E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,</m:t>
                              </m:r>
                              <m:r>
                                <a:rPr lang="en-US" sz="12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6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/>
                              <a:ea typeface="Cambria Math" panose="02040503050406030204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sz="1200" dirty="0"/>
              </a:p>
            </p:txBody>
          </p:sp>
        </mc:Choice>
        <mc:Fallback>
          <p:sp>
            <p:nvSpPr>
              <p:cNvPr id="1752" name="textbox 17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50" y="5886450"/>
                <a:ext cx="9324975" cy="62865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4" name="textbox 1754"/>
          <p:cNvSpPr/>
          <p:nvPr/>
        </p:nvSpPr>
        <p:spPr>
          <a:xfrm>
            <a:off x="12011025" y="6724650"/>
            <a:ext cx="17145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C7C7C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45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8" name="picture 17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60" name="textbox 1760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1764" name="picture 1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pic>
        <p:nvPicPr>
          <p:cNvPr id="1768" name="picture 17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981075"/>
            <a:ext cx="2533650" cy="5457825"/>
          </a:xfrm>
          <a:prstGeom prst="rect">
            <a:avLst/>
          </a:prstGeom>
        </p:spPr>
      </p:pic>
      <p:sp>
        <p:nvSpPr>
          <p:cNvPr id="1770" name="textbox 1770"/>
          <p:cNvSpPr/>
          <p:nvPr/>
        </p:nvSpPr>
        <p:spPr>
          <a:xfrm>
            <a:off x="9677400" y="1019175"/>
            <a:ext cx="16859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Variables at Node</a:t>
            </a:r>
            <a:endParaRPr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2" name="textbox 1772"/>
              <p:cNvSpPr/>
              <p:nvPr/>
            </p:nvSpPr>
            <p:spPr>
              <a:xfrm>
                <a:off x="10020300" y="1352550"/>
                <a:ext cx="962025" cy="3905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p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1772" name="textbox 17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300" y="1352550"/>
                <a:ext cx="962025" cy="390525"/>
              </a:xfrm>
              <a:prstGeom prst="rect">
                <a:avLst/>
              </a:prstGeom>
              <a:blipFill rotWithShape="1">
                <a:blip r:embed="rId4"/>
                <a:stretch>
                  <a:fillRect r="-132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4" name="textbox 1774"/>
          <p:cNvSpPr/>
          <p:nvPr/>
        </p:nvSpPr>
        <p:spPr>
          <a:xfrm>
            <a:off x="10553700" y="1952625"/>
            <a:ext cx="36195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</a:t>
            </a:r>
            <a:endParaRPr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6" name="textbox 1776"/>
              <p:cNvSpPr/>
              <p:nvPr/>
            </p:nvSpPr>
            <p:spPr>
              <a:xfrm>
                <a:off x="10172700" y="2533650"/>
                <a:ext cx="609600" cy="3238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776" name="textbox 17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700" y="2533650"/>
                <a:ext cx="609600" cy="323850"/>
              </a:xfrm>
              <a:prstGeom prst="rect">
                <a:avLst/>
              </a:prstGeom>
              <a:blipFill rotWithShape="1">
                <a:blip r:embed="rId5"/>
                <a:stretch>
                  <a:fillRect r="-197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78" name="textbox 1778"/>
              <p:cNvSpPr/>
              <p:nvPr/>
            </p:nvSpPr>
            <p:spPr>
              <a:xfrm>
                <a:off x="10172700" y="2847975"/>
                <a:ext cx="609600" cy="3524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778" name="textbox 17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700" y="2847975"/>
                <a:ext cx="609600" cy="352425"/>
              </a:xfrm>
              <a:prstGeom prst="rect">
                <a:avLst/>
              </a:prstGeom>
              <a:blipFill rotWithShape="1">
                <a:blip r:embed="rId6"/>
                <a:stretch>
                  <a:fillRect r="-72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0" name="textbox 1780"/>
              <p:cNvSpPr/>
              <p:nvPr/>
            </p:nvSpPr>
            <p:spPr>
              <a:xfrm>
                <a:off x="9391650" y="3829050"/>
                <a:ext cx="2247900" cy="5238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dirty="0">
                          <a:latin typeface="Cambria Math" panose="02040503050406030204"/>
                          <a:ea typeface="Cambria Math" panose="02040503050406030204"/>
                        </a:rPr>
                        <m:t>𝐀</m:t>
                      </m:r>
                      <m:r>
                        <a:rPr lang="en-US" sz="1200" dirty="0">
                          <a:latin typeface="Cambria Math" panose="02040503050406030204"/>
                          <a:ea typeface="Cambria Math" panose="02040503050406030204"/>
                        </a:rPr>
                        <m:t>𝐮</m:t>
                      </m:r>
                      <m:r>
                        <a:rPr lang="en-US" sz="12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d>
                        <m:dPr>
                          <m:ctrlPr>
                            <a:rPr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/>
                              </m:ctrlPr>
                            </m:mPr>
                            <m:mr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𝐅</m:t>
                                </m:r>
                              </m:e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𝐁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T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𝐁</m:t>
                                </m:r>
                              </m:e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/>
                              </m:ctrlPr>
                            </m:mPr>
                            <m:mr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d>
                        <m:dPr>
                          <m:ctrlPr>
                            <a:rPr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/>
                              </m:ctrlPr>
                            </m:mPr>
                            <m:mr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𝐟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dirty="0"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</m:oMath>
                  </m:oMathPara>
                </a14:m>
                <a:endParaRPr sz="1200" dirty="0"/>
              </a:p>
            </p:txBody>
          </p:sp>
        </mc:Choice>
        <mc:Fallback>
          <p:sp>
            <p:nvSpPr>
              <p:cNvPr id="1780" name="textbox 17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1650" y="3829050"/>
                <a:ext cx="2247900" cy="5238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2" name="textbox 1782"/>
              <p:cNvSpPr/>
              <p:nvPr/>
            </p:nvSpPr>
            <p:spPr>
              <a:xfrm>
                <a:off x="10039350" y="4524375"/>
                <a:ext cx="1790700" cy="7620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L</m:t>
                      </m: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∥</m:t>
                      </m: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𝐀</m:t>
                      </m: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𝐮</m:t>
                      </m: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eqArr>
                        <m:eqArrPr>
                          <m:ctrlPr>
                            <a:rPr/>
                          </m:ctrlPr>
                        </m:eqArr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𝐟</m:t>
                          </m:r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b</m:t>
                          </m:r>
                        </m:e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𝟎</m:t>
                          </m:r>
                        </m:e>
                      </m:eqArr>
                      <m:r>
                        <a:rPr lang="en-US" sz="1800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∥</m:t>
                          </m:r>
                        </m:e>
                        <m:sub>
                          <m:r>
                            <a:rPr lang="en-US" sz="1800" dirty="0"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800" dirty="0"/>
              </a:p>
            </p:txBody>
          </p:sp>
        </mc:Choice>
        <mc:Fallback>
          <p:sp>
            <p:nvSpPr>
              <p:cNvPr id="1782" name="textbox 17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350" y="4524375"/>
                <a:ext cx="1790700" cy="762000"/>
              </a:xfrm>
              <a:prstGeom prst="rect">
                <a:avLst/>
              </a:prstGeom>
              <a:blipFill rotWithShape="1">
                <a:blip r:embed="rId8"/>
                <a:stretch>
                  <a:fillRect r="-70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4" name="textbox 1784"/>
          <p:cNvSpPr/>
          <p:nvPr/>
        </p:nvSpPr>
        <p:spPr>
          <a:xfrm>
            <a:off x="10067925" y="5514975"/>
            <a:ext cx="952500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Optimize</a:t>
            </a:r>
            <a:endParaRPr sz="1800" dirty="0"/>
          </a:p>
        </p:txBody>
      </p:sp>
      <p:sp>
        <p:nvSpPr>
          <p:cNvPr id="1786" name="textbox 1786"/>
          <p:cNvSpPr/>
          <p:nvPr/>
        </p:nvSpPr>
        <p:spPr>
          <a:xfrm>
            <a:off x="10325100" y="5819775"/>
            <a:ext cx="476250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with</a:t>
            </a:r>
            <a:endParaRPr sz="1800" dirty="0"/>
          </a:p>
        </p:txBody>
      </p:sp>
      <p:sp>
        <p:nvSpPr>
          <p:cNvPr id="1788" name="textbox 1788"/>
          <p:cNvSpPr/>
          <p:nvPr/>
        </p:nvSpPr>
        <p:spPr>
          <a:xfrm>
            <a:off x="10267950" y="6096000"/>
            <a:ext cx="5238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SGD</a:t>
            </a:r>
            <a:endParaRPr sz="1800" dirty="0"/>
          </a:p>
        </p:txBody>
      </p:sp>
      <p:sp>
        <p:nvSpPr>
          <p:cNvPr id="1790" name="textbox 1790"/>
          <p:cNvSpPr/>
          <p:nvPr/>
        </p:nvSpPr>
        <p:spPr>
          <a:xfrm>
            <a:off x="666750" y="1133475"/>
            <a:ext cx="7524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38125" indent="-238125" algn="l" rtl="0" eaLnBrk="0">
              <a:buChar char="►"/>
            </a:pPr>
            <a:r>
              <a:rPr sz="20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损失函数设计：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FVM或FDM，继承传统方法的优势</a:t>
            </a:r>
            <a:endParaRPr sz="2000" dirty="0"/>
          </a:p>
        </p:txBody>
      </p:sp>
      <p:pic>
        <p:nvPicPr>
          <p:cNvPr id="1794" name="picture 17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1724025"/>
            <a:ext cx="7629525" cy="2524125"/>
          </a:xfrm>
          <a:prstGeom prst="rect">
            <a:avLst/>
          </a:prstGeom>
        </p:spPr>
      </p:pic>
      <p:sp>
        <p:nvSpPr>
          <p:cNvPr id="1796" name="textbox 1796"/>
          <p:cNvSpPr/>
          <p:nvPr/>
        </p:nvSpPr>
        <p:spPr>
          <a:xfrm>
            <a:off x="2209800" y="1743075"/>
            <a:ext cx="18288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NN-Module</a:t>
            </a:r>
            <a:endParaRPr sz="2800" dirty="0"/>
          </a:p>
        </p:txBody>
      </p:sp>
      <p:sp>
        <p:nvSpPr>
          <p:cNvPr id="1798" name="textbox 1798"/>
          <p:cNvSpPr/>
          <p:nvPr/>
        </p:nvSpPr>
        <p:spPr>
          <a:xfrm>
            <a:off x="1295400" y="1800225"/>
            <a:ext cx="6096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Variables at</a:t>
            </a:r>
            <a:endParaRPr sz="900" dirty="0"/>
          </a:p>
        </p:txBody>
      </p:sp>
      <p:sp>
        <p:nvSpPr>
          <p:cNvPr id="1800" name="textbox 1800"/>
          <p:cNvSpPr/>
          <p:nvPr/>
        </p:nvSpPr>
        <p:spPr>
          <a:xfrm>
            <a:off x="4629150" y="1838325"/>
            <a:ext cx="10477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6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output</a:t>
            </a:r>
            <a:endParaRPr sz="2600" dirty="0"/>
          </a:p>
        </p:txBody>
      </p:sp>
      <p:sp>
        <p:nvSpPr>
          <p:cNvPr id="1802" name="textbox 1802"/>
          <p:cNvSpPr/>
          <p:nvPr/>
        </p:nvSpPr>
        <p:spPr>
          <a:xfrm>
            <a:off x="6419850" y="1924050"/>
            <a:ext cx="192405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5B80CE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PDE loss Module</a:t>
            </a:r>
            <a:endParaRPr sz="2000" b="1" dirty="0"/>
          </a:p>
        </p:txBody>
      </p:sp>
      <p:sp>
        <p:nvSpPr>
          <p:cNvPr id="1804" name="textbox 1804"/>
          <p:cNvSpPr/>
          <p:nvPr/>
        </p:nvSpPr>
        <p:spPr>
          <a:xfrm>
            <a:off x="1419225" y="1933575"/>
            <a:ext cx="31432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Node</a:t>
            </a:r>
            <a:endParaRPr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06" name="textbox 1806"/>
              <p:cNvSpPr/>
              <p:nvPr/>
            </p:nvSpPr>
            <p:spPr>
              <a:xfrm>
                <a:off x="6219825" y="2171700"/>
                <a:ext cx="2324100" cy="4191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</m:sub>
                      </m:sSub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𝜔</m:t>
                      </m:r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806" name="textbox 18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825" y="2171700"/>
                <a:ext cx="2324100" cy="419100"/>
              </a:xfrm>
              <a:prstGeom prst="rect">
                <a:avLst/>
              </a:prstGeom>
              <a:blipFill rotWithShape="1">
                <a:blip r:embed="rId10"/>
                <a:stretch>
                  <a:fillRect r="-10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8" name="textbox 1808"/>
          <p:cNvSpPr/>
          <p:nvPr/>
        </p:nvSpPr>
        <p:spPr>
          <a:xfrm>
            <a:off x="4619625" y="2200275"/>
            <a:ext cx="10668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4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4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0" name="textbox 1810"/>
              <p:cNvSpPr/>
              <p:nvPr/>
            </p:nvSpPr>
            <p:spPr>
              <a:xfrm>
                <a:off x="1466850" y="2457450"/>
                <a:ext cx="180975" cy="1238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1810" name="textbox 18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850" y="2457450"/>
                <a:ext cx="180975" cy="123825"/>
              </a:xfrm>
              <a:prstGeom prst="rect">
                <a:avLst/>
              </a:prstGeom>
              <a:blipFill rotWithShape="1">
                <a:blip r:embed="rId11"/>
                <a:stretch>
                  <a:fillRect b="-14717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2" name="textbox 1812"/>
          <p:cNvSpPr/>
          <p:nvPr/>
        </p:nvSpPr>
        <p:spPr>
          <a:xfrm>
            <a:off x="3286125" y="2466975"/>
            <a:ext cx="9239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Hard Enforce BC</a:t>
            </a:r>
            <a:endParaRPr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4" name="textbox 1814"/>
              <p:cNvSpPr/>
              <p:nvPr/>
            </p:nvSpPr>
            <p:spPr>
              <a:xfrm>
                <a:off x="1381125" y="2600325"/>
                <a:ext cx="381000" cy="2190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E</m:t>
                          </m:r>
                        </m:sub>
                      </m:sSub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1814" name="textbox 18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25" y="2600325"/>
                <a:ext cx="381000" cy="219075"/>
              </a:xfrm>
              <a:prstGeom prst="rect">
                <a:avLst/>
              </a:prstGeom>
              <a:blipFill rotWithShape="1">
                <a:blip r:embed="rId12"/>
                <a:stretch>
                  <a:fillRect b="-3971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6" name="textbox 1816"/>
          <p:cNvSpPr/>
          <p:nvPr/>
        </p:nvSpPr>
        <p:spPr>
          <a:xfrm>
            <a:off x="3448050" y="2619375"/>
            <a:ext cx="6667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222A35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Node to face</a:t>
            </a:r>
            <a:endParaRPr sz="900" dirty="0"/>
          </a:p>
        </p:txBody>
      </p:sp>
      <p:sp>
        <p:nvSpPr>
          <p:cNvPr id="1818" name="textbox 1818"/>
          <p:cNvSpPr/>
          <p:nvPr/>
        </p:nvSpPr>
        <p:spPr>
          <a:xfrm>
            <a:off x="2609850" y="2714625"/>
            <a:ext cx="2952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67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GN</a:t>
            </a:r>
            <a:endParaRPr sz="1200" dirty="0"/>
          </a:p>
        </p:txBody>
      </p:sp>
      <p:sp>
        <p:nvSpPr>
          <p:cNvPr id="1820" name="textbox 1820"/>
          <p:cNvSpPr/>
          <p:nvPr/>
        </p:nvSpPr>
        <p:spPr>
          <a:xfrm>
            <a:off x="1266825" y="2867025"/>
            <a:ext cx="6477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Variables at</a:t>
            </a:r>
            <a:endParaRPr sz="900" dirty="0"/>
          </a:p>
        </p:txBody>
      </p:sp>
      <p:sp>
        <p:nvSpPr>
          <p:cNvPr id="1822" name="textbox 1822"/>
          <p:cNvSpPr/>
          <p:nvPr/>
        </p:nvSpPr>
        <p:spPr>
          <a:xfrm>
            <a:off x="2533650" y="2895600"/>
            <a:ext cx="447675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Block</a:t>
            </a:r>
            <a:endParaRPr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4" name="textbox 1824"/>
              <p:cNvSpPr/>
              <p:nvPr/>
            </p:nvSpPr>
            <p:spPr>
              <a:xfrm>
                <a:off x="3581400" y="3000375"/>
                <a:ext cx="361950" cy="1809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8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800" dirty="0"/>
              </a:p>
            </p:txBody>
          </p:sp>
        </mc:Choice>
        <mc:Fallback>
          <p:sp>
            <p:nvSpPr>
              <p:cNvPr id="1824" name="textbox 18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000375"/>
                <a:ext cx="361950" cy="180975"/>
              </a:xfrm>
              <a:prstGeom prst="rect">
                <a:avLst/>
              </a:prstGeom>
              <a:blipFill rotWithShape="1">
                <a:blip r:embed="rId13"/>
                <a:stretch>
                  <a:fillRect b="-6912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6" name="textbox 1826"/>
          <p:cNvSpPr/>
          <p:nvPr/>
        </p:nvSpPr>
        <p:spPr>
          <a:xfrm>
            <a:off x="1447800" y="3028950"/>
            <a:ext cx="27622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" kern="0" spc="0" dirty="0">
                <a:solidFill>
                  <a:srgbClr val="39528E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Face</a:t>
            </a:r>
            <a:endParaRPr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8" name="textbox 1828"/>
              <p:cNvSpPr/>
              <p:nvPr/>
            </p:nvSpPr>
            <p:spPr>
              <a:xfrm>
                <a:off x="3562350" y="3133725"/>
                <a:ext cx="381000" cy="2286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  <m: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1000" dirty="0"/>
              </a:p>
            </p:txBody>
          </p:sp>
        </mc:Choice>
        <mc:Fallback>
          <p:sp>
            <p:nvSpPr>
              <p:cNvPr id="1828" name="textbox 18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350" y="3133725"/>
                <a:ext cx="381000" cy="228600"/>
              </a:xfrm>
              <a:prstGeom prst="rect">
                <a:avLst/>
              </a:prstGeom>
              <a:blipFill rotWithShape="1">
                <a:blip r:embed="rId14"/>
                <a:stretch>
                  <a:fillRect b="-3388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0" name="textbox 1830"/>
          <p:cNvSpPr/>
          <p:nvPr/>
        </p:nvSpPr>
        <p:spPr>
          <a:xfrm>
            <a:off x="2409825" y="3171825"/>
            <a:ext cx="6572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333F5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× </a:t>
            </a:r>
            <a:r>
              <a:rPr sz="1100" b="1" kern="0" spc="0" dirty="0">
                <a:solidFill>
                  <a:srgbClr val="333F5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multiple</a:t>
            </a:r>
            <a:endParaRPr sz="1100" dirty="0"/>
          </a:p>
        </p:txBody>
      </p:sp>
      <p:sp>
        <p:nvSpPr>
          <p:cNvPr id="1832" name="textbox 1832"/>
          <p:cNvSpPr/>
          <p:nvPr/>
        </p:nvSpPr>
        <p:spPr>
          <a:xfrm>
            <a:off x="4781550" y="3295650"/>
            <a:ext cx="8667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i="1" kern="0" spc="0" dirty="0">
                <a:solidFill>
                  <a:srgbClr val="1F497D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Update</a:t>
            </a:r>
            <a:endParaRPr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4" name="textbox 1834"/>
              <p:cNvSpPr/>
              <p:nvPr/>
            </p:nvSpPr>
            <p:spPr>
              <a:xfrm>
                <a:off x="1304925" y="3314700"/>
                <a:ext cx="561975" cy="2095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bSup>
                      <m:r>
                        <a:rPr lang="en-US" sz="14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dirty="0">
                              <a:latin typeface="Cambria Math" panose="02040503050406030204"/>
                              <a:ea typeface="Cambria Math" panose="02040503050406030204"/>
                            </a:rPr>
                            <m:t>n</m:t>
                          </m:r>
                        </m:sup>
                      </m:sSubSup>
                    </m:oMath>
                  </m:oMathPara>
                </a14:m>
                <a:endParaRPr sz="1400" dirty="0"/>
              </a:p>
            </p:txBody>
          </p:sp>
        </mc:Choice>
        <mc:Fallback>
          <p:sp>
            <p:nvSpPr>
              <p:cNvPr id="1834" name="textbox 18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925" y="3314700"/>
                <a:ext cx="561975" cy="209550"/>
              </a:xfrm>
              <a:prstGeom prst="rect">
                <a:avLst/>
              </a:prstGeom>
              <a:blipFill rotWithShape="1">
                <a:blip r:embed="rId15"/>
                <a:stretch>
                  <a:fillRect r="-18983" b="-47576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6" name="textbox 1836"/>
          <p:cNvSpPr/>
          <p:nvPr/>
        </p:nvSpPr>
        <p:spPr>
          <a:xfrm>
            <a:off x="2571750" y="3371850"/>
            <a:ext cx="3429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222A35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times</a:t>
            </a:r>
            <a:endParaRPr sz="1000" dirty="0"/>
          </a:p>
        </p:txBody>
      </p:sp>
      <p:sp>
        <p:nvSpPr>
          <p:cNvPr id="1838" name="textbox 1838"/>
          <p:cNvSpPr/>
          <p:nvPr/>
        </p:nvSpPr>
        <p:spPr>
          <a:xfrm>
            <a:off x="6296025" y="3448050"/>
            <a:ext cx="6572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537C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FVM</a:t>
            </a:r>
            <a:endParaRPr sz="2000" dirty="0"/>
          </a:p>
        </p:txBody>
      </p:sp>
      <p:sp>
        <p:nvSpPr>
          <p:cNvPr id="1840" name="textbox 1840"/>
          <p:cNvSpPr/>
          <p:nvPr/>
        </p:nvSpPr>
        <p:spPr>
          <a:xfrm>
            <a:off x="7734300" y="3476625"/>
            <a:ext cx="6477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6187D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FDM</a:t>
            </a:r>
            <a:endParaRPr sz="2000" dirty="0"/>
          </a:p>
        </p:txBody>
      </p:sp>
      <p:sp>
        <p:nvSpPr>
          <p:cNvPr id="1842" name="textbox 1842"/>
          <p:cNvSpPr/>
          <p:nvPr/>
        </p:nvSpPr>
        <p:spPr>
          <a:xfrm>
            <a:off x="1314450" y="3514725"/>
            <a:ext cx="52387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600" dirty="0"/>
          </a:p>
        </p:txBody>
      </p:sp>
      <p:sp>
        <p:nvSpPr>
          <p:cNvPr id="1844" name="textbox 1844"/>
          <p:cNvSpPr/>
          <p:nvPr/>
        </p:nvSpPr>
        <p:spPr>
          <a:xfrm>
            <a:off x="4838700" y="3609975"/>
            <a:ext cx="72390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375" dirty="0">
                <a:solidFill>
                  <a:srgbClr val="2E54A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(w,b)</a:t>
            </a:r>
            <a:endParaRPr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6" name="textbox 1846"/>
              <p:cNvSpPr/>
              <p:nvPr/>
            </p:nvSpPr>
            <p:spPr>
              <a:xfrm>
                <a:off x="1333500" y="3714750"/>
                <a:ext cx="476250" cy="1714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</m:sSub>
                      <m:r>
                        <a:rPr lang="en-US" sz="10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sz="1000" dirty="0"/>
              </a:p>
            </p:txBody>
          </p:sp>
        </mc:Choice>
        <mc:Fallback>
          <p:sp>
            <p:nvSpPr>
              <p:cNvPr id="1846" name="textbox 18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" y="3714750"/>
                <a:ext cx="476250" cy="171450"/>
              </a:xfrm>
              <a:prstGeom prst="rect">
                <a:avLst/>
              </a:prstGeom>
              <a:blipFill rotWithShape="1">
                <a:blip r:embed="rId16"/>
                <a:stretch>
                  <a:fillRect b="-75926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8" name="textbox 1848"/>
              <p:cNvSpPr/>
              <p:nvPr/>
            </p:nvSpPr>
            <p:spPr>
              <a:xfrm>
                <a:off x="1228725" y="3867150"/>
                <a:ext cx="714375" cy="2381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dirty="0">
                          <a:latin typeface="Cambria Math" panose="02040503050406030204"/>
                          <a:ea typeface="Cambria Math" panose="02040503050406030204"/>
                        </a:rPr>
                        <m:t>|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i</m:t>
                          </m:r>
                        </m:sub>
                      </m:sSub>
                      <m:r>
                        <a:rPr lang="en-US" sz="10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/>
                              <a:ea typeface="Cambria Math" panose="02040503050406030204"/>
                            </a:rPr>
                            <m:t>j</m:t>
                          </m:r>
                        </m:sub>
                      </m:sSub>
                      <m:r>
                        <a:rPr lang="en-US" sz="1000" dirty="0">
                          <a:latin typeface="Cambria Math" panose="02040503050406030204"/>
                          <a:ea typeface="Cambria Math" panose="02040503050406030204"/>
                        </a:rPr>
                        <m:t>|</m:t>
                      </m:r>
                    </m:oMath>
                  </m:oMathPara>
                </a14:m>
                <a:endParaRPr sz="1000" dirty="0"/>
              </a:p>
            </p:txBody>
          </p:sp>
        </mc:Choice>
        <mc:Fallback>
          <p:sp>
            <p:nvSpPr>
              <p:cNvPr id="1848" name="textbox 18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3867150"/>
                <a:ext cx="714375" cy="23812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0" name="textbox 1850"/>
          <p:cNvSpPr/>
          <p:nvPr/>
        </p:nvSpPr>
        <p:spPr>
          <a:xfrm>
            <a:off x="619125" y="4591050"/>
            <a:ext cx="605790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66700" indent="-2667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</a:t>
            </a:r>
            <a:r>
              <a:rPr sz="24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=NN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θ,</a:t>
            </a:r>
            <a:r>
              <a:rPr sz="24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Re,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),不再是</a:t>
            </a:r>
            <a:r>
              <a:rPr sz="24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=NN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24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4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400" dirty="0"/>
          </a:p>
        </p:txBody>
      </p:sp>
      <p:sp>
        <p:nvSpPr>
          <p:cNvPr id="1852" name="textbox 1852"/>
          <p:cNvSpPr/>
          <p:nvPr/>
        </p:nvSpPr>
        <p:spPr>
          <a:xfrm>
            <a:off x="1066800" y="5114925"/>
            <a:ext cx="68389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048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传统方法使用AMG、LU-SGS等求解线性方程组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4" name="textbox 1854"/>
              <p:cNvSpPr/>
              <p:nvPr/>
            </p:nvSpPr>
            <p:spPr>
              <a:xfrm>
                <a:off x="1047750" y="5619750"/>
                <a:ext cx="8324850" cy="9906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marL="361950" indent="-314325" algn="l" rtl="0" eaLnBrk="0">
                  <a:buChar char="►"/>
                </a:pP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将矩阵求解转换为了一个优化问题，即：找到一组神经网络</a:t>
                </a:r>
                <a:endParaRPr sz="2400" dirty="0"/>
              </a:p>
              <a:p>
                <a:pPr marL="333375" algn="l" rtl="0" eaLnBrk="0">
                  <a:spcBef>
                    <a:spcPts val="1200"/>
                  </a:spcBef>
                </a:pP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的最优参数</a:t>
                </a: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(</a:t>
                </a:r>
                <a:r>
                  <a:rPr sz="2400" b="1" i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w</a:t>
                </a: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,</a:t>
                </a:r>
                <a:r>
                  <a:rPr sz="2400" b="1" i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b</a:t>
                </a: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),</a:t>
                </a: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使得</a:t>
                </a: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L=||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/>
                        <a:ea typeface="Cambria Math" panose="02040503050406030204"/>
                      </a:rPr>
                      <m:t>A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/>
                        <a:ea typeface="Cambria Math" panose="02040503050406030204"/>
                      </a:rPr>
                      <m:t>u</m:t>
                    </m:r>
                    <m:r>
                      <a:rPr lang="en-US" sz="2400" dirty="0">
                        <a:latin typeface="Cambria Math" panose="02040503050406030204"/>
                        <a:ea typeface="Cambria Math" panose="02040503050406030204"/>
                      </a:rPr>
                      <m:t>−</m:t>
                    </m:r>
                    <m:r>
                      <a:rPr lang="en-US" sz="2400" dirty="0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/>
                            <a:ea typeface="Cambria Math" panose="02040503050406030204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/>
                            <a:ea typeface="Cambria Math" panose="02040503050406030204"/>
                          </a:rPr>
                          <m:t>b</m:t>
                        </m:r>
                      </m:sub>
                    </m:sSub>
                    <m:sSub>
                      <m:sSubPr>
                        <m:ctrlPr>
                          <a:rPr/>
                        </m:ctrlPr>
                      </m:sSubPr>
                      <m:e>
                        <m:r>
                          <a:rPr lang="en-US" sz="2400" dirty="0">
                            <a:latin typeface="Cambria Math" panose="02040503050406030204"/>
                            <a:ea typeface="Cambria Math" panose="02040503050406030204"/>
                          </a:rPr>
                          <m:t>)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/>
                            <a:ea typeface="Cambria Math" panose="02040503050406030204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 ||_{2}</a:t>
                </a:r>
                <a:r>
                  <a:rPr sz="2400" b="1" kern="0" spc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的值最小。</a:t>
                </a:r>
                <a:endParaRPr sz="2400" dirty="0"/>
              </a:p>
            </p:txBody>
          </p:sp>
        </mc:Choice>
        <mc:Fallback>
          <p:sp>
            <p:nvSpPr>
              <p:cNvPr id="1854" name="textbox 18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5619750"/>
                <a:ext cx="8324850" cy="990600"/>
              </a:xfrm>
              <a:prstGeom prst="rect">
                <a:avLst/>
              </a:prstGeom>
              <a:blipFill rotWithShape="1">
                <a:blip r:embed="rId18"/>
                <a:stretch>
                  <a:fillRect t="-2628" r="-35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6" name="textbox 1856"/>
          <p:cNvSpPr/>
          <p:nvPr/>
        </p:nvSpPr>
        <p:spPr>
          <a:xfrm>
            <a:off x="11944350" y="6638925"/>
            <a:ext cx="15240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BABAB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46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0" name="picture 18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62" name="textbox 1862"/>
          <p:cNvSpPr/>
          <p:nvPr/>
        </p:nvSpPr>
        <p:spPr>
          <a:xfrm>
            <a:off x="685800" y="304800"/>
            <a:ext cx="61722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95275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有限体积物理约束神经网络（Gen-FVGN）</a:t>
            </a:r>
            <a:endParaRPr sz="2000" dirty="0"/>
          </a:p>
        </p:txBody>
      </p:sp>
      <p:pic>
        <p:nvPicPr>
          <p:cNvPr id="1866" name="picture 18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868" name="textbox 1868"/>
          <p:cNvSpPr/>
          <p:nvPr/>
        </p:nvSpPr>
        <p:spPr>
          <a:xfrm>
            <a:off x="704850" y="1057275"/>
            <a:ext cx="11001375" cy="752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求解方程泛化性：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方程系数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编码进入GN块，使得模型可以仅通过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一次训练</a:t>
            </a:r>
            <a:endParaRPr sz="2800" dirty="0"/>
          </a:p>
          <a:p>
            <a:pPr marL="323850"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来同时求解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多种方程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（Possion, Wave, NS）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70" name="textbox 1870"/>
              <p:cNvSpPr/>
              <p:nvPr/>
            </p:nvSpPr>
            <p:spPr>
              <a:xfrm>
                <a:off x="908050" y="2416175"/>
                <a:ext cx="6064250" cy="15176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DE</m:t>
                          </m:r>
                        </m:sub>
                      </m:sSub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2000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2000"/>
                              </m:ctrlPr>
                            </m:mP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𝜇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f</m:t>
                                </m:r>
                              </m:e>
                            </m:mr>
                          </m:m>
                        </m:e>
                      </m:d>
                      <m:eqArr>
                        <m:eqArrPr>
                          <m:ctrlPr>
                            <a:rPr sz="2000"/>
                          </m:ctrlPr>
                        </m:eqArrPr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on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ti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nu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ye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qu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at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io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on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ve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ct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io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re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ss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ur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eG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ra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di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en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tt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Di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us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io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ou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rc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</m:t>
                          </m:r>
                        </m:e>
                      </m:eqAr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870" name="textbox 18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50" y="2416175"/>
                <a:ext cx="6064250" cy="15176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2" name="textbox 1872"/>
              <p:cNvSpPr/>
              <p:nvPr/>
            </p:nvSpPr>
            <p:spPr>
              <a:xfrm>
                <a:off x="6499225" y="2187575"/>
                <a:ext cx="4572000" cy="20859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PDE</m:t>
                          </m:r>
                        </m:sub>
                      </m:sSub>
                      <m:r>
                        <a:rPr lang="en-US" sz="20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2000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2000"/>
                              </m:ctrlPr>
                            </m:mP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sz="2000"/>
                                    </m:ctrlPr>
                                  </m:fPr>
                                  <m:num>
                                    <m:r>
                                      <a:rPr lang="en-US" sz="2000" dirty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dirty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𝜌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𝜈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f</m:t>
                                </m:r>
                              </m:e>
                            </m:mr>
                          </m:m>
                        </m:e>
                      </m:d>
                      <m:eqArr>
                        <m:eqArrPr>
                          <m:ctrlPr>
                            <a:rPr sz="2000"/>
                          </m:ctrlPr>
                        </m:eqArrPr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onti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nuit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yequ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atio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ncoe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onve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ctio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nter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Pre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ssur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eGra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dien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tter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Vi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scou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ster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ient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ourc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eter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mcoe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ffic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latin typeface="Cambria Math" panose="02040503050406030204"/>
                              <a:ea typeface="Cambria Math" panose="02040503050406030204"/>
                            </a:rPr>
                            <m:t>ient</m:t>
                          </m:r>
                        </m:e>
                      </m:eqArr>
                    </m:oMath>
                  </m:oMathPara>
                </a14:m>
                <a:endParaRPr sz="2000" dirty="0"/>
              </a:p>
            </p:txBody>
          </p:sp>
        </mc:Choice>
        <mc:Fallback>
          <p:sp>
            <p:nvSpPr>
              <p:cNvPr id="1872" name="textbox 18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25" y="2187575"/>
                <a:ext cx="4572000" cy="2085975"/>
              </a:xfrm>
              <a:prstGeom prst="rect">
                <a:avLst/>
              </a:prstGeom>
              <a:blipFill rotWithShape="1">
                <a:blip r:embed="rId4"/>
                <a:stretch>
                  <a:fillRect r="-5222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6" name="textbox 1876"/>
          <p:cNvSpPr/>
          <p:nvPr/>
        </p:nvSpPr>
        <p:spPr>
          <a:xfrm>
            <a:off x="11934825" y="6638925"/>
            <a:ext cx="18097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D3D3D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47</a:t>
            </a:r>
            <a:endParaRPr sz="1000" dirty="0"/>
          </a:p>
        </p:txBody>
      </p:sp>
      <p:pic>
        <p:nvPicPr>
          <p:cNvPr id="2" name="图片 1" descr="b50cc2159bd5acd66b01a65ed0fdd71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95" y="4651375"/>
            <a:ext cx="10382250" cy="19881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0" name="picture 18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82" name="textbox 1882"/>
          <p:cNvSpPr/>
          <p:nvPr/>
        </p:nvSpPr>
        <p:spPr>
          <a:xfrm>
            <a:off x="666750" y="304800"/>
            <a:ext cx="61912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1886" name="picture 18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888" name="textbox 1888"/>
          <p:cNvSpPr/>
          <p:nvPr/>
        </p:nvSpPr>
        <p:spPr>
          <a:xfrm>
            <a:off x="847725" y="1190625"/>
            <a:ext cx="47148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048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Possion方程求解精度对比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90" name="textbox 1890"/>
              <p:cNvSpPr/>
              <p:nvPr/>
            </p:nvSpPr>
            <p:spPr>
              <a:xfrm>
                <a:off x="2076450" y="1838325"/>
                <a:ext cx="2962275" cy="44767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c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𝛻</m:t>
                          </m:r>
                        </m:e>
                        <m:sup>
                          <m: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𝜙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f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   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 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n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    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𝛺</m:t>
                      </m:r>
                    </m:oMath>
                  </m:oMathPara>
                </a14:m>
                <a:endParaRPr sz="600" dirty="0"/>
              </a:p>
            </p:txBody>
          </p:sp>
        </mc:Choice>
        <mc:Fallback>
          <p:sp>
            <p:nvSpPr>
              <p:cNvPr id="1890" name="textbox 18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450" y="1838325"/>
                <a:ext cx="2962275" cy="4476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2" name="textbox 1892"/>
          <p:cNvSpPr/>
          <p:nvPr/>
        </p:nvSpPr>
        <p:spPr>
          <a:xfrm>
            <a:off x="3324225" y="2590800"/>
            <a:ext cx="30956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平均相对误差统计对比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94" name="textbox 1894"/>
              <p:cNvSpPr/>
              <p:nvPr/>
            </p:nvSpPr>
            <p:spPr>
              <a:xfrm>
                <a:off x="2266950" y="3076575"/>
                <a:ext cx="5343525" cy="46672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e</m:t>
                      </m:r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E</m:t>
                      </m:r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sz="2400" dirty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nary>
                        <m:naryPr>
                          <m:chr m:val="∑"/>
                          <m:limLoc m:val="subSup"/>
                          <m:subHide m:val="on"/>
                          <m:supHide m:val="on"/>
                          <m:ctrlPr>
                            <a:rPr/>
                          </m:ctrlPr>
                        </m:naryPr>
                        <m:sub/>
                        <m:sup/>
                        <m:e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|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|</m:t>
                          </m:r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(</m:t>
                          </m:r>
                        </m:e>
                      </m:nary>
                      <m:nary>
                        <m:naryPr>
                          <m:chr m:val="∑"/>
                          <m:limLoc m:val="subSup"/>
                          <m:subHide m:val="on"/>
                          <m:supHide m:val="on"/>
                          <m:ctrlPr>
                            <a:rPr/>
                          </m:ctrlPr>
                        </m:naryPr>
                        <m:sub/>
                        <m:sup/>
                        <m:e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|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u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G</m:t>
                              </m:r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/>
                                  <a:ea typeface="Cambria Math" panose="02040503050406030204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|</m:t>
                          </m:r>
                          <m:r>
                            <a:rPr lang="en-US" sz="2400" dirty="0">
                              <a:latin typeface="Cambria Math" panose="02040503050406030204"/>
                              <a:ea typeface="Cambria Math" panose="02040503050406030204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sz="600" dirty="0"/>
              </a:p>
            </p:txBody>
          </p:sp>
        </mc:Choice>
        <mc:Fallback>
          <p:sp>
            <p:nvSpPr>
              <p:cNvPr id="1894" name="textbox 18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950" y="3076575"/>
                <a:ext cx="5343525" cy="466725"/>
              </a:xfrm>
              <a:prstGeom prst="rect">
                <a:avLst/>
              </a:prstGeom>
              <a:blipFill rotWithShape="1">
                <a:blip r:embed="rId4"/>
                <a:stretch>
                  <a:fillRect r="-13987" b="-3306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98" name="picture 18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1019175"/>
            <a:ext cx="2524125" cy="2524125"/>
          </a:xfrm>
          <a:prstGeom prst="rect">
            <a:avLst/>
          </a:prstGeom>
        </p:spPr>
      </p:pic>
      <p:sp>
        <p:nvSpPr>
          <p:cNvPr id="1900" name="textbox 1900"/>
          <p:cNvSpPr/>
          <p:nvPr/>
        </p:nvSpPr>
        <p:spPr>
          <a:xfrm>
            <a:off x="8515350" y="1019175"/>
            <a:ext cx="2476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90500" indent="-152400" algn="l" rtl="0" eaLnBrk="0">
              <a:buAutoNum type="alphaLcParenBoth" startAt="2"/>
            </a:pPr>
            <a:r>
              <a:rPr sz="1000" kern="0" spc="7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sz="1000" dirty="0"/>
          </a:p>
        </p:txBody>
      </p:sp>
      <p:graphicFrame>
        <p:nvGraphicFramePr>
          <p:cNvPr id="1902" name="table 1902"/>
          <p:cNvGraphicFramePr>
            <a:graphicFrameLocks noGrp="1"/>
          </p:cNvGraphicFramePr>
          <p:nvPr/>
        </p:nvGraphicFramePr>
        <p:xfrm>
          <a:off x="1095375" y="3714750"/>
          <a:ext cx="10277475" cy="2743200"/>
        </p:xfrm>
        <a:graphic>
          <a:graphicData uri="http://schemas.openxmlformats.org/drawingml/2006/table">
            <a:tbl>
              <a:tblPr/>
              <a:tblGrid>
                <a:gridCol w="2105025"/>
                <a:gridCol w="2047875"/>
                <a:gridCol w="2028825"/>
                <a:gridCol w="2038350"/>
                <a:gridCol w="2057400"/>
              </a:tblGrid>
              <a:tr h="1371600"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Method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Laplacian</a:t>
                      </a:r>
                      <a:endParaRPr sz="2800" dirty="0"/>
                    </a:p>
                    <a:p>
                      <a:pPr algn="ctr" rtl="0" eaLnBrk="0"/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=0.1,</a:t>
                      </a:r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=0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endParaRPr sz="2800" kern="0" spc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Poisson</a:t>
                      </a:r>
                      <a:endParaRPr sz="2800" dirty="0"/>
                    </a:p>
                    <a:p>
                      <a:pPr algn="ctr" rtl="0" eaLnBrk="0"/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=0.1,</a:t>
                      </a:r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=1</a:t>
                      </a:r>
                      <a:endParaRPr sz="2800" dirty="0"/>
                    </a:p>
                    <a:p>
                      <a:pPr algn="r" rtl="0" eaLnBrk="0"/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endParaRPr sz="2800" kern="0" spc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Poisson</a:t>
                      </a:r>
                      <a:endParaRPr sz="2800" dirty="0"/>
                    </a:p>
                    <a:p>
                      <a:pPr algn="ctr" rtl="0" eaLnBrk="0"/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=0.1,</a:t>
                      </a:r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=2</a:t>
                      </a:r>
                      <a:endParaRPr sz="28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endParaRPr sz="2800" kern="0" spc="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Poisson</a:t>
                      </a:r>
                      <a:endParaRPr sz="2800" dirty="0"/>
                    </a:p>
                    <a:p>
                      <a:pPr algn="ctr" rtl="0" eaLnBrk="0"/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=0.1,</a:t>
                      </a:r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=3</a:t>
                      </a:r>
                      <a:endParaRPr sz="28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PINN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6.47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16.37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26.50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32.10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MAC-grid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3.42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219.26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157.44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118.70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Gen-FVGN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4A442A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1.41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2.55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2.78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4.88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B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7E0"/>
                    </a:solidFill>
                  </a:tcPr>
                </a:tc>
              </a:tr>
            </a:tbl>
          </a:graphicData>
        </a:graphic>
      </p:graphicFrame>
      <p:sp>
        <p:nvSpPr>
          <p:cNvPr id="1904" name="textbox 1904"/>
          <p:cNvSpPr/>
          <p:nvPr/>
        </p:nvSpPr>
        <p:spPr>
          <a:xfrm>
            <a:off x="11944350" y="6638925"/>
            <a:ext cx="15240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BDBDB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8" name="picture 19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10" name="textbox 1910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1914" name="picture 19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916" name="textbox 1916"/>
          <p:cNvSpPr/>
          <p:nvPr/>
        </p:nvSpPr>
        <p:spPr>
          <a:xfrm>
            <a:off x="723900" y="1085850"/>
            <a:ext cx="95726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Possion方程求解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：不同边界、不同网格、不同源项时的预测结果</a:t>
            </a:r>
            <a:endParaRPr sz="2800" dirty="0"/>
          </a:p>
        </p:txBody>
      </p:sp>
      <p:sp>
        <p:nvSpPr>
          <p:cNvPr id="1918" name="textbox 1918"/>
          <p:cNvSpPr/>
          <p:nvPr/>
        </p:nvSpPr>
        <p:spPr>
          <a:xfrm>
            <a:off x="1771650" y="1657350"/>
            <a:ext cx="88677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04800" algn="l" rtl="0" eaLnBrk="0">
              <a:buChar char="►"/>
            </a:pPr>
            <a:r>
              <a:rPr sz="2800" b="1" kern="0" spc="0" dirty="0">
                <a:solidFill>
                  <a:srgbClr val="B8030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均由一个模型经过一次训练推理得到，体现良好泛化性</a:t>
            </a:r>
            <a:endParaRPr sz="2800" dirty="0"/>
          </a:p>
        </p:txBody>
      </p:sp>
      <p:pic>
        <p:nvPicPr>
          <p:cNvPr id="1922" name="picture 19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43150"/>
            <a:ext cx="3505200" cy="2047875"/>
          </a:xfrm>
          <a:prstGeom prst="rect">
            <a:avLst/>
          </a:prstGeom>
        </p:spPr>
      </p:pic>
      <p:pic>
        <p:nvPicPr>
          <p:cNvPr id="1926" name="picture 19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2343150"/>
            <a:ext cx="3476625" cy="2047875"/>
          </a:xfrm>
          <a:prstGeom prst="rect">
            <a:avLst/>
          </a:prstGeom>
        </p:spPr>
      </p:pic>
      <p:pic>
        <p:nvPicPr>
          <p:cNvPr id="1930" name="picture 19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975" y="2343150"/>
            <a:ext cx="3457575" cy="2047875"/>
          </a:xfrm>
          <a:prstGeom prst="rect">
            <a:avLst/>
          </a:prstGeom>
        </p:spPr>
      </p:pic>
      <p:pic>
        <p:nvPicPr>
          <p:cNvPr id="1934" name="picture 19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524375"/>
            <a:ext cx="3505200" cy="2028825"/>
          </a:xfrm>
          <a:prstGeom prst="rect">
            <a:avLst/>
          </a:prstGeom>
        </p:spPr>
      </p:pic>
      <p:pic>
        <p:nvPicPr>
          <p:cNvPr id="1938" name="picture 19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075" y="4524375"/>
            <a:ext cx="3476625" cy="2028825"/>
          </a:xfrm>
          <a:prstGeom prst="rect">
            <a:avLst/>
          </a:prstGeom>
        </p:spPr>
      </p:pic>
      <p:pic>
        <p:nvPicPr>
          <p:cNvPr id="1942" name="picture 19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1975" y="4524375"/>
            <a:ext cx="3457575" cy="2028825"/>
          </a:xfrm>
          <a:prstGeom prst="rect">
            <a:avLst/>
          </a:prstGeom>
        </p:spPr>
      </p:pic>
      <p:sp>
        <p:nvSpPr>
          <p:cNvPr id="1944" name="textbox 1944"/>
          <p:cNvSpPr/>
          <p:nvPr/>
        </p:nvSpPr>
        <p:spPr>
          <a:xfrm>
            <a:off x="11944350" y="6638925"/>
            <a:ext cx="17145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AEAEA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49</a:t>
            </a:r>
            <a:endParaRPr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8" name="picture 19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50" name="textbox 1950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1954" name="picture 19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956" name="textbox 1956"/>
          <p:cNvSpPr/>
          <p:nvPr/>
        </p:nvSpPr>
        <p:spPr>
          <a:xfrm>
            <a:off x="723900" y="1085850"/>
            <a:ext cx="95726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Possion方程求解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：不同边界、不同网格、不同源项时的预测结果</a:t>
            </a:r>
            <a:endParaRPr sz="2800" dirty="0"/>
          </a:p>
        </p:txBody>
      </p:sp>
      <p:sp>
        <p:nvSpPr>
          <p:cNvPr id="1958" name="textbox 1958"/>
          <p:cNvSpPr/>
          <p:nvPr/>
        </p:nvSpPr>
        <p:spPr>
          <a:xfrm>
            <a:off x="1790700" y="1657350"/>
            <a:ext cx="88487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304800" algn="l" rtl="0" eaLnBrk="0">
              <a:buChar char="►"/>
            </a:pPr>
            <a:r>
              <a:rPr sz="2800" b="1" kern="0" spc="0" dirty="0">
                <a:solidFill>
                  <a:srgbClr val="B8030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均由一个模型经过一次训练推理得到，体现良好泛化性</a:t>
            </a:r>
            <a:endParaRPr sz="2800" dirty="0"/>
          </a:p>
        </p:txBody>
      </p:sp>
      <p:pic>
        <p:nvPicPr>
          <p:cNvPr id="1962" name="picture 19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314575"/>
            <a:ext cx="3448050" cy="2028825"/>
          </a:xfrm>
          <a:prstGeom prst="rect">
            <a:avLst/>
          </a:prstGeom>
        </p:spPr>
      </p:pic>
      <p:pic>
        <p:nvPicPr>
          <p:cNvPr id="1966" name="picture 19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2314575"/>
            <a:ext cx="3438525" cy="2028825"/>
          </a:xfrm>
          <a:prstGeom prst="rect">
            <a:avLst/>
          </a:prstGeom>
        </p:spPr>
      </p:pic>
      <p:pic>
        <p:nvPicPr>
          <p:cNvPr id="1970" name="picture 19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2314575"/>
            <a:ext cx="3438525" cy="2028825"/>
          </a:xfrm>
          <a:prstGeom prst="rect">
            <a:avLst/>
          </a:prstGeom>
        </p:spPr>
      </p:pic>
      <p:pic>
        <p:nvPicPr>
          <p:cNvPr id="1974" name="picture 19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67225"/>
            <a:ext cx="3495675" cy="2019300"/>
          </a:xfrm>
          <a:prstGeom prst="rect">
            <a:avLst/>
          </a:prstGeom>
        </p:spPr>
      </p:pic>
      <p:pic>
        <p:nvPicPr>
          <p:cNvPr id="1978" name="picture 19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075" y="4467225"/>
            <a:ext cx="3467100" cy="2019300"/>
          </a:xfrm>
          <a:prstGeom prst="rect">
            <a:avLst/>
          </a:prstGeom>
        </p:spPr>
      </p:pic>
      <p:pic>
        <p:nvPicPr>
          <p:cNvPr id="1982" name="picture 19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3875" y="4467225"/>
            <a:ext cx="3476625" cy="2019300"/>
          </a:xfrm>
          <a:prstGeom prst="rect">
            <a:avLst/>
          </a:prstGeom>
        </p:spPr>
      </p:pic>
      <p:sp>
        <p:nvSpPr>
          <p:cNvPr id="1984" name="textbox 1984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D2D2D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</a:t>
            </a:r>
            <a:endParaRPr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8" name="picture 19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90" name="textbox 1990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1994" name="picture 19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1996" name="textbox 1996"/>
          <p:cNvSpPr/>
          <p:nvPr/>
        </p:nvSpPr>
        <p:spPr>
          <a:xfrm>
            <a:off x="590550" y="1038225"/>
            <a:ext cx="72294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61950" indent="-3429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顶盖驱动方腔流（来流条件的泛化能力）</a:t>
            </a:r>
            <a:endParaRPr sz="2800" dirty="0"/>
          </a:p>
        </p:txBody>
      </p:sp>
      <p:pic>
        <p:nvPicPr>
          <p:cNvPr id="2000" name="picture 2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676400"/>
            <a:ext cx="11525250" cy="2552700"/>
          </a:xfrm>
          <a:prstGeom prst="rect">
            <a:avLst/>
          </a:prstGeom>
        </p:spPr>
      </p:pic>
      <p:graphicFrame>
        <p:nvGraphicFramePr>
          <p:cNvPr id="2002" name="table 2002"/>
          <p:cNvGraphicFramePr>
            <a:graphicFrameLocks noGrp="1"/>
          </p:cNvGraphicFramePr>
          <p:nvPr/>
        </p:nvGraphicFramePr>
        <p:xfrm>
          <a:off x="1247775" y="4448175"/>
          <a:ext cx="9858375" cy="2314575"/>
        </p:xfrm>
        <a:graphic>
          <a:graphicData uri="http://schemas.openxmlformats.org/drawingml/2006/table">
            <a:tbl>
              <a:tblPr/>
              <a:tblGrid>
                <a:gridCol w="1866900"/>
                <a:gridCol w="981075"/>
                <a:gridCol w="962025"/>
                <a:gridCol w="952500"/>
                <a:gridCol w="962025"/>
                <a:gridCol w="971550"/>
                <a:gridCol w="990600"/>
                <a:gridCol w="1095375"/>
                <a:gridCol w="1076325"/>
              </a:tblGrid>
              <a:tr h="390525">
                <a:tc rowSpan="3"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Method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Cavity Flow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Re=100</a:t>
                      </a:r>
                      <a:endParaRPr sz="2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Re=200</a:t>
                      </a:r>
                      <a:endParaRPr sz="2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Re=300</a:t>
                      </a:r>
                      <a:endParaRPr sz="2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Re=400</a:t>
                      </a:r>
                      <a:endParaRPr sz="2400" dirty="0"/>
                    </a:p>
                  </a:txBody>
                  <a:tcPr marL="0" marR="0" marT="0" marB="0" vert="horz" anchor="t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 vMerge="1">
                  <a:tcPr marL="0" marR="0" marT="0" marB="0" vert="horz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</a:t>
                      </a:r>
                      <a:endParaRPr sz="24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</a:t>
                      </a:r>
                      <a:endParaRPr sz="2400" dirty="0"/>
                    </a:p>
                  </a:txBody>
                  <a:tcPr marL="0" marR="0" marT="0" marB="0" vert="horz" anchor="b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2400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MLP(AD)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0.084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0.174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0.184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0.273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0.538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0.787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N\A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N\A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MAC-grid[</a:t>
                      </a:r>
                      <a:r>
                        <a:rPr sz="2400" kern="0" spc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]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0.092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0.447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0.168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0.410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0.165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0.338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0.163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0.606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Gen-FVGN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0.019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0.139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0.013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0.210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0.025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0.097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3B3838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0.0263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4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400" kern="0" spc="0" dirty="0">
                          <a:solidFill>
                            <a:srgbClr val="4D3E2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0.094</a:t>
                      </a:r>
                      <a:endParaRPr sz="24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1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DF"/>
                    </a:solidFill>
                  </a:tcPr>
                </a:tc>
              </a:tr>
            </a:tbl>
          </a:graphicData>
        </a:graphic>
      </p:graphicFrame>
      <p:sp>
        <p:nvSpPr>
          <p:cNvPr id="2004" name="textbox 2004"/>
          <p:cNvSpPr/>
          <p:nvPr/>
        </p:nvSpPr>
        <p:spPr>
          <a:xfrm>
            <a:off x="11934825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75" dirty="0">
                <a:solidFill>
                  <a:srgbClr val="C7C7C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51</a:t>
            </a:r>
            <a:endParaRPr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8" name="picture 20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0" name="textbox 2010"/>
          <p:cNvSpPr/>
          <p:nvPr/>
        </p:nvSpPr>
        <p:spPr>
          <a:xfrm>
            <a:off x="666750" y="304800"/>
            <a:ext cx="62007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有限体积物理约束神经网络（Gen-FVGN）</a:t>
            </a:r>
            <a:endParaRPr sz="2000" dirty="0"/>
          </a:p>
        </p:txBody>
      </p:sp>
      <p:pic>
        <p:nvPicPr>
          <p:cNvPr id="2014" name="picture 20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016" name="textbox 2016"/>
          <p:cNvSpPr/>
          <p:nvPr/>
        </p:nvSpPr>
        <p:spPr>
          <a:xfrm>
            <a:off x="657225" y="1181100"/>
            <a:ext cx="404812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3000" b="1" kern="0" spc="0" dirty="0">
                <a:solidFill>
                  <a:srgbClr val="0070C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NS</a:t>
            </a:r>
            <a:r>
              <a:rPr sz="30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顶盖驱动方腔流</a:t>
            </a:r>
            <a:endParaRPr sz="3000" dirty="0"/>
          </a:p>
        </p:txBody>
      </p:sp>
      <p:pic>
        <p:nvPicPr>
          <p:cNvPr id="2020" name="picture 2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724025"/>
            <a:ext cx="3019425" cy="2381250"/>
          </a:xfrm>
          <a:prstGeom prst="rect">
            <a:avLst/>
          </a:prstGeom>
        </p:spPr>
      </p:pic>
      <p:pic>
        <p:nvPicPr>
          <p:cNvPr id="2024" name="picture 20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1724025"/>
            <a:ext cx="3000375" cy="2381250"/>
          </a:xfrm>
          <a:prstGeom prst="rect">
            <a:avLst/>
          </a:prstGeom>
        </p:spPr>
      </p:pic>
      <p:pic>
        <p:nvPicPr>
          <p:cNvPr id="2028" name="picture 20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1724025"/>
            <a:ext cx="3000375" cy="2381250"/>
          </a:xfrm>
          <a:prstGeom prst="rect">
            <a:avLst/>
          </a:prstGeom>
        </p:spPr>
      </p:pic>
      <p:pic>
        <p:nvPicPr>
          <p:cNvPr id="2032" name="picture 20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4295775"/>
            <a:ext cx="3019425" cy="2276475"/>
          </a:xfrm>
          <a:prstGeom prst="rect">
            <a:avLst/>
          </a:prstGeom>
        </p:spPr>
      </p:pic>
      <p:pic>
        <p:nvPicPr>
          <p:cNvPr id="2036" name="picture 20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4295775"/>
            <a:ext cx="3000375" cy="2276475"/>
          </a:xfrm>
          <a:prstGeom prst="rect">
            <a:avLst/>
          </a:prstGeom>
        </p:spPr>
      </p:pic>
      <p:pic>
        <p:nvPicPr>
          <p:cNvPr id="2040" name="picture 20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00" y="4295775"/>
            <a:ext cx="3000375" cy="2276475"/>
          </a:xfrm>
          <a:prstGeom prst="rect">
            <a:avLst/>
          </a:prstGeom>
        </p:spPr>
      </p:pic>
      <p:sp>
        <p:nvSpPr>
          <p:cNvPr id="2042" name="textbox 2042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D2D2D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52</a:t>
            </a:r>
            <a:endParaRPr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6" name="picture 20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48" name="textbox 2048"/>
          <p:cNvSpPr/>
          <p:nvPr/>
        </p:nvSpPr>
        <p:spPr>
          <a:xfrm>
            <a:off x="666750" y="304800"/>
            <a:ext cx="62007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有限体积物理约束神经网络（Gen-FVGN）</a:t>
            </a:r>
            <a:endParaRPr sz="2000" dirty="0"/>
          </a:p>
        </p:txBody>
      </p:sp>
      <p:pic>
        <p:nvPicPr>
          <p:cNvPr id="2052" name="picture 20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054" name="textbox 2054"/>
          <p:cNvSpPr/>
          <p:nvPr/>
        </p:nvSpPr>
        <p:spPr>
          <a:xfrm>
            <a:off x="666750" y="1171575"/>
            <a:ext cx="40386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顶盖驱动方腔流</a:t>
            </a:r>
            <a:endParaRPr sz="2800" dirty="0"/>
          </a:p>
        </p:txBody>
      </p:sp>
      <p:sp>
        <p:nvSpPr>
          <p:cNvPr id="2056" name="textbox 2056"/>
          <p:cNvSpPr/>
          <p:nvPr/>
        </p:nvSpPr>
        <p:spPr>
          <a:xfrm>
            <a:off x="3810000" y="2333625"/>
            <a:ext cx="398145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典型剖面速度分量和压力对比</a:t>
            </a:r>
            <a:endParaRPr sz="2400" dirty="0"/>
          </a:p>
        </p:txBody>
      </p:sp>
      <p:pic>
        <p:nvPicPr>
          <p:cNvPr id="2060" name="picture 20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3048000"/>
            <a:ext cx="3486150" cy="2990850"/>
          </a:xfrm>
          <a:prstGeom prst="rect">
            <a:avLst/>
          </a:prstGeom>
        </p:spPr>
      </p:pic>
      <p:pic>
        <p:nvPicPr>
          <p:cNvPr id="2064" name="picture 20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3086100"/>
            <a:ext cx="3762375" cy="2952750"/>
          </a:xfrm>
          <a:prstGeom prst="rect">
            <a:avLst/>
          </a:prstGeom>
        </p:spPr>
      </p:pic>
      <p:pic>
        <p:nvPicPr>
          <p:cNvPr id="2068" name="picture 20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075" y="3048000"/>
            <a:ext cx="3581400" cy="3048000"/>
          </a:xfrm>
          <a:prstGeom prst="rect">
            <a:avLst/>
          </a:prstGeom>
        </p:spPr>
      </p:pic>
      <p:sp>
        <p:nvSpPr>
          <p:cNvPr id="2070" name="textbox 2070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1C1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53</a:t>
            </a:r>
            <a:endParaRPr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4" name="picture 20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76" name="textbox 2076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2080" name="picture 20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082" name="textbox 2082"/>
          <p:cNvSpPr/>
          <p:nvPr/>
        </p:nvSpPr>
        <p:spPr>
          <a:xfrm>
            <a:off x="647700" y="1181100"/>
            <a:ext cx="872490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33337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低速翼型NACA0012绕流（Re=1200，AoA=2°）</a:t>
            </a:r>
            <a:endParaRPr sz="2800" dirty="0"/>
          </a:p>
        </p:txBody>
      </p:sp>
      <p:sp>
        <p:nvSpPr>
          <p:cNvPr id="2084" name="textbox 2084"/>
          <p:cNvSpPr/>
          <p:nvPr/>
        </p:nvSpPr>
        <p:spPr>
          <a:xfrm>
            <a:off x="1695450" y="1771650"/>
            <a:ext cx="90487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Gen-FVGN</a:t>
            </a:r>
            <a:endParaRPr sz="1400" dirty="0"/>
          </a:p>
        </p:txBody>
      </p:sp>
      <p:sp>
        <p:nvSpPr>
          <p:cNvPr id="2086" name="textbox 2086"/>
          <p:cNvSpPr/>
          <p:nvPr/>
        </p:nvSpPr>
        <p:spPr>
          <a:xfrm>
            <a:off x="5962650" y="1790700"/>
            <a:ext cx="37147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CFD</a:t>
            </a:r>
            <a:endParaRPr sz="1400" dirty="0"/>
          </a:p>
        </p:txBody>
      </p:sp>
      <p:sp>
        <p:nvSpPr>
          <p:cNvPr id="2088" name="textbox 2088"/>
          <p:cNvSpPr/>
          <p:nvPr/>
        </p:nvSpPr>
        <p:spPr>
          <a:xfrm>
            <a:off x="9639300" y="1790700"/>
            <a:ext cx="112395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Absolute Error</a:t>
            </a:r>
            <a:endParaRPr sz="1400" dirty="0"/>
          </a:p>
        </p:txBody>
      </p:sp>
      <p:pic>
        <p:nvPicPr>
          <p:cNvPr id="2092" name="picture 20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1971675"/>
            <a:ext cx="3800475" cy="2133600"/>
          </a:xfrm>
          <a:prstGeom prst="rect">
            <a:avLst/>
          </a:prstGeom>
        </p:spPr>
      </p:pic>
      <p:pic>
        <p:nvPicPr>
          <p:cNvPr id="2096" name="picture 20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971675"/>
            <a:ext cx="3810000" cy="2133600"/>
          </a:xfrm>
          <a:prstGeom prst="rect">
            <a:avLst/>
          </a:prstGeom>
        </p:spPr>
      </p:pic>
      <p:pic>
        <p:nvPicPr>
          <p:cNvPr id="2100" name="picture 2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975" y="1971675"/>
            <a:ext cx="3781425" cy="2133600"/>
          </a:xfrm>
          <a:prstGeom prst="rect">
            <a:avLst/>
          </a:prstGeom>
        </p:spPr>
      </p:pic>
      <p:pic>
        <p:nvPicPr>
          <p:cNvPr id="2104" name="picture 2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" y="4191000"/>
            <a:ext cx="3800475" cy="2143125"/>
          </a:xfrm>
          <a:prstGeom prst="rect">
            <a:avLst/>
          </a:prstGeom>
        </p:spPr>
      </p:pic>
      <p:pic>
        <p:nvPicPr>
          <p:cNvPr id="2108" name="picture 2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8625" y="4191000"/>
            <a:ext cx="3810000" cy="2143125"/>
          </a:xfrm>
          <a:prstGeom prst="rect">
            <a:avLst/>
          </a:prstGeom>
        </p:spPr>
      </p:pic>
      <p:pic>
        <p:nvPicPr>
          <p:cNvPr id="2112" name="picture 21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1975" y="4200525"/>
            <a:ext cx="3781425" cy="2143125"/>
          </a:xfrm>
          <a:prstGeom prst="rect">
            <a:avLst/>
          </a:prstGeom>
        </p:spPr>
      </p:pic>
      <p:sp>
        <p:nvSpPr>
          <p:cNvPr id="2114" name="textbox 2114"/>
          <p:cNvSpPr/>
          <p:nvPr/>
        </p:nvSpPr>
        <p:spPr>
          <a:xfrm>
            <a:off x="11934825" y="6638925"/>
            <a:ext cx="18097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9C9C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54</a:t>
            </a:r>
            <a:endParaRPr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8" name="picture 2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20" name="textbox 2120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2124" name="picture 2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2126" name="textbox 2126"/>
          <p:cNvSpPr/>
          <p:nvPr/>
        </p:nvSpPr>
        <p:spPr>
          <a:xfrm>
            <a:off x="666750" y="1181100"/>
            <a:ext cx="777240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31432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低速翼型S809绕流（Re=1200，AoA=2°）</a:t>
            </a:r>
            <a:endParaRPr sz="2800" dirty="0"/>
          </a:p>
        </p:txBody>
      </p:sp>
      <p:pic>
        <p:nvPicPr>
          <p:cNvPr id="2130" name="picture 2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62150"/>
            <a:ext cx="3752850" cy="2114550"/>
          </a:xfrm>
          <a:prstGeom prst="rect">
            <a:avLst/>
          </a:prstGeom>
        </p:spPr>
      </p:pic>
      <p:pic>
        <p:nvPicPr>
          <p:cNvPr id="2134" name="picture 21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962150"/>
            <a:ext cx="3743325" cy="2114550"/>
          </a:xfrm>
          <a:prstGeom prst="rect">
            <a:avLst/>
          </a:prstGeom>
        </p:spPr>
      </p:pic>
      <p:pic>
        <p:nvPicPr>
          <p:cNvPr id="2138" name="picture 21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675" y="1962150"/>
            <a:ext cx="3743325" cy="2114550"/>
          </a:xfrm>
          <a:prstGeom prst="rect">
            <a:avLst/>
          </a:prstGeom>
        </p:spPr>
      </p:pic>
      <p:pic>
        <p:nvPicPr>
          <p:cNvPr id="2142" name="picture 21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4191000"/>
            <a:ext cx="3752850" cy="2114550"/>
          </a:xfrm>
          <a:prstGeom prst="rect">
            <a:avLst/>
          </a:prstGeom>
        </p:spPr>
      </p:pic>
      <p:pic>
        <p:nvPicPr>
          <p:cNvPr id="2146" name="picture 21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4191000"/>
            <a:ext cx="3743325" cy="2114550"/>
          </a:xfrm>
          <a:prstGeom prst="rect">
            <a:avLst/>
          </a:prstGeom>
        </p:spPr>
      </p:pic>
      <p:pic>
        <p:nvPicPr>
          <p:cNvPr id="2150" name="picture 2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675" y="4191000"/>
            <a:ext cx="3743325" cy="2114550"/>
          </a:xfrm>
          <a:prstGeom prst="rect">
            <a:avLst/>
          </a:prstGeom>
        </p:spPr>
      </p:pic>
      <p:sp>
        <p:nvSpPr>
          <p:cNvPr id="2152" name="textbox 2152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1C1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55</a:t>
            </a:r>
            <a:endParaRPr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6" name="picture 2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58" name="textbox 2158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有限体积物理信息神经网络 (Gen-FVGN)</a:t>
            </a:r>
            <a:endParaRPr sz="2000" dirty="0"/>
          </a:p>
        </p:txBody>
      </p:sp>
      <p:pic>
        <p:nvPicPr>
          <p:cNvPr id="2162" name="picture 2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164" name="textbox 2164"/>
          <p:cNvSpPr/>
          <p:nvPr/>
        </p:nvSpPr>
        <p:spPr>
          <a:xfrm>
            <a:off x="666750" y="1181100"/>
            <a:ext cx="97440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31432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低速翼型NACA0012、S809绕流（Re=1200，AoA=2°）</a:t>
            </a:r>
            <a:endParaRPr sz="2800" dirty="0"/>
          </a:p>
        </p:txBody>
      </p:sp>
      <p:pic>
        <p:nvPicPr>
          <p:cNvPr id="2168" name="picture 21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2650"/>
            <a:ext cx="5248275" cy="3752850"/>
          </a:xfrm>
          <a:prstGeom prst="rect">
            <a:avLst/>
          </a:prstGeom>
        </p:spPr>
      </p:pic>
      <p:pic>
        <p:nvPicPr>
          <p:cNvPr id="2172" name="picture 2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52650"/>
            <a:ext cx="5248275" cy="3752850"/>
          </a:xfrm>
          <a:prstGeom prst="rect">
            <a:avLst/>
          </a:prstGeom>
        </p:spPr>
      </p:pic>
      <p:sp>
        <p:nvSpPr>
          <p:cNvPr id="2174" name="textbox 2174"/>
          <p:cNvSpPr/>
          <p:nvPr/>
        </p:nvSpPr>
        <p:spPr>
          <a:xfrm>
            <a:off x="914400" y="6134100"/>
            <a:ext cx="1032510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8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不同外形、不同网格计算结果表明该模型具有良好的几何泛化能力</a:t>
            </a:r>
            <a:endParaRPr sz="2800" dirty="0"/>
          </a:p>
        </p:txBody>
      </p:sp>
      <p:sp>
        <p:nvSpPr>
          <p:cNvPr id="2176" name="textbox 2176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1C1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56</a:t>
            </a:r>
            <a:endParaRPr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0" name="picture 21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82" name="textbox 2182"/>
          <p:cNvSpPr/>
          <p:nvPr/>
        </p:nvSpPr>
        <p:spPr>
          <a:xfrm>
            <a:off x="666750" y="304800"/>
            <a:ext cx="6200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295275" algn="l" rtl="0" eaLnBrk="0">
              <a:buAutoNum type="arabicPeriod" startAt="3"/>
            </a:pPr>
            <a:r>
              <a:rPr sz="2000" b="1" kern="0" spc="375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有限体积物理约束神经网络 (Gen-FVGN)</a:t>
            </a:r>
            <a:endParaRPr sz="2000" dirty="0"/>
          </a:p>
        </p:txBody>
      </p:sp>
      <p:pic>
        <p:nvPicPr>
          <p:cNvPr id="2186" name="picture 2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188" name="textbox 2188"/>
          <p:cNvSpPr/>
          <p:nvPr/>
        </p:nvSpPr>
        <p:spPr>
          <a:xfrm>
            <a:off x="628650" y="1181100"/>
            <a:ext cx="114490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52425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低速翼型NACA2822非定常绕流（Re=3000，AoA=20.5°，dt=0.1）</a:t>
            </a:r>
            <a:endParaRPr sz="2800" dirty="0"/>
          </a:p>
        </p:txBody>
      </p:sp>
      <p:sp>
        <p:nvSpPr>
          <p:cNvPr id="2190" name="textbox 2190"/>
          <p:cNvSpPr/>
          <p:nvPr/>
        </p:nvSpPr>
        <p:spPr>
          <a:xfrm>
            <a:off x="4381500" y="1724025"/>
            <a:ext cx="5048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</a:t>
            </a:r>
            <a:endParaRPr sz="1800" dirty="0"/>
          </a:p>
        </p:txBody>
      </p:sp>
      <p:sp>
        <p:nvSpPr>
          <p:cNvPr id="2192" name="textbox 2192"/>
          <p:cNvSpPr/>
          <p:nvPr/>
        </p:nvSpPr>
        <p:spPr>
          <a:xfrm>
            <a:off x="9239250" y="1724025"/>
            <a:ext cx="4857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</a:t>
            </a:r>
            <a:endParaRPr sz="1800" dirty="0"/>
          </a:p>
        </p:txBody>
      </p:sp>
      <p:pic>
        <p:nvPicPr>
          <p:cNvPr id="2196" name="picture 2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028825"/>
            <a:ext cx="4676775" cy="3743325"/>
          </a:xfrm>
          <a:prstGeom prst="rect">
            <a:avLst/>
          </a:prstGeom>
        </p:spPr>
      </p:pic>
      <p:pic>
        <p:nvPicPr>
          <p:cNvPr id="2200" name="picture 22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2028825"/>
            <a:ext cx="4667250" cy="1876425"/>
          </a:xfrm>
          <a:prstGeom prst="rect">
            <a:avLst/>
          </a:prstGeom>
        </p:spPr>
      </p:pic>
      <p:sp>
        <p:nvSpPr>
          <p:cNvPr id="2202" name="textbox 2202"/>
          <p:cNvSpPr/>
          <p:nvPr/>
        </p:nvSpPr>
        <p:spPr>
          <a:xfrm>
            <a:off x="495300" y="2438400"/>
            <a:ext cx="180975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00025"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Gen-FVGN</a:t>
            </a:r>
            <a:endParaRPr sz="2000" dirty="0"/>
          </a:p>
          <a:p>
            <a:pPr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半隐半显时间格</a:t>
            </a:r>
            <a:endParaRPr sz="2000" dirty="0"/>
          </a:p>
          <a:p>
            <a:pPr marL="771525"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endParaRPr sz="2000" dirty="0"/>
          </a:p>
        </p:txBody>
      </p:sp>
      <p:sp>
        <p:nvSpPr>
          <p:cNvPr id="2204" name="textbox 2204"/>
          <p:cNvSpPr/>
          <p:nvPr/>
        </p:nvSpPr>
        <p:spPr>
          <a:xfrm>
            <a:off x="333375" y="4362450"/>
            <a:ext cx="1962150" cy="904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Ansys Fluent</a:t>
            </a:r>
            <a:endParaRPr sz="2000" dirty="0"/>
          </a:p>
          <a:p>
            <a:pPr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1阶隐式时间格式</a:t>
            </a:r>
            <a:endParaRPr sz="2000" dirty="0"/>
          </a:p>
          <a:p>
            <a:pPr marL="466725" algn="l" rtl="0" eaLnBrk="0"/>
            <a:r>
              <a:rPr sz="2000" b="1" kern="0" spc="0" dirty="0">
                <a:solidFill>
                  <a:srgbClr val="2F55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3阶迎风</a:t>
            </a:r>
            <a:endParaRPr sz="2000" dirty="0"/>
          </a:p>
        </p:txBody>
      </p:sp>
      <p:sp>
        <p:nvSpPr>
          <p:cNvPr id="2206" name="textbox 2206"/>
          <p:cNvSpPr/>
          <p:nvPr/>
        </p:nvSpPr>
        <p:spPr>
          <a:xfrm>
            <a:off x="1047750" y="6048375"/>
            <a:ext cx="982980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304800" algn="l" rtl="0" eaLnBrk="0">
              <a:buChar char="►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Li, et al. Learning to Solver PEDs with FV-informed Neural Networks in a</a:t>
            </a:r>
            <a:endParaRPr sz="2000" dirty="0"/>
          </a:p>
          <a:p>
            <a:pPr marL="295275"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Data-free Approach, </a:t>
            </a:r>
            <a:r>
              <a:rPr sz="2000" b="1" i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Journal of Computational Physics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530 (2025) 113919</a:t>
            </a:r>
            <a:endParaRPr sz="2000" dirty="0"/>
          </a:p>
        </p:txBody>
      </p:sp>
      <p:sp>
        <p:nvSpPr>
          <p:cNvPr id="2208" name="textbox 2208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C6C6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57</a:t>
            </a:r>
            <a:endParaRPr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2" name="picture 22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14" name="textbox 2214"/>
          <p:cNvSpPr/>
          <p:nvPr/>
        </p:nvSpPr>
        <p:spPr>
          <a:xfrm>
            <a:off x="685800" y="304800"/>
            <a:ext cx="502920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85750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有限差分物理约束神经网络FDGN</a:t>
            </a:r>
            <a:endParaRPr sz="2000" dirty="0"/>
          </a:p>
        </p:txBody>
      </p:sp>
      <p:pic>
        <p:nvPicPr>
          <p:cNvPr id="2218" name="picture 2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85775"/>
          </a:xfrm>
          <a:prstGeom prst="rect">
            <a:avLst/>
          </a:prstGeom>
        </p:spPr>
      </p:pic>
      <p:sp>
        <p:nvSpPr>
          <p:cNvPr id="2220" name="textbox 2220"/>
          <p:cNvSpPr/>
          <p:nvPr/>
        </p:nvSpPr>
        <p:spPr>
          <a:xfrm>
            <a:off x="923925" y="1381125"/>
            <a:ext cx="54102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28600" algn="l" rtl="0" eaLnBrk="0">
              <a:buChar char="►"/>
            </a:pPr>
            <a:r>
              <a:rPr sz="2800" b="1" kern="0" spc="0" dirty="0">
                <a:solidFill>
                  <a:srgbClr val="0670B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传统卷积神经网络（CNN）不足</a:t>
            </a:r>
            <a:endParaRPr sz="2800" dirty="0"/>
          </a:p>
        </p:txBody>
      </p:sp>
      <p:sp>
        <p:nvSpPr>
          <p:cNvPr id="2222" name="textbox 2222"/>
          <p:cNvSpPr/>
          <p:nvPr/>
        </p:nvSpPr>
        <p:spPr>
          <a:xfrm>
            <a:off x="1390650" y="1962150"/>
            <a:ext cx="608647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667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仅适用于单块网格，难以处理复杂外形模拟</a:t>
            </a:r>
            <a:endParaRPr sz="2400" dirty="0"/>
          </a:p>
          <a:p>
            <a:pPr marL="285750" algn="l" rtl="0" eaLnBrk="0">
              <a:spcBef>
                <a:spcPts val="825"/>
              </a:spcBef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中的多块结构网格；几何适应性弱。</a:t>
            </a:r>
            <a:endParaRPr sz="2400" dirty="0"/>
          </a:p>
        </p:txBody>
      </p:sp>
      <p:sp>
        <p:nvSpPr>
          <p:cNvPr id="2224" name="textbox 2224"/>
          <p:cNvSpPr/>
          <p:nvPr/>
        </p:nvSpPr>
        <p:spPr>
          <a:xfrm>
            <a:off x="923925" y="3371850"/>
            <a:ext cx="56007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4765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多块网格有限差分图网络：FDGN</a:t>
            </a:r>
            <a:endParaRPr sz="2800" dirty="0"/>
          </a:p>
        </p:txBody>
      </p:sp>
      <p:pic>
        <p:nvPicPr>
          <p:cNvPr id="2228" name="picture 22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5" y="1238250"/>
            <a:ext cx="4181475" cy="2381250"/>
          </a:xfrm>
          <a:prstGeom prst="rect">
            <a:avLst/>
          </a:prstGeom>
        </p:spPr>
      </p:pic>
      <p:sp>
        <p:nvSpPr>
          <p:cNvPr id="2230" name="textbox 2230"/>
          <p:cNvSpPr/>
          <p:nvPr/>
        </p:nvSpPr>
        <p:spPr>
          <a:xfrm>
            <a:off x="1381125" y="4067175"/>
            <a:ext cx="986790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2952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网格适应性：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利用图卷积替代传统CNN，学习多块结构网格间的流场表</a:t>
            </a:r>
            <a:endParaRPr sz="2400" dirty="0"/>
          </a:p>
          <a:p>
            <a:pPr marL="295275" algn="l" rtl="0" eaLnBrk="0">
              <a:spcBef>
                <a:spcPts val="105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征，支持非结构化图输出的微分操作。</a:t>
            </a:r>
            <a:endParaRPr sz="2400" dirty="0"/>
          </a:p>
        </p:txBody>
      </p:sp>
      <p:sp>
        <p:nvSpPr>
          <p:cNvPr id="2232" name="textbox 2232"/>
          <p:cNvSpPr/>
          <p:nvPr/>
        </p:nvSpPr>
        <p:spPr>
          <a:xfrm>
            <a:off x="1381125" y="5162550"/>
            <a:ext cx="10172700" cy="84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基于有限差分的无监督物理约束：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基于有限差分法设计物理约束损失函数，</a:t>
            </a:r>
            <a:endParaRPr sz="2400" dirty="0"/>
          </a:p>
          <a:p>
            <a:pPr marL="276225" algn="l" rtl="0" eaLnBrk="0">
              <a:spcBef>
                <a:spcPts val="120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实现无需标注数据的端到端训练。</a:t>
            </a:r>
            <a:endParaRPr sz="2400" dirty="0"/>
          </a:p>
        </p:txBody>
      </p:sp>
      <p:sp>
        <p:nvSpPr>
          <p:cNvPr id="2234" name="textbox 2234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BBBBB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58</a:t>
            </a:r>
            <a:endParaRPr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picture 2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40" name="textbox 2240"/>
          <p:cNvSpPr/>
          <p:nvPr/>
        </p:nvSpPr>
        <p:spPr>
          <a:xfrm>
            <a:off x="666750" y="304800"/>
            <a:ext cx="504825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95275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有限差分物理约束神经网络FDGN</a:t>
            </a:r>
            <a:endParaRPr sz="2000" dirty="0"/>
          </a:p>
        </p:txBody>
      </p:sp>
      <p:pic>
        <p:nvPicPr>
          <p:cNvPr id="2244" name="picture 2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246" name="textbox 2246"/>
          <p:cNvSpPr/>
          <p:nvPr/>
        </p:nvSpPr>
        <p:spPr>
          <a:xfrm>
            <a:off x="962025" y="1038225"/>
            <a:ext cx="200025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00050" indent="-400050" algn="l" rtl="0" eaLnBrk="0">
              <a:buChar char="►"/>
            </a:pPr>
            <a:r>
              <a:rPr sz="2800" b="1" kern="0" spc="0" dirty="0">
                <a:solidFill>
                  <a:srgbClr val="056FB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</a:t>
            </a:r>
            <a:endParaRPr sz="2800" dirty="0"/>
          </a:p>
        </p:txBody>
      </p:sp>
      <p:sp>
        <p:nvSpPr>
          <p:cNvPr id="2248" name="textbox 2248"/>
          <p:cNvSpPr/>
          <p:nvPr/>
        </p:nvSpPr>
        <p:spPr>
          <a:xfrm>
            <a:off x="1419225" y="1609725"/>
            <a:ext cx="10134600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857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</a:t>
            </a: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非结构存储下的图数据结构，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提出一种</a:t>
            </a: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基于有限差分方法的Loss函数</a:t>
            </a:r>
            <a:endParaRPr sz="2400" dirty="0"/>
          </a:p>
          <a:p>
            <a:pPr marL="276225" algn="l" rtl="0" eaLnBrk="0">
              <a:spcBef>
                <a:spcPts val="825"/>
              </a:spcBef>
            </a:pP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计算方法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，能够高效地获得方程离散残差，实现</a:t>
            </a:r>
            <a:r>
              <a:rPr sz="2400" b="1" kern="0" spc="0" dirty="0">
                <a:solidFill>
                  <a:srgbClr val="4874C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无监督式的物理约束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400" dirty="0"/>
          </a:p>
        </p:txBody>
      </p:sp>
      <p:pic>
        <p:nvPicPr>
          <p:cNvPr id="2252" name="picture 22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2571750"/>
            <a:ext cx="8658225" cy="4105275"/>
          </a:xfrm>
          <a:prstGeom prst="rect">
            <a:avLst/>
          </a:prstGeom>
        </p:spPr>
      </p:pic>
      <p:sp>
        <p:nvSpPr>
          <p:cNvPr id="2254" name="textbox 2254"/>
          <p:cNvSpPr/>
          <p:nvPr/>
        </p:nvSpPr>
        <p:spPr>
          <a:xfrm>
            <a:off x="9420225" y="3448050"/>
            <a:ext cx="103822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Train phase</a:t>
            </a:r>
            <a:endParaRPr sz="1600" dirty="0"/>
          </a:p>
        </p:txBody>
      </p:sp>
      <p:sp>
        <p:nvSpPr>
          <p:cNvPr id="2256" name="textbox 2256"/>
          <p:cNvSpPr/>
          <p:nvPr/>
        </p:nvSpPr>
        <p:spPr>
          <a:xfrm>
            <a:off x="5410200" y="3714750"/>
            <a:ext cx="87630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Mesh Input</a:t>
            </a:r>
            <a:endParaRPr sz="1400" dirty="0"/>
          </a:p>
        </p:txBody>
      </p:sp>
      <p:sp>
        <p:nvSpPr>
          <p:cNvPr id="2258" name="textbox 2258"/>
          <p:cNvSpPr/>
          <p:nvPr/>
        </p:nvSpPr>
        <p:spPr>
          <a:xfrm>
            <a:off x="7286625" y="3714750"/>
            <a:ext cx="885825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kern="0" spc="0" dirty="0">
                <a:solidFill>
                  <a:srgbClr val="40404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GN blocks…</a:t>
            </a:r>
            <a:endParaRPr sz="1400" dirty="0"/>
          </a:p>
        </p:txBody>
      </p:sp>
      <p:sp>
        <p:nvSpPr>
          <p:cNvPr id="2260" name="textbox 2260"/>
          <p:cNvSpPr/>
          <p:nvPr/>
        </p:nvSpPr>
        <p:spPr>
          <a:xfrm>
            <a:off x="7096125" y="4524375"/>
            <a:ext cx="1285875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30303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GC-FDM PDE loss</a:t>
            </a:r>
            <a:endParaRPr sz="1400" dirty="0"/>
          </a:p>
        </p:txBody>
      </p:sp>
      <p:sp>
        <p:nvSpPr>
          <p:cNvPr id="2262" name="textbox 2262"/>
          <p:cNvSpPr/>
          <p:nvPr/>
        </p:nvSpPr>
        <p:spPr>
          <a:xfrm>
            <a:off x="9182100" y="4533900"/>
            <a:ext cx="36195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Pred</a:t>
            </a:r>
            <a:endParaRPr sz="1400" dirty="0"/>
          </a:p>
        </p:txBody>
      </p:sp>
      <p:sp>
        <p:nvSpPr>
          <p:cNvPr id="2264" name="textbox 2264"/>
          <p:cNvSpPr/>
          <p:nvPr/>
        </p:nvSpPr>
        <p:spPr>
          <a:xfrm>
            <a:off x="9448800" y="5114925"/>
            <a:ext cx="9906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Test phase</a:t>
            </a:r>
            <a:endParaRPr sz="1600" dirty="0"/>
          </a:p>
        </p:txBody>
      </p:sp>
      <p:sp>
        <p:nvSpPr>
          <p:cNvPr id="2266" name="textbox 2266"/>
          <p:cNvSpPr/>
          <p:nvPr/>
        </p:nvSpPr>
        <p:spPr>
          <a:xfrm>
            <a:off x="5410200" y="5572125"/>
            <a:ext cx="8953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 Input</a:t>
            </a:r>
            <a:endParaRPr sz="1200" dirty="0"/>
          </a:p>
        </p:txBody>
      </p:sp>
      <p:sp>
        <p:nvSpPr>
          <p:cNvPr id="2268" name="textbox 2268"/>
          <p:cNvSpPr/>
          <p:nvPr/>
        </p:nvSpPr>
        <p:spPr>
          <a:xfrm>
            <a:off x="7296150" y="5572125"/>
            <a:ext cx="89535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kern="0" spc="0" dirty="0">
                <a:solidFill>
                  <a:srgbClr val="40404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GN blocks…</a:t>
            </a:r>
            <a:endParaRPr sz="1400" dirty="0"/>
          </a:p>
        </p:txBody>
      </p:sp>
      <p:sp>
        <p:nvSpPr>
          <p:cNvPr id="2270" name="textbox 2270"/>
          <p:cNvSpPr/>
          <p:nvPr/>
        </p:nvSpPr>
        <p:spPr>
          <a:xfrm>
            <a:off x="9163050" y="5591175"/>
            <a:ext cx="38100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Pred</a:t>
            </a:r>
            <a:endParaRPr sz="1400" dirty="0"/>
          </a:p>
        </p:txBody>
      </p:sp>
      <p:sp>
        <p:nvSpPr>
          <p:cNvPr id="2272" name="textbox 2272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300" dirty="0">
                <a:solidFill>
                  <a:srgbClr val="D8D8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59</a:t>
            </a:r>
            <a:endParaRPr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6" name="picture 22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78" name="textbox 2278"/>
          <p:cNvSpPr/>
          <p:nvPr/>
        </p:nvSpPr>
        <p:spPr>
          <a:xfrm>
            <a:off x="666750" y="304800"/>
            <a:ext cx="504825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33375" indent="-295275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有限差分物理约束神经网络FDGN</a:t>
            </a:r>
            <a:endParaRPr sz="2000" dirty="0"/>
          </a:p>
        </p:txBody>
      </p:sp>
      <p:pic>
        <p:nvPicPr>
          <p:cNvPr id="2282" name="picture 2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284" name="textbox 2284"/>
          <p:cNvSpPr/>
          <p:nvPr/>
        </p:nvSpPr>
        <p:spPr>
          <a:xfrm>
            <a:off x="800100" y="1076325"/>
            <a:ext cx="107156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810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FDGN与传统CNN的差异：</a:t>
            </a:r>
            <a:r>
              <a:rPr sz="24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利用GNN特性处理非结构化的多块结构网格</a:t>
            </a:r>
            <a:endParaRPr sz="2800" dirty="0"/>
          </a:p>
        </p:txBody>
      </p:sp>
      <p:pic>
        <p:nvPicPr>
          <p:cNvPr id="2288" name="picture 22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24000"/>
            <a:ext cx="10506075" cy="5114925"/>
          </a:xfrm>
          <a:prstGeom prst="rect">
            <a:avLst/>
          </a:prstGeom>
        </p:spPr>
      </p:pic>
      <p:sp>
        <p:nvSpPr>
          <p:cNvPr id="2290" name="textbox 2290"/>
          <p:cNvSpPr/>
          <p:nvPr/>
        </p:nvSpPr>
        <p:spPr>
          <a:xfrm>
            <a:off x="6257925" y="1571625"/>
            <a:ext cx="159067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Fixed conv kernel</a:t>
            </a:r>
            <a:endParaRPr sz="1600" dirty="0"/>
          </a:p>
        </p:txBody>
      </p:sp>
      <p:sp>
        <p:nvSpPr>
          <p:cNvPr id="2292" name="textbox 2292"/>
          <p:cNvSpPr/>
          <p:nvPr/>
        </p:nvSpPr>
        <p:spPr>
          <a:xfrm>
            <a:off x="7705725" y="2228850"/>
            <a:ext cx="10001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Derivatives</a:t>
            </a:r>
            <a:endParaRPr sz="1600" dirty="0"/>
          </a:p>
        </p:txBody>
      </p:sp>
      <p:sp>
        <p:nvSpPr>
          <p:cNvPr id="2294" name="textbox 2294"/>
          <p:cNvSpPr/>
          <p:nvPr/>
        </p:nvSpPr>
        <p:spPr>
          <a:xfrm>
            <a:off x="7620000" y="2638425"/>
            <a:ext cx="370522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i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∂ u/∂ x,∂ v/∂ y, </a:t>
            </a:r>
            <a:r>
              <a:rPr sz="2700" b="1" kern="0" spc="0" dirty="0">
                <a:solidFill>
                  <a:srgbClr val="00206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⋯▶PDE Residuals</a:t>
            </a:r>
            <a:endParaRPr sz="2000" dirty="0"/>
          </a:p>
        </p:txBody>
      </p:sp>
      <p:sp>
        <p:nvSpPr>
          <p:cNvPr id="2296" name="textbox 2296"/>
          <p:cNvSpPr/>
          <p:nvPr/>
        </p:nvSpPr>
        <p:spPr>
          <a:xfrm>
            <a:off x="3333750" y="2667000"/>
            <a:ext cx="6096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CNN</a:t>
            </a:r>
            <a:endParaRPr sz="2000" dirty="0"/>
          </a:p>
        </p:txBody>
      </p:sp>
      <p:sp>
        <p:nvSpPr>
          <p:cNvPr id="2298" name="textbox 2298"/>
          <p:cNvSpPr/>
          <p:nvPr/>
        </p:nvSpPr>
        <p:spPr>
          <a:xfrm>
            <a:off x="7829550" y="2943225"/>
            <a:ext cx="79057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i="1" kern="0" spc="0" dirty="0">
                <a:solidFill>
                  <a:srgbClr val="E7E6E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∂ p / ∂ x …</a:t>
            </a:r>
            <a:endParaRPr sz="1600" dirty="0"/>
          </a:p>
        </p:txBody>
      </p:sp>
      <p:sp>
        <p:nvSpPr>
          <p:cNvPr id="2300" name="textbox 2300"/>
          <p:cNvSpPr/>
          <p:nvPr/>
        </p:nvSpPr>
        <p:spPr>
          <a:xfrm>
            <a:off x="1190625" y="3295650"/>
            <a:ext cx="1076325" cy="560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 batch</a:t>
            </a:r>
            <a:endParaRPr sz="1600" b="1" kern="0" spc="0" dirty="0">
              <a:solidFill>
                <a:srgbClr val="0070C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/>
            <a:r>
              <a:rPr sz="1600" b="1" kern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geometries</a:t>
            </a:r>
            <a:endParaRPr sz="1600" dirty="0"/>
          </a:p>
          <a:p>
            <a:pPr algn="l" rtl="0" eaLnBrk="0"/>
            <a:endParaRPr sz="1600" dirty="0"/>
          </a:p>
        </p:txBody>
      </p:sp>
      <p:sp>
        <p:nvSpPr>
          <p:cNvPr id="2302" name="textbox 2302"/>
          <p:cNvSpPr/>
          <p:nvPr/>
        </p:nvSpPr>
        <p:spPr>
          <a:xfrm>
            <a:off x="5067300" y="3324225"/>
            <a:ext cx="172402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Output rectangular</a:t>
            </a:r>
            <a:endParaRPr sz="1600" b="1" kern="0" spc="0" dirty="0">
              <a:solidFill>
                <a:srgbClr val="0070C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/>
            <a:r>
              <a:rPr sz="1600" b="1" kern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tensor (B,d,H,W)</a:t>
            </a:r>
            <a:endParaRPr sz="1600" dirty="0"/>
          </a:p>
          <a:p>
            <a:pPr algn="l" rtl="0" eaLnBrk="0"/>
            <a:endParaRPr sz="1600" dirty="0"/>
          </a:p>
        </p:txBody>
      </p:sp>
      <p:sp>
        <p:nvSpPr>
          <p:cNvPr id="2304" name="textbox 2304"/>
          <p:cNvSpPr/>
          <p:nvPr/>
        </p:nvSpPr>
        <p:spPr>
          <a:xfrm>
            <a:off x="9886950" y="3352800"/>
            <a:ext cx="8382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 size</a:t>
            </a:r>
            <a:endParaRPr sz="1400" dirty="0"/>
          </a:p>
        </p:txBody>
      </p:sp>
      <p:sp>
        <p:nvSpPr>
          <p:cNvPr id="2306" name="textbox 2306"/>
          <p:cNvSpPr/>
          <p:nvPr/>
        </p:nvSpPr>
        <p:spPr>
          <a:xfrm>
            <a:off x="9182100" y="3390900"/>
            <a:ext cx="2286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endParaRPr sz="1800" dirty="0"/>
          </a:p>
        </p:txBody>
      </p:sp>
      <p:sp>
        <p:nvSpPr>
          <p:cNvPr id="2308" name="textbox 2308"/>
          <p:cNvSpPr/>
          <p:nvPr/>
        </p:nvSpPr>
        <p:spPr>
          <a:xfrm>
            <a:off x="1190625" y="3571875"/>
            <a:ext cx="9906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500" dirty="0"/>
          </a:p>
        </p:txBody>
      </p:sp>
      <p:sp>
        <p:nvSpPr>
          <p:cNvPr id="2310" name="textbox 2310"/>
          <p:cNvSpPr/>
          <p:nvPr/>
        </p:nvSpPr>
        <p:spPr>
          <a:xfrm>
            <a:off x="5067300" y="3571875"/>
            <a:ext cx="150495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500" dirty="0"/>
          </a:p>
        </p:txBody>
      </p:sp>
      <p:sp>
        <p:nvSpPr>
          <p:cNvPr id="2312" name="textbox 2312"/>
          <p:cNvSpPr/>
          <p:nvPr/>
        </p:nvSpPr>
        <p:spPr>
          <a:xfrm>
            <a:off x="9605645" y="3638550"/>
            <a:ext cx="154241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Output dimensions</a:t>
            </a:r>
            <a:endParaRPr sz="1600" dirty="0"/>
          </a:p>
        </p:txBody>
      </p:sp>
      <p:sp>
        <p:nvSpPr>
          <p:cNvPr id="2314" name="textbox 2314"/>
          <p:cNvSpPr/>
          <p:nvPr/>
        </p:nvSpPr>
        <p:spPr>
          <a:xfrm>
            <a:off x="3476625" y="3724275"/>
            <a:ext cx="2762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57175" indent="-228600" algn="l" rtl="0" eaLnBrk="0">
              <a:buAutoNum type="alphaLcParenBoth"/>
            </a:pPr>
            <a:endParaRPr sz="600" dirty="0"/>
          </a:p>
        </p:txBody>
      </p:sp>
      <p:sp>
        <p:nvSpPr>
          <p:cNvPr id="2316" name="textbox 2316"/>
          <p:cNvSpPr/>
          <p:nvPr/>
        </p:nvSpPr>
        <p:spPr>
          <a:xfrm>
            <a:off x="9182100" y="3981450"/>
            <a:ext cx="2762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endParaRPr sz="1800" dirty="0"/>
          </a:p>
        </p:txBody>
      </p:sp>
      <p:sp>
        <p:nvSpPr>
          <p:cNvPr id="2318" name="textbox 2318"/>
          <p:cNvSpPr/>
          <p:nvPr/>
        </p:nvSpPr>
        <p:spPr>
          <a:xfrm>
            <a:off x="10029825" y="4000500"/>
            <a:ext cx="57150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Height</a:t>
            </a:r>
            <a:endParaRPr sz="1400" dirty="0"/>
          </a:p>
        </p:txBody>
      </p:sp>
      <p:sp>
        <p:nvSpPr>
          <p:cNvPr id="2320" name="textbox 2320"/>
          <p:cNvSpPr/>
          <p:nvPr/>
        </p:nvSpPr>
        <p:spPr>
          <a:xfrm>
            <a:off x="6296025" y="4114800"/>
            <a:ext cx="90487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GC-FDM</a:t>
            </a:r>
            <a:endParaRPr sz="1600" dirty="0"/>
          </a:p>
        </p:txBody>
      </p:sp>
      <p:sp>
        <p:nvSpPr>
          <p:cNvPr id="2322" name="textbox 2322"/>
          <p:cNvSpPr/>
          <p:nvPr/>
        </p:nvSpPr>
        <p:spPr>
          <a:xfrm>
            <a:off x="9163050" y="4333875"/>
            <a:ext cx="28575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</a:t>
            </a:r>
            <a:endParaRPr sz="1800" dirty="0"/>
          </a:p>
        </p:txBody>
      </p:sp>
      <p:sp>
        <p:nvSpPr>
          <p:cNvPr id="2324" name="textbox 2324"/>
          <p:cNvSpPr/>
          <p:nvPr/>
        </p:nvSpPr>
        <p:spPr>
          <a:xfrm>
            <a:off x="10067925" y="4333875"/>
            <a:ext cx="495300" cy="20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Width</a:t>
            </a:r>
            <a:endParaRPr sz="1400" dirty="0"/>
          </a:p>
        </p:txBody>
      </p:sp>
      <p:sp>
        <p:nvSpPr>
          <p:cNvPr id="2326" name="textbox 2326"/>
          <p:cNvSpPr/>
          <p:nvPr/>
        </p:nvSpPr>
        <p:spPr>
          <a:xfrm>
            <a:off x="6219825" y="4429125"/>
            <a:ext cx="10191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node to node</a:t>
            </a:r>
            <a:endParaRPr sz="1400" dirty="0"/>
          </a:p>
        </p:txBody>
      </p:sp>
      <p:sp>
        <p:nvSpPr>
          <p:cNvPr id="2328" name="textbox 2328"/>
          <p:cNvSpPr/>
          <p:nvPr/>
        </p:nvSpPr>
        <p:spPr>
          <a:xfrm>
            <a:off x="6219825" y="4657725"/>
            <a:ext cx="100012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b="1" i="1" kern="0" spc="0" dirty="0">
                <a:solidFill>
                  <a:srgbClr val="46465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node to edge</a:t>
            </a:r>
            <a:endParaRPr sz="1400" dirty="0"/>
          </a:p>
        </p:txBody>
      </p:sp>
      <p:sp>
        <p:nvSpPr>
          <p:cNvPr id="2330" name="textbox 2330"/>
          <p:cNvSpPr/>
          <p:nvPr/>
        </p:nvSpPr>
        <p:spPr>
          <a:xfrm>
            <a:off x="7620000" y="4819650"/>
            <a:ext cx="100012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Derivatives</a:t>
            </a:r>
            <a:endParaRPr sz="1600" dirty="0"/>
          </a:p>
        </p:txBody>
      </p:sp>
      <p:sp>
        <p:nvSpPr>
          <p:cNvPr id="2332" name="textbox 2332"/>
          <p:cNvSpPr/>
          <p:nvPr/>
        </p:nvSpPr>
        <p:spPr>
          <a:xfrm>
            <a:off x="6219825" y="4886325"/>
            <a:ext cx="1019175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4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edge to node</a:t>
            </a:r>
            <a:endParaRPr sz="1400" dirty="0"/>
          </a:p>
        </p:txBody>
      </p:sp>
      <p:sp>
        <p:nvSpPr>
          <p:cNvPr id="2334" name="textbox 2334"/>
          <p:cNvSpPr/>
          <p:nvPr/>
        </p:nvSpPr>
        <p:spPr>
          <a:xfrm>
            <a:off x="8801100" y="5229225"/>
            <a:ext cx="241935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85725" algn="l" rtl="0" eaLnBrk="0">
              <a:buChar char="•"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•••</a:t>
            </a:r>
            <a:r>
              <a:rPr sz="2000" b="1" kern="0" spc="0" dirty="0">
                <a:solidFill>
                  <a:srgbClr val="00206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▶PDE Residuals</a:t>
            </a:r>
            <a:endParaRPr sz="2000" dirty="0"/>
          </a:p>
        </p:txBody>
      </p:sp>
      <p:sp>
        <p:nvSpPr>
          <p:cNvPr id="2336" name="textbox 2336"/>
          <p:cNvSpPr/>
          <p:nvPr/>
        </p:nvSpPr>
        <p:spPr>
          <a:xfrm>
            <a:off x="3352800" y="5267325"/>
            <a:ext cx="400050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GN</a:t>
            </a:r>
            <a:endParaRPr sz="2000" dirty="0"/>
          </a:p>
        </p:txBody>
      </p:sp>
      <p:sp>
        <p:nvSpPr>
          <p:cNvPr id="2338" name="textbox 2338"/>
          <p:cNvSpPr/>
          <p:nvPr/>
        </p:nvSpPr>
        <p:spPr>
          <a:xfrm>
            <a:off x="7524750" y="5276850"/>
            <a:ext cx="12382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i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∂ u/∂ x,∂ v/∂ y,</a:t>
            </a:r>
            <a:endParaRPr sz="1600" dirty="0"/>
          </a:p>
        </p:txBody>
      </p:sp>
      <p:sp>
        <p:nvSpPr>
          <p:cNvPr id="2340" name="textbox 2340"/>
          <p:cNvSpPr/>
          <p:nvPr/>
        </p:nvSpPr>
        <p:spPr>
          <a:xfrm>
            <a:off x="7743825" y="5534025"/>
            <a:ext cx="762000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∂ p / ∂ x …</a:t>
            </a:r>
            <a:endParaRPr sz="1600" dirty="0"/>
          </a:p>
        </p:txBody>
      </p:sp>
      <p:sp>
        <p:nvSpPr>
          <p:cNvPr id="2342" name="textbox 2342"/>
          <p:cNvSpPr/>
          <p:nvPr/>
        </p:nvSpPr>
        <p:spPr>
          <a:xfrm>
            <a:off x="9569450" y="5867400"/>
            <a:ext cx="14001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Batch nodes num</a:t>
            </a:r>
            <a:endParaRPr sz="1800" dirty="0"/>
          </a:p>
        </p:txBody>
      </p:sp>
      <p:sp>
        <p:nvSpPr>
          <p:cNvPr id="2344" name="textbox 2344"/>
          <p:cNvSpPr/>
          <p:nvPr/>
        </p:nvSpPr>
        <p:spPr>
          <a:xfrm>
            <a:off x="4886325" y="6172200"/>
            <a:ext cx="1819275" cy="572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Output unstructured</a:t>
            </a:r>
            <a:endParaRPr sz="1600" b="1" kern="0" spc="0" dirty="0">
              <a:solidFill>
                <a:srgbClr val="0070C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/>
            <a:r>
              <a:rPr sz="1500" b="1" kern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tensor (N,d)</a:t>
            </a:r>
            <a:endParaRPr sz="1500" dirty="0"/>
          </a:p>
          <a:p>
            <a:pPr algn="l" rtl="0" eaLnBrk="0"/>
            <a:endParaRPr sz="1600" dirty="0"/>
          </a:p>
        </p:txBody>
      </p:sp>
      <p:sp>
        <p:nvSpPr>
          <p:cNvPr id="2346" name="textbox 2346"/>
          <p:cNvSpPr/>
          <p:nvPr/>
        </p:nvSpPr>
        <p:spPr>
          <a:xfrm>
            <a:off x="1228725" y="6096000"/>
            <a:ext cx="1057275" cy="476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600" b="1" kern="0" spc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 batch</a:t>
            </a:r>
            <a:endParaRPr sz="1600" b="1" kern="0" spc="0" dirty="0">
              <a:solidFill>
                <a:srgbClr val="0070C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/>
            <a:r>
              <a:rPr sz="1600" b="1" kern="0" dirty="0">
                <a:solidFill>
                  <a:srgbClr val="0070C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geometries</a:t>
            </a:r>
            <a:endParaRPr sz="1600" dirty="0"/>
          </a:p>
          <a:p>
            <a:pPr algn="l" rtl="0" eaLnBrk="0"/>
            <a:endParaRPr sz="1600" dirty="0"/>
          </a:p>
        </p:txBody>
      </p:sp>
      <p:sp>
        <p:nvSpPr>
          <p:cNvPr id="2348" name="textbox 2348"/>
          <p:cNvSpPr/>
          <p:nvPr/>
        </p:nvSpPr>
        <p:spPr>
          <a:xfrm>
            <a:off x="9569450" y="6210300"/>
            <a:ext cx="152146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Output dimensions</a:t>
            </a:r>
            <a:endParaRPr sz="1800" dirty="0"/>
          </a:p>
        </p:txBody>
      </p:sp>
      <p:sp>
        <p:nvSpPr>
          <p:cNvPr id="2350" name="textbox 2350"/>
          <p:cNvSpPr/>
          <p:nvPr/>
        </p:nvSpPr>
        <p:spPr>
          <a:xfrm>
            <a:off x="4876800" y="6238875"/>
            <a:ext cx="10668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500" dirty="0"/>
          </a:p>
        </p:txBody>
      </p:sp>
      <p:sp>
        <p:nvSpPr>
          <p:cNvPr id="2352" name="textbox 2352"/>
          <p:cNvSpPr/>
          <p:nvPr/>
        </p:nvSpPr>
        <p:spPr>
          <a:xfrm>
            <a:off x="1219200" y="6362700"/>
            <a:ext cx="97155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500" dirty="0"/>
          </a:p>
        </p:txBody>
      </p:sp>
      <p:sp>
        <p:nvSpPr>
          <p:cNvPr id="2354" name="textbox 2354"/>
          <p:cNvSpPr/>
          <p:nvPr/>
        </p:nvSpPr>
        <p:spPr>
          <a:xfrm>
            <a:off x="3467100" y="6400800"/>
            <a:ext cx="2857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66700" indent="-238125" algn="l" rtl="0" eaLnBrk="0">
              <a:buAutoNum type="alphaLcParenBoth" startAt="2"/>
            </a:pPr>
            <a:endParaRPr sz="600" dirty="0"/>
          </a:p>
        </p:txBody>
      </p:sp>
      <p:sp>
        <p:nvSpPr>
          <p:cNvPr id="2356" name="textbox 2356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4C4C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</a:t>
            </a:r>
            <a:endParaRPr sz="1100" dirty="0"/>
          </a:p>
        </p:txBody>
      </p:sp>
      <p:sp>
        <p:nvSpPr>
          <p:cNvPr id="2" name="textbox 2306"/>
          <p:cNvSpPr/>
          <p:nvPr/>
        </p:nvSpPr>
        <p:spPr>
          <a:xfrm>
            <a:off x="9201150" y="3686175"/>
            <a:ext cx="2286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80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endParaRPr lang="en-US" sz="1800" dirty="0"/>
          </a:p>
        </p:txBody>
      </p:sp>
      <p:sp>
        <p:nvSpPr>
          <p:cNvPr id="3" name="textbox 2306"/>
          <p:cNvSpPr/>
          <p:nvPr/>
        </p:nvSpPr>
        <p:spPr>
          <a:xfrm>
            <a:off x="9220200" y="5895975"/>
            <a:ext cx="2286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1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endParaRPr lang="en-US" sz="1800" b="1" kern="0" spc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/>
            <a:endParaRPr lang="en-US" sz="1800" b="1" kern="0" spc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2306"/>
          <p:cNvSpPr/>
          <p:nvPr/>
        </p:nvSpPr>
        <p:spPr>
          <a:xfrm>
            <a:off x="9229725" y="6210300"/>
            <a:ext cx="2286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</a:t>
            </a:r>
            <a:endParaRPr lang="en-US" sz="1800" dirty="0"/>
          </a:p>
          <a:p>
            <a:pPr algn="l" rtl="0" eaLnBrk="0"/>
            <a:endParaRPr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0" name="picture 23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62" name="textbox 2362"/>
          <p:cNvSpPr/>
          <p:nvPr/>
        </p:nvSpPr>
        <p:spPr>
          <a:xfrm>
            <a:off x="666750" y="304800"/>
            <a:ext cx="50577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04800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有限差分物理约束神经网络FDGN</a:t>
            </a:r>
            <a:endParaRPr sz="2000" dirty="0"/>
          </a:p>
        </p:txBody>
      </p:sp>
      <p:pic>
        <p:nvPicPr>
          <p:cNvPr id="2366" name="picture 2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368" name="textbox 2368"/>
          <p:cNvSpPr/>
          <p:nvPr/>
        </p:nvSpPr>
        <p:spPr>
          <a:xfrm>
            <a:off x="657225" y="1171575"/>
            <a:ext cx="517207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NS</a:t>
            </a: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方程：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低速圆柱绕流（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Re=20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800" dirty="0"/>
          </a:p>
        </p:txBody>
      </p:sp>
      <p:pic>
        <p:nvPicPr>
          <p:cNvPr id="2372" name="picture 23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790700"/>
            <a:ext cx="3143250" cy="1352550"/>
          </a:xfrm>
          <a:prstGeom prst="rect">
            <a:avLst/>
          </a:prstGeom>
        </p:spPr>
      </p:pic>
      <p:sp>
        <p:nvSpPr>
          <p:cNvPr id="2374" name="textbox 2374"/>
          <p:cNvSpPr/>
          <p:nvPr/>
        </p:nvSpPr>
        <p:spPr>
          <a:xfrm>
            <a:off x="2743200" y="1771650"/>
            <a:ext cx="78105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FDGN</a:t>
            </a:r>
            <a:endParaRPr sz="2000" dirty="0"/>
          </a:p>
        </p:txBody>
      </p:sp>
      <p:sp>
        <p:nvSpPr>
          <p:cNvPr id="2376" name="textbox 2376"/>
          <p:cNvSpPr/>
          <p:nvPr/>
        </p:nvSpPr>
        <p:spPr>
          <a:xfrm>
            <a:off x="4305300" y="2619375"/>
            <a:ext cx="2762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23825" indent="-104775" algn="l" rtl="0" eaLnBrk="0">
              <a:buAutoNum type="arabicPeriod"/>
            </a:pPr>
            <a:r>
              <a:rPr sz="1000" kern="0" spc="0" dirty="0">
                <a:solidFill>
                  <a:srgbClr val="4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37</a:t>
            </a:r>
            <a:endParaRPr sz="1000" dirty="0"/>
          </a:p>
        </p:txBody>
      </p:sp>
      <p:sp>
        <p:nvSpPr>
          <p:cNvPr id="2378" name="textbox 2378"/>
          <p:cNvSpPr/>
          <p:nvPr/>
        </p:nvSpPr>
        <p:spPr>
          <a:xfrm>
            <a:off x="1466850" y="2771775"/>
            <a:ext cx="2667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endParaRPr sz="2000" dirty="0"/>
          </a:p>
        </p:txBody>
      </p:sp>
      <p:sp>
        <p:nvSpPr>
          <p:cNvPr id="2380" name="textbox 2380"/>
          <p:cNvSpPr/>
          <p:nvPr/>
        </p:nvSpPr>
        <p:spPr>
          <a:xfrm>
            <a:off x="4305300" y="2771775"/>
            <a:ext cx="2762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23825" indent="-95250" algn="l" rtl="0" eaLnBrk="0">
              <a:buAutoNum type="arabicPeriod"/>
            </a:pPr>
            <a:r>
              <a:rPr sz="1000" kern="0" spc="0" dirty="0">
                <a:solidFill>
                  <a:srgbClr val="4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34</a:t>
            </a:r>
            <a:endParaRPr sz="1000" dirty="0"/>
          </a:p>
        </p:txBody>
      </p:sp>
      <p:sp>
        <p:nvSpPr>
          <p:cNvPr id="2382" name="textbox 2382"/>
          <p:cNvSpPr/>
          <p:nvPr/>
        </p:nvSpPr>
        <p:spPr>
          <a:xfrm>
            <a:off x="4305300" y="2905125"/>
            <a:ext cx="26670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23825" indent="-95250" algn="l" rtl="0" eaLnBrk="0">
              <a:buAutoNum type="arabicPeriod"/>
            </a:pPr>
            <a:r>
              <a:rPr sz="1000" b="1" kern="0" spc="0" dirty="0">
                <a:solidFill>
                  <a:srgbClr val="59595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</a:t>
            </a:r>
            <a:endParaRPr sz="1000" dirty="0"/>
          </a:p>
        </p:txBody>
      </p:sp>
      <p:pic>
        <p:nvPicPr>
          <p:cNvPr id="2386" name="picture 2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5" y="1790700"/>
            <a:ext cx="2800350" cy="1352550"/>
          </a:xfrm>
          <a:prstGeom prst="rect">
            <a:avLst/>
          </a:prstGeom>
        </p:spPr>
      </p:pic>
      <p:sp>
        <p:nvSpPr>
          <p:cNvPr id="2388" name="textbox 2388"/>
          <p:cNvSpPr/>
          <p:nvPr/>
        </p:nvSpPr>
        <p:spPr>
          <a:xfrm>
            <a:off x="5838825" y="1800225"/>
            <a:ext cx="56197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CFD</a:t>
            </a:r>
            <a:endParaRPr sz="2000" dirty="0"/>
          </a:p>
        </p:txBody>
      </p:sp>
      <p:sp>
        <p:nvSpPr>
          <p:cNvPr id="2390" name="textbox 2390"/>
          <p:cNvSpPr/>
          <p:nvPr/>
        </p:nvSpPr>
        <p:spPr>
          <a:xfrm>
            <a:off x="7296150" y="2619375"/>
            <a:ext cx="2857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23825" indent="-95250" algn="l" rtl="0" eaLnBrk="0">
              <a:buAutoNum type="arabicPeriod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37</a:t>
            </a:r>
            <a:endParaRPr sz="1000" dirty="0"/>
          </a:p>
        </p:txBody>
      </p:sp>
      <p:sp>
        <p:nvSpPr>
          <p:cNvPr id="2392" name="textbox 2392"/>
          <p:cNvSpPr/>
          <p:nvPr/>
        </p:nvSpPr>
        <p:spPr>
          <a:xfrm>
            <a:off x="7296150" y="2771775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104775" algn="l" rtl="0" eaLnBrk="0">
              <a:buAutoNum type="arabicPeriod"/>
            </a:pPr>
            <a:r>
              <a:rPr sz="1000" kern="0" spc="0" dirty="0">
                <a:solidFill>
                  <a:srgbClr val="59595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34</a:t>
            </a:r>
            <a:endParaRPr sz="1000" dirty="0"/>
          </a:p>
        </p:txBody>
      </p:sp>
      <p:sp>
        <p:nvSpPr>
          <p:cNvPr id="2394" name="textbox 2394"/>
          <p:cNvSpPr/>
          <p:nvPr/>
        </p:nvSpPr>
        <p:spPr>
          <a:xfrm>
            <a:off x="7296150" y="2924175"/>
            <a:ext cx="28575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95250" algn="l" rtl="0" eaLnBrk="0">
              <a:buAutoNum type="arabicPeriod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</a:t>
            </a:r>
            <a:endParaRPr sz="1000" dirty="0"/>
          </a:p>
        </p:txBody>
      </p:sp>
      <p:pic>
        <p:nvPicPr>
          <p:cNvPr id="2398" name="picture 23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0" y="981075"/>
            <a:ext cx="4038600" cy="2162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00" name="textbox 2400"/>
              <p:cNvSpPr/>
              <p:nvPr/>
            </p:nvSpPr>
            <p:spPr>
              <a:xfrm>
                <a:off x="5010150" y="3419475"/>
                <a:ext cx="2133600" cy="38100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none" lIns="0" tIns="0" rIns="0" bIns="0"/>
              <a:lstStyle/>
              <a:p>
                <a:pPr algn="l" rtl="0" ea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/>
                              <a:ea typeface="Cambria Math" panose="02040503050406030204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e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lang="en-US" sz="2800" dirty="0">
                          <a:latin typeface="Cambria Math" panose="02040503050406030204"/>
                          <a:ea typeface="Cambria Math" panose="02040503050406030204"/>
                        </a:rPr>
                        <m:t>0</m:t>
                      </m:r>
                    </m:oMath>
                  </m:oMathPara>
                </a14:m>
                <a:endParaRPr sz="600" dirty="0"/>
              </a:p>
            </p:txBody>
          </p:sp>
        </mc:Choice>
        <mc:Fallback>
          <p:sp>
            <p:nvSpPr>
              <p:cNvPr id="2400" name="textbox 24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50" y="3419475"/>
                <a:ext cx="2133600" cy="3810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02" name="table 2402"/>
          <p:cNvGraphicFramePr>
            <a:graphicFrameLocks noGrp="1"/>
          </p:cNvGraphicFramePr>
          <p:nvPr/>
        </p:nvGraphicFramePr>
        <p:xfrm>
          <a:off x="142875" y="3829050"/>
          <a:ext cx="11830050" cy="876300"/>
        </p:xfrm>
        <a:graphic>
          <a:graphicData uri="http://schemas.openxmlformats.org/drawingml/2006/table">
            <a:tbl>
              <a:tblPr/>
              <a:tblGrid>
                <a:gridCol w="1285875"/>
                <a:gridCol w="2019300"/>
                <a:gridCol w="2371725"/>
                <a:gridCol w="952500"/>
                <a:gridCol w="2952750"/>
                <a:gridCol w="2247900"/>
              </a:tblGrid>
              <a:tr h="466725">
                <a:tc>
                  <a:txBody>
                    <a:bodyPr/>
                    <a:lstStyle/>
                    <a:p>
                      <a:pPr algn="l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Method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MAC grid</a:t>
                      </a:r>
                      <a:r>
                        <a:rPr sz="2800" kern="0" spc="0" baseline="300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14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Spline-PINN</a:t>
                      </a:r>
                      <a:r>
                        <a:rPr sz="2800" kern="0" spc="0" baseline="300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CFD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DFG-Benchmark</a:t>
                      </a:r>
                      <a:r>
                        <a:rPr sz="2800" kern="0" spc="0" baseline="300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43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FDGN (Ours)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 rtl="0" eaLnBrk="0"/>
                      <a:r>
                        <a:rPr sz="2800" i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2800" i="1" kern="0" spc="0" baseline="-30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4.414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4.7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5.57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5.58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5.36</a:t>
                      </a:r>
                      <a:endParaRPr sz="2800" dirty="0"/>
                    </a:p>
                  </a:txBody>
                  <a:tcPr marL="0" marR="0" marT="0" marB="0" vert="horz" anchor="ctr">
                    <a:lnL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9A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06" name="picture 24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850" y="4924425"/>
            <a:ext cx="3143250" cy="1666875"/>
          </a:xfrm>
          <a:prstGeom prst="rect">
            <a:avLst/>
          </a:prstGeom>
        </p:spPr>
      </p:pic>
      <p:sp>
        <p:nvSpPr>
          <p:cNvPr id="2408" name="textbox 2408"/>
          <p:cNvSpPr/>
          <p:nvPr/>
        </p:nvSpPr>
        <p:spPr>
          <a:xfrm>
            <a:off x="4286250" y="4962525"/>
            <a:ext cx="295275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52400" indent="-104775" algn="l" rtl="0" eaLnBrk="0">
              <a:buAutoNum type="arabicPeriod"/>
            </a:pP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</a:t>
            </a:r>
            <a:endParaRPr sz="1000" dirty="0"/>
          </a:p>
        </p:txBody>
      </p:sp>
      <p:sp>
        <p:nvSpPr>
          <p:cNvPr id="2410" name="textbox 2410"/>
          <p:cNvSpPr/>
          <p:nvPr/>
        </p:nvSpPr>
        <p:spPr>
          <a:xfrm>
            <a:off x="4286250" y="5105400"/>
            <a:ext cx="28575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52400" indent="-104775" algn="l" rtl="0" eaLnBrk="0">
              <a:buAutoNum type="arabicPeriod"/>
            </a:pPr>
            <a:r>
              <a:rPr sz="1000" kern="0" spc="225" dirty="0">
                <a:solidFill>
                  <a:srgbClr val="4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</a:t>
            </a:r>
            <a:endParaRPr sz="1000" dirty="0"/>
          </a:p>
        </p:txBody>
      </p:sp>
      <p:sp>
        <p:nvSpPr>
          <p:cNvPr id="2412" name="textbox 2412"/>
          <p:cNvSpPr/>
          <p:nvPr/>
        </p:nvSpPr>
        <p:spPr>
          <a:xfrm>
            <a:off x="4286250" y="5238750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09</a:t>
            </a:r>
            <a:endParaRPr sz="1000" dirty="0"/>
          </a:p>
        </p:txBody>
      </p:sp>
      <p:sp>
        <p:nvSpPr>
          <p:cNvPr id="2414" name="textbox 2414"/>
          <p:cNvSpPr/>
          <p:nvPr/>
        </p:nvSpPr>
        <p:spPr>
          <a:xfrm>
            <a:off x="4286250" y="5391150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1000" kern="0" spc="0" dirty="0">
                <a:solidFill>
                  <a:srgbClr val="86979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08</a:t>
            </a:r>
            <a:endParaRPr sz="1000" dirty="0"/>
          </a:p>
        </p:txBody>
      </p:sp>
      <p:sp>
        <p:nvSpPr>
          <p:cNvPr id="2416" name="textbox 2416"/>
          <p:cNvSpPr/>
          <p:nvPr/>
        </p:nvSpPr>
        <p:spPr>
          <a:xfrm>
            <a:off x="1447800" y="5400675"/>
            <a:ext cx="2381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endParaRPr sz="2000" dirty="0"/>
          </a:p>
        </p:txBody>
      </p:sp>
      <p:sp>
        <p:nvSpPr>
          <p:cNvPr id="2418" name="textbox 2418"/>
          <p:cNvSpPr/>
          <p:nvPr/>
        </p:nvSpPr>
        <p:spPr>
          <a:xfrm>
            <a:off x="4286250" y="5543550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07</a:t>
            </a:r>
            <a:endParaRPr sz="1000" dirty="0"/>
          </a:p>
        </p:txBody>
      </p:sp>
      <p:sp>
        <p:nvSpPr>
          <p:cNvPr id="2420" name="textbox 2420"/>
          <p:cNvSpPr/>
          <p:nvPr/>
        </p:nvSpPr>
        <p:spPr>
          <a:xfrm>
            <a:off x="4286250" y="5695950"/>
            <a:ext cx="2857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endParaRPr sz="900" dirty="0"/>
          </a:p>
        </p:txBody>
      </p:sp>
      <p:sp>
        <p:nvSpPr>
          <p:cNvPr id="2422" name="textbox 2422"/>
          <p:cNvSpPr/>
          <p:nvPr/>
        </p:nvSpPr>
        <p:spPr>
          <a:xfrm>
            <a:off x="4286250" y="5829300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1000" dirty="0"/>
          </a:p>
        </p:txBody>
      </p:sp>
      <p:sp>
        <p:nvSpPr>
          <p:cNvPr id="2424" name="textbox 2424"/>
          <p:cNvSpPr/>
          <p:nvPr/>
        </p:nvSpPr>
        <p:spPr>
          <a:xfrm>
            <a:off x="4286250" y="5972175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42875" indent="-95250" algn="l" rtl="0" eaLnBrk="0">
              <a:buAutoNum type="arabicPeriod"/>
            </a:pPr>
            <a:r>
              <a:rPr sz="1000" kern="0" spc="0" dirty="0">
                <a:solidFill>
                  <a:srgbClr val="8C9FA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1000" dirty="0"/>
          </a:p>
        </p:txBody>
      </p:sp>
      <p:sp>
        <p:nvSpPr>
          <p:cNvPr id="2426" name="textbox 2426"/>
          <p:cNvSpPr/>
          <p:nvPr/>
        </p:nvSpPr>
        <p:spPr>
          <a:xfrm>
            <a:off x="4286250" y="6124575"/>
            <a:ext cx="28575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1000" kern="0" spc="0" dirty="0">
                <a:solidFill>
                  <a:srgbClr val="AEC0CA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1000" dirty="0"/>
          </a:p>
        </p:txBody>
      </p:sp>
      <p:sp>
        <p:nvSpPr>
          <p:cNvPr id="2428" name="textbox 2428"/>
          <p:cNvSpPr/>
          <p:nvPr/>
        </p:nvSpPr>
        <p:spPr>
          <a:xfrm>
            <a:off x="4286250" y="6276975"/>
            <a:ext cx="26670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33350" indent="-85725" algn="l" rtl="0" eaLnBrk="0">
              <a:buAutoNum type="arabicPeriod"/>
            </a:pPr>
            <a:r>
              <a:rPr sz="1000" kern="0" spc="75" dirty="0">
                <a:solidFill>
                  <a:srgbClr val="738994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1000" dirty="0"/>
          </a:p>
        </p:txBody>
      </p:sp>
      <p:sp>
        <p:nvSpPr>
          <p:cNvPr id="2430" name="textbox 2430"/>
          <p:cNvSpPr/>
          <p:nvPr/>
        </p:nvSpPr>
        <p:spPr>
          <a:xfrm>
            <a:off x="4267200" y="6410325"/>
            <a:ext cx="304800" cy="15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66675" indent="-47625" algn="l" rtl="0" eaLnBrk="0">
              <a:buChar char="-"/>
            </a:pPr>
            <a:r>
              <a:rPr sz="1000" b="1" kern="0" spc="0" dirty="0">
                <a:solidFill>
                  <a:srgbClr val="5F779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0.01</a:t>
            </a:r>
            <a:endParaRPr sz="1000" dirty="0"/>
          </a:p>
        </p:txBody>
      </p:sp>
      <p:pic>
        <p:nvPicPr>
          <p:cNvPr id="2434" name="picture 24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175" y="4924425"/>
            <a:ext cx="2800350" cy="1666875"/>
          </a:xfrm>
          <a:prstGeom prst="rect">
            <a:avLst/>
          </a:prstGeom>
        </p:spPr>
      </p:pic>
      <p:pic>
        <p:nvPicPr>
          <p:cNvPr id="2438" name="picture 24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0" y="4924425"/>
            <a:ext cx="2809875" cy="1666875"/>
          </a:xfrm>
          <a:prstGeom prst="rect">
            <a:avLst/>
          </a:prstGeom>
        </p:spPr>
      </p:pic>
      <p:sp>
        <p:nvSpPr>
          <p:cNvPr id="2440" name="textbox 2440"/>
          <p:cNvSpPr/>
          <p:nvPr/>
        </p:nvSpPr>
        <p:spPr>
          <a:xfrm>
            <a:off x="11934825" y="6638925"/>
            <a:ext cx="16192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300" dirty="0">
                <a:solidFill>
                  <a:srgbClr val="D1D1D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61</a:t>
            </a:r>
            <a:endParaRPr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4" name="picture 2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46" name="textbox 2446"/>
          <p:cNvSpPr/>
          <p:nvPr/>
        </p:nvSpPr>
        <p:spPr>
          <a:xfrm>
            <a:off x="666750" y="304800"/>
            <a:ext cx="504825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有限差分物理约束神经网络FDGN</a:t>
            </a:r>
            <a:endParaRPr sz="2000" dirty="0"/>
          </a:p>
        </p:txBody>
      </p:sp>
      <p:pic>
        <p:nvPicPr>
          <p:cNvPr id="2450" name="picture 24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452" name="textbox 2452"/>
          <p:cNvSpPr/>
          <p:nvPr/>
        </p:nvSpPr>
        <p:spPr>
          <a:xfrm>
            <a:off x="666750" y="1181100"/>
            <a:ext cx="54673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低速双圆柱绕流（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Re=30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800" dirty="0"/>
          </a:p>
        </p:txBody>
      </p:sp>
      <p:pic>
        <p:nvPicPr>
          <p:cNvPr id="2456" name="picture 24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1800225"/>
            <a:ext cx="8943975" cy="4752975"/>
          </a:xfrm>
          <a:prstGeom prst="rect">
            <a:avLst/>
          </a:prstGeom>
        </p:spPr>
      </p:pic>
      <p:sp>
        <p:nvSpPr>
          <p:cNvPr id="2458" name="textbox 2458"/>
          <p:cNvSpPr/>
          <p:nvPr/>
        </p:nvSpPr>
        <p:spPr>
          <a:xfrm>
            <a:off x="11944350" y="6638925"/>
            <a:ext cx="15240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3C3C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62</a:t>
            </a:r>
            <a:endParaRPr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2" name="picture 24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64" name="textbox 2464"/>
          <p:cNvSpPr/>
          <p:nvPr/>
        </p:nvSpPr>
        <p:spPr>
          <a:xfrm>
            <a:off x="666750" y="304800"/>
            <a:ext cx="5048250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285750" algn="l" rtl="0" eaLnBrk="0">
              <a:buAutoNum type="arabicPeriod" startAt="3"/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有限差分物理约束神经网络FDGN</a:t>
            </a:r>
            <a:endParaRPr sz="2000" dirty="0"/>
          </a:p>
        </p:txBody>
      </p:sp>
      <p:pic>
        <p:nvPicPr>
          <p:cNvPr id="2468" name="picture 2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470" name="textbox 2470"/>
          <p:cNvSpPr/>
          <p:nvPr/>
        </p:nvSpPr>
        <p:spPr>
          <a:xfrm>
            <a:off x="704850" y="1152525"/>
            <a:ext cx="70008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2385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NS方程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低速三段翼型30PN绕流（Re=1000）</a:t>
            </a:r>
            <a:endParaRPr sz="2800" dirty="0"/>
          </a:p>
        </p:txBody>
      </p:sp>
      <p:sp>
        <p:nvSpPr>
          <p:cNvPr id="2472" name="textbox 2472"/>
          <p:cNvSpPr/>
          <p:nvPr/>
        </p:nvSpPr>
        <p:spPr>
          <a:xfrm>
            <a:off x="6191250" y="1704975"/>
            <a:ext cx="73342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FDGN</a:t>
            </a:r>
            <a:endParaRPr sz="2000" dirty="0"/>
          </a:p>
        </p:txBody>
      </p:sp>
      <p:sp>
        <p:nvSpPr>
          <p:cNvPr id="2474" name="textbox 2474"/>
          <p:cNvSpPr/>
          <p:nvPr/>
        </p:nvSpPr>
        <p:spPr>
          <a:xfrm>
            <a:off x="9420225" y="1714500"/>
            <a:ext cx="52387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CFD</a:t>
            </a:r>
            <a:endParaRPr sz="2000" dirty="0"/>
          </a:p>
        </p:txBody>
      </p:sp>
      <p:pic>
        <p:nvPicPr>
          <p:cNvPr id="2478" name="picture 24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2590800"/>
            <a:ext cx="4305300" cy="2419350"/>
          </a:xfrm>
          <a:prstGeom prst="rect">
            <a:avLst/>
          </a:prstGeom>
        </p:spPr>
      </p:pic>
      <p:sp>
        <p:nvSpPr>
          <p:cNvPr id="2480" name="textbox 2480"/>
          <p:cNvSpPr/>
          <p:nvPr/>
        </p:nvSpPr>
        <p:spPr>
          <a:xfrm>
            <a:off x="857250" y="5238750"/>
            <a:ext cx="30765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多块结构网格拓扑结构</a:t>
            </a:r>
            <a:endParaRPr sz="2400" dirty="0"/>
          </a:p>
        </p:txBody>
      </p:sp>
      <p:sp>
        <p:nvSpPr>
          <p:cNvPr id="2482" name="textbox 2482"/>
          <p:cNvSpPr/>
          <p:nvPr/>
        </p:nvSpPr>
        <p:spPr>
          <a:xfrm>
            <a:off x="4743450" y="2686050"/>
            <a:ext cx="20955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endParaRPr sz="2000" dirty="0"/>
          </a:p>
        </p:txBody>
      </p:sp>
      <p:sp>
        <p:nvSpPr>
          <p:cNvPr id="2484" name="textbox 2484"/>
          <p:cNvSpPr/>
          <p:nvPr/>
        </p:nvSpPr>
        <p:spPr>
          <a:xfrm>
            <a:off x="4705350" y="4895850"/>
            <a:ext cx="2000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endParaRPr sz="2000" dirty="0"/>
          </a:p>
        </p:txBody>
      </p:sp>
      <p:pic>
        <p:nvPicPr>
          <p:cNvPr id="2488" name="picture 24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5" y="2000250"/>
            <a:ext cx="3038475" cy="1962150"/>
          </a:xfrm>
          <a:prstGeom prst="rect">
            <a:avLst/>
          </a:prstGeom>
        </p:spPr>
      </p:pic>
      <p:pic>
        <p:nvPicPr>
          <p:cNvPr id="2492" name="picture 24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4076700"/>
            <a:ext cx="3028950" cy="1933575"/>
          </a:xfrm>
          <a:prstGeom prst="rect">
            <a:avLst/>
          </a:prstGeom>
        </p:spPr>
      </p:pic>
      <p:sp>
        <p:nvSpPr>
          <p:cNvPr id="2494" name="textbox 2494"/>
          <p:cNvSpPr/>
          <p:nvPr/>
        </p:nvSpPr>
        <p:spPr>
          <a:xfrm>
            <a:off x="5381625" y="4381500"/>
            <a:ext cx="20002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48</a:t>
            </a:r>
            <a:endParaRPr sz="700" dirty="0"/>
          </a:p>
        </p:txBody>
      </p:sp>
      <p:sp>
        <p:nvSpPr>
          <p:cNvPr id="2496" name="textbox 2496"/>
          <p:cNvSpPr/>
          <p:nvPr/>
        </p:nvSpPr>
        <p:spPr>
          <a:xfrm>
            <a:off x="5381625" y="4486275"/>
            <a:ext cx="20002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85725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42</a:t>
            </a:r>
            <a:endParaRPr sz="700" dirty="0"/>
          </a:p>
        </p:txBody>
      </p:sp>
      <p:sp>
        <p:nvSpPr>
          <p:cNvPr id="2498" name="textbox 2498"/>
          <p:cNvSpPr/>
          <p:nvPr/>
        </p:nvSpPr>
        <p:spPr>
          <a:xfrm>
            <a:off x="5381625" y="4600575"/>
            <a:ext cx="190500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76200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36</a:t>
            </a:r>
            <a:endParaRPr sz="700" dirty="0"/>
          </a:p>
        </p:txBody>
      </p:sp>
      <p:sp>
        <p:nvSpPr>
          <p:cNvPr id="2500" name="textbox 2500"/>
          <p:cNvSpPr/>
          <p:nvPr/>
        </p:nvSpPr>
        <p:spPr>
          <a:xfrm>
            <a:off x="5381625" y="4695825"/>
            <a:ext cx="19050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76200" algn="l" rtl="0" eaLnBrk="0">
              <a:buAutoNum type="arabicPeriod"/>
            </a:pPr>
            <a:r>
              <a:rPr sz="600" b="1" kern="0" spc="75" dirty="0">
                <a:solidFill>
                  <a:srgbClr val="666666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</a:t>
            </a:r>
            <a:endParaRPr sz="600" dirty="0"/>
          </a:p>
        </p:txBody>
      </p:sp>
      <p:sp>
        <p:nvSpPr>
          <p:cNvPr id="2502" name="textbox 2502"/>
          <p:cNvSpPr/>
          <p:nvPr/>
        </p:nvSpPr>
        <p:spPr>
          <a:xfrm>
            <a:off x="5381625" y="4800600"/>
            <a:ext cx="19050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76200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endParaRPr sz="700" dirty="0"/>
          </a:p>
        </p:txBody>
      </p:sp>
      <p:sp>
        <p:nvSpPr>
          <p:cNvPr id="2504" name="textbox 2504"/>
          <p:cNvSpPr/>
          <p:nvPr/>
        </p:nvSpPr>
        <p:spPr>
          <a:xfrm>
            <a:off x="5381625" y="4914900"/>
            <a:ext cx="190500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85725" algn="l" rtl="0" eaLnBrk="0">
              <a:buAutoNum type="arabicPeriod"/>
            </a:pPr>
            <a:r>
              <a:rPr sz="700" kern="0" spc="7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</a:t>
            </a:r>
            <a:endParaRPr sz="700" dirty="0"/>
          </a:p>
        </p:txBody>
      </p:sp>
      <p:sp>
        <p:nvSpPr>
          <p:cNvPr id="2506" name="textbox 2506"/>
          <p:cNvSpPr/>
          <p:nvPr/>
        </p:nvSpPr>
        <p:spPr>
          <a:xfrm>
            <a:off x="5381625" y="5029200"/>
            <a:ext cx="190500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76200" algn="l" rtl="0" eaLnBrk="0">
              <a:buAutoNum type="arabicPeriod"/>
            </a:pP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</a:t>
            </a:r>
            <a:endParaRPr sz="700" dirty="0"/>
          </a:p>
        </p:txBody>
      </p:sp>
      <p:sp>
        <p:nvSpPr>
          <p:cNvPr id="2508" name="textbox 2508"/>
          <p:cNvSpPr/>
          <p:nvPr/>
        </p:nvSpPr>
        <p:spPr>
          <a:xfrm>
            <a:off x="5381625" y="5124450"/>
            <a:ext cx="190500" cy="8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600" kern="0" spc="7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600" dirty="0"/>
          </a:p>
        </p:txBody>
      </p:sp>
      <p:sp>
        <p:nvSpPr>
          <p:cNvPr id="2510" name="textbox 2510"/>
          <p:cNvSpPr/>
          <p:nvPr/>
        </p:nvSpPr>
        <p:spPr>
          <a:xfrm>
            <a:off x="5372100" y="5229225"/>
            <a:ext cx="20002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600" kern="0" spc="7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0.01</a:t>
            </a:r>
            <a:endParaRPr sz="600" dirty="0"/>
          </a:p>
        </p:txBody>
      </p:sp>
      <p:sp>
        <p:nvSpPr>
          <p:cNvPr id="2512" name="textbox 2512"/>
          <p:cNvSpPr/>
          <p:nvPr/>
        </p:nvSpPr>
        <p:spPr>
          <a:xfrm>
            <a:off x="5353050" y="5324475"/>
            <a:ext cx="21907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7150" indent="-28575" algn="l" rtl="0" eaLnBrk="0">
              <a:buChar char="-"/>
            </a:pPr>
            <a:r>
              <a:rPr sz="700" b="1" i="1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0.07</a:t>
            </a:r>
            <a:endParaRPr sz="700" dirty="0"/>
          </a:p>
        </p:txBody>
      </p:sp>
      <p:sp>
        <p:nvSpPr>
          <p:cNvPr id="2514" name="textbox 2514"/>
          <p:cNvSpPr/>
          <p:nvPr/>
        </p:nvSpPr>
        <p:spPr>
          <a:xfrm>
            <a:off x="5353050" y="5429250"/>
            <a:ext cx="21907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7150" indent="-28575" algn="l" rtl="0" eaLnBrk="0">
              <a:buChar char="-"/>
            </a:pPr>
            <a:r>
              <a:rPr sz="700" b="1" kern="0" spc="0" dirty="0">
                <a:solidFill>
                  <a:srgbClr val="7F7F7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0.13</a:t>
            </a:r>
            <a:endParaRPr sz="700" dirty="0"/>
          </a:p>
        </p:txBody>
      </p:sp>
      <p:sp>
        <p:nvSpPr>
          <p:cNvPr id="2516" name="textbox 2516"/>
          <p:cNvSpPr/>
          <p:nvPr/>
        </p:nvSpPr>
        <p:spPr>
          <a:xfrm>
            <a:off x="5353050" y="5543550"/>
            <a:ext cx="21907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7625" indent="-19050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0.19</a:t>
            </a:r>
            <a:endParaRPr sz="700" dirty="0"/>
          </a:p>
        </p:txBody>
      </p:sp>
      <p:sp>
        <p:nvSpPr>
          <p:cNvPr id="2518" name="textbox 2518"/>
          <p:cNvSpPr/>
          <p:nvPr/>
        </p:nvSpPr>
        <p:spPr>
          <a:xfrm>
            <a:off x="5372100" y="5638800"/>
            <a:ext cx="20002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" indent="-19050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0.25</a:t>
            </a:r>
            <a:endParaRPr sz="700" dirty="0"/>
          </a:p>
        </p:txBody>
      </p:sp>
      <p:sp>
        <p:nvSpPr>
          <p:cNvPr id="2520" name="textbox 2520"/>
          <p:cNvSpPr/>
          <p:nvPr/>
        </p:nvSpPr>
        <p:spPr>
          <a:xfrm>
            <a:off x="5372100" y="5753100"/>
            <a:ext cx="20002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0.32</a:t>
            </a:r>
            <a:endParaRPr sz="700" dirty="0"/>
          </a:p>
        </p:txBody>
      </p:sp>
      <p:sp>
        <p:nvSpPr>
          <p:cNvPr id="2522" name="textbox 2522"/>
          <p:cNvSpPr/>
          <p:nvPr/>
        </p:nvSpPr>
        <p:spPr>
          <a:xfrm>
            <a:off x="5372100" y="5857875"/>
            <a:ext cx="20002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0.38</a:t>
            </a:r>
            <a:endParaRPr sz="600" dirty="0"/>
          </a:p>
        </p:txBody>
      </p:sp>
      <p:pic>
        <p:nvPicPr>
          <p:cNvPr id="2526" name="picture 25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9125" y="2000250"/>
            <a:ext cx="3038475" cy="1962150"/>
          </a:xfrm>
          <a:prstGeom prst="rect">
            <a:avLst/>
          </a:prstGeom>
        </p:spPr>
      </p:pic>
      <p:pic>
        <p:nvPicPr>
          <p:cNvPr id="2530" name="picture 25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4057650"/>
            <a:ext cx="3038475" cy="1952625"/>
          </a:xfrm>
          <a:prstGeom prst="rect">
            <a:avLst/>
          </a:prstGeom>
        </p:spPr>
      </p:pic>
      <p:sp>
        <p:nvSpPr>
          <p:cNvPr id="2532" name="textbox 2532"/>
          <p:cNvSpPr/>
          <p:nvPr/>
        </p:nvSpPr>
        <p:spPr>
          <a:xfrm>
            <a:off x="8505825" y="4391025"/>
            <a:ext cx="20002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600" kern="0" spc="7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48</a:t>
            </a:r>
            <a:endParaRPr sz="600" dirty="0"/>
          </a:p>
        </p:txBody>
      </p:sp>
      <p:sp>
        <p:nvSpPr>
          <p:cNvPr id="2534" name="textbox 2534"/>
          <p:cNvSpPr/>
          <p:nvPr/>
        </p:nvSpPr>
        <p:spPr>
          <a:xfrm>
            <a:off x="8505825" y="4505325"/>
            <a:ext cx="20002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42</a:t>
            </a:r>
            <a:endParaRPr sz="700" dirty="0"/>
          </a:p>
        </p:txBody>
      </p:sp>
      <p:sp>
        <p:nvSpPr>
          <p:cNvPr id="2536" name="textbox 2536"/>
          <p:cNvSpPr/>
          <p:nvPr/>
        </p:nvSpPr>
        <p:spPr>
          <a:xfrm>
            <a:off x="8505825" y="4610100"/>
            <a:ext cx="20002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36</a:t>
            </a:r>
            <a:endParaRPr sz="700" dirty="0"/>
          </a:p>
        </p:txBody>
      </p:sp>
      <p:sp>
        <p:nvSpPr>
          <p:cNvPr id="2538" name="textbox 2538"/>
          <p:cNvSpPr/>
          <p:nvPr/>
        </p:nvSpPr>
        <p:spPr>
          <a:xfrm>
            <a:off x="8505825" y="4724400"/>
            <a:ext cx="190500" cy="8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</a:t>
            </a:r>
            <a:endParaRPr sz="700" dirty="0"/>
          </a:p>
        </p:txBody>
      </p:sp>
      <p:sp>
        <p:nvSpPr>
          <p:cNvPr id="2540" name="textbox 2540"/>
          <p:cNvSpPr/>
          <p:nvPr/>
        </p:nvSpPr>
        <p:spPr>
          <a:xfrm>
            <a:off x="8505825" y="4819650"/>
            <a:ext cx="190500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endParaRPr sz="700" dirty="0"/>
          </a:p>
        </p:txBody>
      </p:sp>
      <p:sp>
        <p:nvSpPr>
          <p:cNvPr id="2542" name="textbox 2542"/>
          <p:cNvSpPr/>
          <p:nvPr/>
        </p:nvSpPr>
        <p:spPr>
          <a:xfrm>
            <a:off x="8505825" y="5038725"/>
            <a:ext cx="180975" cy="8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4775" indent="-76200" algn="l" rtl="0" eaLnBrk="0">
              <a:buAutoNum type="arabicPeriod"/>
            </a:pPr>
            <a:r>
              <a:rPr sz="700" kern="0" spc="7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</a:t>
            </a:r>
            <a:endParaRPr sz="700" dirty="0"/>
          </a:p>
        </p:txBody>
      </p:sp>
      <p:sp>
        <p:nvSpPr>
          <p:cNvPr id="2544" name="textbox 2544"/>
          <p:cNvSpPr/>
          <p:nvPr/>
        </p:nvSpPr>
        <p:spPr>
          <a:xfrm>
            <a:off x="8505825" y="5143500"/>
            <a:ext cx="190500" cy="8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indent="-66675" algn="l" rtl="0" eaLnBrk="0">
              <a:buAutoNum type="arabicPeriod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700" dirty="0"/>
          </a:p>
        </p:txBody>
      </p:sp>
      <p:sp>
        <p:nvSpPr>
          <p:cNvPr id="2546" name="textbox 2546"/>
          <p:cNvSpPr/>
          <p:nvPr/>
        </p:nvSpPr>
        <p:spPr>
          <a:xfrm>
            <a:off x="8496300" y="5238750"/>
            <a:ext cx="20002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600" kern="0" spc="7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0.01</a:t>
            </a:r>
            <a:endParaRPr sz="600" dirty="0"/>
          </a:p>
        </p:txBody>
      </p:sp>
      <p:sp>
        <p:nvSpPr>
          <p:cNvPr id="2548" name="textbox 2548"/>
          <p:cNvSpPr/>
          <p:nvPr/>
        </p:nvSpPr>
        <p:spPr>
          <a:xfrm>
            <a:off x="8496300" y="5343525"/>
            <a:ext cx="20002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0.07</a:t>
            </a:r>
            <a:endParaRPr sz="700" dirty="0"/>
          </a:p>
        </p:txBody>
      </p:sp>
      <p:sp>
        <p:nvSpPr>
          <p:cNvPr id="2550" name="textbox 2550"/>
          <p:cNvSpPr/>
          <p:nvPr/>
        </p:nvSpPr>
        <p:spPr>
          <a:xfrm>
            <a:off x="8496300" y="5457825"/>
            <a:ext cx="20002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0.13</a:t>
            </a:r>
            <a:endParaRPr sz="700" dirty="0"/>
          </a:p>
        </p:txBody>
      </p:sp>
      <p:sp>
        <p:nvSpPr>
          <p:cNvPr id="2552" name="textbox 2552"/>
          <p:cNvSpPr/>
          <p:nvPr/>
        </p:nvSpPr>
        <p:spPr>
          <a:xfrm>
            <a:off x="8496300" y="5553075"/>
            <a:ext cx="20002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0.19</a:t>
            </a:r>
            <a:endParaRPr sz="700" dirty="0"/>
          </a:p>
        </p:txBody>
      </p:sp>
      <p:sp>
        <p:nvSpPr>
          <p:cNvPr id="2554" name="textbox 2554"/>
          <p:cNvSpPr/>
          <p:nvPr/>
        </p:nvSpPr>
        <p:spPr>
          <a:xfrm>
            <a:off x="8496300" y="5667375"/>
            <a:ext cx="200025" cy="85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0.25</a:t>
            </a:r>
            <a:endParaRPr sz="700" dirty="0"/>
          </a:p>
        </p:txBody>
      </p:sp>
      <p:sp>
        <p:nvSpPr>
          <p:cNvPr id="2556" name="textbox 2556"/>
          <p:cNvSpPr/>
          <p:nvPr/>
        </p:nvSpPr>
        <p:spPr>
          <a:xfrm>
            <a:off x="8496300" y="5772150"/>
            <a:ext cx="200025" cy="95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" indent="-28575" algn="l" rtl="0" eaLnBrk="0">
              <a:buChar char="-"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0.32</a:t>
            </a:r>
            <a:endParaRPr sz="700" dirty="0"/>
          </a:p>
        </p:txBody>
      </p:sp>
      <p:sp>
        <p:nvSpPr>
          <p:cNvPr id="2558" name="textbox 2558"/>
          <p:cNvSpPr/>
          <p:nvPr/>
        </p:nvSpPr>
        <p:spPr>
          <a:xfrm>
            <a:off x="8477250" y="5867400"/>
            <a:ext cx="219075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7150" indent="-38100" algn="l" rtl="0" eaLnBrk="0">
              <a:buChar char="-"/>
            </a:pPr>
            <a:r>
              <a:rPr sz="600" kern="0" spc="7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0.38</a:t>
            </a:r>
            <a:endParaRPr sz="600" dirty="0"/>
          </a:p>
        </p:txBody>
      </p:sp>
      <p:sp>
        <p:nvSpPr>
          <p:cNvPr id="2560" name="textbox 2560"/>
          <p:cNvSpPr/>
          <p:nvPr/>
        </p:nvSpPr>
        <p:spPr>
          <a:xfrm>
            <a:off x="695325" y="6134100"/>
            <a:ext cx="10506075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Zou, et al. FD-informed Graph Network for Solving Steady-state incompressible</a:t>
            </a: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76225" algn="l" rtl="0" eaLnBrk="0"/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flows on block-structured grids, </a:t>
            </a:r>
            <a:r>
              <a:rPr sz="2400" b="1" i="1" kern="0" spc="0" dirty="0">
                <a:solidFill>
                  <a:srgbClr val="0070C0">
                    <a:alpha val="100000"/>
                  </a:srgb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Physics of Fluids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, 36, 103608 (2024)</a:t>
            </a:r>
            <a:endParaRPr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62" name="textbox 2562"/>
          <p:cNvSpPr/>
          <p:nvPr/>
        </p:nvSpPr>
        <p:spPr>
          <a:xfrm>
            <a:off x="11934825" y="6629400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CCCC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63</a:t>
            </a:r>
            <a:endParaRPr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6" name="picture 25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68" name="textbox 2568"/>
          <p:cNvSpPr/>
          <p:nvPr/>
        </p:nvSpPr>
        <p:spPr>
          <a:xfrm>
            <a:off x="1619250" y="2905125"/>
            <a:ext cx="4352925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400" b="1" kern="0" spc="0" dirty="0">
                <a:solidFill>
                  <a:srgbClr val="B821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四、总结与展望</a:t>
            </a:r>
            <a:endParaRPr sz="4400" dirty="0"/>
          </a:p>
        </p:txBody>
      </p:sp>
      <p:pic>
        <p:nvPicPr>
          <p:cNvPr id="2572" name="picture 2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0"/>
            <a:ext cx="352425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6" name="picture 25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78" name="textbox 2578"/>
          <p:cNvSpPr/>
          <p:nvPr/>
        </p:nvSpPr>
        <p:spPr>
          <a:xfrm>
            <a:off x="666750" y="304800"/>
            <a:ext cx="120967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四、总结</a:t>
            </a:r>
            <a:endParaRPr sz="2000" dirty="0"/>
          </a:p>
        </p:txBody>
      </p:sp>
      <p:pic>
        <p:nvPicPr>
          <p:cNvPr id="2582" name="picture 25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2584" name="textbox 2584"/>
          <p:cNvSpPr/>
          <p:nvPr/>
        </p:nvSpPr>
        <p:spPr>
          <a:xfrm>
            <a:off x="695325" y="1228725"/>
            <a:ext cx="11096625" cy="93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23850" indent="-32385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基于图神经网络(GNN)发展了两类流场预测方法，在预测精度、效</a:t>
            </a:r>
            <a:endParaRPr sz="2800" dirty="0"/>
          </a:p>
          <a:p>
            <a:pPr marL="314325" algn="l" rtl="0" eaLnBrk="0">
              <a:spcBef>
                <a:spcPts val="1050"/>
              </a:spcBef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率、几何泛化性等方面优于部分现有方法。</a:t>
            </a:r>
            <a:endParaRPr sz="2800" dirty="0"/>
          </a:p>
        </p:txBody>
      </p:sp>
      <p:sp>
        <p:nvSpPr>
          <p:cNvPr id="2586" name="textbox 2586"/>
          <p:cNvSpPr/>
          <p:nvPr/>
        </p:nvSpPr>
        <p:spPr>
          <a:xfrm>
            <a:off x="1057275" y="2590800"/>
            <a:ext cx="246697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38125" algn="l" rtl="0" eaLnBrk="0">
              <a:buChar char="►"/>
            </a:pPr>
            <a:r>
              <a:rPr sz="2800" b="1" kern="0" spc="0" dirty="0">
                <a:solidFill>
                  <a:srgbClr val="126CA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数据驱动方法</a:t>
            </a:r>
            <a:endParaRPr sz="2800" dirty="0"/>
          </a:p>
        </p:txBody>
      </p:sp>
      <p:sp>
        <p:nvSpPr>
          <p:cNvPr id="2588" name="textbox 2588"/>
          <p:cNvSpPr/>
          <p:nvPr/>
        </p:nvSpPr>
        <p:spPr>
          <a:xfrm>
            <a:off x="1514475" y="3171825"/>
            <a:ext cx="74580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571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多重网格图网络AMGNET：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多重网格 (AMG)+GNN</a:t>
            </a:r>
            <a:endParaRPr sz="2400" dirty="0"/>
          </a:p>
        </p:txBody>
      </p:sp>
      <p:sp>
        <p:nvSpPr>
          <p:cNvPr id="2590" name="textbox 2590"/>
          <p:cNvSpPr/>
          <p:nvPr/>
        </p:nvSpPr>
        <p:spPr>
          <a:xfrm>
            <a:off x="1514475" y="3686175"/>
            <a:ext cx="78676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667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有限体积图网络FVGN：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GNN+非结构网格+有限体积法</a:t>
            </a:r>
            <a:endParaRPr sz="2400" dirty="0"/>
          </a:p>
        </p:txBody>
      </p:sp>
      <p:sp>
        <p:nvSpPr>
          <p:cNvPr id="2592" name="textbox 2592"/>
          <p:cNvSpPr/>
          <p:nvPr/>
        </p:nvSpPr>
        <p:spPr>
          <a:xfrm>
            <a:off x="1514475" y="4200525"/>
            <a:ext cx="71818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571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多尺度增强图网络ME-GNN：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全局和局部混合架构</a:t>
            </a:r>
            <a:endParaRPr sz="2400" dirty="0"/>
          </a:p>
        </p:txBody>
      </p:sp>
      <p:sp>
        <p:nvSpPr>
          <p:cNvPr id="2594" name="textbox 2594"/>
          <p:cNvSpPr/>
          <p:nvPr/>
        </p:nvSpPr>
        <p:spPr>
          <a:xfrm>
            <a:off x="1057275" y="4733925"/>
            <a:ext cx="31718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47650" algn="l" rtl="0" eaLnBrk="0">
              <a:buChar char="►"/>
            </a:pPr>
            <a:r>
              <a:rPr sz="2800" b="1" kern="0" spc="0" dirty="0">
                <a:solidFill>
                  <a:srgbClr val="106BA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物理约束神经网络</a:t>
            </a:r>
            <a:endParaRPr sz="2800" dirty="0"/>
          </a:p>
        </p:txBody>
      </p:sp>
      <p:sp>
        <p:nvSpPr>
          <p:cNvPr id="2596" name="textbox 2596"/>
          <p:cNvSpPr/>
          <p:nvPr/>
        </p:nvSpPr>
        <p:spPr>
          <a:xfrm>
            <a:off x="1524000" y="5305425"/>
            <a:ext cx="967740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76225" indent="-27622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有限体积Gen-FVGN：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采用FV计算损失函数，继承传统FV方法的优势</a:t>
            </a:r>
            <a:endParaRPr sz="2400" dirty="0"/>
          </a:p>
        </p:txBody>
      </p:sp>
      <p:sp>
        <p:nvSpPr>
          <p:cNvPr id="2598" name="textbox 2598"/>
          <p:cNvSpPr/>
          <p:nvPr/>
        </p:nvSpPr>
        <p:spPr>
          <a:xfrm>
            <a:off x="1524000" y="5819775"/>
            <a:ext cx="91535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85750" indent="-2667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有限差分FDGN：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采用有限差分法替代自动微分，降低计算复杂度</a:t>
            </a:r>
            <a:endParaRPr sz="2400" dirty="0"/>
          </a:p>
        </p:txBody>
      </p:sp>
      <p:sp>
        <p:nvSpPr>
          <p:cNvPr id="2600" name="textbox 2600"/>
          <p:cNvSpPr/>
          <p:nvPr/>
        </p:nvSpPr>
        <p:spPr>
          <a:xfrm>
            <a:off x="11934825" y="6638925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kern="0" spc="0" dirty="0">
                <a:solidFill>
                  <a:srgbClr val="CCCC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65</a:t>
            </a:r>
            <a:endParaRPr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4" name="picture 2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6" name="textbox 2606"/>
          <p:cNvSpPr/>
          <p:nvPr/>
        </p:nvSpPr>
        <p:spPr>
          <a:xfrm>
            <a:off x="666750" y="314325"/>
            <a:ext cx="4724400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四、总结：团队其他与AI相关的工作</a:t>
            </a:r>
            <a:endParaRPr sz="2000" dirty="0"/>
          </a:p>
        </p:txBody>
      </p:sp>
      <p:pic>
        <p:nvPicPr>
          <p:cNvPr id="2610" name="picture 2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612" name="textbox 2612"/>
          <p:cNvSpPr/>
          <p:nvPr/>
        </p:nvSpPr>
        <p:spPr>
          <a:xfrm>
            <a:off x="628650" y="1009650"/>
            <a:ext cx="49434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42900" indent="-342900" algn="l" rtl="0" eaLnBrk="0">
              <a:buChar char="►"/>
            </a:pPr>
            <a:r>
              <a:rPr sz="2800" b="1" kern="0" spc="0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团队AI for Science研究方向</a:t>
            </a:r>
            <a:endParaRPr sz="2800" dirty="0"/>
          </a:p>
        </p:txBody>
      </p:sp>
      <p:sp>
        <p:nvSpPr>
          <p:cNvPr id="2614" name="textbox 2614"/>
          <p:cNvSpPr/>
          <p:nvPr/>
        </p:nvSpPr>
        <p:spPr>
          <a:xfrm>
            <a:off x="1047750" y="1581150"/>
            <a:ext cx="34480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333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智能化网格生成与优化</a:t>
            </a:r>
            <a:endParaRPr sz="2400" dirty="0"/>
          </a:p>
        </p:txBody>
      </p:sp>
      <p:sp>
        <p:nvSpPr>
          <p:cNvPr id="2616" name="textbox 2616"/>
          <p:cNvSpPr/>
          <p:nvPr/>
        </p:nvSpPr>
        <p:spPr>
          <a:xfrm>
            <a:off x="1047750" y="2019300"/>
            <a:ext cx="28384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333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数据驱动声场预测</a:t>
            </a:r>
            <a:endParaRPr sz="2400" dirty="0"/>
          </a:p>
        </p:txBody>
      </p:sp>
      <p:sp>
        <p:nvSpPr>
          <p:cNvPr id="2618" name="textbox 2618"/>
          <p:cNvSpPr/>
          <p:nvPr/>
        </p:nvSpPr>
        <p:spPr>
          <a:xfrm>
            <a:off x="1047750" y="2466975"/>
            <a:ext cx="254317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2385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智能化湍流建模</a:t>
            </a:r>
            <a:endParaRPr sz="2400" dirty="0"/>
          </a:p>
        </p:txBody>
      </p:sp>
      <p:sp>
        <p:nvSpPr>
          <p:cNvPr id="2620" name="textbox 2620"/>
          <p:cNvSpPr/>
          <p:nvPr/>
        </p:nvSpPr>
        <p:spPr>
          <a:xfrm>
            <a:off x="1047750" y="2905125"/>
            <a:ext cx="30861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81000" indent="-333375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AI+高精度格式构造</a:t>
            </a:r>
            <a:endParaRPr sz="2400" dirty="0"/>
          </a:p>
        </p:txBody>
      </p:sp>
      <p:sp>
        <p:nvSpPr>
          <p:cNvPr id="2622" name="textbox 2622"/>
          <p:cNvSpPr/>
          <p:nvPr/>
        </p:nvSpPr>
        <p:spPr>
          <a:xfrm>
            <a:off x="1047750" y="3352800"/>
            <a:ext cx="373380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90525" indent="-342900" algn="l" rtl="0" eaLnBrk="0">
              <a:buChar char="►"/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智能气动建模与飞行控制</a:t>
            </a:r>
            <a:endParaRPr sz="2400" dirty="0"/>
          </a:p>
        </p:txBody>
      </p:sp>
      <p:pic>
        <p:nvPicPr>
          <p:cNvPr id="2628" name="picture 26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371600"/>
            <a:ext cx="3324225" cy="2695575"/>
          </a:xfrm>
          <a:prstGeom prst="rect">
            <a:avLst/>
          </a:prstGeom>
        </p:spPr>
      </p:pic>
      <p:pic>
        <p:nvPicPr>
          <p:cNvPr id="2632" name="picture 26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025" y="1371600"/>
            <a:ext cx="3219450" cy="2886075"/>
          </a:xfrm>
          <a:prstGeom prst="rect">
            <a:avLst/>
          </a:prstGeom>
        </p:spPr>
      </p:pic>
      <p:pic>
        <p:nvPicPr>
          <p:cNvPr id="2636" name="picture 26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4524375"/>
            <a:ext cx="4000500" cy="2038350"/>
          </a:xfrm>
          <a:prstGeom prst="rect">
            <a:avLst/>
          </a:prstGeom>
        </p:spPr>
      </p:pic>
      <p:pic>
        <p:nvPicPr>
          <p:cNvPr id="2640" name="picture 26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25" y="4524375"/>
            <a:ext cx="4143375" cy="2009775"/>
          </a:xfrm>
          <a:prstGeom prst="rect">
            <a:avLst/>
          </a:prstGeom>
        </p:spPr>
      </p:pic>
      <p:pic>
        <p:nvPicPr>
          <p:cNvPr id="2644" name="picture 26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8725" y="4572000"/>
            <a:ext cx="2905125" cy="1962150"/>
          </a:xfrm>
          <a:prstGeom prst="rect">
            <a:avLst/>
          </a:prstGeom>
        </p:spPr>
      </p:pic>
      <p:sp>
        <p:nvSpPr>
          <p:cNvPr id="2646" name="textbox 2646"/>
          <p:cNvSpPr/>
          <p:nvPr/>
        </p:nvSpPr>
        <p:spPr>
          <a:xfrm>
            <a:off x="8858250" y="4600575"/>
            <a:ext cx="1133475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7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Ma=3.0 Re=1.2e7 t=0.000s</a:t>
            </a:r>
            <a:endParaRPr sz="700" dirty="0"/>
          </a:p>
        </p:txBody>
      </p:sp>
      <p:sp>
        <p:nvSpPr>
          <p:cNvPr id="2648" name="textbox 2648"/>
          <p:cNvSpPr/>
          <p:nvPr/>
        </p:nvSpPr>
        <p:spPr>
          <a:xfrm>
            <a:off x="11934825" y="6629400"/>
            <a:ext cx="180975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C6C6C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100" dirty="0"/>
          </a:p>
        </p:txBody>
      </p:sp>
      <p:sp>
        <p:nvSpPr>
          <p:cNvPr id="2" name="textbox 2676"/>
          <p:cNvSpPr/>
          <p:nvPr/>
        </p:nvSpPr>
        <p:spPr>
          <a:xfrm>
            <a:off x="1047750" y="3781425"/>
            <a:ext cx="41910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504825" algn="l" rtl="0" eaLnBrk="0">
              <a:buChar char="►"/>
            </a:pPr>
            <a:r>
              <a:rPr lang="en-US" altLang="zh-CN" sz="2600" dirty="0">
                <a:ea typeface="宋体" panose="02010600030101010101" pitchFamily="2" charset="-122"/>
              </a:rPr>
              <a:t>......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2" name="picture 2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54" name="textbox 2654"/>
          <p:cNvSpPr/>
          <p:nvPr/>
        </p:nvSpPr>
        <p:spPr>
          <a:xfrm>
            <a:off x="666750" y="304800"/>
            <a:ext cx="353377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四、总结：依然面临的挑战</a:t>
            </a:r>
            <a:endParaRPr sz="2000" dirty="0"/>
          </a:p>
        </p:txBody>
      </p:sp>
      <p:pic>
        <p:nvPicPr>
          <p:cNvPr id="2658" name="picture 26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400425" cy="485775"/>
          </a:xfrm>
          <a:prstGeom prst="rect">
            <a:avLst/>
          </a:prstGeom>
        </p:spPr>
      </p:pic>
      <p:sp>
        <p:nvSpPr>
          <p:cNvPr id="2660" name="textbox 2660"/>
          <p:cNvSpPr/>
          <p:nvPr/>
        </p:nvSpPr>
        <p:spPr>
          <a:xfrm>
            <a:off x="819150" y="1181100"/>
            <a:ext cx="35814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52425" indent="-304800" algn="l" rtl="0" eaLnBrk="0">
              <a:buChar char="►"/>
            </a:pPr>
            <a:r>
              <a:rPr sz="2800" b="1" kern="0" spc="0" dirty="0">
                <a:solidFill>
                  <a:srgbClr val="0D70B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仍需深入研究的问题</a:t>
            </a:r>
            <a:endParaRPr sz="2800" dirty="0"/>
          </a:p>
        </p:txBody>
      </p:sp>
      <p:sp>
        <p:nvSpPr>
          <p:cNvPr id="2662" name="textbox 2662"/>
          <p:cNvSpPr/>
          <p:nvPr/>
        </p:nvSpPr>
        <p:spPr>
          <a:xfrm>
            <a:off x="1409700" y="1733550"/>
            <a:ext cx="419100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495300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数据依赖性与小样本学习</a:t>
            </a:r>
            <a:endParaRPr sz="2600" dirty="0"/>
          </a:p>
        </p:txBody>
      </p:sp>
      <p:sp>
        <p:nvSpPr>
          <p:cNvPr id="2664" name="textbox 2664"/>
          <p:cNvSpPr/>
          <p:nvPr/>
        </p:nvSpPr>
        <p:spPr>
          <a:xfrm>
            <a:off x="1409700" y="2286000"/>
            <a:ext cx="32099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495300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泛化能力与鲁棒性</a:t>
            </a:r>
            <a:endParaRPr sz="2600" dirty="0"/>
          </a:p>
        </p:txBody>
      </p:sp>
      <p:sp>
        <p:nvSpPr>
          <p:cNvPr id="2666" name="textbox 2666"/>
          <p:cNvSpPr/>
          <p:nvPr/>
        </p:nvSpPr>
        <p:spPr>
          <a:xfrm>
            <a:off x="1409700" y="2828925"/>
            <a:ext cx="38576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495300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三维复杂构型精确预测</a:t>
            </a:r>
            <a:endParaRPr sz="2600" dirty="0"/>
          </a:p>
        </p:txBody>
      </p:sp>
      <p:sp>
        <p:nvSpPr>
          <p:cNvPr id="2668" name="textbox 2668"/>
          <p:cNvSpPr/>
          <p:nvPr/>
        </p:nvSpPr>
        <p:spPr>
          <a:xfrm>
            <a:off x="1409700" y="3390900"/>
            <a:ext cx="38576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495300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物理一致性与可解释性</a:t>
            </a:r>
            <a:endParaRPr sz="2600" dirty="0"/>
          </a:p>
        </p:txBody>
      </p:sp>
      <p:sp>
        <p:nvSpPr>
          <p:cNvPr id="2670" name="textbox 2670"/>
          <p:cNvSpPr/>
          <p:nvPr/>
        </p:nvSpPr>
        <p:spPr>
          <a:xfrm>
            <a:off x="1419225" y="3943350"/>
            <a:ext cx="38385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33400" indent="-495300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多物理场耦合的复杂性</a:t>
            </a:r>
            <a:endParaRPr sz="2600" dirty="0"/>
          </a:p>
        </p:txBody>
      </p:sp>
      <p:sp>
        <p:nvSpPr>
          <p:cNvPr id="2672" name="textbox 2672"/>
          <p:cNvSpPr/>
          <p:nvPr/>
        </p:nvSpPr>
        <p:spPr>
          <a:xfrm>
            <a:off x="1447800" y="4495800"/>
            <a:ext cx="415290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04825" indent="-485775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实时性与计算效率的权衡</a:t>
            </a:r>
            <a:endParaRPr sz="2600" dirty="0"/>
          </a:p>
        </p:txBody>
      </p:sp>
      <p:sp>
        <p:nvSpPr>
          <p:cNvPr id="2674" name="textbox 2674"/>
          <p:cNvSpPr/>
          <p:nvPr/>
        </p:nvSpPr>
        <p:spPr>
          <a:xfrm>
            <a:off x="1409700" y="5048250"/>
            <a:ext cx="34956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495300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不确定性量化（UQ）</a:t>
            </a:r>
            <a:endParaRPr sz="2600" dirty="0"/>
          </a:p>
        </p:txBody>
      </p:sp>
      <p:sp>
        <p:nvSpPr>
          <p:cNvPr id="2676" name="textbox 2676"/>
          <p:cNvSpPr/>
          <p:nvPr/>
        </p:nvSpPr>
        <p:spPr>
          <a:xfrm>
            <a:off x="1419225" y="5600700"/>
            <a:ext cx="41910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504825" algn="l" rtl="0" eaLnBrk="0">
              <a:buChar char="►"/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高雷诺数湍流的建模瓶颈</a:t>
            </a:r>
            <a:endParaRPr sz="2600" dirty="0"/>
          </a:p>
        </p:txBody>
      </p:sp>
      <p:pic>
        <p:nvPicPr>
          <p:cNvPr id="2680" name="picture 26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200275"/>
            <a:ext cx="2371725" cy="3505200"/>
          </a:xfrm>
          <a:prstGeom prst="rect">
            <a:avLst/>
          </a:prstGeom>
        </p:spPr>
      </p:pic>
      <p:sp>
        <p:nvSpPr>
          <p:cNvPr id="2684" name="textbox 2684"/>
          <p:cNvSpPr/>
          <p:nvPr/>
        </p:nvSpPr>
        <p:spPr>
          <a:xfrm>
            <a:off x="11934825" y="6638925"/>
            <a:ext cx="16192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000" kern="0" spc="0" dirty="0">
                <a:solidFill>
                  <a:srgbClr val="C5C5C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67</a:t>
            </a:r>
            <a:endParaRPr sz="1000" dirty="0"/>
          </a:p>
        </p:txBody>
      </p:sp>
      <p:sp>
        <p:nvSpPr>
          <p:cNvPr id="2" name="textbox 2676"/>
          <p:cNvSpPr/>
          <p:nvPr/>
        </p:nvSpPr>
        <p:spPr>
          <a:xfrm>
            <a:off x="1409700" y="6099175"/>
            <a:ext cx="41910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42925" indent="-504825" algn="l" rtl="0" eaLnBrk="0">
              <a:buChar char="►"/>
            </a:pPr>
            <a:r>
              <a:rPr lang="en-US" altLang="zh-CN" sz="2600" dirty="0">
                <a:ea typeface="宋体" panose="02010600030101010101" pitchFamily="2" charset="-122"/>
              </a:rPr>
              <a:t>......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8" name="picture 26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90" name="textbox 2690"/>
          <p:cNvSpPr/>
          <p:nvPr/>
        </p:nvSpPr>
        <p:spPr>
          <a:xfrm>
            <a:off x="657225" y="304800"/>
            <a:ext cx="914400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结束语</a:t>
            </a:r>
            <a:endParaRPr sz="2000" dirty="0"/>
          </a:p>
        </p:txBody>
      </p:sp>
      <p:pic>
        <p:nvPicPr>
          <p:cNvPr id="2694" name="picture 26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7175"/>
            <a:ext cx="3390900" cy="476250"/>
          </a:xfrm>
          <a:prstGeom prst="rect">
            <a:avLst/>
          </a:prstGeom>
        </p:spPr>
      </p:pic>
      <p:sp>
        <p:nvSpPr>
          <p:cNvPr id="2696" name="textbox 2696"/>
          <p:cNvSpPr/>
          <p:nvPr/>
        </p:nvSpPr>
        <p:spPr>
          <a:xfrm>
            <a:off x="657225" y="1685925"/>
            <a:ext cx="10553700" cy="1381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714375" algn="l" rtl="0" eaLnBrk="0"/>
            <a:r>
              <a:rPr sz="5400" b="1" kern="0" spc="0" dirty="0">
                <a:solidFill>
                  <a:srgbClr val="C00000">
                    <a:alpha val="100000"/>
                  </a:srgbClr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智能化工程数值模拟方法研究及</a:t>
            </a:r>
            <a:endParaRPr sz="5400" dirty="0"/>
          </a:p>
          <a:p>
            <a:pPr algn="l" rtl="0" eaLnBrk="0"/>
            <a:r>
              <a:rPr sz="5400" b="1" kern="0" spc="0" dirty="0">
                <a:solidFill>
                  <a:srgbClr val="C00000">
                    <a:alpha val="100000"/>
                  </a:srgbClr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软件开发任重而道远，但前景广阔！</a:t>
            </a:r>
            <a:endParaRPr sz="5400" dirty="0"/>
          </a:p>
        </p:txBody>
      </p:sp>
      <p:sp>
        <p:nvSpPr>
          <p:cNvPr id="2702" name="textbox 2702"/>
          <p:cNvSpPr/>
          <p:nvPr/>
        </p:nvSpPr>
        <p:spPr>
          <a:xfrm>
            <a:off x="3476625" y="4505325"/>
            <a:ext cx="486727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800" kern="0" spc="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 I + C F D</a:t>
            </a:r>
            <a:endParaRPr sz="8800" dirty="0"/>
          </a:p>
        </p:txBody>
      </p:sp>
      <p:sp>
        <p:nvSpPr>
          <p:cNvPr id="2704" name="textbox 2704"/>
          <p:cNvSpPr/>
          <p:nvPr/>
        </p:nvSpPr>
        <p:spPr>
          <a:xfrm>
            <a:off x="11934825" y="6629400"/>
            <a:ext cx="171450" cy="133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100" b="1" kern="0" spc="0" dirty="0">
                <a:solidFill>
                  <a:srgbClr val="D2D2D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68</a:t>
            </a:r>
            <a:endParaRPr sz="1100" dirty="0"/>
          </a:p>
        </p:txBody>
      </p:sp>
      <p:pic>
        <p:nvPicPr>
          <p:cNvPr id="2" name="图片 1" descr="78cbd656e0fe825cdf1b5f98627ab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235" y="3625850"/>
            <a:ext cx="6075680" cy="26549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2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3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4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5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6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7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8.xml><?xml version="1.0" encoding="utf-8"?>
<p:tagLst xmlns:p="http://schemas.openxmlformats.org/presentationml/2006/main">
  <p:tag name="KSO_WM_DIAGRAM_VIRTUALLY_FRAME" val="{&quot;height&quot;:318.75,&quot;left&quot;:419.25,&quot;top&quot;:120,&quot;width&quot;:368.25}"/>
</p:tagLst>
</file>

<file path=ppt/tags/tag9.xml><?xml version="1.0" encoding="utf-8"?>
<p:tagLst xmlns:p="http://schemas.openxmlformats.org/presentationml/2006/main">
  <p:tag name="KSO_WM_DIAGRAM_VIRTUALLY_FRAME" val="{&quot;height&quot;:363.75,&quot;left&quot;:78,&quot;top&quot;:139.5,&quot;width&quot;:801.75}"/>
</p:tagLst>
</file>

<file path=ppt/tags/tag10.xml><?xml version="1.0" encoding="utf-8"?>
<p:tagLst xmlns:p="http://schemas.openxmlformats.org/presentationml/2006/main">
  <p:tag name="KSO_WM_DIAGRAM_VIRTUALLY_FRAME" val="{&quot;height&quot;:363.75,&quot;left&quot;:78,&quot;top&quot;:139.5,&quot;width&quot;:801.75}"/>
</p:tagLst>
</file>

<file path=ppt/tags/tag11.xml><?xml version="1.0" encoding="utf-8"?>
<p:tagLst xmlns:p="http://schemas.openxmlformats.org/presentationml/2006/main">
  <p:tag name="KSO_WM_DIAGRAM_VIRTUALLY_FRAME" val="{&quot;height&quot;:363.75,&quot;left&quot;:78,&quot;top&quot;:139.5,&quot;width&quot;:801.75}"/>
</p:tagLst>
</file>

<file path=ppt/tags/tag12.xml><?xml version="1.0" encoding="utf-8"?>
<p:tagLst xmlns:p="http://schemas.openxmlformats.org/presentationml/2006/main">
  <p:tag name="KSO_WM_DIAGRAM_VIRTUALLY_FRAME" val="{&quot;height&quot;:363.75,&quot;left&quot;:78,&quot;top&quot;:139.5,&quot;width&quot;:801.75}"/>
</p:tagLst>
</file>

<file path=ppt/tags/tag13.xml><?xml version="1.0" encoding="utf-8"?>
<p:tagLst xmlns:p="http://schemas.openxmlformats.org/presentationml/2006/main">
  <p:tag name="KSO_WM_DIAGRAM_VIRTUALLY_FRAME" val="{&quot;height&quot;:363.75,&quot;left&quot;:78,&quot;top&quot;:139.5,&quot;width&quot;:801.75}"/>
</p:tagLst>
</file>

<file path=ppt/tags/tag14.xml><?xml version="1.0" encoding="utf-8"?>
<p:tagLst xmlns:p="http://schemas.openxmlformats.org/presentationml/2006/main">
  <p:tag name="KSO_WM_DIAGRAM_VIRTUALLY_FRAME" val="{&quot;height&quot;:363.75,&quot;left&quot;:78,&quot;top&quot;:139.5,&quot;width&quot;:801.7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14044</Words>
  <Application>WPS 演示</Application>
  <PresentationFormat/>
  <Paragraphs>2306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91" baseType="lpstr">
      <vt:lpstr>Arial</vt:lpstr>
      <vt:lpstr>宋体</vt:lpstr>
      <vt:lpstr>Wingdings</vt:lpstr>
      <vt:lpstr>微软雅黑</vt:lpstr>
      <vt:lpstr>Arial</vt:lpstr>
      <vt:lpstr>Times New Roman</vt:lpstr>
      <vt:lpstr>Georgia</vt:lpstr>
      <vt:lpstr>Cambria Math</vt:lpstr>
      <vt:lpstr>Arial Unicode MS</vt:lpstr>
      <vt:lpstr>Calibri</vt:lpstr>
      <vt:lpstr>Verdana</vt:lpstr>
      <vt:lpstr>Tahoma</vt:lpstr>
      <vt:lpstr>Calibri</vt:lpstr>
      <vt:lpstr>Cambria Math</vt:lpstr>
      <vt:lpstr>Arial Black</vt:lpstr>
      <vt:lpstr>黑体</vt:lpstr>
      <vt:lpstr>等线</vt:lpstr>
      <vt:lpstr>微软雅黑 Light</vt:lpstr>
      <vt:lpstr>华文细黑</vt:lpstr>
      <vt:lpstr>华文隶书</vt:lpstr>
      <vt:lpstr>Times New Roman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WPS_1779984719</cp:lastModifiedBy>
  <cp:revision>4</cp:revision>
  <dcterms:created xsi:type="dcterms:W3CDTF">2026-08-29T12:21:00Z</dcterms:created>
  <dcterms:modified xsi:type="dcterms:W3CDTF">2026-09-09T07:12:40Z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N">
    <vt:lpwstr>V1BTLUFJLUVuZ2luZQ</vt:lpwstr>
  </property>
  <property fmtid="{D5CDD505-2E9C-101B-9397-08002B2CF9AE}" pid="3" name="KSOProductBuildVer">
    <vt:lpwstr>2052-12.1.0.28043</vt:lpwstr>
  </property>
  <property fmtid="{D5CDD505-2E9C-101B-9397-08002B2CF9AE}" pid="4" name="ICV">
    <vt:lpwstr>3C52385CFF174137BBF2E9EE8A459547_12</vt:lpwstr>
  </property>
</Properties>
</file>