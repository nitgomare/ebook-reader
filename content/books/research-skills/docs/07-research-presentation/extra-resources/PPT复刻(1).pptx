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2.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52.svg" ContentType="image/svg+xml"/>
  <Override PartName="/ppt/media/image59.svg" ContentType="image/svg+xml"/>
  <Override PartName="/ppt/media/image61.svg" ContentType="image/svg+xml"/>
  <Override PartName="/ppt/media/image63.svg" ContentType="image/svg+xml"/>
  <Override PartName="/ppt/media/image67.svg" ContentType="image/svg+xml"/>
  <Override PartName="/ppt/media/image9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3"/>
    <p:sldId id="257" r:id="rId4"/>
    <p:sldId id="258" r:id="rId5"/>
    <p:sldId id="259" r:id="rId6"/>
    <p:sldId id="260" r:id="rId7"/>
    <p:sldId id="261" r:id="rId8"/>
    <p:sldId id="263" r:id="rId9"/>
    <p:sldId id="264" r:id="rId10"/>
    <p:sldId id="265" r:id="rId11"/>
    <p:sldId id="262" r:id="rId12"/>
    <p:sldId id="266" r:id="rId13"/>
    <p:sldId id="267" r:id="rId14"/>
    <p:sldId id="269" r:id="rId15"/>
    <p:sldId id="270" r:id="rId16"/>
    <p:sldId id="271" r:id="rId17"/>
    <p:sldId id="272" r:id="rId18"/>
    <p:sldId id="273" r:id="rId19"/>
    <p:sldId id="274" r:id="rId20"/>
    <p:sldId id="275" r:id="rId21"/>
    <p:sldId id="276" r:id="rId22"/>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9" r:id="rId42"/>
    <p:sldId id="322" r:id="rId43"/>
    <p:sldId id="323" r:id="rId44"/>
    <p:sldId id="324" r:id="rId45"/>
    <p:sldId id="346" r:id="rId46"/>
    <p:sldId id="347" r:id="rId47"/>
    <p:sldId id="296" r:id="rId48"/>
    <p:sldId id="295" r:id="rId49"/>
    <p:sldId id="297" r:id="rId50"/>
    <p:sldId id="300" r:id="rId51"/>
    <p:sldId id="371" r:id="rId52"/>
    <p:sldId id="372" r:id="rId53"/>
    <p:sldId id="312" r:id="rId54"/>
    <p:sldId id="308" r:id="rId55"/>
    <p:sldId id="309" r:id="rId56"/>
    <p:sldId id="304" r:id="rId57"/>
    <p:sldId id="305" r:id="rId58"/>
    <p:sldId id="306" r:id="rId59"/>
    <p:sldId id="307" r:id="rId60"/>
    <p:sldId id="368" r:id="rId61"/>
    <p:sldId id="369" r:id="rId62"/>
    <p:sldId id="342" r:id="rId63"/>
    <p:sldId id="343" r:id="rId64"/>
    <p:sldId id="344" r:id="rId65"/>
    <p:sldId id="339" r:id="rId66"/>
    <p:sldId id="340" r:id="rId67"/>
    <p:sldId id="341" r:id="rId68"/>
    <p:sldId id="301" r:id="rId69"/>
    <p:sldId id="302" r:id="rId70"/>
    <p:sldId id="303" r:id="rId71"/>
  </p:sldIdLst>
  <p:sldSz cx="12192000" cy="6858000"/>
  <p:notesSz cx="6858000" cy="9144000"/>
  <p:custDataLst>
    <p:tags r:id="rId7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DDD6"/>
    <a:srgbClr val="8B8D8A"/>
    <a:srgbClr val="646464"/>
    <a:srgbClr val="023A8C"/>
    <a:srgbClr val="234888"/>
    <a:srgbClr val="023A8B"/>
    <a:srgbClr val="1842A4"/>
    <a:srgbClr val="FEF0CD"/>
    <a:srgbClr val="31598A"/>
    <a:srgbClr val="619E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CCAD22E-3096-4A69-B1B7-7734B64951B6}" styleName="表样式 1 25">
    <a:wholeTbl>
      <a:tcTxStyle>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w="9525" cmpd="sng">
              <a:solidFill>
                <a:schemeClr val="dk1">
                  <a:lumMod val="34000"/>
                  <a:lumOff val="66000"/>
                </a:schemeClr>
              </a:solidFill>
              <a:prstDash val="solid"/>
            </a:ln>
          </a:insideV>
        </a:tcBdr>
        <a:fill>
          <a:solidFill>
            <a:schemeClr val="bg1">
              <a:alpha val="0"/>
            </a:schemeClr>
          </a:solidFill>
        </a:fill>
      </a:tcStyle>
    </a:wholeTbl>
    <a:band2H>
      <a:tcTxStyle>
        <a:fontRef idx="none">
          <a:schemeClr val="tx1"/>
        </a:fontRef>
      </a:tcTxStyle>
      <a:tcStyle>
        <a:tcBdr/>
        <a:fill>
          <a:solidFill>
            <a:schemeClr val="dk1">
              <a:alpha val="25000"/>
              <a:lumMod val="40000"/>
              <a:lumOff val="60000"/>
            </a:schemeClr>
          </a:solidFill>
        </a:fill>
      </a:tcStyle>
    </a:band2H>
    <a:band1V>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chemeClr val="dk1">
              <a:alpha val="25000"/>
              <a:lumMod val="40000"/>
              <a:lumOff val="60000"/>
            </a:schemeClr>
          </a:solidFill>
        </a:fill>
      </a:tcStyle>
    </a:band1V>
    <a:band2V>
      <a:tcStyle>
        <a:tcBdr>
          <a:left>
            <a:ln w="9525" cmpd="sng">
              <a:solidFill>
                <a:schemeClr val="dk1">
                  <a:lumMod val="40000"/>
                  <a:lumOff val="60000"/>
                </a:schemeClr>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bg1">
              <a:alpha val="0"/>
            </a:schemeClr>
          </a:solidFill>
        </a:fill>
      </a:tcStyle>
    </a:band2V>
    <a:lastCol>
      <a:tcTxStyle b="on">
        <a:fontRef idx="none">
          <a:schemeClr val="tx1"/>
        </a:fontRef>
      </a:tcTxStyle>
      <a:tcStyle>
        <a:tcBdr>
          <a:left>
            <a:ln w="9525" cmpd="sng">
              <a:solidFill>
                <a:schemeClr val="dk1">
                  <a:lumMod val="34000"/>
                  <a:lumOff val="66000"/>
                </a:schemeClr>
              </a:solidFill>
              <a:prstDash val="solid"/>
            </a:ln>
          </a:left>
          <a:right>
            <a:ln w="9525" cmpd="sng">
              <a:solidFill>
                <a:schemeClr val="dk1"/>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chemeClr val="bg1">
              <a:alpha val="0"/>
            </a:schemeClr>
          </a:solidFill>
        </a:fill>
      </a:tcStyle>
    </a:lastCol>
    <a:firstCol>
      <a:tcTxStyle b="on">
        <a:fontRef idx="none">
          <a:schemeClr val="tx1"/>
        </a:fontRef>
      </a:tcTxStyle>
      <a:tcStyle>
        <a:tcBdr>
          <a:left>
            <a:ln w="9525" cmpd="sng">
              <a:solidFill>
                <a:schemeClr val="dk1"/>
              </a:solidFill>
              <a:prstDash val="solid"/>
            </a:ln>
          </a:left>
          <a:right>
            <a:ln w="9525" cmpd="sng">
              <a:solidFill>
                <a:schemeClr val="dk1">
                  <a:lumMod val="34000"/>
                  <a:lumOff val="66000"/>
                </a:schemeClr>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chemeClr val="bg1">
              <a:alpha val="0"/>
            </a:schemeClr>
          </a:solidFill>
        </a:fill>
      </a:tcStyle>
    </a:firstCol>
    <a:lastRow>
      <a:tcTxStyle b="on">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lastRow>
    <a:seCell>
      <a:tcStyle>
        <a:tcBdr>
          <a:left>
            <a:ln>
              <a:noFill/>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wCell>
    <a:firstRow>
      <a:tcTxStyle b="on">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34000"/>
                  <a:lumOff val="66000"/>
                </a:schemeClr>
              </a:solidFill>
              <a:prstDash val="solid"/>
            </a:ln>
          </a:bottom>
          <a:insideH>
            <a:ln>
              <a:noFill/>
            </a:ln>
          </a:insideH>
          <a:insideV>
            <a:ln w="9525" cmpd="sng">
              <a:solidFill>
                <a:schemeClr val="dk1">
                  <a:alpha val="20000"/>
                  <a:lumMod val="35000"/>
                  <a:lumOff val="65000"/>
                </a:schemeClr>
              </a:solidFill>
              <a:prstDash val="solid"/>
            </a:ln>
          </a:insideV>
        </a:tcBdr>
        <a:fill>
          <a:solidFill>
            <a:schemeClr val="dk1">
              <a:alpha val="50000"/>
              <a:lumMod val="40000"/>
              <a:lumOff val="6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9" Type="http://schemas.openxmlformats.org/officeDocument/2006/relationships/slide" Target="slides/slide7.xml" /><ns0:Relationship Id="rId8" Type="http://schemas.openxmlformats.org/officeDocument/2006/relationships/slide" Target="slides/slide6.xml" /><ns0:Relationship Id="rId78" Type="http://schemas.openxmlformats.org/officeDocument/2006/relationships/tags" Target="tags/tag222.xml" /><ns0:Relationship Id="rId74" Type="http://schemas.openxmlformats.org/officeDocument/2006/relationships/tableStyles" Target="tableStyles.xml" /><ns0:Relationship Id="rId73" Type="http://schemas.openxmlformats.org/officeDocument/2006/relationships/viewProps" Target="viewProps.xml" /><ns0:Relationship Id="rId72" Type="http://schemas.openxmlformats.org/officeDocument/2006/relationships/presProps" Target="presProps.xml" /><ns0:Relationship Id="rId71" Type="http://schemas.openxmlformats.org/officeDocument/2006/relationships/slide" Target="slides/slide68.xml" /><ns0:Relationship Id="rId70" Type="http://schemas.openxmlformats.org/officeDocument/2006/relationships/slide" Target="slides/slide67.xml" /><ns0:Relationship Id="rId7" Type="http://schemas.openxmlformats.org/officeDocument/2006/relationships/slide" Target="slides/slide5.xml" /><ns0:Relationship Id="rId69" Type="http://schemas.openxmlformats.org/officeDocument/2006/relationships/slide" Target="slides/slide66.xml" /><ns0:Relationship Id="rId68" Type="http://schemas.openxmlformats.org/officeDocument/2006/relationships/slide" Target="slides/slide65.xml" /><ns0:Relationship Id="rId67" Type="http://schemas.openxmlformats.org/officeDocument/2006/relationships/slide" Target="slides/slide64.xml" /><ns0:Relationship Id="rId66" Type="http://schemas.openxmlformats.org/officeDocument/2006/relationships/slide" Target="slides/slide63.xml" /><ns0:Relationship Id="rId65" Type="http://schemas.openxmlformats.org/officeDocument/2006/relationships/slide" Target="slides/slide62.xml" /><ns0:Relationship Id="rId64" Type="http://schemas.openxmlformats.org/officeDocument/2006/relationships/slide" Target="slides/slide61.xml" /><ns0:Relationship Id="rId63" Type="http://schemas.openxmlformats.org/officeDocument/2006/relationships/slide" Target="slides/slide60.xml" /><ns0:Relationship Id="rId62" Type="http://schemas.openxmlformats.org/officeDocument/2006/relationships/slide" Target="slides/slide59.xml" /><ns0:Relationship Id="rId61" Type="http://schemas.openxmlformats.org/officeDocument/2006/relationships/slide" Target="slides/slide58.xml" /><ns0:Relationship Id="rId60" Type="http://schemas.openxmlformats.org/officeDocument/2006/relationships/slide" Target="slides/slide57.xml" /><ns0:Relationship Id="rId6" Type="http://schemas.openxmlformats.org/officeDocument/2006/relationships/slide" Target="slides/slide4.xml" /><ns0:Relationship Id="rId59" Type="http://schemas.openxmlformats.org/officeDocument/2006/relationships/slide" Target="slides/slide56.xml" /><ns0:Relationship Id="rId58" Type="http://schemas.openxmlformats.org/officeDocument/2006/relationships/slide" Target="slides/slide55.xml" /><ns0:Relationship Id="rId57" Type="http://schemas.openxmlformats.org/officeDocument/2006/relationships/slide" Target="slides/slide54.xml" /><ns0:Relationship Id="rId56" Type="http://schemas.openxmlformats.org/officeDocument/2006/relationships/slide" Target="slides/slide53.xml" /><ns0:Relationship Id="rId55" Type="http://schemas.openxmlformats.org/officeDocument/2006/relationships/slide" Target="slides/slide52.xml" /><ns0:Relationship Id="rId54" Type="http://schemas.openxmlformats.org/officeDocument/2006/relationships/slide" Target="slides/slide51.xml" /><ns0:Relationship Id="rId53" Type="http://schemas.openxmlformats.org/officeDocument/2006/relationships/slide" Target="slides/slide50.xml" /><ns0:Relationship Id="rId52" Type="http://schemas.openxmlformats.org/officeDocument/2006/relationships/slide" Target="slides/slide49.xml" /><ns0:Relationship Id="rId51" Type="http://schemas.openxmlformats.org/officeDocument/2006/relationships/slide" Target="slides/slide48.xml" /><ns0:Relationship Id="rId50" Type="http://schemas.openxmlformats.org/officeDocument/2006/relationships/slide" Target="slides/slide47.xml" /><ns0:Relationship Id="rId5" Type="http://schemas.openxmlformats.org/officeDocument/2006/relationships/slide" Target="slides/slide3.xml" /><ns0:Relationship Id="rId49" Type="http://schemas.openxmlformats.org/officeDocument/2006/relationships/slide" Target="slides/slide46.xml" /><ns0:Relationship Id="rId48" Type="http://schemas.openxmlformats.org/officeDocument/2006/relationships/slide" Target="slides/slide45.xml" /><ns0:Relationship Id="rId47" Type="http://schemas.openxmlformats.org/officeDocument/2006/relationships/slide" Target="slides/slide44.xml" /><ns0:Relationship Id="rId46" Type="http://schemas.openxmlformats.org/officeDocument/2006/relationships/slide" Target="slides/slide43.xml" /><ns0:Relationship Id="rId45" Type="http://schemas.openxmlformats.org/officeDocument/2006/relationships/slide" Target="slides/slide42.xml" /><ns0:Relationship Id="rId44" Type="http://schemas.openxmlformats.org/officeDocument/2006/relationships/slide" Target="slides/slide41.xml" /><ns0:Relationship Id="rId43" Type="http://schemas.openxmlformats.org/officeDocument/2006/relationships/slide" Target="slides/slide40.xml" /><ns0:Relationship Id="rId42" Type="http://schemas.openxmlformats.org/officeDocument/2006/relationships/slide" Target="slides/slide39.xml" /><ns0:Relationship Id="rId41" Type="http://schemas.openxmlformats.org/officeDocument/2006/relationships/slide" Target="slides/slide38.xml" /><ns0:Relationship Id="rId40" Type="http://schemas.openxmlformats.org/officeDocument/2006/relationships/slide" Target="slides/slide37.xml" /><ns0:Relationship Id="rId4" Type="http://schemas.openxmlformats.org/officeDocument/2006/relationships/slide" Target="slides/slide2.xml" /><ns0:Relationship Id="rId39" Type="http://schemas.openxmlformats.org/officeDocument/2006/relationships/slide" Target="slides/slide36.xml" /><ns0:Relationship Id="rId38" Type="http://schemas.openxmlformats.org/officeDocument/2006/relationships/slide" Target="slides/slide35.xml" /><ns0:Relationship Id="rId37" Type="http://schemas.openxmlformats.org/officeDocument/2006/relationships/slide" Target="slides/slide34.xml" /><ns0:Relationship Id="rId36" Type="http://schemas.openxmlformats.org/officeDocument/2006/relationships/slide" Target="slides/slide33.xml" /><ns0:Relationship Id="rId35" Type="http://schemas.openxmlformats.org/officeDocument/2006/relationships/slide" Target="slides/slide32.xml" /><ns0:Relationship Id="rId34" Type="http://schemas.openxmlformats.org/officeDocument/2006/relationships/slide" Target="slides/slide31.xml" /><ns0:Relationship Id="rId33" Type="http://schemas.openxmlformats.org/officeDocument/2006/relationships/slide" Target="slides/slide30.xml" /><ns0:Relationship Id="rId32" Type="http://schemas.openxmlformats.org/officeDocument/2006/relationships/slide" Target="slides/slide29.xml" /><ns0:Relationship Id="rId31" Type="http://schemas.openxmlformats.org/officeDocument/2006/relationships/slide" Target="slides/slide28.xml" /><ns0:Relationship Id="rId30" Type="http://schemas.openxmlformats.org/officeDocument/2006/relationships/slide" Target="slides/slide27.xml" /><ns0:Relationship Id="rId3" Type="http://schemas.openxmlformats.org/officeDocument/2006/relationships/slide" Target="slides/slide1.xml" /><ns0:Relationship Id="rId29" Type="http://schemas.openxmlformats.org/officeDocument/2006/relationships/slide" Target="slides/slide26.xml" /><ns0:Relationship Id="rId28" Type="http://schemas.openxmlformats.org/officeDocument/2006/relationships/slide" Target="slides/slide25.xml" /><ns0:Relationship Id="rId27" Type="http://schemas.openxmlformats.org/officeDocument/2006/relationships/slide" Target="slides/slide24.xml" /><ns0:Relationship Id="rId26" Type="http://schemas.openxmlformats.org/officeDocument/2006/relationships/slide" Target="slides/slide23.xml" /><ns0:Relationship Id="rId25" Type="http://schemas.openxmlformats.org/officeDocument/2006/relationships/slide" Target="slides/slide22.xml" /><ns0:Relationship Id="rId24" Type="http://schemas.openxmlformats.org/officeDocument/2006/relationships/slide" Target="slides/slide21.xml" /><ns0:Relationship Id="rId23" Type="http://schemas.openxmlformats.org/officeDocument/2006/relationships/notesMaster" Target="notesMasters/notesMaster1.xml" /><ns0:Relationship Id="rId22" Type="http://schemas.openxmlformats.org/officeDocument/2006/relationships/slide" Target="slides/slide20.xml" /><ns0:Relationship Id="rId21" Type="http://schemas.openxmlformats.org/officeDocument/2006/relationships/slide" Target="slides/slide19.xml" /><ns0:Relationship Id="rId20" Type="http://schemas.openxmlformats.org/officeDocument/2006/relationships/slide" Target="slides/slide18.xml" /><ns0:Relationship Id="rId2" Type="http://schemas.openxmlformats.org/officeDocument/2006/relationships/theme" Target="theme/theme1.xml" /><ns0:Relationship Id="rId19" Type="http://schemas.openxmlformats.org/officeDocument/2006/relationships/slide" Target="slides/slide17.xml" /><ns0:Relationship Id="rId18" Type="http://schemas.openxmlformats.org/officeDocument/2006/relationships/slide" Target="slides/slide16.xml" /><ns0:Relationship Id="rId17" Type="http://schemas.openxmlformats.org/officeDocument/2006/relationships/slide" Target="slides/slide15.xml" /><ns0:Relationship Id="rId16" Type="http://schemas.openxmlformats.org/officeDocument/2006/relationships/slide" Target="slides/slide14.xml" /><ns0:Relationship Id="rId15" Type="http://schemas.openxmlformats.org/officeDocument/2006/relationships/slide" Target="slides/slide13.xml" /><ns0:Relationship Id="rId14" Type="http://schemas.openxmlformats.org/officeDocument/2006/relationships/slide" Target="slides/slide12.xml" /><ns0:Relationship Id="rId13" Type="http://schemas.openxmlformats.org/officeDocument/2006/relationships/slide" Target="slides/slide11.xml" /><ns0:Relationship Id="rId12" Type="http://schemas.openxmlformats.org/officeDocument/2006/relationships/slide" Target="slides/slide10.xml" /><ns0:Relationship Id="rId11" Type="http://schemas.openxmlformats.org/officeDocument/2006/relationships/slide" Target="slides/slide9.xml" /><ns0:Relationship Id="rId10" Type="http://schemas.openxmlformats.org/officeDocument/2006/relationships/slide" Target="slides/slide8.xml" /><ns0:Relationship Id="rId1" Type="http://schemas.openxmlformats.org/officeDocument/2006/relationships/slideMaster" Target="slideMasters/slideMaster1.xml" /></ns0: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slideLayout" Target="../slideLayouts/slideLayout2.xml"/><Relationship Id="rId26" Type="http://schemas.openxmlformats.org/officeDocument/2006/relationships/image" Target="../media/image10.png"/><Relationship Id="rId25" Type="http://schemas.openxmlformats.org/officeDocument/2006/relationships/image" Target="../media/image9.png"/><Relationship Id="rId24" Type="http://schemas.openxmlformats.org/officeDocument/2006/relationships/image" Target="../media/image8.png"/><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4" Type="http://schemas.openxmlformats.org/officeDocument/2006/relationships/slideLayout" Target="../slideLayouts/slideLayout2.xml"/><Relationship Id="rId33" Type="http://schemas.openxmlformats.org/officeDocument/2006/relationships/tags" Target="../tags/tag57.xml"/><Relationship Id="rId32" Type="http://schemas.openxmlformats.org/officeDocument/2006/relationships/tags" Target="../tags/tag56.xml"/><Relationship Id="rId31" Type="http://schemas.openxmlformats.org/officeDocument/2006/relationships/tags" Target="../tags/tag55.xml"/><Relationship Id="rId30" Type="http://schemas.openxmlformats.org/officeDocument/2006/relationships/tags" Target="../tags/tag54.xml"/><Relationship Id="rId3" Type="http://schemas.openxmlformats.org/officeDocument/2006/relationships/tags" Target="../tags/tag27.xml"/><Relationship Id="rId29" Type="http://schemas.openxmlformats.org/officeDocument/2006/relationships/tags" Target="../tags/tag53.xml"/><Relationship Id="rId28" Type="http://schemas.openxmlformats.org/officeDocument/2006/relationships/tags" Target="../tags/tag52.xml"/><Relationship Id="rId27" Type="http://schemas.openxmlformats.org/officeDocument/2006/relationships/tags" Target="../tags/tag51.xml"/><Relationship Id="rId26" Type="http://schemas.openxmlformats.org/officeDocument/2006/relationships/tags" Target="../tags/tag50.xml"/><Relationship Id="rId25" Type="http://schemas.openxmlformats.org/officeDocument/2006/relationships/tags" Target="../tags/tag49.xml"/><Relationship Id="rId24" Type="http://schemas.openxmlformats.org/officeDocument/2006/relationships/tags" Target="../tags/tag48.xml"/><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svg"/><Relationship Id="rId7" Type="http://schemas.openxmlformats.org/officeDocument/2006/relationships/image" Target="../media/image35.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 Id="rId3" Type="http://schemas.openxmlformats.org/officeDocument/2006/relationships/image" Target="../media/image31.png"/><Relationship Id="rId2" Type="http://schemas.openxmlformats.org/officeDocument/2006/relationships/image" Target="../media/image30.svg"/><Relationship Id="rId10" Type="http://schemas.openxmlformats.org/officeDocument/2006/relationships/slideLayout" Target="../slideLayouts/slideLayout2.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23.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64.png"/><Relationship Id="rId7" Type="http://schemas.openxmlformats.org/officeDocument/2006/relationships/tags" Target="../tags/tag58.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 Id="rId3" Type="http://schemas.openxmlformats.org/officeDocument/2006/relationships/image" Target="../media/image60.png"/><Relationship Id="rId2" Type="http://schemas.openxmlformats.org/officeDocument/2006/relationships/image" Target="../media/image59.svg"/><Relationship Id="rId10" Type="http://schemas.openxmlformats.org/officeDocument/2006/relationships/slideLayout" Target="../slideLayouts/slideLayout2.xml"/><Relationship Id="rId1" Type="http://schemas.openxmlformats.org/officeDocument/2006/relationships/image" Target="../media/image58.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67.svg"/><Relationship Id="rId1" Type="http://schemas.openxmlformats.org/officeDocument/2006/relationships/image" Target="../media/image66.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wmf"/><Relationship Id="rId3" Type="http://schemas.openxmlformats.org/officeDocument/2006/relationships/oleObject" Target="../embeddings/oleObject1.bin"/><Relationship Id="rId2" Type="http://schemas.openxmlformats.org/officeDocument/2006/relationships/image" Target="../media/image75.png"/><Relationship Id="rId1" Type="http://schemas.openxmlformats.org/officeDocument/2006/relationships/image" Target="../media/image74.pn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29.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7" Type="http://schemas.openxmlformats.org/officeDocument/2006/relationships/slideLayout" Target="../slideLayouts/slideLayout2.xml"/><Relationship Id="rId56" Type="http://schemas.openxmlformats.org/officeDocument/2006/relationships/image" Target="../media/image93.png"/><Relationship Id="rId55" Type="http://schemas.openxmlformats.org/officeDocument/2006/relationships/image" Target="../media/image92.png"/><Relationship Id="rId54" Type="http://schemas.openxmlformats.org/officeDocument/2006/relationships/image" Target="../media/image91.png"/><Relationship Id="rId53" Type="http://schemas.openxmlformats.org/officeDocument/2006/relationships/image" Target="../media/image90.png"/><Relationship Id="rId52" Type="http://schemas.openxmlformats.org/officeDocument/2006/relationships/image" Target="../media/image89.png"/><Relationship Id="rId51" Type="http://schemas.openxmlformats.org/officeDocument/2006/relationships/image" Target="../media/image88.png"/><Relationship Id="rId50" Type="http://schemas.openxmlformats.org/officeDocument/2006/relationships/tags" Target="../tags/tag108.xml"/><Relationship Id="rId5" Type="http://schemas.openxmlformats.org/officeDocument/2006/relationships/tags" Target="../tags/tag63.xml"/><Relationship Id="rId49" Type="http://schemas.openxmlformats.org/officeDocument/2006/relationships/tags" Target="../tags/tag107.xml"/><Relationship Id="rId48" Type="http://schemas.openxmlformats.org/officeDocument/2006/relationships/tags" Target="../tags/tag106.xml"/><Relationship Id="rId47" Type="http://schemas.openxmlformats.org/officeDocument/2006/relationships/tags" Target="../tags/tag105.xml"/><Relationship Id="rId46" Type="http://schemas.openxmlformats.org/officeDocument/2006/relationships/tags" Target="../tags/tag104.xml"/><Relationship Id="rId45" Type="http://schemas.openxmlformats.org/officeDocument/2006/relationships/tags" Target="../tags/tag103.xml"/><Relationship Id="rId44" Type="http://schemas.openxmlformats.org/officeDocument/2006/relationships/tags" Target="../tags/tag102.xml"/><Relationship Id="rId43" Type="http://schemas.openxmlformats.org/officeDocument/2006/relationships/tags" Target="../tags/tag101.xml"/><Relationship Id="rId42" Type="http://schemas.openxmlformats.org/officeDocument/2006/relationships/tags" Target="../tags/tag100.xml"/><Relationship Id="rId41" Type="http://schemas.openxmlformats.org/officeDocument/2006/relationships/tags" Target="../tags/tag99.xml"/><Relationship Id="rId40" Type="http://schemas.openxmlformats.org/officeDocument/2006/relationships/tags" Target="../tags/tag98.xml"/><Relationship Id="rId4" Type="http://schemas.openxmlformats.org/officeDocument/2006/relationships/tags" Target="../tags/tag62.xml"/><Relationship Id="rId39" Type="http://schemas.openxmlformats.org/officeDocument/2006/relationships/tags" Target="../tags/tag97.xml"/><Relationship Id="rId38" Type="http://schemas.openxmlformats.org/officeDocument/2006/relationships/tags" Target="../tags/tag96.xml"/><Relationship Id="rId37" Type="http://schemas.openxmlformats.org/officeDocument/2006/relationships/tags" Target="../tags/tag95.xml"/><Relationship Id="rId36" Type="http://schemas.openxmlformats.org/officeDocument/2006/relationships/tags" Target="../tags/tag94.xml"/><Relationship Id="rId35" Type="http://schemas.openxmlformats.org/officeDocument/2006/relationships/tags" Target="../tags/tag93.xml"/><Relationship Id="rId34" Type="http://schemas.openxmlformats.org/officeDocument/2006/relationships/tags" Target="../tags/tag92.xml"/><Relationship Id="rId33" Type="http://schemas.openxmlformats.org/officeDocument/2006/relationships/tags" Target="../tags/tag91.xml"/><Relationship Id="rId32" Type="http://schemas.openxmlformats.org/officeDocument/2006/relationships/tags" Target="../tags/tag90.xml"/><Relationship Id="rId31" Type="http://schemas.openxmlformats.org/officeDocument/2006/relationships/tags" Target="../tags/tag89.xml"/><Relationship Id="rId30" Type="http://schemas.openxmlformats.org/officeDocument/2006/relationships/tags" Target="../tags/tag88.xml"/><Relationship Id="rId3" Type="http://schemas.openxmlformats.org/officeDocument/2006/relationships/tags" Target="../tags/tag61.xml"/><Relationship Id="rId29" Type="http://schemas.openxmlformats.org/officeDocument/2006/relationships/tags" Target="../tags/tag87.xml"/><Relationship Id="rId28" Type="http://schemas.openxmlformats.org/officeDocument/2006/relationships/tags" Target="../tags/tag86.xml"/><Relationship Id="rId27" Type="http://schemas.openxmlformats.org/officeDocument/2006/relationships/tags" Target="../tags/tag85.xml"/><Relationship Id="rId26" Type="http://schemas.openxmlformats.org/officeDocument/2006/relationships/tags" Target="../tags/tag84.xml"/><Relationship Id="rId25" Type="http://schemas.openxmlformats.org/officeDocument/2006/relationships/tags" Target="../tags/tag83.xml"/><Relationship Id="rId24" Type="http://schemas.openxmlformats.org/officeDocument/2006/relationships/tags" Target="../tags/tag82.xml"/><Relationship Id="rId23" Type="http://schemas.openxmlformats.org/officeDocument/2006/relationships/tags" Target="../tags/tag81.xml"/><Relationship Id="rId22" Type="http://schemas.openxmlformats.org/officeDocument/2006/relationships/tags" Target="../tags/tag80.xml"/><Relationship Id="rId21" Type="http://schemas.openxmlformats.org/officeDocument/2006/relationships/tags" Target="../tags/tag79.xml"/><Relationship Id="rId20" Type="http://schemas.openxmlformats.org/officeDocument/2006/relationships/tags" Target="../tags/tag78.xml"/><Relationship Id="rId2" Type="http://schemas.openxmlformats.org/officeDocument/2006/relationships/tags" Target="../tags/tag60.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59.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8.png"/><Relationship Id="rId7" Type="http://schemas.openxmlformats.org/officeDocument/2006/relationships/image" Target="../media/image97.png"/><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54.png"/><Relationship Id="rId3" Type="http://schemas.openxmlformats.org/officeDocument/2006/relationships/image" Target="../media/image68.png"/><Relationship Id="rId2" Type="http://schemas.openxmlformats.org/officeDocument/2006/relationships/image" Target="../media/image94.svg"/><Relationship Id="rId1" Type="http://schemas.openxmlformats.org/officeDocument/2006/relationships/image" Target="../media/image66.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1.png"/><Relationship Id="rId3" Type="http://schemas.openxmlformats.org/officeDocument/2006/relationships/image" Target="../media/image56.png"/><Relationship Id="rId2" Type="http://schemas.openxmlformats.org/officeDocument/2006/relationships/image" Target="../media/image100.png"/><Relationship Id="rId1" Type="http://schemas.openxmlformats.org/officeDocument/2006/relationships/image" Target="../media/image99.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tags" Target="../tags/tag10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34.xml.rels><?xml version="1.0" encoding="UTF-8" standalone="yes"?>
<Relationships xmlns="http://schemas.openxmlformats.org/package/2006/relationships"><Relationship Id="rId9" Type="http://schemas.openxmlformats.org/officeDocument/2006/relationships/image" Target="../media/image115.png"/><Relationship Id="rId8" Type="http://schemas.openxmlformats.org/officeDocument/2006/relationships/image" Target="../media/image114.png"/><Relationship Id="rId7" Type="http://schemas.openxmlformats.org/officeDocument/2006/relationships/image" Target="../media/image113.png"/><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 Id="rId3" Type="http://schemas.openxmlformats.org/officeDocument/2006/relationships/image" Target="../media/image109.png"/><Relationship Id="rId2" Type="http://schemas.openxmlformats.org/officeDocument/2006/relationships/image" Target="../media/image108.png"/><Relationship Id="rId10" Type="http://schemas.openxmlformats.org/officeDocument/2006/relationships/slideLayout" Target="../slideLayouts/slideLayout2.xml"/><Relationship Id="rId1" Type="http://schemas.openxmlformats.org/officeDocument/2006/relationships/image" Target="../media/image107.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7.png"/><Relationship Id="rId1" Type="http://schemas.openxmlformats.org/officeDocument/2006/relationships/image" Target="../media/image11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9.png"/><Relationship Id="rId1" Type="http://schemas.openxmlformats.org/officeDocument/2006/relationships/image" Target="../media/image118.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tags" Target="../tags/tag110.xml"/></Relationships>
</file>

<file path=ppt/slides/_rels/slide38.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4" Type="http://schemas.openxmlformats.org/officeDocument/2006/relationships/slideLayout" Target="../slideLayouts/slideLayout2.xml"/><Relationship Id="rId33" Type="http://schemas.openxmlformats.org/officeDocument/2006/relationships/tags" Target="../tags/tag143.xml"/><Relationship Id="rId32" Type="http://schemas.openxmlformats.org/officeDocument/2006/relationships/tags" Target="../tags/tag142.xml"/><Relationship Id="rId31" Type="http://schemas.openxmlformats.org/officeDocument/2006/relationships/tags" Target="../tags/tag141.xml"/><Relationship Id="rId30" Type="http://schemas.openxmlformats.org/officeDocument/2006/relationships/tags" Target="../tags/tag140.xml"/><Relationship Id="rId3" Type="http://schemas.openxmlformats.org/officeDocument/2006/relationships/tags" Target="../tags/tag113.xml"/><Relationship Id="rId29" Type="http://schemas.openxmlformats.org/officeDocument/2006/relationships/tags" Target="../tags/tag139.xml"/><Relationship Id="rId28" Type="http://schemas.openxmlformats.org/officeDocument/2006/relationships/tags" Target="../tags/tag138.xml"/><Relationship Id="rId27" Type="http://schemas.openxmlformats.org/officeDocument/2006/relationships/tags" Target="../tags/tag137.xml"/><Relationship Id="rId26" Type="http://schemas.openxmlformats.org/officeDocument/2006/relationships/tags" Target="../tags/tag136.xml"/><Relationship Id="rId25" Type="http://schemas.openxmlformats.org/officeDocument/2006/relationships/tags" Target="../tags/tag135.xml"/><Relationship Id="rId24" Type="http://schemas.openxmlformats.org/officeDocument/2006/relationships/tags" Target="../tags/tag134.xml"/><Relationship Id="rId23" Type="http://schemas.openxmlformats.org/officeDocument/2006/relationships/tags" Target="../tags/tag133.xml"/><Relationship Id="rId22" Type="http://schemas.openxmlformats.org/officeDocument/2006/relationships/tags" Target="../tags/tag132.xml"/><Relationship Id="rId21" Type="http://schemas.openxmlformats.org/officeDocument/2006/relationships/tags" Target="../tags/tag131.xml"/><Relationship Id="rId20" Type="http://schemas.openxmlformats.org/officeDocument/2006/relationships/tags" Target="../tags/tag130.xml"/><Relationship Id="rId2" Type="http://schemas.openxmlformats.org/officeDocument/2006/relationships/tags" Target="../tags/tag112.xml"/><Relationship Id="rId19" Type="http://schemas.openxmlformats.org/officeDocument/2006/relationships/tags" Target="../tags/tag129.xml"/><Relationship Id="rId18" Type="http://schemas.openxmlformats.org/officeDocument/2006/relationships/tags" Target="../tags/tag128.xml"/><Relationship Id="rId17" Type="http://schemas.openxmlformats.org/officeDocument/2006/relationships/tags" Target="../tags/tag127.xml"/><Relationship Id="rId16" Type="http://schemas.openxmlformats.org/officeDocument/2006/relationships/tags" Target="../tags/tag126.xml"/><Relationship Id="rId15" Type="http://schemas.openxmlformats.org/officeDocument/2006/relationships/tags" Target="../tags/tag125.xml"/><Relationship Id="rId14" Type="http://schemas.openxmlformats.org/officeDocument/2006/relationships/tags" Target="../tags/tag124.xml"/><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tags" Target="../tags/tag11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4.xml"/><Relationship Id="rId1" Type="http://schemas.openxmlformats.org/officeDocument/2006/relationships/image" Target="../media/image122.pn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 Id="rId3" Type="http://schemas.openxmlformats.org/officeDocument/2006/relationships/tags" Target="../tags/tag146.xml"/><Relationship Id="rId2" Type="http://schemas.openxmlformats.org/officeDocument/2006/relationships/image" Target="../media/image123.png"/><Relationship Id="rId1" Type="http://schemas.openxmlformats.org/officeDocument/2006/relationships/tags" Target="../tags/tag145.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7.png"/><Relationship Id="rId1" Type="http://schemas.openxmlformats.org/officeDocument/2006/relationships/tags" Target="../tags/tag147.xml"/></Relationships>
</file>

<file path=ppt/slides/_rels/slide42.xml.rels><?xml version="1.0" encoding="UTF-8" standalone="yes"?>
<Relationships xmlns="http://schemas.openxmlformats.org/package/2006/relationships"><Relationship Id="rId9" Type="http://schemas.openxmlformats.org/officeDocument/2006/relationships/image" Target="../media/image136.png"/><Relationship Id="rId8" Type="http://schemas.openxmlformats.org/officeDocument/2006/relationships/image" Target="../media/image135.png"/><Relationship Id="rId7" Type="http://schemas.openxmlformats.org/officeDocument/2006/relationships/image" Target="../media/image134.png"/><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image" Target="../media/image129.png"/><Relationship Id="rId10" Type="http://schemas.openxmlformats.org/officeDocument/2006/relationships/slideLayout" Target="../slideLayouts/slideLayout2.xml"/><Relationship Id="rId1" Type="http://schemas.openxmlformats.org/officeDocument/2006/relationships/image" Target="../media/image128.pn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0.png"/><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image" Target="../media/image137.png"/></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144.png"/><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image" Target="../media/image141.png"/></Relationships>
</file>

<file path=ppt/slides/_rels/slide45.xml.rels><?xml version="1.0" encoding="UTF-8" standalone="yes"?>
<Relationships xmlns="http://schemas.openxmlformats.org/package/2006/relationships"><Relationship Id="rId9" Type="http://schemas.openxmlformats.org/officeDocument/2006/relationships/image" Target="../media/image154.png"/><Relationship Id="rId8" Type="http://schemas.openxmlformats.org/officeDocument/2006/relationships/image" Target="../media/image153.png"/><Relationship Id="rId7" Type="http://schemas.openxmlformats.org/officeDocument/2006/relationships/image" Target="../media/image152.png"/><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 Id="rId3" Type="http://schemas.openxmlformats.org/officeDocument/2006/relationships/image" Target="../media/image148.png"/><Relationship Id="rId2" Type="http://schemas.openxmlformats.org/officeDocument/2006/relationships/image" Target="../media/image147.png"/><Relationship Id="rId19" Type="http://schemas.openxmlformats.org/officeDocument/2006/relationships/slideLayout" Target="../slideLayouts/slideLayout2.xml"/><Relationship Id="rId18" Type="http://schemas.openxmlformats.org/officeDocument/2006/relationships/image" Target="../media/image163.png"/><Relationship Id="rId17" Type="http://schemas.openxmlformats.org/officeDocument/2006/relationships/image" Target="../media/image162.png"/><Relationship Id="rId16" Type="http://schemas.openxmlformats.org/officeDocument/2006/relationships/image" Target="../media/image161.png"/><Relationship Id="rId15" Type="http://schemas.openxmlformats.org/officeDocument/2006/relationships/image" Target="../media/image160.png"/><Relationship Id="rId14" Type="http://schemas.openxmlformats.org/officeDocument/2006/relationships/image" Target="../media/image159.png"/><Relationship Id="rId13" Type="http://schemas.openxmlformats.org/officeDocument/2006/relationships/image" Target="../media/image158.png"/><Relationship Id="rId12" Type="http://schemas.openxmlformats.org/officeDocument/2006/relationships/image" Target="../media/image157.png"/><Relationship Id="rId11" Type="http://schemas.openxmlformats.org/officeDocument/2006/relationships/image" Target="../media/image156.png"/><Relationship Id="rId10" Type="http://schemas.openxmlformats.org/officeDocument/2006/relationships/image" Target="../media/image155.png"/><Relationship Id="rId1" Type="http://schemas.openxmlformats.org/officeDocument/2006/relationships/image" Target="../media/image146.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5.png"/><Relationship Id="rId1" Type="http://schemas.openxmlformats.org/officeDocument/2006/relationships/image" Target="../media/image16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6.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0.png"/><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image" Target="../media/image167.png"/></Relationships>
</file>

<file path=ppt/slides/_rels/slide49.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4" Type="http://schemas.openxmlformats.org/officeDocument/2006/relationships/slideLayout" Target="../slideLayouts/slideLayout2.xml"/><Relationship Id="rId33" Type="http://schemas.openxmlformats.org/officeDocument/2006/relationships/tags" Target="../tags/tag180.xml"/><Relationship Id="rId32" Type="http://schemas.openxmlformats.org/officeDocument/2006/relationships/tags" Target="../tags/tag179.xml"/><Relationship Id="rId31" Type="http://schemas.openxmlformats.org/officeDocument/2006/relationships/tags" Target="../tags/tag178.xml"/><Relationship Id="rId30" Type="http://schemas.openxmlformats.org/officeDocument/2006/relationships/tags" Target="../tags/tag177.xml"/><Relationship Id="rId3" Type="http://schemas.openxmlformats.org/officeDocument/2006/relationships/tags" Target="../tags/tag150.xml"/><Relationship Id="rId29" Type="http://schemas.openxmlformats.org/officeDocument/2006/relationships/tags" Target="../tags/tag176.xml"/><Relationship Id="rId28" Type="http://schemas.openxmlformats.org/officeDocument/2006/relationships/tags" Target="../tags/tag175.xml"/><Relationship Id="rId27" Type="http://schemas.openxmlformats.org/officeDocument/2006/relationships/tags" Target="../tags/tag174.xml"/><Relationship Id="rId26" Type="http://schemas.openxmlformats.org/officeDocument/2006/relationships/tags" Target="../tags/tag173.xml"/><Relationship Id="rId25" Type="http://schemas.openxmlformats.org/officeDocument/2006/relationships/tags" Target="../tags/tag172.xml"/><Relationship Id="rId24" Type="http://schemas.openxmlformats.org/officeDocument/2006/relationships/tags" Target="../tags/tag171.xml"/><Relationship Id="rId23" Type="http://schemas.openxmlformats.org/officeDocument/2006/relationships/tags" Target="../tags/tag170.xml"/><Relationship Id="rId22" Type="http://schemas.openxmlformats.org/officeDocument/2006/relationships/tags" Target="../tags/tag169.xml"/><Relationship Id="rId21" Type="http://schemas.openxmlformats.org/officeDocument/2006/relationships/tags" Target="../tags/tag168.xml"/><Relationship Id="rId20" Type="http://schemas.openxmlformats.org/officeDocument/2006/relationships/tags" Target="../tags/tag167.xml"/><Relationship Id="rId2" Type="http://schemas.openxmlformats.org/officeDocument/2006/relationships/tags" Target="../tags/tag149.xml"/><Relationship Id="rId19" Type="http://schemas.openxmlformats.org/officeDocument/2006/relationships/tags" Target="../tags/tag166.xml"/><Relationship Id="rId18" Type="http://schemas.openxmlformats.org/officeDocument/2006/relationships/tags" Target="../tags/tag165.xml"/><Relationship Id="rId17" Type="http://schemas.openxmlformats.org/officeDocument/2006/relationships/tags" Target="../tags/tag164.xml"/><Relationship Id="rId16" Type="http://schemas.openxmlformats.org/officeDocument/2006/relationships/tags" Target="../tags/tag163.xml"/><Relationship Id="rId15" Type="http://schemas.openxmlformats.org/officeDocument/2006/relationships/tags" Target="../tags/tag162.xml"/><Relationship Id="rId14" Type="http://schemas.openxmlformats.org/officeDocument/2006/relationships/tags" Target="../tags/tag161.xml"/><Relationship Id="rId13" Type="http://schemas.openxmlformats.org/officeDocument/2006/relationships/tags" Target="../tags/tag160.xml"/><Relationship Id="rId12" Type="http://schemas.openxmlformats.org/officeDocument/2006/relationships/tags" Target="../tags/tag159.xml"/><Relationship Id="rId11" Type="http://schemas.openxmlformats.org/officeDocument/2006/relationships/tags" Target="../tags/tag158.xml"/><Relationship Id="rId10" Type="http://schemas.openxmlformats.org/officeDocument/2006/relationships/tags" Target="../tags/tag157.xml"/><Relationship Id="rId1" Type="http://schemas.openxmlformats.org/officeDocument/2006/relationships/tags" Target="../tags/tag148.xml"/></Relationships>
</file>

<file path=ppt/slides/_rels/slide50.xml.rels><?xml version="1.0" encoding="UTF-8" standalone="yes"?>
<Relationships xmlns="http://schemas.openxmlformats.org/package/2006/relationships"><Relationship Id="rId9" Type="http://schemas.openxmlformats.org/officeDocument/2006/relationships/image" Target="../media/image179.png"/><Relationship Id="rId8" Type="http://schemas.openxmlformats.org/officeDocument/2006/relationships/image" Target="../media/image178.png"/><Relationship Id="rId7" Type="http://schemas.openxmlformats.org/officeDocument/2006/relationships/image" Target="../media/image177.png"/><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 Id="rId3" Type="http://schemas.openxmlformats.org/officeDocument/2006/relationships/image" Target="../media/image173.png"/><Relationship Id="rId21" Type="http://schemas.openxmlformats.org/officeDocument/2006/relationships/slideLayout" Target="../slideLayouts/slideLayout2.xml"/><Relationship Id="rId20" Type="http://schemas.openxmlformats.org/officeDocument/2006/relationships/image" Target="../media/image190.jpeg"/><Relationship Id="rId2" Type="http://schemas.openxmlformats.org/officeDocument/2006/relationships/image" Target="../media/image172.png"/><Relationship Id="rId19" Type="http://schemas.openxmlformats.org/officeDocument/2006/relationships/image" Target="../media/image189.png"/><Relationship Id="rId18" Type="http://schemas.openxmlformats.org/officeDocument/2006/relationships/image" Target="../media/image188.png"/><Relationship Id="rId17" Type="http://schemas.openxmlformats.org/officeDocument/2006/relationships/image" Target="../media/image187.jpeg"/><Relationship Id="rId16" Type="http://schemas.openxmlformats.org/officeDocument/2006/relationships/image" Target="../media/image186.png"/><Relationship Id="rId15" Type="http://schemas.openxmlformats.org/officeDocument/2006/relationships/image" Target="../media/image185.png"/><Relationship Id="rId14" Type="http://schemas.openxmlformats.org/officeDocument/2006/relationships/image" Target="../media/image184.png"/><Relationship Id="rId13" Type="http://schemas.openxmlformats.org/officeDocument/2006/relationships/image" Target="../media/image183.png"/><Relationship Id="rId12" Type="http://schemas.openxmlformats.org/officeDocument/2006/relationships/image" Target="../media/image182.png"/><Relationship Id="rId11" Type="http://schemas.openxmlformats.org/officeDocument/2006/relationships/image" Target="../media/image181.png"/><Relationship Id="rId10" Type="http://schemas.openxmlformats.org/officeDocument/2006/relationships/image" Target="../media/image180.png"/><Relationship Id="rId1" Type="http://schemas.openxmlformats.org/officeDocument/2006/relationships/image" Target="../media/image171.png"/></Relationships>
</file>

<file path=ppt/slides/_rels/slide5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90.jpeg"/><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 Id="rId3" Type="http://schemas.openxmlformats.org/officeDocument/2006/relationships/image" Target="../media/image193.png"/><Relationship Id="rId2" Type="http://schemas.openxmlformats.org/officeDocument/2006/relationships/image" Target="../media/image192.jpeg"/><Relationship Id="rId1" Type="http://schemas.openxmlformats.org/officeDocument/2006/relationships/image" Target="../media/image191.png"/></Relationships>
</file>

<file path=ppt/slides/_rels/slide52.xml.rels><?xml version="1.0" encoding="UTF-8" standalone="yes"?>
<Relationships xmlns="http://schemas.openxmlformats.org/package/2006/relationships"><Relationship Id="rId9" Type="http://schemas.openxmlformats.org/officeDocument/2006/relationships/image" Target="../media/image205.png"/><Relationship Id="rId8" Type="http://schemas.openxmlformats.org/officeDocument/2006/relationships/image" Target="../media/image204.png"/><Relationship Id="rId7" Type="http://schemas.openxmlformats.org/officeDocument/2006/relationships/image" Target="../media/image203.png"/><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 Id="rId3" Type="http://schemas.openxmlformats.org/officeDocument/2006/relationships/image" Target="../media/image199.png"/><Relationship Id="rId2" Type="http://schemas.openxmlformats.org/officeDocument/2006/relationships/image" Target="../media/image198.png"/><Relationship Id="rId17" Type="http://schemas.openxmlformats.org/officeDocument/2006/relationships/slideLayout" Target="../slideLayouts/slideLayout2.xml"/><Relationship Id="rId16" Type="http://schemas.openxmlformats.org/officeDocument/2006/relationships/image" Target="../media/image190.jpeg"/><Relationship Id="rId15" Type="http://schemas.openxmlformats.org/officeDocument/2006/relationships/image" Target="../media/image211.png"/><Relationship Id="rId14" Type="http://schemas.openxmlformats.org/officeDocument/2006/relationships/image" Target="../media/image210.png"/><Relationship Id="rId13" Type="http://schemas.openxmlformats.org/officeDocument/2006/relationships/image" Target="../media/image209.png"/><Relationship Id="rId12" Type="http://schemas.openxmlformats.org/officeDocument/2006/relationships/image" Target="../media/image208.png"/><Relationship Id="rId11" Type="http://schemas.openxmlformats.org/officeDocument/2006/relationships/image" Target="../media/image207.png"/><Relationship Id="rId10" Type="http://schemas.openxmlformats.org/officeDocument/2006/relationships/image" Target="../media/image206.png"/><Relationship Id="rId1" Type="http://schemas.openxmlformats.org/officeDocument/2006/relationships/image" Target="../media/image197.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0.jpeg"/><Relationship Id="rId4" Type="http://schemas.openxmlformats.org/officeDocument/2006/relationships/image" Target="../media/image215.png"/><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image" Target="../media/image212.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1.xml"/><Relationship Id="rId1" Type="http://schemas.openxmlformats.org/officeDocument/2006/relationships/image" Target="../media/image190.jpe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7.png"/><Relationship Id="rId2" Type="http://schemas.openxmlformats.org/officeDocument/2006/relationships/image" Target="../media/image216.png"/><Relationship Id="rId1" Type="http://schemas.openxmlformats.org/officeDocument/2006/relationships/image" Target="../media/image190.jpeg"/></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2.xml"/><Relationship Id="rId3" Type="http://schemas.openxmlformats.org/officeDocument/2006/relationships/image" Target="../media/image219.png"/><Relationship Id="rId2" Type="http://schemas.openxmlformats.org/officeDocument/2006/relationships/image" Target="../media/image190.jpeg"/><Relationship Id="rId1" Type="http://schemas.openxmlformats.org/officeDocument/2006/relationships/image" Target="../media/image218.jpeg"/></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0.jpeg"/><Relationship Id="rId2" Type="http://schemas.openxmlformats.org/officeDocument/2006/relationships/image" Target="../media/image221.png"/><Relationship Id="rId1" Type="http://schemas.openxmlformats.org/officeDocument/2006/relationships/image" Target="../media/image220.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0.jpe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0.jpeg"/><Relationship Id="rId1" Type="http://schemas.openxmlformats.org/officeDocument/2006/relationships/image" Target="../media/image222.png"/></Relationships>
</file>

<file path=ppt/slides/_rels/slide60.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7" Type="http://schemas.openxmlformats.org/officeDocument/2006/relationships/slideLayout" Target="../slideLayouts/slideLayout2.xml"/><Relationship Id="rId26" Type="http://schemas.openxmlformats.org/officeDocument/2006/relationships/tags" Target="../tags/tag208.xml"/><Relationship Id="rId25" Type="http://schemas.openxmlformats.org/officeDocument/2006/relationships/tags" Target="../tags/tag207.xml"/><Relationship Id="rId24" Type="http://schemas.openxmlformats.org/officeDocument/2006/relationships/tags" Target="../tags/tag206.xml"/><Relationship Id="rId23" Type="http://schemas.openxmlformats.org/officeDocument/2006/relationships/tags" Target="../tags/tag205.xml"/><Relationship Id="rId22" Type="http://schemas.openxmlformats.org/officeDocument/2006/relationships/tags" Target="../tags/tag204.xml"/><Relationship Id="rId21" Type="http://schemas.openxmlformats.org/officeDocument/2006/relationships/tags" Target="../tags/tag203.xml"/><Relationship Id="rId20" Type="http://schemas.openxmlformats.org/officeDocument/2006/relationships/tags" Target="../tags/tag202.xml"/><Relationship Id="rId2" Type="http://schemas.openxmlformats.org/officeDocument/2006/relationships/tags" Target="../tags/tag184.xml"/><Relationship Id="rId19" Type="http://schemas.openxmlformats.org/officeDocument/2006/relationships/tags" Target="../tags/tag201.xml"/><Relationship Id="rId18" Type="http://schemas.openxmlformats.org/officeDocument/2006/relationships/tags" Target="../tags/tag200.xml"/><Relationship Id="rId17" Type="http://schemas.openxmlformats.org/officeDocument/2006/relationships/tags" Target="../tags/tag199.xml"/><Relationship Id="rId16" Type="http://schemas.openxmlformats.org/officeDocument/2006/relationships/tags" Target="../tags/tag198.xml"/><Relationship Id="rId15" Type="http://schemas.openxmlformats.org/officeDocument/2006/relationships/tags" Target="../tags/tag197.xml"/><Relationship Id="rId14" Type="http://schemas.openxmlformats.org/officeDocument/2006/relationships/tags" Target="../tags/tag196.xml"/><Relationship Id="rId13" Type="http://schemas.openxmlformats.org/officeDocument/2006/relationships/tags" Target="../tags/tag195.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tags" Target="../tags/tag18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3.png"/><Relationship Id="rId1" Type="http://schemas.openxmlformats.org/officeDocument/2006/relationships/tags" Target="../tags/tag209.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5.png"/><Relationship Id="rId1" Type="http://schemas.openxmlformats.org/officeDocument/2006/relationships/image" Target="../media/image224.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6.png"/></Relationships>
</file>

<file path=ppt/slides/_rels/slide66.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2" Type="http://schemas.openxmlformats.org/officeDocument/2006/relationships/slideLayout" Target="../slideLayouts/slideLayout2.xml"/><Relationship Id="rId11" Type="http://schemas.openxmlformats.org/officeDocument/2006/relationships/tags" Target="../tags/tag219.xml"/><Relationship Id="rId10" Type="http://schemas.openxmlformats.org/officeDocument/2006/relationships/tags" Target="../tags/tag218.xml"/><Relationship Id="rId1" Type="http://schemas.openxmlformats.org/officeDocument/2006/relationships/image" Target="../media/image2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229.png"/><Relationship Id="rId1" Type="http://schemas.openxmlformats.org/officeDocument/2006/relationships/image" Target="../media/image2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PT2"/>
          <p:cNvPicPr>
            <a:picLocks noChangeAspect="1"/>
          </p:cNvPicPr>
          <p:nvPr/>
        </p:nvPicPr>
        <p:blipFill>
          <a:blip r:embed="rId1"/>
          <a:stretch>
            <a:fillRect/>
          </a:stretch>
        </p:blipFill>
        <p:spPr>
          <a:xfrm>
            <a:off x="0" y="3319145"/>
            <a:ext cx="12192000" cy="3526155"/>
          </a:xfrm>
          <a:prstGeom prst="rect">
            <a:avLst/>
          </a:prstGeom>
        </p:spPr>
      </p:pic>
      <p:sp>
        <p:nvSpPr>
          <p:cNvPr id="5" name="矩形 4"/>
          <p:cNvSpPr/>
          <p:nvPr/>
        </p:nvSpPr>
        <p:spPr>
          <a:xfrm>
            <a:off x="73025" y="182245"/>
            <a:ext cx="11926570" cy="128905"/>
          </a:xfrm>
          <a:prstGeom prst="rect">
            <a:avLst/>
          </a:prstGeom>
          <a:solidFill>
            <a:srgbClr val="023A8B"/>
          </a:solidFill>
          <a:ln>
            <a:noFill/>
          </a:ln>
          <a:extLst>
            <a:ext uri="{909E8E84-426E-40DD-AFC4-6F175D3DCCD1}">
              <a14:hiddenFill xmlns:a14="http://schemas.microsoft.com/office/drawing/2010/main">
                <a:solidFill>
                  <a:srgbClr val="305393"/>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242060" y="1675765"/>
            <a:ext cx="9866630" cy="1753235"/>
          </a:xfrm>
          <a:prstGeom prst="rect">
            <a:avLst/>
          </a:prstGeom>
          <a:noFill/>
        </p:spPr>
        <p:txBody>
          <a:bodyPr wrap="square" rtlCol="0">
            <a:spAutoFit/>
          </a:bodyPr>
          <a:p>
            <a:pPr algn="ctr"/>
            <a:r>
              <a:rPr lang="zh-CN" altLang="en-US" sz="5400" b="1">
                <a:latin typeface="微软雅黑" panose="020B0503020204020204" charset="-122"/>
                <a:ea typeface="微软雅黑" panose="020B0503020204020204" charset="-122"/>
              </a:rPr>
              <a:t>大型混塔式风电机组</a:t>
            </a:r>
            <a:r>
              <a:rPr lang="zh-CN" altLang="en-US" sz="5400" b="1">
                <a:solidFill>
                  <a:srgbClr val="C00000"/>
                </a:solidFill>
                <a:latin typeface="微软雅黑" panose="020B0503020204020204" charset="-122"/>
                <a:ea typeface="微软雅黑" panose="020B0503020204020204" charset="-122"/>
              </a:rPr>
              <a:t>耦合非线性</a:t>
            </a:r>
            <a:r>
              <a:rPr lang="zh-CN" altLang="en-US" sz="5400" b="1">
                <a:latin typeface="微软雅黑" panose="020B0503020204020204" charset="-122"/>
                <a:ea typeface="微软雅黑" panose="020B0503020204020204" charset="-122"/>
              </a:rPr>
              <a:t>动力学分析与</a:t>
            </a:r>
            <a:r>
              <a:rPr lang="zh-CN" altLang="en-US" sz="5400" b="1">
                <a:solidFill>
                  <a:srgbClr val="C00000"/>
                </a:solidFill>
                <a:latin typeface="微软雅黑" panose="020B0503020204020204" charset="-122"/>
                <a:ea typeface="微软雅黑" panose="020B0503020204020204" charset="-122"/>
              </a:rPr>
              <a:t>性能评估</a:t>
            </a:r>
            <a:endParaRPr lang="zh-CN" altLang="en-US" sz="5400" b="1">
              <a:solidFill>
                <a:srgbClr val="C00000"/>
              </a:solidFill>
              <a:latin typeface="微软雅黑" panose="020B0503020204020204" charset="-122"/>
              <a:ea typeface="微软雅黑" panose="020B0503020204020204" charset="-122"/>
            </a:endParaRPr>
          </a:p>
        </p:txBody>
      </p:sp>
      <p:sp>
        <p:nvSpPr>
          <p:cNvPr id="7" name="文本框 6"/>
          <p:cNvSpPr txBox="1"/>
          <p:nvPr/>
        </p:nvSpPr>
        <p:spPr>
          <a:xfrm>
            <a:off x="4246880" y="3678555"/>
            <a:ext cx="3151505" cy="521970"/>
          </a:xfrm>
          <a:prstGeom prst="rect">
            <a:avLst/>
          </a:prstGeom>
          <a:noFill/>
        </p:spPr>
        <p:txBody>
          <a:bodyPr wrap="square" rtlCol="0">
            <a:spAutoFit/>
          </a:bodyPr>
          <a:p>
            <a:r>
              <a:rPr lang="zh-CN" altLang="en-US" sz="2800" b="1">
                <a:latin typeface="微软雅黑" panose="020B0503020204020204" charset="-122"/>
                <a:ea typeface="微软雅黑" panose="020B0503020204020204" charset="-122"/>
              </a:rPr>
              <a:t>答</a:t>
            </a:r>
            <a:r>
              <a:rPr lang="en-US" altLang="zh-CN" sz="2800" b="1">
                <a:latin typeface="微软雅黑" panose="020B0503020204020204" charset="-122"/>
                <a:ea typeface="微软雅黑" panose="020B0503020204020204" charset="-122"/>
              </a:rPr>
              <a:t> </a:t>
            </a:r>
            <a:r>
              <a:rPr lang="zh-CN" altLang="en-US" sz="2800" b="1">
                <a:latin typeface="微软雅黑" panose="020B0503020204020204" charset="-122"/>
                <a:ea typeface="微软雅黑" panose="020B0503020204020204" charset="-122"/>
              </a:rPr>
              <a:t>辩</a:t>
            </a:r>
            <a:r>
              <a:rPr lang="en-US" altLang="zh-CN" sz="2800" b="1">
                <a:latin typeface="微软雅黑" panose="020B0503020204020204" charset="-122"/>
                <a:ea typeface="微软雅黑" panose="020B0503020204020204" charset="-122"/>
              </a:rPr>
              <a:t> </a:t>
            </a:r>
            <a:r>
              <a:rPr lang="zh-CN" altLang="en-US" sz="2800" b="1">
                <a:latin typeface="微软雅黑" panose="020B0503020204020204" charset="-122"/>
                <a:ea typeface="微软雅黑" panose="020B0503020204020204" charset="-122"/>
              </a:rPr>
              <a:t>人</a:t>
            </a:r>
            <a:r>
              <a:rPr lang="en-US" altLang="zh-CN" sz="2800" b="1">
                <a:latin typeface="微软雅黑" panose="020B0503020204020204" charset="-122"/>
                <a:ea typeface="微软雅黑" panose="020B0503020204020204" charset="-122"/>
              </a:rPr>
              <a:t>  </a:t>
            </a:r>
            <a:r>
              <a:rPr lang="zh-CN" altLang="en-US" sz="2800" b="1">
                <a:latin typeface="微软雅黑" panose="020B0503020204020204" charset="-122"/>
                <a:ea typeface="微软雅黑" panose="020B0503020204020204" charset="-122"/>
              </a:rPr>
              <a:t>：王丹</a:t>
            </a:r>
            <a:endParaRPr lang="zh-CN" altLang="en-US" sz="2800" b="1">
              <a:latin typeface="微软雅黑" panose="020B0503020204020204" charset="-122"/>
              <a:ea typeface="微软雅黑" panose="020B0503020204020204" charset="-122"/>
            </a:endParaRPr>
          </a:p>
        </p:txBody>
      </p:sp>
      <p:sp>
        <p:nvSpPr>
          <p:cNvPr id="8" name="文本框 7"/>
          <p:cNvSpPr txBox="1"/>
          <p:nvPr/>
        </p:nvSpPr>
        <p:spPr>
          <a:xfrm>
            <a:off x="4246880" y="4200525"/>
            <a:ext cx="5807710" cy="953135"/>
          </a:xfrm>
          <a:prstGeom prst="rect">
            <a:avLst/>
          </a:prstGeom>
          <a:noFill/>
        </p:spPr>
        <p:txBody>
          <a:bodyPr wrap="square" rtlCol="0">
            <a:spAutoFit/>
          </a:bodyPr>
          <a:p>
            <a:r>
              <a:rPr lang="zh-CN" altLang="en-US" sz="2800" b="1">
                <a:latin typeface="微软雅黑" panose="020B0503020204020204" charset="-122"/>
                <a:ea typeface="微软雅黑" panose="020B0503020204020204" charset="-122"/>
                <a:cs typeface="微软雅黑" panose="020B0503020204020204" charset="-122"/>
              </a:rPr>
              <a:t>导</a:t>
            </a:r>
            <a:r>
              <a:rPr lang="en-US" altLang="zh-CN" sz="2800" b="1">
                <a:latin typeface="微软雅黑" panose="020B0503020204020204" charset="-122"/>
                <a:ea typeface="微软雅黑" panose="020B0503020204020204" charset="-122"/>
                <a:cs typeface="微软雅黑" panose="020B0503020204020204" charset="-122"/>
              </a:rPr>
              <a:t>     </a:t>
            </a:r>
            <a:r>
              <a:rPr lang="zh-CN" altLang="en-US" sz="2800" b="1">
                <a:latin typeface="微软雅黑" panose="020B0503020204020204" charset="-122"/>
                <a:ea typeface="微软雅黑" panose="020B0503020204020204" charset="-122"/>
                <a:cs typeface="微软雅黑" panose="020B0503020204020204" charset="-122"/>
              </a:rPr>
              <a:t>师</a:t>
            </a:r>
            <a:r>
              <a:rPr lang="en-US" altLang="zh-CN" sz="2800" b="1">
                <a:latin typeface="微软雅黑" panose="020B0503020204020204" charset="-122"/>
                <a:ea typeface="微软雅黑" panose="020B0503020204020204" charset="-122"/>
                <a:cs typeface="微软雅黑" panose="020B0503020204020204" charset="-122"/>
              </a:rPr>
              <a:t>   :  </a:t>
            </a:r>
            <a:r>
              <a:rPr lang="zh-CN" altLang="en-US" sz="2800" b="1">
                <a:latin typeface="微软雅黑" panose="020B0503020204020204" charset="-122"/>
                <a:ea typeface="微软雅黑" panose="020B0503020204020204" charset="-122"/>
                <a:cs typeface="微软雅黑" panose="020B0503020204020204" charset="-122"/>
              </a:rPr>
              <a:t>徐军</a:t>
            </a:r>
            <a:r>
              <a:rPr lang="en-US" altLang="zh-CN" sz="2800" b="1">
                <a:latin typeface="微软雅黑" panose="020B0503020204020204" charset="-122"/>
                <a:ea typeface="微软雅黑" panose="020B0503020204020204" charset="-122"/>
                <a:cs typeface="微软雅黑" panose="020B0503020204020204" charset="-122"/>
              </a:rPr>
              <a:t> </a:t>
            </a:r>
            <a:r>
              <a:rPr lang="zh-CN" altLang="en-US" sz="2800" b="1">
                <a:latin typeface="微软雅黑" panose="020B0503020204020204" charset="-122"/>
                <a:ea typeface="微软雅黑" panose="020B0503020204020204" charset="-122"/>
                <a:cs typeface="微软雅黑" panose="020B0503020204020204" charset="-122"/>
              </a:rPr>
              <a:t>教授</a:t>
            </a:r>
            <a:endParaRPr lang="zh-CN" altLang="en-US" sz="2800" b="1">
              <a:latin typeface="微软雅黑" panose="020B0503020204020204" charset="-122"/>
              <a:ea typeface="微软雅黑" panose="020B0503020204020204" charset="-122"/>
              <a:cs typeface="微软雅黑" panose="020B0503020204020204" charset="-122"/>
            </a:endParaRPr>
          </a:p>
          <a:p>
            <a:r>
              <a:rPr lang="en-US" altLang="zh-CN" sz="2800" b="1">
                <a:latin typeface="微软雅黑" panose="020B0503020204020204" charset="-122"/>
                <a:ea typeface="微软雅黑" panose="020B0503020204020204" charset="-122"/>
                <a:cs typeface="微软雅黑" panose="020B0503020204020204" charset="-122"/>
              </a:rPr>
              <a:t>                  </a:t>
            </a:r>
            <a:r>
              <a:rPr lang="zh-CN" altLang="en-US" sz="2800" b="1">
                <a:latin typeface="微软雅黑" panose="020B0503020204020204" charset="-122"/>
                <a:ea typeface="微软雅黑" panose="020B0503020204020204" charset="-122"/>
                <a:cs typeface="微软雅黑" panose="020B0503020204020204" charset="-122"/>
              </a:rPr>
              <a:t>夏心红</a:t>
            </a:r>
            <a:r>
              <a:rPr lang="en-US" altLang="zh-CN" sz="2800" b="1">
                <a:latin typeface="微软雅黑" panose="020B0503020204020204" charset="-122"/>
                <a:ea typeface="微软雅黑" panose="020B0503020204020204" charset="-122"/>
                <a:cs typeface="微软雅黑" panose="020B0503020204020204" charset="-122"/>
              </a:rPr>
              <a:t> </a:t>
            </a:r>
            <a:r>
              <a:rPr lang="zh-CN" altLang="en-US" sz="2800" b="1">
                <a:latin typeface="微软雅黑" panose="020B0503020204020204" charset="-122"/>
                <a:ea typeface="微软雅黑" panose="020B0503020204020204" charset="-122"/>
                <a:cs typeface="微软雅黑" panose="020B0503020204020204" charset="-122"/>
              </a:rPr>
              <a:t>正高级工程师</a:t>
            </a:r>
            <a:endParaRPr lang="zh-CN" altLang="en-US" sz="2800" b="1">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4362450" y="5431155"/>
            <a:ext cx="3883025" cy="460375"/>
          </a:xfrm>
          <a:prstGeom prst="rect">
            <a:avLst/>
          </a:prstGeom>
          <a:noFill/>
        </p:spPr>
        <p:txBody>
          <a:bodyPr wrap="square" rtlCol="0">
            <a:spAutoFit/>
          </a:bodyPr>
          <a:p>
            <a:r>
              <a:rPr lang="zh-CN" altLang="en-US" sz="2400" b="1">
                <a:solidFill>
                  <a:srgbClr val="324E72"/>
                </a:solidFill>
              </a:rPr>
              <a:t>湖南大学</a:t>
            </a:r>
            <a:r>
              <a:rPr lang="zh-CN" altLang="en-US" sz="2400" b="1">
                <a:solidFill>
                  <a:srgbClr val="324E72"/>
                </a:solidFill>
              </a:rPr>
              <a:t>土木工程学院</a:t>
            </a:r>
            <a:endParaRPr lang="zh-CN" altLang="en-US" sz="2400" b="1">
              <a:solidFill>
                <a:srgbClr val="324E72"/>
              </a:solidFill>
            </a:endParaRPr>
          </a:p>
        </p:txBody>
      </p:sp>
      <p:sp>
        <p:nvSpPr>
          <p:cNvPr id="10" name="文本框 9"/>
          <p:cNvSpPr txBox="1"/>
          <p:nvPr/>
        </p:nvSpPr>
        <p:spPr>
          <a:xfrm>
            <a:off x="4735195" y="6016625"/>
            <a:ext cx="2798445" cy="460375"/>
          </a:xfrm>
          <a:prstGeom prst="rect">
            <a:avLst/>
          </a:prstGeom>
          <a:noFill/>
        </p:spPr>
        <p:txBody>
          <a:bodyPr wrap="square" rtlCol="0">
            <a:spAutoFit/>
          </a:bodyPr>
          <a:p>
            <a:r>
              <a:rPr lang="en-US" altLang="zh-CN" sz="2400" b="1">
                <a:solidFill>
                  <a:srgbClr val="324E72"/>
                </a:solidFill>
                <a:latin typeface="微软雅黑" panose="020B0503020204020204" charset="-122"/>
                <a:ea typeface="微软雅黑" panose="020B0503020204020204" charset="-122"/>
                <a:cs typeface="微软雅黑" panose="020B0503020204020204" charset="-122"/>
              </a:rPr>
              <a:t>2026</a:t>
            </a:r>
            <a:r>
              <a:rPr lang="zh-CN" altLang="en-US" sz="2400" b="1">
                <a:solidFill>
                  <a:srgbClr val="324E72"/>
                </a:solidFill>
                <a:latin typeface="微软雅黑" panose="020B0503020204020204" charset="-122"/>
                <a:ea typeface="微软雅黑" panose="020B0503020204020204" charset="-122"/>
                <a:cs typeface="微软雅黑" panose="020B0503020204020204" charset="-122"/>
              </a:rPr>
              <a:t>年</a:t>
            </a:r>
            <a:r>
              <a:rPr lang="en-US" altLang="zh-CN" sz="2400" b="1">
                <a:solidFill>
                  <a:srgbClr val="324E72"/>
                </a:solidFill>
                <a:latin typeface="微软雅黑" panose="020B0503020204020204" charset="-122"/>
                <a:ea typeface="微软雅黑" panose="020B0503020204020204" charset="-122"/>
                <a:cs typeface="微软雅黑" panose="020B0503020204020204" charset="-122"/>
              </a:rPr>
              <a:t>5</a:t>
            </a:r>
            <a:r>
              <a:rPr lang="zh-CN" altLang="en-US" sz="2400" b="1">
                <a:solidFill>
                  <a:srgbClr val="324E72"/>
                </a:solidFill>
                <a:latin typeface="微软雅黑" panose="020B0503020204020204" charset="-122"/>
                <a:ea typeface="微软雅黑" panose="020B0503020204020204" charset="-122"/>
                <a:cs typeface="微软雅黑" panose="020B0503020204020204" charset="-122"/>
              </a:rPr>
              <a:t>月</a:t>
            </a:r>
            <a:r>
              <a:rPr lang="en-US" altLang="zh-CN" sz="2400" b="1">
                <a:solidFill>
                  <a:srgbClr val="324E72"/>
                </a:solidFill>
                <a:latin typeface="微软雅黑" panose="020B0503020204020204" charset="-122"/>
                <a:ea typeface="微软雅黑" panose="020B0503020204020204" charset="-122"/>
                <a:cs typeface="微软雅黑" panose="020B0503020204020204" charset="-122"/>
              </a:rPr>
              <a:t>18</a:t>
            </a:r>
            <a:r>
              <a:rPr lang="zh-CN" altLang="en-US" sz="2400" b="1">
                <a:solidFill>
                  <a:srgbClr val="324E72"/>
                </a:solidFill>
                <a:latin typeface="微软雅黑" panose="020B0503020204020204" charset="-122"/>
                <a:ea typeface="微软雅黑" panose="020B0503020204020204" charset="-122"/>
                <a:cs typeface="微软雅黑" panose="020B0503020204020204" charset="-122"/>
              </a:rPr>
              <a:t>日</a:t>
            </a:r>
            <a:endParaRPr lang="zh-CN" altLang="en-US" sz="2400" b="1">
              <a:solidFill>
                <a:srgbClr val="324E72"/>
              </a:solidFill>
              <a:latin typeface="微软雅黑" panose="020B0503020204020204" charset="-122"/>
              <a:ea typeface="微软雅黑" panose="020B0503020204020204" charset="-122"/>
              <a:cs typeface="微软雅黑" panose="020B0503020204020204" charset="-122"/>
            </a:endParaRPr>
          </a:p>
        </p:txBody>
      </p:sp>
      <p:cxnSp>
        <p:nvCxnSpPr>
          <p:cNvPr id="14" name="直接连接符 13"/>
          <p:cNvCxnSpPr/>
          <p:nvPr/>
        </p:nvCxnSpPr>
        <p:spPr>
          <a:xfrm flipV="1">
            <a:off x="5264785" y="791845"/>
            <a:ext cx="1779905" cy="19050"/>
          </a:xfrm>
          <a:prstGeom prst="line">
            <a:avLst/>
          </a:prstGeom>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5010150" y="846455"/>
            <a:ext cx="2588260" cy="398780"/>
          </a:xfrm>
          <a:prstGeom prst="rect">
            <a:avLst/>
          </a:prstGeom>
          <a:noFill/>
        </p:spPr>
        <p:txBody>
          <a:bodyPr wrap="square" rtlCol="0">
            <a:spAutoFit/>
          </a:bodyPr>
          <a:p>
            <a:r>
              <a:rPr lang="zh-CN" altLang="en-US" sz="2000" b="1"/>
              <a:t>博士学位论文答辩</a:t>
            </a:r>
            <a:endParaRPr lang="zh-CN" altLang="en-US" sz="2000" b="1"/>
          </a:p>
        </p:txBody>
      </p:sp>
      <p:sp>
        <p:nvSpPr>
          <p:cNvPr id="21" name="文本框 20"/>
          <p:cNvSpPr txBox="1"/>
          <p:nvPr/>
        </p:nvSpPr>
        <p:spPr>
          <a:xfrm>
            <a:off x="11396345" y="6477000"/>
            <a:ext cx="79565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1/68</a:t>
            </a:r>
            <a:endParaRPr lang="en-US" altLang="zh-CN">
              <a:latin typeface="微软雅黑" panose="020B0503020204020204" charset="-122"/>
              <a:ea typeface="微软雅黑" panose="020B0503020204020204" charset="-122"/>
            </a:endParaRPr>
          </a:p>
        </p:txBody>
      </p:sp>
      <p:sp>
        <p:nvSpPr>
          <p:cNvPr id="3" name="任意多边形 2"/>
          <p:cNvSpPr/>
          <p:nvPr/>
        </p:nvSpPr>
        <p:spPr>
          <a:xfrm>
            <a:off x="4373245" y="310515"/>
            <a:ext cx="3429000" cy="499745"/>
          </a:xfrm>
          <a:custGeom>
            <a:avLst/>
            <a:gdLst>
              <a:gd name="connisteX0" fmla="*/ 0 w 3429000"/>
              <a:gd name="connsiteY0" fmla="*/ 0 h 499745"/>
              <a:gd name="connisteX1" fmla="*/ 52705 w 3429000"/>
              <a:gd name="connsiteY1" fmla="*/ 0 h 499745"/>
              <a:gd name="connisteX2" fmla="*/ 109855 w 3429000"/>
              <a:gd name="connsiteY2" fmla="*/ 13970 h 499745"/>
              <a:gd name="connisteX3" fmla="*/ 170180 w 3429000"/>
              <a:gd name="connsiteY3" fmla="*/ 36195 h 499745"/>
              <a:gd name="connisteX4" fmla="*/ 217805 w 3429000"/>
              <a:gd name="connsiteY4" fmla="*/ 63500 h 499745"/>
              <a:gd name="connisteX5" fmla="*/ 284480 w 3429000"/>
              <a:gd name="connsiteY5" fmla="*/ 104775 h 499745"/>
              <a:gd name="connisteX6" fmla="*/ 311150 w 3429000"/>
              <a:gd name="connsiteY6" fmla="*/ 130175 h 499745"/>
              <a:gd name="connisteX7" fmla="*/ 361950 w 3429000"/>
              <a:gd name="connsiteY7" fmla="*/ 177800 h 499745"/>
              <a:gd name="connisteX8" fmla="*/ 390525 w 3429000"/>
              <a:gd name="connsiteY8" fmla="*/ 217170 h 499745"/>
              <a:gd name="connisteX9" fmla="*/ 440055 w 3429000"/>
              <a:gd name="connsiteY9" fmla="*/ 273050 h 499745"/>
              <a:gd name="connisteX10" fmla="*/ 484505 w 3429000"/>
              <a:gd name="connsiteY10" fmla="*/ 334645 h 499745"/>
              <a:gd name="connisteX11" fmla="*/ 516255 w 3429000"/>
              <a:gd name="connsiteY11" fmla="*/ 368300 h 499745"/>
              <a:gd name="connisteX12" fmla="*/ 522605 w 3429000"/>
              <a:gd name="connsiteY12" fmla="*/ 375920 h 499745"/>
              <a:gd name="connisteX13" fmla="*/ 544830 w 3429000"/>
              <a:gd name="connsiteY13" fmla="*/ 400050 h 499745"/>
              <a:gd name="connisteX14" fmla="*/ 568325 w 3429000"/>
              <a:gd name="connsiteY14" fmla="*/ 415925 h 499745"/>
              <a:gd name="connisteX15" fmla="*/ 592455 w 3429000"/>
              <a:gd name="connsiteY15" fmla="*/ 431800 h 499745"/>
              <a:gd name="connisteX16" fmla="*/ 622300 w 3429000"/>
              <a:gd name="connsiteY16" fmla="*/ 450850 h 499745"/>
              <a:gd name="connisteX17" fmla="*/ 652780 w 3429000"/>
              <a:gd name="connsiteY17" fmla="*/ 463550 h 499745"/>
              <a:gd name="connisteX18" fmla="*/ 695325 w 3429000"/>
              <a:gd name="connsiteY18" fmla="*/ 483870 h 499745"/>
              <a:gd name="connisteX19" fmla="*/ 719455 w 3429000"/>
              <a:gd name="connsiteY19" fmla="*/ 492125 h 499745"/>
              <a:gd name="connisteX20" fmla="*/ 795655 w 3429000"/>
              <a:gd name="connsiteY20" fmla="*/ 499745 h 499745"/>
              <a:gd name="connisteX21" fmla="*/ 2656205 w 3429000"/>
              <a:gd name="connsiteY21" fmla="*/ 495300 h 499745"/>
              <a:gd name="connisteX22" fmla="*/ 2705100 w 3429000"/>
              <a:gd name="connsiteY22" fmla="*/ 495300 h 499745"/>
              <a:gd name="connisteX23" fmla="*/ 2745105 w 3429000"/>
              <a:gd name="connsiteY23" fmla="*/ 487045 h 499745"/>
              <a:gd name="connisteX24" fmla="*/ 2781300 w 3429000"/>
              <a:gd name="connsiteY24" fmla="*/ 474345 h 499745"/>
              <a:gd name="connisteX25" fmla="*/ 2821305 w 3429000"/>
              <a:gd name="connsiteY25" fmla="*/ 452120 h 499745"/>
              <a:gd name="connisteX26" fmla="*/ 2865755 w 3429000"/>
              <a:gd name="connsiteY26" fmla="*/ 426720 h 499745"/>
              <a:gd name="connisteX27" fmla="*/ 2897505 w 3429000"/>
              <a:gd name="connsiteY27" fmla="*/ 404495 h 499745"/>
              <a:gd name="connisteX28" fmla="*/ 2929255 w 3429000"/>
              <a:gd name="connsiteY28" fmla="*/ 377825 h 499745"/>
              <a:gd name="connisteX29" fmla="*/ 2957830 w 3429000"/>
              <a:gd name="connsiteY29" fmla="*/ 342900 h 499745"/>
              <a:gd name="connisteX30" fmla="*/ 2978150 w 3429000"/>
              <a:gd name="connsiteY30" fmla="*/ 327025 h 499745"/>
              <a:gd name="connisteX31" fmla="*/ 3014980 w 3429000"/>
              <a:gd name="connsiteY31" fmla="*/ 269875 h 499745"/>
              <a:gd name="connisteX32" fmla="*/ 3056255 w 3429000"/>
              <a:gd name="connsiteY32" fmla="*/ 220345 h 499745"/>
              <a:gd name="connisteX33" fmla="*/ 3086100 w 3429000"/>
              <a:gd name="connsiteY33" fmla="*/ 184150 h 499745"/>
              <a:gd name="connisteX34" fmla="*/ 3130550 w 3429000"/>
              <a:gd name="connsiteY34" fmla="*/ 142875 h 499745"/>
              <a:gd name="connisteX35" fmla="*/ 3168650 w 3429000"/>
              <a:gd name="connsiteY35" fmla="*/ 104775 h 499745"/>
              <a:gd name="connisteX36" fmla="*/ 3205480 w 3429000"/>
              <a:gd name="connsiteY36" fmla="*/ 77470 h 499745"/>
              <a:gd name="connisteX37" fmla="*/ 3241675 w 3429000"/>
              <a:gd name="connsiteY37" fmla="*/ 60325 h 499745"/>
              <a:gd name="connisteX38" fmla="*/ 3294380 w 3429000"/>
              <a:gd name="connsiteY38" fmla="*/ 33020 h 499745"/>
              <a:gd name="connisteX39" fmla="*/ 3362325 w 3429000"/>
              <a:gd name="connsiteY39" fmla="*/ 10795 h 499745"/>
              <a:gd name="connisteX40" fmla="*/ 3429000 w 3429000"/>
              <a:gd name="connsiteY40" fmla="*/ 1270 h 499745"/>
              <a:gd name="connisteX41" fmla="*/ 0 w 3429000"/>
              <a:gd name="connsiteY41" fmla="*/ 0 h 49974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Lst>
            <a:rect l="l" t="t" r="r" b="b"/>
            <a:pathLst>
              <a:path w="3429000" h="499745">
                <a:moveTo>
                  <a:pt x="0" y="0"/>
                </a:moveTo>
                <a:lnTo>
                  <a:pt x="52705" y="0"/>
                </a:lnTo>
                <a:lnTo>
                  <a:pt x="109855" y="13970"/>
                </a:lnTo>
                <a:lnTo>
                  <a:pt x="170180" y="36195"/>
                </a:lnTo>
                <a:lnTo>
                  <a:pt x="217805" y="63500"/>
                </a:lnTo>
                <a:lnTo>
                  <a:pt x="284480" y="104775"/>
                </a:lnTo>
                <a:lnTo>
                  <a:pt x="311150" y="130175"/>
                </a:lnTo>
                <a:lnTo>
                  <a:pt x="361950" y="177800"/>
                </a:lnTo>
                <a:lnTo>
                  <a:pt x="390525" y="217170"/>
                </a:lnTo>
                <a:lnTo>
                  <a:pt x="440055" y="273050"/>
                </a:lnTo>
                <a:lnTo>
                  <a:pt x="484505" y="334645"/>
                </a:lnTo>
                <a:lnTo>
                  <a:pt x="516255" y="368300"/>
                </a:lnTo>
                <a:lnTo>
                  <a:pt x="522605" y="375920"/>
                </a:lnTo>
                <a:lnTo>
                  <a:pt x="544830" y="400050"/>
                </a:lnTo>
                <a:lnTo>
                  <a:pt x="568325" y="415925"/>
                </a:lnTo>
                <a:lnTo>
                  <a:pt x="592455" y="431800"/>
                </a:lnTo>
                <a:lnTo>
                  <a:pt x="622300" y="450850"/>
                </a:lnTo>
                <a:lnTo>
                  <a:pt x="652780" y="463550"/>
                </a:lnTo>
                <a:lnTo>
                  <a:pt x="695325" y="483870"/>
                </a:lnTo>
                <a:lnTo>
                  <a:pt x="719455" y="492125"/>
                </a:lnTo>
                <a:lnTo>
                  <a:pt x="795655" y="499745"/>
                </a:lnTo>
                <a:lnTo>
                  <a:pt x="2656205" y="495300"/>
                </a:lnTo>
                <a:lnTo>
                  <a:pt x="2705100" y="495300"/>
                </a:lnTo>
                <a:lnTo>
                  <a:pt x="2745105" y="487045"/>
                </a:lnTo>
                <a:lnTo>
                  <a:pt x="2781300" y="474345"/>
                </a:lnTo>
                <a:lnTo>
                  <a:pt x="2821305" y="452120"/>
                </a:lnTo>
                <a:lnTo>
                  <a:pt x="2865755" y="426720"/>
                </a:lnTo>
                <a:lnTo>
                  <a:pt x="2897505" y="404495"/>
                </a:lnTo>
                <a:lnTo>
                  <a:pt x="2929255" y="377825"/>
                </a:lnTo>
                <a:lnTo>
                  <a:pt x="2957830" y="342900"/>
                </a:lnTo>
                <a:lnTo>
                  <a:pt x="2978150" y="327025"/>
                </a:lnTo>
                <a:lnTo>
                  <a:pt x="3014980" y="269875"/>
                </a:lnTo>
                <a:lnTo>
                  <a:pt x="3056255" y="220345"/>
                </a:lnTo>
                <a:lnTo>
                  <a:pt x="3086100" y="184150"/>
                </a:lnTo>
                <a:lnTo>
                  <a:pt x="3130550" y="142875"/>
                </a:lnTo>
                <a:lnTo>
                  <a:pt x="3168650" y="104775"/>
                </a:lnTo>
                <a:lnTo>
                  <a:pt x="3205480" y="77470"/>
                </a:lnTo>
                <a:lnTo>
                  <a:pt x="3241675" y="60325"/>
                </a:lnTo>
                <a:lnTo>
                  <a:pt x="3294380" y="33020"/>
                </a:lnTo>
                <a:lnTo>
                  <a:pt x="3362325" y="10795"/>
                </a:lnTo>
                <a:lnTo>
                  <a:pt x="3429000" y="1270"/>
                </a:lnTo>
                <a:lnTo>
                  <a:pt x="0" y="0"/>
                </a:lnTo>
                <a:close/>
              </a:path>
            </a:pathLst>
          </a:custGeom>
          <a:solidFill>
            <a:srgbClr val="023A8B"/>
          </a:solidFill>
          <a:ln>
            <a:solidFill>
              <a:srgbClr val="023A8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a:picLocks noChangeAspect="1"/>
          </p:cNvPicPr>
          <p:nvPr/>
        </p:nvPicPr>
        <p:blipFill>
          <a:blip r:embed="rId2"/>
          <a:stretch>
            <a:fillRect/>
          </a:stretch>
        </p:blipFill>
        <p:spPr>
          <a:xfrm>
            <a:off x="5264785" y="248920"/>
            <a:ext cx="1724025" cy="5073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199390" y="195580"/>
            <a:ext cx="11812270" cy="10858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nvSpPr>
        <p:spPr>
          <a:xfrm>
            <a:off x="4396740" y="304800"/>
            <a:ext cx="3369945" cy="504825"/>
          </a:xfrm>
          <a:custGeom>
            <a:avLst/>
            <a:gdLst>
              <a:gd name="connisteX0" fmla="*/ 0 w 3369945"/>
              <a:gd name="connsiteY0" fmla="*/ 0 h 504825"/>
              <a:gd name="connisteX1" fmla="*/ 79375 w 3369945"/>
              <a:gd name="connsiteY1" fmla="*/ 13970 h 504825"/>
              <a:gd name="connisteX2" fmla="*/ 133350 w 3369945"/>
              <a:gd name="connsiteY2" fmla="*/ 33020 h 504825"/>
              <a:gd name="connisteX3" fmla="*/ 188595 w 3369945"/>
              <a:gd name="connsiteY3" fmla="*/ 60325 h 504825"/>
              <a:gd name="connisteX4" fmla="*/ 210820 w 3369945"/>
              <a:gd name="connsiteY4" fmla="*/ 69850 h 504825"/>
              <a:gd name="connisteX5" fmla="*/ 228600 w 3369945"/>
              <a:gd name="connsiteY5" fmla="*/ 82550 h 504825"/>
              <a:gd name="connisteX6" fmla="*/ 247650 w 3369945"/>
              <a:gd name="connsiteY6" fmla="*/ 98425 h 504825"/>
              <a:gd name="connisteX7" fmla="*/ 263525 w 3369945"/>
              <a:gd name="connsiteY7" fmla="*/ 112395 h 504825"/>
              <a:gd name="connisteX8" fmla="*/ 285750 w 3369945"/>
              <a:gd name="connsiteY8" fmla="*/ 134620 h 504825"/>
              <a:gd name="connisteX9" fmla="*/ 307975 w 3369945"/>
              <a:gd name="connsiteY9" fmla="*/ 160020 h 504825"/>
              <a:gd name="connisteX10" fmla="*/ 330200 w 3369945"/>
              <a:gd name="connsiteY10" fmla="*/ 188595 h 504825"/>
              <a:gd name="connisteX11" fmla="*/ 371475 w 3369945"/>
              <a:gd name="connsiteY11" fmla="*/ 239395 h 504825"/>
              <a:gd name="connisteX12" fmla="*/ 401320 w 3369945"/>
              <a:gd name="connsiteY12" fmla="*/ 276225 h 504825"/>
              <a:gd name="connisteX13" fmla="*/ 433070 w 3369945"/>
              <a:gd name="connsiteY13" fmla="*/ 317500 h 504825"/>
              <a:gd name="connisteX14" fmla="*/ 463550 w 3369945"/>
              <a:gd name="connsiteY14" fmla="*/ 350520 h 504825"/>
              <a:gd name="connisteX15" fmla="*/ 495300 w 3369945"/>
              <a:gd name="connsiteY15" fmla="*/ 379095 h 504825"/>
              <a:gd name="connisteX16" fmla="*/ 528320 w 3369945"/>
              <a:gd name="connsiteY16" fmla="*/ 407670 h 504825"/>
              <a:gd name="connisteX17" fmla="*/ 552450 w 3369945"/>
              <a:gd name="connsiteY17" fmla="*/ 429895 h 504825"/>
              <a:gd name="connisteX18" fmla="*/ 581025 w 3369945"/>
              <a:gd name="connsiteY18" fmla="*/ 450850 h 504825"/>
              <a:gd name="connisteX19" fmla="*/ 620395 w 3369945"/>
              <a:gd name="connsiteY19" fmla="*/ 471170 h 504825"/>
              <a:gd name="connisteX20" fmla="*/ 666750 w 3369945"/>
              <a:gd name="connsiteY20" fmla="*/ 487045 h 504825"/>
              <a:gd name="connisteX21" fmla="*/ 708025 w 3369945"/>
              <a:gd name="connsiteY21" fmla="*/ 498475 h 504825"/>
              <a:gd name="connisteX22" fmla="*/ 760095 w 3369945"/>
              <a:gd name="connsiteY22" fmla="*/ 504825 h 504825"/>
              <a:gd name="connisteX23" fmla="*/ 2663825 w 3369945"/>
              <a:gd name="connsiteY23" fmla="*/ 502920 h 504825"/>
              <a:gd name="connisteX24" fmla="*/ 2706370 w 3369945"/>
              <a:gd name="connsiteY24" fmla="*/ 496570 h 504825"/>
              <a:gd name="connisteX25" fmla="*/ 2744470 w 3369945"/>
              <a:gd name="connsiteY25" fmla="*/ 483870 h 504825"/>
              <a:gd name="connisteX26" fmla="*/ 2785745 w 3369945"/>
              <a:gd name="connsiteY26" fmla="*/ 464820 h 504825"/>
              <a:gd name="connisteX27" fmla="*/ 2820670 w 3369945"/>
              <a:gd name="connsiteY27" fmla="*/ 448945 h 504825"/>
              <a:gd name="connisteX28" fmla="*/ 2857500 w 3369945"/>
              <a:gd name="connsiteY28" fmla="*/ 423545 h 504825"/>
              <a:gd name="connisteX29" fmla="*/ 2887345 w 3369945"/>
              <a:gd name="connsiteY29" fmla="*/ 403225 h 504825"/>
              <a:gd name="connisteX30" fmla="*/ 2912745 w 3369945"/>
              <a:gd name="connsiteY30" fmla="*/ 381000 h 504825"/>
              <a:gd name="connisteX31" fmla="*/ 2930525 w 3369945"/>
              <a:gd name="connsiteY31" fmla="*/ 361950 h 504825"/>
              <a:gd name="connisteX32" fmla="*/ 2947670 w 3369945"/>
              <a:gd name="connsiteY32" fmla="*/ 337820 h 504825"/>
              <a:gd name="connisteX33" fmla="*/ 2968625 w 3369945"/>
              <a:gd name="connsiteY33" fmla="*/ 307975 h 504825"/>
              <a:gd name="connisteX34" fmla="*/ 2987675 w 3369945"/>
              <a:gd name="connsiteY34" fmla="*/ 280670 h 504825"/>
              <a:gd name="connisteX35" fmla="*/ 3011170 w 3369945"/>
              <a:gd name="connsiteY35" fmla="*/ 252095 h 504825"/>
              <a:gd name="connisteX36" fmla="*/ 3032125 w 3369945"/>
              <a:gd name="connsiteY36" fmla="*/ 226695 h 504825"/>
              <a:gd name="connisteX37" fmla="*/ 3051175 w 3369945"/>
              <a:gd name="connsiteY37" fmla="*/ 198120 h 504825"/>
              <a:gd name="connisteX38" fmla="*/ 3087370 w 3369945"/>
              <a:gd name="connsiteY38" fmla="*/ 161925 h 504825"/>
              <a:gd name="connisteX39" fmla="*/ 3114675 w 3369945"/>
              <a:gd name="connsiteY39" fmla="*/ 136525 h 504825"/>
              <a:gd name="connisteX40" fmla="*/ 3143250 w 3369945"/>
              <a:gd name="connsiteY40" fmla="*/ 112395 h 504825"/>
              <a:gd name="connisteX41" fmla="*/ 3171825 w 3369945"/>
              <a:gd name="connsiteY41" fmla="*/ 88900 h 504825"/>
              <a:gd name="connisteX42" fmla="*/ 3213100 w 3369945"/>
              <a:gd name="connsiteY42" fmla="*/ 63500 h 504825"/>
              <a:gd name="connisteX43" fmla="*/ 3246120 w 3369945"/>
              <a:gd name="connsiteY43" fmla="*/ 45720 h 504825"/>
              <a:gd name="connisteX44" fmla="*/ 3274695 w 3369945"/>
              <a:gd name="connsiteY44" fmla="*/ 31750 h 504825"/>
              <a:gd name="connisteX45" fmla="*/ 3308350 w 3369945"/>
              <a:gd name="connsiteY45" fmla="*/ 22225 h 504825"/>
              <a:gd name="connisteX46" fmla="*/ 3347720 w 3369945"/>
              <a:gd name="connsiteY46" fmla="*/ 10795 h 504825"/>
              <a:gd name="connisteX47" fmla="*/ 3369945 w 3369945"/>
              <a:gd name="connsiteY47" fmla="*/ 7620 h 504825"/>
              <a:gd name="connisteX48" fmla="*/ 0 w 3369945"/>
              <a:gd name="connsiteY48" fmla="*/ 0 h 50482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Lst>
            <a:rect l="l" t="t" r="r" b="b"/>
            <a:pathLst>
              <a:path w="3369945" h="504825">
                <a:moveTo>
                  <a:pt x="0" y="0"/>
                </a:moveTo>
                <a:lnTo>
                  <a:pt x="79375" y="13970"/>
                </a:lnTo>
                <a:lnTo>
                  <a:pt x="133350" y="33020"/>
                </a:lnTo>
                <a:lnTo>
                  <a:pt x="188595" y="60325"/>
                </a:lnTo>
                <a:lnTo>
                  <a:pt x="210820" y="69850"/>
                </a:lnTo>
                <a:lnTo>
                  <a:pt x="228600" y="82550"/>
                </a:lnTo>
                <a:lnTo>
                  <a:pt x="247650" y="98425"/>
                </a:lnTo>
                <a:lnTo>
                  <a:pt x="263525" y="112395"/>
                </a:lnTo>
                <a:lnTo>
                  <a:pt x="285750" y="134620"/>
                </a:lnTo>
                <a:lnTo>
                  <a:pt x="307975" y="160020"/>
                </a:lnTo>
                <a:lnTo>
                  <a:pt x="330200" y="188595"/>
                </a:lnTo>
                <a:lnTo>
                  <a:pt x="371475" y="239395"/>
                </a:lnTo>
                <a:lnTo>
                  <a:pt x="401320" y="276225"/>
                </a:lnTo>
                <a:lnTo>
                  <a:pt x="433070" y="317500"/>
                </a:lnTo>
                <a:lnTo>
                  <a:pt x="463550" y="350520"/>
                </a:lnTo>
                <a:lnTo>
                  <a:pt x="495300" y="379095"/>
                </a:lnTo>
                <a:lnTo>
                  <a:pt x="528320" y="407670"/>
                </a:lnTo>
                <a:lnTo>
                  <a:pt x="552450" y="429895"/>
                </a:lnTo>
                <a:lnTo>
                  <a:pt x="581025" y="450850"/>
                </a:lnTo>
                <a:lnTo>
                  <a:pt x="620395" y="471170"/>
                </a:lnTo>
                <a:lnTo>
                  <a:pt x="666750" y="487045"/>
                </a:lnTo>
                <a:lnTo>
                  <a:pt x="708025" y="498475"/>
                </a:lnTo>
                <a:lnTo>
                  <a:pt x="760095" y="504825"/>
                </a:lnTo>
                <a:lnTo>
                  <a:pt x="2663825" y="502920"/>
                </a:lnTo>
                <a:lnTo>
                  <a:pt x="2706370" y="496570"/>
                </a:lnTo>
                <a:lnTo>
                  <a:pt x="2744470" y="483870"/>
                </a:lnTo>
                <a:lnTo>
                  <a:pt x="2785745" y="464820"/>
                </a:lnTo>
                <a:lnTo>
                  <a:pt x="2820670" y="448945"/>
                </a:lnTo>
                <a:lnTo>
                  <a:pt x="2857500" y="423545"/>
                </a:lnTo>
                <a:lnTo>
                  <a:pt x="2887345" y="403225"/>
                </a:lnTo>
                <a:lnTo>
                  <a:pt x="2912745" y="381000"/>
                </a:lnTo>
                <a:lnTo>
                  <a:pt x="2930525" y="361950"/>
                </a:lnTo>
                <a:lnTo>
                  <a:pt x="2947670" y="337820"/>
                </a:lnTo>
                <a:lnTo>
                  <a:pt x="2968625" y="307975"/>
                </a:lnTo>
                <a:lnTo>
                  <a:pt x="2987675" y="280670"/>
                </a:lnTo>
                <a:lnTo>
                  <a:pt x="3011170" y="252095"/>
                </a:lnTo>
                <a:lnTo>
                  <a:pt x="3032125" y="226695"/>
                </a:lnTo>
                <a:lnTo>
                  <a:pt x="3051175" y="198120"/>
                </a:lnTo>
                <a:lnTo>
                  <a:pt x="3087370" y="161925"/>
                </a:lnTo>
                <a:lnTo>
                  <a:pt x="3114675" y="136525"/>
                </a:lnTo>
                <a:lnTo>
                  <a:pt x="3143250" y="112395"/>
                </a:lnTo>
                <a:lnTo>
                  <a:pt x="3171825" y="88900"/>
                </a:lnTo>
                <a:lnTo>
                  <a:pt x="3213100" y="63500"/>
                </a:lnTo>
                <a:lnTo>
                  <a:pt x="3246120" y="45720"/>
                </a:lnTo>
                <a:lnTo>
                  <a:pt x="3274695" y="31750"/>
                </a:lnTo>
                <a:lnTo>
                  <a:pt x="3308350" y="22225"/>
                </a:lnTo>
                <a:lnTo>
                  <a:pt x="3347720" y="10795"/>
                </a:lnTo>
                <a:lnTo>
                  <a:pt x="3369945" y="7620"/>
                </a:lnTo>
                <a:lnTo>
                  <a:pt x="0" y="0"/>
                </a:lnTo>
                <a:close/>
              </a:path>
            </a:pathLst>
          </a:cu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5222240" y="776605"/>
            <a:ext cx="2030730" cy="245110"/>
          </a:xfrm>
          <a:prstGeom prst="rect">
            <a:avLst/>
          </a:prstGeom>
          <a:noFill/>
        </p:spPr>
        <p:txBody>
          <a:bodyPr wrap="square" rtlCol="0">
            <a:spAutoFit/>
          </a:bodyPr>
          <a:p>
            <a:r>
              <a:rPr lang="en-US" altLang="zh-CN" sz="1000">
                <a:latin typeface="微软雅黑" panose="020B0503020204020204" charset="-122"/>
                <a:ea typeface="微软雅黑" panose="020B0503020204020204" charset="-122"/>
              </a:rPr>
              <a:t>C   O    N   T    E   N   T   S</a:t>
            </a:r>
            <a:endParaRPr lang="en-US" altLang="zh-CN" sz="1000">
              <a:latin typeface="微软雅黑" panose="020B0503020204020204" charset="-122"/>
              <a:ea typeface="微软雅黑" panose="020B0503020204020204" charset="-122"/>
            </a:endParaRPr>
          </a:p>
        </p:txBody>
      </p:sp>
      <p:sp>
        <p:nvSpPr>
          <p:cNvPr id="9" name="椭圆 8"/>
          <p:cNvSpPr/>
          <p:nvPr/>
        </p:nvSpPr>
        <p:spPr>
          <a:xfrm>
            <a:off x="2480945" y="1103630"/>
            <a:ext cx="779145" cy="782320"/>
          </a:xfrm>
          <a:prstGeom prst="ellips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t>一</a:t>
            </a:r>
            <a:endParaRPr lang="zh-CN" altLang="en-US" sz="2800"/>
          </a:p>
        </p:txBody>
      </p:sp>
      <p:sp>
        <p:nvSpPr>
          <p:cNvPr id="10" name="椭圆 9"/>
          <p:cNvSpPr/>
          <p:nvPr/>
        </p:nvSpPr>
        <p:spPr>
          <a:xfrm>
            <a:off x="2480945" y="2021205"/>
            <a:ext cx="779145" cy="782320"/>
          </a:xfrm>
          <a:prstGeom prst="ellips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t>二</a:t>
            </a:r>
            <a:endParaRPr lang="zh-CN" altLang="en-US" sz="2800"/>
          </a:p>
        </p:txBody>
      </p:sp>
      <p:sp>
        <p:nvSpPr>
          <p:cNvPr id="11" name="椭圆 10"/>
          <p:cNvSpPr/>
          <p:nvPr/>
        </p:nvSpPr>
        <p:spPr>
          <a:xfrm>
            <a:off x="2480945" y="2885440"/>
            <a:ext cx="779145" cy="782320"/>
          </a:xfrm>
          <a:prstGeom prst="ellips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t>三</a:t>
            </a:r>
            <a:endParaRPr lang="zh-CN" altLang="en-US" sz="2800"/>
          </a:p>
        </p:txBody>
      </p:sp>
      <p:sp>
        <p:nvSpPr>
          <p:cNvPr id="12" name="椭圆 11"/>
          <p:cNvSpPr/>
          <p:nvPr/>
        </p:nvSpPr>
        <p:spPr>
          <a:xfrm>
            <a:off x="2480945" y="3749675"/>
            <a:ext cx="779145" cy="782320"/>
          </a:xfrm>
          <a:prstGeom prst="ellips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t>四</a:t>
            </a:r>
            <a:endParaRPr lang="zh-CN" altLang="en-US" sz="2800"/>
          </a:p>
        </p:txBody>
      </p:sp>
      <p:sp>
        <p:nvSpPr>
          <p:cNvPr id="13" name="椭圆 12"/>
          <p:cNvSpPr/>
          <p:nvPr/>
        </p:nvSpPr>
        <p:spPr>
          <a:xfrm>
            <a:off x="2480945" y="4613910"/>
            <a:ext cx="779145" cy="782320"/>
          </a:xfrm>
          <a:prstGeom prst="ellips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t>五</a:t>
            </a:r>
            <a:endParaRPr lang="zh-CN" altLang="en-US" sz="2800"/>
          </a:p>
        </p:txBody>
      </p:sp>
      <p:sp>
        <p:nvSpPr>
          <p:cNvPr id="14" name="椭圆 13"/>
          <p:cNvSpPr/>
          <p:nvPr/>
        </p:nvSpPr>
        <p:spPr>
          <a:xfrm>
            <a:off x="2480945" y="5478145"/>
            <a:ext cx="779145" cy="782320"/>
          </a:xfrm>
          <a:prstGeom prst="ellips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a:t>六</a:t>
            </a:r>
            <a:endParaRPr lang="zh-CN" altLang="en-US" sz="2800"/>
          </a:p>
        </p:txBody>
      </p:sp>
      <p:sp>
        <p:nvSpPr>
          <p:cNvPr id="16" name="新月形 15"/>
          <p:cNvSpPr/>
          <p:nvPr/>
        </p:nvSpPr>
        <p:spPr>
          <a:xfrm rot="10800000">
            <a:off x="3260090" y="2152650"/>
            <a:ext cx="141605" cy="471805"/>
          </a:xfrm>
          <a:prstGeom prst="moon">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3362325" y="2152015"/>
            <a:ext cx="6456045" cy="472440"/>
          </a:xfrm>
          <a:prstGeom prst="rect">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直角三角形 17"/>
          <p:cNvSpPr/>
          <p:nvPr/>
        </p:nvSpPr>
        <p:spPr>
          <a:xfrm rot="10800000">
            <a:off x="3260090" y="215201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直角三角形 18"/>
          <p:cNvSpPr/>
          <p:nvPr/>
        </p:nvSpPr>
        <p:spPr>
          <a:xfrm flipH="1">
            <a:off x="3286125" y="251142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新月形 19"/>
          <p:cNvSpPr/>
          <p:nvPr/>
        </p:nvSpPr>
        <p:spPr>
          <a:xfrm rot="10800000">
            <a:off x="3260090" y="1304290"/>
            <a:ext cx="141605" cy="471805"/>
          </a:xfrm>
          <a:prstGeom prst="moon">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矩形 20"/>
          <p:cNvSpPr/>
          <p:nvPr/>
        </p:nvSpPr>
        <p:spPr>
          <a:xfrm>
            <a:off x="3362325" y="1303655"/>
            <a:ext cx="6456045" cy="472440"/>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直角三角形 21"/>
          <p:cNvSpPr/>
          <p:nvPr/>
        </p:nvSpPr>
        <p:spPr>
          <a:xfrm rot="10800000">
            <a:off x="3260090" y="1303655"/>
            <a:ext cx="190500" cy="110490"/>
          </a:xfrm>
          <a:prstGeom prst="rtTriangl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直角三角形 22"/>
          <p:cNvSpPr/>
          <p:nvPr/>
        </p:nvSpPr>
        <p:spPr>
          <a:xfrm flipH="1">
            <a:off x="3286125" y="1663065"/>
            <a:ext cx="190500" cy="110490"/>
          </a:xfrm>
          <a:prstGeom prst="rtTriangle">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新月形 23"/>
          <p:cNvSpPr/>
          <p:nvPr/>
        </p:nvSpPr>
        <p:spPr>
          <a:xfrm rot="10800000">
            <a:off x="3260090" y="3028950"/>
            <a:ext cx="141605" cy="471805"/>
          </a:xfrm>
          <a:prstGeom prst="moon">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3362325" y="3028315"/>
            <a:ext cx="6456045" cy="472440"/>
          </a:xfrm>
          <a:prstGeom prst="rect">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100">
                <a:solidFill>
                  <a:srgbClr val="7F807E"/>
                </a:solidFill>
                <a:sym typeface="+mn-ea"/>
              </a:rPr>
              <a:t>动力响应性能与疲劳寿命</a:t>
            </a:r>
            <a:r>
              <a:rPr lang="zh-CN" altLang="en-US" sz="3100">
                <a:solidFill>
                  <a:srgbClr val="7F807E"/>
                </a:solidFill>
                <a:sym typeface="+mn-ea"/>
              </a:rPr>
              <a:t>评估</a:t>
            </a:r>
            <a:endParaRPr lang="zh-CN" altLang="en-US" sz="3100"/>
          </a:p>
        </p:txBody>
      </p:sp>
      <p:sp>
        <p:nvSpPr>
          <p:cNvPr id="26" name="直角三角形 25"/>
          <p:cNvSpPr/>
          <p:nvPr/>
        </p:nvSpPr>
        <p:spPr>
          <a:xfrm rot="10800000">
            <a:off x="3260090" y="302831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直角三角形 26"/>
          <p:cNvSpPr/>
          <p:nvPr/>
        </p:nvSpPr>
        <p:spPr>
          <a:xfrm flipH="1">
            <a:off x="3286125" y="338772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新月形 27"/>
          <p:cNvSpPr/>
          <p:nvPr/>
        </p:nvSpPr>
        <p:spPr>
          <a:xfrm rot="10800000">
            <a:off x="3260090" y="3905250"/>
            <a:ext cx="141605" cy="471805"/>
          </a:xfrm>
          <a:prstGeom prst="moon">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矩形 28"/>
          <p:cNvSpPr/>
          <p:nvPr/>
        </p:nvSpPr>
        <p:spPr>
          <a:xfrm>
            <a:off x="3362325" y="3904615"/>
            <a:ext cx="6456045" cy="472440"/>
          </a:xfrm>
          <a:prstGeom prst="rect">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100">
                <a:solidFill>
                  <a:srgbClr val="7F807E"/>
                </a:solidFill>
              </a:rPr>
              <a:t>极端工况下动力可靠度评估</a:t>
            </a:r>
            <a:endParaRPr lang="zh-CN" altLang="en-US" sz="3100">
              <a:solidFill>
                <a:srgbClr val="7F807E"/>
              </a:solidFill>
            </a:endParaRPr>
          </a:p>
        </p:txBody>
      </p:sp>
      <p:sp>
        <p:nvSpPr>
          <p:cNvPr id="30" name="直角三角形 29"/>
          <p:cNvSpPr/>
          <p:nvPr/>
        </p:nvSpPr>
        <p:spPr>
          <a:xfrm rot="10800000">
            <a:off x="3260090" y="390461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直角三角形 30"/>
          <p:cNvSpPr/>
          <p:nvPr/>
        </p:nvSpPr>
        <p:spPr>
          <a:xfrm flipH="1">
            <a:off x="3286125" y="426402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新月形 31"/>
          <p:cNvSpPr/>
          <p:nvPr/>
        </p:nvSpPr>
        <p:spPr>
          <a:xfrm rot="10800000">
            <a:off x="3260090" y="4784090"/>
            <a:ext cx="141605" cy="471805"/>
          </a:xfrm>
          <a:prstGeom prst="moon">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矩形 32"/>
          <p:cNvSpPr/>
          <p:nvPr/>
        </p:nvSpPr>
        <p:spPr>
          <a:xfrm>
            <a:off x="3362325" y="4783455"/>
            <a:ext cx="6456045" cy="472440"/>
          </a:xfrm>
          <a:prstGeom prst="rect">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100">
                <a:solidFill>
                  <a:srgbClr val="7F807E"/>
                </a:solidFill>
              </a:rPr>
              <a:t>动力响应性能提升</a:t>
            </a:r>
            <a:endParaRPr lang="zh-CN" altLang="en-US" sz="3100">
              <a:solidFill>
                <a:srgbClr val="7F807E"/>
              </a:solidFill>
            </a:endParaRPr>
          </a:p>
        </p:txBody>
      </p:sp>
      <p:sp>
        <p:nvSpPr>
          <p:cNvPr id="34" name="直角三角形 33"/>
          <p:cNvSpPr/>
          <p:nvPr/>
        </p:nvSpPr>
        <p:spPr>
          <a:xfrm rot="10800000">
            <a:off x="3260090" y="478345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直角三角形 34"/>
          <p:cNvSpPr/>
          <p:nvPr/>
        </p:nvSpPr>
        <p:spPr>
          <a:xfrm flipH="1">
            <a:off x="3286125" y="514286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新月形 35"/>
          <p:cNvSpPr/>
          <p:nvPr/>
        </p:nvSpPr>
        <p:spPr>
          <a:xfrm rot="10800000">
            <a:off x="3260090" y="5657850"/>
            <a:ext cx="141605" cy="471805"/>
          </a:xfrm>
          <a:prstGeom prst="moon">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矩形 36"/>
          <p:cNvSpPr/>
          <p:nvPr/>
        </p:nvSpPr>
        <p:spPr>
          <a:xfrm>
            <a:off x="3362325" y="5657215"/>
            <a:ext cx="6456045" cy="472440"/>
          </a:xfrm>
          <a:prstGeom prst="rect">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100">
                <a:solidFill>
                  <a:srgbClr val="7F807E"/>
                </a:solidFill>
              </a:rPr>
              <a:t>结论与展望</a:t>
            </a:r>
            <a:endParaRPr lang="zh-CN" altLang="en-US" sz="3100">
              <a:solidFill>
                <a:srgbClr val="7F807E"/>
              </a:solidFill>
            </a:endParaRPr>
          </a:p>
        </p:txBody>
      </p:sp>
      <p:sp>
        <p:nvSpPr>
          <p:cNvPr id="38" name="直角三角形 37"/>
          <p:cNvSpPr/>
          <p:nvPr/>
        </p:nvSpPr>
        <p:spPr>
          <a:xfrm rot="10800000">
            <a:off x="3260090" y="565721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直角三角形 38"/>
          <p:cNvSpPr/>
          <p:nvPr/>
        </p:nvSpPr>
        <p:spPr>
          <a:xfrm flipH="1">
            <a:off x="3286125" y="6016625"/>
            <a:ext cx="190500" cy="110490"/>
          </a:xfrm>
          <a:prstGeom prst="rtTriangle">
            <a:avLst/>
          </a:prstGeom>
          <a:solidFill>
            <a:srgbClr val="D6DBD5"/>
          </a:solidFill>
          <a:ln>
            <a:solidFill>
              <a:srgbClr val="D6DBD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文本框 39"/>
          <p:cNvSpPr txBox="1"/>
          <p:nvPr/>
        </p:nvSpPr>
        <p:spPr>
          <a:xfrm>
            <a:off x="4914265" y="1249680"/>
            <a:ext cx="3196590" cy="568325"/>
          </a:xfrm>
          <a:prstGeom prst="rect">
            <a:avLst/>
          </a:prstGeom>
          <a:noFill/>
        </p:spPr>
        <p:txBody>
          <a:bodyPr wrap="square" rtlCol="0">
            <a:spAutoFit/>
          </a:bodyPr>
          <a:p>
            <a:r>
              <a:rPr lang="zh-CN" altLang="en-US" sz="3100" b="1">
                <a:solidFill>
                  <a:schemeClr val="bg1"/>
                </a:solidFill>
              </a:rPr>
              <a:t>研究背景与意义</a:t>
            </a:r>
            <a:endParaRPr lang="zh-CN" altLang="en-US" sz="3100" b="1">
              <a:solidFill>
                <a:schemeClr val="bg1"/>
              </a:solidFill>
            </a:endParaRPr>
          </a:p>
        </p:txBody>
      </p:sp>
      <p:sp>
        <p:nvSpPr>
          <p:cNvPr id="41" name="文本框 40"/>
          <p:cNvSpPr txBox="1"/>
          <p:nvPr/>
        </p:nvSpPr>
        <p:spPr>
          <a:xfrm>
            <a:off x="3362960" y="2092325"/>
            <a:ext cx="6426835" cy="532130"/>
          </a:xfrm>
          <a:prstGeom prst="rect">
            <a:avLst/>
          </a:prstGeom>
          <a:noFill/>
        </p:spPr>
        <p:txBody>
          <a:bodyPr wrap="square" rtlCol="0">
            <a:noAutofit/>
          </a:bodyPr>
          <a:p>
            <a:pPr algn="ctr"/>
            <a:r>
              <a:rPr lang="zh-CN" altLang="en-US" sz="3100">
                <a:solidFill>
                  <a:srgbClr val="7F807E"/>
                </a:solidFill>
              </a:rPr>
              <a:t>多保真度耦合非线性动力学模型</a:t>
            </a:r>
            <a:endParaRPr lang="zh-CN" altLang="en-US" sz="3100">
              <a:solidFill>
                <a:srgbClr val="7F807E"/>
              </a:solidFill>
            </a:endParaRPr>
          </a:p>
        </p:txBody>
      </p:sp>
      <p:sp>
        <p:nvSpPr>
          <p:cNvPr id="42" name="文本框 41"/>
          <p:cNvSpPr txBox="1"/>
          <p:nvPr/>
        </p:nvSpPr>
        <p:spPr>
          <a:xfrm>
            <a:off x="5541010" y="226060"/>
            <a:ext cx="1109980" cy="583565"/>
          </a:xfrm>
          <a:prstGeom prst="rect">
            <a:avLst/>
          </a:prstGeom>
          <a:noFill/>
        </p:spPr>
        <p:txBody>
          <a:bodyPr wrap="square" rtlCol="0">
            <a:spAutoFit/>
          </a:bodyPr>
          <a:p>
            <a:r>
              <a:rPr lang="zh-CN" altLang="en-US" sz="3200" b="1">
                <a:solidFill>
                  <a:schemeClr val="bg1"/>
                </a:solidFill>
              </a:rPr>
              <a:t>目</a:t>
            </a:r>
            <a:r>
              <a:rPr lang="en-US" altLang="zh-CN" sz="3200" b="1">
                <a:solidFill>
                  <a:schemeClr val="bg1"/>
                </a:solidFill>
              </a:rPr>
              <a:t> </a:t>
            </a:r>
            <a:r>
              <a:rPr lang="zh-CN" altLang="en-US" sz="3200" b="1">
                <a:solidFill>
                  <a:schemeClr val="bg1"/>
                </a:solidFill>
              </a:rPr>
              <a:t>录</a:t>
            </a:r>
            <a:endParaRPr lang="zh-CN" altLang="en-US" sz="3200" b="1">
              <a:solidFill>
                <a:schemeClr val="bg1"/>
              </a:solidFill>
            </a:endParaRPr>
          </a:p>
        </p:txBody>
      </p:sp>
      <p:sp>
        <p:nvSpPr>
          <p:cNvPr id="45" name="文本框 44"/>
          <p:cNvSpPr txBox="1"/>
          <p:nvPr/>
        </p:nvSpPr>
        <p:spPr>
          <a:xfrm>
            <a:off x="11463020" y="6489700"/>
            <a:ext cx="728980"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 name="直接连接符 4"/>
          <p:cNvCxnSpPr/>
          <p:nvPr/>
        </p:nvCxnSpPr>
        <p:spPr>
          <a:xfrm>
            <a:off x="1174115" y="1003300"/>
            <a:ext cx="10478135" cy="0"/>
          </a:xfrm>
          <a:prstGeom prst="line">
            <a:avLst/>
          </a:prstGeom>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7" name="椭圆 6"/>
          <p:cNvSpPr/>
          <p:nvPr/>
        </p:nvSpPr>
        <p:spPr>
          <a:xfrm>
            <a:off x="584200" y="443865"/>
            <a:ext cx="551815" cy="559435"/>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100" b="1">
                <a:solidFill>
                  <a:schemeClr val="bg1"/>
                </a:solidFill>
                <a:latin typeface="微软雅黑" panose="020B0503020204020204" charset="-122"/>
                <a:ea typeface="微软雅黑" panose="020B0503020204020204" charset="-122"/>
              </a:rPr>
              <a:t>1</a:t>
            </a:r>
            <a:endParaRPr lang="en-US" altLang="zh-CN" sz="3100" b="1">
              <a:solidFill>
                <a:schemeClr val="bg1"/>
              </a:solidFill>
              <a:latin typeface="微软雅黑" panose="020B0503020204020204" charset="-122"/>
              <a:ea typeface="微软雅黑" panose="020B0503020204020204" charset="-122"/>
            </a:endParaRPr>
          </a:p>
        </p:txBody>
      </p:sp>
      <p:sp>
        <p:nvSpPr>
          <p:cNvPr id="8" name="文本框 7"/>
          <p:cNvSpPr txBox="1"/>
          <p:nvPr/>
        </p:nvSpPr>
        <p:spPr>
          <a:xfrm>
            <a:off x="1149350" y="45085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9" name="矩形 8"/>
          <p:cNvSpPr/>
          <p:nvPr/>
        </p:nvSpPr>
        <p:spPr>
          <a:xfrm>
            <a:off x="812800" y="1346200"/>
            <a:ext cx="158750" cy="152400"/>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812800" y="1797050"/>
            <a:ext cx="158750" cy="152400"/>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162050" y="1200150"/>
            <a:ext cx="8095615" cy="445135"/>
          </a:xfrm>
          <a:prstGeom prst="rect">
            <a:avLst/>
          </a:prstGeom>
          <a:noFill/>
        </p:spPr>
        <p:txBody>
          <a:bodyPr wrap="square" rtlCol="0">
            <a:spAutoFit/>
          </a:bodyPr>
          <a:p>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我国新时代高质量发展面临</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资源紧张</a:t>
            </a:r>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与</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双碳</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目标</a:t>
            </a:r>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强约束</a:t>
            </a:r>
            <a:endParaRPr lang="zh-CN" altLang="en-US" sz="2300" b="1">
              <a:solidFill>
                <a:srgbClr val="305393"/>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1149350" y="1645285"/>
            <a:ext cx="9542780" cy="445135"/>
          </a:xfrm>
          <a:prstGeom prst="rect">
            <a:avLst/>
          </a:prstGeom>
          <a:noFill/>
        </p:spPr>
        <p:txBody>
          <a:bodyPr wrap="square" rtlCol="0">
            <a:spAutoFit/>
          </a:bodyPr>
          <a:p>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减碳节能、降本增效是有效提升我国经济社会发展质量的重要源头措施</a:t>
            </a:r>
            <a:endParaRPr lang="zh-CN" altLang="en-US" sz="2300" b="1">
              <a:solidFill>
                <a:srgbClr val="305393"/>
              </a:solidFill>
              <a:latin typeface="微软雅黑" panose="020B0503020204020204" charset="-122"/>
              <a:ea typeface="微软雅黑" panose="020B0503020204020204" charset="-122"/>
              <a:cs typeface="微软雅黑" panose="020B0503020204020204" charset="-122"/>
            </a:endParaRPr>
          </a:p>
        </p:txBody>
      </p:sp>
      <p:sp>
        <p:nvSpPr>
          <p:cNvPr id="13" name="矩形 12"/>
          <p:cNvSpPr/>
          <p:nvPr/>
        </p:nvSpPr>
        <p:spPr>
          <a:xfrm>
            <a:off x="793750" y="2255520"/>
            <a:ext cx="3562350" cy="3496945"/>
          </a:xfrm>
          <a:prstGeom prst="rect">
            <a:avLst/>
          </a:prstGeom>
          <a:ln>
            <a:solidFill>
              <a:srgbClr val="7F807E"/>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文本框 14"/>
          <p:cNvSpPr txBox="1"/>
          <p:nvPr/>
        </p:nvSpPr>
        <p:spPr>
          <a:xfrm>
            <a:off x="4660900" y="2312670"/>
            <a:ext cx="3238500" cy="368300"/>
          </a:xfrm>
          <a:prstGeom prst="rect">
            <a:avLst/>
          </a:prstGeom>
          <a:noFill/>
        </p:spPr>
        <p:txBody>
          <a:bodyPr wrap="square" rtlCol="0">
            <a:spAutoFit/>
          </a:bodyPr>
          <a:p>
            <a:r>
              <a:rPr lang="zh-CN" altLang="en-US" b="1">
                <a:solidFill>
                  <a:srgbClr val="C00000"/>
                </a:solidFill>
              </a:rPr>
              <a:t>风电</a:t>
            </a:r>
            <a:r>
              <a:rPr lang="zh-CN" altLang="en-US" b="1">
                <a:solidFill>
                  <a:srgbClr val="305393"/>
                </a:solidFill>
              </a:rPr>
              <a:t>占总能源比例</a:t>
            </a:r>
            <a:r>
              <a:rPr lang="en-US" altLang="zh-CN" b="1">
                <a:solidFill>
                  <a:srgbClr val="C00000"/>
                </a:solidFill>
                <a:latin typeface="微软雅黑" panose="020B0503020204020204" charset="-122"/>
                <a:ea typeface="微软雅黑" panose="020B0503020204020204" charset="-122"/>
              </a:rPr>
              <a:t>16.4%</a:t>
            </a:r>
            <a:endParaRPr lang="en-US" altLang="zh-CN" b="1">
              <a:solidFill>
                <a:srgbClr val="C00000"/>
              </a:solidFill>
              <a:latin typeface="微软雅黑" panose="020B0503020204020204" charset="-122"/>
              <a:ea typeface="微软雅黑" panose="020B0503020204020204" charset="-122"/>
            </a:endParaRPr>
          </a:p>
        </p:txBody>
      </p:sp>
      <p:sp>
        <p:nvSpPr>
          <p:cNvPr id="16" name="文本框 15"/>
          <p:cNvSpPr txBox="1"/>
          <p:nvPr/>
        </p:nvSpPr>
        <p:spPr>
          <a:xfrm>
            <a:off x="8204200" y="2312670"/>
            <a:ext cx="3409950" cy="368300"/>
          </a:xfrm>
          <a:prstGeom prst="rect">
            <a:avLst/>
          </a:prstGeom>
          <a:noFill/>
        </p:spPr>
        <p:txBody>
          <a:bodyPr wrap="square" rtlCol="0">
            <a:spAutoFit/>
          </a:bodyPr>
          <a:p>
            <a:r>
              <a:rPr lang="zh-CN" altLang="en-US" b="1">
                <a:solidFill>
                  <a:srgbClr val="305393"/>
                </a:solidFill>
                <a:latin typeface="微软雅黑" panose="020B0503020204020204" charset="-122"/>
                <a:ea typeface="微软雅黑" panose="020B0503020204020204" charset="-122"/>
                <a:cs typeface="微软雅黑" panose="020B0503020204020204" charset="-122"/>
              </a:rPr>
              <a:t>碳排放强度</a:t>
            </a:r>
            <a:r>
              <a:rPr lang="zh-CN" altLang="en-US" b="1">
                <a:solidFill>
                  <a:srgbClr val="C00000"/>
                </a:solidFill>
                <a:latin typeface="微软雅黑" panose="020B0503020204020204" charset="-122"/>
                <a:ea typeface="微软雅黑" panose="020B0503020204020204" charset="-122"/>
                <a:cs typeface="微软雅黑" panose="020B0503020204020204" charset="-122"/>
              </a:rPr>
              <a:t>为煤电的</a:t>
            </a:r>
            <a:r>
              <a:rPr lang="en-US" altLang="zh-CN" b="1">
                <a:solidFill>
                  <a:srgbClr val="C00000"/>
                </a:solidFill>
                <a:latin typeface="微软雅黑" panose="020B0503020204020204" charset="-122"/>
                <a:ea typeface="微软雅黑" panose="020B0503020204020204" charset="-122"/>
                <a:cs typeface="微软雅黑" panose="020B0503020204020204" charset="-122"/>
              </a:rPr>
              <a:t>1%</a:t>
            </a:r>
            <a:r>
              <a:rPr lang="zh-CN" altLang="en-US" b="1">
                <a:solidFill>
                  <a:srgbClr val="305393"/>
                </a:solidFill>
                <a:latin typeface="微软雅黑" panose="020B0503020204020204" charset="-122"/>
                <a:ea typeface="微软雅黑" panose="020B0503020204020204" charset="-122"/>
                <a:cs typeface="微软雅黑" panose="020B0503020204020204" charset="-122"/>
              </a:rPr>
              <a:t>左右</a:t>
            </a:r>
            <a:endParaRPr lang="zh-CN" altLang="en-US" b="1">
              <a:solidFill>
                <a:srgbClr val="305393"/>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1978025" y="5956300"/>
            <a:ext cx="8604250" cy="460375"/>
          </a:xfrm>
          <a:prstGeom prst="rect">
            <a:avLst/>
          </a:prstGeom>
          <a:noFill/>
        </p:spPr>
        <p:txBody>
          <a:bodyPr wrap="square" rtlCol="0">
            <a:spAutoFit/>
          </a:bodyPr>
          <a:p>
            <a:r>
              <a:rPr lang="zh-CN" altLang="en-US" sz="2400" b="1">
                <a:solidFill>
                  <a:srgbClr val="970611"/>
                </a:solidFill>
                <a:latin typeface="微软雅黑" panose="020B0503020204020204" charset="-122"/>
                <a:ea typeface="微软雅黑" panose="020B0503020204020204" charset="-122"/>
              </a:rPr>
              <a:t>发展以风电为代表的可再生能源是不可避免的战略选择</a:t>
            </a:r>
            <a:endParaRPr lang="zh-CN" altLang="en-US" sz="2400" b="1">
              <a:solidFill>
                <a:srgbClr val="970611"/>
              </a:solidFill>
              <a:latin typeface="微软雅黑" panose="020B0503020204020204" charset="-122"/>
              <a:ea typeface="微软雅黑" panose="020B0503020204020204" charset="-122"/>
            </a:endParaRPr>
          </a:p>
        </p:txBody>
      </p:sp>
      <p:sp>
        <p:nvSpPr>
          <p:cNvPr id="18" name="矩形 17"/>
          <p:cNvSpPr/>
          <p:nvPr/>
        </p:nvSpPr>
        <p:spPr>
          <a:xfrm>
            <a:off x="4446905" y="2260600"/>
            <a:ext cx="3448050" cy="3511550"/>
          </a:xfrm>
          <a:prstGeom prst="rect">
            <a:avLst/>
          </a:prstGeom>
          <a:ln>
            <a:solidFill>
              <a:srgbClr val="7F807E"/>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矩形 18"/>
          <p:cNvSpPr/>
          <p:nvPr/>
        </p:nvSpPr>
        <p:spPr>
          <a:xfrm>
            <a:off x="7977505" y="2254250"/>
            <a:ext cx="3517900" cy="3517900"/>
          </a:xfrm>
          <a:prstGeom prst="rect">
            <a:avLst/>
          </a:prstGeom>
          <a:ln>
            <a:solidFill>
              <a:srgbClr val="7F807E"/>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文本框 19"/>
          <p:cNvSpPr txBox="1"/>
          <p:nvPr/>
        </p:nvSpPr>
        <p:spPr>
          <a:xfrm>
            <a:off x="793750" y="5118100"/>
            <a:ext cx="3756660" cy="383540"/>
          </a:xfrm>
          <a:prstGeom prst="rect">
            <a:avLst/>
          </a:prstGeom>
          <a:noFill/>
        </p:spPr>
        <p:txBody>
          <a:bodyPr wrap="square" rtlCol="0">
            <a:spAutoFit/>
          </a:bodyPr>
          <a:p>
            <a:r>
              <a:rPr lang="zh-CN" altLang="en-US" sz="1900" b="1">
                <a:solidFill>
                  <a:srgbClr val="324E72"/>
                </a:solidFill>
              </a:rPr>
              <a:t>中国温室气体排放领域主要构成</a:t>
            </a:r>
            <a:endParaRPr lang="zh-CN" altLang="en-US" sz="1900" b="1">
              <a:solidFill>
                <a:srgbClr val="324E72"/>
              </a:solidFill>
            </a:endParaRPr>
          </a:p>
        </p:txBody>
      </p:sp>
      <p:sp>
        <p:nvSpPr>
          <p:cNvPr id="21" name="文本框 20"/>
          <p:cNvSpPr txBox="1"/>
          <p:nvPr/>
        </p:nvSpPr>
        <p:spPr>
          <a:xfrm>
            <a:off x="1330325" y="5445760"/>
            <a:ext cx="3021965" cy="306705"/>
          </a:xfrm>
          <a:prstGeom prst="rect">
            <a:avLst/>
          </a:prstGeom>
          <a:noFill/>
        </p:spPr>
        <p:txBody>
          <a:bodyPr wrap="square" rtlCol="0">
            <a:spAutoFit/>
          </a:bodyPr>
          <a:p>
            <a:r>
              <a:rPr lang="zh-CN" altLang="en-US" sz="1400">
                <a:solidFill>
                  <a:srgbClr val="324E72"/>
                </a:solidFill>
              </a:rPr>
              <a:t>（数据来源：国家统计局）</a:t>
            </a:r>
            <a:endParaRPr lang="zh-CN" altLang="en-US" sz="1400">
              <a:solidFill>
                <a:srgbClr val="324E72"/>
              </a:solidFill>
            </a:endParaRPr>
          </a:p>
        </p:txBody>
      </p:sp>
      <p:sp>
        <p:nvSpPr>
          <p:cNvPr id="22" name="文本框 21"/>
          <p:cNvSpPr txBox="1"/>
          <p:nvPr/>
        </p:nvSpPr>
        <p:spPr>
          <a:xfrm>
            <a:off x="4683125" y="5087620"/>
            <a:ext cx="3162300" cy="398780"/>
          </a:xfrm>
          <a:prstGeom prst="rect">
            <a:avLst/>
          </a:prstGeom>
          <a:noFill/>
        </p:spPr>
        <p:txBody>
          <a:bodyPr wrap="square" rtlCol="0">
            <a:spAutoFit/>
          </a:bodyPr>
          <a:p>
            <a:r>
              <a:rPr lang="zh-CN" altLang="en-US" sz="2000" b="1">
                <a:solidFill>
                  <a:srgbClr val="324E72"/>
                </a:solidFill>
              </a:rPr>
              <a:t>全国发电总装机容量占比</a:t>
            </a:r>
            <a:endParaRPr lang="zh-CN" altLang="en-US" sz="2000" b="1">
              <a:solidFill>
                <a:srgbClr val="324E72"/>
              </a:solidFill>
            </a:endParaRPr>
          </a:p>
        </p:txBody>
      </p:sp>
      <p:sp>
        <p:nvSpPr>
          <p:cNvPr id="23" name="文本框 22"/>
          <p:cNvSpPr txBox="1"/>
          <p:nvPr/>
        </p:nvSpPr>
        <p:spPr>
          <a:xfrm>
            <a:off x="4352290" y="5445760"/>
            <a:ext cx="3538220" cy="306705"/>
          </a:xfrm>
          <a:prstGeom prst="rect">
            <a:avLst/>
          </a:prstGeom>
          <a:noFill/>
        </p:spPr>
        <p:txBody>
          <a:bodyPr wrap="square" rtlCol="0">
            <a:spAutoFit/>
          </a:bodyPr>
          <a:p>
            <a:r>
              <a:rPr lang="zh-CN" altLang="en-US" sz="1400">
                <a:solidFill>
                  <a:srgbClr val="324E72"/>
                </a:solidFill>
                <a:latin typeface="微软雅黑" panose="020B0503020204020204" charset="-122"/>
                <a:ea typeface="微软雅黑" panose="020B0503020204020204" charset="-122"/>
                <a:cs typeface="微软雅黑" panose="020B0503020204020204" charset="-122"/>
              </a:rPr>
              <a:t>（数据来源：国家能源局</a:t>
            </a:r>
            <a:r>
              <a:rPr lang="en-US" altLang="zh-CN" sz="1400">
                <a:solidFill>
                  <a:srgbClr val="324E72"/>
                </a:solidFill>
                <a:latin typeface="微软雅黑" panose="020B0503020204020204" charset="-122"/>
                <a:ea typeface="微软雅黑" panose="020B0503020204020204" charset="-122"/>
                <a:cs typeface="微软雅黑" panose="020B0503020204020204" charset="-122"/>
              </a:rPr>
              <a:t>,</a:t>
            </a:r>
            <a:r>
              <a:rPr lang="zh-CN" altLang="en-US" sz="1400">
                <a:solidFill>
                  <a:srgbClr val="324E72"/>
                </a:solidFill>
                <a:latin typeface="微软雅黑" panose="020B0503020204020204" charset="-122"/>
                <a:ea typeface="微软雅黑" panose="020B0503020204020204" charset="-122"/>
                <a:cs typeface="微软雅黑" panose="020B0503020204020204" charset="-122"/>
              </a:rPr>
              <a:t>截至</a:t>
            </a:r>
            <a:r>
              <a:rPr lang="en-US" altLang="zh-CN" sz="1400">
                <a:solidFill>
                  <a:srgbClr val="324E72"/>
                </a:solidFill>
                <a:latin typeface="微软雅黑" panose="020B0503020204020204" charset="-122"/>
                <a:ea typeface="微软雅黑" panose="020B0503020204020204" charset="-122"/>
                <a:cs typeface="微软雅黑" panose="020B0503020204020204" charset="-122"/>
              </a:rPr>
              <a:t>2025</a:t>
            </a:r>
            <a:r>
              <a:rPr lang="zh-CN" altLang="en-US" sz="1400">
                <a:solidFill>
                  <a:srgbClr val="324E72"/>
                </a:solidFill>
                <a:latin typeface="微软雅黑" panose="020B0503020204020204" charset="-122"/>
                <a:ea typeface="微软雅黑" panose="020B0503020204020204" charset="-122"/>
                <a:cs typeface="微软雅黑" panose="020B0503020204020204" charset="-122"/>
              </a:rPr>
              <a:t>年底）</a:t>
            </a:r>
            <a:endParaRPr lang="zh-CN" altLang="en-US" sz="1400">
              <a:solidFill>
                <a:srgbClr val="324E72"/>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8239125" y="5118100"/>
            <a:ext cx="3181985" cy="368300"/>
          </a:xfrm>
          <a:prstGeom prst="rect">
            <a:avLst/>
          </a:prstGeom>
          <a:noFill/>
        </p:spPr>
        <p:txBody>
          <a:bodyPr wrap="square" rtlCol="0">
            <a:spAutoFit/>
          </a:bodyPr>
          <a:p>
            <a:r>
              <a:rPr lang="zh-CN" altLang="en-US" b="1">
                <a:solidFill>
                  <a:srgbClr val="324E72"/>
                </a:solidFill>
              </a:rPr>
              <a:t>不同能源发电方式碳排放对比</a:t>
            </a:r>
            <a:endParaRPr lang="zh-CN" altLang="en-US" b="1">
              <a:solidFill>
                <a:srgbClr val="324E72"/>
              </a:solidFill>
            </a:endParaRPr>
          </a:p>
        </p:txBody>
      </p:sp>
      <p:sp>
        <p:nvSpPr>
          <p:cNvPr id="25" name="文本框 24"/>
          <p:cNvSpPr txBox="1"/>
          <p:nvPr/>
        </p:nvSpPr>
        <p:spPr>
          <a:xfrm>
            <a:off x="7957820" y="5445760"/>
            <a:ext cx="3658235" cy="306705"/>
          </a:xfrm>
          <a:prstGeom prst="rect">
            <a:avLst/>
          </a:prstGeom>
          <a:noFill/>
        </p:spPr>
        <p:txBody>
          <a:bodyPr wrap="square" rtlCol="0">
            <a:spAutoFit/>
          </a:bodyPr>
          <a:p>
            <a:r>
              <a:rPr lang="zh-CN" altLang="en-US" sz="1400">
                <a:solidFill>
                  <a:srgbClr val="324E72"/>
                </a:solidFill>
              </a:rPr>
              <a:t>（数据来源</a:t>
            </a:r>
            <a:r>
              <a:rPr lang="en-US" altLang="zh-CN" sz="1400">
                <a:solidFill>
                  <a:srgbClr val="324E72"/>
                </a:solidFill>
              </a:rPr>
              <a:t>:</a:t>
            </a:r>
            <a:r>
              <a:rPr lang="zh-CN" altLang="en-US" sz="1400">
                <a:solidFill>
                  <a:srgbClr val="324E72"/>
                </a:solidFill>
              </a:rPr>
              <a:t>国家能源集团科学技术研究院）</a:t>
            </a:r>
            <a:endParaRPr lang="zh-CN" altLang="en-US" sz="1400">
              <a:solidFill>
                <a:srgbClr val="324E72"/>
              </a:solidFill>
            </a:endParaRPr>
          </a:p>
        </p:txBody>
      </p:sp>
      <p:sp>
        <p:nvSpPr>
          <p:cNvPr id="27" name="椭圆 26"/>
          <p:cNvSpPr/>
          <p:nvPr/>
        </p:nvSpPr>
        <p:spPr>
          <a:xfrm>
            <a:off x="411480" y="380365"/>
            <a:ext cx="134620" cy="135890"/>
          </a:xfrm>
          <a:prstGeom prst="ellipse">
            <a:avLst/>
          </a:pr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9" name="图片 28" descr="PPT盘型表"/>
          <p:cNvPicPr>
            <a:picLocks noChangeAspect="1"/>
          </p:cNvPicPr>
          <p:nvPr/>
        </p:nvPicPr>
        <p:blipFill>
          <a:blip r:embed="rId1"/>
          <a:stretch>
            <a:fillRect/>
          </a:stretch>
        </p:blipFill>
        <p:spPr>
          <a:xfrm>
            <a:off x="1066165" y="2941955"/>
            <a:ext cx="2988945" cy="2176145"/>
          </a:xfrm>
          <a:prstGeom prst="rect">
            <a:avLst/>
          </a:prstGeom>
        </p:spPr>
      </p:pic>
      <p:sp>
        <p:nvSpPr>
          <p:cNvPr id="30" name="文本框 29"/>
          <p:cNvSpPr txBox="1"/>
          <p:nvPr/>
        </p:nvSpPr>
        <p:spPr>
          <a:xfrm>
            <a:off x="1978025" y="4042410"/>
            <a:ext cx="1626235" cy="306705"/>
          </a:xfrm>
          <a:prstGeom prst="rect">
            <a:avLst/>
          </a:prstGeom>
          <a:noFill/>
        </p:spPr>
        <p:txBody>
          <a:bodyPr wrap="square" rtlCol="0">
            <a:spAutoFit/>
          </a:bodyPr>
          <a:p>
            <a:r>
              <a:rPr lang="zh-CN" altLang="en-US" sz="1400" b="1">
                <a:solidFill>
                  <a:srgbClr val="FFFF00"/>
                </a:solidFill>
                <a:latin typeface="微软雅黑" panose="020B0503020204020204" charset="-122"/>
                <a:ea typeface="微软雅黑" panose="020B0503020204020204" charset="-122"/>
                <a:cs typeface="微软雅黑" panose="020B0503020204020204" charset="-122"/>
              </a:rPr>
              <a:t>能源活动，</a:t>
            </a:r>
            <a:r>
              <a:rPr lang="en-US" altLang="zh-CN" sz="1400" b="1">
                <a:solidFill>
                  <a:srgbClr val="FFFF00"/>
                </a:solidFill>
                <a:latin typeface="微软雅黑" panose="020B0503020204020204" charset="-122"/>
                <a:ea typeface="微软雅黑" panose="020B0503020204020204" charset="-122"/>
                <a:cs typeface="微软雅黑" panose="020B0503020204020204" charset="-122"/>
              </a:rPr>
              <a:t>77.7%</a:t>
            </a:r>
            <a:endParaRPr lang="en-US" altLang="zh-CN" sz="1400" b="1">
              <a:solidFill>
                <a:srgbClr val="FFFF00"/>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902970" y="2807970"/>
            <a:ext cx="946150" cy="521970"/>
          </a:xfrm>
          <a:prstGeom prst="rect">
            <a:avLst/>
          </a:prstGeom>
          <a:noFill/>
        </p:spPr>
        <p:txBody>
          <a:bodyPr wrap="square" rtlCol="0">
            <a:spAutoFit/>
          </a:bodyPr>
          <a:p>
            <a:pPr algn="ctr"/>
            <a:r>
              <a:rPr lang="zh-CN" altLang="en-US" sz="1400">
                <a:latin typeface="微软雅黑" panose="020B0503020204020204" charset="-122"/>
                <a:ea typeface="微软雅黑" panose="020B0503020204020204" charset="-122"/>
                <a:cs typeface="微软雅黑" panose="020B0503020204020204" charset="-122"/>
              </a:rPr>
              <a:t>工业生产，</a:t>
            </a:r>
            <a:r>
              <a:rPr lang="en-US" altLang="zh-CN" sz="1400">
                <a:latin typeface="微软雅黑" panose="020B0503020204020204" charset="-122"/>
                <a:ea typeface="微软雅黑" panose="020B0503020204020204" charset="-122"/>
                <a:cs typeface="微软雅黑" panose="020B0503020204020204" charset="-122"/>
              </a:rPr>
              <a:t>14%</a:t>
            </a:r>
            <a:endParaRPr lang="zh-CN" altLang="en-US" sz="1400">
              <a:latin typeface="微软雅黑" panose="020B0503020204020204" charset="-122"/>
              <a:ea typeface="微软雅黑" panose="020B0503020204020204" charset="-122"/>
              <a:cs typeface="微软雅黑" panose="020B0503020204020204" charset="-122"/>
            </a:endParaRPr>
          </a:p>
        </p:txBody>
      </p:sp>
      <p:cxnSp>
        <p:nvCxnSpPr>
          <p:cNvPr id="32" name="直接连接符 31"/>
          <p:cNvCxnSpPr/>
          <p:nvPr/>
        </p:nvCxnSpPr>
        <p:spPr>
          <a:xfrm flipV="1">
            <a:off x="2144395" y="2844165"/>
            <a:ext cx="13970" cy="23114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1330325" y="2483485"/>
            <a:ext cx="1492885" cy="302895"/>
          </a:xfrm>
          <a:prstGeom prst="rect">
            <a:avLst/>
          </a:prstGeom>
          <a:noFill/>
        </p:spPr>
        <p:txBody>
          <a:bodyPr wrap="square" rtlCol="0">
            <a:noAutofit/>
          </a:bodyPr>
          <a:p>
            <a:r>
              <a:rPr lang="zh-CN" altLang="en-US" sz="1400">
                <a:latin typeface="微软雅黑" panose="020B0503020204020204" charset="-122"/>
                <a:ea typeface="微软雅黑" panose="020B0503020204020204" charset="-122"/>
                <a:cs typeface="微软雅黑" panose="020B0503020204020204" charset="-122"/>
              </a:rPr>
              <a:t>农业活动，</a:t>
            </a:r>
            <a:r>
              <a:rPr lang="en-US" altLang="zh-CN" sz="1400">
                <a:latin typeface="微软雅黑" panose="020B0503020204020204" charset="-122"/>
                <a:ea typeface="微软雅黑" panose="020B0503020204020204" charset="-122"/>
                <a:cs typeface="微软雅黑" panose="020B0503020204020204" charset="-122"/>
              </a:rPr>
              <a:t>6.7%</a:t>
            </a:r>
            <a:endParaRPr lang="en-US" altLang="zh-CN" sz="1400">
              <a:latin typeface="微软雅黑" panose="020B0503020204020204" charset="-122"/>
              <a:ea typeface="微软雅黑" panose="020B0503020204020204" charset="-122"/>
              <a:cs typeface="微软雅黑" panose="020B0503020204020204" charset="-122"/>
            </a:endParaRPr>
          </a:p>
        </p:txBody>
      </p:sp>
      <p:cxnSp>
        <p:nvCxnSpPr>
          <p:cNvPr id="34" name="直接连接符 33"/>
          <p:cNvCxnSpPr/>
          <p:nvPr/>
        </p:nvCxnSpPr>
        <p:spPr>
          <a:xfrm flipV="1">
            <a:off x="2511425" y="2830830"/>
            <a:ext cx="257810" cy="21717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2769235" y="2823210"/>
            <a:ext cx="298450" cy="635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sp>
        <p:nvSpPr>
          <p:cNvPr id="36" name="文本框 35"/>
          <p:cNvSpPr txBox="1"/>
          <p:nvPr/>
        </p:nvSpPr>
        <p:spPr>
          <a:xfrm>
            <a:off x="2769235" y="2488565"/>
            <a:ext cx="1688465" cy="306705"/>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cs typeface="微软雅黑" panose="020B0503020204020204" charset="-122"/>
              </a:rPr>
              <a:t>废弃物处理，</a:t>
            </a:r>
            <a:r>
              <a:rPr lang="en-US" altLang="zh-CN" sz="1400">
                <a:latin typeface="微软雅黑" panose="020B0503020204020204" charset="-122"/>
                <a:ea typeface="微软雅黑" panose="020B0503020204020204" charset="-122"/>
                <a:cs typeface="微软雅黑" panose="020B0503020204020204" charset="-122"/>
              </a:rPr>
              <a:t>1.6%</a:t>
            </a:r>
            <a:endParaRPr lang="en-US" altLang="zh-CN" sz="1400">
              <a:latin typeface="微软雅黑" panose="020B0503020204020204" charset="-122"/>
              <a:ea typeface="微软雅黑" panose="020B0503020204020204" charset="-122"/>
              <a:cs typeface="微软雅黑" panose="020B0503020204020204" charset="-122"/>
            </a:endParaRPr>
          </a:p>
        </p:txBody>
      </p:sp>
      <p:pic>
        <p:nvPicPr>
          <p:cNvPr id="37" name="图片 36" descr="ChatGPT Image 2026年8月6日 22_20_32"/>
          <p:cNvPicPr>
            <a:picLocks noChangeAspect="1"/>
          </p:cNvPicPr>
          <p:nvPr/>
        </p:nvPicPr>
        <p:blipFill>
          <a:blip r:embed="rId2"/>
          <a:srcRect l="4179" r="3728" b="4087"/>
          <a:stretch>
            <a:fillRect/>
          </a:stretch>
        </p:blipFill>
        <p:spPr>
          <a:xfrm>
            <a:off x="5013960" y="3048000"/>
            <a:ext cx="2831465" cy="1807845"/>
          </a:xfrm>
          <a:prstGeom prst="rect">
            <a:avLst/>
          </a:prstGeom>
        </p:spPr>
      </p:pic>
      <p:sp>
        <p:nvSpPr>
          <p:cNvPr id="38" name="文本框 37"/>
          <p:cNvSpPr txBox="1"/>
          <p:nvPr/>
        </p:nvSpPr>
        <p:spPr>
          <a:xfrm>
            <a:off x="6673215" y="2830830"/>
            <a:ext cx="1370330" cy="306705"/>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cs typeface="微软雅黑" panose="020B0503020204020204" charset="-122"/>
              </a:rPr>
              <a:t>火电，</a:t>
            </a:r>
            <a:r>
              <a:rPr lang="en-US" altLang="zh-CN" sz="1400">
                <a:latin typeface="微软雅黑" panose="020B0503020204020204" charset="-122"/>
                <a:ea typeface="微软雅黑" panose="020B0503020204020204" charset="-122"/>
                <a:cs typeface="微软雅黑" panose="020B0503020204020204" charset="-122"/>
              </a:rPr>
              <a:t>39.6%</a:t>
            </a:r>
            <a:endParaRPr lang="en-US" altLang="zh-CN" sz="1400">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4664075" y="2810510"/>
            <a:ext cx="1724660" cy="306705"/>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cs typeface="微软雅黑" panose="020B0503020204020204" charset="-122"/>
              </a:rPr>
              <a:t>太阳能发电，</a:t>
            </a:r>
            <a:r>
              <a:rPr lang="en-US" altLang="zh-CN" sz="1400">
                <a:latin typeface="微软雅黑" panose="020B0503020204020204" charset="-122"/>
                <a:ea typeface="微软雅黑" panose="020B0503020204020204" charset="-122"/>
                <a:cs typeface="微软雅黑" panose="020B0503020204020204" charset="-122"/>
              </a:rPr>
              <a:t>30%</a:t>
            </a:r>
            <a:endParaRPr lang="en-US" altLang="zh-CN" sz="1400">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4528820" y="3392170"/>
            <a:ext cx="1184910" cy="306705"/>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cs typeface="微软雅黑" panose="020B0503020204020204" charset="-122"/>
              </a:rPr>
              <a:t>核电，</a:t>
            </a:r>
            <a:r>
              <a:rPr lang="en-US" altLang="zh-CN" sz="1400">
                <a:latin typeface="微软雅黑" panose="020B0503020204020204" charset="-122"/>
                <a:ea typeface="微软雅黑" panose="020B0503020204020204" charset="-122"/>
                <a:cs typeface="微软雅黑" panose="020B0503020204020204" charset="-122"/>
              </a:rPr>
              <a:t>1.6%</a:t>
            </a:r>
            <a:endParaRPr lang="en-US" altLang="zh-CN" sz="1400">
              <a:latin typeface="微软雅黑" panose="020B0503020204020204" charset="-122"/>
              <a:ea typeface="微软雅黑" panose="020B0503020204020204" charset="-122"/>
              <a:cs typeface="微软雅黑" panose="020B0503020204020204" charset="-122"/>
            </a:endParaRPr>
          </a:p>
        </p:txBody>
      </p:sp>
      <p:cxnSp>
        <p:nvCxnSpPr>
          <p:cNvPr id="41" name="直接连接符 40"/>
          <p:cNvCxnSpPr/>
          <p:nvPr/>
        </p:nvCxnSpPr>
        <p:spPr>
          <a:xfrm flipH="1" flipV="1">
            <a:off x="4862830" y="3771900"/>
            <a:ext cx="257175" cy="381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a:off x="4795520" y="3663950"/>
            <a:ext cx="71120" cy="10795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4514850" y="4361815"/>
            <a:ext cx="1398270" cy="306705"/>
          </a:xfrm>
          <a:prstGeom prst="rect">
            <a:avLst/>
          </a:prstGeom>
          <a:noFill/>
        </p:spPr>
        <p:txBody>
          <a:bodyPr wrap="square" rtlCol="0">
            <a:spAutoFit/>
          </a:bodyPr>
          <a:p>
            <a:r>
              <a:rPr lang="zh-CN" altLang="en-US" sz="1400">
                <a:solidFill>
                  <a:srgbClr val="C00000"/>
                </a:solidFill>
                <a:latin typeface="微软雅黑" panose="020B0503020204020204" charset="-122"/>
                <a:ea typeface="微软雅黑" panose="020B0503020204020204" charset="-122"/>
                <a:cs typeface="微软雅黑" panose="020B0503020204020204" charset="-122"/>
              </a:rPr>
              <a:t>风电，</a:t>
            </a:r>
            <a:r>
              <a:rPr lang="en-US" altLang="zh-CN" sz="1400">
                <a:solidFill>
                  <a:srgbClr val="C00000"/>
                </a:solidFill>
                <a:latin typeface="微软雅黑" panose="020B0503020204020204" charset="-122"/>
                <a:ea typeface="微软雅黑" panose="020B0503020204020204" charset="-122"/>
                <a:cs typeface="微软雅黑" panose="020B0503020204020204" charset="-122"/>
              </a:rPr>
              <a:t>16.4%</a:t>
            </a:r>
            <a:endParaRPr lang="en-US" altLang="zh-CN" sz="1400">
              <a:solidFill>
                <a:srgbClr val="C00000"/>
              </a:solidFill>
              <a:latin typeface="微软雅黑" panose="020B0503020204020204" charset="-122"/>
              <a:ea typeface="微软雅黑" panose="020B0503020204020204" charset="-122"/>
              <a:cs typeface="微软雅黑" panose="020B0503020204020204" charset="-122"/>
            </a:endParaRPr>
          </a:p>
        </p:txBody>
      </p:sp>
      <p:cxnSp>
        <p:nvCxnSpPr>
          <p:cNvPr id="44" name="直接连接符 43"/>
          <p:cNvCxnSpPr/>
          <p:nvPr/>
        </p:nvCxnSpPr>
        <p:spPr>
          <a:xfrm flipH="1">
            <a:off x="4855210" y="4279900"/>
            <a:ext cx="343535" cy="100965"/>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flipH="1" flipV="1">
            <a:off x="5654675" y="3091815"/>
            <a:ext cx="257175" cy="12700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cxnSp>
        <p:nvCxnSpPr>
          <p:cNvPr id="46" name="直接连接符 45"/>
          <p:cNvCxnSpPr/>
          <p:nvPr/>
        </p:nvCxnSpPr>
        <p:spPr>
          <a:xfrm flipV="1">
            <a:off x="7185660" y="3088005"/>
            <a:ext cx="90170" cy="168275"/>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5598160" y="4855845"/>
            <a:ext cx="1490345" cy="306705"/>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cs typeface="微软雅黑" panose="020B0503020204020204" charset="-122"/>
              </a:rPr>
              <a:t>水电，</a:t>
            </a:r>
            <a:r>
              <a:rPr lang="en-US" altLang="zh-CN" sz="1400">
                <a:latin typeface="微软雅黑" panose="020B0503020204020204" charset="-122"/>
                <a:ea typeface="微软雅黑" panose="020B0503020204020204" charset="-122"/>
                <a:cs typeface="微软雅黑" panose="020B0503020204020204" charset="-122"/>
              </a:rPr>
              <a:t>11.5%</a:t>
            </a:r>
            <a:endParaRPr lang="en-US" altLang="zh-CN" sz="1400">
              <a:latin typeface="微软雅黑" panose="020B0503020204020204" charset="-122"/>
              <a:ea typeface="微软雅黑" panose="020B0503020204020204" charset="-122"/>
              <a:cs typeface="微软雅黑" panose="020B0503020204020204" charset="-122"/>
            </a:endParaRPr>
          </a:p>
        </p:txBody>
      </p:sp>
      <p:cxnSp>
        <p:nvCxnSpPr>
          <p:cNvPr id="48" name="直接连接符 47"/>
          <p:cNvCxnSpPr/>
          <p:nvPr/>
        </p:nvCxnSpPr>
        <p:spPr>
          <a:xfrm>
            <a:off x="6057900" y="4702175"/>
            <a:ext cx="93345" cy="18669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pic>
        <p:nvPicPr>
          <p:cNvPr id="49" name="图片 48" descr="表"/>
          <p:cNvPicPr>
            <a:picLocks noChangeAspect="1"/>
          </p:cNvPicPr>
          <p:nvPr/>
        </p:nvPicPr>
        <p:blipFill>
          <a:blip r:embed="rId3"/>
          <a:srcRect t="5546" b="6713"/>
          <a:stretch>
            <a:fillRect/>
          </a:stretch>
        </p:blipFill>
        <p:spPr>
          <a:xfrm>
            <a:off x="8239125" y="2941955"/>
            <a:ext cx="2938145" cy="1934210"/>
          </a:xfrm>
          <a:prstGeom prst="rect">
            <a:avLst/>
          </a:prstGeom>
        </p:spPr>
      </p:pic>
      <p:sp>
        <p:nvSpPr>
          <p:cNvPr id="50" name="文本框 49"/>
          <p:cNvSpPr txBox="1"/>
          <p:nvPr/>
        </p:nvSpPr>
        <p:spPr>
          <a:xfrm>
            <a:off x="8763635" y="3176905"/>
            <a:ext cx="1351915" cy="521970"/>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cs typeface="微软雅黑" panose="020B0503020204020204" charset="-122"/>
              </a:rPr>
              <a:t>碳排放强度</a:t>
            </a:r>
            <a:r>
              <a:rPr lang="en-US" altLang="zh-CN" sz="1400">
                <a:latin typeface="微软雅黑" panose="020B0503020204020204" charset="-122"/>
                <a:ea typeface="微软雅黑" panose="020B0503020204020204" charset="-122"/>
                <a:cs typeface="微软雅黑" panose="020B0503020204020204" charset="-122"/>
              </a:rPr>
              <a:t>gCO</a:t>
            </a:r>
            <a:r>
              <a:rPr lang="en-US" altLang="zh-CN" sz="1400" baseline="-25000">
                <a:latin typeface="微软雅黑" panose="020B0503020204020204" charset="-122"/>
                <a:ea typeface="微软雅黑" panose="020B0503020204020204" charset="-122"/>
                <a:cs typeface="微软雅黑" panose="020B0503020204020204" charset="-122"/>
              </a:rPr>
              <a:t>2</a:t>
            </a:r>
            <a:r>
              <a:rPr lang="en-US" altLang="zh-CN" sz="1400">
                <a:latin typeface="微软雅黑" panose="020B0503020204020204" charset="-122"/>
                <a:ea typeface="微软雅黑" panose="020B0503020204020204" charset="-122"/>
                <a:cs typeface="微软雅黑" panose="020B0503020204020204" charset="-122"/>
              </a:rPr>
              <a:t>eq/kWh</a:t>
            </a:r>
            <a:endParaRPr lang="en-US" altLang="zh-CN" sz="140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11396345" y="6489700"/>
            <a:ext cx="79565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10" name="矩形 9"/>
          <p:cNvSpPr/>
          <p:nvPr/>
        </p:nvSpPr>
        <p:spPr>
          <a:xfrm>
            <a:off x="882650" y="1162685"/>
            <a:ext cx="173355" cy="161290"/>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矩形 10"/>
          <p:cNvSpPr/>
          <p:nvPr/>
        </p:nvSpPr>
        <p:spPr>
          <a:xfrm>
            <a:off x="882650" y="1612900"/>
            <a:ext cx="173355" cy="161290"/>
          </a:xfrm>
          <a:prstGeom prst="rect">
            <a:avLst/>
          </a:prstGeom>
          <a:solidFill>
            <a:srgbClr val="3053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矩形 11"/>
          <p:cNvSpPr/>
          <p:nvPr/>
        </p:nvSpPr>
        <p:spPr>
          <a:xfrm>
            <a:off x="882650" y="2063115"/>
            <a:ext cx="173355" cy="161290"/>
          </a:xfrm>
          <a:prstGeom prst="rect">
            <a:avLst/>
          </a:prstGeom>
          <a:solidFill>
            <a:srgbClr val="3053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1246505" y="1024255"/>
            <a:ext cx="8866505" cy="445135"/>
          </a:xfrm>
          <a:prstGeom prst="rect">
            <a:avLst/>
          </a:prstGeom>
          <a:noFill/>
        </p:spPr>
        <p:txBody>
          <a:bodyPr wrap="square" rtlCol="0">
            <a:spAutoFit/>
          </a:bodyPr>
          <a:p>
            <a:r>
              <a:rPr lang="zh-CN" altLang="en-US" sz="2300" b="1">
                <a:solidFill>
                  <a:srgbClr val="C00000"/>
                </a:solidFill>
              </a:rPr>
              <a:t>高塔架</a:t>
            </a:r>
            <a:r>
              <a:rPr lang="zh-CN" altLang="en-US" sz="2300" b="1">
                <a:solidFill>
                  <a:srgbClr val="305393"/>
                </a:solidFill>
              </a:rPr>
              <a:t>能够有效提升低风速区域风电机组</a:t>
            </a:r>
            <a:r>
              <a:rPr lang="zh-CN" altLang="en-US" sz="2300" b="1">
                <a:solidFill>
                  <a:srgbClr val="C00000"/>
                </a:solidFill>
              </a:rPr>
              <a:t>发电量</a:t>
            </a:r>
            <a:r>
              <a:rPr lang="zh-CN" altLang="en-US" sz="2300" b="1">
                <a:solidFill>
                  <a:srgbClr val="305393"/>
                </a:solidFill>
              </a:rPr>
              <a:t>和</a:t>
            </a:r>
            <a:r>
              <a:rPr lang="zh-CN" altLang="en-US" sz="2300" b="1">
                <a:solidFill>
                  <a:srgbClr val="C00000"/>
                </a:solidFill>
              </a:rPr>
              <a:t>项目收益率</a:t>
            </a:r>
            <a:endParaRPr lang="zh-CN" altLang="en-US" sz="2300" b="1">
              <a:solidFill>
                <a:srgbClr val="C00000"/>
              </a:solidFill>
            </a:endParaRPr>
          </a:p>
        </p:txBody>
      </p:sp>
      <p:sp>
        <p:nvSpPr>
          <p:cNvPr id="14" name="文本框 13"/>
          <p:cNvSpPr txBox="1"/>
          <p:nvPr/>
        </p:nvSpPr>
        <p:spPr>
          <a:xfrm>
            <a:off x="1235075" y="1469390"/>
            <a:ext cx="10177145" cy="445135"/>
          </a:xfrm>
          <a:prstGeom prst="rect">
            <a:avLst/>
          </a:prstGeom>
          <a:noFill/>
        </p:spPr>
        <p:txBody>
          <a:bodyPr wrap="square" rtlCol="0">
            <a:spAutoFit/>
          </a:bodyPr>
          <a:p>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高塔架方案：全钢塔筒、</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混凝土</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钢混合塔筒</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混塔</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、全混塔筒、格构式塔筒</a:t>
            </a:r>
            <a:endParaRPr lang="zh-CN" altLang="en-US" sz="2300" b="1">
              <a:solidFill>
                <a:srgbClr val="305393"/>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1188720" y="1921510"/>
            <a:ext cx="7562215" cy="445135"/>
          </a:xfrm>
          <a:prstGeom prst="rect">
            <a:avLst/>
          </a:prstGeom>
          <a:noFill/>
        </p:spPr>
        <p:txBody>
          <a:bodyPr wrap="square" rtlCol="0">
            <a:spAutoFit/>
          </a:bodyPr>
          <a:p>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市场份额：全钢塔筒</a:t>
            </a:r>
            <a:r>
              <a:rPr lang="en-US" altLang="zh-CN" sz="2300" b="1">
                <a:solidFill>
                  <a:srgbClr val="305393"/>
                </a:solidFill>
                <a:latin typeface="微软雅黑" panose="020B0503020204020204" charset="-122"/>
                <a:ea typeface="微软雅黑" panose="020B0503020204020204" charset="-122"/>
                <a:cs typeface="微软雅黑" panose="020B0503020204020204" charset="-122"/>
              </a:rPr>
              <a:t>82%</a:t>
            </a:r>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混塔</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15%</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且装机增速最快</a:t>
            </a:r>
            <a:endParaRPr lang="zh-CN" altLang="en-US" sz="23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6" name="矩形 15"/>
          <p:cNvSpPr/>
          <p:nvPr/>
        </p:nvSpPr>
        <p:spPr>
          <a:xfrm>
            <a:off x="842645" y="2411730"/>
            <a:ext cx="4133215" cy="363220"/>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应用较广、市场占有率高</a:t>
            </a:r>
            <a:endParaRPr lang="zh-CN" altLang="en-US" b="1"/>
          </a:p>
        </p:txBody>
      </p:sp>
      <p:sp>
        <p:nvSpPr>
          <p:cNvPr id="17" name="矩形 16"/>
          <p:cNvSpPr/>
          <p:nvPr/>
        </p:nvSpPr>
        <p:spPr>
          <a:xfrm>
            <a:off x="5160645" y="2422525"/>
            <a:ext cx="6477000" cy="358140"/>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latin typeface="微软雅黑" panose="020B0503020204020204" charset="-122"/>
                <a:ea typeface="微软雅黑" panose="020B0503020204020204" charset="-122"/>
                <a:cs typeface="微软雅黑" panose="020B0503020204020204" charset="-122"/>
              </a:rPr>
              <a:t>每升高</a:t>
            </a:r>
            <a:r>
              <a:rPr lang="en-US" altLang="zh-CN" sz="2000" b="1">
                <a:latin typeface="微软雅黑" panose="020B0503020204020204" charset="-122"/>
                <a:ea typeface="微软雅黑" panose="020B0503020204020204" charset="-122"/>
                <a:cs typeface="微软雅黑" panose="020B0503020204020204" charset="-122"/>
              </a:rPr>
              <a:t>100</a:t>
            </a:r>
            <a:r>
              <a:rPr lang="zh-CN" altLang="en-US" sz="2000" b="1">
                <a:latin typeface="微软雅黑" panose="020B0503020204020204" charset="-122"/>
                <a:ea typeface="微软雅黑" panose="020B0503020204020204" charset="-122"/>
                <a:cs typeface="微软雅黑" panose="020B0503020204020204" charset="-122"/>
              </a:rPr>
              <a:t>米，风资源的利用率提升约</a:t>
            </a:r>
            <a:r>
              <a:rPr lang="en-US" altLang="zh-CN" sz="2000" b="1">
                <a:latin typeface="微软雅黑" panose="020B0503020204020204" charset="-122"/>
                <a:ea typeface="微软雅黑" panose="020B0503020204020204" charset="-122"/>
                <a:cs typeface="微软雅黑" panose="020B0503020204020204" charset="-122"/>
              </a:rPr>
              <a:t>10</a:t>
            </a:r>
            <a:r>
              <a:rPr lang="zh-CN" altLang="en-US" sz="2000" b="1">
                <a:latin typeface="微软雅黑" panose="020B0503020204020204" charset="-122"/>
                <a:ea typeface="微软雅黑" panose="020B0503020204020204" charset="-122"/>
                <a:cs typeface="微软雅黑" panose="020B0503020204020204" charset="-122"/>
              </a:rPr>
              <a:t>倍</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18" name="矩形 17"/>
          <p:cNvSpPr/>
          <p:nvPr/>
        </p:nvSpPr>
        <p:spPr>
          <a:xfrm>
            <a:off x="882650" y="6115685"/>
            <a:ext cx="2003425" cy="346075"/>
          </a:xfrm>
          <a:prstGeom prst="rect">
            <a:avLst/>
          </a:prstGeom>
          <a:solidFill>
            <a:srgbClr val="9706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500" b="1">
                <a:latin typeface="微软雅黑" panose="020B0503020204020204" charset="-122"/>
                <a:ea typeface="微软雅黑" panose="020B0503020204020204" charset="-122"/>
                <a:cs typeface="微软雅黑" panose="020B0503020204020204" charset="-122"/>
              </a:rPr>
              <a:t>钢塔</a:t>
            </a:r>
            <a:r>
              <a:rPr lang="en-US" altLang="zh-CN" sz="1500" b="1">
                <a:latin typeface="微软雅黑" panose="020B0503020204020204" charset="-122"/>
                <a:ea typeface="微软雅黑" panose="020B0503020204020204" charset="-122"/>
                <a:cs typeface="微软雅黑" panose="020B0503020204020204" charset="-122"/>
              </a:rPr>
              <a:t>(</a:t>
            </a:r>
            <a:r>
              <a:rPr lang="zh-CN" altLang="en-US" sz="1500" b="1">
                <a:latin typeface="微软雅黑" panose="020B0503020204020204" charset="-122"/>
                <a:ea typeface="微软雅黑" panose="020B0503020204020204" charset="-122"/>
                <a:cs typeface="微软雅黑" panose="020B0503020204020204" charset="-122"/>
              </a:rPr>
              <a:t>柔塔</a:t>
            </a:r>
            <a:r>
              <a:rPr lang="en-US" altLang="zh-CN" sz="1500" b="1">
                <a:latin typeface="微软雅黑" panose="020B0503020204020204" charset="-122"/>
                <a:ea typeface="微软雅黑" panose="020B0503020204020204" charset="-122"/>
                <a:cs typeface="微软雅黑" panose="020B0503020204020204" charset="-122"/>
              </a:rPr>
              <a:t>/</a:t>
            </a:r>
            <a:r>
              <a:rPr lang="zh-CN" altLang="en-US" sz="1500" b="1">
                <a:latin typeface="微软雅黑" panose="020B0503020204020204" charset="-122"/>
                <a:ea typeface="微软雅黑" panose="020B0503020204020204" charset="-122"/>
                <a:cs typeface="微软雅黑" panose="020B0503020204020204" charset="-122"/>
              </a:rPr>
              <a:t>分片钢塔</a:t>
            </a:r>
            <a:r>
              <a:rPr lang="en-US" altLang="zh-CN" sz="1500" b="1">
                <a:latin typeface="微软雅黑" panose="020B0503020204020204" charset="-122"/>
                <a:ea typeface="微软雅黑" panose="020B0503020204020204" charset="-122"/>
                <a:cs typeface="微软雅黑" panose="020B0503020204020204" charset="-122"/>
              </a:rPr>
              <a:t>)</a:t>
            </a:r>
            <a:endParaRPr lang="en-US" altLang="zh-CN" sz="1500" b="1">
              <a:latin typeface="微软雅黑" panose="020B0503020204020204" charset="-122"/>
              <a:ea typeface="微软雅黑" panose="020B0503020204020204" charset="-122"/>
              <a:cs typeface="微软雅黑" panose="020B0503020204020204" charset="-122"/>
            </a:endParaRPr>
          </a:p>
        </p:txBody>
      </p:sp>
      <p:sp>
        <p:nvSpPr>
          <p:cNvPr id="19" name="矩形 18"/>
          <p:cNvSpPr/>
          <p:nvPr/>
        </p:nvSpPr>
        <p:spPr>
          <a:xfrm>
            <a:off x="2931795" y="6127115"/>
            <a:ext cx="2044065" cy="334645"/>
          </a:xfrm>
          <a:prstGeom prst="rect">
            <a:avLst/>
          </a:prstGeom>
          <a:solidFill>
            <a:srgbClr val="97061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300" b="1">
                <a:latin typeface="微软雅黑" panose="020B0503020204020204" charset="-122"/>
                <a:ea typeface="微软雅黑" panose="020B0503020204020204" charset="-122"/>
                <a:cs typeface="微软雅黑" panose="020B0503020204020204" charset="-122"/>
              </a:rPr>
              <a:t>混凝土</a:t>
            </a:r>
            <a:r>
              <a:rPr lang="en-US" altLang="zh-CN" sz="1300" b="1">
                <a:latin typeface="微软雅黑" panose="020B0503020204020204" charset="-122"/>
                <a:ea typeface="微软雅黑" panose="020B0503020204020204" charset="-122"/>
                <a:cs typeface="微软雅黑" panose="020B0503020204020204" charset="-122"/>
              </a:rPr>
              <a:t>-</a:t>
            </a:r>
            <a:r>
              <a:rPr lang="zh-CN" altLang="en-US" sz="1300" b="1">
                <a:latin typeface="微软雅黑" panose="020B0503020204020204" charset="-122"/>
                <a:ea typeface="微软雅黑" panose="020B0503020204020204" charset="-122"/>
                <a:cs typeface="微软雅黑" panose="020B0503020204020204" charset="-122"/>
              </a:rPr>
              <a:t>钢混合塔筒</a:t>
            </a:r>
            <a:r>
              <a:rPr lang="en-US" altLang="zh-CN" sz="1300" b="1">
                <a:latin typeface="微软雅黑" panose="020B0503020204020204" charset="-122"/>
                <a:ea typeface="微软雅黑" panose="020B0503020204020204" charset="-122"/>
                <a:cs typeface="微软雅黑" panose="020B0503020204020204" charset="-122"/>
              </a:rPr>
              <a:t>(</a:t>
            </a:r>
            <a:r>
              <a:rPr lang="zh-CN" altLang="en-US" sz="1300" b="1">
                <a:latin typeface="微软雅黑" panose="020B0503020204020204" charset="-122"/>
                <a:ea typeface="微软雅黑" panose="020B0503020204020204" charset="-122"/>
                <a:cs typeface="微软雅黑" panose="020B0503020204020204" charset="-122"/>
              </a:rPr>
              <a:t>混塔</a:t>
            </a:r>
            <a:r>
              <a:rPr lang="en-US" altLang="zh-CN" sz="1300" b="1">
                <a:latin typeface="微软雅黑" panose="020B0503020204020204" charset="-122"/>
                <a:ea typeface="微软雅黑" panose="020B0503020204020204" charset="-122"/>
                <a:cs typeface="微软雅黑" panose="020B0503020204020204" charset="-122"/>
              </a:rPr>
              <a:t>)</a:t>
            </a:r>
            <a:endParaRPr lang="en-US" altLang="zh-CN" sz="1300" b="1">
              <a:latin typeface="微软雅黑" panose="020B0503020204020204" charset="-122"/>
              <a:ea typeface="微软雅黑" panose="020B0503020204020204" charset="-122"/>
              <a:cs typeface="微软雅黑" panose="020B0503020204020204" charset="-122"/>
            </a:endParaRPr>
          </a:p>
        </p:txBody>
      </p:sp>
      <p:sp>
        <p:nvSpPr>
          <p:cNvPr id="20" name="矩形 19"/>
          <p:cNvSpPr/>
          <p:nvPr/>
        </p:nvSpPr>
        <p:spPr>
          <a:xfrm>
            <a:off x="5250180" y="6249035"/>
            <a:ext cx="85090" cy="79375"/>
          </a:xfrm>
          <a:prstGeom prst="rect">
            <a:avLst/>
          </a:prstGeom>
          <a:noFill/>
          <a:ln w="19050">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矩形 20"/>
          <p:cNvSpPr/>
          <p:nvPr/>
        </p:nvSpPr>
        <p:spPr>
          <a:xfrm>
            <a:off x="5259705" y="6445250"/>
            <a:ext cx="75565" cy="79375"/>
          </a:xfrm>
          <a:prstGeom prst="rect">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5335270" y="6165850"/>
            <a:ext cx="4534535" cy="199390"/>
          </a:xfrm>
          <a:prstGeom prst="rect">
            <a:avLst/>
          </a:prstGeom>
          <a:noFill/>
        </p:spPr>
        <p:txBody>
          <a:bodyPr wrap="square" rtlCol="0">
            <a:noAutofit/>
          </a:bodyPr>
          <a:p>
            <a:r>
              <a:rPr lang="zh-CN" altLang="en-US" sz="1000" b="1">
                <a:latin typeface="微软雅黑" panose="020B0503020204020204" charset="-122"/>
                <a:ea typeface="微软雅黑" panose="020B0503020204020204" charset="-122"/>
                <a:cs typeface="微软雅黑" panose="020B0503020204020204" charset="-122"/>
              </a:rPr>
              <a:t>风领新能源</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一文说清</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混塔</a:t>
            </a:r>
            <a:r>
              <a:rPr lang="en-US" altLang="zh-CN" sz="1000" b="1">
                <a:latin typeface="微软雅黑" panose="020B0503020204020204" charset="-122"/>
                <a:ea typeface="微软雅黑" panose="020B0503020204020204" charset="-122"/>
                <a:cs typeface="微软雅黑" panose="020B0503020204020204" charset="-122"/>
              </a:rPr>
              <a:t>”[EB]//</a:t>
            </a:r>
            <a:r>
              <a:rPr lang="zh-CN" altLang="en-US" sz="1000" b="1">
                <a:latin typeface="微软雅黑" panose="020B0503020204020204" charset="-122"/>
                <a:ea typeface="微软雅黑" panose="020B0503020204020204" charset="-122"/>
                <a:cs typeface="微软雅黑" panose="020B0503020204020204" charset="-122"/>
              </a:rPr>
              <a:t>国际风力发电网</a:t>
            </a:r>
            <a:r>
              <a:rPr lang="en-US" altLang="zh-CN" sz="1000" b="1">
                <a:latin typeface="微软雅黑" panose="020B0503020204020204" charset="-122"/>
                <a:ea typeface="微软雅黑" panose="020B0503020204020204" charset="-122"/>
                <a:cs typeface="微软雅黑" panose="020B0503020204020204" charset="-122"/>
              </a:rPr>
              <a:t>.(2024).</a:t>
            </a:r>
            <a:endParaRPr lang="en-US" altLang="zh-CN" sz="1000" b="1">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5335270" y="6365875"/>
            <a:ext cx="6603365" cy="191135"/>
          </a:xfrm>
          <a:prstGeom prst="rect">
            <a:avLst/>
          </a:prstGeom>
          <a:noFill/>
        </p:spPr>
        <p:txBody>
          <a:bodyPr wrap="square" rtlCol="0">
            <a:noAutofit/>
          </a:bodyPr>
          <a:p>
            <a:r>
              <a:rPr lang="zh-CN" altLang="en-US" sz="1000" b="1">
                <a:latin typeface="微软雅黑" panose="020B0503020204020204" charset="-122"/>
                <a:ea typeface="微软雅黑" panose="020B0503020204020204" charset="-122"/>
                <a:cs typeface="微软雅黑" panose="020B0503020204020204" charset="-122"/>
              </a:rPr>
              <a:t>锐轩咨询</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风电混塔发展正当时，先来了解下技术现状和行业标准</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国际风力发电网</a:t>
            </a:r>
            <a:r>
              <a:rPr lang="en-US" altLang="zh-CN" sz="1000" b="1">
                <a:latin typeface="微软雅黑" panose="020B0503020204020204" charset="-122"/>
                <a:ea typeface="微软雅黑" panose="020B0503020204020204" charset="-122"/>
                <a:cs typeface="微软雅黑" panose="020B0503020204020204" charset="-122"/>
              </a:rPr>
              <a:t>[EB]/</a:t>
            </a:r>
            <a:r>
              <a:rPr lang="zh-CN" altLang="en-US" sz="1000" b="1">
                <a:latin typeface="微软雅黑" panose="020B0503020204020204" charset="-122"/>
                <a:ea typeface="微软雅黑" panose="020B0503020204020204" charset="-122"/>
                <a:cs typeface="微软雅黑" panose="020B0503020204020204" charset="-122"/>
              </a:rPr>
              <a:t>国际风力发电网</a:t>
            </a:r>
            <a:r>
              <a:rPr lang="en-US" altLang="zh-CN" sz="1000" b="1">
                <a:latin typeface="微软雅黑" panose="020B0503020204020204" charset="-122"/>
                <a:ea typeface="微软雅黑" panose="020B0503020204020204" charset="-122"/>
                <a:cs typeface="微软雅黑" panose="020B0503020204020204" charset="-122"/>
              </a:rPr>
              <a:t>.(2023).</a:t>
            </a:r>
            <a:endParaRPr lang="en-US" altLang="zh-CN" sz="1000" b="1">
              <a:latin typeface="微软雅黑" panose="020B0503020204020204" charset="-122"/>
              <a:ea typeface="微软雅黑" panose="020B0503020204020204" charset="-122"/>
              <a:cs typeface="微软雅黑" panose="020B0503020204020204" charset="-122"/>
            </a:endParaRPr>
          </a:p>
        </p:txBody>
      </p:sp>
      <p:pic>
        <p:nvPicPr>
          <p:cNvPr id="24" name="图片 23" descr="4.1"/>
          <p:cNvPicPr>
            <a:picLocks noChangeAspect="1"/>
          </p:cNvPicPr>
          <p:nvPr/>
        </p:nvPicPr>
        <p:blipFill>
          <a:blip r:embed="rId1"/>
          <a:stretch>
            <a:fillRect/>
          </a:stretch>
        </p:blipFill>
        <p:spPr>
          <a:xfrm>
            <a:off x="842645" y="2899410"/>
            <a:ext cx="4133850" cy="3100705"/>
          </a:xfrm>
          <a:prstGeom prst="rect">
            <a:avLst/>
          </a:prstGeom>
        </p:spPr>
      </p:pic>
      <p:pic>
        <p:nvPicPr>
          <p:cNvPr id="25" name="图片 24" descr="4.2"/>
          <p:cNvPicPr>
            <a:picLocks noChangeAspect="1"/>
          </p:cNvPicPr>
          <p:nvPr/>
        </p:nvPicPr>
        <p:blipFill>
          <a:blip r:embed="rId2"/>
          <a:stretch>
            <a:fillRect/>
          </a:stretch>
        </p:blipFill>
        <p:spPr>
          <a:xfrm>
            <a:off x="5160645" y="2905125"/>
            <a:ext cx="6597650" cy="3094990"/>
          </a:xfrm>
          <a:prstGeom prst="rect">
            <a:avLst/>
          </a:prstGeom>
        </p:spPr>
      </p:pic>
      <p:sp>
        <p:nvSpPr>
          <p:cNvPr id="2" name="文本框 1"/>
          <p:cNvSpPr txBox="1"/>
          <p:nvPr/>
        </p:nvSpPr>
        <p:spPr>
          <a:xfrm>
            <a:off x="11412220" y="6522720"/>
            <a:ext cx="734060" cy="309880"/>
          </a:xfrm>
          <a:prstGeom prst="rect">
            <a:avLst/>
          </a:prstGeom>
          <a:noFill/>
        </p:spPr>
        <p:txBody>
          <a:bodyPr wrap="square" rtlCol="0">
            <a:noAutofit/>
          </a:bodyPr>
          <a:p>
            <a:r>
              <a:rPr lang="en-US" altLang="zh-CN">
                <a:latin typeface="微软雅黑" panose="020B0503020204020204" charset="-122"/>
                <a:ea typeface="微软雅黑" panose="020B0503020204020204" charset="-122"/>
              </a:rPr>
              <a:t>4/68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10" name="矩形 9"/>
          <p:cNvSpPr/>
          <p:nvPr/>
        </p:nvSpPr>
        <p:spPr>
          <a:xfrm>
            <a:off x="877570" y="1248410"/>
            <a:ext cx="183515" cy="168910"/>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37615" y="1121410"/>
            <a:ext cx="2159000" cy="445135"/>
          </a:xfrm>
          <a:prstGeom prst="rect">
            <a:avLst/>
          </a:prstGeom>
          <a:noFill/>
        </p:spPr>
        <p:txBody>
          <a:bodyPr wrap="square" rtlCol="0">
            <a:spAutoFit/>
          </a:bodyPr>
          <a:p>
            <a:r>
              <a:rPr lang="zh-CN" altLang="en-US" sz="2300" b="1">
                <a:solidFill>
                  <a:srgbClr val="C00000"/>
                </a:solidFill>
              </a:rPr>
              <a:t>混塔结构特点</a:t>
            </a:r>
            <a:endParaRPr lang="zh-CN" altLang="en-US" sz="2300" b="1">
              <a:solidFill>
                <a:srgbClr val="C00000"/>
              </a:solidFill>
            </a:endParaRPr>
          </a:p>
        </p:txBody>
      </p:sp>
      <p:sp>
        <p:nvSpPr>
          <p:cNvPr id="12" name="椭圆 11"/>
          <p:cNvSpPr/>
          <p:nvPr>
            <p:custDataLst>
              <p:tags r:id="rId1"/>
            </p:custDataLst>
          </p:nvPr>
        </p:nvSpPr>
        <p:spPr>
          <a:xfrm>
            <a:off x="4965700" y="1248410"/>
            <a:ext cx="342900" cy="328295"/>
          </a:xfrm>
          <a:prstGeom prst="ellipse">
            <a:avLst/>
          </a:prstGeom>
          <a:solidFill>
            <a:srgbClr val="D6DB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微软雅黑" panose="020B0503020204020204" charset="-122"/>
                <a:ea typeface="微软雅黑" panose="020B0503020204020204" charset="-122"/>
              </a:rPr>
              <a:t>1</a:t>
            </a:r>
            <a:endParaRPr lang="en-US" altLang="zh-CN">
              <a:solidFill>
                <a:schemeClr val="tx1"/>
              </a:solidFill>
              <a:latin typeface="微软雅黑" panose="020B0503020204020204" charset="-122"/>
              <a:ea typeface="微软雅黑" panose="020B0503020204020204" charset="-122"/>
            </a:endParaRPr>
          </a:p>
        </p:txBody>
      </p:sp>
      <p:sp>
        <p:nvSpPr>
          <p:cNvPr id="13" name="椭圆 12"/>
          <p:cNvSpPr/>
          <p:nvPr>
            <p:custDataLst>
              <p:tags r:id="rId2"/>
            </p:custDataLst>
          </p:nvPr>
        </p:nvSpPr>
        <p:spPr>
          <a:xfrm>
            <a:off x="4965700" y="1975485"/>
            <a:ext cx="342900" cy="328295"/>
          </a:xfrm>
          <a:prstGeom prst="ellipse">
            <a:avLst/>
          </a:prstGeom>
          <a:solidFill>
            <a:srgbClr val="D6DB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微软雅黑" panose="020B0503020204020204" charset="-122"/>
                <a:ea typeface="微软雅黑" panose="020B0503020204020204" charset="-122"/>
              </a:rPr>
              <a:t>2</a:t>
            </a:r>
            <a:endParaRPr lang="en-US" altLang="zh-CN">
              <a:solidFill>
                <a:schemeClr val="tx1"/>
              </a:solidFill>
              <a:latin typeface="微软雅黑" panose="020B0503020204020204" charset="-122"/>
              <a:ea typeface="微软雅黑" panose="020B0503020204020204" charset="-122"/>
            </a:endParaRPr>
          </a:p>
        </p:txBody>
      </p:sp>
      <p:sp>
        <p:nvSpPr>
          <p:cNvPr id="14" name="椭圆 13"/>
          <p:cNvSpPr/>
          <p:nvPr>
            <p:custDataLst>
              <p:tags r:id="rId3"/>
            </p:custDataLst>
          </p:nvPr>
        </p:nvSpPr>
        <p:spPr>
          <a:xfrm>
            <a:off x="4965700" y="2702560"/>
            <a:ext cx="342900" cy="328295"/>
          </a:xfrm>
          <a:prstGeom prst="ellipse">
            <a:avLst/>
          </a:prstGeom>
          <a:solidFill>
            <a:srgbClr val="D6DB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微软雅黑" panose="020B0503020204020204" charset="-122"/>
                <a:ea typeface="微软雅黑" panose="020B0503020204020204" charset="-122"/>
              </a:rPr>
              <a:t>3</a:t>
            </a:r>
            <a:endParaRPr lang="en-US" altLang="zh-CN">
              <a:solidFill>
                <a:schemeClr val="tx1"/>
              </a:solidFill>
              <a:latin typeface="微软雅黑" panose="020B0503020204020204" charset="-122"/>
              <a:ea typeface="微软雅黑" panose="020B0503020204020204" charset="-122"/>
            </a:endParaRPr>
          </a:p>
        </p:txBody>
      </p:sp>
      <p:sp>
        <p:nvSpPr>
          <p:cNvPr id="15" name="椭圆 14"/>
          <p:cNvSpPr/>
          <p:nvPr>
            <p:custDataLst>
              <p:tags r:id="rId4"/>
            </p:custDataLst>
          </p:nvPr>
        </p:nvSpPr>
        <p:spPr>
          <a:xfrm>
            <a:off x="4965700" y="3458210"/>
            <a:ext cx="342900" cy="328295"/>
          </a:xfrm>
          <a:prstGeom prst="ellipse">
            <a:avLst/>
          </a:prstGeom>
          <a:solidFill>
            <a:srgbClr val="D6DB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latin typeface="微软雅黑" panose="020B0503020204020204" charset="-122"/>
                <a:ea typeface="微软雅黑" panose="020B0503020204020204" charset="-122"/>
              </a:rPr>
              <a:t>4</a:t>
            </a:r>
            <a:endParaRPr lang="en-US" altLang="zh-CN">
              <a:solidFill>
                <a:schemeClr val="tx1"/>
              </a:solidFill>
              <a:latin typeface="微软雅黑" panose="020B0503020204020204" charset="-122"/>
              <a:ea typeface="微软雅黑" panose="020B0503020204020204" charset="-122"/>
            </a:endParaRPr>
          </a:p>
        </p:txBody>
      </p:sp>
      <p:cxnSp>
        <p:nvCxnSpPr>
          <p:cNvPr id="16" name="直接连接符 15"/>
          <p:cNvCxnSpPr>
            <a:stCxn id="12" idx="4"/>
            <a:endCxn id="13" idx="0"/>
          </p:cNvCxnSpPr>
          <p:nvPr>
            <p:custDataLst>
              <p:tags r:id="rId5"/>
            </p:custDataLst>
          </p:nvPr>
        </p:nvCxnSpPr>
        <p:spPr>
          <a:xfrm>
            <a:off x="5137150" y="1576705"/>
            <a:ext cx="0" cy="39878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6"/>
            </p:custDataLst>
          </p:nvPr>
        </p:nvCxnSpPr>
        <p:spPr>
          <a:xfrm>
            <a:off x="5137150" y="2303780"/>
            <a:ext cx="0" cy="39878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7"/>
            </p:custDataLst>
          </p:nvPr>
        </p:nvCxnSpPr>
        <p:spPr>
          <a:xfrm>
            <a:off x="5137150" y="3057525"/>
            <a:ext cx="0" cy="398780"/>
          </a:xfrm>
          <a:prstGeom prst="line">
            <a:avLst/>
          </a:prstGeom>
          <a:ln>
            <a:solidFill>
              <a:srgbClr val="D6DBD5"/>
            </a:solidFill>
          </a:ln>
        </p:spPr>
        <p:style>
          <a:lnRef idx="2">
            <a:schemeClr val="accent1"/>
          </a:lnRef>
          <a:fillRef idx="0">
            <a:srgbClr val="FFFFFF"/>
          </a:fillRef>
          <a:effectRef idx="0">
            <a:srgbClr val="FFFFFF"/>
          </a:effectRef>
          <a:fontRef idx="minor">
            <a:schemeClr val="tx1"/>
          </a:fontRef>
        </p:style>
      </p:cxnSp>
      <p:sp>
        <p:nvSpPr>
          <p:cNvPr id="20" name="流程图: 延期 19"/>
          <p:cNvSpPr/>
          <p:nvPr>
            <p:custDataLst>
              <p:tags r:id="rId8"/>
            </p:custDataLst>
          </p:nvPr>
        </p:nvSpPr>
        <p:spPr>
          <a:xfrm>
            <a:off x="10826750" y="1151890"/>
            <a:ext cx="642620" cy="521335"/>
          </a:xfrm>
          <a:prstGeom prst="flowChartDelay">
            <a:avLst/>
          </a:prstGeom>
          <a:solidFill>
            <a:srgbClr val="E9E3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流程图: 延期 20"/>
          <p:cNvSpPr/>
          <p:nvPr>
            <p:custDataLst>
              <p:tags r:id="rId9"/>
            </p:custDataLst>
          </p:nvPr>
        </p:nvSpPr>
        <p:spPr>
          <a:xfrm>
            <a:off x="10826750" y="1878965"/>
            <a:ext cx="642620" cy="533400"/>
          </a:xfrm>
          <a:prstGeom prst="flowChartDelay">
            <a:avLst/>
          </a:prstGeom>
          <a:solidFill>
            <a:srgbClr val="E9E3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流程图: 延期 21"/>
          <p:cNvSpPr/>
          <p:nvPr>
            <p:custDataLst>
              <p:tags r:id="rId10"/>
            </p:custDataLst>
          </p:nvPr>
        </p:nvSpPr>
        <p:spPr>
          <a:xfrm>
            <a:off x="10826750" y="2618105"/>
            <a:ext cx="642620" cy="533400"/>
          </a:xfrm>
          <a:prstGeom prst="flowChartDelay">
            <a:avLst/>
          </a:prstGeom>
          <a:solidFill>
            <a:srgbClr val="E9E3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流程图: 延期 22"/>
          <p:cNvSpPr/>
          <p:nvPr>
            <p:custDataLst>
              <p:tags r:id="rId11"/>
            </p:custDataLst>
          </p:nvPr>
        </p:nvSpPr>
        <p:spPr>
          <a:xfrm>
            <a:off x="10826750" y="3357245"/>
            <a:ext cx="642620" cy="533400"/>
          </a:xfrm>
          <a:prstGeom prst="flowChartDelay">
            <a:avLst/>
          </a:prstGeom>
          <a:solidFill>
            <a:srgbClr val="E9E3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4" name="流程图: 延期 23"/>
          <p:cNvSpPr/>
          <p:nvPr>
            <p:custDataLst>
              <p:tags r:id="rId12"/>
            </p:custDataLst>
          </p:nvPr>
        </p:nvSpPr>
        <p:spPr>
          <a:xfrm flipH="1">
            <a:off x="5378450" y="3357245"/>
            <a:ext cx="642620" cy="533400"/>
          </a:xfrm>
          <a:prstGeom prst="flowChartDelay">
            <a:avLst/>
          </a:prstGeom>
          <a:solidFill>
            <a:srgbClr val="E9E3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流程图: 延期 24"/>
          <p:cNvSpPr/>
          <p:nvPr>
            <p:custDataLst>
              <p:tags r:id="rId13"/>
            </p:custDataLst>
          </p:nvPr>
        </p:nvSpPr>
        <p:spPr>
          <a:xfrm flipH="1">
            <a:off x="5378450" y="2618105"/>
            <a:ext cx="642620" cy="533400"/>
          </a:xfrm>
          <a:prstGeom prst="flowChartDelay">
            <a:avLst/>
          </a:prstGeom>
          <a:solidFill>
            <a:srgbClr val="E9E3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流程图: 延期 25"/>
          <p:cNvSpPr/>
          <p:nvPr>
            <p:custDataLst>
              <p:tags r:id="rId14"/>
            </p:custDataLst>
          </p:nvPr>
        </p:nvSpPr>
        <p:spPr>
          <a:xfrm rot="10800000">
            <a:off x="5378450" y="1878965"/>
            <a:ext cx="642620" cy="533400"/>
          </a:xfrm>
          <a:prstGeom prst="flowChartDelay">
            <a:avLst/>
          </a:prstGeom>
          <a:solidFill>
            <a:srgbClr val="E9E3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流程图: 延期 26"/>
          <p:cNvSpPr/>
          <p:nvPr>
            <p:custDataLst>
              <p:tags r:id="rId15"/>
            </p:custDataLst>
          </p:nvPr>
        </p:nvSpPr>
        <p:spPr>
          <a:xfrm flipH="1">
            <a:off x="5378450" y="1151255"/>
            <a:ext cx="642620" cy="533400"/>
          </a:xfrm>
          <a:prstGeom prst="flowChartDelay">
            <a:avLst/>
          </a:prstGeom>
          <a:solidFill>
            <a:srgbClr val="E9E3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矩形 28"/>
          <p:cNvSpPr/>
          <p:nvPr>
            <p:custDataLst>
              <p:tags r:id="rId16"/>
            </p:custDataLst>
          </p:nvPr>
        </p:nvSpPr>
        <p:spPr>
          <a:xfrm>
            <a:off x="6019165" y="1151890"/>
            <a:ext cx="4921250" cy="527050"/>
          </a:xfrm>
          <a:prstGeom prst="rect">
            <a:avLst/>
          </a:prstGeom>
          <a:solidFill>
            <a:srgbClr val="E9E3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矩形 29"/>
          <p:cNvSpPr/>
          <p:nvPr>
            <p:custDataLst>
              <p:tags r:id="rId17"/>
            </p:custDataLst>
          </p:nvPr>
        </p:nvSpPr>
        <p:spPr>
          <a:xfrm>
            <a:off x="6021070" y="1885315"/>
            <a:ext cx="4921250" cy="527050"/>
          </a:xfrm>
          <a:prstGeom prst="rect">
            <a:avLst/>
          </a:prstGeom>
          <a:solidFill>
            <a:srgbClr val="E9E3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矩形 30"/>
          <p:cNvSpPr/>
          <p:nvPr>
            <p:custDataLst>
              <p:tags r:id="rId18"/>
            </p:custDataLst>
          </p:nvPr>
        </p:nvSpPr>
        <p:spPr>
          <a:xfrm>
            <a:off x="5974715" y="2621280"/>
            <a:ext cx="4921250" cy="527050"/>
          </a:xfrm>
          <a:prstGeom prst="rect">
            <a:avLst/>
          </a:prstGeom>
          <a:solidFill>
            <a:srgbClr val="E9E3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矩形 31"/>
          <p:cNvSpPr/>
          <p:nvPr>
            <p:custDataLst>
              <p:tags r:id="rId19"/>
            </p:custDataLst>
          </p:nvPr>
        </p:nvSpPr>
        <p:spPr>
          <a:xfrm>
            <a:off x="6019165" y="3357245"/>
            <a:ext cx="4921250" cy="527050"/>
          </a:xfrm>
          <a:prstGeom prst="rect">
            <a:avLst/>
          </a:prstGeom>
          <a:solidFill>
            <a:srgbClr val="E9E3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流程图: 终止 32"/>
          <p:cNvSpPr/>
          <p:nvPr>
            <p:custDataLst>
              <p:tags r:id="rId20"/>
            </p:custDataLst>
          </p:nvPr>
        </p:nvSpPr>
        <p:spPr>
          <a:xfrm>
            <a:off x="5447665" y="1209675"/>
            <a:ext cx="1169035" cy="406400"/>
          </a:xfrm>
          <a:prstGeom prst="flowChartTerminator">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钢塔段</a:t>
            </a:r>
            <a:endParaRPr lang="zh-CN" altLang="en-US" sz="1600" b="1"/>
          </a:p>
        </p:txBody>
      </p:sp>
      <p:sp>
        <p:nvSpPr>
          <p:cNvPr id="36" name="流程图: 终止 35"/>
          <p:cNvSpPr/>
          <p:nvPr>
            <p:custDataLst>
              <p:tags r:id="rId21"/>
            </p:custDataLst>
          </p:nvPr>
        </p:nvSpPr>
        <p:spPr>
          <a:xfrm>
            <a:off x="5447665" y="1948180"/>
            <a:ext cx="1169035" cy="406400"/>
          </a:xfrm>
          <a:prstGeom prst="flowChartTerminator">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b="1">
              <a:latin typeface="微软雅黑" panose="020B0503020204020204" charset="-122"/>
              <a:ea typeface="微软雅黑" panose="020B0503020204020204" charset="-122"/>
            </a:endParaRPr>
          </a:p>
        </p:txBody>
      </p:sp>
      <p:sp>
        <p:nvSpPr>
          <p:cNvPr id="37" name="流程图: 终止 36"/>
          <p:cNvSpPr/>
          <p:nvPr>
            <p:custDataLst>
              <p:tags r:id="rId22"/>
            </p:custDataLst>
          </p:nvPr>
        </p:nvSpPr>
        <p:spPr>
          <a:xfrm>
            <a:off x="5447665" y="2681605"/>
            <a:ext cx="1169035" cy="406400"/>
          </a:xfrm>
          <a:prstGeom prst="flowChartTerminator">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过渡段</a:t>
            </a:r>
            <a:endParaRPr lang="zh-CN" altLang="en-US" sz="1600" b="1"/>
          </a:p>
        </p:txBody>
      </p:sp>
      <p:sp>
        <p:nvSpPr>
          <p:cNvPr id="38" name="流程图: 终止 37"/>
          <p:cNvSpPr/>
          <p:nvPr>
            <p:custDataLst>
              <p:tags r:id="rId23"/>
            </p:custDataLst>
          </p:nvPr>
        </p:nvSpPr>
        <p:spPr>
          <a:xfrm>
            <a:off x="5447665" y="3415030"/>
            <a:ext cx="1169035" cy="406400"/>
          </a:xfrm>
          <a:prstGeom prst="flowChartTerminator">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5447665" y="1963420"/>
            <a:ext cx="1238250" cy="337185"/>
          </a:xfrm>
          <a:prstGeom prst="rect">
            <a:avLst/>
          </a:prstGeom>
          <a:noFill/>
        </p:spPr>
        <p:txBody>
          <a:bodyPr wrap="square" rtlCol="0">
            <a:spAutoFit/>
          </a:bodyPr>
          <a:p>
            <a:r>
              <a:rPr lang="zh-CN" altLang="en-US" sz="1600" b="1">
                <a:solidFill>
                  <a:schemeClr val="bg1"/>
                </a:solidFill>
              </a:rPr>
              <a:t>混凝土塔段</a:t>
            </a:r>
            <a:endParaRPr lang="zh-CN" altLang="en-US" sz="1600" b="1">
              <a:solidFill>
                <a:schemeClr val="bg1"/>
              </a:solidFill>
            </a:endParaRPr>
          </a:p>
        </p:txBody>
      </p:sp>
      <p:sp>
        <p:nvSpPr>
          <p:cNvPr id="40" name="文本框 39"/>
          <p:cNvSpPr txBox="1"/>
          <p:nvPr/>
        </p:nvSpPr>
        <p:spPr>
          <a:xfrm>
            <a:off x="5447030" y="3440430"/>
            <a:ext cx="1238885" cy="337185"/>
          </a:xfrm>
          <a:prstGeom prst="rect">
            <a:avLst/>
          </a:prstGeom>
          <a:noFill/>
        </p:spPr>
        <p:txBody>
          <a:bodyPr wrap="square" rtlCol="0">
            <a:spAutoFit/>
          </a:bodyPr>
          <a:p>
            <a:r>
              <a:rPr lang="zh-CN" altLang="en-US" sz="1600" b="1">
                <a:solidFill>
                  <a:schemeClr val="bg1"/>
                </a:solidFill>
              </a:rPr>
              <a:t>混凝土基础</a:t>
            </a:r>
            <a:endParaRPr lang="zh-CN" altLang="en-US" sz="1600" b="1">
              <a:solidFill>
                <a:schemeClr val="bg1"/>
              </a:solidFill>
            </a:endParaRPr>
          </a:p>
        </p:txBody>
      </p:sp>
      <p:sp>
        <p:nvSpPr>
          <p:cNvPr id="41" name="文本框 40"/>
          <p:cNvSpPr txBox="1"/>
          <p:nvPr/>
        </p:nvSpPr>
        <p:spPr>
          <a:xfrm>
            <a:off x="6774815" y="1293495"/>
            <a:ext cx="3390900" cy="306705"/>
          </a:xfrm>
          <a:prstGeom prst="rect">
            <a:avLst/>
          </a:prstGeom>
          <a:noFill/>
        </p:spPr>
        <p:txBody>
          <a:bodyPr wrap="square" rtlCol="0">
            <a:spAutoFit/>
          </a:bodyPr>
          <a:p>
            <a:r>
              <a:rPr lang="zh-CN" altLang="en-US" sz="1400"/>
              <a:t>标准钢制塔段</a:t>
            </a:r>
            <a:endParaRPr lang="zh-CN" altLang="en-US" sz="1400"/>
          </a:p>
        </p:txBody>
      </p:sp>
      <p:sp>
        <p:nvSpPr>
          <p:cNvPr id="42" name="文本框 41"/>
          <p:cNvSpPr txBox="1"/>
          <p:nvPr/>
        </p:nvSpPr>
        <p:spPr>
          <a:xfrm>
            <a:off x="6774815" y="1890395"/>
            <a:ext cx="4692015" cy="521970"/>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rPr>
              <a:t>混凝土塔段有多个单节塔段连接而成，每个单节塔段又由两个或四个环片预制拼合而成</a:t>
            </a:r>
            <a:endParaRPr lang="zh-CN" altLang="en-US" sz="1400">
              <a:latin typeface="微软雅黑" panose="020B0503020204020204" charset="-122"/>
              <a:ea typeface="微软雅黑" panose="020B0503020204020204" charset="-122"/>
            </a:endParaRPr>
          </a:p>
        </p:txBody>
      </p:sp>
      <p:sp>
        <p:nvSpPr>
          <p:cNvPr id="43" name="文本框 42"/>
          <p:cNvSpPr txBox="1"/>
          <p:nvPr/>
        </p:nvSpPr>
        <p:spPr>
          <a:xfrm>
            <a:off x="6774815" y="2629535"/>
            <a:ext cx="4686300" cy="521970"/>
          </a:xfrm>
          <a:prstGeom prst="rect">
            <a:avLst/>
          </a:prstGeom>
          <a:noFill/>
        </p:spPr>
        <p:txBody>
          <a:bodyPr wrap="square" rtlCol="0">
            <a:spAutoFit/>
          </a:bodyPr>
          <a:p>
            <a:r>
              <a:rPr lang="zh-CN" altLang="en-US" sz="1400"/>
              <a:t>钢塔段与混凝土塔段间通过过渡段连接。钢塔段锚栓连接和预应力索锚固各自独立施工</a:t>
            </a:r>
            <a:endParaRPr lang="zh-CN" altLang="en-US" sz="1400"/>
          </a:p>
        </p:txBody>
      </p:sp>
      <p:sp>
        <p:nvSpPr>
          <p:cNvPr id="44" name="文本框 43"/>
          <p:cNvSpPr txBox="1"/>
          <p:nvPr/>
        </p:nvSpPr>
        <p:spPr>
          <a:xfrm>
            <a:off x="6774815" y="3357245"/>
            <a:ext cx="4686300" cy="521970"/>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rPr>
              <a:t>扩展式结构，承载风电机组重量，确保风电设备的稳定运行</a:t>
            </a:r>
            <a:endParaRPr lang="zh-CN" altLang="en-US" sz="1400">
              <a:latin typeface="微软雅黑" panose="020B0503020204020204" charset="-122"/>
              <a:ea typeface="微软雅黑" panose="020B0503020204020204" charset="-122"/>
            </a:endParaRPr>
          </a:p>
        </p:txBody>
      </p:sp>
      <p:pic>
        <p:nvPicPr>
          <p:cNvPr id="46" name="图片 45" descr="5.1"/>
          <p:cNvPicPr>
            <a:picLocks noChangeAspect="1"/>
          </p:cNvPicPr>
          <p:nvPr/>
        </p:nvPicPr>
        <p:blipFill>
          <a:blip r:embed="rId24"/>
          <a:stretch>
            <a:fillRect/>
          </a:stretch>
        </p:blipFill>
        <p:spPr>
          <a:xfrm>
            <a:off x="64135" y="1496060"/>
            <a:ext cx="4831715" cy="5279390"/>
          </a:xfrm>
          <a:prstGeom prst="rect">
            <a:avLst/>
          </a:prstGeom>
        </p:spPr>
      </p:pic>
      <p:pic>
        <p:nvPicPr>
          <p:cNvPr id="47" name="图片 46" descr="5.2"/>
          <p:cNvPicPr>
            <a:picLocks noChangeAspect="1"/>
          </p:cNvPicPr>
          <p:nvPr/>
        </p:nvPicPr>
        <p:blipFill>
          <a:blip r:embed="rId25"/>
          <a:srcRect l="599" t="21124" r="1776" b="22571"/>
          <a:stretch>
            <a:fillRect/>
          </a:stretch>
        </p:blipFill>
        <p:spPr>
          <a:xfrm>
            <a:off x="4895850" y="5426075"/>
            <a:ext cx="7058660" cy="1249680"/>
          </a:xfrm>
          <a:prstGeom prst="rect">
            <a:avLst/>
          </a:prstGeom>
        </p:spPr>
      </p:pic>
      <p:pic>
        <p:nvPicPr>
          <p:cNvPr id="48" name="图片 47" descr="5.3"/>
          <p:cNvPicPr>
            <a:picLocks noChangeAspect="1"/>
          </p:cNvPicPr>
          <p:nvPr/>
        </p:nvPicPr>
        <p:blipFill>
          <a:blip r:embed="rId26"/>
          <a:srcRect t="11600" b="13515"/>
          <a:stretch>
            <a:fillRect/>
          </a:stretch>
        </p:blipFill>
        <p:spPr>
          <a:xfrm>
            <a:off x="5316855" y="3959860"/>
            <a:ext cx="6152515" cy="1466215"/>
          </a:xfrm>
          <a:prstGeom prst="rect">
            <a:avLst/>
          </a:prstGeom>
        </p:spPr>
      </p:pic>
      <p:sp>
        <p:nvSpPr>
          <p:cNvPr id="2" name="文本框 1"/>
          <p:cNvSpPr txBox="1"/>
          <p:nvPr/>
        </p:nvSpPr>
        <p:spPr>
          <a:xfrm>
            <a:off x="11396345" y="6489700"/>
            <a:ext cx="79565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37285" y="1008380"/>
            <a:ext cx="10657205" cy="190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80465" y="446405"/>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12" name="文本框 11"/>
          <p:cNvSpPr txBox="1"/>
          <p:nvPr/>
        </p:nvSpPr>
        <p:spPr>
          <a:xfrm>
            <a:off x="1226820" y="1097280"/>
            <a:ext cx="6517005" cy="460375"/>
          </a:xfrm>
          <a:prstGeom prst="rect">
            <a:avLst/>
          </a:prstGeom>
          <a:noFill/>
        </p:spPr>
        <p:txBody>
          <a:bodyPr wrap="square" rtlCol="0">
            <a:spAutoFit/>
          </a:bodyPr>
          <a:p>
            <a:r>
              <a:rPr lang="zh-CN" altLang="en-US" sz="2400" b="1">
                <a:solidFill>
                  <a:srgbClr val="324E72"/>
                </a:solidFill>
                <a:latin typeface="微软雅黑" panose="020B0503020204020204" charset="-122"/>
                <a:ea typeface="微软雅黑" panose="020B0503020204020204" charset="-122"/>
              </a:rPr>
              <a:t>机组大型化对</a:t>
            </a:r>
            <a:r>
              <a:rPr lang="zh-CN" altLang="en-US" sz="2400" b="1">
                <a:solidFill>
                  <a:srgbClr val="C00000"/>
                </a:solidFill>
                <a:latin typeface="微软雅黑" panose="020B0503020204020204" charset="-122"/>
                <a:ea typeface="微软雅黑" panose="020B0503020204020204" charset="-122"/>
              </a:rPr>
              <a:t>塔架刚度、频率</a:t>
            </a:r>
            <a:r>
              <a:rPr lang="zh-CN" altLang="en-US" sz="2400" b="1">
                <a:solidFill>
                  <a:srgbClr val="324E72"/>
                </a:solidFill>
                <a:latin typeface="微软雅黑" panose="020B0503020204020204" charset="-122"/>
                <a:ea typeface="微软雅黑" panose="020B0503020204020204" charset="-122"/>
              </a:rPr>
              <a:t>提出更高要求</a:t>
            </a:r>
            <a:endParaRPr lang="zh-CN" altLang="en-US" sz="2400" b="1">
              <a:solidFill>
                <a:srgbClr val="324E72"/>
              </a:solidFill>
              <a:latin typeface="微软雅黑" panose="020B0503020204020204" charset="-122"/>
              <a:ea typeface="微软雅黑" panose="020B0503020204020204" charset="-122"/>
            </a:endParaRPr>
          </a:p>
        </p:txBody>
      </p:sp>
      <p:sp>
        <p:nvSpPr>
          <p:cNvPr id="13" name="矩形 12"/>
          <p:cNvSpPr/>
          <p:nvPr/>
        </p:nvSpPr>
        <p:spPr>
          <a:xfrm>
            <a:off x="887095" y="1237615"/>
            <a:ext cx="184785" cy="179070"/>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875665" y="1699895"/>
            <a:ext cx="196215" cy="172720"/>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1226820" y="1557655"/>
            <a:ext cx="9334500" cy="460375"/>
          </a:xfrm>
          <a:prstGeom prst="rect">
            <a:avLst/>
          </a:prstGeom>
          <a:noFill/>
        </p:spPr>
        <p:txBody>
          <a:bodyPr wrap="square" rtlCol="0">
            <a:spAutoFit/>
          </a:bodyPr>
          <a:p>
            <a:r>
              <a:rPr lang="zh-CN" altLang="en-US" sz="2400" b="1">
                <a:solidFill>
                  <a:srgbClr val="305393"/>
                </a:solidFill>
              </a:rPr>
              <a:t>混塔式风电机组：</a:t>
            </a:r>
            <a:r>
              <a:rPr lang="zh-CN" altLang="en-US" sz="2400" b="1">
                <a:solidFill>
                  <a:srgbClr val="C00000"/>
                </a:solidFill>
              </a:rPr>
              <a:t>塔架刚度大、稳定性好、可大幅减小塔顶摆幅</a:t>
            </a:r>
            <a:endParaRPr lang="zh-CN" altLang="en-US" sz="2400" b="1">
              <a:solidFill>
                <a:srgbClr val="C00000"/>
              </a:solidFill>
            </a:endParaRPr>
          </a:p>
        </p:txBody>
      </p:sp>
      <p:sp>
        <p:nvSpPr>
          <p:cNvPr id="18" name="任意多边形 17"/>
          <p:cNvSpPr/>
          <p:nvPr/>
        </p:nvSpPr>
        <p:spPr>
          <a:xfrm>
            <a:off x="945157" y="2018030"/>
            <a:ext cx="5069511" cy="4234180"/>
          </a:xfrm>
          <a:custGeom>
            <a:avLst/>
            <a:gdLst>
              <a:gd name="connsiteX0" fmla="*/ 10 w 7983"/>
              <a:gd name="connsiteY0" fmla="*/ 742 h 6668"/>
              <a:gd name="connsiteX1" fmla="*/ 500 w 7983"/>
              <a:gd name="connsiteY1" fmla="*/ 35 h 6668"/>
              <a:gd name="connsiteX2" fmla="*/ 7349 w 7983"/>
              <a:gd name="connsiteY2" fmla="*/ 0 h 6668"/>
              <a:gd name="connsiteX3" fmla="*/ 7947 w 7983"/>
              <a:gd name="connsiteY3" fmla="*/ 611 h 6668"/>
              <a:gd name="connsiteX4" fmla="*/ 7983 w 7983"/>
              <a:gd name="connsiteY4" fmla="*/ 6032 h 6668"/>
              <a:gd name="connsiteX5" fmla="*/ 7410 w 7983"/>
              <a:gd name="connsiteY5" fmla="*/ 6641 h 6668"/>
              <a:gd name="connsiteX6" fmla="*/ 601 w 7983"/>
              <a:gd name="connsiteY6" fmla="*/ 6668 h 6668"/>
              <a:gd name="connsiteX7" fmla="*/ 28 w 7983"/>
              <a:gd name="connsiteY7" fmla="*/ 6068 h 6668"/>
              <a:gd name="connsiteX8" fmla="*/ 10 w 7983"/>
              <a:gd name="connsiteY8" fmla="*/ 742 h 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83" h="6668">
                <a:moveTo>
                  <a:pt x="10" y="742"/>
                </a:moveTo>
                <a:cubicBezTo>
                  <a:pt x="10" y="142"/>
                  <a:pt x="-112" y="35"/>
                  <a:pt x="500" y="35"/>
                </a:cubicBezTo>
                <a:lnTo>
                  <a:pt x="7349" y="0"/>
                </a:lnTo>
                <a:cubicBezTo>
                  <a:pt x="7962" y="0"/>
                  <a:pt x="7947" y="11"/>
                  <a:pt x="7947" y="611"/>
                </a:cubicBezTo>
                <a:lnTo>
                  <a:pt x="7983" y="6032"/>
                </a:lnTo>
                <a:cubicBezTo>
                  <a:pt x="7983" y="6632"/>
                  <a:pt x="8024" y="6641"/>
                  <a:pt x="7410" y="6641"/>
                </a:cubicBezTo>
                <a:lnTo>
                  <a:pt x="601" y="6668"/>
                </a:lnTo>
                <a:cubicBezTo>
                  <a:pt x="-13" y="6668"/>
                  <a:pt x="28" y="6668"/>
                  <a:pt x="28" y="6068"/>
                </a:cubicBezTo>
                <a:lnTo>
                  <a:pt x="10" y="742"/>
                </a:lnTo>
                <a:close/>
              </a:path>
            </a:pathLst>
          </a:custGeom>
          <a:noFill/>
          <a:ln>
            <a:solidFill>
              <a:srgbClr val="D6DBD5"/>
            </a:solidFill>
          </a:ln>
          <a:extLst>
            <a:ext uri="{909E8E84-426E-40DD-AFC4-6F175D3DCCD1}">
              <a14:hiddenFill xmlns:a14="http://schemas.microsoft.com/office/drawing/2010/main">
                <a:solidFill>
                  <a:srgbClr val="D6DBD5"/>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任意多边形 18"/>
          <p:cNvSpPr/>
          <p:nvPr/>
        </p:nvSpPr>
        <p:spPr>
          <a:xfrm>
            <a:off x="6306185" y="2018030"/>
            <a:ext cx="5120640" cy="4234180"/>
          </a:xfrm>
          <a:custGeom>
            <a:avLst/>
            <a:gdLst>
              <a:gd name="connsiteX0" fmla="*/ 10 w 7983"/>
              <a:gd name="connsiteY0" fmla="*/ 742 h 6668"/>
              <a:gd name="connsiteX1" fmla="*/ 500 w 7983"/>
              <a:gd name="connsiteY1" fmla="*/ 35 h 6668"/>
              <a:gd name="connsiteX2" fmla="*/ 7349 w 7983"/>
              <a:gd name="connsiteY2" fmla="*/ 0 h 6668"/>
              <a:gd name="connsiteX3" fmla="*/ 7947 w 7983"/>
              <a:gd name="connsiteY3" fmla="*/ 611 h 6668"/>
              <a:gd name="connsiteX4" fmla="*/ 7983 w 7983"/>
              <a:gd name="connsiteY4" fmla="*/ 6032 h 6668"/>
              <a:gd name="connsiteX5" fmla="*/ 7410 w 7983"/>
              <a:gd name="connsiteY5" fmla="*/ 6641 h 6668"/>
              <a:gd name="connsiteX6" fmla="*/ 601 w 7983"/>
              <a:gd name="connsiteY6" fmla="*/ 6668 h 6668"/>
              <a:gd name="connsiteX7" fmla="*/ 28 w 7983"/>
              <a:gd name="connsiteY7" fmla="*/ 6068 h 6668"/>
              <a:gd name="connsiteX8" fmla="*/ 10 w 7983"/>
              <a:gd name="connsiteY8" fmla="*/ 742 h 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83" h="6668">
                <a:moveTo>
                  <a:pt x="10" y="742"/>
                </a:moveTo>
                <a:cubicBezTo>
                  <a:pt x="10" y="142"/>
                  <a:pt x="-112" y="35"/>
                  <a:pt x="500" y="35"/>
                </a:cubicBezTo>
                <a:lnTo>
                  <a:pt x="7349" y="0"/>
                </a:lnTo>
                <a:cubicBezTo>
                  <a:pt x="7962" y="0"/>
                  <a:pt x="7947" y="11"/>
                  <a:pt x="7947" y="611"/>
                </a:cubicBezTo>
                <a:lnTo>
                  <a:pt x="7983" y="6032"/>
                </a:lnTo>
                <a:cubicBezTo>
                  <a:pt x="7983" y="6632"/>
                  <a:pt x="8024" y="6641"/>
                  <a:pt x="7410" y="6641"/>
                </a:cubicBezTo>
                <a:lnTo>
                  <a:pt x="601" y="6668"/>
                </a:lnTo>
                <a:cubicBezTo>
                  <a:pt x="-13" y="6668"/>
                  <a:pt x="28" y="6668"/>
                  <a:pt x="28" y="6068"/>
                </a:cubicBezTo>
                <a:lnTo>
                  <a:pt x="10" y="742"/>
                </a:lnTo>
                <a:close/>
              </a:path>
            </a:pathLst>
          </a:custGeom>
          <a:ln>
            <a:solidFill>
              <a:srgbClr val="D6DBD5"/>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圆角矩形 19"/>
          <p:cNvSpPr/>
          <p:nvPr/>
        </p:nvSpPr>
        <p:spPr>
          <a:xfrm>
            <a:off x="1226820" y="6061710"/>
            <a:ext cx="4560570" cy="334645"/>
          </a:xfrm>
          <a:prstGeom prst="roundRect">
            <a:avLst/>
          </a:prstGeom>
          <a:solidFill>
            <a:srgbClr val="305393"/>
          </a:solidFill>
          <a:ln>
            <a:solidFill>
              <a:schemeClr val="tx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rPr>
              <a:t>钢塔和混塔的摆幅对比</a:t>
            </a:r>
            <a:endParaRPr lang="zh-CN" altLang="en-US" b="1">
              <a:latin typeface="微软雅黑" panose="020B0503020204020204" charset="-122"/>
              <a:ea typeface="微软雅黑" panose="020B0503020204020204" charset="-122"/>
            </a:endParaRPr>
          </a:p>
        </p:txBody>
      </p:sp>
      <p:sp>
        <p:nvSpPr>
          <p:cNvPr id="21" name="圆角矩形 20"/>
          <p:cNvSpPr/>
          <p:nvPr/>
        </p:nvSpPr>
        <p:spPr>
          <a:xfrm>
            <a:off x="6597015" y="6061710"/>
            <a:ext cx="4576445" cy="334645"/>
          </a:xfrm>
          <a:prstGeom prst="roundRect">
            <a:avLst/>
          </a:prstGeom>
          <a:solidFill>
            <a:srgbClr val="305393"/>
          </a:solidFill>
          <a:ln>
            <a:solidFill>
              <a:schemeClr val="tx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cs typeface="微软雅黑" panose="020B0503020204020204" charset="-122"/>
              </a:rPr>
              <a:t>塔架振动频率</a:t>
            </a:r>
            <a:r>
              <a:rPr lang="en-US" altLang="zh-CN" b="1">
                <a:latin typeface="微软雅黑" panose="020B0503020204020204" charset="-122"/>
                <a:ea typeface="微软雅黑" panose="020B0503020204020204" charset="-122"/>
                <a:cs typeface="微软雅黑" panose="020B0503020204020204" charset="-122"/>
              </a:rPr>
              <a:t>1</a:t>
            </a:r>
            <a:r>
              <a:rPr lang="zh-CN" altLang="en-US" b="1">
                <a:latin typeface="微软雅黑" panose="020B0503020204020204" charset="-122"/>
                <a:ea typeface="微软雅黑" panose="020B0503020204020204" charset="-122"/>
                <a:cs typeface="微软雅黑" panose="020B0503020204020204" charset="-122"/>
              </a:rPr>
              <a:t>与叶轮转速之间的关系</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22" name="矩形 21"/>
          <p:cNvSpPr/>
          <p:nvPr/>
        </p:nvSpPr>
        <p:spPr>
          <a:xfrm>
            <a:off x="738505" y="6585585"/>
            <a:ext cx="95250" cy="75565"/>
          </a:xfrm>
          <a:prstGeom prst="rect">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nvSpPr>
        <p:spPr>
          <a:xfrm>
            <a:off x="833755" y="6494780"/>
            <a:ext cx="3265805" cy="257810"/>
          </a:xfrm>
          <a:prstGeom prst="rect">
            <a:avLst/>
          </a:prstGeom>
          <a:noFill/>
        </p:spPr>
        <p:txBody>
          <a:bodyPr wrap="square" rtlCol="0">
            <a:noAutofit/>
          </a:bodyPr>
          <a:p>
            <a:r>
              <a:rPr lang="zh-CN" altLang="en-US" sz="900" b="1">
                <a:latin typeface="微软雅黑" panose="020B0503020204020204" charset="-122"/>
                <a:ea typeface="微软雅黑" panose="020B0503020204020204" charset="-122"/>
                <a:cs typeface="微软雅黑" panose="020B0503020204020204" charset="-122"/>
              </a:rPr>
              <a:t>风领新能源</a:t>
            </a:r>
            <a:r>
              <a:rPr lang="en-US" altLang="zh-CN" sz="900" b="1">
                <a:latin typeface="微软雅黑" panose="020B0503020204020204" charset="-122"/>
                <a:ea typeface="微软雅黑" panose="020B0503020204020204" charset="-122"/>
                <a:cs typeface="微软雅黑" panose="020B0503020204020204" charset="-122"/>
              </a:rPr>
              <a:t>.</a:t>
            </a:r>
            <a:r>
              <a:rPr lang="zh-CN" altLang="en-US" sz="900" b="1">
                <a:latin typeface="微软雅黑" panose="020B0503020204020204" charset="-122"/>
                <a:ea typeface="微软雅黑" panose="020B0503020204020204" charset="-122"/>
                <a:cs typeface="微软雅黑" panose="020B0503020204020204" charset="-122"/>
              </a:rPr>
              <a:t>钢塔和混塔的摆幅</a:t>
            </a:r>
            <a:r>
              <a:rPr lang="en-US" altLang="zh-CN" sz="900" b="1">
                <a:latin typeface="微软雅黑" panose="020B0503020204020204" charset="-122"/>
                <a:ea typeface="微软雅黑" panose="020B0503020204020204" charset="-122"/>
                <a:cs typeface="微软雅黑" panose="020B0503020204020204" charset="-122"/>
              </a:rPr>
              <a:t>2</a:t>
            </a:r>
            <a:r>
              <a:rPr lang="zh-CN" altLang="en-US" sz="900" b="1">
                <a:latin typeface="微软雅黑" panose="020B0503020204020204" charset="-122"/>
                <a:ea typeface="微软雅黑" panose="020B0503020204020204" charset="-122"/>
                <a:cs typeface="微软雅黑" panose="020B0503020204020204" charset="-122"/>
              </a:rPr>
              <a:t>对比</a:t>
            </a:r>
            <a:r>
              <a:rPr lang="en-US" altLang="zh-CN" sz="900" b="1">
                <a:latin typeface="微软雅黑" panose="020B0503020204020204" charset="-122"/>
                <a:ea typeface="微软雅黑" panose="020B0503020204020204" charset="-122"/>
                <a:cs typeface="微软雅黑" panose="020B0503020204020204" charset="-122"/>
              </a:rPr>
              <a:t>[EB].(2024).</a:t>
            </a:r>
            <a:endParaRPr lang="en-US" altLang="zh-CN" sz="900" b="1">
              <a:latin typeface="微软雅黑" panose="020B0503020204020204" charset="-122"/>
              <a:ea typeface="微软雅黑" panose="020B0503020204020204" charset="-122"/>
              <a:cs typeface="微软雅黑" panose="020B0503020204020204" charset="-122"/>
            </a:endParaRPr>
          </a:p>
        </p:txBody>
      </p:sp>
      <p:pic>
        <p:nvPicPr>
          <p:cNvPr id="25" name="图片 24" descr="6.1"/>
          <p:cNvPicPr>
            <a:picLocks noChangeAspect="1"/>
          </p:cNvPicPr>
          <p:nvPr/>
        </p:nvPicPr>
        <p:blipFill>
          <a:blip r:embed="rId1"/>
          <a:stretch>
            <a:fillRect/>
          </a:stretch>
        </p:blipFill>
        <p:spPr>
          <a:xfrm>
            <a:off x="1226820" y="2143760"/>
            <a:ext cx="4518660" cy="3844290"/>
          </a:xfrm>
          <a:prstGeom prst="rect">
            <a:avLst/>
          </a:prstGeom>
        </p:spPr>
      </p:pic>
      <p:pic>
        <p:nvPicPr>
          <p:cNvPr id="26" name="图片 25" descr="6.2"/>
          <p:cNvPicPr>
            <a:picLocks noChangeAspect="1"/>
          </p:cNvPicPr>
          <p:nvPr/>
        </p:nvPicPr>
        <p:blipFill>
          <a:blip r:embed="rId2"/>
          <a:stretch>
            <a:fillRect/>
          </a:stretch>
        </p:blipFill>
        <p:spPr>
          <a:xfrm>
            <a:off x="6450965" y="2294890"/>
            <a:ext cx="4722495" cy="3542030"/>
          </a:xfrm>
          <a:prstGeom prst="rect">
            <a:avLst/>
          </a:prstGeom>
        </p:spPr>
      </p:pic>
      <p:sp>
        <p:nvSpPr>
          <p:cNvPr id="2" name="文本框 1"/>
          <p:cNvSpPr txBox="1"/>
          <p:nvPr/>
        </p:nvSpPr>
        <p:spPr>
          <a:xfrm>
            <a:off x="11396345" y="6489700"/>
            <a:ext cx="79565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10" name="矩形 9"/>
          <p:cNvSpPr/>
          <p:nvPr/>
        </p:nvSpPr>
        <p:spPr>
          <a:xfrm>
            <a:off x="876935" y="1367155"/>
            <a:ext cx="179070" cy="18478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188720" y="1240155"/>
            <a:ext cx="2009140" cy="445135"/>
          </a:xfrm>
          <a:prstGeom prst="rect">
            <a:avLst/>
          </a:prstGeom>
          <a:noFill/>
        </p:spPr>
        <p:txBody>
          <a:bodyPr wrap="square" rtlCol="0">
            <a:spAutoFit/>
          </a:bodyPr>
          <a:p>
            <a:r>
              <a:rPr lang="zh-CN" altLang="en-US" sz="2300" b="1">
                <a:solidFill>
                  <a:srgbClr val="305393"/>
                </a:solidFill>
              </a:rPr>
              <a:t>混塔其他</a:t>
            </a:r>
            <a:r>
              <a:rPr lang="zh-CN" altLang="en-US" sz="2300" b="1">
                <a:solidFill>
                  <a:srgbClr val="C00000"/>
                </a:solidFill>
              </a:rPr>
              <a:t>优势</a:t>
            </a:r>
            <a:endParaRPr lang="zh-CN" altLang="en-US" sz="2300" b="1">
              <a:solidFill>
                <a:srgbClr val="C00000"/>
              </a:solidFill>
            </a:endParaRPr>
          </a:p>
        </p:txBody>
      </p:sp>
      <p:sp>
        <p:nvSpPr>
          <p:cNvPr id="12" name="文本框 11"/>
          <p:cNvSpPr txBox="1"/>
          <p:nvPr/>
        </p:nvSpPr>
        <p:spPr>
          <a:xfrm>
            <a:off x="675005" y="1781810"/>
            <a:ext cx="2939415" cy="784860"/>
          </a:xfrm>
          <a:prstGeom prst="rect">
            <a:avLst/>
          </a:prstGeom>
          <a:noFill/>
        </p:spPr>
        <p:txBody>
          <a:bodyPr wrap="square" rtlCol="0">
            <a:noAutofit/>
          </a:bodyPr>
          <a:p>
            <a:r>
              <a:rPr lang="zh-CN" altLang="en-US" sz="2400" b="1">
                <a:solidFill>
                  <a:srgbClr val="305393"/>
                </a:solidFill>
              </a:rPr>
              <a:t>更稳定的运行状态及更低的维护成本</a:t>
            </a:r>
            <a:endParaRPr lang="zh-CN" altLang="en-US" sz="2400" b="1">
              <a:solidFill>
                <a:srgbClr val="305393"/>
              </a:solidFill>
            </a:endParaRPr>
          </a:p>
        </p:txBody>
      </p:sp>
      <p:sp>
        <p:nvSpPr>
          <p:cNvPr id="13" name="文本框 12"/>
          <p:cNvSpPr txBox="1"/>
          <p:nvPr/>
        </p:nvSpPr>
        <p:spPr>
          <a:xfrm>
            <a:off x="544195" y="2566670"/>
            <a:ext cx="3538855" cy="1040765"/>
          </a:xfrm>
          <a:prstGeom prst="rect">
            <a:avLst/>
          </a:prstGeom>
          <a:noFill/>
        </p:spPr>
        <p:txBody>
          <a:bodyPr wrap="square" rtlCol="0">
            <a:noAutofit/>
          </a:bodyPr>
          <a:p>
            <a:pPr>
              <a:lnSpc>
                <a:spcPct val="140000"/>
              </a:lnSpc>
              <a:spcBef>
                <a:spcPts val="0"/>
              </a:spcBef>
              <a:spcAft>
                <a:spcPts val="0"/>
              </a:spcAft>
            </a:pPr>
            <a:r>
              <a:rPr lang="zh-CN" altLang="en-US" sz="1200"/>
              <a:t>混凝土塔筒力学性能好，设计使用期内发生疲劳失效的风险低；混凝土材料的防腐蚀、防振性比钢材质更优，筒身无紧固件，无需检修维护塔筒筒身，延长主机寿命且大大降低运维</a:t>
            </a:r>
            <a:r>
              <a:rPr lang="zh-CN" altLang="en-US" sz="1200"/>
              <a:t>成本。</a:t>
            </a:r>
            <a:endParaRPr lang="zh-CN" altLang="en-US" sz="1200"/>
          </a:p>
        </p:txBody>
      </p:sp>
      <p:sp>
        <p:nvSpPr>
          <p:cNvPr id="14" name="文本框 13"/>
          <p:cNvSpPr txBox="1"/>
          <p:nvPr/>
        </p:nvSpPr>
        <p:spPr>
          <a:xfrm>
            <a:off x="675005" y="4114800"/>
            <a:ext cx="3670935" cy="445135"/>
          </a:xfrm>
          <a:prstGeom prst="rect">
            <a:avLst/>
          </a:prstGeom>
          <a:noFill/>
        </p:spPr>
        <p:txBody>
          <a:bodyPr wrap="square" rtlCol="0">
            <a:spAutoFit/>
          </a:bodyPr>
          <a:p>
            <a:r>
              <a:rPr lang="zh-CN" altLang="en-US" sz="2300" b="1">
                <a:solidFill>
                  <a:srgbClr val="305393"/>
                </a:solidFill>
              </a:rPr>
              <a:t>更大的承载能力及安全性</a:t>
            </a:r>
            <a:endParaRPr lang="zh-CN" altLang="en-US" sz="2300" b="1">
              <a:solidFill>
                <a:srgbClr val="305393"/>
              </a:solidFill>
            </a:endParaRPr>
          </a:p>
        </p:txBody>
      </p:sp>
      <p:sp>
        <p:nvSpPr>
          <p:cNvPr id="15" name="文本框 14"/>
          <p:cNvSpPr txBox="1"/>
          <p:nvPr/>
        </p:nvSpPr>
        <p:spPr>
          <a:xfrm>
            <a:off x="595630" y="4559935"/>
            <a:ext cx="3606800" cy="1124585"/>
          </a:xfrm>
          <a:prstGeom prst="rect">
            <a:avLst/>
          </a:prstGeom>
          <a:noFill/>
        </p:spPr>
        <p:txBody>
          <a:bodyPr wrap="square" rtlCol="0">
            <a:spAutoFit/>
          </a:bodyPr>
          <a:p>
            <a:pPr>
              <a:lnSpc>
                <a:spcPct val="140000"/>
              </a:lnSpc>
              <a:spcBef>
                <a:spcPts val="0"/>
              </a:spcBef>
              <a:spcAft>
                <a:spcPts val="0"/>
              </a:spcAft>
            </a:pPr>
            <a:r>
              <a:rPr lang="zh-CN" altLang="en-US" sz="1200"/>
              <a:t>混凝土材质可更好地满足大风机对塔筒稳定性需求；可承载更大叶片电机的安装重量。与基础连接方便可靠，整体性好，无刚度突变，降低了发生基础倾覆事故的</a:t>
            </a:r>
            <a:r>
              <a:rPr lang="zh-CN" altLang="en-US" sz="1200"/>
              <a:t>风险。</a:t>
            </a:r>
            <a:endParaRPr lang="zh-CN" altLang="en-US" sz="1200"/>
          </a:p>
        </p:txBody>
      </p:sp>
      <p:sp>
        <p:nvSpPr>
          <p:cNvPr id="16" name="文本框 15"/>
          <p:cNvSpPr txBox="1"/>
          <p:nvPr/>
        </p:nvSpPr>
        <p:spPr>
          <a:xfrm>
            <a:off x="8306435" y="2121535"/>
            <a:ext cx="3434715" cy="445135"/>
          </a:xfrm>
          <a:prstGeom prst="rect">
            <a:avLst/>
          </a:prstGeom>
          <a:noFill/>
        </p:spPr>
        <p:txBody>
          <a:bodyPr wrap="square" rtlCol="0">
            <a:spAutoFit/>
          </a:bodyPr>
          <a:p>
            <a:r>
              <a:rPr lang="zh-CN" altLang="en-US" sz="2300" b="1">
                <a:solidFill>
                  <a:srgbClr val="305393"/>
                </a:solidFill>
              </a:rPr>
              <a:t>稳定性好，更高的发电量</a:t>
            </a:r>
            <a:endParaRPr lang="zh-CN" altLang="en-US" sz="2300" b="1">
              <a:solidFill>
                <a:srgbClr val="305393"/>
              </a:solidFill>
            </a:endParaRPr>
          </a:p>
        </p:txBody>
      </p:sp>
      <p:sp>
        <p:nvSpPr>
          <p:cNvPr id="17" name="文本框 16"/>
          <p:cNvSpPr txBox="1"/>
          <p:nvPr/>
        </p:nvSpPr>
        <p:spPr>
          <a:xfrm>
            <a:off x="8231505" y="2566670"/>
            <a:ext cx="3728720" cy="1124585"/>
          </a:xfrm>
          <a:prstGeom prst="rect">
            <a:avLst/>
          </a:prstGeom>
          <a:noFill/>
        </p:spPr>
        <p:txBody>
          <a:bodyPr wrap="square" rtlCol="0">
            <a:spAutoFit/>
          </a:bodyPr>
          <a:p>
            <a:pPr>
              <a:lnSpc>
                <a:spcPct val="140000"/>
              </a:lnSpc>
              <a:spcBef>
                <a:spcPts val="0"/>
              </a:spcBef>
              <a:spcAft>
                <a:spcPts val="0"/>
              </a:spcAft>
            </a:pPr>
            <a:r>
              <a:rPr lang="zh-CN" altLang="en-US" sz="1200"/>
              <a:t>混凝土塔筒刚度大，通过优化设计使结构一阶频率落在允许范围内。由于一阶频率高于风轮最小转速所对应的</a:t>
            </a:r>
            <a:r>
              <a:rPr lang="en-US" altLang="zh-CN" sz="1200"/>
              <a:t>1P</a:t>
            </a:r>
            <a:r>
              <a:rPr lang="zh-CN" altLang="en-US" sz="1200"/>
              <a:t>频率，控制系统无需复杂的频率穿越算法，可大幅减小顶端摆幅，延长风电机组</a:t>
            </a:r>
            <a:r>
              <a:rPr lang="zh-CN" altLang="en-US" sz="1200"/>
              <a:t>疲劳寿命。</a:t>
            </a:r>
            <a:endParaRPr lang="zh-CN" altLang="en-US" sz="1200"/>
          </a:p>
        </p:txBody>
      </p:sp>
      <p:sp>
        <p:nvSpPr>
          <p:cNvPr id="19" name="文本框 18"/>
          <p:cNvSpPr txBox="1"/>
          <p:nvPr/>
        </p:nvSpPr>
        <p:spPr>
          <a:xfrm>
            <a:off x="8479155" y="3797300"/>
            <a:ext cx="3371215" cy="829945"/>
          </a:xfrm>
          <a:prstGeom prst="rect">
            <a:avLst/>
          </a:prstGeom>
          <a:noFill/>
        </p:spPr>
        <p:txBody>
          <a:bodyPr wrap="square" rtlCol="0">
            <a:spAutoFit/>
          </a:bodyPr>
          <a:p>
            <a:r>
              <a:rPr lang="zh-CN" altLang="en-US" sz="2400" b="1">
                <a:solidFill>
                  <a:srgbClr val="305393"/>
                </a:solidFill>
              </a:rPr>
              <a:t>更低的运输成本和更短的项目周期</a:t>
            </a:r>
            <a:endParaRPr lang="zh-CN" altLang="en-US" sz="2400" b="1">
              <a:solidFill>
                <a:srgbClr val="305393"/>
              </a:solidFill>
            </a:endParaRPr>
          </a:p>
        </p:txBody>
      </p:sp>
      <p:sp>
        <p:nvSpPr>
          <p:cNvPr id="21" name="文本框 20"/>
          <p:cNvSpPr txBox="1"/>
          <p:nvPr/>
        </p:nvSpPr>
        <p:spPr>
          <a:xfrm>
            <a:off x="8479155" y="4559935"/>
            <a:ext cx="3302000" cy="1383030"/>
          </a:xfrm>
          <a:prstGeom prst="rect">
            <a:avLst/>
          </a:prstGeom>
          <a:noFill/>
        </p:spPr>
        <p:txBody>
          <a:bodyPr wrap="square" rtlCol="0">
            <a:spAutoFit/>
          </a:bodyPr>
          <a:p>
            <a:pPr>
              <a:lnSpc>
                <a:spcPct val="140000"/>
              </a:lnSpc>
              <a:spcBef>
                <a:spcPts val="0"/>
              </a:spcBef>
              <a:spcAft>
                <a:spcPts val="0"/>
              </a:spcAft>
            </a:pPr>
            <a:r>
              <a:rPr lang="zh-CN" altLang="en-US" sz="1200"/>
              <a:t>预制管片可因地制宜，既可采取机位拼装，也可就近在堆场拼装，对运输道路没有特殊要求，混凝土每节塔高不超过</a:t>
            </a:r>
            <a:r>
              <a:rPr lang="en-US" altLang="zh-CN" sz="1200"/>
              <a:t>4</a:t>
            </a:r>
            <a:r>
              <a:rPr lang="zh-CN" altLang="en-US" sz="1200"/>
              <a:t>米，主机可通过，塔筒即可通过。同时混凝土塔筒所需的原材料可以就近取材，降低项目运输成本和</a:t>
            </a:r>
            <a:r>
              <a:rPr lang="zh-CN" altLang="en-US" sz="1200"/>
              <a:t>建设周期。</a:t>
            </a:r>
            <a:endParaRPr lang="zh-CN" altLang="en-US" sz="1200"/>
          </a:p>
        </p:txBody>
      </p:sp>
      <p:pic>
        <p:nvPicPr>
          <p:cNvPr id="22" name="图片 21" descr="7.1"/>
          <p:cNvPicPr>
            <a:picLocks noChangeAspect="1"/>
          </p:cNvPicPr>
          <p:nvPr/>
        </p:nvPicPr>
        <p:blipFill>
          <a:blip r:embed="rId1"/>
          <a:stretch>
            <a:fillRect/>
          </a:stretch>
        </p:blipFill>
        <p:spPr>
          <a:xfrm>
            <a:off x="4020185" y="1493520"/>
            <a:ext cx="2197735" cy="2197735"/>
          </a:xfrm>
          <a:prstGeom prst="rect">
            <a:avLst/>
          </a:prstGeom>
        </p:spPr>
      </p:pic>
      <p:pic>
        <p:nvPicPr>
          <p:cNvPr id="23" name="图片 22" descr="7.2"/>
          <p:cNvPicPr>
            <a:picLocks noChangeAspect="1"/>
          </p:cNvPicPr>
          <p:nvPr/>
        </p:nvPicPr>
        <p:blipFill>
          <a:blip r:embed="rId2"/>
          <a:stretch>
            <a:fillRect/>
          </a:stretch>
        </p:blipFill>
        <p:spPr>
          <a:xfrm>
            <a:off x="6279515" y="1970405"/>
            <a:ext cx="1890395" cy="1890395"/>
          </a:xfrm>
          <a:prstGeom prst="rect">
            <a:avLst/>
          </a:prstGeom>
        </p:spPr>
      </p:pic>
      <p:pic>
        <p:nvPicPr>
          <p:cNvPr id="24" name="图片 23" descr="7.3"/>
          <p:cNvPicPr>
            <a:picLocks noChangeAspect="1"/>
          </p:cNvPicPr>
          <p:nvPr/>
        </p:nvPicPr>
        <p:blipFill>
          <a:blip r:embed="rId3"/>
          <a:stretch>
            <a:fillRect/>
          </a:stretch>
        </p:blipFill>
        <p:spPr>
          <a:xfrm>
            <a:off x="4265930" y="3797300"/>
            <a:ext cx="1877060" cy="1877060"/>
          </a:xfrm>
          <a:prstGeom prst="rect">
            <a:avLst/>
          </a:prstGeom>
        </p:spPr>
      </p:pic>
      <p:pic>
        <p:nvPicPr>
          <p:cNvPr id="25" name="图片 24" descr="7.4"/>
          <p:cNvPicPr>
            <a:picLocks noChangeAspect="1"/>
          </p:cNvPicPr>
          <p:nvPr/>
        </p:nvPicPr>
        <p:blipFill>
          <a:blip r:embed="rId4"/>
          <a:stretch>
            <a:fillRect/>
          </a:stretch>
        </p:blipFill>
        <p:spPr>
          <a:xfrm>
            <a:off x="6262370" y="3950335"/>
            <a:ext cx="2115185" cy="2115185"/>
          </a:xfrm>
          <a:prstGeom prst="rect">
            <a:avLst/>
          </a:prstGeom>
        </p:spPr>
      </p:pic>
      <p:sp>
        <p:nvSpPr>
          <p:cNvPr id="2" name="文本框 1"/>
          <p:cNvSpPr txBox="1"/>
          <p:nvPr/>
        </p:nvSpPr>
        <p:spPr>
          <a:xfrm>
            <a:off x="11396345" y="6489700"/>
            <a:ext cx="79565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7/68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10" name="文本框 9"/>
          <p:cNvSpPr txBox="1"/>
          <p:nvPr/>
        </p:nvSpPr>
        <p:spPr>
          <a:xfrm>
            <a:off x="1054100" y="1198880"/>
            <a:ext cx="3853815" cy="275590"/>
          </a:xfrm>
          <a:prstGeom prst="rect">
            <a:avLst/>
          </a:prstGeom>
          <a:noFill/>
        </p:spPr>
        <p:txBody>
          <a:bodyPr wrap="square" rtlCol="0">
            <a:spAutoFit/>
          </a:bodyPr>
          <a:p>
            <a:r>
              <a:rPr lang="zh-CN" altLang="en-US" sz="1200" b="1">
                <a:latin typeface="微软雅黑" panose="020B0503020204020204" charset="-122"/>
                <a:ea typeface="微软雅黑" panose="020B0503020204020204" charset="-122"/>
              </a:rPr>
              <a:t>突发！国内首起风机混塔倒塔事故，塔身断成数节</a:t>
            </a:r>
            <a:endParaRPr lang="zh-CN" altLang="en-US" sz="1200" b="1">
              <a:latin typeface="微软雅黑" panose="020B0503020204020204" charset="-122"/>
              <a:ea typeface="微软雅黑" panose="020B0503020204020204" charset="-122"/>
            </a:endParaRPr>
          </a:p>
        </p:txBody>
      </p:sp>
      <p:sp>
        <p:nvSpPr>
          <p:cNvPr id="12" name="文本框 11"/>
          <p:cNvSpPr txBox="1"/>
          <p:nvPr/>
        </p:nvSpPr>
        <p:spPr>
          <a:xfrm>
            <a:off x="859155" y="5949315"/>
            <a:ext cx="10835640" cy="491490"/>
          </a:xfrm>
          <a:prstGeom prst="rect">
            <a:avLst/>
          </a:prstGeom>
          <a:noFill/>
        </p:spPr>
        <p:txBody>
          <a:bodyPr wrap="square" rtlCol="0">
            <a:spAutoFit/>
          </a:bodyPr>
          <a:p>
            <a:r>
              <a:rPr lang="zh-CN" altLang="en-US" sz="2600" b="1">
                <a:solidFill>
                  <a:srgbClr val="C00000"/>
                </a:solidFill>
                <a:latin typeface="微软雅黑" panose="020B0503020204020204" charset="-122"/>
                <a:ea typeface="微软雅黑" panose="020B0503020204020204" charset="-122"/>
              </a:rPr>
              <a:t>开展大型混塔式风电机组动力学分析与性能评估具有重要的工程价值</a:t>
            </a:r>
            <a:endParaRPr lang="zh-CN" altLang="en-US" sz="2600" b="1">
              <a:solidFill>
                <a:srgbClr val="C00000"/>
              </a:solidFill>
              <a:latin typeface="微软雅黑" panose="020B0503020204020204" charset="-122"/>
              <a:ea typeface="微软雅黑" panose="020B0503020204020204" charset="-122"/>
            </a:endParaRPr>
          </a:p>
        </p:txBody>
      </p:sp>
      <p:sp>
        <p:nvSpPr>
          <p:cNvPr id="13" name="文本框 12"/>
          <p:cNvSpPr txBox="1"/>
          <p:nvPr/>
        </p:nvSpPr>
        <p:spPr>
          <a:xfrm>
            <a:off x="1054100" y="1474470"/>
            <a:ext cx="3536950" cy="855345"/>
          </a:xfrm>
          <a:prstGeom prst="rect">
            <a:avLst/>
          </a:prstGeom>
          <a:noFill/>
        </p:spPr>
        <p:txBody>
          <a:bodyPr wrap="square" rtlCol="0">
            <a:noAutofit/>
          </a:bodyPr>
          <a:p>
            <a:r>
              <a:rPr lang="zh-CN" altLang="en-US" sz="900" b="1"/>
              <a:t>现风电双累报道，7月29日，安徽省毫州市蒙城具板桥集情附近某风电场突然发生一起风机倒塌事故，从国片可以看出，风机塔简断成政节，塔简美型上部为钢塌，下部为混凝土站构，机头和叶片锅坏严重。根关人员精测分析。本次事故可能是由于近期雨水较多，风机底郎基础净水严重，导致风机发生领斜倒场，日前事故无人员伤亡，事故具体原因尚无窗方通服。</a:t>
            </a:r>
            <a:endParaRPr lang="zh-CN" altLang="en-US" sz="900" b="1"/>
          </a:p>
        </p:txBody>
      </p:sp>
      <p:pic>
        <p:nvPicPr>
          <p:cNvPr id="14" name="图片 13" descr="8.1"/>
          <p:cNvPicPr>
            <a:picLocks noChangeAspect="1"/>
          </p:cNvPicPr>
          <p:nvPr/>
        </p:nvPicPr>
        <p:blipFill>
          <a:blip r:embed="rId1"/>
          <a:stretch>
            <a:fillRect/>
          </a:stretch>
        </p:blipFill>
        <p:spPr>
          <a:xfrm>
            <a:off x="1125220" y="2369820"/>
            <a:ext cx="3465830" cy="3465830"/>
          </a:xfrm>
          <a:prstGeom prst="rect">
            <a:avLst/>
          </a:prstGeom>
        </p:spPr>
      </p:pic>
      <p:sp>
        <p:nvSpPr>
          <p:cNvPr id="15" name="文本框 14"/>
          <p:cNvSpPr txBox="1"/>
          <p:nvPr/>
        </p:nvSpPr>
        <p:spPr>
          <a:xfrm>
            <a:off x="4687570" y="1756410"/>
            <a:ext cx="2744470" cy="229870"/>
          </a:xfrm>
          <a:prstGeom prst="rect">
            <a:avLst/>
          </a:prstGeom>
          <a:noFill/>
        </p:spPr>
        <p:txBody>
          <a:bodyPr wrap="square" rtlCol="0">
            <a:spAutoFit/>
          </a:bodyPr>
          <a:p>
            <a:r>
              <a:rPr lang="zh-CN" altLang="en-US" sz="900" b="1"/>
              <a:t>近日，吉林某风电场发生一起风电混塔倒塌事故</a:t>
            </a:r>
            <a:r>
              <a:rPr lang="zh-CN" altLang="en-US" sz="800"/>
              <a:t>。</a:t>
            </a:r>
            <a:endParaRPr lang="zh-CN" altLang="en-US" sz="800"/>
          </a:p>
        </p:txBody>
      </p:sp>
      <p:sp>
        <p:nvSpPr>
          <p:cNvPr id="16" name="文本框 15"/>
          <p:cNvSpPr txBox="1"/>
          <p:nvPr/>
        </p:nvSpPr>
        <p:spPr>
          <a:xfrm>
            <a:off x="4733925" y="1240790"/>
            <a:ext cx="2723515" cy="275590"/>
          </a:xfrm>
          <a:prstGeom prst="rect">
            <a:avLst/>
          </a:prstGeom>
          <a:noFill/>
        </p:spPr>
        <p:txBody>
          <a:bodyPr wrap="square" rtlCol="0">
            <a:spAutoFit/>
          </a:bodyPr>
          <a:p>
            <a:r>
              <a:rPr lang="zh-CN" altLang="en-US" sz="1200" b="1">
                <a:sym typeface="+mn-ea"/>
              </a:rPr>
              <a:t>吉林发生一起风电混塔倒塌事故</a:t>
            </a:r>
            <a:endParaRPr lang="zh-CN" altLang="en-US" sz="1200"/>
          </a:p>
        </p:txBody>
      </p:sp>
      <p:pic>
        <p:nvPicPr>
          <p:cNvPr id="17" name="图片 16"/>
          <p:cNvPicPr>
            <a:picLocks noChangeAspect="1"/>
          </p:cNvPicPr>
          <p:nvPr/>
        </p:nvPicPr>
        <p:blipFill>
          <a:blip r:embed="rId2"/>
          <a:srcRect l="11712" r="6830"/>
          <a:stretch>
            <a:fillRect/>
          </a:stretch>
        </p:blipFill>
        <p:spPr>
          <a:xfrm>
            <a:off x="5696585" y="2118360"/>
            <a:ext cx="2526030" cy="1608455"/>
          </a:xfrm>
          <a:prstGeom prst="rect">
            <a:avLst/>
          </a:prstGeom>
        </p:spPr>
      </p:pic>
      <p:sp>
        <p:nvSpPr>
          <p:cNvPr id="18" name="文本框 17"/>
          <p:cNvSpPr txBox="1"/>
          <p:nvPr/>
        </p:nvSpPr>
        <p:spPr>
          <a:xfrm>
            <a:off x="4687570" y="3726815"/>
            <a:ext cx="1108075" cy="229870"/>
          </a:xfrm>
          <a:prstGeom prst="rect">
            <a:avLst/>
          </a:prstGeom>
          <a:noFill/>
        </p:spPr>
        <p:txBody>
          <a:bodyPr wrap="square" rtlCol="0">
            <a:spAutoFit/>
          </a:bodyPr>
          <a:p>
            <a:r>
              <a:rPr lang="zh-CN" altLang="en-US" sz="900"/>
              <a:t>来源：风电事故</a:t>
            </a:r>
            <a:endParaRPr lang="zh-CN" altLang="en-US" sz="900"/>
          </a:p>
        </p:txBody>
      </p:sp>
      <p:pic>
        <p:nvPicPr>
          <p:cNvPr id="19" name="图片 18" descr="8.3"/>
          <p:cNvPicPr>
            <a:picLocks noChangeAspect="1"/>
          </p:cNvPicPr>
          <p:nvPr/>
        </p:nvPicPr>
        <p:blipFill>
          <a:blip r:embed="rId3"/>
          <a:stretch>
            <a:fillRect/>
          </a:stretch>
        </p:blipFill>
        <p:spPr>
          <a:xfrm>
            <a:off x="5267325" y="4300855"/>
            <a:ext cx="6106795" cy="1527175"/>
          </a:xfrm>
          <a:prstGeom prst="rect">
            <a:avLst/>
          </a:prstGeom>
        </p:spPr>
      </p:pic>
      <p:sp>
        <p:nvSpPr>
          <p:cNvPr id="21" name="文本框 20"/>
          <p:cNvSpPr txBox="1"/>
          <p:nvPr/>
        </p:nvSpPr>
        <p:spPr>
          <a:xfrm>
            <a:off x="8009890" y="4844415"/>
            <a:ext cx="621030" cy="460375"/>
          </a:xfrm>
          <a:prstGeom prst="rect">
            <a:avLst/>
          </a:prstGeom>
          <a:noFill/>
        </p:spPr>
        <p:txBody>
          <a:bodyPr wrap="square" rtlCol="0">
            <a:spAutoFit/>
          </a:bodyPr>
          <a:p>
            <a:r>
              <a:rPr lang="en-US" altLang="zh-CN" sz="2400" b="1">
                <a:solidFill>
                  <a:schemeClr val="bg1"/>
                </a:solidFill>
                <a:latin typeface="微软雅黑" panose="020B0503020204020204" charset="-122"/>
                <a:ea typeface="微软雅黑" panose="020B0503020204020204" charset="-122"/>
              </a:rPr>
              <a:t>VS</a:t>
            </a:r>
            <a:endParaRPr lang="en-US" altLang="zh-CN" sz="2400" b="1">
              <a:solidFill>
                <a:schemeClr val="bg1"/>
              </a:solidFill>
              <a:latin typeface="微软雅黑" panose="020B0503020204020204" charset="-122"/>
              <a:ea typeface="微软雅黑" panose="020B0503020204020204" charset="-122"/>
            </a:endParaRPr>
          </a:p>
        </p:txBody>
      </p:sp>
      <p:sp>
        <p:nvSpPr>
          <p:cNvPr id="22" name="文本框 21"/>
          <p:cNvSpPr txBox="1"/>
          <p:nvPr/>
        </p:nvSpPr>
        <p:spPr>
          <a:xfrm>
            <a:off x="6029325" y="4772660"/>
            <a:ext cx="1707515" cy="583565"/>
          </a:xfrm>
          <a:prstGeom prst="rect">
            <a:avLst/>
          </a:prstGeom>
          <a:noFill/>
        </p:spPr>
        <p:txBody>
          <a:bodyPr wrap="square" rtlCol="0">
            <a:spAutoFit/>
          </a:bodyPr>
          <a:p>
            <a:r>
              <a:rPr lang="zh-CN" altLang="en-US" sz="3200" b="1">
                <a:solidFill>
                  <a:schemeClr val="bg1"/>
                </a:solidFill>
              </a:rPr>
              <a:t>安全性？</a:t>
            </a:r>
            <a:endParaRPr lang="zh-CN" altLang="en-US" sz="3200" b="1">
              <a:solidFill>
                <a:schemeClr val="bg1"/>
              </a:solidFill>
            </a:endParaRPr>
          </a:p>
        </p:txBody>
      </p:sp>
      <p:sp>
        <p:nvSpPr>
          <p:cNvPr id="23" name="文本框 22"/>
          <p:cNvSpPr txBox="1"/>
          <p:nvPr/>
        </p:nvSpPr>
        <p:spPr>
          <a:xfrm>
            <a:off x="8839200" y="4772660"/>
            <a:ext cx="2151380" cy="583565"/>
          </a:xfrm>
          <a:prstGeom prst="rect">
            <a:avLst/>
          </a:prstGeom>
          <a:noFill/>
        </p:spPr>
        <p:txBody>
          <a:bodyPr wrap="square" rtlCol="0">
            <a:spAutoFit/>
          </a:bodyPr>
          <a:p>
            <a:r>
              <a:rPr lang="zh-CN" altLang="en-US" sz="3200" b="1">
                <a:solidFill>
                  <a:schemeClr val="bg1"/>
                </a:solidFill>
              </a:rPr>
              <a:t>快速发展</a:t>
            </a:r>
            <a:endParaRPr lang="zh-CN" altLang="en-US" sz="3200" b="1">
              <a:solidFill>
                <a:schemeClr val="bg1"/>
              </a:solidFill>
            </a:endParaRPr>
          </a:p>
        </p:txBody>
      </p:sp>
      <p:pic>
        <p:nvPicPr>
          <p:cNvPr id="24" name="图片 23"/>
          <p:cNvPicPr>
            <a:picLocks noChangeAspect="1"/>
          </p:cNvPicPr>
          <p:nvPr/>
        </p:nvPicPr>
        <p:blipFill>
          <a:blip r:embed="rId4"/>
          <a:stretch>
            <a:fillRect/>
          </a:stretch>
        </p:blipFill>
        <p:spPr>
          <a:xfrm>
            <a:off x="8708390" y="2936875"/>
            <a:ext cx="1986280" cy="1299210"/>
          </a:xfrm>
          <a:prstGeom prst="rect">
            <a:avLst/>
          </a:prstGeom>
        </p:spPr>
      </p:pic>
      <p:sp>
        <p:nvSpPr>
          <p:cNvPr id="25" name="文本框 24"/>
          <p:cNvSpPr txBox="1"/>
          <p:nvPr/>
        </p:nvSpPr>
        <p:spPr>
          <a:xfrm>
            <a:off x="8699500" y="1149350"/>
            <a:ext cx="2674620" cy="213995"/>
          </a:xfrm>
          <a:prstGeom prst="rect">
            <a:avLst/>
          </a:prstGeom>
          <a:noFill/>
        </p:spPr>
        <p:txBody>
          <a:bodyPr wrap="square" rtlCol="0">
            <a:spAutoFit/>
          </a:bodyPr>
          <a:p>
            <a:r>
              <a:rPr lang="zh-CN" altLang="en-US" sz="800" b="1">
                <a:latin typeface="微软雅黑" panose="020B0503020204020204" charset="-122"/>
                <a:ea typeface="微软雅黑" panose="020B0503020204020204" charset="-122"/>
                <a:cs typeface="微软雅黑" panose="020B0503020204020204" charset="-122"/>
              </a:rPr>
              <a:t>某项目</a:t>
            </a:r>
            <a:r>
              <a:rPr lang="en-US" altLang="zh-CN" sz="800" b="1">
                <a:latin typeface="微软雅黑" panose="020B0503020204020204" charset="-122"/>
                <a:ea typeface="微软雅黑" panose="020B0503020204020204" charset="-122"/>
                <a:cs typeface="微软雅黑" panose="020B0503020204020204" charset="-122"/>
              </a:rPr>
              <a:t>140</a:t>
            </a:r>
            <a:r>
              <a:rPr lang="zh-CN" altLang="en-US" sz="800" b="1">
                <a:latin typeface="微软雅黑" panose="020B0503020204020204" charset="-122"/>
                <a:ea typeface="微软雅黑" panose="020B0503020204020204" charset="-122"/>
                <a:cs typeface="微软雅黑" panose="020B0503020204020204" charset="-122"/>
              </a:rPr>
              <a:t>米风机混凝土塔筒出现严重安全隐患</a:t>
            </a:r>
            <a:endParaRPr lang="zh-CN" altLang="en-US" sz="8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8738870" y="1408430"/>
            <a:ext cx="2446655" cy="368300"/>
          </a:xfrm>
          <a:prstGeom prst="rect">
            <a:avLst/>
          </a:prstGeom>
          <a:noFill/>
        </p:spPr>
        <p:txBody>
          <a:bodyPr wrap="square" rtlCol="0">
            <a:spAutoFit/>
          </a:bodyPr>
          <a:p>
            <a:endParaRPr lang="zh-CN" altLang="en-US"/>
          </a:p>
        </p:txBody>
      </p:sp>
      <p:sp>
        <p:nvSpPr>
          <p:cNvPr id="3" name="文本框 2"/>
          <p:cNvSpPr txBox="1"/>
          <p:nvPr/>
        </p:nvSpPr>
        <p:spPr>
          <a:xfrm>
            <a:off x="11396345" y="6489700"/>
            <a:ext cx="79565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8/68</a:t>
            </a:r>
            <a:endParaRPr lang="en-US" altLang="zh-CN">
              <a:latin typeface="微软雅黑" panose="020B0503020204020204" charset="-122"/>
              <a:ea typeface="微软雅黑" panose="020B0503020204020204" charset="-122"/>
            </a:endParaRPr>
          </a:p>
        </p:txBody>
      </p:sp>
      <p:sp>
        <p:nvSpPr>
          <p:cNvPr id="4" name="文本框 3"/>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10" name="矩形 9"/>
          <p:cNvSpPr/>
          <p:nvPr/>
        </p:nvSpPr>
        <p:spPr>
          <a:xfrm>
            <a:off x="888365" y="1244600"/>
            <a:ext cx="165735" cy="17589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191260" y="1097915"/>
            <a:ext cx="2470785" cy="460375"/>
          </a:xfrm>
          <a:prstGeom prst="rect">
            <a:avLst/>
          </a:prstGeom>
          <a:noFill/>
        </p:spPr>
        <p:txBody>
          <a:bodyPr wrap="square" rtlCol="0">
            <a:spAutoFit/>
          </a:bodyPr>
          <a:p>
            <a:r>
              <a:rPr lang="zh-CN" altLang="en-US" sz="2400" b="1">
                <a:solidFill>
                  <a:srgbClr val="305393"/>
                </a:solidFill>
              </a:rPr>
              <a:t>研究目的与内容</a:t>
            </a:r>
            <a:endParaRPr lang="zh-CN" altLang="en-US" sz="2400" b="1">
              <a:solidFill>
                <a:srgbClr val="305393"/>
              </a:solidFill>
            </a:endParaRPr>
          </a:p>
        </p:txBody>
      </p:sp>
      <p:sp>
        <p:nvSpPr>
          <p:cNvPr id="12" name="圆角矩形 11"/>
          <p:cNvSpPr/>
          <p:nvPr/>
        </p:nvSpPr>
        <p:spPr>
          <a:xfrm>
            <a:off x="853440" y="1597660"/>
            <a:ext cx="10853420" cy="882015"/>
          </a:xfrm>
          <a:prstGeom prst="roundRect">
            <a:avLst/>
          </a:prstGeom>
          <a:noFill/>
          <a:ln w="19050">
            <a:solidFill>
              <a:srgbClr val="324E72"/>
            </a:solidFill>
          </a:ln>
          <a:extLst>
            <a:ext uri="{909E8E84-426E-40DD-AFC4-6F175D3DCCD1}">
              <a14:hiddenFill xmlns:a14="http://schemas.microsoft.com/office/drawing/2010/main">
                <a:solidFill>
                  <a:srgbClr val="305393"/>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矩形 12"/>
          <p:cNvSpPr/>
          <p:nvPr/>
        </p:nvSpPr>
        <p:spPr>
          <a:xfrm>
            <a:off x="652145" y="1832610"/>
            <a:ext cx="1379855" cy="43878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研究目的</a:t>
            </a:r>
            <a:endParaRPr lang="zh-CN" altLang="en-US" sz="1600" b="1"/>
          </a:p>
        </p:txBody>
      </p:sp>
      <p:sp>
        <p:nvSpPr>
          <p:cNvPr id="14" name="椭圆 13"/>
          <p:cNvSpPr/>
          <p:nvPr/>
        </p:nvSpPr>
        <p:spPr>
          <a:xfrm>
            <a:off x="2369185" y="1809115"/>
            <a:ext cx="76200" cy="7620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2369185" y="2012315"/>
            <a:ext cx="76200" cy="7620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2369185" y="2215515"/>
            <a:ext cx="76200" cy="7620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2568575" y="1701165"/>
            <a:ext cx="8811260" cy="291465"/>
          </a:xfrm>
          <a:prstGeom prst="rect">
            <a:avLst/>
          </a:prstGeom>
          <a:noFill/>
        </p:spPr>
        <p:txBody>
          <a:bodyPr wrap="square" rtlCol="0">
            <a:spAutoFit/>
          </a:bodyPr>
          <a:p>
            <a:r>
              <a:rPr lang="zh-CN" altLang="en-US" sz="1300" b="1"/>
              <a:t>面向大型混塔式风电机组动力学行为复杂、建模精度与计算效率难兼顾等问题，</a:t>
            </a:r>
            <a:r>
              <a:rPr lang="zh-CN" altLang="en-US" sz="1300" b="1">
                <a:solidFill>
                  <a:srgbClr val="C00000"/>
                </a:solidFill>
              </a:rPr>
              <a:t>构建高精度一体化动力学分析模型；</a:t>
            </a:r>
            <a:endParaRPr lang="zh-CN" altLang="en-US" sz="1300" b="1">
              <a:solidFill>
                <a:srgbClr val="C00000"/>
              </a:solidFill>
            </a:endParaRPr>
          </a:p>
        </p:txBody>
      </p:sp>
      <p:sp>
        <p:nvSpPr>
          <p:cNvPr id="18" name="文本框 17"/>
          <p:cNvSpPr txBox="1"/>
          <p:nvPr/>
        </p:nvSpPr>
        <p:spPr>
          <a:xfrm>
            <a:off x="2568575" y="1885315"/>
            <a:ext cx="8340725" cy="281305"/>
          </a:xfrm>
          <a:prstGeom prst="rect">
            <a:avLst/>
          </a:prstGeom>
          <a:noFill/>
        </p:spPr>
        <p:txBody>
          <a:bodyPr wrap="square" rtlCol="0">
            <a:noAutofit/>
          </a:bodyPr>
          <a:p>
            <a:r>
              <a:rPr lang="zh-CN" altLang="en-US" sz="1400" b="1"/>
              <a:t>综合运用多体动力学、有限元法与子系统联合仿真技术，揭示正常及极端风况下的</a:t>
            </a:r>
            <a:r>
              <a:rPr lang="zh-CN" altLang="en-US" sz="1400" b="1">
                <a:solidFill>
                  <a:srgbClr val="C00000"/>
                </a:solidFill>
              </a:rPr>
              <a:t>非线性耦合机理；</a:t>
            </a:r>
            <a:endParaRPr lang="zh-CN" altLang="en-US" sz="1400" b="1">
              <a:solidFill>
                <a:srgbClr val="C00000"/>
              </a:solidFill>
            </a:endParaRPr>
          </a:p>
        </p:txBody>
      </p:sp>
      <p:sp>
        <p:nvSpPr>
          <p:cNvPr id="19" name="文本框 18"/>
          <p:cNvSpPr txBox="1"/>
          <p:nvPr/>
        </p:nvSpPr>
        <p:spPr>
          <a:xfrm>
            <a:off x="2568575" y="2135505"/>
            <a:ext cx="7193915" cy="267335"/>
          </a:xfrm>
          <a:prstGeom prst="rect">
            <a:avLst/>
          </a:prstGeom>
          <a:noFill/>
        </p:spPr>
        <p:txBody>
          <a:bodyPr wrap="square" rtlCol="0">
            <a:noAutofit/>
          </a:bodyPr>
          <a:p>
            <a:r>
              <a:rPr lang="zh-CN" altLang="en-US" sz="1400" b="1"/>
              <a:t>为</a:t>
            </a:r>
            <a:r>
              <a:rPr lang="zh-CN" altLang="en-US" sz="1400" b="1">
                <a:solidFill>
                  <a:srgbClr val="C00000"/>
                </a:solidFill>
              </a:rPr>
              <a:t>动力响应分析、疲劳寿命评估、可靠度分析与结构性能提升</a:t>
            </a:r>
            <a:r>
              <a:rPr lang="zh-CN" altLang="en-US" sz="1400" b="1"/>
              <a:t>提供理论基础与方法支撑。</a:t>
            </a:r>
            <a:endParaRPr lang="zh-CN" altLang="en-US" sz="1400" b="1"/>
          </a:p>
        </p:txBody>
      </p:sp>
      <p:sp>
        <p:nvSpPr>
          <p:cNvPr id="20" name="圆角矩形 19"/>
          <p:cNvSpPr/>
          <p:nvPr/>
        </p:nvSpPr>
        <p:spPr>
          <a:xfrm>
            <a:off x="854075" y="2545080"/>
            <a:ext cx="10852785" cy="1176655"/>
          </a:xfrm>
          <a:prstGeom prst="roundRect">
            <a:avLst/>
          </a:pr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矩形 20"/>
          <p:cNvSpPr/>
          <p:nvPr/>
        </p:nvSpPr>
        <p:spPr>
          <a:xfrm>
            <a:off x="657860" y="2950210"/>
            <a:ext cx="1362075" cy="43878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500" b="1"/>
              <a:t>论文逻辑框架</a:t>
            </a:r>
            <a:endParaRPr lang="zh-CN" altLang="en-US" sz="1500" b="1"/>
          </a:p>
        </p:txBody>
      </p:sp>
      <p:sp>
        <p:nvSpPr>
          <p:cNvPr id="22" name="圆角矩形 21"/>
          <p:cNvSpPr/>
          <p:nvPr/>
        </p:nvSpPr>
        <p:spPr>
          <a:xfrm>
            <a:off x="2445385" y="2700020"/>
            <a:ext cx="1464310" cy="549910"/>
          </a:xfrm>
          <a:prstGeom prst="roundRect">
            <a:avLst/>
          </a:pr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nvSpPr>
        <p:spPr>
          <a:xfrm>
            <a:off x="2733040" y="2743200"/>
            <a:ext cx="882650" cy="460375"/>
          </a:xfrm>
          <a:prstGeom prst="rect">
            <a:avLst/>
          </a:prstGeom>
          <a:noFill/>
        </p:spPr>
        <p:txBody>
          <a:bodyPr wrap="square" rtlCol="0">
            <a:spAutoFit/>
          </a:bodyPr>
          <a:p>
            <a:pPr>
              <a:lnSpc>
                <a:spcPct val="100000"/>
              </a:lnSpc>
            </a:pP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理论分析</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第</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2</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章</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a:t>
            </a:r>
            <a:endParaRPr lang="en-US" altLang="zh-CN" sz="1200" b="1">
              <a:solidFill>
                <a:srgbClr val="324E72"/>
              </a:solidFill>
              <a:latin typeface="微软雅黑" panose="020B0503020204020204" charset="-122"/>
              <a:ea typeface="微软雅黑" panose="020B0503020204020204" charset="-122"/>
              <a:cs typeface="微软雅黑" panose="020B0503020204020204" charset="-122"/>
            </a:endParaRPr>
          </a:p>
        </p:txBody>
      </p:sp>
      <p:sp>
        <p:nvSpPr>
          <p:cNvPr id="24" name="右箭头 23"/>
          <p:cNvSpPr/>
          <p:nvPr/>
        </p:nvSpPr>
        <p:spPr>
          <a:xfrm>
            <a:off x="4022725" y="2856230"/>
            <a:ext cx="386715" cy="248285"/>
          </a:xfrm>
          <a:prstGeom prst="rightArrow">
            <a:avLst/>
          </a:prstGeom>
          <a:solidFill>
            <a:srgbClr val="05225C"/>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右箭头 24"/>
          <p:cNvSpPr/>
          <p:nvPr/>
        </p:nvSpPr>
        <p:spPr>
          <a:xfrm>
            <a:off x="6343015" y="2856230"/>
            <a:ext cx="386715" cy="248285"/>
          </a:xfrm>
          <a:prstGeom prst="rightArrow">
            <a:avLst/>
          </a:prstGeom>
          <a:solidFill>
            <a:srgbClr val="05225C"/>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右箭头 25"/>
          <p:cNvSpPr/>
          <p:nvPr/>
        </p:nvSpPr>
        <p:spPr>
          <a:xfrm>
            <a:off x="9622790" y="2856230"/>
            <a:ext cx="386715" cy="248285"/>
          </a:xfrm>
          <a:prstGeom prst="rightArrow">
            <a:avLst/>
          </a:prstGeom>
          <a:solidFill>
            <a:srgbClr val="05225C"/>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圆角矩形 26"/>
          <p:cNvSpPr/>
          <p:nvPr/>
        </p:nvSpPr>
        <p:spPr>
          <a:xfrm>
            <a:off x="4561205" y="2698115"/>
            <a:ext cx="1633855" cy="544830"/>
          </a:xfrm>
          <a:prstGeom prst="roundRect">
            <a:avLst/>
          </a:pr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圆角矩形 27"/>
          <p:cNvSpPr/>
          <p:nvPr/>
        </p:nvSpPr>
        <p:spPr>
          <a:xfrm>
            <a:off x="6864985" y="2698750"/>
            <a:ext cx="2622550" cy="572770"/>
          </a:xfrm>
          <a:prstGeom prst="roundRect">
            <a:avLst/>
          </a:pr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圆角矩形 28"/>
          <p:cNvSpPr/>
          <p:nvPr/>
        </p:nvSpPr>
        <p:spPr>
          <a:xfrm>
            <a:off x="10157460" y="2729865"/>
            <a:ext cx="1399540" cy="518795"/>
          </a:xfrm>
          <a:prstGeom prst="roundRect">
            <a:avLst/>
          </a:pr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文本框 29"/>
          <p:cNvSpPr txBox="1"/>
          <p:nvPr/>
        </p:nvSpPr>
        <p:spPr>
          <a:xfrm>
            <a:off x="4928235" y="2769870"/>
            <a:ext cx="1137285" cy="460375"/>
          </a:xfrm>
          <a:prstGeom prst="rect">
            <a:avLst/>
          </a:prstGeom>
          <a:noFill/>
          <a:ln w="19050">
            <a:noFill/>
          </a:ln>
        </p:spPr>
        <p:txBody>
          <a:bodyPr wrap="square" rtlCol="0">
            <a:spAutoFit/>
          </a:bodyPr>
          <a:p>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模型构建</a:t>
            </a:r>
            <a:endParaRPr lang="zh-CN" altLang="en-US" sz="1200" b="1">
              <a:solidFill>
                <a:srgbClr val="324E72"/>
              </a:solidFill>
              <a:latin typeface="微软雅黑" panose="020B0503020204020204" charset="-122"/>
              <a:ea typeface="微软雅黑" panose="020B0503020204020204" charset="-122"/>
              <a:cs typeface="微软雅黑" panose="020B0503020204020204" charset="-122"/>
            </a:endParaRPr>
          </a:p>
          <a:p>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第</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3</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4</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章</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a:t>
            </a:r>
            <a:endParaRPr lang="en-US" altLang="zh-CN" sz="1200" b="1">
              <a:solidFill>
                <a:srgbClr val="324E72"/>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6854190" y="2698750"/>
            <a:ext cx="2466340" cy="551180"/>
          </a:xfrm>
          <a:prstGeom prst="rect">
            <a:avLst/>
          </a:prstGeom>
          <a:noFill/>
          <a:ln w="19050">
            <a:noFill/>
          </a:ln>
        </p:spPr>
        <p:txBody>
          <a:bodyPr wrap="square" rtlCol="0">
            <a:noAutofit/>
          </a:bodyPr>
          <a:p>
            <a:pPr>
              <a:lnSpc>
                <a:spcPct val="90000"/>
              </a:lnSpc>
              <a:spcBef>
                <a:spcPts val="0"/>
              </a:spcBef>
              <a:spcAft>
                <a:spcPts val="0"/>
              </a:spcAft>
            </a:pP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        </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响应分析与结构性能评估</a:t>
            </a:r>
            <a:endParaRPr lang="zh-CN" altLang="en-US" sz="1200" b="1">
              <a:solidFill>
                <a:srgbClr val="324E72"/>
              </a:solidFill>
              <a:latin typeface="微软雅黑" panose="020B0503020204020204" charset="-122"/>
              <a:ea typeface="微软雅黑" panose="020B0503020204020204" charset="-122"/>
              <a:cs typeface="微软雅黑" panose="020B0503020204020204" charset="-122"/>
            </a:endParaRPr>
          </a:p>
          <a:p>
            <a:pPr algn="ctr">
              <a:lnSpc>
                <a:spcPct val="90000"/>
              </a:lnSpc>
              <a:spcBef>
                <a:spcPts val="0"/>
              </a:spcBef>
              <a:spcAft>
                <a:spcPts val="0"/>
              </a:spcAft>
            </a:pP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第</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5</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6</a:t>
            </a:r>
            <a:r>
              <a:rPr lang="zh-CN" altLang="en-US" sz="1200" b="1">
                <a:solidFill>
                  <a:srgbClr val="324E72"/>
                </a:solidFill>
                <a:latin typeface="微软雅黑" panose="020B0503020204020204" charset="-122"/>
                <a:ea typeface="微软雅黑" panose="020B0503020204020204" charset="-122"/>
                <a:cs typeface="微软雅黑" panose="020B0503020204020204" charset="-122"/>
              </a:rPr>
              <a:t>章</a:t>
            </a:r>
            <a:r>
              <a:rPr lang="en-US" altLang="zh-CN" sz="1200" b="1">
                <a:solidFill>
                  <a:srgbClr val="324E72"/>
                </a:solidFill>
                <a:latin typeface="微软雅黑" panose="020B0503020204020204" charset="-122"/>
                <a:ea typeface="微软雅黑" panose="020B0503020204020204" charset="-122"/>
                <a:cs typeface="微软雅黑" panose="020B0503020204020204" charset="-122"/>
              </a:rPr>
              <a:t>)</a:t>
            </a:r>
            <a:endParaRPr lang="en-US" altLang="zh-CN" sz="1200" b="1">
              <a:solidFill>
                <a:srgbClr val="324E72"/>
              </a:solidFill>
              <a:latin typeface="微软雅黑" panose="020B0503020204020204" charset="-122"/>
              <a:ea typeface="微软雅黑" panose="020B0503020204020204" charset="-122"/>
              <a:cs typeface="微软雅黑" panose="020B0503020204020204" charset="-122"/>
            </a:endParaRPr>
          </a:p>
          <a:p>
            <a:pPr algn="ctr">
              <a:lnSpc>
                <a:spcPct val="90000"/>
              </a:lnSpc>
              <a:spcBef>
                <a:spcPts val="0"/>
              </a:spcBef>
              <a:spcAft>
                <a:spcPts val="0"/>
              </a:spcAft>
            </a:pPr>
            <a:r>
              <a:rPr lang="zh-CN" altLang="en-US" sz="1000" b="1">
                <a:solidFill>
                  <a:srgbClr val="324E72"/>
                </a:solidFill>
                <a:latin typeface="微软雅黑" panose="020B0503020204020204" charset="-122"/>
                <a:ea typeface="微软雅黑" panose="020B0503020204020204" charset="-122"/>
                <a:cs typeface="微软雅黑" panose="020B0503020204020204" charset="-122"/>
              </a:rPr>
              <a:t>动力响应性能</a:t>
            </a:r>
            <a:r>
              <a:rPr lang="en-US" altLang="zh-CN" sz="1000" b="1">
                <a:solidFill>
                  <a:srgbClr val="324E72"/>
                </a:solidFill>
                <a:latin typeface="微软雅黑" panose="020B0503020204020204" charset="-122"/>
                <a:ea typeface="微软雅黑" panose="020B0503020204020204" charset="-122"/>
                <a:cs typeface="微软雅黑" panose="020B0503020204020204" charset="-122"/>
              </a:rPr>
              <a:t>·</a:t>
            </a:r>
            <a:r>
              <a:rPr lang="zh-CN" altLang="en-US" sz="1000" b="1">
                <a:solidFill>
                  <a:srgbClr val="324E72"/>
                </a:solidFill>
                <a:latin typeface="微软雅黑" panose="020B0503020204020204" charset="-122"/>
                <a:ea typeface="微软雅黑" panose="020B0503020204020204" charset="-122"/>
                <a:cs typeface="微软雅黑" panose="020B0503020204020204" charset="-122"/>
              </a:rPr>
              <a:t>疲劳寿命</a:t>
            </a:r>
            <a:r>
              <a:rPr lang="en-US" altLang="zh-CN" sz="1000" b="1">
                <a:solidFill>
                  <a:srgbClr val="324E72"/>
                </a:solidFill>
                <a:latin typeface="微软雅黑" panose="020B0503020204020204" charset="-122"/>
                <a:ea typeface="微软雅黑" panose="020B0503020204020204" charset="-122"/>
                <a:cs typeface="微软雅黑" panose="020B0503020204020204" charset="-122"/>
              </a:rPr>
              <a:t>·</a:t>
            </a:r>
            <a:r>
              <a:rPr lang="zh-CN" altLang="en-US" sz="1000" b="1">
                <a:solidFill>
                  <a:srgbClr val="324E72"/>
                </a:solidFill>
                <a:latin typeface="微软雅黑" panose="020B0503020204020204" charset="-122"/>
                <a:ea typeface="微软雅黑" panose="020B0503020204020204" charset="-122"/>
                <a:cs typeface="微软雅黑" panose="020B0503020204020204" charset="-122"/>
              </a:rPr>
              <a:t>可靠度</a:t>
            </a:r>
            <a:endParaRPr lang="zh-CN" altLang="en-US" sz="1000" b="1">
              <a:solidFill>
                <a:srgbClr val="324E72"/>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10494645" y="2769870"/>
            <a:ext cx="1062355" cy="460375"/>
          </a:xfrm>
          <a:prstGeom prst="rect">
            <a:avLst/>
          </a:prstGeom>
          <a:noFill/>
        </p:spPr>
        <p:txBody>
          <a:bodyPr wrap="square" rtlCol="0">
            <a:spAutoFit/>
          </a:bodyPr>
          <a:p>
            <a:r>
              <a:rPr lang="zh-CN" altLang="en-US" sz="1200" b="1">
                <a:solidFill>
                  <a:srgbClr val="324E72"/>
                </a:solidFill>
              </a:rPr>
              <a:t>性能提升</a:t>
            </a:r>
            <a:endParaRPr lang="zh-CN" altLang="en-US" sz="1200" b="1">
              <a:solidFill>
                <a:srgbClr val="324E72"/>
              </a:solidFill>
            </a:endParaRPr>
          </a:p>
          <a:p>
            <a:r>
              <a:rPr lang="en-US" altLang="zh-CN" sz="1200" b="1">
                <a:solidFill>
                  <a:srgbClr val="324E72"/>
                </a:solidFill>
              </a:rPr>
              <a:t>     (</a:t>
            </a:r>
            <a:r>
              <a:rPr lang="zh-CN" altLang="en-US" sz="1200" b="1">
                <a:solidFill>
                  <a:srgbClr val="324E72"/>
                </a:solidFill>
              </a:rPr>
              <a:t>第</a:t>
            </a:r>
            <a:r>
              <a:rPr lang="en-US" altLang="zh-CN" sz="1200" b="1">
                <a:solidFill>
                  <a:srgbClr val="324E72"/>
                </a:solidFill>
              </a:rPr>
              <a:t>7</a:t>
            </a:r>
            <a:r>
              <a:rPr lang="zh-CN" altLang="en-US" sz="1200" b="1">
                <a:solidFill>
                  <a:srgbClr val="324E72"/>
                </a:solidFill>
              </a:rPr>
              <a:t>章</a:t>
            </a:r>
            <a:r>
              <a:rPr lang="en-US" altLang="zh-CN" sz="1200" b="1">
                <a:solidFill>
                  <a:srgbClr val="324E72"/>
                </a:solidFill>
              </a:rPr>
              <a:t>)</a:t>
            </a:r>
            <a:endParaRPr lang="en-US" altLang="zh-CN" sz="1200" b="1">
              <a:solidFill>
                <a:srgbClr val="324E72"/>
              </a:solidFill>
            </a:endParaRPr>
          </a:p>
        </p:txBody>
      </p:sp>
      <p:sp>
        <p:nvSpPr>
          <p:cNvPr id="33" name="文本框 32"/>
          <p:cNvSpPr txBox="1"/>
          <p:nvPr/>
        </p:nvSpPr>
        <p:spPr>
          <a:xfrm>
            <a:off x="3261995" y="3388995"/>
            <a:ext cx="6176645" cy="291465"/>
          </a:xfrm>
          <a:prstGeom prst="rect">
            <a:avLst/>
          </a:prstGeom>
          <a:noFill/>
        </p:spPr>
        <p:txBody>
          <a:bodyPr wrap="square" rtlCol="0">
            <a:spAutoFit/>
          </a:bodyPr>
          <a:p>
            <a:r>
              <a:rPr lang="zh-CN" altLang="en-US" sz="1300" b="1">
                <a:solidFill>
                  <a:srgbClr val="C00000"/>
                </a:solidFill>
              </a:rPr>
              <a:t>研究主线层层递进，形成混塔式风电机组动力学</a:t>
            </a:r>
            <a:r>
              <a:rPr lang="zh-CN" altLang="en-US" sz="1300" b="1">
                <a:solidFill>
                  <a:srgbClr val="C00000"/>
                </a:solidFill>
                <a:sym typeface="+mn-ea"/>
              </a:rPr>
              <a:t>建模</a:t>
            </a:r>
            <a:r>
              <a:rPr lang="zh-CN" altLang="en-US" sz="1300" b="1">
                <a:solidFill>
                  <a:srgbClr val="C00000"/>
                </a:solidFill>
              </a:rPr>
              <a:t>与性能评估的完整研究框架。</a:t>
            </a:r>
            <a:endParaRPr lang="zh-CN" altLang="en-US" sz="1300" b="1">
              <a:solidFill>
                <a:srgbClr val="C00000"/>
              </a:solidFill>
            </a:endParaRPr>
          </a:p>
        </p:txBody>
      </p:sp>
      <p:sp>
        <p:nvSpPr>
          <p:cNvPr id="34" name="圆角矩形 33"/>
          <p:cNvSpPr/>
          <p:nvPr/>
        </p:nvSpPr>
        <p:spPr>
          <a:xfrm>
            <a:off x="854075" y="3780790"/>
            <a:ext cx="10852785" cy="2597150"/>
          </a:xfrm>
          <a:prstGeom prst="roundRect">
            <a:avLst/>
          </a:pr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矩形 34"/>
          <p:cNvSpPr/>
          <p:nvPr/>
        </p:nvSpPr>
        <p:spPr>
          <a:xfrm>
            <a:off x="644525" y="4846320"/>
            <a:ext cx="1375410" cy="40195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500" b="1"/>
              <a:t>论文章节安排</a:t>
            </a:r>
            <a:endParaRPr lang="zh-CN" altLang="en-US" sz="1500" b="1"/>
          </a:p>
        </p:txBody>
      </p:sp>
      <p:sp>
        <p:nvSpPr>
          <p:cNvPr id="37" name="矩形 36"/>
          <p:cNvSpPr/>
          <p:nvPr/>
        </p:nvSpPr>
        <p:spPr>
          <a:xfrm>
            <a:off x="2196465" y="3922395"/>
            <a:ext cx="9109710" cy="2349500"/>
          </a:xfrm>
          <a:prstGeom prst="rect">
            <a:avLst/>
          </a:prstGeom>
          <a:ln w="19050">
            <a:solidFill>
              <a:srgbClr val="7F807E"/>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8" name="矩形 37"/>
          <p:cNvSpPr/>
          <p:nvPr/>
        </p:nvSpPr>
        <p:spPr>
          <a:xfrm>
            <a:off x="2211070" y="3925570"/>
            <a:ext cx="751840" cy="2357120"/>
          </a:xfrm>
          <a:prstGeom prst="rect">
            <a:avLst/>
          </a:prstGeom>
          <a:solidFill>
            <a:srgbClr val="305393"/>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cxnSp>
        <p:nvCxnSpPr>
          <p:cNvPr id="39" name="直接连接符 38"/>
          <p:cNvCxnSpPr/>
          <p:nvPr/>
        </p:nvCxnSpPr>
        <p:spPr>
          <a:xfrm>
            <a:off x="2213610" y="4255135"/>
            <a:ext cx="753745" cy="4445"/>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flipV="1">
            <a:off x="2197100" y="4585335"/>
            <a:ext cx="774700" cy="889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flipV="1">
            <a:off x="2211070" y="4919980"/>
            <a:ext cx="774700" cy="889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flipV="1">
            <a:off x="2197100" y="5589270"/>
            <a:ext cx="774700" cy="889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flipV="1">
            <a:off x="2188210" y="5263515"/>
            <a:ext cx="774700" cy="889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p:nvPr/>
        </p:nvCxnSpPr>
        <p:spPr>
          <a:xfrm flipV="1">
            <a:off x="2197100" y="5930900"/>
            <a:ext cx="774700" cy="889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flipV="1">
            <a:off x="2964815" y="4246880"/>
            <a:ext cx="8322945" cy="12700"/>
          </a:xfrm>
          <a:prstGeom prst="line">
            <a:avLst/>
          </a:prstGeom>
          <a:ln w="19050">
            <a:solidFill>
              <a:srgbClr val="7F807E"/>
            </a:solidFill>
          </a:ln>
        </p:spPr>
        <p:style>
          <a:lnRef idx="2">
            <a:schemeClr val="accent1"/>
          </a:lnRef>
          <a:fillRef idx="0">
            <a:srgbClr val="FFFFFF"/>
          </a:fillRef>
          <a:effectRef idx="0">
            <a:srgbClr val="FFFFFF"/>
          </a:effectRef>
          <a:fontRef idx="minor">
            <a:schemeClr val="tx1"/>
          </a:fontRef>
        </p:style>
      </p:cxnSp>
      <p:cxnSp>
        <p:nvCxnSpPr>
          <p:cNvPr id="46" name="直接连接符 45"/>
          <p:cNvCxnSpPr/>
          <p:nvPr/>
        </p:nvCxnSpPr>
        <p:spPr>
          <a:xfrm flipV="1">
            <a:off x="2962910" y="4581525"/>
            <a:ext cx="8322945" cy="12700"/>
          </a:xfrm>
          <a:prstGeom prst="line">
            <a:avLst/>
          </a:prstGeom>
          <a:ln w="19050">
            <a:solidFill>
              <a:srgbClr val="7F807E"/>
            </a:solidFill>
          </a:ln>
        </p:spPr>
        <p:style>
          <a:lnRef idx="2">
            <a:schemeClr val="accent1"/>
          </a:lnRef>
          <a:fillRef idx="0">
            <a:srgbClr val="FFFFFF"/>
          </a:fillRef>
          <a:effectRef idx="0">
            <a:srgbClr val="FFFFFF"/>
          </a:effectRef>
          <a:fontRef idx="minor">
            <a:schemeClr val="tx1"/>
          </a:fontRef>
        </p:style>
      </p:cxnSp>
      <p:cxnSp>
        <p:nvCxnSpPr>
          <p:cNvPr id="47" name="直接连接符 46"/>
          <p:cNvCxnSpPr/>
          <p:nvPr/>
        </p:nvCxnSpPr>
        <p:spPr>
          <a:xfrm flipV="1">
            <a:off x="2962910" y="4928870"/>
            <a:ext cx="8322945" cy="12700"/>
          </a:xfrm>
          <a:prstGeom prst="line">
            <a:avLst/>
          </a:prstGeom>
          <a:ln w="19050">
            <a:solidFill>
              <a:srgbClr val="7F807E"/>
            </a:solidFill>
          </a:ln>
        </p:spPr>
        <p:style>
          <a:lnRef idx="2">
            <a:schemeClr val="accent1"/>
          </a:lnRef>
          <a:fillRef idx="0">
            <a:srgbClr val="FFFFFF"/>
          </a:fillRef>
          <a:effectRef idx="0">
            <a:srgbClr val="FFFFFF"/>
          </a:effectRef>
          <a:fontRef idx="minor">
            <a:schemeClr val="tx1"/>
          </a:fontRef>
        </p:style>
      </p:cxnSp>
      <p:cxnSp>
        <p:nvCxnSpPr>
          <p:cNvPr id="48" name="直接连接符 47"/>
          <p:cNvCxnSpPr/>
          <p:nvPr/>
        </p:nvCxnSpPr>
        <p:spPr>
          <a:xfrm flipV="1">
            <a:off x="2962910" y="5263515"/>
            <a:ext cx="8322945" cy="12700"/>
          </a:xfrm>
          <a:prstGeom prst="line">
            <a:avLst/>
          </a:prstGeom>
          <a:ln w="19050">
            <a:solidFill>
              <a:srgbClr val="7F807E"/>
            </a:solidFill>
          </a:ln>
        </p:spPr>
        <p:style>
          <a:lnRef idx="2">
            <a:schemeClr val="accent1"/>
          </a:lnRef>
          <a:fillRef idx="0">
            <a:srgbClr val="FFFFFF"/>
          </a:fillRef>
          <a:effectRef idx="0">
            <a:srgbClr val="FFFFFF"/>
          </a:effectRef>
          <a:fontRef idx="minor">
            <a:schemeClr val="tx1"/>
          </a:fontRef>
        </p:style>
      </p:cxnSp>
      <p:cxnSp>
        <p:nvCxnSpPr>
          <p:cNvPr id="49" name="直接连接符 48"/>
          <p:cNvCxnSpPr/>
          <p:nvPr/>
        </p:nvCxnSpPr>
        <p:spPr>
          <a:xfrm flipV="1">
            <a:off x="2964815" y="5598160"/>
            <a:ext cx="8322945" cy="12700"/>
          </a:xfrm>
          <a:prstGeom prst="line">
            <a:avLst/>
          </a:prstGeom>
          <a:ln w="19050">
            <a:solidFill>
              <a:srgbClr val="7F807E"/>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flipV="1">
            <a:off x="2985770" y="5930900"/>
            <a:ext cx="8322945" cy="12700"/>
          </a:xfrm>
          <a:prstGeom prst="line">
            <a:avLst/>
          </a:prstGeom>
          <a:ln w="19050">
            <a:solidFill>
              <a:srgbClr val="7F807E"/>
            </a:solidFill>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2241550" y="3940175"/>
            <a:ext cx="770255" cy="291465"/>
          </a:xfrm>
          <a:prstGeom prst="rect">
            <a:avLst/>
          </a:prstGeom>
          <a:noFill/>
        </p:spPr>
        <p:txBody>
          <a:bodyPr wrap="square" rtlCol="0">
            <a:spAutoFit/>
          </a:bodyPr>
          <a:p>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300" b="1">
                <a:solidFill>
                  <a:schemeClr val="bg1"/>
                </a:solidFill>
                <a:latin typeface="微软雅黑" panose="020B0503020204020204" charset="-122"/>
                <a:ea typeface="微软雅黑" panose="020B0503020204020204" charset="-122"/>
                <a:cs typeface="微软雅黑" panose="020B0503020204020204" charset="-122"/>
              </a:rPr>
              <a:t>2</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章</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2279650" y="4259580"/>
            <a:ext cx="630555" cy="291465"/>
          </a:xfrm>
          <a:prstGeom prst="rect">
            <a:avLst/>
          </a:prstGeom>
          <a:noFill/>
        </p:spPr>
        <p:txBody>
          <a:bodyPr wrap="square" rtlCol="0">
            <a:spAutoFit/>
          </a:bodyPr>
          <a:p>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300" b="1">
                <a:solidFill>
                  <a:schemeClr val="bg1"/>
                </a:solidFill>
                <a:latin typeface="微软雅黑" panose="020B0503020204020204" charset="-122"/>
                <a:ea typeface="微软雅黑" panose="020B0503020204020204" charset="-122"/>
                <a:cs typeface="微软雅黑" panose="020B0503020204020204" charset="-122"/>
              </a:rPr>
              <a:t>3</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章</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2279650" y="4594225"/>
            <a:ext cx="630555" cy="291465"/>
          </a:xfrm>
          <a:prstGeom prst="rect">
            <a:avLst/>
          </a:prstGeom>
          <a:noFill/>
        </p:spPr>
        <p:txBody>
          <a:bodyPr wrap="square" rtlCol="0">
            <a:spAutoFit/>
          </a:bodyPr>
          <a:p>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300" b="1">
                <a:solidFill>
                  <a:schemeClr val="bg1"/>
                </a:solidFill>
                <a:latin typeface="微软雅黑" panose="020B0503020204020204" charset="-122"/>
                <a:ea typeface="微软雅黑" panose="020B0503020204020204" charset="-122"/>
                <a:cs typeface="微软雅黑" panose="020B0503020204020204" charset="-122"/>
              </a:rPr>
              <a:t>4</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章</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2279650" y="4956810"/>
            <a:ext cx="630555" cy="291465"/>
          </a:xfrm>
          <a:prstGeom prst="rect">
            <a:avLst/>
          </a:prstGeom>
          <a:noFill/>
        </p:spPr>
        <p:txBody>
          <a:bodyPr wrap="square" rtlCol="0">
            <a:spAutoFit/>
          </a:bodyPr>
          <a:p>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300" b="1">
                <a:solidFill>
                  <a:schemeClr val="bg1"/>
                </a:solidFill>
                <a:latin typeface="微软雅黑" panose="020B0503020204020204" charset="-122"/>
                <a:ea typeface="微软雅黑" panose="020B0503020204020204" charset="-122"/>
                <a:cs typeface="微软雅黑" panose="020B0503020204020204" charset="-122"/>
              </a:rPr>
              <a:t>5</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章</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2279650" y="5276215"/>
            <a:ext cx="630555" cy="291465"/>
          </a:xfrm>
          <a:prstGeom prst="rect">
            <a:avLst/>
          </a:prstGeom>
          <a:noFill/>
        </p:spPr>
        <p:txBody>
          <a:bodyPr wrap="square" rtlCol="0">
            <a:spAutoFit/>
          </a:bodyPr>
          <a:p>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300" b="1">
                <a:solidFill>
                  <a:schemeClr val="bg1"/>
                </a:solidFill>
                <a:latin typeface="微软雅黑" panose="020B0503020204020204" charset="-122"/>
                <a:ea typeface="微软雅黑" panose="020B0503020204020204" charset="-122"/>
                <a:cs typeface="微软雅黑" panose="020B0503020204020204" charset="-122"/>
              </a:rPr>
              <a:t>6</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章</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2279650" y="5639435"/>
            <a:ext cx="630555" cy="291465"/>
          </a:xfrm>
          <a:prstGeom prst="rect">
            <a:avLst/>
          </a:prstGeom>
          <a:noFill/>
        </p:spPr>
        <p:txBody>
          <a:bodyPr wrap="square" rtlCol="0">
            <a:spAutoFit/>
          </a:bodyPr>
          <a:p>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第</a:t>
            </a:r>
            <a:r>
              <a:rPr lang="en-US" altLang="zh-CN" sz="1300" b="1">
                <a:solidFill>
                  <a:schemeClr val="bg1"/>
                </a:solidFill>
                <a:latin typeface="微软雅黑" panose="020B0503020204020204" charset="-122"/>
                <a:ea typeface="微软雅黑" panose="020B0503020204020204" charset="-122"/>
                <a:cs typeface="微软雅黑" panose="020B0503020204020204" charset="-122"/>
              </a:rPr>
              <a:t>7</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章</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2279650" y="5980430"/>
            <a:ext cx="630555" cy="291465"/>
          </a:xfrm>
          <a:prstGeom prst="rect">
            <a:avLst/>
          </a:prstGeom>
          <a:noFill/>
        </p:spPr>
        <p:txBody>
          <a:bodyPr wrap="square" rtlCol="0">
            <a:spAutoFit/>
          </a:bodyPr>
          <a:p>
            <a:r>
              <a:rPr lang="en-US" altLang="zh-CN" sz="1300" b="1">
                <a:solidFill>
                  <a:schemeClr val="bg1"/>
                </a:solidFill>
                <a:latin typeface="微软雅黑" panose="020B0503020204020204" charset="-122"/>
                <a:ea typeface="微软雅黑" panose="020B0503020204020204" charset="-122"/>
                <a:cs typeface="微软雅黑" panose="020B0503020204020204" charset="-122"/>
              </a:rPr>
              <a:t> </a:t>
            </a:r>
            <a:r>
              <a:rPr lang="zh-CN" altLang="en-US" sz="1300" b="1">
                <a:solidFill>
                  <a:schemeClr val="bg1"/>
                </a:solidFill>
                <a:latin typeface="微软雅黑" panose="020B0503020204020204" charset="-122"/>
                <a:ea typeface="微软雅黑" panose="020B0503020204020204" charset="-122"/>
                <a:cs typeface="微软雅黑" panose="020B0503020204020204" charset="-122"/>
              </a:rPr>
              <a:t>末章</a:t>
            </a:r>
            <a:endParaRPr lang="zh-CN" altLang="en-US" sz="13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2936240" y="3956050"/>
            <a:ext cx="7433945" cy="260350"/>
          </a:xfrm>
          <a:prstGeom prst="rect">
            <a:avLst/>
          </a:prstGeom>
          <a:noFill/>
        </p:spPr>
        <p:txBody>
          <a:bodyPr wrap="square" rtlCol="0">
            <a:spAutoFit/>
          </a:bodyPr>
          <a:p>
            <a:r>
              <a:rPr lang="zh-CN" altLang="en-US" sz="1100" b="1"/>
              <a:t>研究子系统联合仿真理论与实现方法，验证显式耦合策略，并提出适用于混塔式风电机组的</a:t>
            </a:r>
            <a:r>
              <a:rPr lang="zh-CN" altLang="en-US" sz="1100" b="1">
                <a:solidFill>
                  <a:srgbClr val="C00000"/>
                </a:solidFill>
              </a:rPr>
              <a:t>联合仿真策略。</a:t>
            </a:r>
            <a:endParaRPr lang="zh-CN" altLang="en-US" sz="1100" b="1">
              <a:solidFill>
                <a:srgbClr val="C00000"/>
              </a:solidFill>
            </a:endParaRPr>
          </a:p>
        </p:txBody>
      </p:sp>
      <p:sp>
        <p:nvSpPr>
          <p:cNvPr id="59" name="文本框 58"/>
          <p:cNvSpPr txBox="1"/>
          <p:nvPr/>
        </p:nvSpPr>
        <p:spPr>
          <a:xfrm>
            <a:off x="2962910" y="4290695"/>
            <a:ext cx="8034655" cy="260350"/>
          </a:xfrm>
          <a:prstGeom prst="rect">
            <a:avLst/>
          </a:prstGeom>
          <a:noFill/>
        </p:spPr>
        <p:txBody>
          <a:bodyPr wrap="square" rtlCol="0">
            <a:spAutoFit/>
          </a:bodyPr>
          <a:p>
            <a:r>
              <a:rPr lang="zh-CN" altLang="en-US" sz="1100" b="1">
                <a:latin typeface="微软雅黑" panose="020B0503020204020204" charset="-122"/>
                <a:ea typeface="微软雅黑" panose="020B0503020204020204" charset="-122"/>
                <a:cs typeface="微软雅黑" panose="020B0503020204020204" charset="-122"/>
              </a:rPr>
              <a:t>建立基于</a:t>
            </a:r>
            <a:r>
              <a:rPr lang="en-US" altLang="zh-CN" sz="1100" b="1">
                <a:latin typeface="微软雅黑" panose="020B0503020204020204" charset="-122"/>
                <a:ea typeface="微软雅黑" panose="020B0503020204020204" charset="-122"/>
                <a:cs typeface="微软雅黑" panose="020B0503020204020204" charset="-122"/>
              </a:rPr>
              <a:t>Simpack-Abaqus</a:t>
            </a:r>
            <a:r>
              <a:rPr lang="zh-CN" altLang="en-US" sz="1100" b="1">
                <a:latin typeface="微软雅黑" panose="020B0503020204020204" charset="-122"/>
                <a:ea typeface="微软雅黑" panose="020B0503020204020204" charset="-122"/>
                <a:cs typeface="微软雅黑" panose="020B0503020204020204" charset="-122"/>
              </a:rPr>
              <a:t>的</a:t>
            </a:r>
            <a:r>
              <a:rPr lang="zh-CN" altLang="en-US" sz="1100" b="1">
                <a:solidFill>
                  <a:srgbClr val="C00000"/>
                </a:solidFill>
                <a:latin typeface="微软雅黑" panose="020B0503020204020204" charset="-122"/>
                <a:ea typeface="微软雅黑" panose="020B0503020204020204" charset="-122"/>
                <a:cs typeface="微软雅黑" panose="020B0503020204020204" charset="-122"/>
              </a:rPr>
              <a:t>高保真</a:t>
            </a:r>
            <a:r>
              <a:rPr lang="zh-CN" altLang="en-US" sz="1100" b="1">
                <a:latin typeface="微软雅黑" panose="020B0503020204020204" charset="-122"/>
                <a:ea typeface="微软雅黑" panose="020B0503020204020204" charset="-122"/>
                <a:cs typeface="微软雅黑" panose="020B0503020204020204" charset="-122"/>
              </a:rPr>
              <a:t>一体化动力学模型，考虑几何、材料与接触非线性，并验证模型准确性与工程适用性。</a:t>
            </a:r>
            <a:endParaRPr lang="zh-CN" altLang="en-US" sz="1100" b="1">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2945765" y="4625340"/>
            <a:ext cx="8051800" cy="260350"/>
          </a:xfrm>
          <a:prstGeom prst="rect">
            <a:avLst/>
          </a:prstGeom>
          <a:noFill/>
        </p:spPr>
        <p:txBody>
          <a:bodyPr wrap="square" rtlCol="0">
            <a:spAutoFit/>
          </a:bodyPr>
          <a:p>
            <a:r>
              <a:rPr lang="zh-CN" altLang="en-US" sz="1100" b="1"/>
              <a:t>建立基于</a:t>
            </a:r>
            <a:r>
              <a:rPr lang="zh-CN" altLang="en-US" sz="1100" b="1">
                <a:latin typeface="微软雅黑" panose="020B0503020204020204" charset="-122"/>
                <a:ea typeface="微软雅黑" panose="020B0503020204020204" charset="-122"/>
                <a:cs typeface="Times New Roman" panose="02020603050405020304" charset="0"/>
              </a:rPr>
              <a:t>Simpack-Matlab/Simulink-OpenSees</a:t>
            </a:r>
            <a:r>
              <a:rPr lang="zh-CN" altLang="en-US" sz="1100" b="1"/>
              <a:t>的</a:t>
            </a:r>
            <a:r>
              <a:rPr lang="zh-CN" altLang="en-US" sz="1100" b="1">
                <a:solidFill>
                  <a:srgbClr val="C00000"/>
                </a:solidFill>
              </a:rPr>
              <a:t>中保真</a:t>
            </a:r>
            <a:r>
              <a:rPr lang="zh-CN" altLang="en-US" sz="1100" b="1"/>
              <a:t>体化动力学模型，实现多软件实时通信，并验证其效率优势。</a:t>
            </a:r>
            <a:endParaRPr lang="zh-CN" altLang="en-US" sz="1100" b="1"/>
          </a:p>
        </p:txBody>
      </p:sp>
      <p:sp>
        <p:nvSpPr>
          <p:cNvPr id="61" name="文本框 60"/>
          <p:cNvSpPr txBox="1"/>
          <p:nvPr/>
        </p:nvSpPr>
        <p:spPr>
          <a:xfrm>
            <a:off x="2962910" y="4956810"/>
            <a:ext cx="7374255" cy="260350"/>
          </a:xfrm>
          <a:prstGeom prst="rect">
            <a:avLst/>
          </a:prstGeom>
          <a:noFill/>
        </p:spPr>
        <p:txBody>
          <a:bodyPr wrap="square" rtlCol="0">
            <a:spAutoFit/>
          </a:bodyPr>
          <a:p>
            <a:r>
              <a:rPr lang="zh-CN" altLang="en-US" sz="1100" b="1"/>
              <a:t>研究</a:t>
            </a:r>
            <a:r>
              <a:rPr lang="zh-CN" altLang="en-US" sz="1100" b="1">
                <a:solidFill>
                  <a:srgbClr val="C00000"/>
                </a:solidFill>
              </a:rPr>
              <a:t>非线性动力响应与疲劳分析，</a:t>
            </a:r>
            <a:r>
              <a:rPr lang="zh-CN" altLang="en-US" sz="1100" b="1"/>
              <a:t>重构风速-风向联合分布，分析非线性效应与风场统计特征对疲劳寿命的影响。</a:t>
            </a:r>
            <a:endParaRPr lang="zh-CN" altLang="en-US" sz="1100" b="1"/>
          </a:p>
        </p:txBody>
      </p:sp>
      <p:sp>
        <p:nvSpPr>
          <p:cNvPr id="62" name="文本框 61"/>
          <p:cNvSpPr txBox="1"/>
          <p:nvPr/>
        </p:nvSpPr>
        <p:spPr>
          <a:xfrm>
            <a:off x="2974340" y="5288280"/>
            <a:ext cx="6710045" cy="260350"/>
          </a:xfrm>
          <a:prstGeom prst="rect">
            <a:avLst/>
          </a:prstGeom>
          <a:noFill/>
        </p:spPr>
        <p:txBody>
          <a:bodyPr wrap="square" rtlCol="0">
            <a:spAutoFit/>
          </a:bodyPr>
          <a:p>
            <a:r>
              <a:rPr lang="zh-CN" altLang="en-US" sz="1100" b="1"/>
              <a:t>建立</a:t>
            </a:r>
            <a:r>
              <a:rPr lang="zh-CN" altLang="en-US" sz="1100" b="1">
                <a:solidFill>
                  <a:srgbClr val="C00000"/>
                </a:solidFill>
              </a:rPr>
              <a:t>极端风况下动力可靠度分析</a:t>
            </a:r>
            <a:r>
              <a:rPr lang="zh-CN" altLang="en-US" sz="1100" b="1"/>
              <a:t>框架，开展可靠度分析，并提出位移角限值的可靠度确定方法。</a:t>
            </a:r>
            <a:endParaRPr lang="zh-CN" altLang="en-US" sz="1100" b="1"/>
          </a:p>
        </p:txBody>
      </p:sp>
      <p:sp>
        <p:nvSpPr>
          <p:cNvPr id="63" name="文本框 62"/>
          <p:cNvSpPr txBox="1"/>
          <p:nvPr/>
        </p:nvSpPr>
        <p:spPr>
          <a:xfrm>
            <a:off x="2962910" y="5639435"/>
            <a:ext cx="5913755" cy="260350"/>
          </a:xfrm>
          <a:prstGeom prst="rect">
            <a:avLst/>
          </a:prstGeom>
          <a:noFill/>
        </p:spPr>
        <p:txBody>
          <a:bodyPr wrap="square" rtlCol="0">
            <a:spAutoFit/>
          </a:bodyPr>
          <a:p>
            <a:r>
              <a:rPr lang="zh-CN" altLang="en-US" sz="1100" b="1"/>
              <a:t>针对过渡段应力集中与塔顶位移偏大等问题，提出</a:t>
            </a:r>
            <a:r>
              <a:rPr lang="zh-CN" altLang="en-US" sz="1100" b="1">
                <a:solidFill>
                  <a:srgbClr val="C00000"/>
                </a:solidFill>
              </a:rPr>
              <a:t>结构性能改进</a:t>
            </a:r>
            <a:r>
              <a:rPr lang="zh-CN" altLang="en-US" sz="1100" b="1"/>
              <a:t>措施，并验证其有效性。</a:t>
            </a:r>
            <a:endParaRPr lang="zh-CN" altLang="en-US" sz="1100" b="1"/>
          </a:p>
        </p:txBody>
      </p:sp>
      <p:sp>
        <p:nvSpPr>
          <p:cNvPr id="64" name="文本框 63"/>
          <p:cNvSpPr txBox="1"/>
          <p:nvPr/>
        </p:nvSpPr>
        <p:spPr>
          <a:xfrm>
            <a:off x="2971800" y="5980430"/>
            <a:ext cx="5033010" cy="260350"/>
          </a:xfrm>
          <a:prstGeom prst="rect">
            <a:avLst/>
          </a:prstGeom>
          <a:noFill/>
        </p:spPr>
        <p:txBody>
          <a:bodyPr wrap="square" rtlCol="0">
            <a:spAutoFit/>
          </a:bodyPr>
          <a:p>
            <a:r>
              <a:rPr lang="zh-CN" altLang="en-US" sz="1100" b="1"/>
              <a:t>总结全文研究成果、主要创新点与结论，并展望未来研究方向。</a:t>
            </a:r>
            <a:endParaRPr lang="zh-CN" altLang="en-US" sz="1100" b="1"/>
          </a:p>
        </p:txBody>
      </p:sp>
      <p:sp>
        <p:nvSpPr>
          <p:cNvPr id="2" name="文本框 1"/>
          <p:cNvSpPr txBox="1"/>
          <p:nvPr/>
        </p:nvSpPr>
        <p:spPr>
          <a:xfrm>
            <a:off x="11396345" y="6489700"/>
            <a:ext cx="79565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9/68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sp>
        <p:nvSpPr>
          <p:cNvPr id="10" name="矩形 9"/>
          <p:cNvSpPr/>
          <p:nvPr/>
        </p:nvSpPr>
        <p:spPr>
          <a:xfrm>
            <a:off x="888365" y="1244600"/>
            <a:ext cx="165735" cy="17589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51585" y="1016000"/>
            <a:ext cx="10583545" cy="939800"/>
          </a:xfrm>
          <a:prstGeom prst="rect">
            <a:avLst/>
          </a:prstGeom>
          <a:noFill/>
        </p:spPr>
        <p:txBody>
          <a:bodyPr wrap="square" rtlCol="0">
            <a:spAutoFit/>
          </a:bodyPr>
          <a:p>
            <a:pPr>
              <a:lnSpc>
                <a:spcPct val="120000"/>
              </a:lnSpc>
              <a:spcBef>
                <a:spcPts val="0"/>
              </a:spcBef>
              <a:spcAft>
                <a:spcPts val="0"/>
              </a:spcAft>
            </a:pPr>
            <a:r>
              <a:rPr lang="zh-CN" altLang="en-US" sz="2300" b="1"/>
              <a:t>创新性：围绕大型混塔式风电机组的</a:t>
            </a:r>
            <a:r>
              <a:rPr lang="zh-CN" altLang="en-US" sz="2300" b="1">
                <a:solidFill>
                  <a:srgbClr val="C00000"/>
                </a:solidFill>
              </a:rPr>
              <a:t>一体化耦合非线性动力学建模与可靠度评估中的关键技术难题</a:t>
            </a:r>
            <a:r>
              <a:rPr lang="zh-CN" altLang="en-US" sz="2300" b="1"/>
              <a:t>，开展系统研究。</a:t>
            </a:r>
            <a:endParaRPr lang="zh-CN" altLang="en-US" sz="2300" b="1"/>
          </a:p>
        </p:txBody>
      </p:sp>
      <p:sp>
        <p:nvSpPr>
          <p:cNvPr id="12" name="任意多边形 11"/>
          <p:cNvSpPr/>
          <p:nvPr/>
        </p:nvSpPr>
        <p:spPr>
          <a:xfrm>
            <a:off x="468630" y="2003425"/>
            <a:ext cx="3689985" cy="2102485"/>
          </a:xfrm>
          <a:custGeom>
            <a:avLst/>
            <a:gdLst>
              <a:gd name="connsiteX0" fmla="*/ 0 w 5811"/>
              <a:gd name="connsiteY0" fmla="*/ 333 h 3311"/>
              <a:gd name="connsiteX1" fmla="*/ 400 w 5811"/>
              <a:gd name="connsiteY1" fmla="*/ 0 h 3311"/>
              <a:gd name="connsiteX2" fmla="*/ 5400 w 5811"/>
              <a:gd name="connsiteY2" fmla="*/ 11 h 3311"/>
              <a:gd name="connsiteX3" fmla="*/ 5811 w 5811"/>
              <a:gd name="connsiteY3" fmla="*/ 344 h 3311"/>
              <a:gd name="connsiteX4" fmla="*/ 5778 w 5811"/>
              <a:gd name="connsiteY4" fmla="*/ 2967 h 3311"/>
              <a:gd name="connsiteX5" fmla="*/ 5444 w 5811"/>
              <a:gd name="connsiteY5" fmla="*/ 3311 h 3311"/>
              <a:gd name="connsiteX6" fmla="*/ 378 w 5811"/>
              <a:gd name="connsiteY6" fmla="*/ 3311 h 3311"/>
              <a:gd name="connsiteX7" fmla="*/ 22 w 5811"/>
              <a:gd name="connsiteY7" fmla="*/ 2967 h 3311"/>
              <a:gd name="connsiteX8" fmla="*/ 0 w 5811"/>
              <a:gd name="connsiteY8" fmla="*/ 333 h 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11" h="3311">
                <a:moveTo>
                  <a:pt x="0" y="333"/>
                </a:moveTo>
                <a:cubicBezTo>
                  <a:pt x="0" y="32"/>
                  <a:pt x="99" y="0"/>
                  <a:pt x="400" y="0"/>
                </a:cubicBezTo>
                <a:lnTo>
                  <a:pt x="5400" y="11"/>
                </a:lnTo>
                <a:cubicBezTo>
                  <a:pt x="5701" y="11"/>
                  <a:pt x="5811" y="43"/>
                  <a:pt x="5811" y="344"/>
                </a:cubicBezTo>
                <a:lnTo>
                  <a:pt x="5778" y="2967"/>
                </a:lnTo>
                <a:cubicBezTo>
                  <a:pt x="5778" y="3268"/>
                  <a:pt x="5745" y="3311"/>
                  <a:pt x="5444" y="3311"/>
                </a:cubicBezTo>
                <a:lnTo>
                  <a:pt x="378" y="3311"/>
                </a:lnTo>
                <a:cubicBezTo>
                  <a:pt x="77" y="3311"/>
                  <a:pt x="22" y="3268"/>
                  <a:pt x="22" y="2967"/>
                </a:cubicBezTo>
                <a:lnTo>
                  <a:pt x="0" y="333"/>
                </a:lnTo>
                <a:close/>
              </a:path>
            </a:pathLst>
          </a:cu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圆角矩形 12"/>
          <p:cNvSpPr/>
          <p:nvPr/>
        </p:nvSpPr>
        <p:spPr>
          <a:xfrm>
            <a:off x="638810" y="2130425"/>
            <a:ext cx="486410" cy="471805"/>
          </a:xfrm>
          <a:prstGeom prst="round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微软雅黑" panose="020B0503020204020204" charset="-122"/>
                <a:ea typeface="微软雅黑" panose="020B0503020204020204" charset="-122"/>
              </a:rPr>
              <a:t>1</a:t>
            </a:r>
            <a:endParaRPr lang="en-US" altLang="zh-CN" sz="2400" b="1">
              <a:latin typeface="微软雅黑" panose="020B0503020204020204" charset="-122"/>
              <a:ea typeface="微软雅黑" panose="020B0503020204020204" charset="-122"/>
            </a:endParaRPr>
          </a:p>
        </p:txBody>
      </p:sp>
      <p:sp>
        <p:nvSpPr>
          <p:cNvPr id="14" name="圆角矩形 13"/>
          <p:cNvSpPr/>
          <p:nvPr/>
        </p:nvSpPr>
        <p:spPr>
          <a:xfrm>
            <a:off x="4427855" y="2130425"/>
            <a:ext cx="486410" cy="471805"/>
          </a:xfrm>
          <a:prstGeom prst="round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微软雅黑" panose="020B0503020204020204" charset="-122"/>
                <a:ea typeface="微软雅黑" panose="020B0503020204020204" charset="-122"/>
              </a:rPr>
              <a:t>2</a:t>
            </a:r>
            <a:endParaRPr lang="en-US" altLang="zh-CN" sz="2400" b="1">
              <a:latin typeface="微软雅黑" panose="020B0503020204020204" charset="-122"/>
              <a:ea typeface="微软雅黑" panose="020B0503020204020204" charset="-122"/>
            </a:endParaRPr>
          </a:p>
        </p:txBody>
      </p:sp>
      <p:sp>
        <p:nvSpPr>
          <p:cNvPr id="15" name="圆角矩形 14"/>
          <p:cNvSpPr/>
          <p:nvPr/>
        </p:nvSpPr>
        <p:spPr>
          <a:xfrm>
            <a:off x="638810" y="4380865"/>
            <a:ext cx="486410" cy="471805"/>
          </a:xfrm>
          <a:prstGeom prst="round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微软雅黑" panose="020B0503020204020204" charset="-122"/>
                <a:ea typeface="微软雅黑" panose="020B0503020204020204" charset="-122"/>
              </a:rPr>
              <a:t>4</a:t>
            </a:r>
            <a:endParaRPr lang="en-US" altLang="zh-CN" sz="2400" b="1">
              <a:latin typeface="微软雅黑" panose="020B0503020204020204" charset="-122"/>
              <a:ea typeface="微软雅黑" panose="020B0503020204020204" charset="-122"/>
            </a:endParaRPr>
          </a:p>
        </p:txBody>
      </p:sp>
      <p:sp>
        <p:nvSpPr>
          <p:cNvPr id="16" name="圆角矩形 15"/>
          <p:cNvSpPr/>
          <p:nvPr/>
        </p:nvSpPr>
        <p:spPr>
          <a:xfrm>
            <a:off x="6346825" y="4380865"/>
            <a:ext cx="486410" cy="471805"/>
          </a:xfrm>
          <a:prstGeom prst="round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微软雅黑" panose="020B0503020204020204" charset="-122"/>
                <a:ea typeface="微软雅黑" panose="020B0503020204020204" charset="-122"/>
              </a:rPr>
              <a:t>5</a:t>
            </a:r>
            <a:endParaRPr lang="en-US" altLang="zh-CN" sz="2400" b="1">
              <a:latin typeface="微软雅黑" panose="020B0503020204020204" charset="-122"/>
              <a:ea typeface="微软雅黑" panose="020B0503020204020204" charset="-122"/>
            </a:endParaRPr>
          </a:p>
        </p:txBody>
      </p:sp>
      <p:sp>
        <p:nvSpPr>
          <p:cNvPr id="17" name="圆角矩形 16"/>
          <p:cNvSpPr/>
          <p:nvPr/>
        </p:nvSpPr>
        <p:spPr>
          <a:xfrm>
            <a:off x="8216900" y="2130425"/>
            <a:ext cx="486410" cy="471805"/>
          </a:xfrm>
          <a:prstGeom prst="round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微软雅黑" panose="020B0503020204020204" charset="-122"/>
                <a:ea typeface="微软雅黑" panose="020B0503020204020204" charset="-122"/>
              </a:rPr>
              <a:t>3</a:t>
            </a:r>
            <a:endParaRPr lang="en-US" altLang="zh-CN" sz="2400" b="1">
              <a:latin typeface="微软雅黑" panose="020B0503020204020204" charset="-122"/>
              <a:ea typeface="微软雅黑" panose="020B0503020204020204" charset="-122"/>
            </a:endParaRPr>
          </a:p>
        </p:txBody>
      </p:sp>
      <p:sp>
        <p:nvSpPr>
          <p:cNvPr id="18" name="文本框 17"/>
          <p:cNvSpPr txBox="1"/>
          <p:nvPr/>
        </p:nvSpPr>
        <p:spPr>
          <a:xfrm>
            <a:off x="1223645" y="2080895"/>
            <a:ext cx="2596515" cy="383540"/>
          </a:xfrm>
          <a:prstGeom prst="rect">
            <a:avLst/>
          </a:prstGeom>
          <a:noFill/>
        </p:spPr>
        <p:txBody>
          <a:bodyPr wrap="square" rtlCol="0">
            <a:spAutoFit/>
          </a:bodyPr>
          <a:p>
            <a:r>
              <a:rPr lang="zh-CN" altLang="en-US" sz="1900" b="1">
                <a:solidFill>
                  <a:srgbClr val="C00000"/>
                </a:solidFill>
              </a:rPr>
              <a:t>子系统联合仿真理论</a:t>
            </a:r>
            <a:endParaRPr lang="zh-CN" altLang="en-US" sz="1900" b="1">
              <a:solidFill>
                <a:srgbClr val="C00000"/>
              </a:solidFill>
            </a:endParaRPr>
          </a:p>
        </p:txBody>
      </p:sp>
      <p:sp>
        <p:nvSpPr>
          <p:cNvPr id="19" name="文本框 18"/>
          <p:cNvSpPr txBox="1"/>
          <p:nvPr/>
        </p:nvSpPr>
        <p:spPr>
          <a:xfrm>
            <a:off x="4977130" y="2080895"/>
            <a:ext cx="2596515" cy="383540"/>
          </a:xfrm>
          <a:prstGeom prst="rect">
            <a:avLst/>
          </a:prstGeom>
          <a:noFill/>
        </p:spPr>
        <p:txBody>
          <a:bodyPr wrap="square" rtlCol="0">
            <a:spAutoFit/>
          </a:bodyPr>
          <a:p>
            <a:r>
              <a:rPr lang="zh-CN" altLang="en-US" sz="1900" b="1">
                <a:solidFill>
                  <a:srgbClr val="C00000"/>
                </a:solidFill>
              </a:rPr>
              <a:t>高</a:t>
            </a:r>
            <a:r>
              <a:rPr lang="en-US" altLang="zh-CN" sz="1900" b="1">
                <a:solidFill>
                  <a:srgbClr val="C00000"/>
                </a:solidFill>
              </a:rPr>
              <a:t>/</a:t>
            </a:r>
            <a:r>
              <a:rPr lang="zh-CN" altLang="en-US" sz="1900" b="1">
                <a:solidFill>
                  <a:srgbClr val="C00000"/>
                </a:solidFill>
              </a:rPr>
              <a:t>中保真度模型</a:t>
            </a:r>
            <a:r>
              <a:rPr lang="zh-CN" altLang="en-US" sz="1900" b="1">
                <a:solidFill>
                  <a:srgbClr val="C00000"/>
                </a:solidFill>
              </a:rPr>
              <a:t>体系</a:t>
            </a:r>
            <a:endParaRPr lang="zh-CN" altLang="en-US" sz="1900" b="1">
              <a:solidFill>
                <a:srgbClr val="C00000"/>
              </a:solidFill>
            </a:endParaRPr>
          </a:p>
        </p:txBody>
      </p:sp>
      <p:cxnSp>
        <p:nvCxnSpPr>
          <p:cNvPr id="20" name="直接连接符 19"/>
          <p:cNvCxnSpPr/>
          <p:nvPr/>
        </p:nvCxnSpPr>
        <p:spPr>
          <a:xfrm>
            <a:off x="1301115" y="2546350"/>
            <a:ext cx="2667000" cy="0"/>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8750935" y="2080895"/>
            <a:ext cx="2809240" cy="383540"/>
          </a:xfrm>
          <a:prstGeom prst="rect">
            <a:avLst/>
          </a:prstGeom>
          <a:noFill/>
        </p:spPr>
        <p:txBody>
          <a:bodyPr wrap="square" rtlCol="0">
            <a:spAutoFit/>
          </a:bodyPr>
          <a:p>
            <a:r>
              <a:rPr lang="zh-CN" altLang="en-US" sz="1900" b="1">
                <a:solidFill>
                  <a:srgbClr val="C00000"/>
                </a:solidFill>
              </a:rPr>
              <a:t>风速</a:t>
            </a:r>
            <a:r>
              <a:rPr lang="en-US" altLang="zh-CN" sz="1900" b="1">
                <a:solidFill>
                  <a:srgbClr val="C00000"/>
                </a:solidFill>
              </a:rPr>
              <a:t>-</a:t>
            </a:r>
            <a:r>
              <a:rPr lang="zh-CN" altLang="en-US" sz="1900" b="1">
                <a:solidFill>
                  <a:srgbClr val="C00000"/>
                </a:solidFill>
              </a:rPr>
              <a:t>风向联合分布</a:t>
            </a:r>
            <a:r>
              <a:rPr lang="zh-CN" altLang="en-US" sz="1900" b="1">
                <a:solidFill>
                  <a:srgbClr val="C00000"/>
                </a:solidFill>
              </a:rPr>
              <a:t>建模</a:t>
            </a:r>
            <a:endParaRPr lang="zh-CN" altLang="en-US" sz="1900" b="1">
              <a:solidFill>
                <a:srgbClr val="C00000"/>
              </a:solidFill>
            </a:endParaRPr>
          </a:p>
        </p:txBody>
      </p:sp>
      <p:sp>
        <p:nvSpPr>
          <p:cNvPr id="22" name="文本框 21"/>
          <p:cNvSpPr txBox="1"/>
          <p:nvPr/>
        </p:nvSpPr>
        <p:spPr>
          <a:xfrm>
            <a:off x="1223645" y="4338955"/>
            <a:ext cx="3492500" cy="383540"/>
          </a:xfrm>
          <a:prstGeom prst="rect">
            <a:avLst/>
          </a:prstGeom>
          <a:noFill/>
        </p:spPr>
        <p:txBody>
          <a:bodyPr wrap="square" rtlCol="0">
            <a:spAutoFit/>
          </a:bodyPr>
          <a:p>
            <a:r>
              <a:rPr lang="zh-CN" altLang="en-US" sz="1900" b="1">
                <a:solidFill>
                  <a:srgbClr val="C00000"/>
                </a:solidFill>
              </a:rPr>
              <a:t>极端工况可靠度限</a:t>
            </a:r>
            <a:r>
              <a:rPr lang="zh-CN" altLang="en-US" sz="1900" b="1">
                <a:solidFill>
                  <a:srgbClr val="C00000"/>
                </a:solidFill>
              </a:rPr>
              <a:t>值确定</a:t>
            </a:r>
            <a:endParaRPr lang="zh-CN" altLang="en-US" sz="1900" b="1">
              <a:solidFill>
                <a:srgbClr val="C00000"/>
              </a:solidFill>
            </a:endParaRPr>
          </a:p>
        </p:txBody>
      </p:sp>
      <p:sp>
        <p:nvSpPr>
          <p:cNvPr id="23" name="文本框 22"/>
          <p:cNvSpPr txBox="1"/>
          <p:nvPr/>
        </p:nvSpPr>
        <p:spPr>
          <a:xfrm>
            <a:off x="6896100" y="4338955"/>
            <a:ext cx="3041015" cy="383540"/>
          </a:xfrm>
          <a:prstGeom prst="rect">
            <a:avLst/>
          </a:prstGeom>
          <a:noFill/>
        </p:spPr>
        <p:txBody>
          <a:bodyPr wrap="square" rtlCol="0">
            <a:spAutoFit/>
          </a:bodyPr>
          <a:p>
            <a:r>
              <a:rPr lang="zh-CN" altLang="en-US" sz="1900" b="1">
                <a:solidFill>
                  <a:srgbClr val="C00000"/>
                </a:solidFill>
              </a:rPr>
              <a:t>结构优化与振动</a:t>
            </a:r>
            <a:r>
              <a:rPr lang="zh-CN" altLang="en-US" sz="1900" b="1">
                <a:solidFill>
                  <a:srgbClr val="C00000"/>
                </a:solidFill>
              </a:rPr>
              <a:t>控制技术</a:t>
            </a:r>
            <a:endParaRPr lang="zh-CN" altLang="en-US" sz="1900" b="1">
              <a:solidFill>
                <a:srgbClr val="C00000"/>
              </a:solidFill>
            </a:endParaRPr>
          </a:p>
        </p:txBody>
      </p:sp>
      <p:cxnSp>
        <p:nvCxnSpPr>
          <p:cNvPr id="24" name="直接连接符 23"/>
          <p:cNvCxnSpPr/>
          <p:nvPr/>
        </p:nvCxnSpPr>
        <p:spPr>
          <a:xfrm>
            <a:off x="5053965" y="2558415"/>
            <a:ext cx="2667000" cy="0"/>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cxnSp>
        <p:nvCxnSpPr>
          <p:cNvPr id="25" name="直接连接符 24"/>
          <p:cNvCxnSpPr/>
          <p:nvPr/>
        </p:nvCxnSpPr>
        <p:spPr>
          <a:xfrm>
            <a:off x="8893175" y="2546350"/>
            <a:ext cx="2667000" cy="0"/>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cxnSp>
        <p:nvCxnSpPr>
          <p:cNvPr id="26" name="直接连接符 25"/>
          <p:cNvCxnSpPr/>
          <p:nvPr/>
        </p:nvCxnSpPr>
        <p:spPr>
          <a:xfrm flipV="1">
            <a:off x="1280160" y="4776470"/>
            <a:ext cx="4578985" cy="13970"/>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flipV="1">
            <a:off x="6974205" y="4783455"/>
            <a:ext cx="4550410" cy="6985"/>
          </a:xfrm>
          <a:prstGeom prst="line">
            <a:avLst/>
          </a:prstGeom>
          <a:ln w="19050">
            <a:solidFill>
              <a:srgbClr val="C00000"/>
            </a:solidFill>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507365" y="2704465"/>
            <a:ext cx="3621405" cy="1414780"/>
          </a:xfrm>
          <a:prstGeom prst="rect">
            <a:avLst/>
          </a:prstGeom>
          <a:noFill/>
        </p:spPr>
        <p:txBody>
          <a:bodyPr wrap="square" rtlCol="0">
            <a:spAutoFit/>
          </a:bodyPr>
          <a:p>
            <a:pPr>
              <a:lnSpc>
                <a:spcPct val="100000"/>
              </a:lnSpc>
              <a:spcBef>
                <a:spcPts val="0"/>
              </a:spcBef>
              <a:spcAft>
                <a:spcPts val="0"/>
              </a:spcAft>
            </a:pPr>
            <a:r>
              <a:rPr lang="zh-CN" altLang="en-US" sz="1700" b="1">
                <a:solidFill>
                  <a:srgbClr val="305393"/>
                </a:solidFill>
              </a:rPr>
              <a:t>提出面向大型混塔式风电机组的子系统联合仿真理论；划分叶轮·机舱与混塔子系统，采用显式力-位移耦合策略，实现风场-结构一伺服控制协同建模与求解</a:t>
            </a:r>
            <a:r>
              <a:rPr lang="zh-CN" altLang="en-US" b="1">
                <a:solidFill>
                  <a:srgbClr val="305393"/>
                </a:solidFill>
              </a:rPr>
              <a:t>。</a:t>
            </a:r>
            <a:endParaRPr lang="zh-CN" altLang="en-US" b="1">
              <a:solidFill>
                <a:srgbClr val="305393"/>
              </a:solidFill>
            </a:endParaRPr>
          </a:p>
        </p:txBody>
      </p:sp>
      <p:sp>
        <p:nvSpPr>
          <p:cNvPr id="29" name="文本框 28"/>
          <p:cNvSpPr txBox="1"/>
          <p:nvPr/>
        </p:nvSpPr>
        <p:spPr>
          <a:xfrm>
            <a:off x="4264025" y="2710180"/>
            <a:ext cx="3646805" cy="1423035"/>
          </a:xfrm>
          <a:prstGeom prst="rect">
            <a:avLst/>
          </a:prstGeom>
          <a:noFill/>
        </p:spPr>
        <p:txBody>
          <a:bodyPr wrap="square" rtlCol="0">
            <a:noAutofit/>
          </a:bodyPr>
          <a:p>
            <a:pPr>
              <a:lnSpc>
                <a:spcPct val="100000"/>
              </a:lnSpc>
              <a:spcBef>
                <a:spcPts val="0"/>
              </a:spcBef>
              <a:spcAft>
                <a:spcPts val="0"/>
              </a:spcAft>
            </a:pPr>
            <a:r>
              <a:rPr lang="zh-CN" altLang="en-US" sz="1700" b="1">
                <a:solidFill>
                  <a:srgbClr val="305393"/>
                </a:solidFill>
              </a:rPr>
              <a:t>发展</a:t>
            </a:r>
            <a:r>
              <a:rPr lang="zh-CN" altLang="en-US" sz="1700" b="1">
                <a:solidFill>
                  <a:srgbClr val="305393"/>
                </a:solidFill>
                <a:latin typeface="微软雅黑" panose="020B0503020204020204" charset="-122"/>
                <a:ea typeface="微软雅黑" panose="020B0503020204020204" charset="-122"/>
              </a:rPr>
              <a:t>Simpack-Abaqus</a:t>
            </a:r>
            <a:r>
              <a:rPr lang="zh-CN" altLang="en-US" sz="1700" b="1">
                <a:solidFill>
                  <a:srgbClr val="305393"/>
                </a:solidFill>
              </a:rPr>
              <a:t>高保真度模型与</a:t>
            </a:r>
            <a:r>
              <a:rPr lang="zh-CN" altLang="en-US" sz="1700" b="1">
                <a:solidFill>
                  <a:srgbClr val="305393"/>
                </a:solidFill>
                <a:latin typeface="微软雅黑" panose="020B0503020204020204" charset="-122"/>
                <a:ea typeface="微软雅黑" panose="020B0503020204020204" charset="-122"/>
              </a:rPr>
              <a:t>Simpack-Matlab/Simulink-OpenSees</a:t>
            </a:r>
            <a:r>
              <a:rPr lang="zh-CN" altLang="en-US" sz="1700" b="1">
                <a:solidFill>
                  <a:srgbClr val="305393"/>
                </a:solidFill>
              </a:rPr>
              <a:t>中保真度模型：实现复杂细节分析、结构优化与高效可靠度研究的互补。</a:t>
            </a:r>
            <a:endParaRPr lang="zh-CN" altLang="en-US" sz="1700" b="1">
              <a:solidFill>
                <a:srgbClr val="305393"/>
              </a:solidFill>
            </a:endParaRPr>
          </a:p>
        </p:txBody>
      </p:sp>
      <p:sp>
        <p:nvSpPr>
          <p:cNvPr id="30" name="文本框 29"/>
          <p:cNvSpPr txBox="1"/>
          <p:nvPr/>
        </p:nvSpPr>
        <p:spPr>
          <a:xfrm>
            <a:off x="8074660" y="2704465"/>
            <a:ext cx="3642360" cy="1327150"/>
          </a:xfrm>
          <a:prstGeom prst="rect">
            <a:avLst/>
          </a:prstGeom>
          <a:noFill/>
        </p:spPr>
        <p:txBody>
          <a:bodyPr wrap="square" rtlCol="0">
            <a:noAutofit/>
          </a:bodyPr>
          <a:p>
            <a:r>
              <a:rPr lang="zh-CN" altLang="en-US" b="1">
                <a:solidFill>
                  <a:srgbClr val="305393"/>
                </a:solidFill>
              </a:rPr>
              <a:t>提出基于联合特征函数约束的二维核密度估计带宽优化方法；通过最小化Frobenius范数误差,提高尾部区域与多峰分布拟合精度。</a:t>
            </a:r>
            <a:endParaRPr lang="zh-CN" altLang="en-US" b="1">
              <a:solidFill>
                <a:srgbClr val="305393"/>
              </a:solidFill>
            </a:endParaRPr>
          </a:p>
        </p:txBody>
      </p:sp>
      <p:sp>
        <p:nvSpPr>
          <p:cNvPr id="31" name="文本框 30"/>
          <p:cNvSpPr txBox="1"/>
          <p:nvPr/>
        </p:nvSpPr>
        <p:spPr>
          <a:xfrm>
            <a:off x="609600" y="4917440"/>
            <a:ext cx="5263515" cy="922020"/>
          </a:xfrm>
          <a:prstGeom prst="rect">
            <a:avLst/>
          </a:prstGeom>
          <a:noFill/>
        </p:spPr>
        <p:txBody>
          <a:bodyPr wrap="square" rtlCol="0">
            <a:spAutoFit/>
          </a:bodyPr>
          <a:p>
            <a:r>
              <a:rPr lang="zh-CN" altLang="en-US" b="1">
                <a:solidFill>
                  <a:srgbClr val="305393"/>
                </a:solidFill>
              </a:rPr>
              <a:t>提出以应力可靠指标为基准反推塔顶位移限值的方法;给出基于混凝土塔段与钢塔段高度占比的水平位移角限制确定原则及工程化建议。</a:t>
            </a:r>
            <a:endParaRPr lang="zh-CN" altLang="en-US" b="1">
              <a:solidFill>
                <a:srgbClr val="305393"/>
              </a:solidFill>
            </a:endParaRPr>
          </a:p>
        </p:txBody>
      </p:sp>
      <p:sp>
        <p:nvSpPr>
          <p:cNvPr id="32" name="文本框 31"/>
          <p:cNvSpPr txBox="1"/>
          <p:nvPr/>
        </p:nvSpPr>
        <p:spPr>
          <a:xfrm>
            <a:off x="6269355" y="4928235"/>
            <a:ext cx="5129530" cy="922020"/>
          </a:xfrm>
          <a:prstGeom prst="rect">
            <a:avLst/>
          </a:prstGeom>
          <a:noFill/>
        </p:spPr>
        <p:txBody>
          <a:bodyPr wrap="square" rtlCol="0">
            <a:spAutoFit/>
          </a:bodyPr>
          <a:p>
            <a:r>
              <a:rPr lang="zh-CN" altLang="en-US" b="1">
                <a:solidFill>
                  <a:srgbClr val="305393"/>
                </a:solidFill>
              </a:rPr>
              <a:t>提出双重锚固式过渡段结构与三维斜向碰撞式调谐质量阻尼器：前者缓解刚度突变处应力集中，后者通过斜向碰撞机制控制塔架水平振动。</a:t>
            </a:r>
            <a:endParaRPr lang="zh-CN" altLang="en-US" b="1">
              <a:solidFill>
                <a:srgbClr val="305393"/>
              </a:solidFill>
            </a:endParaRPr>
          </a:p>
        </p:txBody>
      </p:sp>
      <p:sp>
        <p:nvSpPr>
          <p:cNvPr id="33" name="任意多边形 32"/>
          <p:cNvSpPr/>
          <p:nvPr/>
        </p:nvSpPr>
        <p:spPr>
          <a:xfrm>
            <a:off x="4277593" y="2003425"/>
            <a:ext cx="3648400" cy="2102485"/>
          </a:xfrm>
          <a:custGeom>
            <a:avLst/>
            <a:gdLst>
              <a:gd name="connsiteX0" fmla="*/ 2 w 5745"/>
              <a:gd name="connsiteY0" fmla="*/ 355 h 3311"/>
              <a:gd name="connsiteX1" fmla="*/ 380 w 5745"/>
              <a:gd name="connsiteY1" fmla="*/ 11 h 3311"/>
              <a:gd name="connsiteX2" fmla="*/ 5480 w 5745"/>
              <a:gd name="connsiteY2" fmla="*/ 0 h 3311"/>
              <a:gd name="connsiteX3" fmla="*/ 5713 w 5745"/>
              <a:gd name="connsiteY3" fmla="*/ 411 h 3311"/>
              <a:gd name="connsiteX4" fmla="*/ 5746 w 5745"/>
              <a:gd name="connsiteY4" fmla="*/ 2978 h 3311"/>
              <a:gd name="connsiteX5" fmla="*/ 5435 w 5745"/>
              <a:gd name="connsiteY5" fmla="*/ 3311 h 3311"/>
              <a:gd name="connsiteX6" fmla="*/ 269 w 5745"/>
              <a:gd name="connsiteY6" fmla="*/ 3311 h 3311"/>
              <a:gd name="connsiteX7" fmla="*/ 2 w 5745"/>
              <a:gd name="connsiteY7" fmla="*/ 2844 h 3311"/>
              <a:gd name="connsiteX8" fmla="*/ 11 w 5745"/>
              <a:gd name="connsiteY8" fmla="*/ 2784 h 3311"/>
              <a:gd name="connsiteX9" fmla="*/ 2 w 5745"/>
              <a:gd name="connsiteY9" fmla="*/ 355 h 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46" h="3311">
                <a:moveTo>
                  <a:pt x="2" y="355"/>
                </a:moveTo>
                <a:cubicBezTo>
                  <a:pt x="2" y="50"/>
                  <a:pt x="75" y="11"/>
                  <a:pt x="380" y="11"/>
                </a:cubicBezTo>
                <a:lnTo>
                  <a:pt x="5480" y="0"/>
                </a:lnTo>
                <a:cubicBezTo>
                  <a:pt x="5785" y="0"/>
                  <a:pt x="5713" y="106"/>
                  <a:pt x="5713" y="411"/>
                </a:cubicBezTo>
                <a:lnTo>
                  <a:pt x="5746" y="2978"/>
                </a:lnTo>
                <a:cubicBezTo>
                  <a:pt x="5746" y="3283"/>
                  <a:pt x="5740" y="3311"/>
                  <a:pt x="5435" y="3311"/>
                </a:cubicBezTo>
                <a:lnTo>
                  <a:pt x="269" y="3311"/>
                </a:lnTo>
                <a:cubicBezTo>
                  <a:pt x="-36" y="3311"/>
                  <a:pt x="2" y="3149"/>
                  <a:pt x="2" y="2844"/>
                </a:cubicBezTo>
                <a:lnTo>
                  <a:pt x="11" y="2784"/>
                </a:lnTo>
                <a:lnTo>
                  <a:pt x="2" y="355"/>
                </a:lnTo>
                <a:close/>
              </a:path>
            </a:pathLst>
          </a:cu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4" name="任意多边形 33"/>
          <p:cNvSpPr/>
          <p:nvPr/>
        </p:nvSpPr>
        <p:spPr>
          <a:xfrm>
            <a:off x="8074658" y="1996440"/>
            <a:ext cx="3650702" cy="2110140"/>
          </a:xfrm>
          <a:custGeom>
            <a:avLst/>
            <a:gdLst>
              <a:gd name="connsiteX0" fmla="*/ 1 w 5749"/>
              <a:gd name="connsiteY0" fmla="*/ 389 h 3323"/>
              <a:gd name="connsiteX1" fmla="*/ 279 w 5749"/>
              <a:gd name="connsiteY1" fmla="*/ 0 h 3323"/>
              <a:gd name="connsiteX2" fmla="*/ 5501 w 5749"/>
              <a:gd name="connsiteY2" fmla="*/ 33 h 3323"/>
              <a:gd name="connsiteX3" fmla="*/ 5745 w 5749"/>
              <a:gd name="connsiteY3" fmla="*/ 533 h 3323"/>
              <a:gd name="connsiteX4" fmla="*/ 5745 w 5749"/>
              <a:gd name="connsiteY4" fmla="*/ 2785 h 3323"/>
              <a:gd name="connsiteX5" fmla="*/ 5490 w 5749"/>
              <a:gd name="connsiteY5" fmla="*/ 3322 h 3323"/>
              <a:gd name="connsiteX6" fmla="*/ 734 w 5749"/>
              <a:gd name="connsiteY6" fmla="*/ 3311 h 3323"/>
              <a:gd name="connsiteX7" fmla="*/ 356 w 5749"/>
              <a:gd name="connsiteY7" fmla="*/ 3322 h 3323"/>
              <a:gd name="connsiteX8" fmla="*/ 10 w 5749"/>
              <a:gd name="connsiteY8" fmla="*/ 3052 h 3323"/>
              <a:gd name="connsiteX9" fmla="*/ 1 w 5749"/>
              <a:gd name="connsiteY9" fmla="*/ 389 h 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49" h="3323">
                <a:moveTo>
                  <a:pt x="1" y="389"/>
                </a:moveTo>
                <a:cubicBezTo>
                  <a:pt x="1" y="86"/>
                  <a:pt x="-24" y="0"/>
                  <a:pt x="279" y="0"/>
                </a:cubicBezTo>
                <a:lnTo>
                  <a:pt x="5501" y="33"/>
                </a:lnTo>
                <a:cubicBezTo>
                  <a:pt x="5804" y="33"/>
                  <a:pt x="5745" y="230"/>
                  <a:pt x="5745" y="533"/>
                </a:cubicBezTo>
                <a:lnTo>
                  <a:pt x="5745" y="2785"/>
                </a:lnTo>
                <a:cubicBezTo>
                  <a:pt x="5745" y="3088"/>
                  <a:pt x="5793" y="3322"/>
                  <a:pt x="5490" y="3322"/>
                </a:cubicBezTo>
                <a:lnTo>
                  <a:pt x="734" y="3311"/>
                </a:lnTo>
                <a:lnTo>
                  <a:pt x="356" y="3322"/>
                </a:lnTo>
                <a:cubicBezTo>
                  <a:pt x="53" y="3322"/>
                  <a:pt x="10" y="3355"/>
                  <a:pt x="10" y="3052"/>
                </a:cubicBezTo>
                <a:lnTo>
                  <a:pt x="1" y="389"/>
                </a:lnTo>
                <a:close/>
              </a:path>
            </a:pathLst>
          </a:cu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任意多边形 34"/>
          <p:cNvSpPr/>
          <p:nvPr/>
        </p:nvSpPr>
        <p:spPr>
          <a:xfrm>
            <a:off x="482589" y="4260850"/>
            <a:ext cx="5544981" cy="1891030"/>
          </a:xfrm>
          <a:custGeom>
            <a:avLst/>
            <a:gdLst>
              <a:gd name="connsiteX0" fmla="*/ 0 w 8732"/>
              <a:gd name="connsiteY0" fmla="*/ 323 h 2978"/>
              <a:gd name="connsiteX1" fmla="*/ 300 w 8732"/>
              <a:gd name="connsiteY1" fmla="*/ 0 h 2978"/>
              <a:gd name="connsiteX2" fmla="*/ 8218 w 8732"/>
              <a:gd name="connsiteY2" fmla="*/ 25 h 2978"/>
              <a:gd name="connsiteX3" fmla="*/ 8722 w 8732"/>
              <a:gd name="connsiteY3" fmla="*/ 212 h 2978"/>
              <a:gd name="connsiteX4" fmla="*/ 8712 w 8732"/>
              <a:gd name="connsiteY4" fmla="*/ 2495 h 2978"/>
              <a:gd name="connsiteX5" fmla="*/ 8545 w 8732"/>
              <a:gd name="connsiteY5" fmla="*/ 2978 h 2978"/>
              <a:gd name="connsiteX6" fmla="*/ 334 w 8732"/>
              <a:gd name="connsiteY6" fmla="*/ 2967 h 2978"/>
              <a:gd name="connsiteX7" fmla="*/ 0 w 8732"/>
              <a:gd name="connsiteY7" fmla="*/ 2700 h 2978"/>
              <a:gd name="connsiteX8" fmla="*/ 0 w 8732"/>
              <a:gd name="connsiteY8" fmla="*/ 323 h 2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32" h="2978">
                <a:moveTo>
                  <a:pt x="0" y="323"/>
                </a:moveTo>
                <a:cubicBezTo>
                  <a:pt x="0" y="50"/>
                  <a:pt x="27" y="0"/>
                  <a:pt x="300" y="0"/>
                </a:cubicBezTo>
                <a:lnTo>
                  <a:pt x="8218" y="25"/>
                </a:lnTo>
                <a:cubicBezTo>
                  <a:pt x="8491" y="25"/>
                  <a:pt x="8722" y="-61"/>
                  <a:pt x="8722" y="212"/>
                </a:cubicBezTo>
                <a:lnTo>
                  <a:pt x="8712" y="2495"/>
                </a:lnTo>
                <a:cubicBezTo>
                  <a:pt x="8712" y="2768"/>
                  <a:pt x="8818" y="2978"/>
                  <a:pt x="8545" y="2978"/>
                </a:cubicBezTo>
                <a:lnTo>
                  <a:pt x="334" y="2967"/>
                </a:lnTo>
                <a:cubicBezTo>
                  <a:pt x="61" y="2967"/>
                  <a:pt x="0" y="2973"/>
                  <a:pt x="0" y="2700"/>
                </a:cubicBezTo>
                <a:lnTo>
                  <a:pt x="0" y="323"/>
                </a:lnTo>
                <a:close/>
              </a:path>
            </a:pathLst>
          </a:cu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6" name="任意多边形 35"/>
          <p:cNvSpPr/>
          <p:nvPr/>
        </p:nvSpPr>
        <p:spPr>
          <a:xfrm>
            <a:off x="6160259" y="4246880"/>
            <a:ext cx="5568481" cy="1904521"/>
          </a:xfrm>
          <a:custGeom>
            <a:avLst/>
            <a:gdLst>
              <a:gd name="connsiteX0" fmla="*/ 16 w 8769"/>
              <a:gd name="connsiteY0" fmla="*/ 532 h 2999"/>
              <a:gd name="connsiteX1" fmla="*/ 194 w 8769"/>
              <a:gd name="connsiteY1" fmla="*/ 34 h 2999"/>
              <a:gd name="connsiteX2" fmla="*/ 8537 w 8769"/>
              <a:gd name="connsiteY2" fmla="*/ 0 h 2999"/>
              <a:gd name="connsiteX3" fmla="*/ 8765 w 8769"/>
              <a:gd name="connsiteY3" fmla="*/ 532 h 2999"/>
              <a:gd name="connsiteX4" fmla="*/ 8765 w 8769"/>
              <a:gd name="connsiteY4" fmla="*/ 2506 h 2999"/>
              <a:gd name="connsiteX5" fmla="*/ 8548 w 8769"/>
              <a:gd name="connsiteY5" fmla="*/ 2989 h 2999"/>
              <a:gd name="connsiteX6" fmla="*/ 509 w 8769"/>
              <a:gd name="connsiteY6" fmla="*/ 2999 h 2999"/>
              <a:gd name="connsiteX7" fmla="*/ 16 w 8769"/>
              <a:gd name="connsiteY7" fmla="*/ 2745 h 2999"/>
              <a:gd name="connsiteX8" fmla="*/ 16 w 8769"/>
              <a:gd name="connsiteY8" fmla="*/ 532 h 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69" h="2999">
                <a:moveTo>
                  <a:pt x="16" y="532"/>
                </a:moveTo>
                <a:cubicBezTo>
                  <a:pt x="16" y="260"/>
                  <a:pt x="-78" y="34"/>
                  <a:pt x="194" y="34"/>
                </a:cubicBezTo>
                <a:lnTo>
                  <a:pt x="8537" y="0"/>
                </a:lnTo>
                <a:cubicBezTo>
                  <a:pt x="8809" y="0"/>
                  <a:pt x="8765" y="260"/>
                  <a:pt x="8765" y="532"/>
                </a:cubicBezTo>
                <a:lnTo>
                  <a:pt x="8765" y="2506"/>
                </a:lnTo>
                <a:cubicBezTo>
                  <a:pt x="8765" y="2778"/>
                  <a:pt x="8820" y="2989"/>
                  <a:pt x="8548" y="2989"/>
                </a:cubicBezTo>
                <a:lnTo>
                  <a:pt x="509" y="2999"/>
                </a:lnTo>
                <a:cubicBezTo>
                  <a:pt x="237" y="2999"/>
                  <a:pt x="16" y="3017"/>
                  <a:pt x="16" y="2745"/>
                </a:cubicBezTo>
                <a:lnTo>
                  <a:pt x="16" y="532"/>
                </a:lnTo>
                <a:close/>
              </a:path>
            </a:pathLst>
          </a:cu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 name="文本框 1"/>
          <p:cNvSpPr txBox="1"/>
          <p:nvPr/>
        </p:nvSpPr>
        <p:spPr>
          <a:xfrm>
            <a:off x="11308715" y="6489700"/>
            <a:ext cx="88328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10/68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1</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3206750" cy="568325"/>
          </a:xfrm>
          <a:prstGeom prst="rect">
            <a:avLst/>
          </a:prstGeom>
          <a:noFill/>
        </p:spPr>
        <p:txBody>
          <a:bodyPr wrap="square" rtlCol="0">
            <a:spAutoFit/>
          </a:bodyPr>
          <a:p>
            <a:r>
              <a:rPr lang="zh-CN" altLang="en-US" sz="3100" b="1">
                <a:solidFill>
                  <a:srgbClr val="305393"/>
                </a:solidFill>
              </a:rPr>
              <a:t>研究背景与意义</a:t>
            </a:r>
            <a:endParaRPr lang="zh-CN" altLang="en-US" sz="3100" b="1">
              <a:solidFill>
                <a:srgbClr val="305393"/>
              </a:solidFill>
            </a:endParaRPr>
          </a:p>
        </p:txBody>
      </p:sp>
      <p:graphicFrame>
        <p:nvGraphicFramePr>
          <p:cNvPr id="10" name="表格 9"/>
          <p:cNvGraphicFramePr/>
          <p:nvPr>
            <p:custDataLst>
              <p:tags r:id="rId1"/>
            </p:custDataLst>
          </p:nvPr>
        </p:nvGraphicFramePr>
        <p:xfrm>
          <a:off x="676910" y="1598295"/>
          <a:ext cx="10869295" cy="4730115"/>
        </p:xfrm>
        <a:graphic>
          <a:graphicData uri="http://schemas.openxmlformats.org/drawingml/2006/table">
            <a:tbl>
              <a:tblPr firstRow="1" bandRow="1">
                <a:tableStyleId>{5C22544A-7EE6-4342-B048-85BDC9FD1C3A}</a:tableStyleId>
              </a:tblPr>
              <a:tblGrid>
                <a:gridCol w="9767570"/>
                <a:gridCol w="1101725"/>
              </a:tblGrid>
              <a:tr h="596265">
                <a:tc>
                  <a:txBody>
                    <a:bodyPr/>
                    <a:p>
                      <a:pPr algn="ctr">
                        <a:buNone/>
                      </a:pPr>
                      <a:r>
                        <a:rPr lang="zh-CN" altLang="en-US" sz="1800"/>
                        <a:t>学术成果</a:t>
                      </a:r>
                      <a:endParaRPr lang="zh-CN" altLang="en-US" sz="1800"/>
                    </a:p>
                  </a:txBody>
                  <a:tcPr/>
                </a:tc>
                <a:tc>
                  <a:txBody>
                    <a:bodyPr/>
                    <a:p>
                      <a:pPr>
                        <a:buNone/>
                      </a:pPr>
                      <a:r>
                        <a:rPr lang="zh-CN" altLang="en-US" sz="1400"/>
                        <a:t>对应博士学位论文章节</a:t>
                      </a:r>
                      <a:endParaRPr lang="zh-CN" altLang="en-US" sz="1400"/>
                    </a:p>
                  </a:txBody>
                  <a:tcPr/>
                </a:tc>
              </a:tr>
              <a:tr h="360680">
                <a:tc>
                  <a:txBody>
                    <a:bodyPr/>
                    <a:p>
                      <a:pPr>
                        <a:buNone/>
                      </a:pPr>
                      <a:r>
                        <a:rPr lang="zh-CN" altLang="en-US" sz="1200"/>
                        <a:t>王丹，徐军，贺广零，等.风电机组混凝土-钢混合塔筒技术现状与发展趋势[J].</a:t>
                      </a:r>
                      <a:r>
                        <a:rPr lang="zh-CN" altLang="en-US" sz="1200" b="1"/>
                        <a:t>土木与环境工程学报（中英文)</a:t>
                      </a:r>
                      <a:r>
                        <a:rPr lang="zh-CN" altLang="en-US" sz="1200"/>
                        <a:t>，2025,47(6):151-167.(</a:t>
                      </a:r>
                      <a:r>
                        <a:rPr lang="zh-CN" altLang="en-US" sz="1200" b="1"/>
                        <a:t>CSCD核心库</a:t>
                      </a:r>
                      <a:r>
                        <a:rPr lang="zh-CN" altLang="en-US" sz="1200"/>
                        <a:t>)</a:t>
                      </a:r>
                      <a:endParaRPr lang="zh-CN" altLang="en-US" sz="1200"/>
                    </a:p>
                  </a:txBody>
                  <a:tcPr/>
                </a:tc>
                <a:tc>
                  <a:txBody>
                    <a:bodyPr/>
                    <a:p>
                      <a:pPr algn="ctr">
                        <a:buNone/>
                      </a:pPr>
                      <a:r>
                        <a:rPr lang="zh-CN" altLang="en-US" sz="1200" b="1"/>
                        <a:t>第一章</a:t>
                      </a:r>
                      <a:endParaRPr lang="zh-CN" altLang="en-US" sz="1200" b="1"/>
                    </a:p>
                  </a:txBody>
                  <a:tcPr/>
                </a:tc>
              </a:tr>
              <a:tr h="607060">
                <a:tc>
                  <a:txBody>
                    <a:bodyPr/>
                    <a:p>
                      <a:pPr>
                        <a:buNone/>
                      </a:pPr>
                      <a:r>
                        <a:rPr lang="zh-CN" altLang="en-US" sz="1200"/>
                        <a:t>Dan Wang, Jun Xu, Zeyu He, et al. High-fidelity integrated co simulation model for dynamic analysis of onshore wind turbines with steel-concrete hybrid tower(J]. </a:t>
                      </a:r>
                      <a:r>
                        <a:rPr lang="zh-CN" altLang="en-US" sz="1200" b="1"/>
                        <a:t>Mechanical Systems and Signal Processing,</a:t>
                      </a:r>
                      <a:r>
                        <a:rPr lang="zh-CN" altLang="en-US" sz="1200"/>
                        <a:t> 2025, 230: 112583.（</a:t>
                      </a:r>
                      <a:r>
                        <a:rPr lang="zh-CN" altLang="en-US" sz="1200" b="1"/>
                        <a:t>SCI一区</a:t>
                      </a:r>
                      <a:r>
                        <a:rPr lang="zh-CN" altLang="en-US" sz="1200"/>
                        <a:t>)</a:t>
                      </a:r>
                      <a:endParaRPr lang="zh-CN" altLang="en-US" sz="1200"/>
                    </a:p>
                  </a:txBody>
                  <a:tcPr/>
                </a:tc>
                <a:tc>
                  <a:txBody>
                    <a:bodyPr/>
                    <a:p>
                      <a:pPr algn="ctr">
                        <a:buNone/>
                      </a:pPr>
                      <a:r>
                        <a:rPr lang="en-US" altLang="zh-CN" sz="1200" b="1"/>
                        <a:t>    </a:t>
                      </a:r>
                      <a:r>
                        <a:rPr lang="zh-CN" altLang="en-US" sz="1200" b="1"/>
                        <a:t>第三章、</a:t>
                      </a:r>
                      <a:endParaRPr lang="zh-CN" altLang="en-US" sz="1200" b="1"/>
                    </a:p>
                    <a:p>
                      <a:pPr algn="ctr">
                        <a:buNone/>
                      </a:pPr>
                      <a:r>
                        <a:rPr lang="zh-CN" altLang="en-US" sz="1200" b="1"/>
                        <a:t>第七章</a:t>
                      </a:r>
                      <a:endParaRPr lang="zh-CN" altLang="en-US" sz="1200" b="1"/>
                    </a:p>
                  </a:txBody>
                  <a:tcPr/>
                </a:tc>
              </a:tr>
              <a:tr h="433070">
                <a:tc>
                  <a:txBody>
                    <a:bodyPr/>
                    <a:p>
                      <a:pPr>
                        <a:buNone/>
                      </a:pPr>
                      <a:r>
                        <a:rPr lang="zh-CN" altLang="en-US" sz="1200"/>
                        <a:t>徐军，王丹，何泽瑜，等.大型混塔式风电机组非线性动力响应分析[J.</a:t>
                      </a:r>
                      <a:r>
                        <a:rPr lang="zh-CN" altLang="en-US" sz="1200" b="1"/>
                        <a:t>太阳能学报</a:t>
                      </a:r>
                      <a:r>
                        <a:rPr lang="zh-CN" altLang="en-US" sz="1200"/>
                        <a:t>，2026，47(2)：508-516</a:t>
                      </a:r>
                      <a:r>
                        <a:rPr lang="en-US" altLang="zh-CN" sz="1200"/>
                        <a:t>.</a:t>
                      </a:r>
                      <a:r>
                        <a:rPr lang="zh-CN" altLang="en-US" sz="1200"/>
                        <a:t>（</a:t>
                      </a:r>
                      <a:r>
                        <a:rPr lang="zh-CN" altLang="en-US" sz="1200" b="1"/>
                        <a:t>E1</a:t>
                      </a:r>
                      <a:r>
                        <a:rPr lang="zh-CN" altLang="en-US" sz="1200"/>
                        <a:t>)</a:t>
                      </a:r>
                      <a:endParaRPr lang="zh-CN" altLang="en-US" sz="1200"/>
                    </a:p>
                  </a:txBody>
                  <a:tcPr/>
                </a:tc>
                <a:tc>
                  <a:txBody>
                    <a:bodyPr/>
                    <a:p>
                      <a:pPr algn="ctr">
                        <a:buNone/>
                      </a:pPr>
                      <a:r>
                        <a:rPr lang="zh-CN" altLang="en-US" sz="1200" b="1"/>
                        <a:t>第四章</a:t>
                      </a:r>
                      <a:endParaRPr lang="zh-CN" altLang="en-US" sz="1200" b="1"/>
                    </a:p>
                  </a:txBody>
                  <a:tcPr/>
                </a:tc>
              </a:tr>
              <a:tr h="525780">
                <a:tc>
                  <a:txBody>
                    <a:bodyPr/>
                    <a:p>
                      <a:pPr>
                        <a:buNone/>
                      </a:pPr>
                      <a:r>
                        <a:rPr lang="zh-CN" altLang="en-US" sz="1200"/>
                        <a:t>Dan Wang, Futai Zhang, Jun Xu, et al. Nonlinear fatigue analysis of onshore wind turbines with steel-concrete hybrid tower using a co-simulation method and enhanced kernel density estimation[J]. </a:t>
                      </a:r>
                      <a:r>
                        <a:rPr lang="zh-CN" altLang="en-US" sz="1200" b="1"/>
                        <a:t>Mechanical Systems and Signal Processing, </a:t>
                      </a:r>
                      <a:r>
                        <a:rPr lang="zh-CN" altLang="en-US" sz="1200"/>
                        <a:t>2025, 239: 113243.(</a:t>
                      </a:r>
                      <a:r>
                        <a:rPr lang="zh-CN" altLang="en-US" sz="1200" b="1"/>
                        <a:t>SCI一区</a:t>
                      </a:r>
                      <a:r>
                        <a:rPr lang="zh-CN" altLang="en-US" sz="1200"/>
                        <a:t>)</a:t>
                      </a:r>
                      <a:endParaRPr lang="zh-CN" altLang="en-US" sz="1200"/>
                    </a:p>
                  </a:txBody>
                  <a:tcPr/>
                </a:tc>
                <a:tc>
                  <a:txBody>
                    <a:bodyPr/>
                    <a:p>
                      <a:pPr algn="ctr">
                        <a:buNone/>
                      </a:pPr>
                      <a:r>
                        <a:rPr lang="zh-CN" altLang="en-US" sz="1200" b="1"/>
                        <a:t>第五章</a:t>
                      </a:r>
                      <a:endParaRPr lang="zh-CN" altLang="en-US" sz="1200" b="1"/>
                    </a:p>
                  </a:txBody>
                  <a:tcPr/>
                </a:tc>
              </a:tr>
              <a:tr h="361315">
                <a:tc>
                  <a:txBody>
                    <a:bodyPr/>
                    <a:p>
                      <a:pPr>
                        <a:buNone/>
                      </a:pPr>
                      <a:r>
                        <a:rPr lang="zh-CN" altLang="en-US" sz="1200"/>
                        <a:t>徐军，王丹，于泉夫，等.混塔式风力机水平位移角限值可靠度确定方法[J/OL].</a:t>
                      </a:r>
                      <a:r>
                        <a:rPr lang="zh-CN" altLang="en-US" sz="1200" b="1"/>
                        <a:t>太阳能学报</a:t>
                      </a:r>
                      <a:r>
                        <a:rPr lang="zh-CN" altLang="en-US" sz="1200"/>
                        <a:t>，2025.（</a:t>
                      </a:r>
                      <a:r>
                        <a:rPr lang="zh-CN" altLang="en-US" sz="1200" b="1"/>
                        <a:t>EI</a:t>
                      </a:r>
                      <a:r>
                        <a:rPr lang="zh-CN" altLang="en-US" sz="1200"/>
                        <a:t>)</a:t>
                      </a:r>
                      <a:endParaRPr lang="zh-CN" altLang="en-US" sz="1200"/>
                    </a:p>
                  </a:txBody>
                  <a:tcPr/>
                </a:tc>
                <a:tc>
                  <a:txBody>
                    <a:bodyPr/>
                    <a:p>
                      <a:pPr algn="ctr">
                        <a:buNone/>
                      </a:pPr>
                      <a:r>
                        <a:rPr lang="zh-CN" altLang="en-US" sz="1200" b="1"/>
                        <a:t>第六章</a:t>
                      </a:r>
                      <a:endParaRPr lang="zh-CN" altLang="en-US" sz="1200" b="1"/>
                    </a:p>
                  </a:txBody>
                  <a:tcPr/>
                </a:tc>
              </a:tr>
              <a:tr h="434340">
                <a:tc>
                  <a:txBody>
                    <a:bodyPr/>
                    <a:p>
                      <a:pPr>
                        <a:buNone/>
                      </a:pPr>
                      <a:r>
                        <a:rPr lang="zh-CN" altLang="en-US" sz="1200"/>
                        <a:t>徐军，王丹，于泉夫，等.基于多保真度数值模型的混塔式风机可靠度分析方法及装置：202411168057[P].2025.（</a:t>
                      </a:r>
                      <a:r>
                        <a:rPr lang="zh-CN" altLang="en-US" sz="1200" b="1"/>
                        <a:t>发明专利</a:t>
                      </a:r>
                      <a:r>
                        <a:rPr lang="zh-CN" altLang="en-US" sz="1200"/>
                        <a:t>）</a:t>
                      </a:r>
                      <a:endParaRPr lang="zh-CN" altLang="en-US" sz="1200"/>
                    </a:p>
                  </a:txBody>
                  <a:tcPr/>
                </a:tc>
                <a:tc>
                  <a:txBody>
                    <a:bodyPr/>
                    <a:p>
                      <a:pPr algn="ctr">
                        <a:buNone/>
                      </a:pPr>
                      <a:r>
                        <a:rPr lang="zh-CN" altLang="en-US" sz="1200" b="1"/>
                        <a:t>第六章</a:t>
                      </a:r>
                      <a:endParaRPr lang="zh-CN" altLang="en-US" sz="1200" b="1"/>
                    </a:p>
                  </a:txBody>
                  <a:tcPr/>
                </a:tc>
              </a:tr>
              <a:tr h="360045">
                <a:tc>
                  <a:txBody>
                    <a:bodyPr/>
                    <a:p>
                      <a:pPr>
                        <a:buNone/>
                      </a:pPr>
                      <a:r>
                        <a:rPr lang="zh-CN" altLang="en-US" sz="1200"/>
                        <a:t>徐军，王丹，贺广零，等.一种混凝土-钢混合塔筒过渡段连接装置：202310914102[P].2023.（</a:t>
                      </a:r>
                      <a:r>
                        <a:rPr lang="zh-CN" altLang="en-US" sz="1200" b="1"/>
                        <a:t>发明专利</a:t>
                      </a:r>
                      <a:r>
                        <a:rPr lang="zh-CN" altLang="en-US" sz="1200"/>
                        <a:t>)</a:t>
                      </a:r>
                      <a:endParaRPr lang="zh-CN" altLang="en-US" sz="1200"/>
                    </a:p>
                  </a:txBody>
                  <a:tcPr/>
                </a:tc>
                <a:tc>
                  <a:txBody>
                    <a:bodyPr/>
                    <a:p>
                      <a:pPr algn="ctr">
                        <a:buNone/>
                      </a:pPr>
                      <a:r>
                        <a:rPr lang="zh-CN" altLang="en-US" sz="1200" b="1"/>
                        <a:t>第七章</a:t>
                      </a:r>
                      <a:endParaRPr lang="zh-CN" altLang="en-US" sz="1200" b="1"/>
                    </a:p>
                  </a:txBody>
                  <a:tcPr/>
                </a:tc>
              </a:tr>
              <a:tr h="525780">
                <a:tc>
                  <a:txBody>
                    <a:bodyPr/>
                    <a:p>
                      <a:pPr>
                        <a:buNone/>
                      </a:pPr>
                      <a:r>
                        <a:rPr lang="zh-CN" altLang="en-US" sz="1200"/>
                        <a:t>徐军，贺广零，王丹，易权，张超，张世平，李宇翔，马俊，唐伟伟，何泽瑜.风电机组超高混塔建设关键技术及应用.</a:t>
                      </a:r>
                      <a:r>
                        <a:rPr lang="zh-CN" altLang="en-US" sz="1200" b="1"/>
                        <a:t>湖南省电力科学技术进步奖二等奖</a:t>
                      </a:r>
                      <a:r>
                        <a:rPr lang="zh-CN" altLang="en-US" sz="1200"/>
                        <a:t>.湖南省电机工程学会，2025.</a:t>
                      </a:r>
                      <a:endParaRPr lang="zh-CN" altLang="en-US" sz="1200"/>
                    </a:p>
                  </a:txBody>
                  <a:tcPr/>
                </a:tc>
                <a:tc>
                  <a:txBody>
                    <a:bodyPr/>
                    <a:p>
                      <a:pPr algn="ctr">
                        <a:buNone/>
                      </a:pPr>
                      <a:r>
                        <a:rPr lang="en-US" altLang="zh-CN"/>
                        <a:t>/</a:t>
                      </a:r>
                      <a:endParaRPr lang="en-US" altLang="zh-CN"/>
                    </a:p>
                  </a:txBody>
                  <a:tcPr/>
                </a:tc>
              </a:tr>
              <a:tr h="525780">
                <a:tc>
                  <a:txBody>
                    <a:bodyPr/>
                    <a:p>
                      <a:pPr>
                        <a:buNone/>
                      </a:pPr>
                      <a:r>
                        <a:rPr lang="zh-CN" altLang="en-US" sz="1200"/>
                        <a:t>贺广零，徐军，吴强徐皇冈，李宇翔，王丹，于泉夫，唐伟伟，超高混塔建设关键技术研究，</a:t>
                      </a:r>
                      <a:r>
                        <a:rPr lang="zh-CN" altLang="en-US" sz="1200" b="1"/>
                        <a:t>湖南省可再生能源科学技术进步奖一等奖.</a:t>
                      </a:r>
                      <a:r>
                        <a:rPr lang="zh-CN" altLang="en-US" sz="1200"/>
                        <a:t>湖南省可再生能源学会，2024.</a:t>
                      </a:r>
                      <a:endParaRPr lang="zh-CN" altLang="en-US" sz="1200"/>
                    </a:p>
                  </a:txBody>
                  <a:tcPr/>
                </a:tc>
                <a:tc>
                  <a:txBody>
                    <a:bodyPr/>
                    <a:p>
                      <a:pPr algn="ctr">
                        <a:buNone/>
                      </a:pPr>
                      <a:r>
                        <a:rPr lang="en-US" altLang="zh-CN"/>
                        <a:t>/</a:t>
                      </a:r>
                      <a:endParaRPr lang="en-US" altLang="zh-CN"/>
                    </a:p>
                  </a:txBody>
                  <a:tcPr/>
                </a:tc>
              </a:tr>
            </a:tbl>
          </a:graphicData>
        </a:graphic>
      </p:graphicFrame>
      <p:sp>
        <p:nvSpPr>
          <p:cNvPr id="11" name="矩形 10"/>
          <p:cNvSpPr/>
          <p:nvPr/>
        </p:nvSpPr>
        <p:spPr>
          <a:xfrm>
            <a:off x="904240" y="1214755"/>
            <a:ext cx="135890" cy="183515"/>
          </a:xfrm>
          <a:prstGeom prst="rect">
            <a:avLst/>
          </a:prstGeom>
          <a:solidFill>
            <a:srgbClr val="30539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1196340" y="1106170"/>
            <a:ext cx="10219690" cy="445135"/>
          </a:xfrm>
          <a:prstGeom prst="rect">
            <a:avLst/>
          </a:prstGeom>
          <a:noFill/>
        </p:spPr>
        <p:txBody>
          <a:bodyPr wrap="square" rtlCol="0">
            <a:spAutoFit/>
          </a:bodyPr>
          <a:p>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研究成果已发表于</a:t>
            </a:r>
            <a:r>
              <a:rPr lang="en-US" altLang="zh-CN" sz="2300" b="1">
                <a:solidFill>
                  <a:srgbClr val="305393"/>
                </a:solidFill>
                <a:latin typeface="微软雅黑" panose="020B0503020204020204" charset="-122"/>
                <a:ea typeface="微软雅黑" panose="020B0503020204020204" charset="-122"/>
                <a:cs typeface="微软雅黑" panose="020B0503020204020204" charset="-122"/>
              </a:rPr>
              <a:t>MSSP</a:t>
            </a:r>
            <a:r>
              <a:rPr lang="zh-CN" altLang="en-US" sz="2300" b="1">
                <a:solidFill>
                  <a:srgbClr val="305393"/>
                </a:solidFill>
                <a:latin typeface="微软雅黑" panose="020B0503020204020204" charset="-122"/>
                <a:ea typeface="微软雅黑" panose="020B0503020204020204" charset="-122"/>
                <a:cs typeface="微软雅黑" panose="020B0503020204020204" charset="-122"/>
              </a:rPr>
              <a:t>、《太阳能学报》等期刊，且形成多项专利技术成果</a:t>
            </a:r>
            <a:endParaRPr lang="zh-CN" altLang="en-US" sz="2300" b="1">
              <a:solidFill>
                <a:srgbClr val="305393"/>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11321415" y="6489700"/>
            <a:ext cx="87058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11/68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custDataLst>
              <p:tags r:id="rId1"/>
            </p:custDataLst>
          </p:nvPr>
        </p:nvSpPr>
        <p:spPr>
          <a:xfrm>
            <a:off x="3387090" y="1261745"/>
            <a:ext cx="6446520" cy="53721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nvSpPr>
        <p:spPr>
          <a:xfrm>
            <a:off x="209550" y="195580"/>
            <a:ext cx="11777980" cy="121920"/>
          </a:xfrm>
          <a:prstGeom prst="rect">
            <a:avLst/>
          </a:prstGeom>
          <a:solidFill>
            <a:srgbClr val="2E5495"/>
          </a:solidFill>
          <a:ln>
            <a:solidFill>
              <a:srgbClr val="30539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nvSpPr>
        <p:spPr>
          <a:xfrm>
            <a:off x="4425950" y="316230"/>
            <a:ext cx="3276600" cy="493395"/>
          </a:xfrm>
          <a:custGeom>
            <a:avLst/>
            <a:gdLst>
              <a:gd name="connisteX0" fmla="*/ 0 w 3276600"/>
              <a:gd name="connsiteY0" fmla="*/ 4445 h 493395"/>
              <a:gd name="connisteX1" fmla="*/ 52070 w 3276600"/>
              <a:gd name="connsiteY1" fmla="*/ 9525 h 493395"/>
              <a:gd name="connisteX2" fmla="*/ 93345 w 3276600"/>
              <a:gd name="connsiteY2" fmla="*/ 23495 h 493395"/>
              <a:gd name="connisteX3" fmla="*/ 128270 w 3276600"/>
              <a:gd name="connsiteY3" fmla="*/ 36195 h 493395"/>
              <a:gd name="connisteX4" fmla="*/ 168275 w 3276600"/>
              <a:gd name="connsiteY4" fmla="*/ 55245 h 493395"/>
              <a:gd name="connisteX5" fmla="*/ 191770 w 3276600"/>
              <a:gd name="connsiteY5" fmla="*/ 71120 h 493395"/>
              <a:gd name="connisteX6" fmla="*/ 228600 w 3276600"/>
              <a:gd name="connsiteY6" fmla="*/ 98425 h 493395"/>
              <a:gd name="connisteX7" fmla="*/ 258445 w 3276600"/>
              <a:gd name="connsiteY7" fmla="*/ 123825 h 493395"/>
              <a:gd name="connisteX8" fmla="*/ 299720 w 3276600"/>
              <a:gd name="connsiteY8" fmla="*/ 168275 h 493395"/>
              <a:gd name="connisteX9" fmla="*/ 336550 w 3276600"/>
              <a:gd name="connsiteY9" fmla="*/ 217170 h 493395"/>
              <a:gd name="connisteX10" fmla="*/ 375920 w 3276600"/>
              <a:gd name="connsiteY10" fmla="*/ 266700 h 493395"/>
              <a:gd name="connisteX11" fmla="*/ 406400 w 3276600"/>
              <a:gd name="connsiteY11" fmla="*/ 309245 h 493395"/>
              <a:gd name="connisteX12" fmla="*/ 447675 w 3276600"/>
              <a:gd name="connsiteY12" fmla="*/ 355600 h 493395"/>
              <a:gd name="connisteX13" fmla="*/ 483870 w 3276600"/>
              <a:gd name="connsiteY13" fmla="*/ 387350 h 493395"/>
              <a:gd name="connisteX14" fmla="*/ 514350 w 3276600"/>
              <a:gd name="connsiteY14" fmla="*/ 412750 h 493395"/>
              <a:gd name="connisteX15" fmla="*/ 536575 w 3276600"/>
              <a:gd name="connsiteY15" fmla="*/ 426720 h 493395"/>
              <a:gd name="connisteX16" fmla="*/ 574675 w 3276600"/>
              <a:gd name="connsiteY16" fmla="*/ 448945 h 493395"/>
              <a:gd name="connisteX17" fmla="*/ 622300 w 3276600"/>
              <a:gd name="connsiteY17" fmla="*/ 473075 h 493395"/>
              <a:gd name="connisteX18" fmla="*/ 673100 w 3276600"/>
              <a:gd name="connsiteY18" fmla="*/ 488950 h 493395"/>
              <a:gd name="connisteX19" fmla="*/ 809625 w 3276600"/>
              <a:gd name="connsiteY19" fmla="*/ 492125 h 493395"/>
              <a:gd name="connisteX20" fmla="*/ 2455545 w 3276600"/>
              <a:gd name="connsiteY20" fmla="*/ 493395 h 493395"/>
              <a:gd name="connisteX21" fmla="*/ 2560320 w 3276600"/>
              <a:gd name="connsiteY21" fmla="*/ 493395 h 493395"/>
              <a:gd name="connisteX22" fmla="*/ 2644775 w 3276600"/>
              <a:gd name="connsiteY22" fmla="*/ 490220 h 493395"/>
              <a:gd name="connisteX23" fmla="*/ 2695575 w 3276600"/>
              <a:gd name="connsiteY23" fmla="*/ 482600 h 493395"/>
              <a:gd name="connisteX24" fmla="*/ 2747645 w 3276600"/>
              <a:gd name="connsiteY24" fmla="*/ 464820 h 493395"/>
              <a:gd name="connisteX25" fmla="*/ 2797175 w 3276600"/>
              <a:gd name="connsiteY25" fmla="*/ 433070 h 493395"/>
              <a:gd name="connisteX26" fmla="*/ 2835275 w 3276600"/>
              <a:gd name="connsiteY26" fmla="*/ 407670 h 493395"/>
              <a:gd name="connisteX27" fmla="*/ 2858770 w 3276600"/>
              <a:gd name="connsiteY27" fmla="*/ 390525 h 493395"/>
              <a:gd name="connisteX28" fmla="*/ 2884170 w 3276600"/>
              <a:gd name="connsiteY28" fmla="*/ 368300 h 493395"/>
              <a:gd name="connisteX29" fmla="*/ 2917825 w 3276600"/>
              <a:gd name="connsiteY29" fmla="*/ 336550 h 493395"/>
              <a:gd name="connisteX30" fmla="*/ 2936875 w 3276600"/>
              <a:gd name="connsiteY30" fmla="*/ 311150 h 493395"/>
              <a:gd name="connisteX31" fmla="*/ 2963545 w 3276600"/>
              <a:gd name="connsiteY31" fmla="*/ 274320 h 493395"/>
              <a:gd name="connisteX32" fmla="*/ 2992120 w 3276600"/>
              <a:gd name="connsiteY32" fmla="*/ 238125 h 493395"/>
              <a:gd name="connisteX33" fmla="*/ 3006725 w 3276600"/>
              <a:gd name="connsiteY33" fmla="*/ 213995 h 493395"/>
              <a:gd name="connisteX34" fmla="*/ 3036570 w 3276600"/>
              <a:gd name="connsiteY34" fmla="*/ 174625 h 493395"/>
              <a:gd name="connisteX35" fmla="*/ 3068320 w 3276600"/>
              <a:gd name="connsiteY35" fmla="*/ 146050 h 493395"/>
              <a:gd name="connisteX36" fmla="*/ 3100070 w 3276600"/>
              <a:gd name="connsiteY36" fmla="*/ 107950 h 493395"/>
              <a:gd name="connisteX37" fmla="*/ 3155950 w 3276600"/>
              <a:gd name="connsiteY37" fmla="*/ 63500 h 493395"/>
              <a:gd name="connisteX38" fmla="*/ 3217545 w 3276600"/>
              <a:gd name="connsiteY38" fmla="*/ 25400 h 493395"/>
              <a:gd name="connisteX39" fmla="*/ 3276600 w 3276600"/>
              <a:gd name="connsiteY39" fmla="*/ 0 h 493395"/>
              <a:gd name="connisteX40" fmla="*/ 0 w 3276600"/>
              <a:gd name="connsiteY40" fmla="*/ 4445 h 49339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Lst>
            <a:rect l="l" t="t" r="r" b="b"/>
            <a:pathLst>
              <a:path w="3276600" h="493395">
                <a:moveTo>
                  <a:pt x="0" y="4445"/>
                </a:moveTo>
                <a:lnTo>
                  <a:pt x="52070" y="9525"/>
                </a:lnTo>
                <a:lnTo>
                  <a:pt x="93345" y="23495"/>
                </a:lnTo>
                <a:lnTo>
                  <a:pt x="128270" y="36195"/>
                </a:lnTo>
                <a:lnTo>
                  <a:pt x="168275" y="55245"/>
                </a:lnTo>
                <a:lnTo>
                  <a:pt x="191770" y="71120"/>
                </a:lnTo>
                <a:lnTo>
                  <a:pt x="228600" y="98425"/>
                </a:lnTo>
                <a:lnTo>
                  <a:pt x="258445" y="123825"/>
                </a:lnTo>
                <a:lnTo>
                  <a:pt x="299720" y="168275"/>
                </a:lnTo>
                <a:lnTo>
                  <a:pt x="336550" y="217170"/>
                </a:lnTo>
                <a:lnTo>
                  <a:pt x="375920" y="266700"/>
                </a:lnTo>
                <a:lnTo>
                  <a:pt x="406400" y="309245"/>
                </a:lnTo>
                <a:lnTo>
                  <a:pt x="447675" y="355600"/>
                </a:lnTo>
                <a:lnTo>
                  <a:pt x="483870" y="387350"/>
                </a:lnTo>
                <a:lnTo>
                  <a:pt x="514350" y="412750"/>
                </a:lnTo>
                <a:lnTo>
                  <a:pt x="536575" y="426720"/>
                </a:lnTo>
                <a:lnTo>
                  <a:pt x="574675" y="448945"/>
                </a:lnTo>
                <a:lnTo>
                  <a:pt x="622300" y="473075"/>
                </a:lnTo>
                <a:lnTo>
                  <a:pt x="673100" y="488950"/>
                </a:lnTo>
                <a:lnTo>
                  <a:pt x="809625" y="492125"/>
                </a:lnTo>
                <a:lnTo>
                  <a:pt x="2455545" y="493395"/>
                </a:lnTo>
                <a:lnTo>
                  <a:pt x="2560320" y="493395"/>
                </a:lnTo>
                <a:lnTo>
                  <a:pt x="2644775" y="490220"/>
                </a:lnTo>
                <a:lnTo>
                  <a:pt x="2695575" y="482600"/>
                </a:lnTo>
                <a:lnTo>
                  <a:pt x="2747645" y="464820"/>
                </a:lnTo>
                <a:lnTo>
                  <a:pt x="2797175" y="433070"/>
                </a:lnTo>
                <a:lnTo>
                  <a:pt x="2835275" y="407670"/>
                </a:lnTo>
                <a:lnTo>
                  <a:pt x="2858770" y="390525"/>
                </a:lnTo>
                <a:lnTo>
                  <a:pt x="2884170" y="368300"/>
                </a:lnTo>
                <a:lnTo>
                  <a:pt x="2917825" y="336550"/>
                </a:lnTo>
                <a:lnTo>
                  <a:pt x="2936875" y="311150"/>
                </a:lnTo>
                <a:lnTo>
                  <a:pt x="2963545" y="274320"/>
                </a:lnTo>
                <a:lnTo>
                  <a:pt x="2992120" y="238125"/>
                </a:lnTo>
                <a:lnTo>
                  <a:pt x="3006725" y="213995"/>
                </a:lnTo>
                <a:lnTo>
                  <a:pt x="3036570" y="174625"/>
                </a:lnTo>
                <a:lnTo>
                  <a:pt x="3068320" y="146050"/>
                </a:lnTo>
                <a:lnTo>
                  <a:pt x="3100070" y="107950"/>
                </a:lnTo>
                <a:lnTo>
                  <a:pt x="3155950" y="63500"/>
                </a:lnTo>
                <a:lnTo>
                  <a:pt x="3217545" y="25400"/>
                </a:lnTo>
                <a:lnTo>
                  <a:pt x="3276600" y="0"/>
                </a:lnTo>
                <a:lnTo>
                  <a:pt x="0" y="4445"/>
                </a:lnTo>
                <a:close/>
              </a:path>
            </a:pathLst>
          </a:cu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5235575" y="795020"/>
            <a:ext cx="1922145" cy="229870"/>
          </a:xfrm>
          <a:prstGeom prst="rect">
            <a:avLst/>
          </a:prstGeom>
          <a:noFill/>
        </p:spPr>
        <p:txBody>
          <a:bodyPr wrap="square" rtlCol="0">
            <a:spAutoFit/>
          </a:bodyPr>
          <a:p>
            <a:r>
              <a:rPr lang="en-US" altLang="zh-CN" sz="900">
                <a:latin typeface="微软雅黑" panose="020B0503020204020204" charset="-122"/>
                <a:ea typeface="微软雅黑" panose="020B0503020204020204" charset="-122"/>
              </a:rPr>
              <a:t>C    O    N    T    E    N    T    S</a:t>
            </a:r>
            <a:endParaRPr lang="en-US" altLang="zh-CN" sz="900">
              <a:latin typeface="微软雅黑" panose="020B0503020204020204" charset="-122"/>
              <a:ea typeface="微软雅黑" panose="020B0503020204020204" charset="-122"/>
            </a:endParaRPr>
          </a:p>
        </p:txBody>
      </p:sp>
      <p:sp>
        <p:nvSpPr>
          <p:cNvPr id="8" name="椭圆 7"/>
          <p:cNvSpPr/>
          <p:nvPr>
            <p:custDataLst>
              <p:tags r:id="rId2"/>
            </p:custDataLst>
          </p:nvPr>
        </p:nvSpPr>
        <p:spPr>
          <a:xfrm>
            <a:off x="2480310" y="112839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一</a:t>
            </a:r>
            <a:endParaRPr lang="zh-CN" altLang="en-US" sz="3200">
              <a:solidFill>
                <a:srgbClr val="8B8D8A"/>
              </a:solidFill>
            </a:endParaRPr>
          </a:p>
        </p:txBody>
      </p:sp>
      <p:sp>
        <p:nvSpPr>
          <p:cNvPr id="9" name="文本框 8"/>
          <p:cNvSpPr txBox="1"/>
          <p:nvPr>
            <p:custDataLst>
              <p:tags r:id="rId3"/>
            </p:custDataLst>
          </p:nvPr>
        </p:nvSpPr>
        <p:spPr>
          <a:xfrm>
            <a:off x="4895850" y="1215390"/>
            <a:ext cx="3754120" cy="568325"/>
          </a:xfrm>
          <a:prstGeom prst="rect">
            <a:avLst/>
          </a:prstGeom>
          <a:noFill/>
        </p:spPr>
        <p:txBody>
          <a:bodyPr wrap="square" rtlCol="0">
            <a:spAutoFit/>
          </a:bodyPr>
          <a:p>
            <a:r>
              <a:rPr lang="zh-CN" altLang="en-US" sz="3100">
                <a:solidFill>
                  <a:srgbClr val="8B8D8A"/>
                </a:solidFill>
              </a:rPr>
              <a:t>研究背景与意义</a:t>
            </a:r>
            <a:endParaRPr lang="zh-CN" altLang="en-US" sz="3100">
              <a:solidFill>
                <a:srgbClr val="8B8D8A"/>
              </a:solidFill>
            </a:endParaRPr>
          </a:p>
        </p:txBody>
      </p:sp>
      <p:sp>
        <p:nvSpPr>
          <p:cNvPr id="11" name="新月形 10"/>
          <p:cNvSpPr/>
          <p:nvPr>
            <p:custDataLst>
              <p:tags r:id="rId4"/>
            </p:custDataLst>
          </p:nvPr>
        </p:nvSpPr>
        <p:spPr>
          <a:xfrm rot="10800000">
            <a:off x="3242310" y="1261745"/>
            <a:ext cx="172720" cy="537210"/>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直角三角形 12"/>
          <p:cNvSpPr/>
          <p:nvPr>
            <p:custDataLst>
              <p:tags r:id="rId5"/>
            </p:custDataLst>
          </p:nvPr>
        </p:nvSpPr>
        <p:spPr>
          <a:xfrm rot="10800000">
            <a:off x="3272790" y="12617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直角三角形 13"/>
          <p:cNvSpPr/>
          <p:nvPr>
            <p:custDataLst>
              <p:tags r:id="rId6"/>
            </p:custDataLst>
          </p:nvPr>
        </p:nvSpPr>
        <p:spPr>
          <a:xfrm rot="10800000" flipV="1">
            <a:off x="3242310" y="164655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custDataLst>
              <p:tags r:id="rId7"/>
            </p:custDataLst>
          </p:nvPr>
        </p:nvSpPr>
        <p:spPr>
          <a:xfrm>
            <a:off x="2449830" y="2007235"/>
            <a:ext cx="822960" cy="756920"/>
          </a:xfrm>
          <a:prstGeom prst="ellipse">
            <a:avLst/>
          </a:prstGeom>
          <a:solidFill>
            <a:srgbClr val="2E5495"/>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chemeClr val="bg1"/>
                </a:solidFill>
              </a:rPr>
              <a:t>二</a:t>
            </a:r>
            <a:endParaRPr lang="zh-CN" altLang="en-US" sz="3200">
              <a:solidFill>
                <a:schemeClr val="bg1"/>
              </a:solidFill>
            </a:endParaRPr>
          </a:p>
        </p:txBody>
      </p:sp>
      <p:sp>
        <p:nvSpPr>
          <p:cNvPr id="16" name="椭圆 15"/>
          <p:cNvSpPr/>
          <p:nvPr>
            <p:custDataLst>
              <p:tags r:id="rId8"/>
            </p:custDataLst>
          </p:nvPr>
        </p:nvSpPr>
        <p:spPr>
          <a:xfrm>
            <a:off x="2480310" y="288607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三</a:t>
            </a:r>
            <a:endParaRPr lang="zh-CN" altLang="en-US" sz="3200">
              <a:solidFill>
                <a:srgbClr val="8B8D8A"/>
              </a:solidFill>
            </a:endParaRPr>
          </a:p>
        </p:txBody>
      </p:sp>
      <p:sp>
        <p:nvSpPr>
          <p:cNvPr id="17" name="椭圆 16"/>
          <p:cNvSpPr/>
          <p:nvPr>
            <p:custDataLst>
              <p:tags r:id="rId9"/>
            </p:custDataLst>
          </p:nvPr>
        </p:nvSpPr>
        <p:spPr>
          <a:xfrm>
            <a:off x="2480310" y="376491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四</a:t>
            </a:r>
            <a:endParaRPr lang="zh-CN" altLang="en-US" sz="3200">
              <a:solidFill>
                <a:srgbClr val="8B8D8A"/>
              </a:solidFill>
            </a:endParaRPr>
          </a:p>
        </p:txBody>
      </p:sp>
      <p:sp>
        <p:nvSpPr>
          <p:cNvPr id="18" name="椭圆 17"/>
          <p:cNvSpPr/>
          <p:nvPr>
            <p:custDataLst>
              <p:tags r:id="rId10"/>
            </p:custDataLst>
          </p:nvPr>
        </p:nvSpPr>
        <p:spPr>
          <a:xfrm>
            <a:off x="2480310" y="464375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五</a:t>
            </a:r>
            <a:endParaRPr lang="zh-CN" altLang="en-US" sz="3200">
              <a:solidFill>
                <a:srgbClr val="8B8D8A"/>
              </a:solidFill>
            </a:endParaRPr>
          </a:p>
        </p:txBody>
      </p:sp>
      <p:sp>
        <p:nvSpPr>
          <p:cNvPr id="22" name="直角三角形 21"/>
          <p:cNvSpPr/>
          <p:nvPr>
            <p:custDataLst>
              <p:tags r:id="rId11"/>
            </p:custDataLst>
          </p:nvPr>
        </p:nvSpPr>
        <p:spPr>
          <a:xfrm rot="10800000">
            <a:off x="3257550" y="2146300"/>
            <a:ext cx="202565" cy="156845"/>
          </a:xfrm>
          <a:prstGeom prst="rtTriangl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直角三角形 22"/>
          <p:cNvSpPr/>
          <p:nvPr>
            <p:custDataLst>
              <p:tags r:id="rId12"/>
            </p:custDataLst>
          </p:nvPr>
        </p:nvSpPr>
        <p:spPr>
          <a:xfrm rot="10800000">
            <a:off x="3387090" y="306006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新月形 23"/>
          <p:cNvSpPr/>
          <p:nvPr>
            <p:custDataLst>
              <p:tags r:id="rId13"/>
            </p:custDataLst>
          </p:nvPr>
        </p:nvSpPr>
        <p:spPr>
          <a:xfrm rot="10800000">
            <a:off x="3242310" y="2145665"/>
            <a:ext cx="172720" cy="489585"/>
          </a:xfrm>
          <a:prstGeom prst="moon">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直角三角形 24"/>
          <p:cNvSpPr/>
          <p:nvPr>
            <p:custDataLst>
              <p:tags r:id="rId14"/>
            </p:custDataLst>
          </p:nvPr>
        </p:nvSpPr>
        <p:spPr>
          <a:xfrm rot="10800000" flipV="1">
            <a:off x="3227070" y="2482850"/>
            <a:ext cx="202565" cy="163195"/>
          </a:xfrm>
          <a:prstGeom prst="rtTriangl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矩形 37"/>
          <p:cNvSpPr/>
          <p:nvPr>
            <p:custDataLst>
              <p:tags r:id="rId15"/>
            </p:custDataLst>
          </p:nvPr>
        </p:nvSpPr>
        <p:spPr>
          <a:xfrm>
            <a:off x="3352800" y="2146300"/>
            <a:ext cx="6464300" cy="499745"/>
          </a:xfrm>
          <a:prstGeom prst="rect">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custDataLst>
              <p:tags r:id="rId16"/>
            </p:custDataLst>
          </p:nvPr>
        </p:nvSpPr>
        <p:spPr>
          <a:xfrm>
            <a:off x="3881755" y="2104390"/>
            <a:ext cx="5951855" cy="583565"/>
          </a:xfrm>
          <a:prstGeom prst="rect">
            <a:avLst/>
          </a:prstGeom>
          <a:noFill/>
        </p:spPr>
        <p:txBody>
          <a:bodyPr wrap="square" rtlCol="0">
            <a:spAutoFit/>
          </a:bodyPr>
          <a:p>
            <a:r>
              <a:rPr lang="zh-CN" altLang="en-US" sz="3200" b="1">
                <a:solidFill>
                  <a:schemeClr val="bg1"/>
                </a:solidFill>
              </a:rPr>
              <a:t>多保真度耦合非线性动力学模型</a:t>
            </a:r>
            <a:endParaRPr lang="zh-CN" altLang="en-US" sz="3200" b="1">
              <a:solidFill>
                <a:schemeClr val="bg1"/>
              </a:solidFill>
            </a:endParaRPr>
          </a:p>
        </p:txBody>
      </p:sp>
      <p:sp>
        <p:nvSpPr>
          <p:cNvPr id="39" name="新月形 38"/>
          <p:cNvSpPr/>
          <p:nvPr>
            <p:custDataLst>
              <p:tags r:id="rId17"/>
            </p:custDataLst>
          </p:nvPr>
        </p:nvSpPr>
        <p:spPr>
          <a:xfrm rot="10800000">
            <a:off x="3242310" y="3903345"/>
            <a:ext cx="17272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新月形 41"/>
          <p:cNvSpPr/>
          <p:nvPr>
            <p:custDataLst>
              <p:tags r:id="rId18"/>
            </p:custDataLst>
          </p:nvPr>
        </p:nvSpPr>
        <p:spPr>
          <a:xfrm rot="10800000">
            <a:off x="3242310" y="4777105"/>
            <a:ext cx="17272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新月形 42"/>
          <p:cNvSpPr/>
          <p:nvPr>
            <p:custDataLst>
              <p:tags r:id="rId19"/>
            </p:custDataLst>
          </p:nvPr>
        </p:nvSpPr>
        <p:spPr>
          <a:xfrm rot="10800000">
            <a:off x="3242310" y="3020060"/>
            <a:ext cx="17272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直角三角形 43"/>
          <p:cNvSpPr/>
          <p:nvPr>
            <p:custDataLst>
              <p:tags r:id="rId20"/>
            </p:custDataLst>
          </p:nvPr>
        </p:nvSpPr>
        <p:spPr>
          <a:xfrm rot="10800000">
            <a:off x="3242310" y="30270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直角三角形 44"/>
          <p:cNvSpPr/>
          <p:nvPr>
            <p:custDataLst>
              <p:tags r:id="rId21"/>
            </p:custDataLst>
          </p:nvPr>
        </p:nvSpPr>
        <p:spPr>
          <a:xfrm rot="10800000">
            <a:off x="3242310" y="3903345"/>
            <a:ext cx="202565" cy="152400"/>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2"/>
            </p:custDataLst>
          </p:nvPr>
        </p:nvSpPr>
        <p:spPr>
          <a:xfrm rot="10800000">
            <a:off x="3242310" y="47796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直角三角形 46"/>
          <p:cNvSpPr/>
          <p:nvPr>
            <p:custDataLst>
              <p:tags r:id="rId23"/>
            </p:custDataLst>
          </p:nvPr>
        </p:nvSpPr>
        <p:spPr>
          <a:xfrm rot="10800000" flipV="1">
            <a:off x="3242310" y="5115560"/>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直角三角形 47"/>
          <p:cNvSpPr/>
          <p:nvPr>
            <p:custDataLst>
              <p:tags r:id="rId24"/>
            </p:custDataLst>
          </p:nvPr>
        </p:nvSpPr>
        <p:spPr>
          <a:xfrm rot="10800000" flipV="1">
            <a:off x="3242310" y="423989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直角三角形 48"/>
          <p:cNvSpPr/>
          <p:nvPr>
            <p:custDataLst>
              <p:tags r:id="rId25"/>
            </p:custDataLst>
          </p:nvPr>
        </p:nvSpPr>
        <p:spPr>
          <a:xfrm rot="10800000" flipV="1">
            <a:off x="3242310" y="33572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矩形 50"/>
          <p:cNvSpPr/>
          <p:nvPr>
            <p:custDataLst>
              <p:tags r:id="rId26"/>
            </p:custDataLst>
          </p:nvPr>
        </p:nvSpPr>
        <p:spPr>
          <a:xfrm>
            <a:off x="3331845" y="3029585"/>
            <a:ext cx="6502400" cy="474345"/>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文本框 49"/>
          <p:cNvSpPr txBox="1"/>
          <p:nvPr>
            <p:custDataLst>
              <p:tags r:id="rId27"/>
            </p:custDataLst>
          </p:nvPr>
        </p:nvSpPr>
        <p:spPr>
          <a:xfrm>
            <a:off x="3703955" y="2993390"/>
            <a:ext cx="5397500" cy="568325"/>
          </a:xfrm>
          <a:prstGeom prst="rect">
            <a:avLst/>
          </a:prstGeom>
          <a:noFill/>
        </p:spPr>
        <p:txBody>
          <a:bodyPr wrap="square" rtlCol="0">
            <a:spAutoFit/>
          </a:bodyPr>
          <a:p>
            <a:r>
              <a:rPr lang="zh-CN" altLang="en-US" sz="3100">
                <a:solidFill>
                  <a:srgbClr val="8B8D8A"/>
                </a:solidFill>
              </a:rPr>
              <a:t>动力响应性能与疲劳寿命评估</a:t>
            </a:r>
            <a:endParaRPr lang="zh-CN" altLang="en-US" sz="3100">
              <a:solidFill>
                <a:srgbClr val="8B8D8A"/>
              </a:solidFill>
            </a:endParaRPr>
          </a:p>
        </p:txBody>
      </p:sp>
      <p:sp>
        <p:nvSpPr>
          <p:cNvPr id="54" name="矩形 53"/>
          <p:cNvSpPr/>
          <p:nvPr/>
        </p:nvSpPr>
        <p:spPr>
          <a:xfrm>
            <a:off x="3352800" y="3905250"/>
            <a:ext cx="6523355" cy="48641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文本框 51"/>
          <p:cNvSpPr txBox="1"/>
          <p:nvPr>
            <p:custDataLst>
              <p:tags r:id="rId28"/>
            </p:custDataLst>
          </p:nvPr>
        </p:nvSpPr>
        <p:spPr>
          <a:xfrm>
            <a:off x="3919855" y="3867150"/>
            <a:ext cx="5617210" cy="568325"/>
          </a:xfrm>
          <a:prstGeom prst="rect">
            <a:avLst/>
          </a:prstGeom>
          <a:noFill/>
        </p:spPr>
        <p:txBody>
          <a:bodyPr wrap="square" rtlCol="0">
            <a:spAutoFit/>
          </a:bodyPr>
          <a:p>
            <a:r>
              <a:rPr lang="zh-CN" altLang="en-US" sz="3100">
                <a:solidFill>
                  <a:srgbClr val="8B8D8A"/>
                </a:solidFill>
              </a:rPr>
              <a:t>极端工况下动力可靠度评估</a:t>
            </a:r>
            <a:endParaRPr lang="zh-CN" altLang="en-US" sz="3100">
              <a:solidFill>
                <a:srgbClr val="8B8D8A"/>
              </a:solidFill>
            </a:endParaRPr>
          </a:p>
        </p:txBody>
      </p:sp>
      <p:sp>
        <p:nvSpPr>
          <p:cNvPr id="55" name="矩形 54"/>
          <p:cNvSpPr/>
          <p:nvPr/>
        </p:nvSpPr>
        <p:spPr>
          <a:xfrm>
            <a:off x="3417570" y="4778375"/>
            <a:ext cx="6413500" cy="49530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文本框 52"/>
          <p:cNvSpPr txBox="1"/>
          <p:nvPr>
            <p:custDataLst>
              <p:tags r:id="rId29"/>
            </p:custDataLst>
          </p:nvPr>
        </p:nvSpPr>
        <p:spPr>
          <a:xfrm>
            <a:off x="4707255" y="4734560"/>
            <a:ext cx="3576955" cy="568325"/>
          </a:xfrm>
          <a:prstGeom prst="rect">
            <a:avLst/>
          </a:prstGeom>
          <a:noFill/>
        </p:spPr>
        <p:txBody>
          <a:bodyPr wrap="square" rtlCol="0">
            <a:spAutoFit/>
          </a:bodyPr>
          <a:p>
            <a:r>
              <a:rPr lang="zh-CN" altLang="en-US" sz="3100">
                <a:solidFill>
                  <a:srgbClr val="8B8D8A"/>
                </a:solidFill>
              </a:rPr>
              <a:t>动力响应性能提升</a:t>
            </a:r>
            <a:endParaRPr lang="zh-CN" altLang="en-US" sz="3100">
              <a:solidFill>
                <a:srgbClr val="8B8D8A"/>
              </a:solidFill>
            </a:endParaRPr>
          </a:p>
        </p:txBody>
      </p:sp>
      <p:sp>
        <p:nvSpPr>
          <p:cNvPr id="56" name="椭圆 55"/>
          <p:cNvSpPr/>
          <p:nvPr>
            <p:custDataLst>
              <p:tags r:id="rId30"/>
            </p:custDataLst>
          </p:nvPr>
        </p:nvSpPr>
        <p:spPr>
          <a:xfrm>
            <a:off x="2480310" y="5520690"/>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六</a:t>
            </a:r>
            <a:endParaRPr lang="zh-CN" altLang="en-US" sz="3200">
              <a:solidFill>
                <a:srgbClr val="8B8D8A"/>
              </a:solidFill>
            </a:endParaRPr>
          </a:p>
        </p:txBody>
      </p:sp>
      <p:sp>
        <p:nvSpPr>
          <p:cNvPr id="57" name="直角三角形 56"/>
          <p:cNvSpPr/>
          <p:nvPr>
            <p:custDataLst>
              <p:tags r:id="rId31"/>
            </p:custDataLst>
          </p:nvPr>
        </p:nvSpPr>
        <p:spPr>
          <a:xfrm rot="10800000">
            <a:off x="3272790" y="5661660"/>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新月形 57"/>
          <p:cNvSpPr/>
          <p:nvPr>
            <p:custDataLst>
              <p:tags r:id="rId32"/>
            </p:custDataLst>
          </p:nvPr>
        </p:nvSpPr>
        <p:spPr>
          <a:xfrm rot="10800000">
            <a:off x="3272155" y="5661660"/>
            <a:ext cx="17272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直角三角形 58"/>
          <p:cNvSpPr/>
          <p:nvPr>
            <p:custDataLst>
              <p:tags r:id="rId33"/>
            </p:custDataLst>
          </p:nvPr>
        </p:nvSpPr>
        <p:spPr>
          <a:xfrm rot="10800000" flipV="1">
            <a:off x="3272155" y="5996940"/>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矩形 60"/>
          <p:cNvSpPr/>
          <p:nvPr/>
        </p:nvSpPr>
        <p:spPr>
          <a:xfrm>
            <a:off x="3357880" y="5660390"/>
            <a:ext cx="6477000" cy="47879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文本框 59"/>
          <p:cNvSpPr txBox="1"/>
          <p:nvPr/>
        </p:nvSpPr>
        <p:spPr>
          <a:xfrm>
            <a:off x="5307330" y="5601970"/>
            <a:ext cx="2764790" cy="568325"/>
          </a:xfrm>
          <a:prstGeom prst="rect">
            <a:avLst/>
          </a:prstGeom>
          <a:noFill/>
        </p:spPr>
        <p:txBody>
          <a:bodyPr wrap="square" rtlCol="0">
            <a:spAutoFit/>
          </a:bodyPr>
          <a:p>
            <a:r>
              <a:rPr lang="zh-CN" altLang="en-US" sz="3100">
                <a:solidFill>
                  <a:srgbClr val="8B8D8A"/>
                </a:solidFill>
              </a:rPr>
              <a:t>结论与展望</a:t>
            </a:r>
            <a:endParaRPr lang="zh-CN" altLang="en-US" sz="3100">
              <a:solidFill>
                <a:srgbClr val="8B8D8A"/>
              </a:solidFill>
            </a:endParaRPr>
          </a:p>
        </p:txBody>
      </p:sp>
      <p:sp>
        <p:nvSpPr>
          <p:cNvPr id="2" name="文本框 1"/>
          <p:cNvSpPr txBox="1"/>
          <p:nvPr/>
        </p:nvSpPr>
        <p:spPr>
          <a:xfrm>
            <a:off x="5541010" y="226060"/>
            <a:ext cx="1109980" cy="583565"/>
          </a:xfrm>
          <a:prstGeom prst="rect">
            <a:avLst/>
          </a:prstGeom>
          <a:noFill/>
        </p:spPr>
        <p:txBody>
          <a:bodyPr wrap="square" rtlCol="0">
            <a:spAutoFit/>
          </a:bodyPr>
          <a:p>
            <a:r>
              <a:rPr lang="zh-CN" altLang="en-US" sz="3200" b="1">
                <a:solidFill>
                  <a:schemeClr val="bg1"/>
                </a:solidFill>
              </a:rPr>
              <a:t>目</a:t>
            </a:r>
            <a:r>
              <a:rPr lang="en-US" altLang="zh-CN" sz="3200" b="1">
                <a:solidFill>
                  <a:schemeClr val="bg1"/>
                </a:solidFill>
              </a:rPr>
              <a:t> </a:t>
            </a:r>
            <a:r>
              <a:rPr lang="zh-CN" altLang="en-US" sz="3200" b="1">
                <a:solidFill>
                  <a:schemeClr val="bg1"/>
                </a:solidFill>
              </a:rPr>
              <a:t>录</a:t>
            </a:r>
            <a:endParaRPr lang="zh-CN" altLang="en-US" sz="3200" b="1">
              <a:solidFill>
                <a:schemeClr val="bg1"/>
              </a:solidFill>
            </a:endParaRPr>
          </a:p>
        </p:txBody>
      </p:sp>
      <p:sp>
        <p:nvSpPr>
          <p:cNvPr id="21" name="文本框 2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12/68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任意多边形 24"/>
          <p:cNvSpPr/>
          <p:nvPr/>
        </p:nvSpPr>
        <p:spPr>
          <a:xfrm>
            <a:off x="2421713" y="1795422"/>
            <a:ext cx="9321852" cy="4392794"/>
          </a:xfrm>
          <a:custGeom>
            <a:avLst/>
            <a:gdLst>
              <a:gd name="connsiteX0" fmla="*/ 16 w 14680"/>
              <a:gd name="connsiteY0" fmla="*/ 569 h 6917"/>
              <a:gd name="connsiteX1" fmla="*/ 571 w 14680"/>
              <a:gd name="connsiteY1" fmla="*/ 3 h 6917"/>
              <a:gd name="connsiteX2" fmla="*/ 14098 w 14680"/>
              <a:gd name="connsiteY2" fmla="*/ 21 h 6917"/>
              <a:gd name="connsiteX3" fmla="*/ 14678 w 14680"/>
              <a:gd name="connsiteY3" fmla="*/ 568 h 6917"/>
              <a:gd name="connsiteX4" fmla="*/ 14655 w 14680"/>
              <a:gd name="connsiteY4" fmla="*/ 6189 h 6917"/>
              <a:gd name="connsiteX5" fmla="*/ 14152 w 14680"/>
              <a:gd name="connsiteY5" fmla="*/ 6904 h 6917"/>
              <a:gd name="connsiteX6" fmla="*/ 603 w 14680"/>
              <a:gd name="connsiteY6" fmla="*/ 6918 h 6917"/>
              <a:gd name="connsiteX7" fmla="*/ 0 w 14680"/>
              <a:gd name="connsiteY7" fmla="*/ 6265 h 6917"/>
              <a:gd name="connsiteX8" fmla="*/ 16 w 14680"/>
              <a:gd name="connsiteY8" fmla="*/ 569 h 6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80" h="6918">
                <a:moveTo>
                  <a:pt x="16" y="569"/>
                </a:moveTo>
                <a:cubicBezTo>
                  <a:pt x="16" y="-73"/>
                  <a:pt x="-71" y="3"/>
                  <a:pt x="571" y="3"/>
                </a:cubicBezTo>
                <a:lnTo>
                  <a:pt x="14098" y="21"/>
                </a:lnTo>
                <a:cubicBezTo>
                  <a:pt x="14740" y="21"/>
                  <a:pt x="14678" y="-74"/>
                  <a:pt x="14678" y="568"/>
                </a:cubicBezTo>
                <a:lnTo>
                  <a:pt x="14655" y="6189"/>
                </a:lnTo>
                <a:cubicBezTo>
                  <a:pt x="14655" y="6831"/>
                  <a:pt x="14794" y="6904"/>
                  <a:pt x="14152" y="6904"/>
                </a:cubicBezTo>
                <a:lnTo>
                  <a:pt x="603" y="6918"/>
                </a:lnTo>
                <a:cubicBezTo>
                  <a:pt x="-39" y="6918"/>
                  <a:pt x="0" y="6907"/>
                  <a:pt x="0" y="6265"/>
                </a:cubicBezTo>
                <a:lnTo>
                  <a:pt x="16" y="569"/>
                </a:lnTo>
                <a:close/>
              </a:path>
            </a:pathLst>
          </a:custGeom>
          <a:ln w="19050">
            <a:solidFill>
              <a:srgbClr val="324E7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任意多边形 16"/>
          <p:cNvSpPr/>
          <p:nvPr/>
        </p:nvSpPr>
        <p:spPr>
          <a:xfrm>
            <a:off x="421995" y="1795780"/>
            <a:ext cx="1938712" cy="4403290"/>
          </a:xfrm>
          <a:custGeom>
            <a:avLst/>
            <a:gdLst>
              <a:gd name="connsiteX0" fmla="*/ 9 w 3053"/>
              <a:gd name="connsiteY0" fmla="*/ 391 h 6934"/>
              <a:gd name="connsiteX1" fmla="*/ 217 w 3053"/>
              <a:gd name="connsiteY1" fmla="*/ 0 h 6934"/>
              <a:gd name="connsiteX2" fmla="*/ 2817 w 3053"/>
              <a:gd name="connsiteY2" fmla="*/ 9 h 6934"/>
              <a:gd name="connsiteX3" fmla="*/ 3034 w 3053"/>
              <a:gd name="connsiteY3" fmla="*/ 358 h 6934"/>
              <a:gd name="connsiteX4" fmla="*/ 3051 w 3053"/>
              <a:gd name="connsiteY4" fmla="*/ 6675 h 6934"/>
              <a:gd name="connsiteX5" fmla="*/ 2809 w 3053"/>
              <a:gd name="connsiteY5" fmla="*/ 6934 h 6934"/>
              <a:gd name="connsiteX6" fmla="*/ 259 w 3053"/>
              <a:gd name="connsiteY6" fmla="*/ 6917 h 6934"/>
              <a:gd name="connsiteX7" fmla="*/ 0 w 3053"/>
              <a:gd name="connsiteY7" fmla="*/ 6650 h 6934"/>
              <a:gd name="connsiteX8" fmla="*/ 9 w 3053"/>
              <a:gd name="connsiteY8" fmla="*/ 391 h 6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53" h="6934">
                <a:moveTo>
                  <a:pt x="9" y="391"/>
                </a:moveTo>
                <a:cubicBezTo>
                  <a:pt x="9" y="112"/>
                  <a:pt x="-63" y="0"/>
                  <a:pt x="217" y="0"/>
                </a:cubicBezTo>
                <a:lnTo>
                  <a:pt x="2817" y="9"/>
                </a:lnTo>
                <a:cubicBezTo>
                  <a:pt x="3097" y="9"/>
                  <a:pt x="3034" y="79"/>
                  <a:pt x="3034" y="358"/>
                </a:cubicBezTo>
                <a:lnTo>
                  <a:pt x="3051" y="6675"/>
                </a:lnTo>
                <a:cubicBezTo>
                  <a:pt x="3051" y="6954"/>
                  <a:pt x="3089" y="6934"/>
                  <a:pt x="2809" y="6934"/>
                </a:cubicBezTo>
                <a:lnTo>
                  <a:pt x="259" y="6917"/>
                </a:lnTo>
                <a:cubicBezTo>
                  <a:pt x="-21" y="6917"/>
                  <a:pt x="0" y="6929"/>
                  <a:pt x="0" y="6650"/>
                </a:cubicBezTo>
                <a:lnTo>
                  <a:pt x="9" y="391"/>
                </a:lnTo>
                <a:close/>
              </a:path>
            </a:pathLst>
          </a:custGeom>
          <a:ln w="19050">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185545" y="1116965"/>
            <a:ext cx="10403840" cy="445135"/>
          </a:xfrm>
          <a:prstGeom prst="rect">
            <a:avLst/>
          </a:prstGeom>
          <a:noFill/>
        </p:spPr>
        <p:txBody>
          <a:bodyPr wrap="square" rtlCol="0">
            <a:spAutoFit/>
          </a:bodyPr>
          <a:p>
            <a:r>
              <a:rPr lang="zh-CN" altLang="en-US" sz="2300" b="1">
                <a:solidFill>
                  <a:srgbClr val="2E5495"/>
                </a:solidFill>
              </a:rPr>
              <a:t>大型混塔式风电机组的动力学建模与仿真分析是一项典型的多学科交叉问题</a:t>
            </a:r>
            <a:endParaRPr lang="zh-CN" altLang="en-US" sz="2300" b="1">
              <a:solidFill>
                <a:srgbClr val="2E5495"/>
              </a:solidFill>
            </a:endParaRPr>
          </a:p>
        </p:txBody>
      </p:sp>
      <p:sp>
        <p:nvSpPr>
          <p:cNvPr id="14" name="圆角矩形 13"/>
          <p:cNvSpPr/>
          <p:nvPr/>
        </p:nvSpPr>
        <p:spPr>
          <a:xfrm>
            <a:off x="712470" y="1651635"/>
            <a:ext cx="1440815" cy="276860"/>
          </a:xfrm>
          <a:prstGeom prst="roundRect">
            <a:avLst/>
          </a:prstGeom>
          <a:solidFill>
            <a:srgbClr val="03226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951865" y="1605280"/>
            <a:ext cx="1202055" cy="266065"/>
          </a:xfrm>
          <a:prstGeom prst="rect">
            <a:avLst/>
          </a:prstGeom>
          <a:noFill/>
        </p:spPr>
        <p:txBody>
          <a:bodyPr wrap="square" rtlCol="0">
            <a:noAutofit/>
          </a:bodyPr>
          <a:p>
            <a:r>
              <a:rPr lang="zh-CN" altLang="en-US" sz="1600" b="1">
                <a:solidFill>
                  <a:schemeClr val="bg1"/>
                </a:solidFill>
              </a:rPr>
              <a:t>研究目的</a:t>
            </a:r>
            <a:endParaRPr lang="zh-CN" altLang="en-US" sz="1600" b="1">
              <a:solidFill>
                <a:schemeClr val="bg1"/>
              </a:solidFill>
            </a:endParaRPr>
          </a:p>
        </p:txBody>
      </p:sp>
      <p:sp>
        <p:nvSpPr>
          <p:cNvPr id="15" name="圆角矩形 14"/>
          <p:cNvSpPr/>
          <p:nvPr/>
        </p:nvSpPr>
        <p:spPr>
          <a:xfrm>
            <a:off x="2736850" y="1650365"/>
            <a:ext cx="1169035" cy="276860"/>
          </a:xfrm>
          <a:prstGeom prst="roundRect">
            <a:avLst/>
          </a:prstGeom>
          <a:solidFill>
            <a:srgbClr val="03226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2856230" y="1605280"/>
            <a:ext cx="1202055" cy="266065"/>
          </a:xfrm>
          <a:prstGeom prst="rect">
            <a:avLst/>
          </a:prstGeom>
          <a:noFill/>
        </p:spPr>
        <p:txBody>
          <a:bodyPr wrap="square" rtlCol="0">
            <a:noAutofit/>
          </a:bodyPr>
          <a:p>
            <a:r>
              <a:rPr lang="zh-CN" altLang="en-US" sz="1500" b="1">
                <a:solidFill>
                  <a:schemeClr val="bg1"/>
                </a:solidFill>
              </a:rPr>
              <a:t>研究内容</a:t>
            </a:r>
            <a:endParaRPr lang="zh-CN" altLang="en-US" sz="1500" b="1">
              <a:solidFill>
                <a:schemeClr val="bg1"/>
              </a:solidFill>
            </a:endParaRPr>
          </a:p>
        </p:txBody>
      </p:sp>
      <p:sp>
        <p:nvSpPr>
          <p:cNvPr id="19" name="椭圆 18"/>
          <p:cNvSpPr/>
          <p:nvPr/>
        </p:nvSpPr>
        <p:spPr>
          <a:xfrm>
            <a:off x="595630" y="230759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椭圆 19"/>
          <p:cNvSpPr/>
          <p:nvPr/>
        </p:nvSpPr>
        <p:spPr>
          <a:xfrm>
            <a:off x="595630" y="350139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椭圆 20"/>
          <p:cNvSpPr/>
          <p:nvPr/>
        </p:nvSpPr>
        <p:spPr>
          <a:xfrm>
            <a:off x="595630" y="476631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671195" y="2212340"/>
            <a:ext cx="1564005" cy="1106805"/>
          </a:xfrm>
          <a:prstGeom prst="rect">
            <a:avLst/>
          </a:prstGeom>
          <a:noFill/>
        </p:spPr>
        <p:txBody>
          <a:bodyPr wrap="square" rtlCol="0">
            <a:spAutoFit/>
          </a:bodyPr>
          <a:p>
            <a:pPr>
              <a:lnSpc>
                <a:spcPct val="100000"/>
              </a:lnSpc>
              <a:spcBef>
                <a:spcPts val="0"/>
              </a:spcBef>
              <a:spcAft>
                <a:spcPts val="0"/>
              </a:spcAft>
            </a:pPr>
            <a:r>
              <a:rPr lang="zh-CN" altLang="en-US" sz="1200" b="1"/>
              <a:t>针对大型混塔式风电机组整体建模复杂、计算代价高的问题，建立</a:t>
            </a:r>
            <a:r>
              <a:rPr lang="zh-CN" altLang="en-US" sz="1200" b="1">
                <a:solidFill>
                  <a:schemeClr val="accent6">
                    <a:lumMod val="75000"/>
                  </a:schemeClr>
                </a:solidFill>
              </a:rPr>
              <a:t>子系统联合仿真理论框架</a:t>
            </a:r>
            <a:r>
              <a:rPr lang="zh-CN" altLang="en-US">
                <a:solidFill>
                  <a:schemeClr val="accent6">
                    <a:lumMod val="75000"/>
                  </a:schemeClr>
                </a:solidFill>
              </a:rPr>
              <a:t>。</a:t>
            </a:r>
            <a:endParaRPr lang="zh-CN" altLang="en-US">
              <a:solidFill>
                <a:schemeClr val="accent6">
                  <a:lumMod val="75000"/>
                </a:schemeClr>
              </a:solidFill>
            </a:endParaRPr>
          </a:p>
        </p:txBody>
      </p:sp>
      <p:sp>
        <p:nvSpPr>
          <p:cNvPr id="23" name="文本框 22"/>
          <p:cNvSpPr txBox="1"/>
          <p:nvPr/>
        </p:nvSpPr>
        <p:spPr>
          <a:xfrm>
            <a:off x="671195" y="3390265"/>
            <a:ext cx="1564005" cy="1104265"/>
          </a:xfrm>
          <a:prstGeom prst="rect">
            <a:avLst/>
          </a:prstGeom>
          <a:noFill/>
        </p:spPr>
        <p:txBody>
          <a:bodyPr wrap="square" rtlCol="0">
            <a:spAutoFit/>
          </a:bodyPr>
          <a:p>
            <a:pPr>
              <a:lnSpc>
                <a:spcPct val="120000"/>
              </a:lnSpc>
              <a:spcBef>
                <a:spcPts val="0"/>
              </a:spcBef>
              <a:spcAft>
                <a:spcPts val="0"/>
              </a:spcAft>
            </a:pPr>
            <a:r>
              <a:rPr lang="zh-CN" altLang="en-US" sz="1100" b="1">
                <a:solidFill>
                  <a:schemeClr val="tx1"/>
                </a:solidFill>
                <a:latin typeface="微软雅黑" panose="020B0503020204020204" charset="-122"/>
                <a:ea typeface="微软雅黑" panose="020B0503020204020204" charset="-122"/>
                <a:cs typeface="微软雅黑" panose="020B0503020204020204" charset="-122"/>
              </a:rPr>
              <a:t>发展</a:t>
            </a:r>
            <a:r>
              <a:rPr lang="zh-CN" altLang="en-US" sz="1100" b="1">
                <a:solidFill>
                  <a:srgbClr val="C00000"/>
                </a:solidFill>
                <a:latin typeface="微软雅黑" panose="020B0503020204020204" charset="-122"/>
                <a:ea typeface="微软雅黑" panose="020B0503020204020204" charset="-122"/>
                <a:cs typeface="微软雅黑" panose="020B0503020204020204" charset="-122"/>
              </a:rPr>
              <a:t>高保真</a:t>
            </a:r>
            <a:r>
              <a:rPr lang="en-US" altLang="zh-CN" sz="1100" b="1">
                <a:solidFill>
                  <a:srgbClr val="C00000"/>
                </a:solidFill>
                <a:latin typeface="微软雅黑" panose="020B0503020204020204" charset="-122"/>
                <a:ea typeface="微软雅黑" panose="020B0503020204020204" charset="-122"/>
                <a:cs typeface="微软雅黑" panose="020B0503020204020204" charset="-122"/>
              </a:rPr>
              <a:t>SCM</a:t>
            </a:r>
            <a:r>
              <a:rPr lang="zh-CN" altLang="en-US" sz="1100" b="1">
                <a:solidFill>
                  <a:schemeClr val="tx1"/>
                </a:solidFill>
                <a:latin typeface="微软雅黑" panose="020B0503020204020204" charset="-122"/>
                <a:ea typeface="微软雅黑" panose="020B0503020204020204" charset="-122"/>
                <a:cs typeface="微软雅黑" panose="020B0503020204020204" charset="-122"/>
              </a:rPr>
              <a:t>模型，统一风场</a:t>
            </a:r>
            <a:r>
              <a:rPr lang="en-US" altLang="zh-CN" sz="11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1100" b="1">
                <a:solidFill>
                  <a:schemeClr val="tx1"/>
                </a:solidFill>
                <a:latin typeface="微软雅黑" panose="020B0503020204020204" charset="-122"/>
                <a:ea typeface="微软雅黑" panose="020B0503020204020204" charset="-122"/>
                <a:cs typeface="微软雅黑" panose="020B0503020204020204" charset="-122"/>
              </a:rPr>
              <a:t>气动</a:t>
            </a:r>
            <a:r>
              <a:rPr lang="en-US" altLang="zh-CN" sz="11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1100" b="1">
                <a:solidFill>
                  <a:schemeClr val="tx1"/>
                </a:solidFill>
                <a:latin typeface="微软雅黑" panose="020B0503020204020204" charset="-122"/>
                <a:ea typeface="微软雅黑" panose="020B0503020204020204" charset="-122"/>
                <a:cs typeface="微软雅黑" panose="020B0503020204020204" charset="-122"/>
              </a:rPr>
              <a:t>伺服</a:t>
            </a:r>
            <a:r>
              <a:rPr lang="en-US" altLang="zh-CN" sz="11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1100" b="1">
                <a:solidFill>
                  <a:schemeClr val="tx1"/>
                </a:solidFill>
                <a:latin typeface="微软雅黑" panose="020B0503020204020204" charset="-122"/>
                <a:ea typeface="微软雅黑" panose="020B0503020204020204" charset="-122"/>
                <a:cs typeface="微软雅黑" panose="020B0503020204020204" charset="-122"/>
              </a:rPr>
              <a:t>结构非线性耦合分析，提高动力响应预测精度</a:t>
            </a:r>
            <a:r>
              <a:rPr lang="zh-CN" altLang="en-US" sz="11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11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671195" y="4661535"/>
            <a:ext cx="1564005" cy="1306830"/>
          </a:xfrm>
          <a:prstGeom prst="rect">
            <a:avLst/>
          </a:prstGeom>
          <a:noFill/>
        </p:spPr>
        <p:txBody>
          <a:bodyPr wrap="square" rtlCol="0">
            <a:spAutoFit/>
          </a:bodyPr>
          <a:p>
            <a:pPr>
              <a:lnSpc>
                <a:spcPct val="120000"/>
              </a:lnSpc>
              <a:spcBef>
                <a:spcPts val="0"/>
              </a:spcBef>
              <a:spcAft>
                <a:spcPts val="0"/>
              </a:spcAft>
            </a:pPr>
            <a:r>
              <a:rPr lang="zh-CN" altLang="en-US" sz="1100" b="1">
                <a:latin typeface="微软雅黑" panose="020B0503020204020204" charset="-122"/>
                <a:ea typeface="微软雅黑" panose="020B0503020204020204" charset="-122"/>
                <a:cs typeface="微软雅黑" panose="020B0503020204020204" charset="-122"/>
              </a:rPr>
              <a:t>发展</a:t>
            </a:r>
            <a:r>
              <a:rPr lang="zh-CN" altLang="en-US" sz="1100" b="1">
                <a:solidFill>
                  <a:srgbClr val="C00000"/>
                </a:solidFill>
                <a:latin typeface="微软雅黑" panose="020B0503020204020204" charset="-122"/>
                <a:ea typeface="微软雅黑" panose="020B0503020204020204" charset="-122"/>
                <a:cs typeface="微软雅黑" panose="020B0503020204020204" charset="-122"/>
              </a:rPr>
              <a:t>中保真</a:t>
            </a:r>
            <a:r>
              <a:rPr lang="en-US" altLang="zh-CN" sz="1100" b="1">
                <a:solidFill>
                  <a:srgbClr val="C00000"/>
                </a:solidFill>
                <a:latin typeface="微软雅黑" panose="020B0503020204020204" charset="-122"/>
                <a:ea typeface="微软雅黑" panose="020B0503020204020204" charset="-122"/>
                <a:cs typeface="微软雅黑" panose="020B0503020204020204" charset="-122"/>
              </a:rPr>
              <a:t>SSO</a:t>
            </a:r>
            <a:r>
              <a:rPr lang="zh-CN" altLang="en-US" sz="1100" b="1">
                <a:latin typeface="微软雅黑" panose="020B0503020204020204" charset="-122"/>
                <a:ea typeface="微软雅黑" panose="020B0503020204020204" charset="-122"/>
                <a:cs typeface="微软雅黑" panose="020B0503020204020204" charset="-122"/>
              </a:rPr>
              <a:t>模型，在保留关键非线性特征的基础上显著提升计算效率，为后续疲劳与可靠度分析提供高效模型。</a:t>
            </a:r>
            <a:endParaRPr lang="zh-CN" altLang="en-US" sz="1100" b="1">
              <a:latin typeface="微软雅黑" panose="020B0503020204020204" charset="-122"/>
              <a:ea typeface="微软雅黑" panose="020B0503020204020204" charset="-122"/>
              <a:cs typeface="微软雅黑" panose="020B0503020204020204" charset="-122"/>
            </a:endParaRPr>
          </a:p>
        </p:txBody>
      </p:sp>
      <p:sp>
        <p:nvSpPr>
          <p:cNvPr id="26" name="任意多边形 25"/>
          <p:cNvSpPr/>
          <p:nvPr/>
        </p:nvSpPr>
        <p:spPr>
          <a:xfrm>
            <a:off x="2541360" y="1971040"/>
            <a:ext cx="2710462" cy="4174745"/>
          </a:xfrm>
          <a:custGeom>
            <a:avLst/>
            <a:gdLst>
              <a:gd name="connsiteX0" fmla="*/ 0 w 4268"/>
              <a:gd name="connsiteY0" fmla="*/ 438 h 6574"/>
              <a:gd name="connsiteX1" fmla="*/ 361 w 4268"/>
              <a:gd name="connsiteY1" fmla="*/ 0 h 6574"/>
              <a:gd name="connsiteX2" fmla="*/ 3873 w 4268"/>
              <a:gd name="connsiteY2" fmla="*/ 11 h 6574"/>
              <a:gd name="connsiteX3" fmla="*/ 4268 w 4268"/>
              <a:gd name="connsiteY3" fmla="*/ 395 h 6574"/>
              <a:gd name="connsiteX4" fmla="*/ 4268 w 4268"/>
              <a:gd name="connsiteY4" fmla="*/ 6212 h 6574"/>
              <a:gd name="connsiteX5" fmla="*/ 3808 w 4268"/>
              <a:gd name="connsiteY5" fmla="*/ 6574 h 6574"/>
              <a:gd name="connsiteX6" fmla="*/ 554 w 4268"/>
              <a:gd name="connsiteY6" fmla="*/ 6574 h 6574"/>
              <a:gd name="connsiteX7" fmla="*/ 10 w 4268"/>
              <a:gd name="connsiteY7" fmla="*/ 6169 h 6574"/>
              <a:gd name="connsiteX8" fmla="*/ 0 w 4268"/>
              <a:gd name="connsiteY8" fmla="*/ 438 h 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8" h="6574">
                <a:moveTo>
                  <a:pt x="0" y="438"/>
                </a:moveTo>
                <a:cubicBezTo>
                  <a:pt x="0" y="49"/>
                  <a:pt x="-28" y="0"/>
                  <a:pt x="361" y="0"/>
                </a:cubicBezTo>
                <a:lnTo>
                  <a:pt x="3873" y="11"/>
                </a:lnTo>
                <a:cubicBezTo>
                  <a:pt x="4262" y="11"/>
                  <a:pt x="4268" y="6"/>
                  <a:pt x="4268" y="395"/>
                </a:cubicBezTo>
                <a:lnTo>
                  <a:pt x="4268" y="6212"/>
                </a:lnTo>
                <a:cubicBezTo>
                  <a:pt x="4268" y="6601"/>
                  <a:pt x="4197" y="6574"/>
                  <a:pt x="3808" y="6574"/>
                </a:cubicBezTo>
                <a:lnTo>
                  <a:pt x="554" y="6574"/>
                </a:lnTo>
                <a:cubicBezTo>
                  <a:pt x="-86" y="6574"/>
                  <a:pt x="10" y="6558"/>
                  <a:pt x="10" y="6169"/>
                </a:cubicBezTo>
                <a:lnTo>
                  <a:pt x="0" y="438"/>
                </a:lnTo>
                <a:close/>
              </a:path>
            </a:pathLst>
          </a:custGeom>
          <a:ln>
            <a:solidFill>
              <a:srgbClr val="8B8D8A"/>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任意多边形 26"/>
          <p:cNvSpPr/>
          <p:nvPr/>
        </p:nvSpPr>
        <p:spPr>
          <a:xfrm>
            <a:off x="5318125" y="1971040"/>
            <a:ext cx="3347085" cy="4174490"/>
          </a:xfrm>
          <a:custGeom>
            <a:avLst/>
            <a:gdLst>
              <a:gd name="connsiteX0" fmla="*/ 0 w 4268"/>
              <a:gd name="connsiteY0" fmla="*/ 438 h 6574"/>
              <a:gd name="connsiteX1" fmla="*/ 361 w 4268"/>
              <a:gd name="connsiteY1" fmla="*/ 0 h 6574"/>
              <a:gd name="connsiteX2" fmla="*/ 3873 w 4268"/>
              <a:gd name="connsiteY2" fmla="*/ 11 h 6574"/>
              <a:gd name="connsiteX3" fmla="*/ 4268 w 4268"/>
              <a:gd name="connsiteY3" fmla="*/ 395 h 6574"/>
              <a:gd name="connsiteX4" fmla="*/ 4268 w 4268"/>
              <a:gd name="connsiteY4" fmla="*/ 6212 h 6574"/>
              <a:gd name="connsiteX5" fmla="*/ 3808 w 4268"/>
              <a:gd name="connsiteY5" fmla="*/ 6574 h 6574"/>
              <a:gd name="connsiteX6" fmla="*/ 554 w 4268"/>
              <a:gd name="connsiteY6" fmla="*/ 6574 h 6574"/>
              <a:gd name="connsiteX7" fmla="*/ 10 w 4268"/>
              <a:gd name="connsiteY7" fmla="*/ 6169 h 6574"/>
              <a:gd name="connsiteX8" fmla="*/ 0 w 4268"/>
              <a:gd name="connsiteY8" fmla="*/ 438 h 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8" h="6574">
                <a:moveTo>
                  <a:pt x="0" y="438"/>
                </a:moveTo>
                <a:cubicBezTo>
                  <a:pt x="0" y="49"/>
                  <a:pt x="-28" y="0"/>
                  <a:pt x="361" y="0"/>
                </a:cubicBezTo>
                <a:lnTo>
                  <a:pt x="3873" y="11"/>
                </a:lnTo>
                <a:cubicBezTo>
                  <a:pt x="4262" y="11"/>
                  <a:pt x="4268" y="6"/>
                  <a:pt x="4268" y="395"/>
                </a:cubicBezTo>
                <a:lnTo>
                  <a:pt x="4268" y="6212"/>
                </a:lnTo>
                <a:cubicBezTo>
                  <a:pt x="4268" y="6601"/>
                  <a:pt x="4197" y="6574"/>
                  <a:pt x="3808" y="6574"/>
                </a:cubicBezTo>
                <a:lnTo>
                  <a:pt x="554" y="6574"/>
                </a:lnTo>
                <a:cubicBezTo>
                  <a:pt x="-86" y="6574"/>
                  <a:pt x="10" y="6558"/>
                  <a:pt x="10" y="6169"/>
                </a:cubicBezTo>
                <a:lnTo>
                  <a:pt x="0" y="438"/>
                </a:lnTo>
                <a:close/>
              </a:path>
            </a:pathLst>
          </a:custGeom>
          <a:ln>
            <a:solidFill>
              <a:srgbClr val="8B8D8A"/>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任意多边形 27"/>
          <p:cNvSpPr/>
          <p:nvPr/>
        </p:nvSpPr>
        <p:spPr>
          <a:xfrm>
            <a:off x="8731250" y="1971040"/>
            <a:ext cx="2947670" cy="4174490"/>
          </a:xfrm>
          <a:custGeom>
            <a:avLst/>
            <a:gdLst>
              <a:gd name="connsiteX0" fmla="*/ 0 w 4268"/>
              <a:gd name="connsiteY0" fmla="*/ 438 h 6574"/>
              <a:gd name="connsiteX1" fmla="*/ 361 w 4268"/>
              <a:gd name="connsiteY1" fmla="*/ 0 h 6574"/>
              <a:gd name="connsiteX2" fmla="*/ 3873 w 4268"/>
              <a:gd name="connsiteY2" fmla="*/ 11 h 6574"/>
              <a:gd name="connsiteX3" fmla="*/ 4268 w 4268"/>
              <a:gd name="connsiteY3" fmla="*/ 395 h 6574"/>
              <a:gd name="connsiteX4" fmla="*/ 4268 w 4268"/>
              <a:gd name="connsiteY4" fmla="*/ 6212 h 6574"/>
              <a:gd name="connsiteX5" fmla="*/ 3808 w 4268"/>
              <a:gd name="connsiteY5" fmla="*/ 6574 h 6574"/>
              <a:gd name="connsiteX6" fmla="*/ 554 w 4268"/>
              <a:gd name="connsiteY6" fmla="*/ 6574 h 6574"/>
              <a:gd name="connsiteX7" fmla="*/ 10 w 4268"/>
              <a:gd name="connsiteY7" fmla="*/ 6169 h 6574"/>
              <a:gd name="connsiteX8" fmla="*/ 0 w 4268"/>
              <a:gd name="connsiteY8" fmla="*/ 438 h 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8" h="6574">
                <a:moveTo>
                  <a:pt x="0" y="438"/>
                </a:moveTo>
                <a:cubicBezTo>
                  <a:pt x="0" y="49"/>
                  <a:pt x="-28" y="0"/>
                  <a:pt x="361" y="0"/>
                </a:cubicBezTo>
                <a:lnTo>
                  <a:pt x="3873" y="11"/>
                </a:lnTo>
                <a:cubicBezTo>
                  <a:pt x="4262" y="11"/>
                  <a:pt x="4268" y="6"/>
                  <a:pt x="4268" y="395"/>
                </a:cubicBezTo>
                <a:lnTo>
                  <a:pt x="4268" y="6212"/>
                </a:lnTo>
                <a:cubicBezTo>
                  <a:pt x="4268" y="6601"/>
                  <a:pt x="4197" y="6574"/>
                  <a:pt x="3808" y="6574"/>
                </a:cubicBezTo>
                <a:lnTo>
                  <a:pt x="554" y="6574"/>
                </a:lnTo>
                <a:cubicBezTo>
                  <a:pt x="-86" y="6574"/>
                  <a:pt x="10" y="6558"/>
                  <a:pt x="10" y="6169"/>
                </a:cubicBezTo>
                <a:lnTo>
                  <a:pt x="0" y="438"/>
                </a:lnTo>
                <a:close/>
              </a:path>
            </a:pathLst>
          </a:custGeom>
          <a:ln>
            <a:solidFill>
              <a:srgbClr val="8B8D8A"/>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矩形 28"/>
          <p:cNvSpPr/>
          <p:nvPr/>
        </p:nvSpPr>
        <p:spPr>
          <a:xfrm>
            <a:off x="2589530" y="5108575"/>
            <a:ext cx="2594610" cy="868045"/>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文本框 29"/>
          <p:cNvSpPr txBox="1"/>
          <p:nvPr/>
        </p:nvSpPr>
        <p:spPr>
          <a:xfrm>
            <a:off x="3087370" y="1981835"/>
            <a:ext cx="1504315" cy="245110"/>
          </a:xfrm>
          <a:prstGeom prst="rect">
            <a:avLst/>
          </a:prstGeom>
          <a:noFill/>
        </p:spPr>
        <p:txBody>
          <a:bodyPr wrap="square" rtlCol="0">
            <a:spAutoFit/>
          </a:bodyPr>
          <a:p>
            <a:r>
              <a:rPr lang="zh-CN" altLang="en-US" sz="1000" b="1">
                <a:solidFill>
                  <a:srgbClr val="2E5495"/>
                </a:solidFill>
              </a:rPr>
              <a:t>子系统联合仿真理论</a:t>
            </a:r>
            <a:endParaRPr lang="zh-CN" altLang="en-US" sz="1000" b="1">
              <a:solidFill>
                <a:srgbClr val="2E5495"/>
              </a:solidFill>
            </a:endParaRPr>
          </a:p>
        </p:txBody>
      </p:sp>
      <p:cxnSp>
        <p:nvCxnSpPr>
          <p:cNvPr id="31" name="直接连接符 30"/>
          <p:cNvCxnSpPr>
            <a:endCxn id="26" idx="3"/>
          </p:cNvCxnSpPr>
          <p:nvPr/>
        </p:nvCxnSpPr>
        <p:spPr>
          <a:xfrm>
            <a:off x="2543175" y="2204720"/>
            <a:ext cx="2708275" cy="17145"/>
          </a:xfrm>
          <a:prstGeom prst="line">
            <a:avLst/>
          </a:prstGeom>
          <a:ln>
            <a:solidFill>
              <a:srgbClr val="D6DDD6"/>
            </a:solidFill>
          </a:ln>
        </p:spPr>
        <p:style>
          <a:lnRef idx="2">
            <a:schemeClr val="accent1"/>
          </a:lnRef>
          <a:fillRef idx="0">
            <a:srgbClr val="FFFFFF"/>
          </a:fillRef>
          <a:effectRef idx="0">
            <a:srgbClr val="FFFFFF"/>
          </a:effectRef>
          <a:fontRef idx="minor">
            <a:schemeClr val="tx1"/>
          </a:fontRef>
        </p:style>
      </p:cxnSp>
      <p:sp>
        <p:nvSpPr>
          <p:cNvPr id="32" name="矩形 31"/>
          <p:cNvSpPr/>
          <p:nvPr/>
        </p:nvSpPr>
        <p:spPr>
          <a:xfrm>
            <a:off x="5374640" y="5108575"/>
            <a:ext cx="3239770" cy="85979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矩形 32"/>
          <p:cNvSpPr/>
          <p:nvPr/>
        </p:nvSpPr>
        <p:spPr>
          <a:xfrm>
            <a:off x="8801100" y="5359400"/>
            <a:ext cx="2832100" cy="74295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4" name="文本框 33"/>
          <p:cNvSpPr txBox="1"/>
          <p:nvPr/>
        </p:nvSpPr>
        <p:spPr>
          <a:xfrm>
            <a:off x="2648585" y="5146675"/>
            <a:ext cx="2609215" cy="768350"/>
          </a:xfrm>
          <a:prstGeom prst="rect">
            <a:avLst/>
          </a:prstGeom>
          <a:noFill/>
        </p:spPr>
        <p:txBody>
          <a:bodyPr wrap="square" rtlCol="0">
            <a:spAutoFit/>
          </a:bodyPr>
          <a:p>
            <a:pPr>
              <a:lnSpc>
                <a:spcPct val="11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显式力</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位移耦合策略</a:t>
            </a:r>
            <a:endParaRPr lang="zh-CN" altLang="en-US" sz="1000" b="1">
              <a:latin typeface="微软雅黑" panose="020B0503020204020204" charset="-122"/>
              <a:ea typeface="微软雅黑" panose="020B0503020204020204" charset="-122"/>
              <a:cs typeface="微软雅黑" panose="020B0503020204020204" charset="-122"/>
            </a:endParaRPr>
          </a:p>
          <a:p>
            <a:pPr>
              <a:lnSpc>
                <a:spcPct val="11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联合仿真引擎实现接口数据交换与时序同步</a:t>
            </a:r>
            <a:endParaRPr lang="zh-CN" altLang="en-US" sz="1000" b="1">
              <a:latin typeface="微软雅黑" panose="020B0503020204020204" charset="-122"/>
              <a:ea typeface="微软雅黑" panose="020B0503020204020204" charset="-122"/>
              <a:cs typeface="微软雅黑" panose="020B0503020204020204" charset="-122"/>
            </a:endParaRPr>
          </a:p>
          <a:p>
            <a:pPr>
              <a:lnSpc>
                <a:spcPct val="11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通过立柱</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集中质量算例验证稳定性与精度</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5412740" y="5146675"/>
            <a:ext cx="3057525" cy="691515"/>
          </a:xfrm>
          <a:prstGeom prst="rect">
            <a:avLst/>
          </a:prstGeom>
          <a:noFill/>
        </p:spPr>
        <p:txBody>
          <a:bodyPr wrap="square" rtlCol="0">
            <a:spAutoFit/>
          </a:bodyPr>
          <a:p>
            <a:pPr>
              <a:lnSpc>
                <a:spcPct val="13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基于</a:t>
            </a:r>
            <a:r>
              <a:rPr lang="en-US" altLang="zh-CN" sz="1000" b="1">
                <a:latin typeface="微软雅黑" panose="020B0503020204020204" charset="-122"/>
                <a:ea typeface="微软雅黑" panose="020B0503020204020204" charset="-122"/>
                <a:cs typeface="微软雅黑" panose="020B0503020204020204" charset="-122"/>
              </a:rPr>
              <a:t>Simpack-Abaqus</a:t>
            </a:r>
            <a:r>
              <a:rPr lang="zh-CN" altLang="en-US" sz="1000" b="1">
                <a:latin typeface="微软雅黑" panose="020B0503020204020204" charset="-122"/>
                <a:ea typeface="微软雅黑" panose="020B0503020204020204" charset="-122"/>
                <a:cs typeface="微软雅黑" panose="020B0503020204020204" charset="-122"/>
              </a:rPr>
              <a:t>构建</a:t>
            </a:r>
            <a:r>
              <a:rPr lang="en-US" altLang="zh-CN" sz="1000" b="1">
                <a:latin typeface="微软雅黑" panose="020B0503020204020204" charset="-122"/>
                <a:ea typeface="微软雅黑" panose="020B0503020204020204" charset="-122"/>
                <a:cs typeface="微软雅黑" panose="020B0503020204020204" charset="-122"/>
              </a:rPr>
              <a:t>SCM</a:t>
            </a:r>
            <a:r>
              <a:rPr lang="zh-CN" altLang="en-US" sz="1000" b="1">
                <a:latin typeface="微软雅黑" panose="020B0503020204020204" charset="-122"/>
                <a:ea typeface="微软雅黑" panose="020B0503020204020204" charset="-122"/>
                <a:cs typeface="微软雅黑" panose="020B0503020204020204" charset="-122"/>
              </a:rPr>
              <a:t>模型</a:t>
            </a:r>
            <a:endParaRPr lang="zh-CN" altLang="en-US" sz="1000" b="1">
              <a:latin typeface="微软雅黑" panose="020B0503020204020204" charset="-122"/>
              <a:ea typeface="微软雅黑" panose="020B0503020204020204" charset="-122"/>
              <a:cs typeface="微软雅黑" panose="020B0503020204020204" charset="-122"/>
            </a:endParaRPr>
          </a:p>
          <a:p>
            <a:pPr>
              <a:lnSpc>
                <a:spcPct val="13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建立叶轮</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机舱</a:t>
            </a:r>
            <a:r>
              <a:rPr lang="en-US" altLang="zh-CN" sz="1000" b="1">
                <a:latin typeface="微软雅黑" panose="020B0503020204020204" charset="-122"/>
                <a:ea typeface="微软雅黑" panose="020B0503020204020204" charset="-122"/>
                <a:cs typeface="微软雅黑" panose="020B0503020204020204" charset="-122"/>
              </a:rPr>
              <a:t>MBD</a:t>
            </a:r>
            <a:r>
              <a:rPr lang="zh-CN" altLang="en-US" sz="1000" b="1">
                <a:latin typeface="微软雅黑" panose="020B0503020204020204" charset="-122"/>
                <a:ea typeface="微软雅黑" panose="020B0503020204020204" charset="-122"/>
                <a:cs typeface="微软雅黑" panose="020B0503020204020204" charset="-122"/>
              </a:rPr>
              <a:t>子系统与混塔非线性</a:t>
            </a:r>
            <a:r>
              <a:rPr lang="en-US" altLang="zh-CN" sz="1000" b="1">
                <a:latin typeface="微软雅黑" panose="020B0503020204020204" charset="-122"/>
                <a:ea typeface="微软雅黑" panose="020B0503020204020204" charset="-122"/>
                <a:cs typeface="微软雅黑" panose="020B0503020204020204" charset="-122"/>
              </a:rPr>
              <a:t>FE</a:t>
            </a:r>
            <a:r>
              <a:rPr lang="zh-CN" altLang="en-US" sz="1000" b="1">
                <a:latin typeface="微软雅黑" panose="020B0503020204020204" charset="-122"/>
                <a:ea typeface="微软雅黑" panose="020B0503020204020204" charset="-122"/>
                <a:cs typeface="微软雅黑" panose="020B0503020204020204" charset="-122"/>
              </a:rPr>
              <a:t>子系统</a:t>
            </a:r>
            <a:endParaRPr lang="zh-CN" altLang="en-US" sz="1000" b="1">
              <a:latin typeface="微软雅黑" panose="020B0503020204020204" charset="-122"/>
              <a:ea typeface="微软雅黑" panose="020B0503020204020204" charset="-122"/>
              <a:cs typeface="微软雅黑" panose="020B0503020204020204" charset="-122"/>
            </a:endParaRPr>
          </a:p>
          <a:p>
            <a:pPr>
              <a:lnSpc>
                <a:spcPct val="13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通过</a:t>
            </a:r>
            <a:r>
              <a:rPr lang="en-US" altLang="zh-CN" sz="1000" b="1">
                <a:latin typeface="微软雅黑" panose="020B0503020204020204" charset="-122"/>
                <a:ea typeface="微软雅黑" panose="020B0503020204020204" charset="-122"/>
                <a:cs typeface="微软雅黑" panose="020B0503020204020204" charset="-122"/>
              </a:rPr>
              <a:t>OpenFAST</a:t>
            </a:r>
            <a:r>
              <a:rPr lang="zh-CN" altLang="en-US" sz="1000" b="1">
                <a:latin typeface="微软雅黑" panose="020B0503020204020204" charset="-122"/>
                <a:ea typeface="微软雅黑" panose="020B0503020204020204" charset="-122"/>
                <a:cs typeface="微软雅黑" panose="020B0503020204020204" charset="-122"/>
              </a:rPr>
              <a:t>与实测模态开展多维验证</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8839200" y="5359400"/>
            <a:ext cx="2933700" cy="768350"/>
          </a:xfrm>
          <a:prstGeom prst="rect">
            <a:avLst/>
          </a:prstGeom>
          <a:noFill/>
        </p:spPr>
        <p:txBody>
          <a:bodyPr wrap="square" rtlCol="0">
            <a:spAutoFit/>
          </a:bodyPr>
          <a:p>
            <a:pPr>
              <a:lnSpc>
                <a:spcPct val="11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基于</a:t>
            </a:r>
            <a:r>
              <a:rPr lang="en-US" altLang="zh-CN" sz="1000" b="1">
                <a:latin typeface="微软雅黑" panose="020B0503020204020204" charset="-122"/>
                <a:ea typeface="微软雅黑" panose="020B0503020204020204" charset="-122"/>
                <a:cs typeface="微软雅黑" panose="020B0503020204020204" charset="-122"/>
              </a:rPr>
              <a:t>Simpack-Matlab/Simulink-OpenSees</a:t>
            </a:r>
            <a:r>
              <a:rPr lang="zh-CN" altLang="en-US" sz="1000" b="1">
                <a:latin typeface="微软雅黑" panose="020B0503020204020204" charset="-122"/>
                <a:ea typeface="微软雅黑" panose="020B0503020204020204" charset="-122"/>
                <a:cs typeface="微软雅黑" panose="020B0503020204020204" charset="-122"/>
              </a:rPr>
              <a:t>构建</a:t>
            </a:r>
            <a:r>
              <a:rPr lang="en-US" altLang="zh-CN" sz="1000" b="1">
                <a:latin typeface="微软雅黑" panose="020B0503020204020204" charset="-122"/>
                <a:ea typeface="微软雅黑" panose="020B0503020204020204" charset="-122"/>
                <a:cs typeface="微软雅黑" panose="020B0503020204020204" charset="-122"/>
              </a:rPr>
              <a:t>AAO</a:t>
            </a:r>
            <a:r>
              <a:rPr lang="zh-CN" altLang="en-US" sz="1000" b="1">
                <a:latin typeface="微软雅黑" panose="020B0503020204020204" charset="-122"/>
                <a:ea typeface="微软雅黑" panose="020B0503020204020204" charset="-122"/>
                <a:cs typeface="微软雅黑" panose="020B0503020204020204" charset="-122"/>
              </a:rPr>
              <a:t>模型</a:t>
            </a:r>
            <a:endParaRPr lang="zh-CN" altLang="en-US" sz="1000" b="1">
              <a:latin typeface="微软雅黑" panose="020B0503020204020204" charset="-122"/>
              <a:ea typeface="微软雅黑" panose="020B0503020204020204" charset="-122"/>
              <a:cs typeface="微软雅黑" panose="020B0503020204020204" charset="-122"/>
            </a:endParaRPr>
          </a:p>
          <a:p>
            <a:pPr>
              <a:lnSpc>
                <a:spcPct val="11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采用非线性纤维梁单元简化混塔子系统</a:t>
            </a:r>
            <a:endParaRPr lang="zh-CN" altLang="en-US" sz="1000" b="1">
              <a:latin typeface="微软雅黑" panose="020B0503020204020204" charset="-122"/>
              <a:ea typeface="微软雅黑" panose="020B0503020204020204" charset="-122"/>
              <a:cs typeface="微软雅黑" panose="020B0503020204020204" charset="-122"/>
            </a:endParaRPr>
          </a:p>
          <a:p>
            <a:pPr>
              <a:lnSpc>
                <a:spcPct val="110000"/>
              </a:lnSpc>
              <a:spcBef>
                <a:spcPts val="0"/>
              </a:spcBef>
              <a:spcAft>
                <a:spcPts val="0"/>
              </a:spcAft>
            </a:pP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兼顾计算精度与效率，支撑大规模分析</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6085205" y="1981835"/>
            <a:ext cx="1581150" cy="260350"/>
          </a:xfrm>
          <a:prstGeom prst="rect">
            <a:avLst/>
          </a:prstGeom>
          <a:noFill/>
        </p:spPr>
        <p:txBody>
          <a:bodyPr wrap="square" rtlCol="0">
            <a:spAutoFit/>
          </a:bodyPr>
          <a:p>
            <a:r>
              <a:rPr lang="zh-CN" altLang="en-US" sz="1100" b="1">
                <a:solidFill>
                  <a:srgbClr val="2E5495"/>
                </a:solidFill>
              </a:rPr>
              <a:t>高保真度动力学建模</a:t>
            </a:r>
            <a:endParaRPr lang="zh-CN" altLang="en-US" sz="1100" b="1">
              <a:solidFill>
                <a:srgbClr val="2E5495"/>
              </a:solidFill>
            </a:endParaRPr>
          </a:p>
        </p:txBody>
      </p:sp>
      <p:sp>
        <p:nvSpPr>
          <p:cNvPr id="38" name="文本框 37"/>
          <p:cNvSpPr txBox="1"/>
          <p:nvPr/>
        </p:nvSpPr>
        <p:spPr>
          <a:xfrm>
            <a:off x="9512300" y="1981835"/>
            <a:ext cx="1828800" cy="260350"/>
          </a:xfrm>
          <a:prstGeom prst="rect">
            <a:avLst/>
          </a:prstGeom>
          <a:noFill/>
        </p:spPr>
        <p:txBody>
          <a:bodyPr wrap="square" rtlCol="0">
            <a:spAutoFit/>
          </a:bodyPr>
          <a:p>
            <a:r>
              <a:rPr lang="zh-CN" altLang="en-US" sz="1100" b="1">
                <a:solidFill>
                  <a:srgbClr val="2E5495"/>
                </a:solidFill>
              </a:rPr>
              <a:t>中保真度动力学建模</a:t>
            </a:r>
            <a:endParaRPr lang="zh-CN" altLang="en-US" sz="1100" b="1">
              <a:solidFill>
                <a:srgbClr val="2E5495"/>
              </a:solidFill>
            </a:endParaRPr>
          </a:p>
        </p:txBody>
      </p:sp>
      <p:cxnSp>
        <p:nvCxnSpPr>
          <p:cNvPr id="39" name="直接连接符 38"/>
          <p:cNvCxnSpPr/>
          <p:nvPr/>
        </p:nvCxnSpPr>
        <p:spPr>
          <a:xfrm>
            <a:off x="5318125" y="2221865"/>
            <a:ext cx="3317875" cy="635"/>
          </a:xfrm>
          <a:prstGeom prst="line">
            <a:avLst/>
          </a:prstGeom>
          <a:ln>
            <a:solidFill>
              <a:srgbClr val="D6DDD6"/>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8740775" y="2228850"/>
            <a:ext cx="2946400" cy="8255"/>
          </a:xfrm>
          <a:prstGeom prst="line">
            <a:avLst/>
          </a:prstGeom>
          <a:ln>
            <a:solidFill>
              <a:srgbClr val="D6DDD6"/>
            </a:solidFill>
          </a:ln>
        </p:spPr>
        <p:style>
          <a:lnRef idx="2">
            <a:schemeClr val="accent1"/>
          </a:lnRef>
          <a:fillRef idx="0">
            <a:srgbClr val="FFFFFF"/>
          </a:fillRef>
          <a:effectRef idx="0">
            <a:srgbClr val="FFFFFF"/>
          </a:effectRef>
          <a:fontRef idx="minor">
            <a:schemeClr val="tx1"/>
          </a:fontRef>
        </p:style>
      </p:cxnSp>
      <p:pic>
        <p:nvPicPr>
          <p:cNvPr id="3" name="图片 2"/>
          <p:cNvPicPr/>
          <p:nvPr/>
        </p:nvPicPr>
        <p:blipFill>
          <a:blip r:embed="rId1">
            <a:extLst>
              <a:ext uri="{96DAC541-7B7A-43D3-8B79-37D633B846F1}">
                <asvg:svgBlip xmlns:asvg="http://schemas.microsoft.com/office/drawing/2016/SVG/main" r:embed="rId2"/>
              </a:ext>
            </a:extLst>
          </a:blip>
        </p:blipFill>
        <p:spPr>
          <a:xfrm>
            <a:off x="5905500" y="3238500"/>
            <a:ext cx="381000" cy="381000"/>
          </a:xfrm>
          <a:prstGeom prst="rect">
            <a:avLst/>
          </a:prstGeom>
        </p:spPr>
      </p:pic>
      <p:pic>
        <p:nvPicPr>
          <p:cNvPr id="4" name="图片 3" descr="13.1.1"/>
          <p:cNvPicPr>
            <a:picLocks noChangeAspect="1"/>
          </p:cNvPicPr>
          <p:nvPr/>
        </p:nvPicPr>
        <p:blipFill>
          <a:blip r:embed="rId3"/>
          <a:stretch>
            <a:fillRect/>
          </a:stretch>
        </p:blipFill>
        <p:spPr>
          <a:xfrm>
            <a:off x="2589530" y="2252345"/>
            <a:ext cx="2640965" cy="2831465"/>
          </a:xfrm>
          <a:prstGeom prst="rect">
            <a:avLst/>
          </a:prstGeom>
        </p:spPr>
      </p:pic>
      <p:sp>
        <p:nvSpPr>
          <p:cNvPr id="12" name="矩形 11"/>
          <p:cNvSpPr/>
          <p:nvPr/>
        </p:nvSpPr>
        <p:spPr>
          <a:xfrm>
            <a:off x="5391150" y="2570480"/>
            <a:ext cx="1689100" cy="2256790"/>
          </a:xfrm>
          <a:prstGeom prst="rect">
            <a:avLst/>
          </a:prstGeom>
          <a:ln w="12700">
            <a:solidFill>
              <a:srgbClr val="B2B2B2"/>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矩形 17"/>
          <p:cNvSpPr/>
          <p:nvPr/>
        </p:nvSpPr>
        <p:spPr>
          <a:xfrm>
            <a:off x="7105650" y="2570480"/>
            <a:ext cx="1503045" cy="2260600"/>
          </a:xfrm>
          <a:prstGeom prst="rect">
            <a:avLst/>
          </a:prstGeom>
          <a:ln>
            <a:solidFill>
              <a:srgbClr val="B2B2B2"/>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1" name="矩形 40"/>
          <p:cNvSpPr/>
          <p:nvPr/>
        </p:nvSpPr>
        <p:spPr>
          <a:xfrm>
            <a:off x="9107170" y="2287270"/>
            <a:ext cx="2247900" cy="3064510"/>
          </a:xfrm>
          <a:prstGeom prst="rect">
            <a:avLst/>
          </a:prstGeom>
          <a:ln>
            <a:solidFill>
              <a:srgbClr val="B2B2B2"/>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42" name="图片 41" descr="13.2.2"/>
          <p:cNvPicPr>
            <a:picLocks noChangeAspect="1"/>
          </p:cNvPicPr>
          <p:nvPr/>
        </p:nvPicPr>
        <p:blipFill>
          <a:blip r:embed="rId4"/>
          <a:stretch>
            <a:fillRect/>
          </a:stretch>
        </p:blipFill>
        <p:spPr>
          <a:xfrm>
            <a:off x="5391150" y="2602865"/>
            <a:ext cx="1689100" cy="2207895"/>
          </a:xfrm>
          <a:prstGeom prst="rect">
            <a:avLst/>
          </a:prstGeom>
        </p:spPr>
      </p:pic>
      <p:pic>
        <p:nvPicPr>
          <p:cNvPr id="43" name="图片 42" descr="13.3.3"/>
          <p:cNvPicPr>
            <a:picLocks noChangeAspect="1"/>
          </p:cNvPicPr>
          <p:nvPr/>
        </p:nvPicPr>
        <p:blipFill>
          <a:blip r:embed="rId5"/>
          <a:stretch>
            <a:fillRect/>
          </a:stretch>
        </p:blipFill>
        <p:spPr>
          <a:xfrm>
            <a:off x="7105650" y="2608580"/>
            <a:ext cx="1468755" cy="2202180"/>
          </a:xfrm>
          <a:prstGeom prst="rect">
            <a:avLst/>
          </a:prstGeom>
        </p:spPr>
      </p:pic>
      <p:pic>
        <p:nvPicPr>
          <p:cNvPr id="44" name="图片 43" descr="13.4.4"/>
          <p:cNvPicPr>
            <a:picLocks noChangeAspect="1"/>
          </p:cNvPicPr>
          <p:nvPr/>
        </p:nvPicPr>
        <p:blipFill>
          <a:blip r:embed="rId6"/>
          <a:stretch>
            <a:fillRect/>
          </a:stretch>
        </p:blipFill>
        <p:spPr>
          <a:xfrm>
            <a:off x="9130030" y="2307590"/>
            <a:ext cx="2171700" cy="3025775"/>
          </a:xfrm>
          <a:prstGeom prst="rect">
            <a:avLst/>
          </a:prstGeom>
        </p:spPr>
      </p:pic>
      <p:sp>
        <p:nvSpPr>
          <p:cNvPr id="2" name="文本框 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13/68</a:t>
            </a:r>
            <a:endParaRPr lang="en-US" altLang="zh-CN">
              <a:latin typeface="微软雅黑" panose="020B0503020204020204" charset="-122"/>
              <a:ea typeface="微软雅黑" panose="020B0503020204020204" charset="-122"/>
            </a:endParaRPr>
          </a:p>
        </p:txBody>
      </p:sp>
      <p:sp>
        <p:nvSpPr>
          <p:cNvPr id="45" name="文本框 44"/>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185545" y="1116965"/>
            <a:ext cx="10403840" cy="445135"/>
          </a:xfrm>
          <a:prstGeom prst="rect">
            <a:avLst/>
          </a:prstGeom>
          <a:noFill/>
        </p:spPr>
        <p:txBody>
          <a:bodyPr wrap="square" rtlCol="0">
            <a:spAutoFit/>
          </a:bodyPr>
          <a:p>
            <a:r>
              <a:rPr lang="zh-CN" altLang="en-US" sz="2300" b="1">
                <a:solidFill>
                  <a:srgbClr val="2E5495"/>
                </a:solidFill>
              </a:rPr>
              <a:t>大型混塔式风电机组的动力学建模与仿真分析是一项典型的多学科交叉问题</a:t>
            </a:r>
            <a:endParaRPr lang="zh-CN" altLang="en-US" sz="2300" b="1">
              <a:solidFill>
                <a:srgbClr val="2E5495"/>
              </a:solidFill>
            </a:endParaRPr>
          </a:p>
        </p:txBody>
      </p:sp>
      <p:sp>
        <p:nvSpPr>
          <p:cNvPr id="12" name="任意多边形 11"/>
          <p:cNvSpPr/>
          <p:nvPr/>
        </p:nvSpPr>
        <p:spPr>
          <a:xfrm>
            <a:off x="629920" y="1618615"/>
            <a:ext cx="10971530" cy="2256790"/>
          </a:xfrm>
          <a:custGeom>
            <a:avLst/>
            <a:gdLst>
              <a:gd name="connsiteX0" fmla="*/ 0 w 17278"/>
              <a:gd name="connsiteY0" fmla="*/ 363 h 3554"/>
              <a:gd name="connsiteX1" fmla="*/ 363 w 17278"/>
              <a:gd name="connsiteY1" fmla="*/ 0 h 3554"/>
              <a:gd name="connsiteX2" fmla="*/ 16904 w 17278"/>
              <a:gd name="connsiteY2" fmla="*/ 22 h 3554"/>
              <a:gd name="connsiteX3" fmla="*/ 17278 w 17278"/>
              <a:gd name="connsiteY3" fmla="*/ 278 h 3554"/>
              <a:gd name="connsiteX4" fmla="*/ 17278 w 17278"/>
              <a:gd name="connsiteY4" fmla="*/ 3298 h 3554"/>
              <a:gd name="connsiteX5" fmla="*/ 16936 w 17278"/>
              <a:gd name="connsiteY5" fmla="*/ 3543 h 3554"/>
              <a:gd name="connsiteX6" fmla="*/ 395 w 17278"/>
              <a:gd name="connsiteY6" fmla="*/ 3554 h 3554"/>
              <a:gd name="connsiteX7" fmla="*/ 21 w 17278"/>
              <a:gd name="connsiteY7" fmla="*/ 3212 h 3554"/>
              <a:gd name="connsiteX8" fmla="*/ 0 w 17278"/>
              <a:gd name="connsiteY8" fmla="*/ 363 h 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78" h="3554">
                <a:moveTo>
                  <a:pt x="0" y="363"/>
                </a:moveTo>
                <a:cubicBezTo>
                  <a:pt x="0" y="40"/>
                  <a:pt x="40" y="0"/>
                  <a:pt x="363" y="0"/>
                </a:cubicBezTo>
                <a:lnTo>
                  <a:pt x="16904" y="22"/>
                </a:lnTo>
                <a:cubicBezTo>
                  <a:pt x="17227" y="22"/>
                  <a:pt x="17278" y="-45"/>
                  <a:pt x="17278" y="278"/>
                </a:cubicBezTo>
                <a:lnTo>
                  <a:pt x="17278" y="3298"/>
                </a:lnTo>
                <a:cubicBezTo>
                  <a:pt x="17278" y="3621"/>
                  <a:pt x="17259" y="3543"/>
                  <a:pt x="16936" y="3543"/>
                </a:cubicBezTo>
                <a:lnTo>
                  <a:pt x="395" y="3554"/>
                </a:lnTo>
                <a:cubicBezTo>
                  <a:pt x="72" y="3554"/>
                  <a:pt x="21" y="3535"/>
                  <a:pt x="21" y="3212"/>
                </a:cubicBezTo>
                <a:lnTo>
                  <a:pt x="0" y="363"/>
                </a:lnTo>
                <a:close/>
              </a:path>
            </a:pathLst>
          </a:custGeom>
          <a:ln w="19050">
            <a:solidFill>
              <a:srgbClr val="D6DDD6"/>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任意多边形 12"/>
          <p:cNvSpPr/>
          <p:nvPr/>
        </p:nvSpPr>
        <p:spPr>
          <a:xfrm>
            <a:off x="629920" y="4002405"/>
            <a:ext cx="10971530" cy="2256790"/>
          </a:xfrm>
          <a:custGeom>
            <a:avLst/>
            <a:gdLst>
              <a:gd name="connsiteX0" fmla="*/ 0 w 17278"/>
              <a:gd name="connsiteY0" fmla="*/ 363 h 3554"/>
              <a:gd name="connsiteX1" fmla="*/ 363 w 17278"/>
              <a:gd name="connsiteY1" fmla="*/ 0 h 3554"/>
              <a:gd name="connsiteX2" fmla="*/ 16904 w 17278"/>
              <a:gd name="connsiteY2" fmla="*/ 22 h 3554"/>
              <a:gd name="connsiteX3" fmla="*/ 17278 w 17278"/>
              <a:gd name="connsiteY3" fmla="*/ 278 h 3554"/>
              <a:gd name="connsiteX4" fmla="*/ 17278 w 17278"/>
              <a:gd name="connsiteY4" fmla="*/ 3298 h 3554"/>
              <a:gd name="connsiteX5" fmla="*/ 16936 w 17278"/>
              <a:gd name="connsiteY5" fmla="*/ 3543 h 3554"/>
              <a:gd name="connsiteX6" fmla="*/ 395 w 17278"/>
              <a:gd name="connsiteY6" fmla="*/ 3554 h 3554"/>
              <a:gd name="connsiteX7" fmla="*/ 21 w 17278"/>
              <a:gd name="connsiteY7" fmla="*/ 3212 h 3554"/>
              <a:gd name="connsiteX8" fmla="*/ 0 w 17278"/>
              <a:gd name="connsiteY8" fmla="*/ 363 h 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78" h="3554">
                <a:moveTo>
                  <a:pt x="0" y="363"/>
                </a:moveTo>
                <a:cubicBezTo>
                  <a:pt x="0" y="40"/>
                  <a:pt x="40" y="0"/>
                  <a:pt x="363" y="0"/>
                </a:cubicBezTo>
                <a:lnTo>
                  <a:pt x="16904" y="22"/>
                </a:lnTo>
                <a:cubicBezTo>
                  <a:pt x="17227" y="22"/>
                  <a:pt x="17278" y="-45"/>
                  <a:pt x="17278" y="278"/>
                </a:cubicBezTo>
                <a:lnTo>
                  <a:pt x="17278" y="3298"/>
                </a:lnTo>
                <a:cubicBezTo>
                  <a:pt x="17278" y="3621"/>
                  <a:pt x="17259" y="3543"/>
                  <a:pt x="16936" y="3543"/>
                </a:cubicBezTo>
                <a:lnTo>
                  <a:pt x="395" y="3554"/>
                </a:lnTo>
                <a:cubicBezTo>
                  <a:pt x="72" y="3554"/>
                  <a:pt x="21" y="3535"/>
                  <a:pt x="21" y="3212"/>
                </a:cubicBezTo>
                <a:lnTo>
                  <a:pt x="0" y="363"/>
                </a:lnTo>
                <a:close/>
              </a:path>
            </a:pathLst>
          </a:custGeom>
          <a:ln w="19050">
            <a:solidFill>
              <a:srgbClr val="D6DDD6"/>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椭圆 13"/>
          <p:cNvSpPr/>
          <p:nvPr/>
        </p:nvSpPr>
        <p:spPr>
          <a:xfrm>
            <a:off x="874395" y="1915795"/>
            <a:ext cx="126365" cy="114935"/>
          </a:xfrm>
          <a:prstGeom prst="ellips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874395" y="2308225"/>
            <a:ext cx="126365" cy="114935"/>
          </a:xfrm>
          <a:prstGeom prst="ellips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874395" y="3077210"/>
            <a:ext cx="126365" cy="137160"/>
          </a:xfrm>
          <a:prstGeom prst="ellips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875030" y="4398010"/>
            <a:ext cx="126365" cy="114935"/>
          </a:xfrm>
          <a:prstGeom prst="ellips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875030" y="4790440"/>
            <a:ext cx="126365" cy="114935"/>
          </a:xfrm>
          <a:prstGeom prst="ellips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椭圆 18"/>
          <p:cNvSpPr/>
          <p:nvPr/>
        </p:nvSpPr>
        <p:spPr>
          <a:xfrm>
            <a:off x="874395" y="5182870"/>
            <a:ext cx="126365" cy="114935"/>
          </a:xfrm>
          <a:prstGeom prst="ellipse">
            <a:avLst/>
          </a:prstGeom>
          <a:solidFill>
            <a:srgbClr val="2E549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1185545" y="1788160"/>
            <a:ext cx="3966210" cy="368300"/>
          </a:xfrm>
          <a:prstGeom prst="rect">
            <a:avLst/>
          </a:prstGeom>
          <a:noFill/>
        </p:spPr>
        <p:txBody>
          <a:bodyPr wrap="square" rtlCol="0">
            <a:spAutoFit/>
          </a:bodyPr>
          <a:p>
            <a:r>
              <a:rPr lang="zh-CN" altLang="en-US" b="1">
                <a:solidFill>
                  <a:srgbClr val="2E5495"/>
                </a:solidFill>
                <a:latin typeface="微软雅黑" panose="020B0503020204020204" charset="-122"/>
                <a:ea typeface="微软雅黑" panose="020B0503020204020204" charset="-122"/>
                <a:cs typeface="微软雅黑" panose="020B0503020204020204" charset="-122"/>
              </a:rPr>
              <a:t>混塔式风电机组</a:t>
            </a:r>
            <a:r>
              <a:rPr lang="en-US" altLang="zh-CN" b="1">
                <a:solidFill>
                  <a:srgbClr val="2E5495"/>
                </a:solidFill>
                <a:latin typeface="微软雅黑" panose="020B0503020204020204" charset="-122"/>
                <a:ea typeface="微软雅黑" panose="020B0503020204020204" charset="-122"/>
                <a:cs typeface="微软雅黑" panose="020B0503020204020204" charset="-122"/>
              </a:rPr>
              <a:t> </a:t>
            </a:r>
            <a:r>
              <a:rPr lang="en-US" altLang="zh-CN" sz="1400" b="1">
                <a:solidFill>
                  <a:srgbClr val="2E5495"/>
                </a:solidFill>
                <a:latin typeface="微软雅黑" panose="020B0503020204020204" charset="-122"/>
                <a:ea typeface="微软雅黑" panose="020B0503020204020204" charset="-122"/>
                <a:cs typeface="微软雅黑" panose="020B0503020204020204" charset="-122"/>
              </a:rPr>
              <a:t>VS </a:t>
            </a:r>
            <a:r>
              <a:rPr lang="zh-CN" altLang="en-US" b="1">
                <a:solidFill>
                  <a:srgbClr val="2E5495"/>
                </a:solidFill>
                <a:latin typeface="微软雅黑" panose="020B0503020204020204" charset="-122"/>
                <a:ea typeface="微软雅黑" panose="020B0503020204020204" charset="-122"/>
                <a:cs typeface="微软雅黑" panose="020B0503020204020204" charset="-122"/>
              </a:rPr>
              <a:t>传统土木高耸结构</a:t>
            </a:r>
            <a:endParaRPr lang="zh-CN" altLang="en-US" b="1">
              <a:solidFill>
                <a:srgbClr val="2E5495"/>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1184910" y="2124075"/>
            <a:ext cx="3794125" cy="810260"/>
          </a:xfrm>
          <a:prstGeom prst="rect">
            <a:avLst/>
          </a:prstGeom>
          <a:noFill/>
        </p:spPr>
        <p:txBody>
          <a:bodyPr wrap="square" rtlCol="0">
            <a:spAutoFit/>
          </a:bodyPr>
          <a:p>
            <a:pPr>
              <a:lnSpc>
                <a:spcPct val="130000"/>
              </a:lnSpc>
              <a:spcBef>
                <a:spcPts val="0"/>
              </a:spcBef>
              <a:spcAft>
                <a:spcPts val="0"/>
              </a:spcAft>
            </a:pPr>
            <a:r>
              <a:rPr lang="zh-CN" altLang="en-US" b="1">
                <a:solidFill>
                  <a:srgbClr val="2E5495"/>
                </a:solidFill>
                <a:latin typeface="微软雅黑" panose="020B0503020204020204" charset="-122"/>
                <a:ea typeface="微软雅黑" panose="020B0503020204020204" charset="-122"/>
                <a:cs typeface="微软雅黑" panose="020B0503020204020204" charset="-122"/>
              </a:rPr>
              <a:t>混塔式风电机组是</a:t>
            </a:r>
            <a:r>
              <a:rPr lang="zh-CN" altLang="en-US" b="1">
                <a:solidFill>
                  <a:srgbClr val="C00000"/>
                </a:solidFill>
                <a:latin typeface="微软雅黑" panose="020B0503020204020204" charset="-122"/>
                <a:ea typeface="微软雅黑" panose="020B0503020204020204" charset="-122"/>
                <a:cs typeface="微软雅黑" panose="020B0503020204020204" charset="-122"/>
              </a:rPr>
              <a:t>机电</a:t>
            </a:r>
            <a:r>
              <a:rPr lang="en-US" altLang="zh-CN" b="1">
                <a:solidFill>
                  <a:srgbClr val="C00000"/>
                </a:solidFill>
                <a:latin typeface="微软雅黑" panose="020B0503020204020204" charset="-122"/>
                <a:ea typeface="微软雅黑" panose="020B0503020204020204" charset="-122"/>
                <a:cs typeface="微软雅黑" panose="020B0503020204020204" charset="-122"/>
              </a:rPr>
              <a:t>-</a:t>
            </a:r>
            <a:r>
              <a:rPr lang="zh-CN" altLang="en-US" b="1">
                <a:solidFill>
                  <a:srgbClr val="C00000"/>
                </a:solidFill>
                <a:latin typeface="微软雅黑" panose="020B0503020204020204" charset="-122"/>
                <a:ea typeface="微软雅黑" panose="020B0503020204020204" charset="-122"/>
                <a:cs typeface="微软雅黑" panose="020B0503020204020204" charset="-122"/>
              </a:rPr>
              <a:t>土木综合体，考虑伺服控制策略（偏航、变桨）</a:t>
            </a:r>
            <a:endParaRPr lang="zh-CN" altLang="en-US"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1185545" y="2949575"/>
            <a:ext cx="3884930" cy="755650"/>
          </a:xfrm>
          <a:prstGeom prst="rect">
            <a:avLst/>
          </a:prstGeom>
          <a:noFill/>
        </p:spPr>
        <p:txBody>
          <a:bodyPr wrap="square" rtlCol="0">
            <a:spAutoFit/>
          </a:bodyPr>
          <a:p>
            <a:pPr>
              <a:lnSpc>
                <a:spcPct val="120000"/>
              </a:lnSpc>
              <a:spcBef>
                <a:spcPts val="0"/>
              </a:spcBef>
              <a:spcAft>
                <a:spcPts val="0"/>
              </a:spcAft>
            </a:pPr>
            <a:r>
              <a:rPr lang="zh-CN" altLang="en-US" b="1">
                <a:solidFill>
                  <a:srgbClr val="C00000"/>
                </a:solidFill>
              </a:rPr>
              <a:t>动荷载荷性：</a:t>
            </a:r>
            <a:r>
              <a:rPr lang="zh-CN" altLang="en-US" b="1">
                <a:solidFill>
                  <a:srgbClr val="2E5495"/>
                </a:solidFill>
              </a:rPr>
              <a:t>承受气动推力与扭矩＋风轮旋转动载荷</a:t>
            </a:r>
            <a:endParaRPr lang="zh-CN" altLang="en-US" b="1">
              <a:solidFill>
                <a:srgbClr val="2E5495"/>
              </a:solidFill>
            </a:endParaRPr>
          </a:p>
        </p:txBody>
      </p:sp>
      <p:sp>
        <p:nvSpPr>
          <p:cNvPr id="24" name="文本框 23"/>
          <p:cNvSpPr txBox="1"/>
          <p:nvPr/>
        </p:nvSpPr>
        <p:spPr>
          <a:xfrm>
            <a:off x="1185545" y="4271010"/>
            <a:ext cx="4237355" cy="368300"/>
          </a:xfrm>
          <a:prstGeom prst="rect">
            <a:avLst/>
          </a:prstGeom>
          <a:noFill/>
        </p:spPr>
        <p:txBody>
          <a:bodyPr wrap="square" rtlCol="0">
            <a:spAutoFit/>
          </a:bodyPr>
          <a:p>
            <a:r>
              <a:rPr lang="zh-CN" altLang="en-US" b="1">
                <a:solidFill>
                  <a:srgbClr val="2E5495"/>
                </a:solidFill>
                <a:latin typeface="微软雅黑" panose="020B0503020204020204" charset="-122"/>
                <a:ea typeface="微软雅黑" panose="020B0503020204020204" charset="-122"/>
                <a:cs typeface="微软雅黑" panose="020B0503020204020204" charset="-122"/>
              </a:rPr>
              <a:t>混塔式风电机组</a:t>
            </a:r>
            <a:r>
              <a:rPr lang="en-US" altLang="zh-CN" b="1">
                <a:solidFill>
                  <a:srgbClr val="2E5495"/>
                </a:solidFill>
                <a:latin typeface="微软雅黑" panose="020B0503020204020204" charset="-122"/>
                <a:ea typeface="微软雅黑" panose="020B0503020204020204" charset="-122"/>
                <a:cs typeface="微软雅黑" panose="020B0503020204020204" charset="-122"/>
              </a:rPr>
              <a:t> </a:t>
            </a:r>
            <a:r>
              <a:rPr lang="en-US" altLang="zh-CN" sz="1400" b="1">
                <a:solidFill>
                  <a:srgbClr val="2E5495"/>
                </a:solidFill>
                <a:latin typeface="微软雅黑" panose="020B0503020204020204" charset="-122"/>
                <a:ea typeface="微软雅黑" panose="020B0503020204020204" charset="-122"/>
                <a:cs typeface="微软雅黑" panose="020B0503020204020204" charset="-122"/>
              </a:rPr>
              <a:t>VS </a:t>
            </a:r>
            <a:r>
              <a:rPr lang="zh-CN" altLang="en-US" b="1">
                <a:solidFill>
                  <a:srgbClr val="2E5495"/>
                </a:solidFill>
                <a:latin typeface="微软雅黑" panose="020B0503020204020204" charset="-122"/>
                <a:ea typeface="微软雅黑" panose="020B0503020204020204" charset="-122"/>
                <a:cs typeface="微软雅黑" panose="020B0503020204020204" charset="-122"/>
              </a:rPr>
              <a:t>传统钢塔式风电机组</a:t>
            </a:r>
            <a:endParaRPr lang="zh-CN" altLang="en-US" b="1">
              <a:solidFill>
                <a:srgbClr val="2E5495"/>
              </a:solidFill>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1219835" y="4671695"/>
            <a:ext cx="4439285" cy="352425"/>
          </a:xfrm>
          <a:prstGeom prst="rect">
            <a:avLst/>
          </a:prstGeom>
          <a:noFill/>
        </p:spPr>
        <p:txBody>
          <a:bodyPr wrap="square" rtlCol="0">
            <a:spAutoFit/>
          </a:bodyPr>
          <a:p>
            <a:r>
              <a:rPr lang="zh-CN" altLang="en-US" sz="1700" b="1"/>
              <a:t>混塔包含</a:t>
            </a:r>
            <a:r>
              <a:rPr lang="zh-CN" altLang="en-US" sz="1700" b="1">
                <a:solidFill>
                  <a:srgbClr val="C00000"/>
                </a:solidFill>
              </a:rPr>
              <a:t>混凝土段、预应力系统、过渡段</a:t>
            </a:r>
            <a:endParaRPr lang="zh-CN" altLang="en-US" sz="1700" b="1">
              <a:solidFill>
                <a:srgbClr val="C00000"/>
              </a:solidFill>
            </a:endParaRPr>
          </a:p>
        </p:txBody>
      </p:sp>
      <p:sp>
        <p:nvSpPr>
          <p:cNvPr id="27" name="文本框 26"/>
          <p:cNvSpPr txBox="1"/>
          <p:nvPr/>
        </p:nvSpPr>
        <p:spPr>
          <a:xfrm>
            <a:off x="1219835" y="5043805"/>
            <a:ext cx="4387215" cy="352425"/>
          </a:xfrm>
          <a:prstGeom prst="rect">
            <a:avLst/>
          </a:prstGeom>
          <a:noFill/>
        </p:spPr>
        <p:txBody>
          <a:bodyPr wrap="square" rtlCol="0">
            <a:spAutoFit/>
          </a:bodyPr>
          <a:p>
            <a:r>
              <a:rPr lang="zh-CN" altLang="en-US" sz="1700" b="1"/>
              <a:t>具有较强的</a:t>
            </a:r>
            <a:r>
              <a:rPr lang="zh-CN" altLang="en-US" sz="1700" b="1">
                <a:solidFill>
                  <a:srgbClr val="C00000"/>
                </a:solidFill>
              </a:rPr>
              <a:t>材料、几何与边界非线性</a:t>
            </a:r>
            <a:r>
              <a:rPr lang="zh-CN" altLang="en-US" sz="1700" b="1"/>
              <a:t>属性</a:t>
            </a:r>
            <a:endParaRPr lang="zh-CN" altLang="en-US" sz="1700" b="1"/>
          </a:p>
        </p:txBody>
      </p:sp>
      <p:pic>
        <p:nvPicPr>
          <p:cNvPr id="2" name="图片 1" descr="14.1.1"/>
          <p:cNvPicPr>
            <a:picLocks noChangeAspect="1"/>
          </p:cNvPicPr>
          <p:nvPr/>
        </p:nvPicPr>
        <p:blipFill>
          <a:blip r:embed="rId1"/>
          <a:srcRect t="4475" b="4717"/>
          <a:stretch>
            <a:fillRect/>
          </a:stretch>
        </p:blipFill>
        <p:spPr>
          <a:xfrm>
            <a:off x="5255260" y="1684020"/>
            <a:ext cx="6231255" cy="2109470"/>
          </a:xfrm>
          <a:prstGeom prst="rect">
            <a:avLst/>
          </a:prstGeom>
        </p:spPr>
      </p:pic>
      <p:pic>
        <p:nvPicPr>
          <p:cNvPr id="3" name="图片 2" descr="14.2.2"/>
          <p:cNvPicPr>
            <a:picLocks noChangeAspect="1"/>
          </p:cNvPicPr>
          <p:nvPr/>
        </p:nvPicPr>
        <p:blipFill>
          <a:blip r:embed="rId2"/>
          <a:stretch>
            <a:fillRect/>
          </a:stretch>
        </p:blipFill>
        <p:spPr>
          <a:xfrm>
            <a:off x="5641975" y="4060825"/>
            <a:ext cx="5844540" cy="2146300"/>
          </a:xfrm>
          <a:prstGeom prst="rect">
            <a:avLst/>
          </a:prstGeom>
        </p:spPr>
      </p:pic>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14/68</a:t>
            </a:r>
            <a:endParaRPr lang="en-US" altLang="zh-CN">
              <a:latin typeface="微软雅黑" panose="020B0503020204020204" charset="-122"/>
              <a:ea typeface="微软雅黑" panose="020B0503020204020204" charset="-122"/>
            </a:endParaRPr>
          </a:p>
        </p:txBody>
      </p:sp>
      <p:sp>
        <p:nvSpPr>
          <p:cNvPr id="23" name="文本框 2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185545" y="1116965"/>
            <a:ext cx="10403840" cy="445135"/>
          </a:xfrm>
          <a:prstGeom prst="rect">
            <a:avLst/>
          </a:prstGeom>
          <a:noFill/>
        </p:spPr>
        <p:txBody>
          <a:bodyPr wrap="square" rtlCol="0">
            <a:spAutoFit/>
          </a:bodyPr>
          <a:p>
            <a:r>
              <a:rPr lang="zh-CN" altLang="en-US" sz="2300" b="1">
                <a:solidFill>
                  <a:srgbClr val="2E5495"/>
                </a:solidFill>
              </a:rPr>
              <a:t>相较传统钢塔式风电机组，混塔式风电机组的力学性能</a:t>
            </a:r>
            <a:r>
              <a:rPr lang="zh-CN" altLang="en-US" sz="2300" b="1">
                <a:solidFill>
                  <a:srgbClr val="C00000"/>
                </a:solidFill>
              </a:rPr>
              <a:t>具有独特的复杂特征</a:t>
            </a:r>
            <a:endParaRPr lang="zh-CN" altLang="en-US" sz="2300" b="1">
              <a:solidFill>
                <a:srgbClr val="C00000"/>
              </a:solidFill>
            </a:endParaRPr>
          </a:p>
        </p:txBody>
      </p:sp>
      <p:sp>
        <p:nvSpPr>
          <p:cNvPr id="2" name="矩形 1"/>
          <p:cNvSpPr/>
          <p:nvPr/>
        </p:nvSpPr>
        <p:spPr>
          <a:xfrm>
            <a:off x="882015" y="1661795"/>
            <a:ext cx="172720" cy="190500"/>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1225550" y="1562100"/>
            <a:ext cx="7146290" cy="445135"/>
          </a:xfrm>
          <a:prstGeom prst="rect">
            <a:avLst/>
          </a:prstGeom>
          <a:noFill/>
        </p:spPr>
        <p:txBody>
          <a:bodyPr wrap="square" rtlCol="0">
            <a:spAutoFit/>
          </a:bodyPr>
          <a:p>
            <a:r>
              <a:rPr lang="zh-CN" altLang="en-US" sz="2300" b="1">
                <a:solidFill>
                  <a:srgbClr val="C00000"/>
                </a:solidFill>
              </a:rPr>
              <a:t>大型混塔式风电机组动力学分析研究仍处于起步阶段</a:t>
            </a:r>
            <a:endParaRPr lang="zh-CN" altLang="en-US" sz="2300" b="1">
              <a:solidFill>
                <a:srgbClr val="C00000"/>
              </a:solidFill>
            </a:endParaRPr>
          </a:p>
        </p:txBody>
      </p:sp>
      <p:sp>
        <p:nvSpPr>
          <p:cNvPr id="12" name="任意多边形 11"/>
          <p:cNvSpPr/>
          <p:nvPr/>
        </p:nvSpPr>
        <p:spPr>
          <a:xfrm>
            <a:off x="1358900" y="2232660"/>
            <a:ext cx="2562225" cy="387350"/>
          </a:xfrm>
          <a:custGeom>
            <a:avLst/>
            <a:gdLst>
              <a:gd name="connsiteX0" fmla="*/ 0 w 4035"/>
              <a:gd name="connsiteY0" fmla="*/ 165 h 610"/>
              <a:gd name="connsiteX1" fmla="*/ 170 w 4035"/>
              <a:gd name="connsiteY1" fmla="*/ 5 h 610"/>
              <a:gd name="connsiteX2" fmla="*/ 3860 w 4035"/>
              <a:gd name="connsiteY2" fmla="*/ 0 h 610"/>
              <a:gd name="connsiteX3" fmla="*/ 4035 w 4035"/>
              <a:gd name="connsiteY3" fmla="*/ 115 h 610"/>
              <a:gd name="connsiteX4" fmla="*/ 4030 w 4035"/>
              <a:gd name="connsiteY4" fmla="*/ 485 h 610"/>
              <a:gd name="connsiteX5" fmla="*/ 3865 w 4035"/>
              <a:gd name="connsiteY5" fmla="*/ 610 h 610"/>
              <a:gd name="connsiteX6" fmla="*/ 180 w 4035"/>
              <a:gd name="connsiteY6" fmla="*/ 610 h 610"/>
              <a:gd name="connsiteX7" fmla="*/ 10 w 4035"/>
              <a:gd name="connsiteY7" fmla="*/ 470 h 610"/>
              <a:gd name="connsiteX8" fmla="*/ 0 w 4035"/>
              <a:gd name="connsiteY8" fmla="*/ 165 h 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35" h="610">
                <a:moveTo>
                  <a:pt x="0" y="165"/>
                </a:moveTo>
                <a:cubicBezTo>
                  <a:pt x="0" y="109"/>
                  <a:pt x="114" y="5"/>
                  <a:pt x="170" y="5"/>
                </a:cubicBezTo>
                <a:lnTo>
                  <a:pt x="3860" y="0"/>
                </a:lnTo>
                <a:cubicBezTo>
                  <a:pt x="3916" y="0"/>
                  <a:pt x="4035" y="59"/>
                  <a:pt x="4035" y="115"/>
                </a:cubicBezTo>
                <a:lnTo>
                  <a:pt x="4030" y="485"/>
                </a:lnTo>
                <a:cubicBezTo>
                  <a:pt x="4030" y="541"/>
                  <a:pt x="3921" y="610"/>
                  <a:pt x="3865" y="610"/>
                </a:cubicBezTo>
                <a:lnTo>
                  <a:pt x="180" y="610"/>
                </a:lnTo>
                <a:cubicBezTo>
                  <a:pt x="124" y="610"/>
                  <a:pt x="10" y="526"/>
                  <a:pt x="10" y="470"/>
                </a:cubicBezTo>
                <a:lnTo>
                  <a:pt x="0" y="165"/>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任意多边形 14"/>
          <p:cNvSpPr/>
          <p:nvPr/>
        </p:nvSpPr>
        <p:spPr>
          <a:xfrm>
            <a:off x="3921125" y="2423795"/>
            <a:ext cx="558800" cy="1149350"/>
          </a:xfrm>
          <a:custGeom>
            <a:avLst/>
            <a:gdLst>
              <a:gd name="connisteX0" fmla="*/ 0 w 485775"/>
              <a:gd name="connsiteY0" fmla="*/ 2687 h 1161562"/>
              <a:gd name="connisteX1" fmla="*/ 66675 w 485775"/>
              <a:gd name="connsiteY1" fmla="*/ 2687 h 1161562"/>
              <a:gd name="connisteX2" fmla="*/ 133350 w 485775"/>
              <a:gd name="connsiteY2" fmla="*/ 31262 h 1161562"/>
              <a:gd name="connisteX3" fmla="*/ 200025 w 485775"/>
              <a:gd name="connsiteY3" fmla="*/ 78887 h 1161562"/>
              <a:gd name="connisteX4" fmla="*/ 231775 w 485775"/>
              <a:gd name="connsiteY4" fmla="*/ 145562 h 1161562"/>
              <a:gd name="connisteX5" fmla="*/ 247650 w 485775"/>
              <a:gd name="connsiteY5" fmla="*/ 212237 h 1161562"/>
              <a:gd name="connisteX6" fmla="*/ 250825 w 485775"/>
              <a:gd name="connsiteY6" fmla="*/ 278912 h 1161562"/>
              <a:gd name="connisteX7" fmla="*/ 250825 w 485775"/>
              <a:gd name="connsiteY7" fmla="*/ 345587 h 1161562"/>
              <a:gd name="connisteX8" fmla="*/ 250825 w 485775"/>
              <a:gd name="connsiteY8" fmla="*/ 412262 h 1161562"/>
              <a:gd name="connisteX9" fmla="*/ 250825 w 485775"/>
              <a:gd name="connsiteY9" fmla="*/ 478937 h 1161562"/>
              <a:gd name="connisteX10" fmla="*/ 250825 w 485775"/>
              <a:gd name="connsiteY10" fmla="*/ 545612 h 1161562"/>
              <a:gd name="connisteX11" fmla="*/ 247650 w 485775"/>
              <a:gd name="connsiteY11" fmla="*/ 612287 h 1161562"/>
              <a:gd name="connisteX12" fmla="*/ 244475 w 485775"/>
              <a:gd name="connsiteY12" fmla="*/ 691662 h 1161562"/>
              <a:gd name="connisteX13" fmla="*/ 244475 w 485775"/>
              <a:gd name="connsiteY13" fmla="*/ 758337 h 1161562"/>
              <a:gd name="connisteX14" fmla="*/ 244475 w 485775"/>
              <a:gd name="connsiteY14" fmla="*/ 828187 h 1161562"/>
              <a:gd name="connisteX15" fmla="*/ 244475 w 485775"/>
              <a:gd name="connsiteY15" fmla="*/ 894862 h 1161562"/>
              <a:gd name="connisteX16" fmla="*/ 244475 w 485775"/>
              <a:gd name="connsiteY16" fmla="*/ 961537 h 1161562"/>
              <a:gd name="connisteX17" fmla="*/ 244475 w 485775"/>
              <a:gd name="connsiteY17" fmla="*/ 1028212 h 1161562"/>
              <a:gd name="connisteX18" fmla="*/ 285750 w 485775"/>
              <a:gd name="connsiteY18" fmla="*/ 1094887 h 1161562"/>
              <a:gd name="connisteX19" fmla="*/ 352425 w 485775"/>
              <a:gd name="connsiteY19" fmla="*/ 1132987 h 1161562"/>
              <a:gd name="connisteX20" fmla="*/ 419100 w 485775"/>
              <a:gd name="connsiteY20" fmla="*/ 1152037 h 1161562"/>
              <a:gd name="connisteX21" fmla="*/ 485775 w 485775"/>
              <a:gd name="connsiteY21" fmla="*/ 1161562 h 116156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Lst>
            <a:rect l="l" t="t" r="r" b="b"/>
            <a:pathLst>
              <a:path w="485775" h="1161562">
                <a:moveTo>
                  <a:pt x="0" y="2687"/>
                </a:moveTo>
                <a:cubicBezTo>
                  <a:pt x="12065" y="2052"/>
                  <a:pt x="40005" y="-3028"/>
                  <a:pt x="66675" y="2687"/>
                </a:cubicBezTo>
                <a:cubicBezTo>
                  <a:pt x="93345" y="8402"/>
                  <a:pt x="106680" y="16022"/>
                  <a:pt x="133350" y="31262"/>
                </a:cubicBezTo>
                <a:cubicBezTo>
                  <a:pt x="160020" y="46502"/>
                  <a:pt x="180340" y="56027"/>
                  <a:pt x="200025" y="78887"/>
                </a:cubicBezTo>
                <a:cubicBezTo>
                  <a:pt x="219710" y="101747"/>
                  <a:pt x="222250" y="118892"/>
                  <a:pt x="231775" y="145562"/>
                </a:cubicBezTo>
                <a:cubicBezTo>
                  <a:pt x="241300" y="172232"/>
                  <a:pt x="243840" y="185567"/>
                  <a:pt x="247650" y="212237"/>
                </a:cubicBezTo>
                <a:cubicBezTo>
                  <a:pt x="251460" y="238907"/>
                  <a:pt x="250190" y="252242"/>
                  <a:pt x="250825" y="278912"/>
                </a:cubicBezTo>
                <a:cubicBezTo>
                  <a:pt x="251460" y="305582"/>
                  <a:pt x="250825" y="318917"/>
                  <a:pt x="250825" y="345587"/>
                </a:cubicBezTo>
                <a:cubicBezTo>
                  <a:pt x="250825" y="372257"/>
                  <a:pt x="250825" y="385592"/>
                  <a:pt x="250825" y="412262"/>
                </a:cubicBezTo>
                <a:cubicBezTo>
                  <a:pt x="250825" y="438932"/>
                  <a:pt x="250825" y="452267"/>
                  <a:pt x="250825" y="478937"/>
                </a:cubicBezTo>
                <a:cubicBezTo>
                  <a:pt x="250825" y="505607"/>
                  <a:pt x="251460" y="518942"/>
                  <a:pt x="250825" y="545612"/>
                </a:cubicBezTo>
                <a:cubicBezTo>
                  <a:pt x="250190" y="572282"/>
                  <a:pt x="248920" y="583077"/>
                  <a:pt x="247650" y="612287"/>
                </a:cubicBezTo>
                <a:cubicBezTo>
                  <a:pt x="246380" y="641497"/>
                  <a:pt x="245110" y="662452"/>
                  <a:pt x="244475" y="691662"/>
                </a:cubicBezTo>
                <a:cubicBezTo>
                  <a:pt x="243840" y="720872"/>
                  <a:pt x="244475" y="731032"/>
                  <a:pt x="244475" y="758337"/>
                </a:cubicBezTo>
                <a:cubicBezTo>
                  <a:pt x="244475" y="785642"/>
                  <a:pt x="244475" y="800882"/>
                  <a:pt x="244475" y="828187"/>
                </a:cubicBezTo>
                <a:cubicBezTo>
                  <a:pt x="244475" y="855492"/>
                  <a:pt x="244475" y="868192"/>
                  <a:pt x="244475" y="894862"/>
                </a:cubicBezTo>
                <a:cubicBezTo>
                  <a:pt x="244475" y="921532"/>
                  <a:pt x="244475" y="934867"/>
                  <a:pt x="244475" y="961537"/>
                </a:cubicBezTo>
                <a:cubicBezTo>
                  <a:pt x="244475" y="988207"/>
                  <a:pt x="236220" y="1001542"/>
                  <a:pt x="244475" y="1028212"/>
                </a:cubicBezTo>
                <a:cubicBezTo>
                  <a:pt x="252730" y="1054882"/>
                  <a:pt x="264160" y="1073932"/>
                  <a:pt x="285750" y="1094887"/>
                </a:cubicBezTo>
                <a:cubicBezTo>
                  <a:pt x="307340" y="1115842"/>
                  <a:pt x="325755" y="1121557"/>
                  <a:pt x="352425" y="1132987"/>
                </a:cubicBezTo>
                <a:cubicBezTo>
                  <a:pt x="379095" y="1144417"/>
                  <a:pt x="392430" y="1146322"/>
                  <a:pt x="419100" y="1152037"/>
                </a:cubicBezTo>
                <a:cubicBezTo>
                  <a:pt x="445770" y="1157752"/>
                  <a:pt x="473710" y="1160292"/>
                  <a:pt x="485775" y="1161562"/>
                </a:cubicBezTo>
              </a:path>
            </a:pathLst>
          </a:custGeom>
          <a:noFill/>
          <a:ln w="19050">
            <a:solidFill>
              <a:srgbClr val="8B8D8A"/>
            </a:solid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连接符 15"/>
          <p:cNvCxnSpPr/>
          <p:nvPr/>
        </p:nvCxnSpPr>
        <p:spPr>
          <a:xfrm>
            <a:off x="3486150" y="2629535"/>
            <a:ext cx="3175" cy="87312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3171825" y="2800985"/>
            <a:ext cx="317500" cy="317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18" name="直接连接符 17"/>
          <p:cNvCxnSpPr/>
          <p:nvPr/>
        </p:nvCxnSpPr>
        <p:spPr>
          <a:xfrm>
            <a:off x="3165475" y="3066415"/>
            <a:ext cx="330200" cy="0"/>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19" name="直接连接符 18"/>
          <p:cNvCxnSpPr/>
          <p:nvPr/>
        </p:nvCxnSpPr>
        <p:spPr>
          <a:xfrm flipV="1">
            <a:off x="3206750" y="3334385"/>
            <a:ext cx="288925" cy="317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sp>
        <p:nvSpPr>
          <p:cNvPr id="20" name="任意多边形 19"/>
          <p:cNvSpPr/>
          <p:nvPr/>
        </p:nvSpPr>
        <p:spPr>
          <a:xfrm>
            <a:off x="3187700" y="3499485"/>
            <a:ext cx="307975" cy="111125"/>
          </a:xfrm>
          <a:custGeom>
            <a:avLst/>
            <a:gdLst>
              <a:gd name="connisteX0" fmla="*/ 0 w 307975"/>
              <a:gd name="connsiteY0" fmla="*/ 95250 h 95250"/>
              <a:gd name="connisteX1" fmla="*/ 66675 w 307975"/>
              <a:gd name="connsiteY1" fmla="*/ 92075 h 95250"/>
              <a:gd name="connisteX2" fmla="*/ 133350 w 307975"/>
              <a:gd name="connsiteY2" fmla="*/ 92075 h 95250"/>
              <a:gd name="connisteX3" fmla="*/ 200025 w 307975"/>
              <a:gd name="connsiteY3" fmla="*/ 92075 h 95250"/>
              <a:gd name="connisteX4" fmla="*/ 266700 w 307975"/>
              <a:gd name="connsiteY4" fmla="*/ 66675 h 95250"/>
              <a:gd name="connisteX5" fmla="*/ 307975 w 307975"/>
              <a:gd name="connsiteY5" fmla="*/ 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07975" h="95250">
                <a:moveTo>
                  <a:pt x="0" y="95250"/>
                </a:moveTo>
                <a:cubicBezTo>
                  <a:pt x="12065" y="94615"/>
                  <a:pt x="40005" y="92710"/>
                  <a:pt x="66675" y="92075"/>
                </a:cubicBezTo>
                <a:cubicBezTo>
                  <a:pt x="93345" y="91440"/>
                  <a:pt x="106680" y="92075"/>
                  <a:pt x="133350" y="92075"/>
                </a:cubicBezTo>
                <a:cubicBezTo>
                  <a:pt x="160020" y="92075"/>
                  <a:pt x="173355" y="97155"/>
                  <a:pt x="200025" y="92075"/>
                </a:cubicBezTo>
                <a:cubicBezTo>
                  <a:pt x="226695" y="86995"/>
                  <a:pt x="245110" y="85090"/>
                  <a:pt x="266700" y="66675"/>
                </a:cubicBezTo>
                <a:cubicBezTo>
                  <a:pt x="288290" y="48260"/>
                  <a:pt x="300990" y="12700"/>
                  <a:pt x="307975" y="0"/>
                </a:cubicBezTo>
              </a:path>
            </a:pathLst>
          </a:custGeom>
          <a:noFill/>
          <a:ln w="19050">
            <a:solidFill>
              <a:srgbClr val="8B8D8A"/>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1778000" y="2219960"/>
            <a:ext cx="1393825" cy="429895"/>
          </a:xfrm>
          <a:prstGeom prst="rect">
            <a:avLst/>
          </a:prstGeom>
          <a:noFill/>
        </p:spPr>
        <p:txBody>
          <a:bodyPr wrap="square" rtlCol="0">
            <a:spAutoFit/>
          </a:bodyPr>
          <a:p>
            <a:r>
              <a:rPr lang="zh-CN" altLang="en-US" sz="2200" b="1">
                <a:solidFill>
                  <a:srgbClr val="2E5495"/>
                </a:solidFill>
              </a:rPr>
              <a:t>力学特征</a:t>
            </a:r>
            <a:endParaRPr lang="zh-CN" altLang="en-US" sz="2200" b="1">
              <a:solidFill>
                <a:srgbClr val="2E5495"/>
              </a:solidFill>
            </a:endParaRPr>
          </a:p>
        </p:txBody>
      </p:sp>
      <p:cxnSp>
        <p:nvCxnSpPr>
          <p:cNvPr id="24" name="直接连接符 23"/>
          <p:cNvCxnSpPr/>
          <p:nvPr/>
        </p:nvCxnSpPr>
        <p:spPr>
          <a:xfrm flipH="1">
            <a:off x="3251200" y="2318385"/>
            <a:ext cx="60325" cy="149225"/>
          </a:xfrm>
          <a:prstGeom prst="line">
            <a:avLst/>
          </a:prstGeom>
          <a:ln>
            <a:solidFill>
              <a:srgbClr val="3C5069"/>
            </a:solidFill>
          </a:ln>
        </p:spPr>
        <p:style>
          <a:lnRef idx="2">
            <a:schemeClr val="accent1"/>
          </a:lnRef>
          <a:fillRef idx="0">
            <a:srgbClr val="FFFFFF"/>
          </a:fillRef>
          <a:effectRef idx="0">
            <a:srgbClr val="FFFFFF"/>
          </a:effectRef>
          <a:fontRef idx="minor">
            <a:schemeClr val="tx1"/>
          </a:fontRef>
        </p:style>
      </p:cxnSp>
      <p:cxnSp>
        <p:nvCxnSpPr>
          <p:cNvPr id="25" name="直接连接符 24"/>
          <p:cNvCxnSpPr/>
          <p:nvPr/>
        </p:nvCxnSpPr>
        <p:spPr>
          <a:xfrm>
            <a:off x="3248025" y="2467610"/>
            <a:ext cx="219710" cy="65405"/>
          </a:xfrm>
          <a:prstGeom prst="line">
            <a:avLst/>
          </a:prstGeom>
          <a:ln>
            <a:solidFill>
              <a:srgbClr val="3C5069"/>
            </a:solidFill>
          </a:ln>
        </p:spPr>
        <p:style>
          <a:lnRef idx="2">
            <a:schemeClr val="accent1"/>
          </a:lnRef>
          <a:fillRef idx="0">
            <a:srgbClr val="FFFFFF"/>
          </a:fillRef>
          <a:effectRef idx="0">
            <a:srgbClr val="FFFFFF"/>
          </a:effectRef>
          <a:fontRef idx="minor">
            <a:schemeClr val="tx1"/>
          </a:fontRef>
        </p:style>
      </p:cxnSp>
      <p:cxnSp>
        <p:nvCxnSpPr>
          <p:cNvPr id="26" name="直接连接符 25"/>
          <p:cNvCxnSpPr/>
          <p:nvPr/>
        </p:nvCxnSpPr>
        <p:spPr>
          <a:xfrm>
            <a:off x="3314700" y="2312035"/>
            <a:ext cx="76200" cy="53975"/>
          </a:xfrm>
          <a:prstGeom prst="line">
            <a:avLst/>
          </a:prstGeom>
          <a:ln>
            <a:solidFill>
              <a:srgbClr val="3C5069"/>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p:nvPr/>
        </p:nvCxnSpPr>
        <p:spPr>
          <a:xfrm flipV="1">
            <a:off x="3267075" y="2340610"/>
            <a:ext cx="165100" cy="130175"/>
          </a:xfrm>
          <a:prstGeom prst="line">
            <a:avLst/>
          </a:prstGeom>
          <a:ln>
            <a:solidFill>
              <a:srgbClr val="3C5069"/>
            </a:solidFill>
          </a:ln>
        </p:spPr>
        <p:style>
          <a:lnRef idx="2">
            <a:schemeClr val="accent1"/>
          </a:lnRef>
          <a:fillRef idx="0">
            <a:srgbClr val="FFFFFF"/>
          </a:fillRef>
          <a:effectRef idx="0">
            <a:srgbClr val="FFFFFF"/>
          </a:effectRef>
          <a:fontRef idx="minor">
            <a:schemeClr val="tx1"/>
          </a:fontRef>
        </p:style>
      </p:cxnSp>
      <p:cxnSp>
        <p:nvCxnSpPr>
          <p:cNvPr id="28" name="直接连接符 27"/>
          <p:cNvCxnSpPr/>
          <p:nvPr/>
        </p:nvCxnSpPr>
        <p:spPr>
          <a:xfrm flipV="1">
            <a:off x="3270250" y="2366010"/>
            <a:ext cx="263525" cy="95250"/>
          </a:xfrm>
          <a:prstGeom prst="line">
            <a:avLst/>
          </a:prstGeom>
          <a:ln>
            <a:solidFill>
              <a:srgbClr val="3C5069"/>
            </a:solidFill>
          </a:ln>
        </p:spPr>
        <p:style>
          <a:lnRef idx="2">
            <a:schemeClr val="accent1"/>
          </a:lnRef>
          <a:fillRef idx="0">
            <a:srgbClr val="FFFFFF"/>
          </a:fillRef>
          <a:effectRef idx="0">
            <a:srgbClr val="FFFFFF"/>
          </a:effectRef>
          <a:fontRef idx="minor">
            <a:schemeClr val="tx1"/>
          </a:fontRef>
        </p:style>
      </p:cxnSp>
      <p:cxnSp>
        <p:nvCxnSpPr>
          <p:cNvPr id="29" name="直接连接符 28"/>
          <p:cNvCxnSpPr/>
          <p:nvPr/>
        </p:nvCxnSpPr>
        <p:spPr>
          <a:xfrm>
            <a:off x="3432175" y="2337435"/>
            <a:ext cx="50800" cy="4762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31" name="直接连接符 30"/>
          <p:cNvCxnSpPr/>
          <p:nvPr/>
        </p:nvCxnSpPr>
        <p:spPr>
          <a:xfrm>
            <a:off x="3533775" y="2366010"/>
            <a:ext cx="76200" cy="104775"/>
          </a:xfrm>
          <a:prstGeom prst="line">
            <a:avLst/>
          </a:prstGeom>
          <a:ln>
            <a:solidFill>
              <a:srgbClr val="3C5069"/>
            </a:solidFill>
          </a:ln>
        </p:spPr>
        <p:style>
          <a:lnRef idx="2">
            <a:schemeClr val="accent1"/>
          </a:lnRef>
          <a:fillRef idx="0">
            <a:srgbClr val="FFFFFF"/>
          </a:fillRef>
          <a:effectRef idx="0">
            <a:srgbClr val="FFFFFF"/>
          </a:effectRef>
          <a:fontRef idx="minor">
            <a:schemeClr val="tx1"/>
          </a:fontRef>
        </p:style>
      </p:cxnSp>
      <p:cxnSp>
        <p:nvCxnSpPr>
          <p:cNvPr id="32" name="直接连接符 31"/>
          <p:cNvCxnSpPr/>
          <p:nvPr/>
        </p:nvCxnSpPr>
        <p:spPr>
          <a:xfrm flipV="1">
            <a:off x="3450590" y="2473960"/>
            <a:ext cx="159385" cy="67310"/>
          </a:xfrm>
          <a:prstGeom prst="line">
            <a:avLst/>
          </a:prstGeom>
          <a:ln>
            <a:solidFill>
              <a:srgbClr val="3C5069"/>
            </a:solidFill>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1764665" y="2698115"/>
            <a:ext cx="1423035" cy="368300"/>
          </a:xfrm>
          <a:prstGeom prst="rect">
            <a:avLst/>
          </a:prstGeom>
          <a:noFill/>
        </p:spPr>
        <p:txBody>
          <a:bodyPr wrap="square" rtlCol="0">
            <a:spAutoFit/>
          </a:bodyPr>
          <a:p>
            <a:r>
              <a:rPr lang="zh-CN" altLang="en-US"/>
              <a:t>材料</a:t>
            </a:r>
            <a:r>
              <a:rPr lang="zh-CN" altLang="en-US" b="1">
                <a:solidFill>
                  <a:srgbClr val="C00000"/>
                </a:solidFill>
              </a:rPr>
              <a:t>非线性</a:t>
            </a:r>
            <a:endParaRPr lang="zh-CN" altLang="en-US" b="1">
              <a:solidFill>
                <a:srgbClr val="C00000"/>
              </a:solidFill>
            </a:endParaRPr>
          </a:p>
        </p:txBody>
      </p:sp>
      <p:sp>
        <p:nvSpPr>
          <p:cNvPr id="34" name="文本框 33"/>
          <p:cNvSpPr txBox="1"/>
          <p:nvPr/>
        </p:nvSpPr>
        <p:spPr>
          <a:xfrm>
            <a:off x="1764665" y="2934335"/>
            <a:ext cx="1344930" cy="368300"/>
          </a:xfrm>
          <a:prstGeom prst="rect">
            <a:avLst/>
          </a:prstGeom>
          <a:noFill/>
        </p:spPr>
        <p:txBody>
          <a:bodyPr wrap="square" rtlCol="0">
            <a:spAutoFit/>
          </a:bodyPr>
          <a:p>
            <a:r>
              <a:rPr lang="zh-CN" altLang="en-US"/>
              <a:t>几何</a:t>
            </a:r>
            <a:r>
              <a:rPr lang="zh-CN" altLang="en-US" b="1">
                <a:solidFill>
                  <a:srgbClr val="C00000"/>
                </a:solidFill>
              </a:rPr>
              <a:t>非线性</a:t>
            </a:r>
            <a:endParaRPr lang="zh-CN" altLang="en-US" b="1">
              <a:solidFill>
                <a:srgbClr val="C00000"/>
              </a:solidFill>
            </a:endParaRPr>
          </a:p>
        </p:txBody>
      </p:sp>
      <p:sp>
        <p:nvSpPr>
          <p:cNvPr id="35" name="文本框 34"/>
          <p:cNvSpPr txBox="1"/>
          <p:nvPr/>
        </p:nvSpPr>
        <p:spPr>
          <a:xfrm>
            <a:off x="1739265" y="3212465"/>
            <a:ext cx="1426210" cy="368300"/>
          </a:xfrm>
          <a:prstGeom prst="rect">
            <a:avLst/>
          </a:prstGeom>
          <a:noFill/>
        </p:spPr>
        <p:txBody>
          <a:bodyPr wrap="square" rtlCol="0">
            <a:spAutoFit/>
          </a:bodyPr>
          <a:p>
            <a:r>
              <a:rPr lang="zh-CN" altLang="en-US"/>
              <a:t>接触</a:t>
            </a:r>
            <a:r>
              <a:rPr lang="zh-CN" altLang="en-US" b="1">
                <a:solidFill>
                  <a:srgbClr val="C00000"/>
                </a:solidFill>
              </a:rPr>
              <a:t>非线性</a:t>
            </a:r>
            <a:endParaRPr lang="zh-CN" altLang="en-US" b="1">
              <a:solidFill>
                <a:srgbClr val="C00000"/>
              </a:solidFill>
            </a:endParaRPr>
          </a:p>
        </p:txBody>
      </p:sp>
      <p:sp>
        <p:nvSpPr>
          <p:cNvPr id="36" name="文本框 35"/>
          <p:cNvSpPr txBox="1"/>
          <p:nvPr/>
        </p:nvSpPr>
        <p:spPr>
          <a:xfrm>
            <a:off x="1746885" y="3482975"/>
            <a:ext cx="1440815" cy="368300"/>
          </a:xfrm>
          <a:prstGeom prst="rect">
            <a:avLst/>
          </a:prstGeom>
          <a:noFill/>
        </p:spPr>
        <p:txBody>
          <a:bodyPr wrap="square" rtlCol="0">
            <a:spAutoFit/>
          </a:bodyPr>
          <a:p>
            <a:r>
              <a:rPr lang="zh-CN" altLang="en-US" b="1">
                <a:solidFill>
                  <a:srgbClr val="C00000"/>
                </a:solidFill>
              </a:rPr>
              <a:t>预应力</a:t>
            </a:r>
            <a:r>
              <a:rPr lang="zh-CN" altLang="en-US"/>
              <a:t>效应</a:t>
            </a:r>
            <a:endParaRPr lang="zh-CN" altLang="en-US"/>
          </a:p>
        </p:txBody>
      </p:sp>
      <p:sp>
        <p:nvSpPr>
          <p:cNvPr id="37" name="任意多边形 36"/>
          <p:cNvSpPr/>
          <p:nvPr/>
        </p:nvSpPr>
        <p:spPr>
          <a:xfrm>
            <a:off x="1358900" y="4051935"/>
            <a:ext cx="2562225" cy="387350"/>
          </a:xfrm>
          <a:custGeom>
            <a:avLst/>
            <a:gdLst>
              <a:gd name="connsiteX0" fmla="*/ 0 w 4035"/>
              <a:gd name="connsiteY0" fmla="*/ 165 h 610"/>
              <a:gd name="connsiteX1" fmla="*/ 170 w 4035"/>
              <a:gd name="connsiteY1" fmla="*/ 5 h 610"/>
              <a:gd name="connsiteX2" fmla="*/ 3860 w 4035"/>
              <a:gd name="connsiteY2" fmla="*/ 0 h 610"/>
              <a:gd name="connsiteX3" fmla="*/ 4035 w 4035"/>
              <a:gd name="connsiteY3" fmla="*/ 115 h 610"/>
              <a:gd name="connsiteX4" fmla="*/ 4030 w 4035"/>
              <a:gd name="connsiteY4" fmla="*/ 485 h 610"/>
              <a:gd name="connsiteX5" fmla="*/ 3865 w 4035"/>
              <a:gd name="connsiteY5" fmla="*/ 610 h 610"/>
              <a:gd name="connsiteX6" fmla="*/ 180 w 4035"/>
              <a:gd name="connsiteY6" fmla="*/ 610 h 610"/>
              <a:gd name="connsiteX7" fmla="*/ 10 w 4035"/>
              <a:gd name="connsiteY7" fmla="*/ 470 h 610"/>
              <a:gd name="connsiteX8" fmla="*/ 0 w 4035"/>
              <a:gd name="connsiteY8" fmla="*/ 165 h 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35" h="610">
                <a:moveTo>
                  <a:pt x="0" y="165"/>
                </a:moveTo>
                <a:cubicBezTo>
                  <a:pt x="0" y="109"/>
                  <a:pt x="114" y="5"/>
                  <a:pt x="170" y="5"/>
                </a:cubicBezTo>
                <a:lnTo>
                  <a:pt x="3860" y="0"/>
                </a:lnTo>
                <a:cubicBezTo>
                  <a:pt x="3916" y="0"/>
                  <a:pt x="4035" y="59"/>
                  <a:pt x="4035" y="115"/>
                </a:cubicBezTo>
                <a:lnTo>
                  <a:pt x="4030" y="485"/>
                </a:lnTo>
                <a:cubicBezTo>
                  <a:pt x="4030" y="541"/>
                  <a:pt x="3921" y="610"/>
                  <a:pt x="3865" y="610"/>
                </a:cubicBezTo>
                <a:lnTo>
                  <a:pt x="180" y="610"/>
                </a:lnTo>
                <a:cubicBezTo>
                  <a:pt x="124" y="610"/>
                  <a:pt x="10" y="526"/>
                  <a:pt x="10" y="470"/>
                </a:cubicBezTo>
                <a:lnTo>
                  <a:pt x="0" y="165"/>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8" name="文本框 37"/>
          <p:cNvSpPr txBox="1"/>
          <p:nvPr/>
        </p:nvSpPr>
        <p:spPr>
          <a:xfrm>
            <a:off x="1778000" y="4031615"/>
            <a:ext cx="1494790" cy="429895"/>
          </a:xfrm>
          <a:prstGeom prst="rect">
            <a:avLst/>
          </a:prstGeom>
          <a:noFill/>
        </p:spPr>
        <p:txBody>
          <a:bodyPr wrap="square" rtlCol="0">
            <a:spAutoFit/>
          </a:bodyPr>
          <a:p>
            <a:r>
              <a:rPr lang="zh-CN" altLang="en-US" sz="2200" b="1">
                <a:solidFill>
                  <a:srgbClr val="2E5495"/>
                </a:solidFill>
              </a:rPr>
              <a:t>耦合特征</a:t>
            </a:r>
            <a:endParaRPr lang="zh-CN" altLang="en-US" sz="2200" b="1">
              <a:solidFill>
                <a:srgbClr val="2E5495"/>
              </a:solidFill>
            </a:endParaRPr>
          </a:p>
        </p:txBody>
      </p:sp>
      <p:pic>
        <p:nvPicPr>
          <p:cNvPr id="39" name="图片 38" descr="学校"/>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67075" y="4032250"/>
            <a:ext cx="337185" cy="337185"/>
          </a:xfrm>
          <a:prstGeom prst="rect">
            <a:avLst/>
          </a:prstGeom>
        </p:spPr>
      </p:pic>
      <p:sp>
        <p:nvSpPr>
          <p:cNvPr id="43" name="任意多边形 42"/>
          <p:cNvSpPr/>
          <p:nvPr/>
        </p:nvSpPr>
        <p:spPr>
          <a:xfrm>
            <a:off x="3926840" y="3905250"/>
            <a:ext cx="553085" cy="336550"/>
          </a:xfrm>
          <a:custGeom>
            <a:avLst/>
            <a:gdLst>
              <a:gd name="connisteX0" fmla="*/ 0 w 472440"/>
              <a:gd name="connsiteY0" fmla="*/ 321698 h 324799"/>
              <a:gd name="connisteX1" fmla="*/ 66040 w 472440"/>
              <a:gd name="connsiteY1" fmla="*/ 324238 h 324799"/>
              <a:gd name="connisteX2" fmla="*/ 132080 w 472440"/>
              <a:gd name="connsiteY2" fmla="*/ 319158 h 324799"/>
              <a:gd name="connisteX3" fmla="*/ 198120 w 472440"/>
              <a:gd name="connsiteY3" fmla="*/ 278518 h 324799"/>
              <a:gd name="connisteX4" fmla="*/ 241300 w 472440"/>
              <a:gd name="connsiteY4" fmla="*/ 212478 h 324799"/>
              <a:gd name="connisteX5" fmla="*/ 246380 w 472440"/>
              <a:gd name="connsiteY5" fmla="*/ 146438 h 324799"/>
              <a:gd name="connisteX6" fmla="*/ 274320 w 472440"/>
              <a:gd name="connsiteY6" fmla="*/ 80398 h 324799"/>
              <a:gd name="connisteX7" fmla="*/ 340360 w 472440"/>
              <a:gd name="connsiteY7" fmla="*/ 39758 h 324799"/>
              <a:gd name="connisteX8" fmla="*/ 406400 w 472440"/>
              <a:gd name="connsiteY8" fmla="*/ 4198 h 324799"/>
              <a:gd name="connisteX9" fmla="*/ 472440 w 472440"/>
              <a:gd name="connsiteY9" fmla="*/ 1658 h 32479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472440" h="324799">
                <a:moveTo>
                  <a:pt x="0" y="321699"/>
                </a:moveTo>
                <a:cubicBezTo>
                  <a:pt x="12065" y="322334"/>
                  <a:pt x="39370" y="324874"/>
                  <a:pt x="66040" y="324239"/>
                </a:cubicBezTo>
                <a:cubicBezTo>
                  <a:pt x="92710" y="323604"/>
                  <a:pt x="105410" y="328049"/>
                  <a:pt x="132080" y="319159"/>
                </a:cubicBezTo>
                <a:cubicBezTo>
                  <a:pt x="158750" y="310269"/>
                  <a:pt x="176530" y="300109"/>
                  <a:pt x="198120" y="278519"/>
                </a:cubicBezTo>
                <a:cubicBezTo>
                  <a:pt x="219710" y="256929"/>
                  <a:pt x="231775" y="239149"/>
                  <a:pt x="241300" y="212479"/>
                </a:cubicBezTo>
                <a:cubicBezTo>
                  <a:pt x="250825" y="185809"/>
                  <a:pt x="240030" y="173109"/>
                  <a:pt x="246380" y="146439"/>
                </a:cubicBezTo>
                <a:cubicBezTo>
                  <a:pt x="252730" y="119769"/>
                  <a:pt x="255270" y="101989"/>
                  <a:pt x="274320" y="80399"/>
                </a:cubicBezTo>
                <a:cubicBezTo>
                  <a:pt x="293370" y="58809"/>
                  <a:pt x="313690" y="54999"/>
                  <a:pt x="340360" y="39759"/>
                </a:cubicBezTo>
                <a:cubicBezTo>
                  <a:pt x="367030" y="24519"/>
                  <a:pt x="379730" y="11819"/>
                  <a:pt x="406400" y="4199"/>
                </a:cubicBezTo>
                <a:cubicBezTo>
                  <a:pt x="433070" y="-3421"/>
                  <a:pt x="460375" y="1659"/>
                  <a:pt x="472440" y="1659"/>
                </a:cubicBezTo>
              </a:path>
            </a:pathLst>
          </a:custGeom>
          <a:noFill/>
          <a:ln w="19050">
            <a:solidFill>
              <a:srgbClr val="8B8D8A"/>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任意多边形 43"/>
          <p:cNvSpPr/>
          <p:nvPr/>
        </p:nvSpPr>
        <p:spPr>
          <a:xfrm flipH="1">
            <a:off x="7877175" y="2423795"/>
            <a:ext cx="558800" cy="1149350"/>
          </a:xfrm>
          <a:custGeom>
            <a:avLst/>
            <a:gdLst>
              <a:gd name="connisteX0" fmla="*/ 0 w 485775"/>
              <a:gd name="connsiteY0" fmla="*/ 2687 h 1161562"/>
              <a:gd name="connisteX1" fmla="*/ 66675 w 485775"/>
              <a:gd name="connsiteY1" fmla="*/ 2687 h 1161562"/>
              <a:gd name="connisteX2" fmla="*/ 133350 w 485775"/>
              <a:gd name="connsiteY2" fmla="*/ 31262 h 1161562"/>
              <a:gd name="connisteX3" fmla="*/ 200025 w 485775"/>
              <a:gd name="connsiteY3" fmla="*/ 78887 h 1161562"/>
              <a:gd name="connisteX4" fmla="*/ 231775 w 485775"/>
              <a:gd name="connsiteY4" fmla="*/ 145562 h 1161562"/>
              <a:gd name="connisteX5" fmla="*/ 247650 w 485775"/>
              <a:gd name="connsiteY5" fmla="*/ 212237 h 1161562"/>
              <a:gd name="connisteX6" fmla="*/ 250825 w 485775"/>
              <a:gd name="connsiteY6" fmla="*/ 278912 h 1161562"/>
              <a:gd name="connisteX7" fmla="*/ 250825 w 485775"/>
              <a:gd name="connsiteY7" fmla="*/ 345587 h 1161562"/>
              <a:gd name="connisteX8" fmla="*/ 250825 w 485775"/>
              <a:gd name="connsiteY8" fmla="*/ 412262 h 1161562"/>
              <a:gd name="connisteX9" fmla="*/ 250825 w 485775"/>
              <a:gd name="connsiteY9" fmla="*/ 478937 h 1161562"/>
              <a:gd name="connisteX10" fmla="*/ 250825 w 485775"/>
              <a:gd name="connsiteY10" fmla="*/ 545612 h 1161562"/>
              <a:gd name="connisteX11" fmla="*/ 247650 w 485775"/>
              <a:gd name="connsiteY11" fmla="*/ 612287 h 1161562"/>
              <a:gd name="connisteX12" fmla="*/ 244475 w 485775"/>
              <a:gd name="connsiteY12" fmla="*/ 691662 h 1161562"/>
              <a:gd name="connisteX13" fmla="*/ 244475 w 485775"/>
              <a:gd name="connsiteY13" fmla="*/ 758337 h 1161562"/>
              <a:gd name="connisteX14" fmla="*/ 244475 w 485775"/>
              <a:gd name="connsiteY14" fmla="*/ 828187 h 1161562"/>
              <a:gd name="connisteX15" fmla="*/ 244475 w 485775"/>
              <a:gd name="connsiteY15" fmla="*/ 894862 h 1161562"/>
              <a:gd name="connisteX16" fmla="*/ 244475 w 485775"/>
              <a:gd name="connsiteY16" fmla="*/ 961537 h 1161562"/>
              <a:gd name="connisteX17" fmla="*/ 244475 w 485775"/>
              <a:gd name="connsiteY17" fmla="*/ 1028212 h 1161562"/>
              <a:gd name="connisteX18" fmla="*/ 285750 w 485775"/>
              <a:gd name="connsiteY18" fmla="*/ 1094887 h 1161562"/>
              <a:gd name="connisteX19" fmla="*/ 352425 w 485775"/>
              <a:gd name="connsiteY19" fmla="*/ 1132987 h 1161562"/>
              <a:gd name="connisteX20" fmla="*/ 419100 w 485775"/>
              <a:gd name="connsiteY20" fmla="*/ 1152037 h 1161562"/>
              <a:gd name="connisteX21" fmla="*/ 485775 w 485775"/>
              <a:gd name="connsiteY21" fmla="*/ 1161562 h 116156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Lst>
            <a:rect l="l" t="t" r="r" b="b"/>
            <a:pathLst>
              <a:path w="485775" h="1161562">
                <a:moveTo>
                  <a:pt x="0" y="2687"/>
                </a:moveTo>
                <a:cubicBezTo>
                  <a:pt x="12065" y="2052"/>
                  <a:pt x="40005" y="-3028"/>
                  <a:pt x="66675" y="2687"/>
                </a:cubicBezTo>
                <a:cubicBezTo>
                  <a:pt x="93345" y="8402"/>
                  <a:pt x="106680" y="16022"/>
                  <a:pt x="133350" y="31262"/>
                </a:cubicBezTo>
                <a:cubicBezTo>
                  <a:pt x="160020" y="46502"/>
                  <a:pt x="180340" y="56027"/>
                  <a:pt x="200025" y="78887"/>
                </a:cubicBezTo>
                <a:cubicBezTo>
                  <a:pt x="219710" y="101747"/>
                  <a:pt x="222250" y="118892"/>
                  <a:pt x="231775" y="145562"/>
                </a:cubicBezTo>
                <a:cubicBezTo>
                  <a:pt x="241300" y="172232"/>
                  <a:pt x="243840" y="185567"/>
                  <a:pt x="247650" y="212237"/>
                </a:cubicBezTo>
                <a:cubicBezTo>
                  <a:pt x="251460" y="238907"/>
                  <a:pt x="250190" y="252242"/>
                  <a:pt x="250825" y="278912"/>
                </a:cubicBezTo>
                <a:cubicBezTo>
                  <a:pt x="251460" y="305582"/>
                  <a:pt x="250825" y="318917"/>
                  <a:pt x="250825" y="345587"/>
                </a:cubicBezTo>
                <a:cubicBezTo>
                  <a:pt x="250825" y="372257"/>
                  <a:pt x="250825" y="385592"/>
                  <a:pt x="250825" y="412262"/>
                </a:cubicBezTo>
                <a:cubicBezTo>
                  <a:pt x="250825" y="438932"/>
                  <a:pt x="250825" y="452267"/>
                  <a:pt x="250825" y="478937"/>
                </a:cubicBezTo>
                <a:cubicBezTo>
                  <a:pt x="250825" y="505607"/>
                  <a:pt x="251460" y="518942"/>
                  <a:pt x="250825" y="545612"/>
                </a:cubicBezTo>
                <a:cubicBezTo>
                  <a:pt x="250190" y="572282"/>
                  <a:pt x="248920" y="583077"/>
                  <a:pt x="247650" y="612287"/>
                </a:cubicBezTo>
                <a:cubicBezTo>
                  <a:pt x="246380" y="641497"/>
                  <a:pt x="245110" y="662452"/>
                  <a:pt x="244475" y="691662"/>
                </a:cubicBezTo>
                <a:cubicBezTo>
                  <a:pt x="243840" y="720872"/>
                  <a:pt x="244475" y="731032"/>
                  <a:pt x="244475" y="758337"/>
                </a:cubicBezTo>
                <a:cubicBezTo>
                  <a:pt x="244475" y="785642"/>
                  <a:pt x="244475" y="800882"/>
                  <a:pt x="244475" y="828187"/>
                </a:cubicBezTo>
                <a:cubicBezTo>
                  <a:pt x="244475" y="855492"/>
                  <a:pt x="244475" y="868192"/>
                  <a:pt x="244475" y="894862"/>
                </a:cubicBezTo>
                <a:cubicBezTo>
                  <a:pt x="244475" y="921532"/>
                  <a:pt x="244475" y="934867"/>
                  <a:pt x="244475" y="961537"/>
                </a:cubicBezTo>
                <a:cubicBezTo>
                  <a:pt x="244475" y="988207"/>
                  <a:pt x="236220" y="1001542"/>
                  <a:pt x="244475" y="1028212"/>
                </a:cubicBezTo>
                <a:cubicBezTo>
                  <a:pt x="252730" y="1054882"/>
                  <a:pt x="264160" y="1073932"/>
                  <a:pt x="285750" y="1094887"/>
                </a:cubicBezTo>
                <a:cubicBezTo>
                  <a:pt x="307340" y="1115842"/>
                  <a:pt x="325755" y="1121557"/>
                  <a:pt x="352425" y="1132987"/>
                </a:cubicBezTo>
                <a:cubicBezTo>
                  <a:pt x="379095" y="1144417"/>
                  <a:pt x="392430" y="1146322"/>
                  <a:pt x="419100" y="1152037"/>
                </a:cubicBezTo>
                <a:cubicBezTo>
                  <a:pt x="445770" y="1157752"/>
                  <a:pt x="473710" y="1160292"/>
                  <a:pt x="485775" y="1161562"/>
                </a:cubicBezTo>
              </a:path>
            </a:pathLst>
          </a:custGeom>
          <a:noFill/>
          <a:ln w="19050">
            <a:solidFill>
              <a:srgbClr val="8B8D8A"/>
            </a:solidFill>
            <a:prstDash val="dash"/>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任意多边形 44"/>
          <p:cNvSpPr/>
          <p:nvPr/>
        </p:nvSpPr>
        <p:spPr>
          <a:xfrm flipH="1">
            <a:off x="7877175" y="4175125"/>
            <a:ext cx="524510" cy="336550"/>
          </a:xfrm>
          <a:custGeom>
            <a:avLst/>
            <a:gdLst>
              <a:gd name="connisteX0" fmla="*/ 0 w 472440"/>
              <a:gd name="connsiteY0" fmla="*/ 321698 h 324799"/>
              <a:gd name="connisteX1" fmla="*/ 66040 w 472440"/>
              <a:gd name="connsiteY1" fmla="*/ 324238 h 324799"/>
              <a:gd name="connisteX2" fmla="*/ 132080 w 472440"/>
              <a:gd name="connsiteY2" fmla="*/ 319158 h 324799"/>
              <a:gd name="connisteX3" fmla="*/ 198120 w 472440"/>
              <a:gd name="connsiteY3" fmla="*/ 278518 h 324799"/>
              <a:gd name="connisteX4" fmla="*/ 241300 w 472440"/>
              <a:gd name="connsiteY4" fmla="*/ 212478 h 324799"/>
              <a:gd name="connisteX5" fmla="*/ 246380 w 472440"/>
              <a:gd name="connsiteY5" fmla="*/ 146438 h 324799"/>
              <a:gd name="connisteX6" fmla="*/ 274320 w 472440"/>
              <a:gd name="connsiteY6" fmla="*/ 80398 h 324799"/>
              <a:gd name="connisteX7" fmla="*/ 340360 w 472440"/>
              <a:gd name="connsiteY7" fmla="*/ 39758 h 324799"/>
              <a:gd name="connisteX8" fmla="*/ 406400 w 472440"/>
              <a:gd name="connsiteY8" fmla="*/ 4198 h 324799"/>
              <a:gd name="connisteX9" fmla="*/ 472440 w 472440"/>
              <a:gd name="connsiteY9" fmla="*/ 1658 h 32479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472440" h="324799">
                <a:moveTo>
                  <a:pt x="0" y="321699"/>
                </a:moveTo>
                <a:cubicBezTo>
                  <a:pt x="12065" y="322334"/>
                  <a:pt x="39370" y="324874"/>
                  <a:pt x="66040" y="324239"/>
                </a:cubicBezTo>
                <a:cubicBezTo>
                  <a:pt x="92710" y="323604"/>
                  <a:pt x="105410" y="328049"/>
                  <a:pt x="132080" y="319159"/>
                </a:cubicBezTo>
                <a:cubicBezTo>
                  <a:pt x="158750" y="310269"/>
                  <a:pt x="176530" y="300109"/>
                  <a:pt x="198120" y="278519"/>
                </a:cubicBezTo>
                <a:cubicBezTo>
                  <a:pt x="219710" y="256929"/>
                  <a:pt x="231775" y="239149"/>
                  <a:pt x="241300" y="212479"/>
                </a:cubicBezTo>
                <a:cubicBezTo>
                  <a:pt x="250825" y="185809"/>
                  <a:pt x="240030" y="173109"/>
                  <a:pt x="246380" y="146439"/>
                </a:cubicBezTo>
                <a:cubicBezTo>
                  <a:pt x="252730" y="119769"/>
                  <a:pt x="255270" y="101989"/>
                  <a:pt x="274320" y="80399"/>
                </a:cubicBezTo>
                <a:cubicBezTo>
                  <a:pt x="293370" y="58809"/>
                  <a:pt x="313690" y="54999"/>
                  <a:pt x="340360" y="39759"/>
                </a:cubicBezTo>
                <a:cubicBezTo>
                  <a:pt x="367030" y="24519"/>
                  <a:pt x="379730" y="11819"/>
                  <a:pt x="406400" y="4199"/>
                </a:cubicBezTo>
                <a:cubicBezTo>
                  <a:pt x="433070" y="-3421"/>
                  <a:pt x="460375" y="1659"/>
                  <a:pt x="472440" y="1659"/>
                </a:cubicBezTo>
              </a:path>
            </a:pathLst>
          </a:custGeom>
          <a:noFill/>
          <a:ln w="19050">
            <a:solidFill>
              <a:srgbClr val="8B8D8A"/>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6" name="直接连接符 45"/>
          <p:cNvCxnSpPr/>
          <p:nvPr/>
        </p:nvCxnSpPr>
        <p:spPr>
          <a:xfrm>
            <a:off x="3486150" y="4450080"/>
            <a:ext cx="6350" cy="596900"/>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47" name="直接连接符 46"/>
          <p:cNvCxnSpPr/>
          <p:nvPr/>
        </p:nvCxnSpPr>
        <p:spPr>
          <a:xfrm>
            <a:off x="3162300" y="4707255"/>
            <a:ext cx="323850" cy="317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sp>
        <p:nvSpPr>
          <p:cNvPr id="48" name="任意多边形 47"/>
          <p:cNvSpPr/>
          <p:nvPr/>
        </p:nvSpPr>
        <p:spPr>
          <a:xfrm>
            <a:off x="3159125" y="5027930"/>
            <a:ext cx="342265" cy="137795"/>
          </a:xfrm>
          <a:custGeom>
            <a:avLst/>
            <a:gdLst>
              <a:gd name="connisteX0" fmla="*/ 0 w 342049"/>
              <a:gd name="connsiteY0" fmla="*/ 133350 h 137478"/>
              <a:gd name="connisteX1" fmla="*/ 66675 w 342049"/>
              <a:gd name="connsiteY1" fmla="*/ 133350 h 137478"/>
              <a:gd name="connisteX2" fmla="*/ 133350 w 342049"/>
              <a:gd name="connsiteY2" fmla="*/ 133350 h 137478"/>
              <a:gd name="connisteX3" fmla="*/ 200025 w 342049"/>
              <a:gd name="connsiteY3" fmla="*/ 136525 h 137478"/>
              <a:gd name="connisteX4" fmla="*/ 266700 w 342049"/>
              <a:gd name="connsiteY4" fmla="*/ 117475 h 137478"/>
              <a:gd name="connisteX5" fmla="*/ 333375 w 342049"/>
              <a:gd name="connsiteY5" fmla="*/ 66675 h 137478"/>
              <a:gd name="connisteX6" fmla="*/ 339725 w 342049"/>
              <a:gd name="connsiteY6" fmla="*/ 0 h 13747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342049" h="137479">
                <a:moveTo>
                  <a:pt x="0" y="133350"/>
                </a:moveTo>
                <a:cubicBezTo>
                  <a:pt x="12065" y="133350"/>
                  <a:pt x="40005" y="133350"/>
                  <a:pt x="66675" y="133350"/>
                </a:cubicBezTo>
                <a:cubicBezTo>
                  <a:pt x="93345" y="133350"/>
                  <a:pt x="106680" y="132715"/>
                  <a:pt x="133350" y="133350"/>
                </a:cubicBezTo>
                <a:cubicBezTo>
                  <a:pt x="160020" y="133985"/>
                  <a:pt x="173355" y="139700"/>
                  <a:pt x="200025" y="136525"/>
                </a:cubicBezTo>
                <a:cubicBezTo>
                  <a:pt x="226695" y="133350"/>
                  <a:pt x="240030" y="131445"/>
                  <a:pt x="266700" y="117475"/>
                </a:cubicBezTo>
                <a:cubicBezTo>
                  <a:pt x="293370" y="103505"/>
                  <a:pt x="318770" y="90170"/>
                  <a:pt x="333375" y="66675"/>
                </a:cubicBezTo>
                <a:cubicBezTo>
                  <a:pt x="347980" y="43180"/>
                  <a:pt x="339725" y="12065"/>
                  <a:pt x="339725" y="0"/>
                </a:cubicBezTo>
              </a:path>
            </a:pathLst>
          </a:custGeom>
          <a:noFill/>
          <a:ln w="19050">
            <a:solidFill>
              <a:srgbClr val="8B8D8A"/>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文本框 48"/>
          <p:cNvSpPr txBox="1"/>
          <p:nvPr/>
        </p:nvSpPr>
        <p:spPr>
          <a:xfrm>
            <a:off x="1399540" y="4557395"/>
            <a:ext cx="1873250" cy="352425"/>
          </a:xfrm>
          <a:prstGeom prst="rect">
            <a:avLst/>
          </a:prstGeom>
          <a:noFill/>
        </p:spPr>
        <p:txBody>
          <a:bodyPr wrap="square" rtlCol="0">
            <a:spAutoFit/>
          </a:bodyPr>
          <a:p>
            <a:r>
              <a:rPr lang="zh-CN" altLang="en-US" sz="1700"/>
              <a:t>风场与桨叶耦合</a:t>
            </a:r>
            <a:endParaRPr lang="zh-CN" altLang="en-US" sz="1700"/>
          </a:p>
        </p:txBody>
      </p:sp>
      <p:sp>
        <p:nvSpPr>
          <p:cNvPr id="50" name="文本框 49"/>
          <p:cNvSpPr txBox="1"/>
          <p:nvPr/>
        </p:nvSpPr>
        <p:spPr>
          <a:xfrm>
            <a:off x="1409700" y="4890770"/>
            <a:ext cx="1797050" cy="645160"/>
          </a:xfrm>
          <a:prstGeom prst="rect">
            <a:avLst/>
          </a:prstGeom>
          <a:noFill/>
        </p:spPr>
        <p:txBody>
          <a:bodyPr wrap="square" rtlCol="0">
            <a:spAutoFit/>
          </a:bodyPr>
          <a:p>
            <a:pPr algn="ctr"/>
            <a:r>
              <a:rPr lang="zh-CN" altLang="en-US" b="1">
                <a:solidFill>
                  <a:srgbClr val="C00000"/>
                </a:solidFill>
                <a:latin typeface="微软雅黑" panose="020B0503020204020204" charset="-122"/>
                <a:ea typeface="微软雅黑" panose="020B0503020204020204" charset="-122"/>
                <a:cs typeface="微软雅黑" panose="020B0503020204020204" charset="-122"/>
              </a:rPr>
              <a:t>桨叶</a:t>
            </a:r>
            <a:r>
              <a:rPr lang="en-US" altLang="zh-CN" b="1">
                <a:solidFill>
                  <a:srgbClr val="C00000"/>
                </a:solidFill>
                <a:latin typeface="微软雅黑" panose="020B0503020204020204" charset="-122"/>
                <a:ea typeface="微软雅黑" panose="020B0503020204020204" charset="-122"/>
                <a:cs typeface="微软雅黑" panose="020B0503020204020204" charset="-122"/>
              </a:rPr>
              <a:t>-</a:t>
            </a:r>
            <a:r>
              <a:rPr lang="zh-CN" altLang="en-US" b="1">
                <a:solidFill>
                  <a:srgbClr val="C00000"/>
                </a:solidFill>
                <a:latin typeface="微软雅黑" panose="020B0503020204020204" charset="-122"/>
                <a:ea typeface="微软雅黑" panose="020B0503020204020204" charset="-122"/>
                <a:cs typeface="微软雅黑" panose="020B0503020204020204" charset="-122"/>
              </a:rPr>
              <a:t>伺服控制</a:t>
            </a:r>
            <a:r>
              <a:rPr lang="en-US" altLang="zh-CN" b="1">
                <a:solidFill>
                  <a:srgbClr val="C00000"/>
                </a:solidFill>
                <a:latin typeface="微软雅黑" panose="020B0503020204020204" charset="-122"/>
                <a:ea typeface="微软雅黑" panose="020B0503020204020204" charset="-122"/>
                <a:cs typeface="微软雅黑" panose="020B0503020204020204" charset="-122"/>
              </a:rPr>
              <a:t>               </a:t>
            </a:r>
            <a:r>
              <a:rPr lang="zh-CN" altLang="en-US" b="1">
                <a:solidFill>
                  <a:srgbClr val="C00000"/>
                </a:solidFill>
                <a:latin typeface="微软雅黑" panose="020B0503020204020204" charset="-122"/>
                <a:ea typeface="微软雅黑" panose="020B0503020204020204" charset="-122"/>
                <a:cs typeface="微软雅黑" panose="020B0503020204020204" charset="-122"/>
              </a:rPr>
              <a:t>和塔架耦合</a:t>
            </a:r>
            <a:endParaRPr lang="zh-CN" altLang="en-US"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51" name="任意多边形 50"/>
          <p:cNvSpPr/>
          <p:nvPr/>
        </p:nvSpPr>
        <p:spPr>
          <a:xfrm>
            <a:off x="4883150" y="5433060"/>
            <a:ext cx="2605405" cy="387350"/>
          </a:xfrm>
          <a:custGeom>
            <a:avLst/>
            <a:gdLst>
              <a:gd name="connsiteX0" fmla="*/ 0 w 4035"/>
              <a:gd name="connsiteY0" fmla="*/ 165 h 610"/>
              <a:gd name="connsiteX1" fmla="*/ 170 w 4035"/>
              <a:gd name="connsiteY1" fmla="*/ 5 h 610"/>
              <a:gd name="connsiteX2" fmla="*/ 3860 w 4035"/>
              <a:gd name="connsiteY2" fmla="*/ 0 h 610"/>
              <a:gd name="connsiteX3" fmla="*/ 4035 w 4035"/>
              <a:gd name="connsiteY3" fmla="*/ 115 h 610"/>
              <a:gd name="connsiteX4" fmla="*/ 4030 w 4035"/>
              <a:gd name="connsiteY4" fmla="*/ 485 h 610"/>
              <a:gd name="connsiteX5" fmla="*/ 3865 w 4035"/>
              <a:gd name="connsiteY5" fmla="*/ 610 h 610"/>
              <a:gd name="connsiteX6" fmla="*/ 180 w 4035"/>
              <a:gd name="connsiteY6" fmla="*/ 610 h 610"/>
              <a:gd name="connsiteX7" fmla="*/ 10 w 4035"/>
              <a:gd name="connsiteY7" fmla="*/ 470 h 610"/>
              <a:gd name="connsiteX8" fmla="*/ 0 w 4035"/>
              <a:gd name="connsiteY8" fmla="*/ 165 h 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35" h="610">
                <a:moveTo>
                  <a:pt x="0" y="165"/>
                </a:moveTo>
                <a:cubicBezTo>
                  <a:pt x="0" y="109"/>
                  <a:pt x="114" y="5"/>
                  <a:pt x="170" y="5"/>
                </a:cubicBezTo>
                <a:lnTo>
                  <a:pt x="3860" y="0"/>
                </a:lnTo>
                <a:cubicBezTo>
                  <a:pt x="3916" y="0"/>
                  <a:pt x="4035" y="59"/>
                  <a:pt x="4035" y="115"/>
                </a:cubicBezTo>
                <a:lnTo>
                  <a:pt x="4030" y="485"/>
                </a:lnTo>
                <a:cubicBezTo>
                  <a:pt x="4030" y="541"/>
                  <a:pt x="3921" y="610"/>
                  <a:pt x="3865" y="610"/>
                </a:cubicBezTo>
                <a:lnTo>
                  <a:pt x="180" y="610"/>
                </a:lnTo>
                <a:cubicBezTo>
                  <a:pt x="124" y="610"/>
                  <a:pt x="10" y="526"/>
                  <a:pt x="10" y="470"/>
                </a:cubicBezTo>
                <a:lnTo>
                  <a:pt x="0" y="165"/>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52" name="直接连接符 51"/>
          <p:cNvCxnSpPr/>
          <p:nvPr/>
        </p:nvCxnSpPr>
        <p:spPr>
          <a:xfrm>
            <a:off x="6099175" y="4768850"/>
            <a:ext cx="19685" cy="66865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53" name="直接连接符 52"/>
          <p:cNvCxnSpPr/>
          <p:nvPr/>
        </p:nvCxnSpPr>
        <p:spPr>
          <a:xfrm>
            <a:off x="5321935" y="5833745"/>
            <a:ext cx="6350" cy="36512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54" name="直接连接符 53"/>
          <p:cNvCxnSpPr/>
          <p:nvPr/>
        </p:nvCxnSpPr>
        <p:spPr>
          <a:xfrm>
            <a:off x="5325110" y="6008370"/>
            <a:ext cx="320675" cy="0"/>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sp>
        <p:nvSpPr>
          <p:cNvPr id="55" name="任意多边形 54"/>
          <p:cNvSpPr/>
          <p:nvPr/>
        </p:nvSpPr>
        <p:spPr>
          <a:xfrm>
            <a:off x="5324475" y="6202045"/>
            <a:ext cx="321310" cy="76200"/>
          </a:xfrm>
          <a:custGeom>
            <a:avLst/>
            <a:gdLst>
              <a:gd name="connisteX0" fmla="*/ 0 w 273050"/>
              <a:gd name="connsiteY0" fmla="*/ 0 h 74153"/>
              <a:gd name="connisteX1" fmla="*/ 73025 w 273050"/>
              <a:gd name="connsiteY1" fmla="*/ 60325 h 74153"/>
              <a:gd name="connisteX2" fmla="*/ 139700 w 273050"/>
              <a:gd name="connsiteY2" fmla="*/ 73025 h 74153"/>
              <a:gd name="connisteX3" fmla="*/ 206375 w 273050"/>
              <a:gd name="connsiteY3" fmla="*/ 73025 h 74153"/>
              <a:gd name="connisteX4" fmla="*/ 273050 w 273050"/>
              <a:gd name="connsiteY4" fmla="*/ 73025 h 74153"/>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273050" h="74154">
                <a:moveTo>
                  <a:pt x="0" y="0"/>
                </a:moveTo>
                <a:cubicBezTo>
                  <a:pt x="13335" y="12065"/>
                  <a:pt x="45085" y="45720"/>
                  <a:pt x="73025" y="60325"/>
                </a:cubicBezTo>
                <a:cubicBezTo>
                  <a:pt x="100965" y="74930"/>
                  <a:pt x="113030" y="70485"/>
                  <a:pt x="139700" y="73025"/>
                </a:cubicBezTo>
                <a:cubicBezTo>
                  <a:pt x="166370" y="75565"/>
                  <a:pt x="179705" y="73025"/>
                  <a:pt x="206375" y="73025"/>
                </a:cubicBezTo>
                <a:cubicBezTo>
                  <a:pt x="233045" y="73025"/>
                  <a:pt x="260985" y="73025"/>
                  <a:pt x="273050" y="73025"/>
                </a:cubicBezTo>
              </a:path>
            </a:pathLst>
          </a:custGeom>
          <a:noFill/>
          <a:ln w="19050">
            <a:solidFill>
              <a:srgbClr val="8B8D8A"/>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6" name="文本框 55"/>
          <p:cNvSpPr txBox="1"/>
          <p:nvPr/>
        </p:nvSpPr>
        <p:spPr>
          <a:xfrm>
            <a:off x="5671185" y="5820410"/>
            <a:ext cx="1625600" cy="368300"/>
          </a:xfrm>
          <a:prstGeom prst="rect">
            <a:avLst/>
          </a:prstGeom>
          <a:noFill/>
        </p:spPr>
        <p:txBody>
          <a:bodyPr wrap="square" rtlCol="0">
            <a:spAutoFit/>
          </a:bodyPr>
          <a:p>
            <a:r>
              <a:rPr lang="zh-CN" altLang="en-US">
                <a:solidFill>
                  <a:schemeClr val="tx1"/>
                </a:solidFill>
              </a:rPr>
              <a:t>叶片旋转效应</a:t>
            </a:r>
            <a:endParaRPr lang="zh-CN" altLang="en-US">
              <a:solidFill>
                <a:schemeClr val="tx1"/>
              </a:solidFill>
            </a:endParaRPr>
          </a:p>
        </p:txBody>
      </p:sp>
      <p:sp>
        <p:nvSpPr>
          <p:cNvPr id="57" name="文本框 56"/>
          <p:cNvSpPr txBox="1"/>
          <p:nvPr/>
        </p:nvSpPr>
        <p:spPr>
          <a:xfrm>
            <a:off x="5671185" y="6109970"/>
            <a:ext cx="2654300" cy="352425"/>
          </a:xfrm>
          <a:prstGeom prst="rect">
            <a:avLst/>
          </a:prstGeom>
          <a:noFill/>
        </p:spPr>
        <p:txBody>
          <a:bodyPr wrap="square" rtlCol="0">
            <a:spAutoFit/>
          </a:bodyPr>
          <a:p>
            <a:r>
              <a:rPr lang="zh-CN" altLang="en-US" sz="1700">
                <a:solidFill>
                  <a:schemeClr val="tx1"/>
                </a:solidFill>
              </a:rPr>
              <a:t>自重大，对地震作用敏感</a:t>
            </a:r>
            <a:endParaRPr lang="zh-CN" altLang="en-US" sz="1700">
              <a:solidFill>
                <a:schemeClr val="tx1"/>
              </a:solidFill>
            </a:endParaRPr>
          </a:p>
        </p:txBody>
      </p:sp>
      <p:sp>
        <p:nvSpPr>
          <p:cNvPr id="58" name="任意多边形 57"/>
          <p:cNvSpPr/>
          <p:nvPr/>
        </p:nvSpPr>
        <p:spPr>
          <a:xfrm>
            <a:off x="8435975" y="2232660"/>
            <a:ext cx="2605405" cy="387350"/>
          </a:xfrm>
          <a:custGeom>
            <a:avLst/>
            <a:gdLst>
              <a:gd name="connsiteX0" fmla="*/ 0 w 4035"/>
              <a:gd name="connsiteY0" fmla="*/ 165 h 610"/>
              <a:gd name="connsiteX1" fmla="*/ 170 w 4035"/>
              <a:gd name="connsiteY1" fmla="*/ 5 h 610"/>
              <a:gd name="connsiteX2" fmla="*/ 3860 w 4035"/>
              <a:gd name="connsiteY2" fmla="*/ 0 h 610"/>
              <a:gd name="connsiteX3" fmla="*/ 4035 w 4035"/>
              <a:gd name="connsiteY3" fmla="*/ 115 h 610"/>
              <a:gd name="connsiteX4" fmla="*/ 4030 w 4035"/>
              <a:gd name="connsiteY4" fmla="*/ 485 h 610"/>
              <a:gd name="connsiteX5" fmla="*/ 3865 w 4035"/>
              <a:gd name="connsiteY5" fmla="*/ 610 h 610"/>
              <a:gd name="connsiteX6" fmla="*/ 180 w 4035"/>
              <a:gd name="connsiteY6" fmla="*/ 610 h 610"/>
              <a:gd name="connsiteX7" fmla="*/ 10 w 4035"/>
              <a:gd name="connsiteY7" fmla="*/ 470 h 610"/>
              <a:gd name="connsiteX8" fmla="*/ 0 w 4035"/>
              <a:gd name="connsiteY8" fmla="*/ 165 h 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35" h="610">
                <a:moveTo>
                  <a:pt x="0" y="165"/>
                </a:moveTo>
                <a:cubicBezTo>
                  <a:pt x="0" y="109"/>
                  <a:pt x="114" y="5"/>
                  <a:pt x="170" y="5"/>
                </a:cubicBezTo>
                <a:lnTo>
                  <a:pt x="3860" y="0"/>
                </a:lnTo>
                <a:cubicBezTo>
                  <a:pt x="3916" y="0"/>
                  <a:pt x="4035" y="59"/>
                  <a:pt x="4035" y="115"/>
                </a:cubicBezTo>
                <a:lnTo>
                  <a:pt x="4030" y="485"/>
                </a:lnTo>
                <a:cubicBezTo>
                  <a:pt x="4030" y="541"/>
                  <a:pt x="3921" y="610"/>
                  <a:pt x="3865" y="610"/>
                </a:cubicBezTo>
                <a:lnTo>
                  <a:pt x="180" y="610"/>
                </a:lnTo>
                <a:cubicBezTo>
                  <a:pt x="124" y="610"/>
                  <a:pt x="10" y="526"/>
                  <a:pt x="10" y="470"/>
                </a:cubicBezTo>
                <a:lnTo>
                  <a:pt x="0" y="165"/>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9" name="任意多边形 58"/>
          <p:cNvSpPr/>
          <p:nvPr/>
        </p:nvSpPr>
        <p:spPr>
          <a:xfrm>
            <a:off x="8371840" y="4319905"/>
            <a:ext cx="2605405" cy="387350"/>
          </a:xfrm>
          <a:custGeom>
            <a:avLst/>
            <a:gdLst>
              <a:gd name="connsiteX0" fmla="*/ 0 w 4035"/>
              <a:gd name="connsiteY0" fmla="*/ 165 h 610"/>
              <a:gd name="connsiteX1" fmla="*/ 170 w 4035"/>
              <a:gd name="connsiteY1" fmla="*/ 5 h 610"/>
              <a:gd name="connsiteX2" fmla="*/ 3860 w 4035"/>
              <a:gd name="connsiteY2" fmla="*/ 0 h 610"/>
              <a:gd name="connsiteX3" fmla="*/ 4035 w 4035"/>
              <a:gd name="connsiteY3" fmla="*/ 115 h 610"/>
              <a:gd name="connsiteX4" fmla="*/ 4030 w 4035"/>
              <a:gd name="connsiteY4" fmla="*/ 485 h 610"/>
              <a:gd name="connsiteX5" fmla="*/ 3865 w 4035"/>
              <a:gd name="connsiteY5" fmla="*/ 610 h 610"/>
              <a:gd name="connsiteX6" fmla="*/ 180 w 4035"/>
              <a:gd name="connsiteY6" fmla="*/ 610 h 610"/>
              <a:gd name="connsiteX7" fmla="*/ 10 w 4035"/>
              <a:gd name="connsiteY7" fmla="*/ 470 h 610"/>
              <a:gd name="connsiteX8" fmla="*/ 0 w 4035"/>
              <a:gd name="connsiteY8" fmla="*/ 165 h 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35" h="610">
                <a:moveTo>
                  <a:pt x="0" y="165"/>
                </a:moveTo>
                <a:cubicBezTo>
                  <a:pt x="0" y="109"/>
                  <a:pt x="114" y="5"/>
                  <a:pt x="170" y="5"/>
                </a:cubicBezTo>
                <a:lnTo>
                  <a:pt x="3860" y="0"/>
                </a:lnTo>
                <a:cubicBezTo>
                  <a:pt x="3916" y="0"/>
                  <a:pt x="4035" y="59"/>
                  <a:pt x="4035" y="115"/>
                </a:cubicBezTo>
                <a:lnTo>
                  <a:pt x="4030" y="485"/>
                </a:lnTo>
                <a:cubicBezTo>
                  <a:pt x="4030" y="541"/>
                  <a:pt x="3921" y="610"/>
                  <a:pt x="3865" y="610"/>
                </a:cubicBezTo>
                <a:lnTo>
                  <a:pt x="180" y="610"/>
                </a:lnTo>
                <a:cubicBezTo>
                  <a:pt x="124" y="610"/>
                  <a:pt x="10" y="526"/>
                  <a:pt x="10" y="470"/>
                </a:cubicBezTo>
                <a:lnTo>
                  <a:pt x="0" y="165"/>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60" name="图片 59" descr="叶子"/>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7635" y="5510530"/>
            <a:ext cx="309880" cy="309880"/>
          </a:xfrm>
          <a:prstGeom prst="rect">
            <a:avLst/>
          </a:prstGeom>
        </p:spPr>
      </p:pic>
      <p:pic>
        <p:nvPicPr>
          <p:cNvPr id="61" name="图片 60" descr="工程"/>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49030" y="2269490"/>
            <a:ext cx="279400" cy="279400"/>
          </a:xfrm>
          <a:prstGeom prst="rect">
            <a:avLst/>
          </a:prstGeom>
        </p:spPr>
      </p:pic>
      <p:pic>
        <p:nvPicPr>
          <p:cNvPr id="62" name="图片 61" descr="分子"/>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76005" y="4350385"/>
            <a:ext cx="304165" cy="304165"/>
          </a:xfrm>
          <a:prstGeom prst="rect">
            <a:avLst/>
          </a:prstGeom>
        </p:spPr>
      </p:pic>
      <p:sp>
        <p:nvSpPr>
          <p:cNvPr id="63" name="文本框 62"/>
          <p:cNvSpPr txBox="1"/>
          <p:nvPr/>
        </p:nvSpPr>
        <p:spPr>
          <a:xfrm>
            <a:off x="9334500" y="2219960"/>
            <a:ext cx="1308735" cy="429895"/>
          </a:xfrm>
          <a:prstGeom prst="rect">
            <a:avLst/>
          </a:prstGeom>
          <a:noFill/>
        </p:spPr>
        <p:txBody>
          <a:bodyPr wrap="square" rtlCol="0">
            <a:spAutoFit/>
          </a:bodyPr>
          <a:p>
            <a:r>
              <a:rPr lang="zh-CN" altLang="en-US" sz="2200" b="1">
                <a:solidFill>
                  <a:srgbClr val="2E5495"/>
                </a:solidFill>
              </a:rPr>
              <a:t>缺陷影响</a:t>
            </a:r>
            <a:endParaRPr lang="zh-CN" altLang="en-US" sz="2200" b="1">
              <a:solidFill>
                <a:srgbClr val="2E5495"/>
              </a:solidFill>
            </a:endParaRPr>
          </a:p>
        </p:txBody>
      </p:sp>
      <p:cxnSp>
        <p:nvCxnSpPr>
          <p:cNvPr id="76" name="直接连接符 75"/>
          <p:cNvCxnSpPr>
            <a:endCxn id="80" idx="5"/>
          </p:cNvCxnSpPr>
          <p:nvPr/>
        </p:nvCxnSpPr>
        <p:spPr>
          <a:xfrm flipH="1">
            <a:off x="8883650" y="2626360"/>
            <a:ext cx="3175" cy="95440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77" name="直接连接符 76"/>
          <p:cNvCxnSpPr/>
          <p:nvPr/>
        </p:nvCxnSpPr>
        <p:spPr>
          <a:xfrm>
            <a:off x="8890000" y="2880995"/>
            <a:ext cx="317500" cy="317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78" name="直接连接符 77"/>
          <p:cNvCxnSpPr/>
          <p:nvPr/>
        </p:nvCxnSpPr>
        <p:spPr>
          <a:xfrm>
            <a:off x="8890000" y="3159760"/>
            <a:ext cx="317500" cy="317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79" name="直接连接符 78"/>
          <p:cNvCxnSpPr/>
          <p:nvPr/>
        </p:nvCxnSpPr>
        <p:spPr>
          <a:xfrm>
            <a:off x="8883650" y="3427730"/>
            <a:ext cx="317500" cy="3175"/>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sp>
        <p:nvSpPr>
          <p:cNvPr id="80" name="任意多边形 79"/>
          <p:cNvSpPr/>
          <p:nvPr/>
        </p:nvSpPr>
        <p:spPr>
          <a:xfrm flipH="1">
            <a:off x="8883650" y="3580765"/>
            <a:ext cx="307975" cy="111125"/>
          </a:xfrm>
          <a:custGeom>
            <a:avLst/>
            <a:gdLst>
              <a:gd name="connisteX0" fmla="*/ 0 w 307975"/>
              <a:gd name="connsiteY0" fmla="*/ 95250 h 95250"/>
              <a:gd name="connisteX1" fmla="*/ 66675 w 307975"/>
              <a:gd name="connsiteY1" fmla="*/ 92075 h 95250"/>
              <a:gd name="connisteX2" fmla="*/ 133350 w 307975"/>
              <a:gd name="connsiteY2" fmla="*/ 92075 h 95250"/>
              <a:gd name="connisteX3" fmla="*/ 200025 w 307975"/>
              <a:gd name="connsiteY3" fmla="*/ 92075 h 95250"/>
              <a:gd name="connisteX4" fmla="*/ 266700 w 307975"/>
              <a:gd name="connsiteY4" fmla="*/ 66675 h 95250"/>
              <a:gd name="connisteX5" fmla="*/ 307975 w 307975"/>
              <a:gd name="connsiteY5" fmla="*/ 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07975" h="95250">
                <a:moveTo>
                  <a:pt x="0" y="95250"/>
                </a:moveTo>
                <a:cubicBezTo>
                  <a:pt x="12065" y="94615"/>
                  <a:pt x="40005" y="92710"/>
                  <a:pt x="66675" y="92075"/>
                </a:cubicBezTo>
                <a:cubicBezTo>
                  <a:pt x="93345" y="91440"/>
                  <a:pt x="106680" y="92075"/>
                  <a:pt x="133350" y="92075"/>
                </a:cubicBezTo>
                <a:cubicBezTo>
                  <a:pt x="160020" y="92075"/>
                  <a:pt x="173355" y="97155"/>
                  <a:pt x="200025" y="92075"/>
                </a:cubicBezTo>
                <a:cubicBezTo>
                  <a:pt x="226695" y="86995"/>
                  <a:pt x="245110" y="85090"/>
                  <a:pt x="266700" y="66675"/>
                </a:cubicBezTo>
                <a:cubicBezTo>
                  <a:pt x="288290" y="48260"/>
                  <a:pt x="300990" y="12700"/>
                  <a:pt x="307975" y="0"/>
                </a:cubicBezTo>
              </a:path>
            </a:pathLst>
          </a:custGeom>
          <a:noFill/>
          <a:ln w="19050">
            <a:solidFill>
              <a:srgbClr val="8B8D8A"/>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1" name="直接连接符 80"/>
          <p:cNvCxnSpPr/>
          <p:nvPr/>
        </p:nvCxnSpPr>
        <p:spPr>
          <a:xfrm>
            <a:off x="8809990" y="4707255"/>
            <a:ext cx="0" cy="590550"/>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82" name="直接连接符 81"/>
          <p:cNvCxnSpPr/>
          <p:nvPr/>
        </p:nvCxnSpPr>
        <p:spPr>
          <a:xfrm>
            <a:off x="8809990" y="4878705"/>
            <a:ext cx="327660" cy="1270"/>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cxnSp>
        <p:nvCxnSpPr>
          <p:cNvPr id="83" name="直接连接符 82"/>
          <p:cNvCxnSpPr/>
          <p:nvPr/>
        </p:nvCxnSpPr>
        <p:spPr>
          <a:xfrm flipV="1">
            <a:off x="8825865" y="5148580"/>
            <a:ext cx="323215" cy="6350"/>
          </a:xfrm>
          <a:prstGeom prst="line">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cxnSp>
      <p:sp>
        <p:nvSpPr>
          <p:cNvPr id="88" name="任意多边形 87"/>
          <p:cNvSpPr/>
          <p:nvPr/>
        </p:nvSpPr>
        <p:spPr>
          <a:xfrm>
            <a:off x="8810625" y="5283835"/>
            <a:ext cx="327025" cy="151130"/>
          </a:xfrm>
          <a:custGeom>
            <a:avLst/>
            <a:gdLst>
              <a:gd name="connisteX0" fmla="*/ 3814 w 327029"/>
              <a:gd name="connsiteY0" fmla="*/ 0 h 151234"/>
              <a:gd name="connisteX1" fmla="*/ 3814 w 327029"/>
              <a:gd name="connsiteY1" fmla="*/ 63500 h 151234"/>
              <a:gd name="connisteX2" fmla="*/ 44454 w 327029"/>
              <a:gd name="connsiteY2" fmla="*/ 113030 h 151234"/>
              <a:gd name="connisteX3" fmla="*/ 130814 w 327029"/>
              <a:gd name="connsiteY3" fmla="*/ 138430 h 151234"/>
              <a:gd name="connisteX4" fmla="*/ 327029 w 327029"/>
              <a:gd name="connsiteY4" fmla="*/ 150495 h 151234"/>
              <a:gd name="connisteX5" fmla="*/ 416564 w 327029"/>
              <a:gd name="connsiteY5" fmla="*/ 121285 h 15123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327029" h="151234">
                <a:moveTo>
                  <a:pt x="3814" y="0"/>
                </a:moveTo>
                <a:cubicBezTo>
                  <a:pt x="3179" y="11430"/>
                  <a:pt x="-4441" y="40640"/>
                  <a:pt x="3814" y="63500"/>
                </a:cubicBezTo>
                <a:cubicBezTo>
                  <a:pt x="12069" y="86360"/>
                  <a:pt x="19054" y="97790"/>
                  <a:pt x="44454" y="113030"/>
                </a:cubicBezTo>
                <a:cubicBezTo>
                  <a:pt x="69854" y="128270"/>
                  <a:pt x="74299" y="130810"/>
                  <a:pt x="130814" y="138430"/>
                </a:cubicBezTo>
                <a:cubicBezTo>
                  <a:pt x="187329" y="146050"/>
                  <a:pt x="269879" y="153670"/>
                  <a:pt x="327029" y="150495"/>
                </a:cubicBezTo>
              </a:path>
            </a:pathLst>
          </a:custGeom>
          <a:noFill/>
          <a:ln w="19050">
            <a:solidFill>
              <a:srgbClr val="8B8D8A"/>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 name="文本框 88"/>
          <p:cNvSpPr txBox="1"/>
          <p:nvPr/>
        </p:nvSpPr>
        <p:spPr>
          <a:xfrm>
            <a:off x="9241155" y="2673985"/>
            <a:ext cx="1604645" cy="368300"/>
          </a:xfrm>
          <a:prstGeom prst="rect">
            <a:avLst/>
          </a:prstGeom>
          <a:noFill/>
        </p:spPr>
        <p:txBody>
          <a:bodyPr wrap="square" rtlCol="0">
            <a:spAutoFit/>
          </a:bodyPr>
          <a:p>
            <a:r>
              <a:rPr lang="zh-CN" altLang="en-US"/>
              <a:t>缺胶、</a:t>
            </a:r>
            <a:r>
              <a:rPr lang="zh-CN" altLang="en-US"/>
              <a:t>错台</a:t>
            </a:r>
            <a:endParaRPr lang="zh-CN" altLang="en-US"/>
          </a:p>
        </p:txBody>
      </p:sp>
      <p:sp>
        <p:nvSpPr>
          <p:cNvPr id="90" name="文本框 89"/>
          <p:cNvSpPr txBox="1"/>
          <p:nvPr/>
        </p:nvSpPr>
        <p:spPr>
          <a:xfrm>
            <a:off x="9241155" y="2934335"/>
            <a:ext cx="1463675" cy="368300"/>
          </a:xfrm>
          <a:prstGeom prst="rect">
            <a:avLst/>
          </a:prstGeom>
          <a:noFill/>
        </p:spPr>
        <p:txBody>
          <a:bodyPr wrap="square" rtlCol="0">
            <a:spAutoFit/>
          </a:bodyPr>
          <a:p>
            <a:r>
              <a:rPr lang="zh-CN" altLang="en-US"/>
              <a:t>混凝土</a:t>
            </a:r>
            <a:r>
              <a:rPr lang="zh-CN" altLang="en-US"/>
              <a:t>开裂</a:t>
            </a:r>
            <a:endParaRPr lang="zh-CN" altLang="en-US"/>
          </a:p>
        </p:txBody>
      </p:sp>
      <p:sp>
        <p:nvSpPr>
          <p:cNvPr id="91" name="文本框 90"/>
          <p:cNvSpPr txBox="1"/>
          <p:nvPr/>
        </p:nvSpPr>
        <p:spPr>
          <a:xfrm>
            <a:off x="9241155" y="3242310"/>
            <a:ext cx="1374140" cy="368300"/>
          </a:xfrm>
          <a:prstGeom prst="rect">
            <a:avLst/>
          </a:prstGeom>
          <a:noFill/>
        </p:spPr>
        <p:txBody>
          <a:bodyPr wrap="square" rtlCol="0">
            <a:spAutoFit/>
          </a:bodyPr>
          <a:p>
            <a:r>
              <a:rPr lang="zh-CN" altLang="en-US"/>
              <a:t>预应力</a:t>
            </a:r>
            <a:r>
              <a:rPr lang="zh-CN" altLang="en-US"/>
              <a:t>损失</a:t>
            </a:r>
            <a:endParaRPr lang="zh-CN" altLang="en-US"/>
          </a:p>
        </p:txBody>
      </p:sp>
      <p:sp>
        <p:nvSpPr>
          <p:cNvPr id="92" name="文本框 91"/>
          <p:cNvSpPr txBox="1"/>
          <p:nvPr/>
        </p:nvSpPr>
        <p:spPr>
          <a:xfrm>
            <a:off x="9241155" y="3482975"/>
            <a:ext cx="1703070" cy="645160"/>
          </a:xfrm>
          <a:prstGeom prst="rect">
            <a:avLst/>
          </a:prstGeom>
          <a:noFill/>
        </p:spPr>
        <p:txBody>
          <a:bodyPr wrap="square" rtlCol="0">
            <a:spAutoFit/>
          </a:bodyPr>
          <a:p>
            <a:r>
              <a:rPr lang="zh-CN" altLang="en-US"/>
              <a:t>结构设计缺陷：</a:t>
            </a:r>
            <a:r>
              <a:rPr lang="zh-CN" altLang="en-US" b="1">
                <a:solidFill>
                  <a:srgbClr val="C00000"/>
                </a:solidFill>
              </a:rPr>
              <a:t>分离式设计</a:t>
            </a:r>
            <a:endParaRPr lang="zh-CN" altLang="en-US" b="1">
              <a:solidFill>
                <a:srgbClr val="C00000"/>
              </a:solidFill>
            </a:endParaRPr>
          </a:p>
        </p:txBody>
      </p:sp>
      <p:sp>
        <p:nvSpPr>
          <p:cNvPr id="93" name="文本框 92"/>
          <p:cNvSpPr txBox="1"/>
          <p:nvPr/>
        </p:nvSpPr>
        <p:spPr>
          <a:xfrm>
            <a:off x="9191625" y="4291330"/>
            <a:ext cx="1420495" cy="445135"/>
          </a:xfrm>
          <a:prstGeom prst="rect">
            <a:avLst/>
          </a:prstGeom>
          <a:noFill/>
        </p:spPr>
        <p:txBody>
          <a:bodyPr wrap="square" rtlCol="0">
            <a:spAutoFit/>
          </a:bodyPr>
          <a:p>
            <a:r>
              <a:rPr lang="zh-CN" altLang="en-US" sz="2300" b="1">
                <a:solidFill>
                  <a:srgbClr val="2E5495"/>
                </a:solidFill>
              </a:rPr>
              <a:t>数值建模</a:t>
            </a:r>
            <a:endParaRPr lang="zh-CN" altLang="en-US" sz="2300" b="1">
              <a:solidFill>
                <a:srgbClr val="2E5495"/>
              </a:solidFill>
            </a:endParaRPr>
          </a:p>
        </p:txBody>
      </p:sp>
      <p:sp>
        <p:nvSpPr>
          <p:cNvPr id="94" name="文本框 93"/>
          <p:cNvSpPr txBox="1"/>
          <p:nvPr/>
        </p:nvSpPr>
        <p:spPr>
          <a:xfrm>
            <a:off x="9191625" y="4763135"/>
            <a:ext cx="1687195" cy="368300"/>
          </a:xfrm>
          <a:prstGeom prst="rect">
            <a:avLst/>
          </a:prstGeom>
          <a:noFill/>
        </p:spPr>
        <p:txBody>
          <a:bodyPr wrap="square" rtlCol="0">
            <a:spAutoFit/>
          </a:bodyPr>
          <a:p>
            <a:r>
              <a:rPr lang="zh-CN" altLang="en-US"/>
              <a:t>构建数量</a:t>
            </a:r>
            <a:r>
              <a:rPr lang="zh-CN" altLang="en-US"/>
              <a:t>繁多</a:t>
            </a:r>
            <a:endParaRPr lang="zh-CN" altLang="en-US"/>
          </a:p>
        </p:txBody>
      </p:sp>
      <p:sp>
        <p:nvSpPr>
          <p:cNvPr id="95" name="文本框 94"/>
          <p:cNvSpPr txBox="1"/>
          <p:nvPr/>
        </p:nvSpPr>
        <p:spPr>
          <a:xfrm>
            <a:off x="9191625" y="5046980"/>
            <a:ext cx="1111250" cy="368300"/>
          </a:xfrm>
          <a:prstGeom prst="rect">
            <a:avLst/>
          </a:prstGeom>
          <a:noFill/>
        </p:spPr>
        <p:txBody>
          <a:bodyPr wrap="square" rtlCol="0">
            <a:spAutoFit/>
          </a:bodyPr>
          <a:p>
            <a:r>
              <a:rPr lang="zh-CN" altLang="en-US"/>
              <a:t>布筋复杂</a:t>
            </a:r>
            <a:endParaRPr lang="zh-CN" altLang="en-US"/>
          </a:p>
        </p:txBody>
      </p:sp>
      <p:sp>
        <p:nvSpPr>
          <p:cNvPr id="96" name="文本框 95"/>
          <p:cNvSpPr txBox="1"/>
          <p:nvPr/>
        </p:nvSpPr>
        <p:spPr>
          <a:xfrm>
            <a:off x="9207500" y="5297805"/>
            <a:ext cx="2425065" cy="352425"/>
          </a:xfrm>
          <a:prstGeom prst="rect">
            <a:avLst/>
          </a:prstGeom>
          <a:noFill/>
        </p:spPr>
        <p:txBody>
          <a:bodyPr wrap="square" rtlCol="0">
            <a:spAutoFit/>
          </a:bodyPr>
          <a:p>
            <a:r>
              <a:rPr lang="zh-CN" altLang="en-US" sz="1700"/>
              <a:t>三维建模工作量极大</a:t>
            </a:r>
            <a:endParaRPr lang="zh-CN" altLang="en-US" sz="1700"/>
          </a:p>
        </p:txBody>
      </p:sp>
      <p:sp>
        <p:nvSpPr>
          <p:cNvPr id="97" name="圆角矩形 96"/>
          <p:cNvSpPr/>
          <p:nvPr/>
        </p:nvSpPr>
        <p:spPr>
          <a:xfrm>
            <a:off x="4479925" y="2093595"/>
            <a:ext cx="3397885" cy="2682875"/>
          </a:xfrm>
          <a:prstGeom prst="roundRect">
            <a:avLst/>
          </a:prstGeom>
          <a:ln w="19050">
            <a:solidFill>
              <a:srgbClr val="8B8D8A"/>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98" name="图片 97" descr="15.1.1"/>
          <p:cNvPicPr>
            <a:picLocks noChangeAspect="1"/>
          </p:cNvPicPr>
          <p:nvPr/>
        </p:nvPicPr>
        <p:blipFill>
          <a:blip r:embed="rId9"/>
          <a:srcRect l="21345" t="1843" r="12473" b="2722"/>
          <a:stretch>
            <a:fillRect/>
          </a:stretch>
        </p:blipFill>
        <p:spPr>
          <a:xfrm>
            <a:off x="5421630" y="2163445"/>
            <a:ext cx="1528445" cy="2543810"/>
          </a:xfrm>
          <a:prstGeom prst="rect">
            <a:avLst/>
          </a:prstGeom>
        </p:spPr>
      </p:pic>
      <p:sp>
        <p:nvSpPr>
          <p:cNvPr id="99" name="文本框 98"/>
          <p:cNvSpPr txBox="1"/>
          <p:nvPr/>
        </p:nvSpPr>
        <p:spPr>
          <a:xfrm>
            <a:off x="5645785" y="5388610"/>
            <a:ext cx="1420495" cy="445135"/>
          </a:xfrm>
          <a:prstGeom prst="rect">
            <a:avLst/>
          </a:prstGeom>
          <a:noFill/>
        </p:spPr>
        <p:txBody>
          <a:bodyPr wrap="square" rtlCol="0">
            <a:spAutoFit/>
          </a:bodyPr>
          <a:p>
            <a:r>
              <a:rPr lang="zh-CN" altLang="en-US" sz="2300" b="1">
                <a:solidFill>
                  <a:srgbClr val="2E5495"/>
                </a:solidFill>
              </a:rPr>
              <a:t>动力</a:t>
            </a:r>
            <a:r>
              <a:rPr lang="zh-CN" altLang="en-US" sz="2300" b="1">
                <a:solidFill>
                  <a:srgbClr val="2E5495"/>
                </a:solidFill>
              </a:rPr>
              <a:t>响应</a:t>
            </a:r>
            <a:endParaRPr lang="zh-CN" altLang="en-US" sz="2300" b="1">
              <a:solidFill>
                <a:srgbClr val="2E5495"/>
              </a:solidFill>
            </a:endParaRPr>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15/68</a:t>
            </a:r>
            <a:endParaRPr lang="en-US" altLang="zh-CN">
              <a:latin typeface="微软雅黑" panose="020B0503020204020204" charset="-122"/>
              <a:ea typeface="微软雅黑" panose="020B0503020204020204" charset="-122"/>
            </a:endParaRPr>
          </a:p>
        </p:txBody>
      </p:sp>
      <p:sp>
        <p:nvSpPr>
          <p:cNvPr id="13" name="文本框 1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35075" y="1116965"/>
            <a:ext cx="6897370"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大型风电机组动力学仿真现状</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(1): </a:t>
            </a:r>
            <a:r>
              <a:rPr lang="zh-CN" altLang="en-US" sz="2300" b="1">
                <a:solidFill>
                  <a:srgbClr val="C00000"/>
                </a:solidFill>
              </a:rPr>
              <a:t>模态叠加法</a:t>
            </a:r>
            <a:endParaRPr lang="zh-CN" altLang="en-US" sz="2300" b="1">
              <a:solidFill>
                <a:srgbClr val="C00000"/>
              </a:solidFill>
            </a:endParaRPr>
          </a:p>
        </p:txBody>
      </p:sp>
      <p:sp>
        <p:nvSpPr>
          <p:cNvPr id="12" name="矩形 11"/>
          <p:cNvSpPr/>
          <p:nvPr/>
        </p:nvSpPr>
        <p:spPr>
          <a:xfrm>
            <a:off x="722630" y="1685925"/>
            <a:ext cx="3837940" cy="419100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矩形 12"/>
          <p:cNvSpPr/>
          <p:nvPr/>
        </p:nvSpPr>
        <p:spPr>
          <a:xfrm>
            <a:off x="4702175" y="1692910"/>
            <a:ext cx="6892925" cy="4163060"/>
          </a:xfrm>
          <a:prstGeom prst="rect">
            <a:avLst/>
          </a:prstGeom>
          <a:ln w="19050">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800100" y="1932940"/>
            <a:ext cx="1283970" cy="429895"/>
          </a:xfrm>
          <a:prstGeom prst="rect">
            <a:avLst/>
          </a:prstGeom>
          <a:noFill/>
        </p:spPr>
        <p:txBody>
          <a:bodyPr wrap="square" rtlCol="0">
            <a:spAutoFit/>
          </a:bodyPr>
          <a:p>
            <a:r>
              <a:rPr lang="en-US" altLang="zh-CN">
                <a:latin typeface="微软雅黑" panose="020B0503020204020204" charset="-122"/>
                <a:ea typeface="微软雅黑" panose="020B0503020204020204" charset="-122"/>
                <a:cs typeface="Times New Roman" panose="02020603050405020304" charset="0"/>
              </a:rPr>
              <a:t>√ </a:t>
            </a:r>
            <a:r>
              <a:rPr lang="zh-CN" altLang="en-US" sz="2200" b="1">
                <a:solidFill>
                  <a:srgbClr val="2E5495"/>
                </a:solidFill>
                <a:latin typeface="微软雅黑" panose="020B0503020204020204" charset="-122"/>
                <a:ea typeface="微软雅黑" panose="020B0503020204020204" charset="-122"/>
                <a:cs typeface="Times New Roman" panose="02020603050405020304" charset="0"/>
              </a:rPr>
              <a:t>优点</a:t>
            </a:r>
            <a:endParaRPr lang="zh-CN" altLang="en-US" sz="2200" b="1">
              <a:solidFill>
                <a:srgbClr val="2E5495"/>
              </a:solidFill>
              <a:latin typeface="微软雅黑" panose="020B0503020204020204" charset="-122"/>
              <a:ea typeface="微软雅黑" panose="020B0503020204020204" charset="-122"/>
              <a:cs typeface="Times New Roman" panose="02020603050405020304" charset="0"/>
            </a:endParaRPr>
          </a:p>
        </p:txBody>
      </p:sp>
      <p:sp>
        <p:nvSpPr>
          <p:cNvPr id="15" name="文本框 14"/>
          <p:cNvSpPr txBox="1"/>
          <p:nvPr/>
        </p:nvSpPr>
        <p:spPr>
          <a:xfrm>
            <a:off x="969010" y="2447925"/>
            <a:ext cx="2766060" cy="383540"/>
          </a:xfrm>
          <a:prstGeom prst="rect">
            <a:avLst/>
          </a:prstGeom>
          <a:noFill/>
        </p:spPr>
        <p:txBody>
          <a:bodyPr wrap="square" rtlCol="0">
            <a:spAutoFit/>
          </a:bodyPr>
          <a:p>
            <a:r>
              <a:rPr lang="en-US" altLang="zh-CN"/>
              <a:t> </a:t>
            </a:r>
            <a:r>
              <a:rPr lang="zh-CN" altLang="en-US" sz="1900" b="1">
                <a:solidFill>
                  <a:srgbClr val="2E5495"/>
                </a:solidFill>
              </a:rPr>
              <a:t>具有</a:t>
            </a:r>
            <a:r>
              <a:rPr lang="zh-CN" altLang="en-US" sz="1900" b="1">
                <a:solidFill>
                  <a:srgbClr val="C00000"/>
                </a:solidFill>
              </a:rPr>
              <a:t>很高的计算效率</a:t>
            </a:r>
            <a:endParaRPr lang="zh-CN" altLang="en-US" sz="1900" b="1">
              <a:solidFill>
                <a:srgbClr val="C00000"/>
              </a:solidFill>
            </a:endParaRPr>
          </a:p>
        </p:txBody>
      </p:sp>
      <p:sp>
        <p:nvSpPr>
          <p:cNvPr id="16" name="椭圆 15"/>
          <p:cNvSpPr/>
          <p:nvPr/>
        </p:nvSpPr>
        <p:spPr>
          <a:xfrm>
            <a:off x="842645" y="2602865"/>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842645" y="3033395"/>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842645" y="4063365"/>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椭圆 18"/>
          <p:cNvSpPr/>
          <p:nvPr/>
        </p:nvSpPr>
        <p:spPr>
          <a:xfrm>
            <a:off x="842645" y="4945380"/>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1007745" y="2874645"/>
            <a:ext cx="3507740" cy="398780"/>
          </a:xfrm>
          <a:prstGeom prst="rect">
            <a:avLst/>
          </a:prstGeom>
          <a:noFill/>
        </p:spPr>
        <p:txBody>
          <a:bodyPr wrap="square" rtlCol="0">
            <a:spAutoFit/>
          </a:bodyPr>
          <a:p>
            <a:r>
              <a:rPr lang="zh-CN" altLang="en-US" sz="2000" b="1">
                <a:solidFill>
                  <a:srgbClr val="2E5495"/>
                </a:solidFill>
              </a:rPr>
              <a:t>对于</a:t>
            </a:r>
            <a:r>
              <a:rPr lang="zh-CN" altLang="en-US" sz="2000" b="1">
                <a:solidFill>
                  <a:srgbClr val="C00000"/>
                </a:solidFill>
              </a:rPr>
              <a:t>线弹性结构</a:t>
            </a:r>
            <a:r>
              <a:rPr lang="zh-CN" altLang="en-US" sz="2000" b="1">
                <a:solidFill>
                  <a:srgbClr val="2E5495"/>
                </a:solidFill>
              </a:rPr>
              <a:t>有较好</a:t>
            </a:r>
            <a:r>
              <a:rPr lang="zh-CN" altLang="en-US" sz="2000" b="1">
                <a:solidFill>
                  <a:srgbClr val="2E5495"/>
                </a:solidFill>
              </a:rPr>
              <a:t>的精度</a:t>
            </a:r>
            <a:endParaRPr lang="zh-CN" altLang="en-US" sz="2000" b="1">
              <a:solidFill>
                <a:srgbClr val="2E5495"/>
              </a:solidFill>
            </a:endParaRPr>
          </a:p>
        </p:txBody>
      </p:sp>
      <p:sp>
        <p:nvSpPr>
          <p:cNvPr id="21" name="等腰三角形 20"/>
          <p:cNvSpPr/>
          <p:nvPr/>
        </p:nvSpPr>
        <p:spPr>
          <a:xfrm>
            <a:off x="842645" y="3534410"/>
            <a:ext cx="197485" cy="169545"/>
          </a:xfrm>
          <a:prstGeom prst="triangl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r"/>
            <a:r>
              <a:rPr lang="en-US" altLang="zh-CN" sz="900" b="1"/>
              <a:t> </a:t>
            </a:r>
            <a:endParaRPr lang="zh-CN" altLang="en-US" sz="900" b="1">
              <a:latin typeface="微软雅黑" panose="020B0503020204020204" charset="-122"/>
              <a:ea typeface="微软雅黑" panose="020B0503020204020204" charset="-122"/>
            </a:endParaRPr>
          </a:p>
        </p:txBody>
      </p:sp>
      <p:sp>
        <p:nvSpPr>
          <p:cNvPr id="22" name="文本框 21"/>
          <p:cNvSpPr txBox="1"/>
          <p:nvPr/>
        </p:nvSpPr>
        <p:spPr>
          <a:xfrm>
            <a:off x="1059180" y="3396615"/>
            <a:ext cx="3248660" cy="445135"/>
          </a:xfrm>
          <a:prstGeom prst="rect">
            <a:avLst/>
          </a:prstGeom>
          <a:noFill/>
        </p:spPr>
        <p:txBody>
          <a:bodyPr wrap="square" rtlCol="0">
            <a:spAutoFit/>
          </a:bodyPr>
          <a:p>
            <a:r>
              <a:rPr lang="zh-CN" altLang="en-US" sz="2300" b="1">
                <a:solidFill>
                  <a:srgbClr val="C00000"/>
                </a:solidFill>
              </a:rPr>
              <a:t>应用于大型混塔的不足：</a:t>
            </a:r>
            <a:endParaRPr lang="zh-CN" altLang="en-US" sz="2300" b="1">
              <a:solidFill>
                <a:srgbClr val="C00000"/>
              </a:solidFill>
            </a:endParaRPr>
          </a:p>
        </p:txBody>
      </p:sp>
      <p:sp>
        <p:nvSpPr>
          <p:cNvPr id="23" name="文本框 22"/>
          <p:cNvSpPr txBox="1"/>
          <p:nvPr/>
        </p:nvSpPr>
        <p:spPr>
          <a:xfrm>
            <a:off x="1059180" y="3785235"/>
            <a:ext cx="3531870" cy="1014730"/>
          </a:xfrm>
          <a:prstGeom prst="rect">
            <a:avLst/>
          </a:prstGeom>
          <a:noFill/>
        </p:spPr>
        <p:txBody>
          <a:bodyPr wrap="square" rtlCol="0">
            <a:spAutoFit/>
          </a:bodyPr>
          <a:p>
            <a:pPr>
              <a:lnSpc>
                <a:spcPct val="150000"/>
              </a:lnSpc>
            </a:pPr>
            <a:r>
              <a:rPr lang="zh-CN" altLang="en-US" sz="2000" b="1">
                <a:solidFill>
                  <a:srgbClr val="2E5495"/>
                </a:solidFill>
              </a:rPr>
              <a:t>难以反映</a:t>
            </a:r>
            <a:r>
              <a:rPr lang="zh-CN" altLang="en-US" sz="2000" b="1">
                <a:solidFill>
                  <a:srgbClr val="C00000"/>
                </a:solidFill>
              </a:rPr>
              <a:t>混塔的各种非线性特征和预应力效应</a:t>
            </a:r>
            <a:r>
              <a:rPr lang="zh-CN" altLang="en-US" sz="2000" b="1">
                <a:solidFill>
                  <a:srgbClr val="2E5495"/>
                </a:solidFill>
              </a:rPr>
              <a:t>等</a:t>
            </a:r>
            <a:endParaRPr lang="zh-CN" altLang="en-US" sz="2000" b="1">
              <a:solidFill>
                <a:srgbClr val="2E5495"/>
              </a:solidFill>
            </a:endParaRPr>
          </a:p>
        </p:txBody>
      </p:sp>
      <p:sp>
        <p:nvSpPr>
          <p:cNvPr id="24" name="文本框 23"/>
          <p:cNvSpPr txBox="1"/>
          <p:nvPr/>
        </p:nvSpPr>
        <p:spPr>
          <a:xfrm>
            <a:off x="1059180" y="4624070"/>
            <a:ext cx="3531870" cy="1014730"/>
          </a:xfrm>
          <a:prstGeom prst="rect">
            <a:avLst/>
          </a:prstGeom>
          <a:noFill/>
        </p:spPr>
        <p:txBody>
          <a:bodyPr wrap="square" rtlCol="0">
            <a:spAutoFit/>
          </a:bodyPr>
          <a:p>
            <a:pPr>
              <a:lnSpc>
                <a:spcPct val="150000"/>
              </a:lnSpc>
            </a:pPr>
            <a:r>
              <a:rPr lang="zh-CN" altLang="en-US" sz="2000" b="1">
                <a:solidFill>
                  <a:srgbClr val="2E5495"/>
                </a:solidFill>
              </a:rPr>
              <a:t>难以揭示</a:t>
            </a:r>
            <a:r>
              <a:rPr lang="zh-CN" altLang="en-US" sz="2000" b="1">
                <a:solidFill>
                  <a:srgbClr val="C00000"/>
                </a:solidFill>
              </a:rPr>
              <a:t>真实结构局部力学响应特征</a:t>
            </a:r>
            <a:endParaRPr lang="zh-CN" altLang="en-US" sz="2000" b="1">
              <a:solidFill>
                <a:srgbClr val="C00000"/>
              </a:solidFill>
            </a:endParaRPr>
          </a:p>
        </p:txBody>
      </p:sp>
      <p:sp>
        <p:nvSpPr>
          <p:cNvPr id="26" name="矩形 25"/>
          <p:cNvSpPr/>
          <p:nvPr/>
        </p:nvSpPr>
        <p:spPr>
          <a:xfrm>
            <a:off x="840105" y="6064250"/>
            <a:ext cx="75565" cy="7556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文本框 27"/>
          <p:cNvSpPr txBox="1"/>
          <p:nvPr/>
        </p:nvSpPr>
        <p:spPr>
          <a:xfrm>
            <a:off x="915670" y="6149340"/>
            <a:ext cx="10299065" cy="245110"/>
          </a:xfrm>
          <a:prstGeom prst="rect">
            <a:avLst/>
          </a:prstGeom>
          <a:noFill/>
        </p:spPr>
        <p:txBody>
          <a:bodyPr wrap="square" rtlCol="0">
            <a:spAutoFit/>
          </a:bodyPr>
          <a:p>
            <a:r>
              <a:rPr lang="zh-CN" altLang="en-US" sz="1000" b="1">
                <a:latin typeface="微软雅黑" panose="020B0503020204020204" charset="-122"/>
                <a:ea typeface="微软雅黑" panose="020B0503020204020204" charset="-122"/>
              </a:rPr>
              <a:t>Chen J, Li J, Wang D, et al. Seismic response analysis of steel-concrete hybrid wind turbine tower.</a:t>
            </a:r>
            <a:r>
              <a:rPr lang="en-US" altLang="zh-CN" sz="1000" b="1">
                <a:latin typeface="微软雅黑" panose="020B0503020204020204" charset="-122"/>
                <a:ea typeface="微软雅黑" panose="020B0503020204020204" charset="-122"/>
              </a:rPr>
              <a:t>Journ</a:t>
            </a:r>
            <a:r>
              <a:rPr lang="zh-CN" altLang="en-US" sz="1000" b="1">
                <a:latin typeface="微软雅黑" panose="020B0503020204020204" charset="-122"/>
                <a:ea typeface="微软雅黑" panose="020B0503020204020204" charset="-122"/>
              </a:rPr>
              <a:t>al of Vibration</a:t>
            </a:r>
            <a:r>
              <a:rPr lang="en-US" altLang="zh-CN" sz="1000" b="1">
                <a:latin typeface="微软雅黑" panose="020B0503020204020204" charset="-122"/>
                <a:ea typeface="微软雅黑" panose="020B0503020204020204" charset="-122"/>
              </a:rPr>
              <a:t> </a:t>
            </a:r>
            <a:r>
              <a:rPr lang="zh-CN" altLang="en-US" sz="1000" b="1">
                <a:latin typeface="微软雅黑" panose="020B0503020204020204" charset="-122"/>
                <a:ea typeface="微软雅黑" panose="020B0503020204020204" charset="-122"/>
              </a:rPr>
              <a:t>and Control.2</a:t>
            </a:r>
            <a:r>
              <a:rPr lang="en-US" altLang="zh-CN" sz="1000" b="1">
                <a:latin typeface="微软雅黑" panose="020B0503020204020204" charset="-122"/>
                <a:ea typeface="微软雅黑" panose="020B0503020204020204" charset="-122"/>
              </a:rPr>
              <a:t>0</a:t>
            </a:r>
            <a:r>
              <a:rPr lang="zh-CN" altLang="en-US" sz="1000" b="1">
                <a:latin typeface="微软雅黑" panose="020B0503020204020204" charset="-122"/>
                <a:ea typeface="微软雅黑" panose="020B0503020204020204" charset="-122"/>
              </a:rPr>
              <a:t>22</a:t>
            </a:r>
            <a:r>
              <a:rPr lang="en-US" altLang="zh-CN" sz="1000" b="1">
                <a:latin typeface="微软雅黑" panose="020B0503020204020204" charset="-122"/>
                <a:ea typeface="微软雅黑" panose="020B0503020204020204" charset="-122"/>
              </a:rPr>
              <a:t>. </a:t>
            </a:r>
            <a:r>
              <a:rPr lang="zh-CN" altLang="en-US" sz="1000" b="1">
                <a:latin typeface="微软雅黑" panose="020B0503020204020204" charset="-122"/>
                <a:ea typeface="微软雅黑" panose="020B0503020204020204" charset="-122"/>
              </a:rPr>
              <a:t>28</a:t>
            </a:r>
            <a:r>
              <a:rPr lang="en-US" altLang="zh-CN" sz="1000" b="1">
                <a:latin typeface="微软雅黑" panose="020B0503020204020204" charset="-122"/>
                <a:ea typeface="微软雅黑" panose="020B0503020204020204" charset="-122"/>
              </a:rPr>
              <a:t>(17-18):2240-2253</a:t>
            </a:r>
            <a:r>
              <a:rPr lang="en-US" altLang="zh-CN" sz="900">
                <a:latin typeface="微软雅黑" panose="020B0503020204020204" charset="-122"/>
                <a:ea typeface="微软雅黑" panose="020B0503020204020204" charset="-122"/>
              </a:rPr>
              <a:t>.</a:t>
            </a:r>
            <a:endParaRPr lang="zh-CN" altLang="en-US" sz="900">
              <a:latin typeface="微软雅黑" panose="020B0503020204020204" charset="-122"/>
              <a:ea typeface="微软雅黑" panose="020B0503020204020204" charset="-122"/>
            </a:endParaRPr>
          </a:p>
        </p:txBody>
      </p:sp>
      <p:sp>
        <p:nvSpPr>
          <p:cNvPr id="29" name="文本框 28"/>
          <p:cNvSpPr txBox="1"/>
          <p:nvPr/>
        </p:nvSpPr>
        <p:spPr>
          <a:xfrm>
            <a:off x="915670" y="5979795"/>
            <a:ext cx="10368280" cy="275590"/>
          </a:xfrm>
          <a:prstGeom prst="rect">
            <a:avLst/>
          </a:prstGeom>
          <a:noFill/>
        </p:spPr>
        <p:txBody>
          <a:bodyPr wrap="square" rtlCol="0">
            <a:spAutoFit/>
          </a:bodyPr>
          <a:p>
            <a:r>
              <a:rPr lang="zh-CN" altLang="en-US" sz="1200" b="1"/>
              <a:t>Ishihara T,</a:t>
            </a:r>
            <a:r>
              <a:rPr lang="en-US" altLang="zh-CN" sz="1200" b="1"/>
              <a:t> </a:t>
            </a:r>
            <a:r>
              <a:rPr lang="zh-CN" altLang="en-US" sz="1200" b="1"/>
              <a:t> Sarwar M W. Numerical and theoretical study on seismic response of wind turbines. In: European wind energy conference and exhibition</a:t>
            </a:r>
            <a:r>
              <a:rPr lang="en-US" altLang="zh-CN" sz="1200" b="1"/>
              <a:t>.</a:t>
            </a:r>
            <a:r>
              <a:rPr lang="zh-CN" altLang="en-US" sz="1200" b="1"/>
              <a:t> 2008</a:t>
            </a:r>
            <a:r>
              <a:rPr lang="en-US" altLang="zh-CN" sz="1200" b="1"/>
              <a:t>, 1-</a:t>
            </a:r>
            <a:r>
              <a:rPr lang="zh-CN" altLang="en-US" sz="1200" b="1"/>
              <a:t>5</a:t>
            </a:r>
            <a:r>
              <a:rPr lang="en-US" altLang="zh-CN" sz="1200" b="1"/>
              <a:t>.</a:t>
            </a:r>
            <a:endParaRPr lang="en-US" altLang="zh-CN" sz="1200" b="1"/>
          </a:p>
        </p:txBody>
      </p:sp>
      <p:sp>
        <p:nvSpPr>
          <p:cNvPr id="30" name="文本框 29"/>
          <p:cNvSpPr txBox="1"/>
          <p:nvPr/>
        </p:nvSpPr>
        <p:spPr>
          <a:xfrm>
            <a:off x="918210" y="6311265"/>
            <a:ext cx="5420995" cy="275590"/>
          </a:xfrm>
          <a:prstGeom prst="rect">
            <a:avLst/>
          </a:prstGeom>
          <a:noFill/>
        </p:spPr>
        <p:txBody>
          <a:bodyPr wrap="square" rtlCol="0">
            <a:spAutoFit/>
          </a:bodyPr>
          <a:p>
            <a:r>
              <a:rPr lang="zh-CN" altLang="en-US" sz="1200" b="1"/>
              <a:t>何泽瑜.大型混塔式风电机组的建模与可靠度分析[D]长沙：湖南大学,2024</a:t>
            </a:r>
            <a:endParaRPr lang="zh-CN" altLang="en-US" sz="1200" b="1"/>
          </a:p>
        </p:txBody>
      </p:sp>
      <p:sp>
        <p:nvSpPr>
          <p:cNvPr id="31" name="矩形 30"/>
          <p:cNvSpPr/>
          <p:nvPr/>
        </p:nvSpPr>
        <p:spPr>
          <a:xfrm>
            <a:off x="842645" y="6223635"/>
            <a:ext cx="75565" cy="7556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矩形 31"/>
          <p:cNvSpPr/>
          <p:nvPr/>
        </p:nvSpPr>
        <p:spPr>
          <a:xfrm>
            <a:off x="842645" y="6403975"/>
            <a:ext cx="75565" cy="7556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椭圆 32"/>
          <p:cNvSpPr/>
          <p:nvPr/>
        </p:nvSpPr>
        <p:spPr>
          <a:xfrm>
            <a:off x="969645" y="2729865"/>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文本框 33"/>
          <p:cNvSpPr txBox="1"/>
          <p:nvPr/>
        </p:nvSpPr>
        <p:spPr>
          <a:xfrm>
            <a:off x="809625" y="3509645"/>
            <a:ext cx="209550" cy="245110"/>
          </a:xfrm>
          <a:prstGeom prst="rect">
            <a:avLst/>
          </a:prstGeom>
          <a:noFill/>
        </p:spPr>
        <p:txBody>
          <a:bodyPr wrap="square" rtlCol="0">
            <a:spAutoFit/>
          </a:bodyPr>
          <a:p>
            <a:r>
              <a:rPr lang="zh-CN" altLang="en-US" sz="1000"/>
              <a:t>！</a:t>
            </a:r>
            <a:endParaRPr lang="zh-CN" altLang="en-US" sz="1000"/>
          </a:p>
        </p:txBody>
      </p:sp>
      <p:pic>
        <p:nvPicPr>
          <p:cNvPr id="35" name="图片 34" descr="16.1.1"/>
          <p:cNvPicPr>
            <a:picLocks noChangeAspect="1"/>
          </p:cNvPicPr>
          <p:nvPr/>
        </p:nvPicPr>
        <p:blipFill>
          <a:blip r:embed="rId1"/>
          <a:stretch>
            <a:fillRect/>
          </a:stretch>
        </p:blipFill>
        <p:spPr>
          <a:xfrm>
            <a:off x="4986020" y="1734820"/>
            <a:ext cx="6229350" cy="4117975"/>
          </a:xfrm>
          <a:prstGeom prst="rect">
            <a:avLst/>
          </a:prstGeom>
        </p:spPr>
      </p:pic>
      <p:sp>
        <p:nvSpPr>
          <p:cNvPr id="25" name="文本框 24"/>
          <p:cNvSpPr txBox="1"/>
          <p:nvPr/>
        </p:nvSpPr>
        <p:spPr>
          <a:xfrm>
            <a:off x="9567545" y="4986655"/>
            <a:ext cx="1920240" cy="614045"/>
          </a:xfrm>
          <a:prstGeom prst="rect">
            <a:avLst/>
          </a:prstGeom>
          <a:noFill/>
        </p:spPr>
        <p:txBody>
          <a:bodyPr wrap="square" rtlCol="0">
            <a:spAutoFit/>
          </a:bodyPr>
          <a:p>
            <a:r>
              <a:rPr lang="zh-CN" altLang="en-US" sz="1700"/>
              <a:t>采用</a:t>
            </a:r>
            <a:r>
              <a:rPr lang="zh-CN" altLang="en-US" sz="1700">
                <a:solidFill>
                  <a:srgbClr val="00329F"/>
                </a:solidFill>
              </a:rPr>
              <a:t>模态叠加法</a:t>
            </a:r>
            <a:r>
              <a:rPr lang="zh-CN" altLang="en-US" sz="1700"/>
              <a:t>减少整机系统自由度</a:t>
            </a:r>
            <a:endParaRPr lang="zh-CN" altLang="en-US" sz="1700"/>
          </a:p>
        </p:txBody>
      </p:sp>
      <p:sp>
        <p:nvSpPr>
          <p:cNvPr id="37" name="矩形 36"/>
          <p:cNvSpPr/>
          <p:nvPr/>
        </p:nvSpPr>
        <p:spPr>
          <a:xfrm>
            <a:off x="7731125" y="4723765"/>
            <a:ext cx="1836420" cy="999490"/>
          </a:xfrm>
          <a:prstGeom prst="rect">
            <a:avLst/>
          </a:prstGeom>
          <a:solidFill>
            <a:srgbClr val="005C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非线性特性丢失结构特性丢失</a:t>
            </a:r>
            <a:endParaRPr lang="zh-CN" altLang="en-US" b="1"/>
          </a:p>
        </p:txBody>
      </p:sp>
      <p:sp>
        <p:nvSpPr>
          <p:cNvPr id="2" name="文本框 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16/68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35075" y="1116965"/>
            <a:ext cx="6897370"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大型风电机组动力学仿真现状</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(2): </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有限元法</a:t>
            </a:r>
            <a:endParaRPr lang="zh-CN" altLang="en-US" sz="23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2" name="矩形 11"/>
          <p:cNvSpPr/>
          <p:nvPr/>
        </p:nvSpPr>
        <p:spPr>
          <a:xfrm>
            <a:off x="784860" y="1683385"/>
            <a:ext cx="4072890" cy="4624705"/>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矩形 12"/>
          <p:cNvSpPr/>
          <p:nvPr/>
        </p:nvSpPr>
        <p:spPr>
          <a:xfrm>
            <a:off x="4953000" y="1659255"/>
            <a:ext cx="6546215" cy="4628515"/>
          </a:xfrm>
          <a:prstGeom prst="rect">
            <a:avLst/>
          </a:prstGeom>
          <a:ln w="19050">
            <a:solidFill>
              <a:srgbClr val="8B8D8A"/>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831850" y="1939925"/>
            <a:ext cx="1283970" cy="429895"/>
          </a:xfrm>
          <a:prstGeom prst="rect">
            <a:avLst/>
          </a:prstGeom>
          <a:noFill/>
        </p:spPr>
        <p:txBody>
          <a:bodyPr wrap="square" rtlCol="0">
            <a:spAutoFit/>
          </a:bodyPr>
          <a:p>
            <a:r>
              <a:rPr lang="en-US" altLang="zh-CN">
                <a:latin typeface="微软雅黑" panose="020B0503020204020204" charset="-122"/>
                <a:ea typeface="微软雅黑" panose="020B0503020204020204" charset="-122"/>
                <a:cs typeface="Times New Roman" panose="02020603050405020304" charset="0"/>
              </a:rPr>
              <a:t>√ </a:t>
            </a:r>
            <a:r>
              <a:rPr lang="zh-CN" altLang="en-US" sz="2200" b="1">
                <a:solidFill>
                  <a:srgbClr val="2E5495"/>
                </a:solidFill>
                <a:latin typeface="微软雅黑" panose="020B0503020204020204" charset="-122"/>
                <a:ea typeface="微软雅黑" panose="020B0503020204020204" charset="-122"/>
                <a:cs typeface="Times New Roman" panose="02020603050405020304" charset="0"/>
              </a:rPr>
              <a:t>优点</a:t>
            </a:r>
            <a:endParaRPr lang="zh-CN" altLang="en-US" sz="2200" b="1">
              <a:solidFill>
                <a:srgbClr val="2E5495"/>
              </a:solidFill>
              <a:latin typeface="微软雅黑" panose="020B0503020204020204" charset="-122"/>
              <a:ea typeface="微软雅黑" panose="020B0503020204020204" charset="-122"/>
              <a:cs typeface="Times New Roman" panose="02020603050405020304" charset="0"/>
            </a:endParaRPr>
          </a:p>
        </p:txBody>
      </p:sp>
      <p:sp>
        <p:nvSpPr>
          <p:cNvPr id="15" name="文本框 14"/>
          <p:cNvSpPr txBox="1"/>
          <p:nvPr/>
        </p:nvSpPr>
        <p:spPr>
          <a:xfrm>
            <a:off x="1017270" y="2315210"/>
            <a:ext cx="3840480" cy="953135"/>
          </a:xfrm>
          <a:prstGeom prst="rect">
            <a:avLst/>
          </a:prstGeom>
          <a:noFill/>
        </p:spPr>
        <p:txBody>
          <a:bodyPr wrap="square" rtlCol="0">
            <a:spAutoFit/>
          </a:bodyPr>
          <a:p>
            <a:pPr>
              <a:lnSpc>
                <a:spcPct val="140000"/>
              </a:lnSpc>
              <a:spcBef>
                <a:spcPts val="0"/>
              </a:spcBef>
              <a:spcAft>
                <a:spcPts val="0"/>
              </a:spcAft>
            </a:pPr>
            <a:r>
              <a:rPr lang="en-US" altLang="zh-CN"/>
              <a:t> </a:t>
            </a:r>
            <a:r>
              <a:rPr lang="zh-CN" altLang="en-US" sz="2000" b="1">
                <a:solidFill>
                  <a:srgbClr val="2E5495"/>
                </a:solidFill>
              </a:rPr>
              <a:t>可以反映</a:t>
            </a:r>
            <a:r>
              <a:rPr lang="zh-CN" altLang="en-US" sz="2000" b="1">
                <a:solidFill>
                  <a:srgbClr val="C00000"/>
                </a:solidFill>
              </a:rPr>
              <a:t>材料、几何和边界非线性</a:t>
            </a:r>
            <a:r>
              <a:rPr lang="zh-CN" altLang="en-US" sz="2000" b="1">
                <a:solidFill>
                  <a:srgbClr val="2E5495"/>
                </a:solidFill>
              </a:rPr>
              <a:t>特征</a:t>
            </a:r>
            <a:endParaRPr lang="zh-CN" altLang="en-US" sz="2000" b="1">
              <a:solidFill>
                <a:srgbClr val="2E5495"/>
              </a:solidFill>
            </a:endParaRPr>
          </a:p>
        </p:txBody>
      </p:sp>
      <p:sp>
        <p:nvSpPr>
          <p:cNvPr id="16" name="椭圆 15"/>
          <p:cNvSpPr/>
          <p:nvPr/>
        </p:nvSpPr>
        <p:spPr>
          <a:xfrm>
            <a:off x="873760" y="2602865"/>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897255" y="3415665"/>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897255" y="4493260"/>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椭圆 18"/>
          <p:cNvSpPr/>
          <p:nvPr/>
        </p:nvSpPr>
        <p:spPr>
          <a:xfrm>
            <a:off x="873760" y="5333365"/>
            <a:ext cx="75565" cy="75565"/>
          </a:xfrm>
          <a:prstGeom prst="ellipse">
            <a:avLst/>
          </a:pr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1059180" y="3261360"/>
            <a:ext cx="3507740" cy="383540"/>
          </a:xfrm>
          <a:prstGeom prst="rect">
            <a:avLst/>
          </a:prstGeom>
          <a:noFill/>
        </p:spPr>
        <p:txBody>
          <a:bodyPr wrap="square" rtlCol="0">
            <a:spAutoFit/>
          </a:bodyPr>
          <a:p>
            <a:r>
              <a:rPr lang="zh-CN" altLang="en-US" sz="1900" b="1">
                <a:solidFill>
                  <a:srgbClr val="2E5495"/>
                </a:solidFill>
              </a:rPr>
              <a:t>可以反映</a:t>
            </a:r>
            <a:r>
              <a:rPr lang="zh-CN" altLang="en-US" sz="1900" b="1">
                <a:solidFill>
                  <a:srgbClr val="C00000"/>
                </a:solidFill>
              </a:rPr>
              <a:t>预应力效应</a:t>
            </a:r>
            <a:endParaRPr lang="zh-CN" altLang="en-US" sz="1900" b="1">
              <a:solidFill>
                <a:srgbClr val="C00000"/>
              </a:solidFill>
            </a:endParaRPr>
          </a:p>
        </p:txBody>
      </p:sp>
      <p:sp>
        <p:nvSpPr>
          <p:cNvPr id="22" name="等腰三角形 21"/>
          <p:cNvSpPr/>
          <p:nvPr/>
        </p:nvSpPr>
        <p:spPr>
          <a:xfrm>
            <a:off x="873760" y="3945255"/>
            <a:ext cx="197485" cy="169545"/>
          </a:xfrm>
          <a:prstGeom prst="triangl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r"/>
            <a:r>
              <a:rPr lang="en-US" altLang="zh-CN" sz="900" b="1"/>
              <a:t> </a:t>
            </a:r>
            <a:endParaRPr lang="zh-CN" altLang="en-US" sz="900" b="1">
              <a:latin typeface="微软雅黑" panose="020B0503020204020204" charset="-122"/>
              <a:ea typeface="微软雅黑" panose="020B0503020204020204" charset="-122"/>
            </a:endParaRPr>
          </a:p>
        </p:txBody>
      </p:sp>
      <p:sp>
        <p:nvSpPr>
          <p:cNvPr id="34" name="文本框 33"/>
          <p:cNvSpPr txBox="1"/>
          <p:nvPr/>
        </p:nvSpPr>
        <p:spPr>
          <a:xfrm>
            <a:off x="849630" y="3946525"/>
            <a:ext cx="209550" cy="245110"/>
          </a:xfrm>
          <a:prstGeom prst="rect">
            <a:avLst/>
          </a:prstGeom>
          <a:noFill/>
        </p:spPr>
        <p:txBody>
          <a:bodyPr wrap="square" rtlCol="0">
            <a:spAutoFit/>
          </a:bodyPr>
          <a:p>
            <a:r>
              <a:rPr lang="zh-CN" altLang="en-US" sz="1000"/>
              <a:t>！</a:t>
            </a:r>
            <a:endParaRPr lang="zh-CN" altLang="en-US" sz="1000"/>
          </a:p>
        </p:txBody>
      </p:sp>
      <p:sp>
        <p:nvSpPr>
          <p:cNvPr id="23" name="文本框 22"/>
          <p:cNvSpPr txBox="1"/>
          <p:nvPr/>
        </p:nvSpPr>
        <p:spPr>
          <a:xfrm>
            <a:off x="1125220" y="3807460"/>
            <a:ext cx="3248660" cy="445135"/>
          </a:xfrm>
          <a:prstGeom prst="rect">
            <a:avLst/>
          </a:prstGeom>
          <a:noFill/>
        </p:spPr>
        <p:txBody>
          <a:bodyPr wrap="square" rtlCol="0">
            <a:spAutoFit/>
          </a:bodyPr>
          <a:p>
            <a:r>
              <a:rPr lang="zh-CN" altLang="en-US" sz="2300" b="1">
                <a:solidFill>
                  <a:srgbClr val="C00000"/>
                </a:solidFill>
              </a:rPr>
              <a:t>应用于大型混塔的不足：</a:t>
            </a:r>
            <a:endParaRPr lang="zh-CN" altLang="en-US" sz="2300" b="1">
              <a:solidFill>
                <a:srgbClr val="C00000"/>
              </a:solidFill>
            </a:endParaRPr>
          </a:p>
        </p:txBody>
      </p:sp>
      <p:sp>
        <p:nvSpPr>
          <p:cNvPr id="24" name="文本框 23"/>
          <p:cNvSpPr txBox="1"/>
          <p:nvPr/>
        </p:nvSpPr>
        <p:spPr>
          <a:xfrm>
            <a:off x="1108710" y="4192905"/>
            <a:ext cx="3818255" cy="1014730"/>
          </a:xfrm>
          <a:prstGeom prst="rect">
            <a:avLst/>
          </a:prstGeom>
          <a:noFill/>
        </p:spPr>
        <p:txBody>
          <a:bodyPr wrap="square" rtlCol="0">
            <a:spAutoFit/>
          </a:bodyPr>
          <a:p>
            <a:pPr>
              <a:lnSpc>
                <a:spcPct val="150000"/>
              </a:lnSpc>
              <a:spcBef>
                <a:spcPts val="0"/>
              </a:spcBef>
              <a:spcAft>
                <a:spcPts val="0"/>
              </a:spcAft>
            </a:pPr>
            <a:r>
              <a:rPr lang="zh-CN" altLang="en-US" sz="2000" b="1"/>
              <a:t>难以考虑</a:t>
            </a:r>
            <a:r>
              <a:rPr lang="zh-CN" altLang="en-US" sz="2000" b="1">
                <a:solidFill>
                  <a:srgbClr val="C00000"/>
                </a:solidFill>
              </a:rPr>
              <a:t>伺服控制策略</a:t>
            </a:r>
            <a:r>
              <a:rPr lang="zh-CN" altLang="en-US" sz="2000" b="1"/>
              <a:t>在实际运行工况中的动态影响</a:t>
            </a:r>
            <a:endParaRPr lang="zh-CN" altLang="en-US" sz="2000" b="1"/>
          </a:p>
        </p:txBody>
      </p:sp>
      <p:sp>
        <p:nvSpPr>
          <p:cNvPr id="25" name="文本框 24"/>
          <p:cNvSpPr txBox="1"/>
          <p:nvPr/>
        </p:nvSpPr>
        <p:spPr>
          <a:xfrm>
            <a:off x="1017270" y="5060315"/>
            <a:ext cx="3945255" cy="1014730"/>
          </a:xfrm>
          <a:prstGeom prst="rect">
            <a:avLst/>
          </a:prstGeom>
          <a:noFill/>
        </p:spPr>
        <p:txBody>
          <a:bodyPr wrap="square" rtlCol="0">
            <a:spAutoFit/>
          </a:bodyPr>
          <a:p>
            <a:pPr>
              <a:lnSpc>
                <a:spcPct val="150000"/>
              </a:lnSpc>
            </a:pPr>
            <a:r>
              <a:rPr lang="zh-CN" altLang="en-US" sz="2000" b="1">
                <a:latin typeface="微软雅黑" panose="020B0503020204020204" charset="-122"/>
                <a:ea typeface="微软雅黑" panose="020B0503020204020204" charset="-122"/>
                <a:cs typeface="微软雅黑" panose="020B0503020204020204" charset="-122"/>
              </a:rPr>
              <a:t>分离式分析，难以体现</a:t>
            </a:r>
            <a:r>
              <a:rPr lang="zh-CN" altLang="en-US" sz="2000" b="1">
                <a:solidFill>
                  <a:srgbClr val="C00000"/>
                </a:solidFill>
                <a:latin typeface="微软雅黑" panose="020B0503020204020204" charset="-122"/>
                <a:ea typeface="微软雅黑" panose="020B0503020204020204" charset="-122"/>
                <a:cs typeface="微软雅黑" panose="020B0503020204020204" charset="-122"/>
              </a:rPr>
              <a:t>风场</a:t>
            </a:r>
            <a:r>
              <a:rPr lang="en-US" altLang="zh-CN" sz="20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00000"/>
                </a:solidFill>
                <a:latin typeface="微软雅黑" panose="020B0503020204020204" charset="-122"/>
                <a:ea typeface="微软雅黑" panose="020B0503020204020204" charset="-122"/>
                <a:cs typeface="微软雅黑" panose="020B0503020204020204" charset="-122"/>
              </a:rPr>
              <a:t>叶片</a:t>
            </a:r>
            <a:r>
              <a:rPr lang="en-US" altLang="zh-CN" sz="20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00000"/>
                </a:solidFill>
                <a:latin typeface="微软雅黑" panose="020B0503020204020204" charset="-122"/>
                <a:ea typeface="微软雅黑" panose="020B0503020204020204" charset="-122"/>
                <a:cs typeface="微软雅黑" panose="020B0503020204020204" charset="-122"/>
              </a:rPr>
              <a:t>伺服控制</a:t>
            </a:r>
            <a:r>
              <a:rPr lang="en-US" altLang="zh-CN" sz="20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00000"/>
                </a:solidFill>
                <a:latin typeface="微软雅黑" panose="020B0503020204020204" charset="-122"/>
                <a:ea typeface="微软雅黑" panose="020B0503020204020204" charset="-122"/>
                <a:cs typeface="微软雅黑" panose="020B0503020204020204" charset="-122"/>
              </a:rPr>
              <a:t>塔架的耦合</a:t>
            </a:r>
            <a:r>
              <a:rPr lang="zh-CN" altLang="en-US" sz="2000" b="1">
                <a:latin typeface="微软雅黑" panose="020B0503020204020204" charset="-122"/>
                <a:ea typeface="微软雅黑" panose="020B0503020204020204" charset="-122"/>
                <a:cs typeface="微软雅黑" panose="020B0503020204020204" charset="-122"/>
              </a:rPr>
              <a:t>特征</a:t>
            </a:r>
            <a:endParaRPr lang="zh-CN" altLang="en-US" sz="2000" b="1">
              <a:latin typeface="微软雅黑" panose="020B0503020204020204" charset="-122"/>
              <a:ea typeface="微软雅黑" panose="020B0503020204020204" charset="-122"/>
              <a:cs typeface="微软雅黑" panose="020B0503020204020204" charset="-122"/>
            </a:endParaRPr>
          </a:p>
        </p:txBody>
      </p:sp>
      <p:pic>
        <p:nvPicPr>
          <p:cNvPr id="26" name="图片 25" descr="17.1.1"/>
          <p:cNvPicPr>
            <a:picLocks noChangeAspect="1"/>
          </p:cNvPicPr>
          <p:nvPr/>
        </p:nvPicPr>
        <p:blipFill>
          <a:blip r:embed="rId1"/>
          <a:srcRect b="2799"/>
          <a:stretch>
            <a:fillRect/>
          </a:stretch>
        </p:blipFill>
        <p:spPr>
          <a:xfrm>
            <a:off x="5030470" y="1684020"/>
            <a:ext cx="6363970" cy="4552950"/>
          </a:xfrm>
          <a:prstGeom prst="rect">
            <a:avLst/>
          </a:prstGeom>
        </p:spPr>
      </p:pic>
      <p:sp>
        <p:nvSpPr>
          <p:cNvPr id="27" name="文本框 26"/>
          <p:cNvSpPr txBox="1"/>
          <p:nvPr/>
        </p:nvSpPr>
        <p:spPr>
          <a:xfrm>
            <a:off x="4778375" y="5917565"/>
            <a:ext cx="252095" cy="245110"/>
          </a:xfrm>
          <a:prstGeom prst="rect">
            <a:avLst/>
          </a:prstGeom>
          <a:noFill/>
        </p:spPr>
        <p:txBody>
          <a:bodyPr wrap="square" rtlCol="0">
            <a:spAutoFit/>
          </a:bodyPr>
          <a:p>
            <a:r>
              <a:rPr lang="en-US" altLang="zh-CN" sz="1000" b="1">
                <a:latin typeface="微软雅黑" panose="020B0503020204020204" charset="-122"/>
                <a:ea typeface="微软雅黑" panose="020B0503020204020204" charset="-122"/>
              </a:rPr>
              <a:t>z</a:t>
            </a:r>
            <a:endParaRPr lang="en-US" altLang="zh-CN" sz="1000" b="1">
              <a:latin typeface="微软雅黑" panose="020B0503020204020204" charset="-122"/>
              <a:ea typeface="微软雅黑" panose="020B0503020204020204" charset="-122"/>
            </a:endParaRPr>
          </a:p>
        </p:txBody>
      </p:sp>
      <p:sp>
        <p:nvSpPr>
          <p:cNvPr id="2" name="文本框 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17/68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35075" y="1116965"/>
            <a:ext cx="734758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大型风电机组动力学仿真现状</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(3): </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现有方法小结与思路</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endParaRPr lang="zh-CN" altLang="en-US" sz="2300" b="1">
              <a:solidFill>
                <a:srgbClr val="C00000"/>
              </a:solidFill>
            </a:endParaRPr>
          </a:p>
        </p:txBody>
      </p:sp>
      <p:sp>
        <p:nvSpPr>
          <p:cNvPr id="12" name="矩形 11"/>
          <p:cNvSpPr/>
          <p:nvPr/>
        </p:nvSpPr>
        <p:spPr>
          <a:xfrm>
            <a:off x="873760" y="1739265"/>
            <a:ext cx="339090" cy="1993900"/>
          </a:xfrm>
          <a:prstGeom prst="rect">
            <a:avLst/>
          </a:prstGeom>
          <a:solidFill>
            <a:srgbClr val="E0E5D1"/>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矩形 14"/>
          <p:cNvSpPr/>
          <p:nvPr/>
        </p:nvSpPr>
        <p:spPr>
          <a:xfrm>
            <a:off x="1479550" y="1644015"/>
            <a:ext cx="762000" cy="4445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文本框 15"/>
          <p:cNvSpPr txBox="1"/>
          <p:nvPr/>
        </p:nvSpPr>
        <p:spPr>
          <a:xfrm>
            <a:off x="892810" y="1805940"/>
            <a:ext cx="320040" cy="1783715"/>
          </a:xfrm>
          <a:prstGeom prst="rect">
            <a:avLst/>
          </a:prstGeom>
          <a:noFill/>
        </p:spPr>
        <p:txBody>
          <a:bodyPr wrap="square" rtlCol="0">
            <a:spAutoFit/>
          </a:bodyPr>
          <a:p>
            <a:r>
              <a:rPr lang="zh-CN" altLang="en-US" sz="1100"/>
              <a:t>风电机组数值模拟方法</a:t>
            </a:r>
            <a:endParaRPr lang="zh-CN" altLang="en-US" sz="1100"/>
          </a:p>
        </p:txBody>
      </p:sp>
      <p:sp>
        <p:nvSpPr>
          <p:cNvPr id="17" name="下箭头 16"/>
          <p:cNvSpPr/>
          <p:nvPr/>
        </p:nvSpPr>
        <p:spPr>
          <a:xfrm>
            <a:off x="1517650" y="3834765"/>
            <a:ext cx="603250" cy="177800"/>
          </a:xfrm>
          <a:prstGeom prst="downArrow">
            <a:avLst/>
          </a:prstGeom>
          <a:solidFill>
            <a:srgbClr val="E0E5D1"/>
          </a:solidFill>
          <a:ln>
            <a:solidFill>
              <a:srgbClr val="8B8D8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矩形 17"/>
          <p:cNvSpPr/>
          <p:nvPr/>
        </p:nvSpPr>
        <p:spPr>
          <a:xfrm>
            <a:off x="1466850" y="3345815"/>
            <a:ext cx="755650" cy="4445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矩形 18"/>
          <p:cNvSpPr/>
          <p:nvPr/>
        </p:nvSpPr>
        <p:spPr>
          <a:xfrm>
            <a:off x="1136650" y="4012565"/>
            <a:ext cx="1111250" cy="825500"/>
          </a:xfrm>
          <a:prstGeom prst="rect">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矩形 19"/>
          <p:cNvSpPr/>
          <p:nvPr/>
        </p:nvSpPr>
        <p:spPr>
          <a:xfrm>
            <a:off x="2476500" y="1517015"/>
            <a:ext cx="1574800" cy="2794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矩形 20"/>
          <p:cNvSpPr/>
          <p:nvPr/>
        </p:nvSpPr>
        <p:spPr>
          <a:xfrm>
            <a:off x="2495550" y="1942465"/>
            <a:ext cx="5568950" cy="27305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矩形 21"/>
          <p:cNvSpPr/>
          <p:nvPr/>
        </p:nvSpPr>
        <p:spPr>
          <a:xfrm>
            <a:off x="2495550" y="2431415"/>
            <a:ext cx="762000" cy="4445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矩形 22"/>
          <p:cNvSpPr/>
          <p:nvPr/>
        </p:nvSpPr>
        <p:spPr>
          <a:xfrm>
            <a:off x="3536950" y="2317115"/>
            <a:ext cx="1562100" cy="2794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4" name="矩形 23"/>
          <p:cNvSpPr/>
          <p:nvPr/>
        </p:nvSpPr>
        <p:spPr>
          <a:xfrm>
            <a:off x="3524250" y="2717165"/>
            <a:ext cx="3409950" cy="2667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矩形 24"/>
          <p:cNvSpPr/>
          <p:nvPr/>
        </p:nvSpPr>
        <p:spPr>
          <a:xfrm>
            <a:off x="2495550" y="4139565"/>
            <a:ext cx="762000" cy="6096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矩形 25"/>
          <p:cNvSpPr/>
          <p:nvPr/>
        </p:nvSpPr>
        <p:spPr>
          <a:xfrm>
            <a:off x="3524250" y="3345815"/>
            <a:ext cx="768350" cy="4572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矩形 26"/>
          <p:cNvSpPr/>
          <p:nvPr/>
        </p:nvSpPr>
        <p:spPr>
          <a:xfrm>
            <a:off x="4572000" y="3079115"/>
            <a:ext cx="3498850" cy="45085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矩形 27"/>
          <p:cNvSpPr/>
          <p:nvPr/>
        </p:nvSpPr>
        <p:spPr>
          <a:xfrm>
            <a:off x="4584700" y="3644265"/>
            <a:ext cx="3479800" cy="43815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下箭头 28"/>
          <p:cNvSpPr/>
          <p:nvPr/>
        </p:nvSpPr>
        <p:spPr>
          <a:xfrm>
            <a:off x="3695700" y="3835400"/>
            <a:ext cx="457200" cy="304165"/>
          </a:xfrm>
          <a:prstGeom prst="downArrow">
            <a:avLst/>
          </a:prstGeom>
          <a:solidFill>
            <a:srgbClr val="E0E5D1"/>
          </a:solidFill>
          <a:ln>
            <a:solidFill>
              <a:srgbClr val="8B8D8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下箭头 29"/>
          <p:cNvSpPr/>
          <p:nvPr/>
        </p:nvSpPr>
        <p:spPr>
          <a:xfrm>
            <a:off x="3695700" y="5606415"/>
            <a:ext cx="416560" cy="196850"/>
          </a:xfrm>
          <a:prstGeom prst="downArrow">
            <a:avLst/>
          </a:prstGeom>
          <a:solidFill>
            <a:srgbClr val="E0E5D1"/>
          </a:solidFill>
          <a:ln>
            <a:solidFill>
              <a:srgbClr val="8B8D8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矩形 30"/>
          <p:cNvSpPr/>
          <p:nvPr/>
        </p:nvSpPr>
        <p:spPr>
          <a:xfrm>
            <a:off x="3524250" y="4158615"/>
            <a:ext cx="3721100" cy="37465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矩形 31"/>
          <p:cNvSpPr/>
          <p:nvPr/>
        </p:nvSpPr>
        <p:spPr>
          <a:xfrm>
            <a:off x="4584700" y="4742815"/>
            <a:ext cx="622300" cy="2794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矩形 32"/>
          <p:cNvSpPr/>
          <p:nvPr/>
        </p:nvSpPr>
        <p:spPr>
          <a:xfrm>
            <a:off x="4584700" y="5041265"/>
            <a:ext cx="615950" cy="2667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4" name="矩形 33"/>
          <p:cNvSpPr/>
          <p:nvPr/>
        </p:nvSpPr>
        <p:spPr>
          <a:xfrm>
            <a:off x="5499100" y="4615815"/>
            <a:ext cx="2552700" cy="31115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矩形 34"/>
          <p:cNvSpPr/>
          <p:nvPr/>
        </p:nvSpPr>
        <p:spPr>
          <a:xfrm>
            <a:off x="5499100" y="5022215"/>
            <a:ext cx="2559050" cy="4445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6" name="矩形 35"/>
          <p:cNvSpPr/>
          <p:nvPr/>
        </p:nvSpPr>
        <p:spPr>
          <a:xfrm>
            <a:off x="5505450" y="5574665"/>
            <a:ext cx="2552700" cy="2667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7" name="矩形 36"/>
          <p:cNvSpPr/>
          <p:nvPr/>
        </p:nvSpPr>
        <p:spPr>
          <a:xfrm>
            <a:off x="5505450" y="5942965"/>
            <a:ext cx="2552700" cy="2667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8" name="矩形 37"/>
          <p:cNvSpPr/>
          <p:nvPr/>
        </p:nvSpPr>
        <p:spPr>
          <a:xfrm>
            <a:off x="4591050" y="5663565"/>
            <a:ext cx="615950" cy="4318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9" name="矩形 38"/>
          <p:cNvSpPr/>
          <p:nvPr/>
        </p:nvSpPr>
        <p:spPr>
          <a:xfrm>
            <a:off x="3486150" y="5835015"/>
            <a:ext cx="882650" cy="622300"/>
          </a:xfrm>
          <a:prstGeom prst="rect">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0" name="矩形 39"/>
          <p:cNvSpPr/>
          <p:nvPr/>
        </p:nvSpPr>
        <p:spPr>
          <a:xfrm>
            <a:off x="8356600" y="1644015"/>
            <a:ext cx="3130550" cy="123190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2" name="下箭头 41"/>
          <p:cNvSpPr/>
          <p:nvPr/>
        </p:nvSpPr>
        <p:spPr>
          <a:xfrm>
            <a:off x="9398000" y="2996565"/>
            <a:ext cx="970915" cy="533400"/>
          </a:xfrm>
          <a:prstGeom prst="downArrow">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矩形 42"/>
          <p:cNvSpPr/>
          <p:nvPr/>
        </p:nvSpPr>
        <p:spPr>
          <a:xfrm>
            <a:off x="8274050" y="3650615"/>
            <a:ext cx="3206750" cy="267970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4" name="文本框 43"/>
          <p:cNvSpPr txBox="1"/>
          <p:nvPr/>
        </p:nvSpPr>
        <p:spPr>
          <a:xfrm>
            <a:off x="1543050" y="1652270"/>
            <a:ext cx="660400" cy="429895"/>
          </a:xfrm>
          <a:prstGeom prst="rect">
            <a:avLst/>
          </a:prstGeom>
          <a:noFill/>
        </p:spPr>
        <p:txBody>
          <a:bodyPr wrap="square" rtlCol="0">
            <a:spAutoFit/>
          </a:bodyPr>
          <a:p>
            <a:r>
              <a:rPr lang="zh-CN" altLang="en-US" sz="1100"/>
              <a:t>部件单独分析</a:t>
            </a:r>
            <a:endParaRPr lang="zh-CN" altLang="en-US" sz="1100"/>
          </a:p>
        </p:txBody>
      </p:sp>
      <p:sp>
        <p:nvSpPr>
          <p:cNvPr id="45" name="文本框 44"/>
          <p:cNvSpPr txBox="1"/>
          <p:nvPr/>
        </p:nvSpPr>
        <p:spPr>
          <a:xfrm>
            <a:off x="2476500" y="1517015"/>
            <a:ext cx="1752600" cy="275590"/>
          </a:xfrm>
          <a:prstGeom prst="rect">
            <a:avLst/>
          </a:prstGeom>
          <a:noFill/>
        </p:spPr>
        <p:txBody>
          <a:bodyPr wrap="square" rtlCol="0">
            <a:spAutoFit/>
          </a:bodyPr>
          <a:p>
            <a:r>
              <a:rPr lang="zh-CN" altLang="en-US" sz="1200">
                <a:latin typeface="微软雅黑" panose="020B0503020204020204" charset="-122"/>
                <a:ea typeface="微软雅黑" panose="020B0503020204020204" charset="-122"/>
                <a:cs typeface="微软雅黑" panose="020B0503020204020204" charset="-122"/>
              </a:rPr>
              <a:t>优点</a:t>
            </a:r>
            <a:r>
              <a:rPr lang="en-US" altLang="zh-CN" sz="1200">
                <a:latin typeface="微软雅黑" panose="020B0503020204020204" charset="-122"/>
                <a:ea typeface="微软雅黑" panose="020B0503020204020204" charset="-122"/>
                <a:cs typeface="微软雅黑" panose="020B0503020204020204" charset="-122"/>
              </a:rPr>
              <a:t>:  相对简单直接</a:t>
            </a:r>
            <a:endParaRPr lang="en-US" altLang="zh-CN" sz="1200">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2476500" y="1939925"/>
            <a:ext cx="5441315" cy="275590"/>
          </a:xfrm>
          <a:prstGeom prst="rect">
            <a:avLst/>
          </a:prstGeom>
          <a:noFill/>
        </p:spPr>
        <p:txBody>
          <a:bodyPr wrap="square" rtlCol="0">
            <a:spAutoFit/>
          </a:bodyPr>
          <a:p>
            <a:r>
              <a:rPr lang="zh-CN" altLang="en-US" sz="1200"/>
              <a:t>局限：非耦合、拟静力，忽略了荷载与结构、结构各部分之间的多场耦合效应</a:t>
            </a:r>
            <a:endParaRPr lang="zh-CN" altLang="en-US" sz="1200"/>
          </a:p>
        </p:txBody>
      </p:sp>
      <p:sp>
        <p:nvSpPr>
          <p:cNvPr id="47" name="文本框 46"/>
          <p:cNvSpPr txBox="1"/>
          <p:nvPr/>
        </p:nvSpPr>
        <p:spPr>
          <a:xfrm>
            <a:off x="1479550" y="3342640"/>
            <a:ext cx="857885" cy="460375"/>
          </a:xfrm>
          <a:prstGeom prst="rect">
            <a:avLst/>
          </a:prstGeom>
          <a:noFill/>
        </p:spPr>
        <p:txBody>
          <a:bodyPr wrap="square" rtlCol="0">
            <a:spAutoFit/>
          </a:bodyPr>
          <a:p>
            <a:r>
              <a:rPr lang="zh-CN" altLang="en-US" sz="1200"/>
              <a:t>一体化</a:t>
            </a:r>
            <a:endParaRPr lang="zh-CN" altLang="en-US" sz="1200"/>
          </a:p>
          <a:p>
            <a:r>
              <a:rPr lang="zh-CN" altLang="en-US" sz="1200"/>
              <a:t>分析模型</a:t>
            </a:r>
            <a:endParaRPr lang="zh-CN" altLang="en-US" sz="1200"/>
          </a:p>
        </p:txBody>
      </p:sp>
      <p:sp>
        <p:nvSpPr>
          <p:cNvPr id="48" name="文本框 47"/>
          <p:cNvSpPr txBox="1"/>
          <p:nvPr/>
        </p:nvSpPr>
        <p:spPr>
          <a:xfrm>
            <a:off x="1149350" y="4012565"/>
            <a:ext cx="1123950" cy="860425"/>
          </a:xfrm>
          <a:prstGeom prst="rect">
            <a:avLst/>
          </a:prstGeom>
          <a:noFill/>
        </p:spPr>
        <p:txBody>
          <a:bodyPr wrap="square" rtlCol="0">
            <a:spAutoFit/>
          </a:bodyPr>
          <a:p>
            <a:pPr algn="ctr"/>
            <a:r>
              <a:rPr lang="zh-CN" altLang="en-US" sz="1000"/>
              <a:t>通过Lagrange法、Newton-Eular法、Kanc法等经典力学原理推导出系统的动力方程</a:t>
            </a:r>
            <a:endParaRPr lang="zh-CN" altLang="en-US" sz="1000"/>
          </a:p>
        </p:txBody>
      </p:sp>
      <p:sp>
        <p:nvSpPr>
          <p:cNvPr id="49" name="文本框 48"/>
          <p:cNvSpPr txBox="1"/>
          <p:nvPr/>
        </p:nvSpPr>
        <p:spPr>
          <a:xfrm>
            <a:off x="2495550" y="2431415"/>
            <a:ext cx="800735" cy="460375"/>
          </a:xfrm>
          <a:prstGeom prst="rect">
            <a:avLst/>
          </a:prstGeom>
          <a:noFill/>
        </p:spPr>
        <p:txBody>
          <a:bodyPr wrap="square" rtlCol="0">
            <a:spAutoFit/>
          </a:bodyPr>
          <a:p>
            <a:r>
              <a:rPr lang="zh-CN" altLang="en-US" sz="1200"/>
              <a:t>多刚体动</a:t>
            </a:r>
            <a:endParaRPr lang="zh-CN" altLang="en-US" sz="1200"/>
          </a:p>
          <a:p>
            <a:r>
              <a:rPr lang="zh-CN" altLang="en-US" sz="1200"/>
              <a:t>力学模型</a:t>
            </a:r>
            <a:endParaRPr lang="zh-CN" altLang="en-US" sz="1200"/>
          </a:p>
        </p:txBody>
      </p:sp>
      <p:sp>
        <p:nvSpPr>
          <p:cNvPr id="50" name="文本框 49"/>
          <p:cNvSpPr txBox="1"/>
          <p:nvPr/>
        </p:nvSpPr>
        <p:spPr>
          <a:xfrm>
            <a:off x="3486150" y="2317115"/>
            <a:ext cx="1625600" cy="275590"/>
          </a:xfrm>
          <a:prstGeom prst="rect">
            <a:avLst/>
          </a:prstGeom>
          <a:noFill/>
        </p:spPr>
        <p:txBody>
          <a:bodyPr wrap="square" rtlCol="0">
            <a:spAutoFit/>
          </a:bodyPr>
          <a:p>
            <a:r>
              <a:rPr lang="zh-CN" altLang="en-US" sz="1200"/>
              <a:t>优点：计算效率较高</a:t>
            </a:r>
            <a:endParaRPr lang="zh-CN" altLang="en-US" sz="1200"/>
          </a:p>
        </p:txBody>
      </p:sp>
      <p:sp>
        <p:nvSpPr>
          <p:cNvPr id="51" name="文本框 50"/>
          <p:cNvSpPr txBox="1"/>
          <p:nvPr/>
        </p:nvSpPr>
        <p:spPr>
          <a:xfrm>
            <a:off x="3493135" y="2708275"/>
            <a:ext cx="3752215" cy="275590"/>
          </a:xfrm>
          <a:prstGeom prst="rect">
            <a:avLst/>
          </a:prstGeom>
          <a:noFill/>
        </p:spPr>
        <p:txBody>
          <a:bodyPr wrap="square" rtlCol="0">
            <a:spAutoFit/>
          </a:bodyPr>
          <a:p>
            <a:r>
              <a:rPr lang="zh-CN" altLang="en-US" sz="1200"/>
              <a:t>局限：无法捕提柔性部件的弹性特征，精度受限</a:t>
            </a:r>
            <a:endParaRPr lang="zh-CN" altLang="en-US" sz="1200"/>
          </a:p>
        </p:txBody>
      </p:sp>
      <p:sp>
        <p:nvSpPr>
          <p:cNvPr id="52" name="文本框 51"/>
          <p:cNvSpPr txBox="1"/>
          <p:nvPr/>
        </p:nvSpPr>
        <p:spPr>
          <a:xfrm>
            <a:off x="3657600" y="3345815"/>
            <a:ext cx="711200" cy="460375"/>
          </a:xfrm>
          <a:prstGeom prst="rect">
            <a:avLst/>
          </a:prstGeom>
          <a:noFill/>
        </p:spPr>
        <p:txBody>
          <a:bodyPr wrap="square" rtlCol="0">
            <a:spAutoFit/>
          </a:bodyPr>
          <a:p>
            <a:r>
              <a:rPr lang="zh-CN" altLang="en-US" sz="1200"/>
              <a:t>模态</a:t>
            </a:r>
            <a:endParaRPr lang="zh-CN" altLang="en-US" sz="1200"/>
          </a:p>
          <a:p>
            <a:r>
              <a:rPr lang="zh-CN" altLang="en-US" sz="1200"/>
              <a:t>叠加法</a:t>
            </a:r>
            <a:endParaRPr lang="zh-CN" altLang="en-US" sz="1200"/>
          </a:p>
        </p:txBody>
      </p:sp>
      <p:sp>
        <p:nvSpPr>
          <p:cNvPr id="53" name="文本框 52"/>
          <p:cNvSpPr txBox="1"/>
          <p:nvPr/>
        </p:nvSpPr>
        <p:spPr>
          <a:xfrm>
            <a:off x="4559935" y="3069590"/>
            <a:ext cx="3631565" cy="460375"/>
          </a:xfrm>
          <a:prstGeom prst="rect">
            <a:avLst/>
          </a:prstGeom>
          <a:noFill/>
        </p:spPr>
        <p:txBody>
          <a:bodyPr wrap="square" rtlCol="0">
            <a:spAutoFit/>
          </a:bodyPr>
          <a:p>
            <a:r>
              <a:rPr lang="zh-CN" altLang="en-US" sz="1200"/>
              <a:t>优点：计算效率高，对于全钢塔架和具有线性材料</a:t>
            </a:r>
            <a:endParaRPr lang="zh-CN" altLang="en-US" sz="1200"/>
          </a:p>
          <a:p>
            <a:r>
              <a:rPr lang="zh-CN" altLang="en-US" sz="1200"/>
              <a:t>本构的结构，其精度足够</a:t>
            </a:r>
            <a:endParaRPr lang="zh-CN" altLang="en-US" sz="1200"/>
          </a:p>
        </p:txBody>
      </p:sp>
      <p:sp>
        <p:nvSpPr>
          <p:cNvPr id="54" name="文本框 53"/>
          <p:cNvSpPr txBox="1"/>
          <p:nvPr/>
        </p:nvSpPr>
        <p:spPr>
          <a:xfrm>
            <a:off x="4559935" y="3622040"/>
            <a:ext cx="3587115" cy="460375"/>
          </a:xfrm>
          <a:prstGeom prst="rect">
            <a:avLst/>
          </a:prstGeom>
          <a:noFill/>
        </p:spPr>
        <p:txBody>
          <a:bodyPr wrap="square" rtlCol="0">
            <a:spAutoFit/>
          </a:bodyPr>
          <a:p>
            <a:r>
              <a:rPr lang="zh-CN" altLang="en-US" sz="1200"/>
              <a:t>局限：难以揭示大型混塔式风电机组存在的非线性特性，无法获得结构准确的应力和应变</a:t>
            </a:r>
            <a:endParaRPr lang="zh-CN" altLang="en-US" sz="1200"/>
          </a:p>
        </p:txBody>
      </p:sp>
      <p:sp>
        <p:nvSpPr>
          <p:cNvPr id="55" name="文本框 54"/>
          <p:cNvSpPr txBox="1"/>
          <p:nvPr/>
        </p:nvSpPr>
        <p:spPr>
          <a:xfrm>
            <a:off x="2438400" y="4139565"/>
            <a:ext cx="819150" cy="645160"/>
          </a:xfrm>
          <a:prstGeom prst="rect">
            <a:avLst/>
          </a:prstGeom>
          <a:noFill/>
        </p:spPr>
        <p:txBody>
          <a:bodyPr wrap="square" rtlCol="0">
            <a:spAutoFit/>
          </a:bodyPr>
          <a:p>
            <a:pPr algn="ctr"/>
            <a:r>
              <a:rPr lang="zh-CN" altLang="en-US" sz="1200"/>
              <a:t>刚</a:t>
            </a:r>
            <a:r>
              <a:rPr lang="en-US" altLang="zh-CN" sz="1200"/>
              <a:t> </a:t>
            </a:r>
            <a:r>
              <a:rPr lang="zh-CN" altLang="en-US" sz="1200"/>
              <a:t>-</a:t>
            </a:r>
            <a:r>
              <a:rPr lang="en-US" altLang="zh-CN" sz="1200"/>
              <a:t> </a:t>
            </a:r>
            <a:r>
              <a:rPr lang="zh-CN" altLang="en-US" sz="1200"/>
              <a:t>柔耦合动力学模型</a:t>
            </a:r>
            <a:endParaRPr lang="zh-CN" altLang="en-US" sz="1200"/>
          </a:p>
        </p:txBody>
      </p:sp>
      <p:sp>
        <p:nvSpPr>
          <p:cNvPr id="56" name="文本框 55"/>
          <p:cNvSpPr txBox="1"/>
          <p:nvPr/>
        </p:nvSpPr>
        <p:spPr>
          <a:xfrm>
            <a:off x="3486150" y="4139565"/>
            <a:ext cx="4349115" cy="398780"/>
          </a:xfrm>
          <a:prstGeom prst="rect">
            <a:avLst/>
          </a:prstGeom>
          <a:noFill/>
        </p:spPr>
        <p:txBody>
          <a:bodyPr wrap="square" rtlCol="0">
            <a:spAutoFit/>
          </a:bodyPr>
          <a:p>
            <a:r>
              <a:rPr lang="zh-CN" altLang="en-US" sz="1000">
                <a:latin typeface="微软雅黑" panose="020B0503020204020204" charset="-122"/>
                <a:ea typeface="微软雅黑" panose="020B0503020204020204" charset="-122"/>
                <a:cs typeface="微软雅黑" panose="020B0503020204020204" charset="-122"/>
              </a:rPr>
              <a:t>行业内主流分析手段，如：丹麦技术大学（DTU)开发的Flcxs</a:t>
            </a:r>
            <a:r>
              <a:rPr lang="en-US" altLang="zh-CN" sz="1000">
                <a:latin typeface="微软雅黑" panose="020B0503020204020204" charset="-122"/>
                <a:ea typeface="微软雅黑" panose="020B0503020204020204" charset="-122"/>
                <a:cs typeface="微软雅黑" panose="020B0503020204020204" charset="-122"/>
              </a:rPr>
              <a:t>5</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美国可再生能源实验室（NREL)开发的OpenFAST</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3524250" y="5295265"/>
            <a:ext cx="819150" cy="275590"/>
          </a:xfrm>
          <a:prstGeom prst="rect">
            <a:avLst/>
          </a:prstGeom>
          <a:noFill/>
        </p:spPr>
        <p:txBody>
          <a:bodyPr wrap="square" rtlCol="0">
            <a:spAutoFit/>
          </a:bodyPr>
          <a:p>
            <a:r>
              <a:rPr lang="zh-CN" altLang="en-US" sz="1200"/>
              <a:t>有限元法</a:t>
            </a:r>
            <a:endParaRPr lang="zh-CN" altLang="en-US" sz="1200"/>
          </a:p>
        </p:txBody>
      </p:sp>
      <p:sp>
        <p:nvSpPr>
          <p:cNvPr id="58" name="矩形 57"/>
          <p:cNvSpPr/>
          <p:nvPr/>
        </p:nvSpPr>
        <p:spPr>
          <a:xfrm>
            <a:off x="3524250" y="5295265"/>
            <a:ext cx="774700" cy="2667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9" name="文本框 58"/>
          <p:cNvSpPr txBox="1"/>
          <p:nvPr/>
        </p:nvSpPr>
        <p:spPr>
          <a:xfrm>
            <a:off x="3450590" y="5803265"/>
            <a:ext cx="892810" cy="706755"/>
          </a:xfrm>
          <a:prstGeom prst="rect">
            <a:avLst/>
          </a:prstGeom>
          <a:noFill/>
        </p:spPr>
        <p:txBody>
          <a:bodyPr wrap="square" rtlCol="0">
            <a:spAutoFit/>
          </a:bodyPr>
          <a:p>
            <a:r>
              <a:rPr lang="zh-CN" altLang="en-US" sz="1000">
                <a:latin typeface="微软雅黑" panose="020B0503020204020204" charset="-122"/>
                <a:ea typeface="微软雅黑" panose="020B0503020204020204" charset="-122"/>
                <a:cs typeface="微软雅黑" panose="020B0503020204020204" charset="-122"/>
              </a:rPr>
              <a:t>非线性特性</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几何非线性材料非线性边界非线性</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4559935" y="4749165"/>
            <a:ext cx="678815" cy="275590"/>
          </a:xfrm>
          <a:prstGeom prst="rect">
            <a:avLst/>
          </a:prstGeom>
          <a:noFill/>
        </p:spPr>
        <p:txBody>
          <a:bodyPr wrap="square" rtlCol="0">
            <a:spAutoFit/>
          </a:bodyPr>
          <a:p>
            <a:r>
              <a:rPr lang="zh-CN" altLang="en-US" sz="1200"/>
              <a:t>梁单元</a:t>
            </a:r>
            <a:endParaRPr lang="zh-CN" altLang="en-US" sz="1200"/>
          </a:p>
        </p:txBody>
      </p:sp>
      <p:sp>
        <p:nvSpPr>
          <p:cNvPr id="61" name="文本框 60"/>
          <p:cNvSpPr txBox="1"/>
          <p:nvPr/>
        </p:nvSpPr>
        <p:spPr>
          <a:xfrm>
            <a:off x="4559935" y="5041265"/>
            <a:ext cx="660400" cy="275590"/>
          </a:xfrm>
          <a:prstGeom prst="rect">
            <a:avLst/>
          </a:prstGeom>
          <a:noFill/>
        </p:spPr>
        <p:txBody>
          <a:bodyPr wrap="square" rtlCol="0">
            <a:spAutoFit/>
          </a:bodyPr>
          <a:p>
            <a:r>
              <a:rPr lang="zh-CN" altLang="en-US" sz="1200"/>
              <a:t>壳单元</a:t>
            </a:r>
            <a:endParaRPr lang="zh-CN" altLang="en-US" sz="1200"/>
          </a:p>
        </p:txBody>
      </p:sp>
      <p:sp>
        <p:nvSpPr>
          <p:cNvPr id="62" name="文本框 61"/>
          <p:cNvSpPr txBox="1"/>
          <p:nvPr/>
        </p:nvSpPr>
        <p:spPr>
          <a:xfrm>
            <a:off x="4629150" y="5634990"/>
            <a:ext cx="609600" cy="460375"/>
          </a:xfrm>
          <a:prstGeom prst="rect">
            <a:avLst/>
          </a:prstGeom>
          <a:noFill/>
        </p:spPr>
        <p:txBody>
          <a:bodyPr wrap="square" rtlCol="0">
            <a:spAutoFit/>
          </a:bodyPr>
          <a:p>
            <a:r>
              <a:rPr lang="zh-CN" altLang="en-US" sz="1200"/>
              <a:t>实体单元</a:t>
            </a:r>
            <a:endParaRPr lang="zh-CN" altLang="en-US" sz="1200"/>
          </a:p>
        </p:txBody>
      </p:sp>
      <p:sp>
        <p:nvSpPr>
          <p:cNvPr id="63" name="文本框 62"/>
          <p:cNvSpPr txBox="1"/>
          <p:nvPr/>
        </p:nvSpPr>
        <p:spPr>
          <a:xfrm>
            <a:off x="5499100" y="4651375"/>
            <a:ext cx="2409825" cy="275590"/>
          </a:xfrm>
          <a:prstGeom prst="rect">
            <a:avLst/>
          </a:prstGeom>
          <a:noFill/>
        </p:spPr>
        <p:txBody>
          <a:bodyPr wrap="square" rtlCol="0">
            <a:spAutoFit/>
          </a:bodyPr>
          <a:p>
            <a:r>
              <a:rPr lang="zh-CN" altLang="en-US" sz="1200"/>
              <a:t>优点：建模简单、计算效率较高</a:t>
            </a:r>
            <a:endParaRPr lang="zh-CN" altLang="en-US" sz="1200"/>
          </a:p>
        </p:txBody>
      </p:sp>
      <p:sp>
        <p:nvSpPr>
          <p:cNvPr id="64" name="文本框 63"/>
          <p:cNvSpPr txBox="1"/>
          <p:nvPr/>
        </p:nvSpPr>
        <p:spPr>
          <a:xfrm>
            <a:off x="5499100" y="5024755"/>
            <a:ext cx="2647315" cy="460375"/>
          </a:xfrm>
          <a:prstGeom prst="rect">
            <a:avLst/>
          </a:prstGeom>
          <a:noFill/>
        </p:spPr>
        <p:txBody>
          <a:bodyPr wrap="square" rtlCol="0">
            <a:spAutoFit/>
          </a:bodyPr>
          <a:p>
            <a:r>
              <a:rPr lang="zh-CN" altLang="en-US" sz="1200"/>
              <a:t>局限：难以体现大型混塔式风电机组中特有的全耦合与预应力特性</a:t>
            </a:r>
            <a:endParaRPr lang="zh-CN" altLang="en-US" sz="1200"/>
          </a:p>
        </p:txBody>
      </p:sp>
      <p:sp>
        <p:nvSpPr>
          <p:cNvPr id="65" name="文本框 64"/>
          <p:cNvSpPr txBox="1"/>
          <p:nvPr/>
        </p:nvSpPr>
        <p:spPr>
          <a:xfrm>
            <a:off x="5499100" y="5561965"/>
            <a:ext cx="2634615" cy="275590"/>
          </a:xfrm>
          <a:prstGeom prst="rect">
            <a:avLst/>
          </a:prstGeom>
          <a:noFill/>
        </p:spPr>
        <p:txBody>
          <a:bodyPr wrap="square" rtlCol="0">
            <a:spAutoFit/>
          </a:bodyPr>
          <a:p>
            <a:r>
              <a:rPr lang="zh-CN" altLang="en-US" sz="1200"/>
              <a:t>优点：精细化建模，分析精度高</a:t>
            </a:r>
            <a:endParaRPr lang="zh-CN" altLang="en-US" sz="1200"/>
          </a:p>
        </p:txBody>
      </p:sp>
      <p:sp>
        <p:nvSpPr>
          <p:cNvPr id="66" name="文本框 65"/>
          <p:cNvSpPr txBox="1"/>
          <p:nvPr/>
        </p:nvSpPr>
        <p:spPr>
          <a:xfrm>
            <a:off x="5459730" y="5934075"/>
            <a:ext cx="2814320" cy="275590"/>
          </a:xfrm>
          <a:prstGeom prst="rect">
            <a:avLst/>
          </a:prstGeom>
          <a:noFill/>
        </p:spPr>
        <p:txBody>
          <a:bodyPr wrap="square" rtlCol="0">
            <a:spAutoFit/>
          </a:bodyPr>
          <a:p>
            <a:r>
              <a:rPr lang="zh-CN" altLang="en-US" sz="1200"/>
              <a:t>局限：建模难度大、计算资源消耗大</a:t>
            </a:r>
            <a:endParaRPr lang="zh-CN" altLang="en-US" sz="1200"/>
          </a:p>
        </p:txBody>
      </p:sp>
      <p:sp>
        <p:nvSpPr>
          <p:cNvPr id="67" name="文本框 66"/>
          <p:cNvSpPr txBox="1"/>
          <p:nvPr/>
        </p:nvSpPr>
        <p:spPr>
          <a:xfrm>
            <a:off x="8356600" y="1677035"/>
            <a:ext cx="3180080" cy="1198880"/>
          </a:xfrm>
          <a:prstGeom prst="rect">
            <a:avLst/>
          </a:prstGeom>
          <a:noFill/>
        </p:spPr>
        <p:txBody>
          <a:bodyPr wrap="square" rtlCol="0">
            <a:spAutoFit/>
          </a:bodyPr>
          <a:p>
            <a:pPr>
              <a:lnSpc>
                <a:spcPct val="120000"/>
              </a:lnSpc>
              <a:spcBef>
                <a:spcPts val="0"/>
              </a:spcBef>
              <a:spcAft>
                <a:spcPts val="0"/>
              </a:spcAft>
            </a:pPr>
            <a:r>
              <a:rPr lang="zh-CN" altLang="en-US" sz="2000" b="1">
                <a:solidFill>
                  <a:srgbClr val="2E5495"/>
                </a:solidFill>
              </a:rPr>
              <a:t>大型混塔式风电机组动力学建模：</a:t>
            </a:r>
            <a:r>
              <a:rPr lang="zh-CN" altLang="en-US" sz="2000" b="1">
                <a:solidFill>
                  <a:srgbClr val="C00000"/>
                </a:solidFill>
              </a:rPr>
              <a:t>非线性、预应力与全耦合特征！</a:t>
            </a:r>
            <a:endParaRPr lang="zh-CN" altLang="en-US" sz="2000" b="1">
              <a:solidFill>
                <a:srgbClr val="C00000"/>
              </a:solidFill>
            </a:endParaRPr>
          </a:p>
        </p:txBody>
      </p:sp>
      <p:sp>
        <p:nvSpPr>
          <p:cNvPr id="68" name="文本框 67"/>
          <p:cNvSpPr txBox="1"/>
          <p:nvPr/>
        </p:nvSpPr>
        <p:spPr>
          <a:xfrm>
            <a:off x="8274050" y="3777615"/>
            <a:ext cx="3371850" cy="460375"/>
          </a:xfrm>
          <a:prstGeom prst="rect">
            <a:avLst/>
          </a:prstGeom>
          <a:noFill/>
        </p:spPr>
        <p:txBody>
          <a:bodyPr wrap="square" rtlCol="0">
            <a:spAutoFit/>
          </a:bodyPr>
          <a:p>
            <a:r>
              <a:rPr lang="zh-CN" altLang="en-US" sz="2400" b="1">
                <a:solidFill>
                  <a:srgbClr val="C00000"/>
                </a:solidFill>
              </a:rPr>
              <a:t>多体+有限元联合仿真</a:t>
            </a:r>
            <a:endParaRPr lang="zh-CN" altLang="en-US" sz="2400" b="1">
              <a:solidFill>
                <a:srgbClr val="C00000"/>
              </a:solidFill>
            </a:endParaRPr>
          </a:p>
        </p:txBody>
      </p:sp>
      <p:sp>
        <p:nvSpPr>
          <p:cNvPr id="69" name="椭圆 68"/>
          <p:cNvSpPr/>
          <p:nvPr/>
        </p:nvSpPr>
        <p:spPr>
          <a:xfrm>
            <a:off x="8356600" y="4462780"/>
            <a:ext cx="75565" cy="75565"/>
          </a:xfrm>
          <a:prstGeom prst="ellipse">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0" name="椭圆 69"/>
          <p:cNvSpPr/>
          <p:nvPr/>
        </p:nvSpPr>
        <p:spPr>
          <a:xfrm>
            <a:off x="8356600" y="5219700"/>
            <a:ext cx="75565" cy="75565"/>
          </a:xfrm>
          <a:prstGeom prst="ellipse">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 name="文本框 70"/>
          <p:cNvSpPr txBox="1"/>
          <p:nvPr/>
        </p:nvSpPr>
        <p:spPr>
          <a:xfrm>
            <a:off x="8582660" y="4284345"/>
            <a:ext cx="3091815" cy="801370"/>
          </a:xfrm>
          <a:prstGeom prst="rect">
            <a:avLst/>
          </a:prstGeom>
          <a:noFill/>
        </p:spPr>
        <p:txBody>
          <a:bodyPr wrap="square" rtlCol="0">
            <a:spAutoFit/>
          </a:bodyPr>
          <a:p>
            <a:pPr>
              <a:lnSpc>
                <a:spcPct val="110000"/>
              </a:lnSpc>
              <a:spcBef>
                <a:spcPts val="0"/>
              </a:spcBef>
              <a:spcAft>
                <a:spcPts val="0"/>
              </a:spcAft>
            </a:pPr>
            <a:r>
              <a:rPr lang="zh-CN" altLang="en-US" sz="2100" b="1"/>
              <a:t>选择最适合的建模工具对子系统进行独立建模</a:t>
            </a:r>
            <a:endParaRPr lang="zh-CN" altLang="en-US" sz="2100" b="1"/>
          </a:p>
        </p:txBody>
      </p:sp>
      <p:sp>
        <p:nvSpPr>
          <p:cNvPr id="72" name="文本框 71"/>
          <p:cNvSpPr txBox="1"/>
          <p:nvPr/>
        </p:nvSpPr>
        <p:spPr>
          <a:xfrm>
            <a:off x="8582660" y="5052695"/>
            <a:ext cx="2996565" cy="1156970"/>
          </a:xfrm>
          <a:prstGeom prst="rect">
            <a:avLst/>
          </a:prstGeom>
          <a:noFill/>
        </p:spPr>
        <p:txBody>
          <a:bodyPr wrap="square" rtlCol="0">
            <a:spAutoFit/>
          </a:bodyPr>
          <a:p>
            <a:pPr>
              <a:lnSpc>
                <a:spcPct val="110000"/>
              </a:lnSpc>
              <a:spcBef>
                <a:spcPts val="0"/>
              </a:spcBef>
              <a:spcAft>
                <a:spcPts val="0"/>
              </a:spcAft>
            </a:pPr>
            <a:r>
              <a:rPr lang="zh-CN" altLang="en-US" sz="2100" b="1"/>
              <a:t>通过</a:t>
            </a:r>
            <a:r>
              <a:rPr lang="zh-CN" altLang="en-US" sz="2100" b="1">
                <a:solidFill>
                  <a:srgbClr val="C00000"/>
                </a:solidFill>
              </a:rPr>
              <a:t>耦合迭代</a:t>
            </a:r>
            <a:r>
              <a:rPr lang="zh-CN" altLang="en-US" sz="2100" b="1"/>
              <a:t>的方式协调并</a:t>
            </a:r>
            <a:r>
              <a:rPr lang="zh-CN" altLang="en-US" sz="2100" b="1">
                <a:solidFill>
                  <a:srgbClr val="C00000"/>
                </a:solidFill>
              </a:rPr>
              <a:t>交换各子系统间的动力响应信息</a:t>
            </a:r>
            <a:endParaRPr lang="zh-CN" altLang="en-US" sz="2100" b="1">
              <a:solidFill>
                <a:srgbClr val="C00000"/>
              </a:solidFill>
            </a:endParaRPr>
          </a:p>
        </p:txBody>
      </p:sp>
      <p:sp>
        <p:nvSpPr>
          <p:cNvPr id="75" name="左大括号 74"/>
          <p:cNvSpPr/>
          <p:nvPr/>
        </p:nvSpPr>
        <p:spPr>
          <a:xfrm>
            <a:off x="2337435" y="2469515"/>
            <a:ext cx="75565" cy="2184400"/>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6" name="左大括号 75"/>
          <p:cNvSpPr/>
          <p:nvPr/>
        </p:nvSpPr>
        <p:spPr>
          <a:xfrm>
            <a:off x="3384550" y="2380615"/>
            <a:ext cx="139700" cy="514350"/>
          </a:xfrm>
          <a:prstGeom prst="leftBrace">
            <a:avLst>
              <a:gd name="adj1" fmla="val 8333"/>
              <a:gd name="adj2" fmla="val 47530"/>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7" name="左大括号 76"/>
          <p:cNvSpPr/>
          <p:nvPr/>
        </p:nvSpPr>
        <p:spPr>
          <a:xfrm>
            <a:off x="3333750" y="3428365"/>
            <a:ext cx="139700" cy="2019300"/>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8" name="左大括号 77"/>
          <p:cNvSpPr/>
          <p:nvPr/>
        </p:nvSpPr>
        <p:spPr>
          <a:xfrm>
            <a:off x="4368800" y="3110865"/>
            <a:ext cx="171450" cy="901700"/>
          </a:xfrm>
          <a:prstGeom prst="leftBrace">
            <a:avLst>
              <a:gd name="adj1" fmla="val 8333"/>
              <a:gd name="adj2" fmla="val 49295"/>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9" name="左大括号 78"/>
          <p:cNvSpPr/>
          <p:nvPr/>
        </p:nvSpPr>
        <p:spPr>
          <a:xfrm>
            <a:off x="4362450" y="4819015"/>
            <a:ext cx="184150" cy="1219200"/>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0" name="左大括号 79"/>
          <p:cNvSpPr/>
          <p:nvPr/>
        </p:nvSpPr>
        <p:spPr>
          <a:xfrm>
            <a:off x="5289550" y="4628515"/>
            <a:ext cx="177800" cy="812800"/>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1" name="左大括号 80"/>
          <p:cNvSpPr/>
          <p:nvPr/>
        </p:nvSpPr>
        <p:spPr>
          <a:xfrm>
            <a:off x="5327650" y="5600065"/>
            <a:ext cx="133350" cy="565150"/>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2" name="左大括号 81"/>
          <p:cNvSpPr/>
          <p:nvPr/>
        </p:nvSpPr>
        <p:spPr>
          <a:xfrm>
            <a:off x="1337310" y="1795780"/>
            <a:ext cx="75565" cy="1873250"/>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3" name="左大括号 82"/>
          <p:cNvSpPr/>
          <p:nvPr/>
        </p:nvSpPr>
        <p:spPr>
          <a:xfrm>
            <a:off x="2359025" y="1592580"/>
            <a:ext cx="82550" cy="533400"/>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 name="文本框 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18/68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9675" y="1116965"/>
            <a:ext cx="9701530"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通过典型的非线性结构动力学算例验证多体＋有限元显式耦合的可行性</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endParaRPr lang="zh-CN" altLang="en-US" sz="2300" b="1">
              <a:solidFill>
                <a:srgbClr val="C00000"/>
              </a:solidFill>
            </a:endParaRPr>
          </a:p>
        </p:txBody>
      </p:sp>
      <p:sp>
        <p:nvSpPr>
          <p:cNvPr id="13" name="任意多边形 12"/>
          <p:cNvSpPr/>
          <p:nvPr/>
        </p:nvSpPr>
        <p:spPr>
          <a:xfrm>
            <a:off x="461723" y="1674572"/>
            <a:ext cx="3387536" cy="4512920"/>
          </a:xfrm>
          <a:custGeom>
            <a:avLst/>
            <a:gdLst>
              <a:gd name="connsiteX0" fmla="*/ 24 w 5334"/>
              <a:gd name="connsiteY0" fmla="*/ 491 h 7106"/>
              <a:gd name="connsiteX1" fmla="*/ 402 w 5334"/>
              <a:gd name="connsiteY1" fmla="*/ 24 h 7106"/>
              <a:gd name="connsiteX2" fmla="*/ 4824 w 5334"/>
              <a:gd name="connsiteY2" fmla="*/ 2 h 7106"/>
              <a:gd name="connsiteX3" fmla="*/ 5335 w 5334"/>
              <a:gd name="connsiteY3" fmla="*/ 424 h 7106"/>
              <a:gd name="connsiteX4" fmla="*/ 5333 w 5334"/>
              <a:gd name="connsiteY4" fmla="*/ 6595 h 7106"/>
              <a:gd name="connsiteX5" fmla="*/ 4900 w 5334"/>
              <a:gd name="connsiteY5" fmla="*/ 7095 h 7106"/>
              <a:gd name="connsiteX6" fmla="*/ 446 w 5334"/>
              <a:gd name="connsiteY6" fmla="*/ 7104 h 7106"/>
              <a:gd name="connsiteX7" fmla="*/ 1 w 5334"/>
              <a:gd name="connsiteY7" fmla="*/ 6682 h 7106"/>
              <a:gd name="connsiteX8" fmla="*/ 24 w 5334"/>
              <a:gd name="connsiteY8" fmla="*/ 491 h 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5" h="7107">
                <a:moveTo>
                  <a:pt x="24" y="491"/>
                </a:moveTo>
                <a:cubicBezTo>
                  <a:pt x="24" y="8"/>
                  <a:pt x="-81" y="24"/>
                  <a:pt x="402" y="24"/>
                </a:cubicBezTo>
                <a:lnTo>
                  <a:pt x="4824" y="2"/>
                </a:lnTo>
                <a:cubicBezTo>
                  <a:pt x="5307" y="2"/>
                  <a:pt x="5335" y="-59"/>
                  <a:pt x="5335" y="424"/>
                </a:cubicBezTo>
                <a:lnTo>
                  <a:pt x="5333" y="6595"/>
                </a:lnTo>
                <a:cubicBezTo>
                  <a:pt x="5333" y="7078"/>
                  <a:pt x="5383" y="7095"/>
                  <a:pt x="4900" y="7095"/>
                </a:cubicBezTo>
                <a:lnTo>
                  <a:pt x="446" y="7104"/>
                </a:lnTo>
                <a:cubicBezTo>
                  <a:pt x="-37" y="7104"/>
                  <a:pt x="1" y="7165"/>
                  <a:pt x="1" y="6682"/>
                </a:cubicBezTo>
                <a:lnTo>
                  <a:pt x="24" y="491"/>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圆角矩形 13"/>
          <p:cNvSpPr/>
          <p:nvPr/>
        </p:nvSpPr>
        <p:spPr>
          <a:xfrm>
            <a:off x="461645" y="1676400"/>
            <a:ext cx="3379470" cy="297180"/>
          </a:xfrm>
          <a:prstGeom prst="roundRect">
            <a:avLst/>
          </a:prstGeom>
          <a:solidFill>
            <a:srgbClr val="01226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1423670" y="1675765"/>
            <a:ext cx="1454785" cy="297815"/>
          </a:xfrm>
          <a:prstGeom prst="rect">
            <a:avLst/>
          </a:prstGeom>
          <a:noFill/>
        </p:spPr>
        <p:txBody>
          <a:bodyPr wrap="square" rtlCol="0">
            <a:no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rPr>
              <a:t>算</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例</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模</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型</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 name="任意多边形 15"/>
          <p:cNvSpPr/>
          <p:nvPr/>
        </p:nvSpPr>
        <p:spPr>
          <a:xfrm>
            <a:off x="532392" y="5044720"/>
            <a:ext cx="3231515" cy="1029983"/>
          </a:xfrm>
          <a:custGeom>
            <a:avLst/>
            <a:gdLst>
              <a:gd name="connsiteX0" fmla="*/ 0 w 5089"/>
              <a:gd name="connsiteY0" fmla="*/ 189 h 1622"/>
              <a:gd name="connsiteX1" fmla="*/ 156 w 5089"/>
              <a:gd name="connsiteY1" fmla="*/ 11 h 1622"/>
              <a:gd name="connsiteX2" fmla="*/ 4900 w 5089"/>
              <a:gd name="connsiteY2" fmla="*/ 0 h 1622"/>
              <a:gd name="connsiteX3" fmla="*/ 5089 w 5089"/>
              <a:gd name="connsiteY3" fmla="*/ 144 h 1622"/>
              <a:gd name="connsiteX4" fmla="*/ 5089 w 5089"/>
              <a:gd name="connsiteY4" fmla="*/ 1467 h 1622"/>
              <a:gd name="connsiteX5" fmla="*/ 4911 w 5089"/>
              <a:gd name="connsiteY5" fmla="*/ 1622 h 1622"/>
              <a:gd name="connsiteX6" fmla="*/ 200 w 5089"/>
              <a:gd name="connsiteY6" fmla="*/ 1622 h 1622"/>
              <a:gd name="connsiteX7" fmla="*/ 22 w 5089"/>
              <a:gd name="connsiteY7" fmla="*/ 1444 h 1622"/>
              <a:gd name="connsiteX8" fmla="*/ 0 w 5089"/>
              <a:gd name="connsiteY8" fmla="*/ 189 h 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89" h="1622">
                <a:moveTo>
                  <a:pt x="0" y="189"/>
                </a:moveTo>
                <a:cubicBezTo>
                  <a:pt x="0" y="40"/>
                  <a:pt x="7" y="11"/>
                  <a:pt x="156" y="11"/>
                </a:cubicBezTo>
                <a:lnTo>
                  <a:pt x="4900" y="0"/>
                </a:lnTo>
                <a:cubicBezTo>
                  <a:pt x="5049" y="0"/>
                  <a:pt x="5089" y="-5"/>
                  <a:pt x="5089" y="144"/>
                </a:cubicBezTo>
                <a:lnTo>
                  <a:pt x="5089" y="1467"/>
                </a:lnTo>
                <a:cubicBezTo>
                  <a:pt x="5089" y="1616"/>
                  <a:pt x="5060" y="1622"/>
                  <a:pt x="4911" y="1622"/>
                </a:cubicBezTo>
                <a:lnTo>
                  <a:pt x="200" y="1622"/>
                </a:lnTo>
                <a:cubicBezTo>
                  <a:pt x="51" y="1622"/>
                  <a:pt x="22" y="1593"/>
                  <a:pt x="22" y="1444"/>
                </a:cubicBezTo>
                <a:lnTo>
                  <a:pt x="0" y="189"/>
                </a:lnTo>
                <a:close/>
              </a:path>
            </a:pathLst>
          </a:custGeom>
          <a:solidFill>
            <a:srgbClr val="E7F0F7"/>
          </a:solidFill>
          <a:ln>
            <a:solidFill>
              <a:srgbClr val="E0E5D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文本框 16"/>
          <p:cNvSpPr txBox="1"/>
          <p:nvPr/>
        </p:nvSpPr>
        <p:spPr>
          <a:xfrm>
            <a:off x="949325" y="5044440"/>
            <a:ext cx="2412365" cy="260350"/>
          </a:xfrm>
          <a:prstGeom prst="rect">
            <a:avLst/>
          </a:prstGeom>
          <a:noFill/>
        </p:spPr>
        <p:txBody>
          <a:bodyPr wrap="square" rtlCol="0">
            <a:spAutoFit/>
          </a:bodyPr>
          <a:p>
            <a:r>
              <a:rPr lang="zh-CN" altLang="en-US" sz="1100" b="1">
                <a:latin typeface="微软雅黑" panose="020B0503020204020204" charset="-122"/>
                <a:ea typeface="微软雅黑" panose="020B0503020204020204" charset="-122"/>
                <a:cs typeface="微软雅黑" panose="020B0503020204020204" charset="-122"/>
              </a:rPr>
              <a:t>立柱与集中质量通过弹簧</a:t>
            </a:r>
            <a:r>
              <a:rPr lang="en-US" altLang="zh-CN" sz="1100" b="1">
                <a:latin typeface="微软雅黑" panose="020B0503020204020204" charset="-122"/>
                <a:ea typeface="微软雅黑" panose="020B0503020204020204" charset="-122"/>
                <a:cs typeface="微软雅黑" panose="020B0503020204020204" charset="-122"/>
              </a:rPr>
              <a:t>-</a:t>
            </a:r>
            <a:r>
              <a:rPr lang="zh-CN" altLang="en-US" sz="1100" b="1">
                <a:latin typeface="微软雅黑" panose="020B0503020204020204" charset="-122"/>
                <a:ea typeface="微软雅黑" panose="020B0503020204020204" charset="-122"/>
                <a:cs typeface="微软雅黑" panose="020B0503020204020204" charset="-122"/>
              </a:rPr>
              <a:t>阻尼连接</a:t>
            </a:r>
            <a:endParaRPr lang="zh-CN" altLang="en-US" sz="1100" b="1">
              <a:latin typeface="微软雅黑" panose="020B0503020204020204" charset="-122"/>
              <a:ea typeface="微软雅黑" panose="020B0503020204020204" charset="-122"/>
              <a:cs typeface="微软雅黑" panose="020B0503020204020204" charset="-122"/>
            </a:endParaRPr>
          </a:p>
        </p:txBody>
      </p:sp>
      <p:sp>
        <p:nvSpPr>
          <p:cNvPr id="18" name="矩形 17"/>
          <p:cNvSpPr/>
          <p:nvPr/>
        </p:nvSpPr>
        <p:spPr>
          <a:xfrm>
            <a:off x="595630" y="5375910"/>
            <a:ext cx="75565" cy="7556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矩形 18"/>
          <p:cNvSpPr/>
          <p:nvPr/>
        </p:nvSpPr>
        <p:spPr>
          <a:xfrm>
            <a:off x="595630" y="5612130"/>
            <a:ext cx="75565" cy="7556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595630" y="5806440"/>
            <a:ext cx="75565" cy="7556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699135" y="5304790"/>
            <a:ext cx="2078355" cy="245110"/>
          </a:xfrm>
          <a:prstGeom prst="rect">
            <a:avLst/>
          </a:prstGeom>
          <a:noFill/>
        </p:spPr>
        <p:txBody>
          <a:bodyPr wrap="square" rtlCol="0">
            <a:spAutoFit/>
          </a:bodyPr>
          <a:p>
            <a:r>
              <a:rPr lang="zh-CN" altLang="en-US" sz="1000" b="1"/>
              <a:t>采用显式力</a:t>
            </a:r>
            <a:r>
              <a:rPr lang="en-US" altLang="zh-CN" sz="1000" b="1"/>
              <a:t> </a:t>
            </a:r>
            <a:r>
              <a:rPr lang="zh-CN" altLang="en-US" sz="1000" b="1"/>
              <a:t>-</a:t>
            </a:r>
            <a:r>
              <a:rPr lang="en-US" altLang="zh-CN" sz="1000" b="1"/>
              <a:t> </a:t>
            </a:r>
            <a:r>
              <a:rPr lang="zh-CN" altLang="en-US" sz="1000" b="1"/>
              <a:t>位移耦合方法;</a:t>
            </a:r>
            <a:endParaRPr lang="zh-CN" altLang="en-US" sz="1000" b="1"/>
          </a:p>
        </p:txBody>
      </p:sp>
      <p:sp>
        <p:nvSpPr>
          <p:cNvPr id="22" name="文本框 21"/>
          <p:cNvSpPr txBox="1"/>
          <p:nvPr/>
        </p:nvSpPr>
        <p:spPr>
          <a:xfrm>
            <a:off x="699135" y="5527040"/>
            <a:ext cx="2366010" cy="245110"/>
          </a:xfrm>
          <a:prstGeom prst="rect">
            <a:avLst/>
          </a:prstGeom>
          <a:noFill/>
        </p:spPr>
        <p:txBody>
          <a:bodyPr wrap="square" rtlCol="0">
            <a:spAutoFit/>
          </a:bodyPr>
          <a:p>
            <a:r>
              <a:rPr lang="zh-CN" altLang="en-US" sz="1000" b="1"/>
              <a:t>对比整体模型与联合仿真模型响应差异；</a:t>
            </a:r>
            <a:endParaRPr lang="zh-CN" altLang="en-US" sz="1000" b="1"/>
          </a:p>
        </p:txBody>
      </p:sp>
      <p:sp>
        <p:nvSpPr>
          <p:cNvPr id="23" name="文本框 22"/>
          <p:cNvSpPr txBox="1"/>
          <p:nvPr/>
        </p:nvSpPr>
        <p:spPr>
          <a:xfrm>
            <a:off x="699135" y="5721985"/>
            <a:ext cx="2387600" cy="245110"/>
          </a:xfrm>
          <a:prstGeom prst="rect">
            <a:avLst/>
          </a:prstGeom>
          <a:noFill/>
        </p:spPr>
        <p:txBody>
          <a:bodyPr wrap="square" rtlCol="0">
            <a:spAutoFit/>
          </a:bodyPr>
          <a:p>
            <a:r>
              <a:rPr lang="zh-CN" altLang="en-US" sz="1000" b="1"/>
              <a:t>提取位移、速度、加速度时程响应。</a:t>
            </a:r>
            <a:endParaRPr lang="zh-CN" altLang="en-US" sz="1000" b="1"/>
          </a:p>
        </p:txBody>
      </p:sp>
      <p:sp>
        <p:nvSpPr>
          <p:cNvPr id="24" name="圆角矩形 23"/>
          <p:cNvSpPr/>
          <p:nvPr/>
        </p:nvSpPr>
        <p:spPr>
          <a:xfrm>
            <a:off x="3896995" y="1675765"/>
            <a:ext cx="4018915" cy="288290"/>
          </a:xfrm>
          <a:prstGeom prst="roundRect">
            <a:avLst/>
          </a:prstGeom>
          <a:solidFill>
            <a:srgbClr val="01226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4780280" y="1642110"/>
            <a:ext cx="2186305" cy="297815"/>
          </a:xfrm>
          <a:prstGeom prst="rect">
            <a:avLst/>
          </a:prstGeom>
          <a:noFill/>
        </p:spPr>
        <p:txBody>
          <a:bodyPr wrap="square" rtlCol="0">
            <a:no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rPr>
              <a:t>整</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体</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模</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型</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建</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模</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基</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础</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 name="圆角矩形 26"/>
          <p:cNvSpPr/>
          <p:nvPr/>
        </p:nvSpPr>
        <p:spPr>
          <a:xfrm>
            <a:off x="7971790" y="1675765"/>
            <a:ext cx="3735070" cy="288290"/>
          </a:xfrm>
          <a:prstGeom prst="roundRect">
            <a:avLst/>
          </a:prstGeom>
          <a:solidFill>
            <a:srgbClr val="01226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8724900" y="1659255"/>
            <a:ext cx="2186305" cy="297815"/>
          </a:xfrm>
          <a:prstGeom prst="rect">
            <a:avLst/>
          </a:prstGeom>
          <a:noFill/>
        </p:spPr>
        <p:txBody>
          <a:bodyPr wrap="square" rtlCol="0">
            <a:no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rPr>
              <a:t>联</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合</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仿</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真</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模</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型</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建</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模</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 </a:t>
            </a:r>
            <a:r>
              <a:rPr lang="en-US" altLang="zh-CN" sz="1400">
                <a:solidFill>
                  <a:schemeClr val="bg1"/>
                </a:solidFill>
                <a:latin typeface="微软雅黑" panose="020B0503020204020204" charset="-122"/>
                <a:ea typeface="微软雅黑" panose="020B0503020204020204" charset="-122"/>
                <a:cs typeface="微软雅黑" panose="020B0503020204020204" charset="-122"/>
              </a:rPr>
              <a:t> </a:t>
            </a:r>
            <a:endParaRPr lang="zh-CN" altLang="en-US" sz="1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9" name="任意多边形 28"/>
          <p:cNvSpPr/>
          <p:nvPr/>
        </p:nvSpPr>
        <p:spPr>
          <a:xfrm>
            <a:off x="3896995" y="1672590"/>
            <a:ext cx="4015105" cy="4513580"/>
          </a:xfrm>
          <a:custGeom>
            <a:avLst/>
            <a:gdLst>
              <a:gd name="connsiteX0" fmla="*/ 24 w 5334"/>
              <a:gd name="connsiteY0" fmla="*/ 491 h 7106"/>
              <a:gd name="connsiteX1" fmla="*/ 402 w 5334"/>
              <a:gd name="connsiteY1" fmla="*/ 24 h 7106"/>
              <a:gd name="connsiteX2" fmla="*/ 4824 w 5334"/>
              <a:gd name="connsiteY2" fmla="*/ 2 h 7106"/>
              <a:gd name="connsiteX3" fmla="*/ 5335 w 5334"/>
              <a:gd name="connsiteY3" fmla="*/ 424 h 7106"/>
              <a:gd name="connsiteX4" fmla="*/ 5333 w 5334"/>
              <a:gd name="connsiteY4" fmla="*/ 6595 h 7106"/>
              <a:gd name="connsiteX5" fmla="*/ 4900 w 5334"/>
              <a:gd name="connsiteY5" fmla="*/ 7095 h 7106"/>
              <a:gd name="connsiteX6" fmla="*/ 446 w 5334"/>
              <a:gd name="connsiteY6" fmla="*/ 7104 h 7106"/>
              <a:gd name="connsiteX7" fmla="*/ 1 w 5334"/>
              <a:gd name="connsiteY7" fmla="*/ 6682 h 7106"/>
              <a:gd name="connsiteX8" fmla="*/ 24 w 5334"/>
              <a:gd name="connsiteY8" fmla="*/ 491 h 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5" h="7107">
                <a:moveTo>
                  <a:pt x="24" y="491"/>
                </a:moveTo>
                <a:cubicBezTo>
                  <a:pt x="24" y="8"/>
                  <a:pt x="-81" y="24"/>
                  <a:pt x="402" y="24"/>
                </a:cubicBezTo>
                <a:lnTo>
                  <a:pt x="4824" y="2"/>
                </a:lnTo>
                <a:cubicBezTo>
                  <a:pt x="5307" y="2"/>
                  <a:pt x="5335" y="-59"/>
                  <a:pt x="5335" y="424"/>
                </a:cubicBezTo>
                <a:lnTo>
                  <a:pt x="5333" y="6595"/>
                </a:lnTo>
                <a:cubicBezTo>
                  <a:pt x="5333" y="7078"/>
                  <a:pt x="5383" y="7095"/>
                  <a:pt x="4900" y="7095"/>
                </a:cubicBezTo>
                <a:lnTo>
                  <a:pt x="446" y="7104"/>
                </a:lnTo>
                <a:cubicBezTo>
                  <a:pt x="-37" y="7104"/>
                  <a:pt x="1" y="7165"/>
                  <a:pt x="1" y="6682"/>
                </a:cubicBezTo>
                <a:lnTo>
                  <a:pt x="24" y="491"/>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任意多边形 29"/>
          <p:cNvSpPr/>
          <p:nvPr/>
        </p:nvSpPr>
        <p:spPr>
          <a:xfrm>
            <a:off x="7959725" y="1657350"/>
            <a:ext cx="3761740" cy="4533265"/>
          </a:xfrm>
          <a:custGeom>
            <a:avLst/>
            <a:gdLst>
              <a:gd name="connsiteX0" fmla="*/ 24 w 5334"/>
              <a:gd name="connsiteY0" fmla="*/ 491 h 7106"/>
              <a:gd name="connsiteX1" fmla="*/ 402 w 5334"/>
              <a:gd name="connsiteY1" fmla="*/ 24 h 7106"/>
              <a:gd name="connsiteX2" fmla="*/ 4824 w 5334"/>
              <a:gd name="connsiteY2" fmla="*/ 2 h 7106"/>
              <a:gd name="connsiteX3" fmla="*/ 5335 w 5334"/>
              <a:gd name="connsiteY3" fmla="*/ 424 h 7106"/>
              <a:gd name="connsiteX4" fmla="*/ 5333 w 5334"/>
              <a:gd name="connsiteY4" fmla="*/ 6595 h 7106"/>
              <a:gd name="connsiteX5" fmla="*/ 4900 w 5334"/>
              <a:gd name="connsiteY5" fmla="*/ 7095 h 7106"/>
              <a:gd name="connsiteX6" fmla="*/ 446 w 5334"/>
              <a:gd name="connsiteY6" fmla="*/ 7104 h 7106"/>
              <a:gd name="connsiteX7" fmla="*/ 1 w 5334"/>
              <a:gd name="connsiteY7" fmla="*/ 6682 h 7106"/>
              <a:gd name="connsiteX8" fmla="*/ 24 w 5334"/>
              <a:gd name="connsiteY8" fmla="*/ 491 h 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5" h="7107">
                <a:moveTo>
                  <a:pt x="24" y="491"/>
                </a:moveTo>
                <a:cubicBezTo>
                  <a:pt x="24" y="8"/>
                  <a:pt x="-81" y="24"/>
                  <a:pt x="402" y="24"/>
                </a:cubicBezTo>
                <a:lnTo>
                  <a:pt x="4824" y="2"/>
                </a:lnTo>
                <a:cubicBezTo>
                  <a:pt x="5307" y="2"/>
                  <a:pt x="5335" y="-59"/>
                  <a:pt x="5335" y="424"/>
                </a:cubicBezTo>
                <a:lnTo>
                  <a:pt x="5333" y="6595"/>
                </a:lnTo>
                <a:cubicBezTo>
                  <a:pt x="5333" y="7078"/>
                  <a:pt x="5383" y="7095"/>
                  <a:pt x="4900" y="7095"/>
                </a:cubicBezTo>
                <a:lnTo>
                  <a:pt x="446" y="7104"/>
                </a:lnTo>
                <a:cubicBezTo>
                  <a:pt x="-37" y="7104"/>
                  <a:pt x="1" y="7165"/>
                  <a:pt x="1" y="6682"/>
                </a:cubicBezTo>
                <a:lnTo>
                  <a:pt x="24" y="491"/>
                </a:lnTo>
                <a:close/>
              </a:path>
            </a:pathLst>
          </a:custGeom>
          <a:ln>
            <a:solidFill>
              <a:srgbClr val="3C506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矩形 30"/>
          <p:cNvSpPr/>
          <p:nvPr/>
        </p:nvSpPr>
        <p:spPr>
          <a:xfrm>
            <a:off x="3957955" y="2005330"/>
            <a:ext cx="2277110" cy="1571625"/>
          </a:xfrm>
          <a:prstGeom prst="rect">
            <a:avLst/>
          </a:prstGeom>
          <a:noFill/>
          <a:ln>
            <a:solidFill>
              <a:srgbClr val="B2B2B2"/>
            </a:solidFill>
          </a:ln>
          <a:extLst>
            <a:ext uri="{909E8E84-426E-40DD-AFC4-6F175D3DCCD1}">
              <a14:hiddenFill xmlns:a14="http://schemas.microsoft.com/office/drawing/2010/main">
                <a:solidFill>
                  <a:srgbClr val="E7F0F7"/>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矩形 32"/>
          <p:cNvSpPr/>
          <p:nvPr/>
        </p:nvSpPr>
        <p:spPr>
          <a:xfrm>
            <a:off x="3957955" y="3644900"/>
            <a:ext cx="2256790" cy="2412365"/>
          </a:xfrm>
          <a:prstGeom prst="rect">
            <a:avLst/>
          </a:prstGeom>
          <a:ln>
            <a:solidFill>
              <a:srgbClr val="B2B2B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4" name="矩形 33"/>
          <p:cNvSpPr/>
          <p:nvPr/>
        </p:nvSpPr>
        <p:spPr>
          <a:xfrm>
            <a:off x="6289040" y="2011680"/>
            <a:ext cx="1599565" cy="2493645"/>
          </a:xfrm>
          <a:prstGeom prst="rect">
            <a:avLst/>
          </a:prstGeom>
          <a:ln>
            <a:solidFill>
              <a:srgbClr val="B2B2B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任意多边形 34"/>
          <p:cNvSpPr/>
          <p:nvPr/>
        </p:nvSpPr>
        <p:spPr>
          <a:xfrm>
            <a:off x="6296025" y="4573270"/>
            <a:ext cx="1585651" cy="1551940"/>
          </a:xfrm>
          <a:custGeom>
            <a:avLst/>
            <a:gdLst>
              <a:gd name="connsiteX0" fmla="*/ 0 w 2497"/>
              <a:gd name="connsiteY0" fmla="*/ 256 h 2444"/>
              <a:gd name="connsiteX1" fmla="*/ 267 w 2497"/>
              <a:gd name="connsiteY1" fmla="*/ 22 h 2444"/>
              <a:gd name="connsiteX2" fmla="*/ 2198 w 2497"/>
              <a:gd name="connsiteY2" fmla="*/ 0 h 2444"/>
              <a:gd name="connsiteX3" fmla="*/ 2465 w 2497"/>
              <a:gd name="connsiteY3" fmla="*/ 246 h 2444"/>
              <a:gd name="connsiteX4" fmla="*/ 2497 w 2497"/>
              <a:gd name="connsiteY4" fmla="*/ 2167 h 2444"/>
              <a:gd name="connsiteX5" fmla="*/ 2284 w 2497"/>
              <a:gd name="connsiteY5" fmla="*/ 2433 h 2444"/>
              <a:gd name="connsiteX6" fmla="*/ 256 w 2497"/>
              <a:gd name="connsiteY6" fmla="*/ 2444 h 2444"/>
              <a:gd name="connsiteX7" fmla="*/ 10 w 2497"/>
              <a:gd name="connsiteY7" fmla="*/ 2220 h 2444"/>
              <a:gd name="connsiteX8" fmla="*/ 0 w 2497"/>
              <a:gd name="connsiteY8" fmla="*/ 256 h 2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7" h="2444">
                <a:moveTo>
                  <a:pt x="0" y="256"/>
                </a:moveTo>
                <a:cubicBezTo>
                  <a:pt x="0" y="32"/>
                  <a:pt x="43" y="22"/>
                  <a:pt x="267" y="22"/>
                </a:cubicBezTo>
                <a:lnTo>
                  <a:pt x="2198" y="0"/>
                </a:lnTo>
                <a:cubicBezTo>
                  <a:pt x="2422" y="0"/>
                  <a:pt x="2465" y="22"/>
                  <a:pt x="2465" y="246"/>
                </a:cubicBezTo>
                <a:lnTo>
                  <a:pt x="2497" y="2167"/>
                </a:lnTo>
                <a:cubicBezTo>
                  <a:pt x="2497" y="2391"/>
                  <a:pt x="2508" y="2433"/>
                  <a:pt x="2284" y="2433"/>
                </a:cubicBezTo>
                <a:lnTo>
                  <a:pt x="256" y="2444"/>
                </a:lnTo>
                <a:cubicBezTo>
                  <a:pt x="32" y="2444"/>
                  <a:pt x="10" y="2444"/>
                  <a:pt x="10" y="2220"/>
                </a:cubicBezTo>
                <a:lnTo>
                  <a:pt x="0" y="256"/>
                </a:lnTo>
                <a:close/>
              </a:path>
            </a:pathLst>
          </a:custGeom>
          <a:noFill/>
          <a:extLst>
            <a:ext uri="{909E8E84-426E-40DD-AFC4-6F175D3DCCD1}">
              <a14:hiddenFill xmlns:a14="http://schemas.microsoft.com/office/drawing/2010/main">
                <a:solidFill>
                  <a:srgbClr val="E7F0F7"/>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6" name="矩形 35"/>
          <p:cNvSpPr/>
          <p:nvPr/>
        </p:nvSpPr>
        <p:spPr>
          <a:xfrm>
            <a:off x="8030845" y="1998345"/>
            <a:ext cx="3604895" cy="2561590"/>
          </a:xfrm>
          <a:prstGeom prst="rect">
            <a:avLst/>
          </a:prstGeom>
          <a:noFill/>
          <a:ln>
            <a:solidFill>
              <a:srgbClr val="B2B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矩形 36"/>
          <p:cNvSpPr/>
          <p:nvPr/>
        </p:nvSpPr>
        <p:spPr>
          <a:xfrm>
            <a:off x="8023860" y="4607560"/>
            <a:ext cx="3611880" cy="1530985"/>
          </a:xfrm>
          <a:prstGeom prst="rect">
            <a:avLst/>
          </a:prstGeom>
          <a:noFill/>
          <a:ln>
            <a:solidFill>
              <a:srgbClr val="B2B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9" name="直接连接符 38"/>
          <p:cNvCxnSpPr/>
          <p:nvPr/>
        </p:nvCxnSpPr>
        <p:spPr>
          <a:xfrm>
            <a:off x="6294755" y="2251710"/>
            <a:ext cx="1583055" cy="0"/>
          </a:xfrm>
          <a:prstGeom prst="line">
            <a:avLst/>
          </a:prstGeom>
          <a:ln>
            <a:solidFill>
              <a:srgbClr val="A8B2B8"/>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flipV="1">
            <a:off x="8055610" y="2218055"/>
            <a:ext cx="3589655" cy="8255"/>
          </a:xfrm>
          <a:prstGeom prst="line">
            <a:avLst/>
          </a:prstGeom>
          <a:ln>
            <a:solidFill>
              <a:srgbClr val="A8B2B8"/>
            </a:solidFill>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flipV="1">
            <a:off x="8047355" y="4825365"/>
            <a:ext cx="3597910" cy="8890"/>
          </a:xfrm>
          <a:prstGeom prst="line">
            <a:avLst/>
          </a:prstGeom>
          <a:ln>
            <a:solidFill>
              <a:srgbClr val="A8B2B8"/>
            </a:solidFill>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flipV="1">
            <a:off x="3957955" y="3860165"/>
            <a:ext cx="2268855" cy="8890"/>
          </a:xfrm>
          <a:prstGeom prst="line">
            <a:avLst/>
          </a:prstGeom>
          <a:ln>
            <a:solidFill>
              <a:srgbClr val="A8B2B8"/>
            </a:solidFill>
          </a:ln>
        </p:spPr>
        <p:style>
          <a:lnRef idx="2">
            <a:schemeClr val="accent1"/>
          </a:lnRef>
          <a:fillRef idx="0">
            <a:srgbClr val="FFFFFF"/>
          </a:fillRef>
          <a:effectRef idx="0">
            <a:srgbClr val="FFFFFF"/>
          </a:effectRef>
          <a:fontRef idx="minor">
            <a:schemeClr val="tx1"/>
          </a:fontRef>
        </p:style>
      </p:cxnSp>
      <p:sp>
        <p:nvSpPr>
          <p:cNvPr id="44" name="矩形 43"/>
          <p:cNvSpPr/>
          <p:nvPr/>
        </p:nvSpPr>
        <p:spPr>
          <a:xfrm>
            <a:off x="3966210" y="2023110"/>
            <a:ext cx="2268855" cy="236855"/>
          </a:xfrm>
          <a:prstGeom prst="rect">
            <a:avLst/>
          </a:prstGeom>
          <a:solidFill>
            <a:srgbClr val="E6EEFB"/>
          </a:solidFill>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5" name="文本框 44"/>
          <p:cNvSpPr txBox="1"/>
          <p:nvPr/>
        </p:nvSpPr>
        <p:spPr>
          <a:xfrm>
            <a:off x="4222750" y="2023110"/>
            <a:ext cx="1761490" cy="245110"/>
          </a:xfrm>
          <a:prstGeom prst="rect">
            <a:avLst/>
          </a:prstGeom>
          <a:noFill/>
        </p:spPr>
        <p:txBody>
          <a:bodyPr wrap="square" rtlCol="0">
            <a:spAutoFit/>
          </a:bodyPr>
          <a:p>
            <a:r>
              <a:rPr lang="zh-CN" altLang="en-US" sz="1000" b="1">
                <a:latin typeface="微软雅黑" panose="020B0503020204020204" charset="-122"/>
                <a:ea typeface="微软雅黑" panose="020B0503020204020204" charset="-122"/>
                <a:cs typeface="微软雅黑" panose="020B0503020204020204" charset="-122"/>
              </a:rPr>
              <a:t>动力学方程（</a:t>
            </a:r>
            <a:r>
              <a:rPr lang="en-US" altLang="zh-CN" sz="1000" b="1">
                <a:latin typeface="微软雅黑" panose="020B0503020204020204" charset="-122"/>
                <a:ea typeface="微软雅黑" panose="020B0503020204020204" charset="-122"/>
                <a:cs typeface="微软雅黑" panose="020B0503020204020204" charset="-122"/>
              </a:rPr>
              <a:t>2.1</a:t>
            </a:r>
            <a:r>
              <a:rPr lang="zh-CN" altLang="en-US" sz="1000" b="1">
                <a:latin typeface="微软雅黑" panose="020B0503020204020204" charset="-122"/>
                <a:ea typeface="微软雅黑" panose="020B0503020204020204" charset="-122"/>
                <a:cs typeface="微软雅黑" panose="020B0503020204020204" charset="-122"/>
              </a:rPr>
              <a:t>）</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a:t>
            </a:r>
            <a:r>
              <a:rPr lang="en-US" altLang="zh-CN" sz="1000" b="1">
                <a:latin typeface="微软雅黑" panose="020B0503020204020204" charset="-122"/>
                <a:ea typeface="微软雅黑" panose="020B0503020204020204" charset="-122"/>
                <a:cs typeface="微软雅黑" panose="020B0503020204020204" charset="-122"/>
              </a:rPr>
              <a:t>2.3</a:t>
            </a:r>
            <a:r>
              <a:rPr lang="zh-CN" altLang="en-US" sz="1000" b="1">
                <a:latin typeface="微软雅黑" panose="020B0503020204020204" charset="-122"/>
                <a:ea typeface="微软雅黑" panose="020B0503020204020204" charset="-122"/>
                <a:cs typeface="微软雅黑" panose="020B0503020204020204" charset="-122"/>
              </a:rPr>
              <a:t>）</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46" name="矩形 45"/>
          <p:cNvSpPr/>
          <p:nvPr/>
        </p:nvSpPr>
        <p:spPr>
          <a:xfrm>
            <a:off x="6303010" y="2014855"/>
            <a:ext cx="1583055" cy="228600"/>
          </a:xfrm>
          <a:prstGeom prst="rect">
            <a:avLst/>
          </a:prstGeom>
          <a:solidFill>
            <a:srgbClr val="E6EEFB"/>
          </a:solidFill>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7" name="文本框 46"/>
          <p:cNvSpPr txBox="1"/>
          <p:nvPr/>
        </p:nvSpPr>
        <p:spPr>
          <a:xfrm>
            <a:off x="6405245" y="2006600"/>
            <a:ext cx="1482090" cy="245110"/>
          </a:xfrm>
          <a:prstGeom prst="rect">
            <a:avLst/>
          </a:prstGeom>
          <a:noFill/>
        </p:spPr>
        <p:txBody>
          <a:bodyPr wrap="square" rtlCol="0">
            <a:spAutoFit/>
          </a:bodyPr>
          <a:p>
            <a:r>
              <a:rPr lang="zh-CN" altLang="en-US" sz="1000" b="1">
                <a:latin typeface="微软雅黑" panose="020B0503020204020204" charset="-122"/>
                <a:ea typeface="微软雅黑" panose="020B0503020204020204" charset="-122"/>
                <a:cs typeface="微软雅黑" panose="020B0503020204020204" charset="-122"/>
              </a:rPr>
              <a:t>材料本构关系（图</a:t>
            </a:r>
            <a:r>
              <a:rPr lang="en-US" altLang="zh-CN" sz="1000" b="1">
                <a:latin typeface="微软雅黑" panose="020B0503020204020204" charset="-122"/>
                <a:ea typeface="微软雅黑" panose="020B0503020204020204" charset="-122"/>
                <a:cs typeface="微软雅黑" panose="020B0503020204020204" charset="-122"/>
              </a:rPr>
              <a:t>2.3</a:t>
            </a:r>
            <a:r>
              <a:rPr lang="zh-CN" altLang="en-US" sz="1000" b="1">
                <a:latin typeface="微软雅黑" panose="020B0503020204020204" charset="-122"/>
                <a:ea typeface="微软雅黑" panose="020B0503020204020204" charset="-122"/>
                <a:cs typeface="微软雅黑" panose="020B0503020204020204" charset="-122"/>
              </a:rPr>
              <a:t>）</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48" name="矩形 47"/>
          <p:cNvSpPr/>
          <p:nvPr/>
        </p:nvSpPr>
        <p:spPr>
          <a:xfrm>
            <a:off x="8038465" y="2014855"/>
            <a:ext cx="3615690" cy="211455"/>
          </a:xfrm>
          <a:prstGeom prst="rect">
            <a:avLst/>
          </a:prstGeom>
          <a:solidFill>
            <a:srgbClr val="E6EEFB"/>
          </a:solidFill>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9" name="文本框 48"/>
          <p:cNvSpPr txBox="1"/>
          <p:nvPr/>
        </p:nvSpPr>
        <p:spPr>
          <a:xfrm>
            <a:off x="8406765" y="1998345"/>
            <a:ext cx="2988945" cy="245110"/>
          </a:xfrm>
          <a:prstGeom prst="rect">
            <a:avLst/>
          </a:prstGeom>
          <a:noFill/>
        </p:spPr>
        <p:txBody>
          <a:bodyPr wrap="square" rtlCol="0">
            <a:spAutoFit/>
          </a:bodyPr>
          <a:p>
            <a:r>
              <a:rPr lang="zh-CN" altLang="en-US" sz="1000" b="1">
                <a:latin typeface="微软雅黑" panose="020B0503020204020204" charset="-122"/>
                <a:ea typeface="微软雅黑" panose="020B0503020204020204" charset="-122"/>
                <a:cs typeface="微软雅黑" panose="020B0503020204020204" charset="-122"/>
              </a:rPr>
              <a:t>显式耦合迭代流程与更新公式（</a:t>
            </a:r>
            <a:r>
              <a:rPr lang="en-US" altLang="zh-CN" sz="1000" b="1">
                <a:latin typeface="微软雅黑" panose="020B0503020204020204" charset="-122"/>
                <a:ea typeface="微软雅黑" panose="020B0503020204020204" charset="-122"/>
                <a:cs typeface="微软雅黑" panose="020B0503020204020204" charset="-122"/>
              </a:rPr>
              <a:t>2.16</a:t>
            </a:r>
            <a:r>
              <a:rPr lang="zh-CN" altLang="en-US" sz="1000" b="1">
                <a:latin typeface="微软雅黑" panose="020B0503020204020204" charset="-122"/>
                <a:ea typeface="微软雅黑" panose="020B0503020204020204" charset="-122"/>
                <a:cs typeface="微软雅黑" panose="020B0503020204020204" charset="-122"/>
              </a:rPr>
              <a:t>）</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a:t>
            </a:r>
            <a:r>
              <a:rPr lang="en-US" altLang="zh-CN" sz="1000" b="1">
                <a:latin typeface="微软雅黑" panose="020B0503020204020204" charset="-122"/>
                <a:ea typeface="微软雅黑" panose="020B0503020204020204" charset="-122"/>
                <a:cs typeface="微软雅黑" panose="020B0503020204020204" charset="-122"/>
              </a:rPr>
              <a:t>2.19</a:t>
            </a:r>
            <a:r>
              <a:rPr lang="zh-CN" altLang="en-US" sz="1000" b="1">
                <a:latin typeface="微软雅黑" panose="020B0503020204020204" charset="-122"/>
                <a:ea typeface="微软雅黑" panose="020B0503020204020204" charset="-122"/>
                <a:cs typeface="微软雅黑" panose="020B0503020204020204" charset="-122"/>
              </a:rPr>
              <a:t>）</a:t>
            </a:r>
            <a:endParaRPr lang="zh-CN" altLang="en-US" sz="1000" b="1">
              <a:latin typeface="微软雅黑" panose="020B0503020204020204" charset="-122"/>
              <a:ea typeface="微软雅黑" panose="020B0503020204020204" charset="-122"/>
              <a:cs typeface="微软雅黑" panose="020B0503020204020204" charset="-122"/>
            </a:endParaRPr>
          </a:p>
        </p:txBody>
      </p:sp>
      <p:pic>
        <p:nvPicPr>
          <p:cNvPr id="50" name="图片 49" descr="19.1.1"/>
          <p:cNvPicPr>
            <a:picLocks noChangeAspect="1"/>
          </p:cNvPicPr>
          <p:nvPr/>
        </p:nvPicPr>
        <p:blipFill>
          <a:blip r:embed="rId1"/>
          <a:srcRect r="1047"/>
          <a:stretch>
            <a:fillRect/>
          </a:stretch>
        </p:blipFill>
        <p:spPr>
          <a:xfrm>
            <a:off x="504190" y="2077720"/>
            <a:ext cx="3259455" cy="2891155"/>
          </a:xfrm>
          <a:prstGeom prst="rect">
            <a:avLst/>
          </a:prstGeom>
        </p:spPr>
      </p:pic>
      <p:sp>
        <p:nvSpPr>
          <p:cNvPr id="51" name="矩形 50"/>
          <p:cNvSpPr/>
          <p:nvPr/>
        </p:nvSpPr>
        <p:spPr>
          <a:xfrm>
            <a:off x="3965575" y="3640455"/>
            <a:ext cx="2235835" cy="211455"/>
          </a:xfrm>
          <a:prstGeom prst="rect">
            <a:avLst/>
          </a:prstGeom>
          <a:solidFill>
            <a:srgbClr val="E6EEFB"/>
          </a:solidFill>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2" name="文本框 51"/>
          <p:cNvSpPr txBox="1"/>
          <p:nvPr/>
        </p:nvSpPr>
        <p:spPr>
          <a:xfrm>
            <a:off x="4222750" y="3623945"/>
            <a:ext cx="1744345" cy="245110"/>
          </a:xfrm>
          <a:prstGeom prst="rect">
            <a:avLst/>
          </a:prstGeom>
          <a:noFill/>
        </p:spPr>
        <p:txBody>
          <a:bodyPr wrap="square" rtlCol="0">
            <a:spAutoFit/>
          </a:bodyPr>
          <a:p>
            <a:r>
              <a:rPr lang="zh-CN" altLang="en-US" sz="1000" b="1">
                <a:latin typeface="微软雅黑" panose="020B0503020204020204" charset="-122"/>
                <a:ea typeface="微软雅黑" panose="020B0503020204020204" charset="-122"/>
                <a:cs typeface="微软雅黑" panose="020B0503020204020204" charset="-122"/>
              </a:rPr>
              <a:t>梁单元矩阵（</a:t>
            </a:r>
            <a:r>
              <a:rPr lang="en-US" altLang="zh-CN" sz="1000" b="1">
                <a:latin typeface="微软雅黑" panose="020B0503020204020204" charset="-122"/>
                <a:ea typeface="微软雅黑" panose="020B0503020204020204" charset="-122"/>
                <a:cs typeface="微软雅黑" panose="020B0503020204020204" charset="-122"/>
              </a:rPr>
              <a:t>2.4</a:t>
            </a:r>
            <a:r>
              <a:rPr lang="zh-CN" altLang="en-US" sz="1000" b="1">
                <a:latin typeface="微软雅黑" panose="020B0503020204020204" charset="-122"/>
                <a:ea typeface="微软雅黑" panose="020B0503020204020204" charset="-122"/>
                <a:cs typeface="微软雅黑" panose="020B0503020204020204" charset="-122"/>
              </a:rPr>
              <a:t>）</a:t>
            </a:r>
            <a:r>
              <a:rPr lang="en-US" altLang="zh-CN" sz="1000" b="1">
                <a:latin typeface="微软雅黑" panose="020B0503020204020204" charset="-122"/>
                <a:ea typeface="微软雅黑" panose="020B0503020204020204" charset="-122"/>
                <a:cs typeface="微软雅黑" panose="020B0503020204020204" charset="-122"/>
              </a:rPr>
              <a:t>-</a:t>
            </a:r>
            <a:r>
              <a:rPr lang="zh-CN" altLang="en-US" sz="1000" b="1">
                <a:latin typeface="微软雅黑" panose="020B0503020204020204" charset="-122"/>
                <a:ea typeface="微软雅黑" panose="020B0503020204020204" charset="-122"/>
                <a:cs typeface="微软雅黑" panose="020B0503020204020204" charset="-122"/>
              </a:rPr>
              <a:t>（</a:t>
            </a:r>
            <a:r>
              <a:rPr lang="en-US" altLang="zh-CN" sz="1000" b="1">
                <a:latin typeface="微软雅黑" panose="020B0503020204020204" charset="-122"/>
                <a:ea typeface="微软雅黑" panose="020B0503020204020204" charset="-122"/>
                <a:cs typeface="微软雅黑" panose="020B0503020204020204" charset="-122"/>
              </a:rPr>
              <a:t>2.6</a:t>
            </a:r>
            <a:r>
              <a:rPr lang="zh-CN" altLang="en-US" sz="1000" b="1">
                <a:latin typeface="微软雅黑" panose="020B0503020204020204" charset="-122"/>
                <a:ea typeface="微软雅黑" panose="020B0503020204020204" charset="-122"/>
                <a:cs typeface="微软雅黑" panose="020B0503020204020204" charset="-122"/>
              </a:rPr>
              <a:t>）</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53" name="矩形 52"/>
          <p:cNvSpPr/>
          <p:nvPr/>
        </p:nvSpPr>
        <p:spPr>
          <a:xfrm>
            <a:off x="8013065" y="4613910"/>
            <a:ext cx="3615690" cy="203200"/>
          </a:xfrm>
          <a:prstGeom prst="rect">
            <a:avLst/>
          </a:prstGeom>
          <a:solidFill>
            <a:srgbClr val="E6EEFB"/>
          </a:solidFill>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4" name="文本框 53"/>
          <p:cNvSpPr txBox="1"/>
          <p:nvPr/>
        </p:nvSpPr>
        <p:spPr>
          <a:xfrm>
            <a:off x="8839200" y="4589145"/>
            <a:ext cx="2785745" cy="245110"/>
          </a:xfrm>
          <a:prstGeom prst="rect">
            <a:avLst/>
          </a:prstGeom>
          <a:noFill/>
        </p:spPr>
        <p:txBody>
          <a:bodyPr wrap="square" rtlCol="0">
            <a:spAutoFit/>
          </a:bodyPr>
          <a:p>
            <a:r>
              <a:rPr lang="zh-CN" altLang="en-US" sz="1000" b="1">
                <a:solidFill>
                  <a:srgbClr val="00329F"/>
                </a:solidFill>
              </a:rPr>
              <a:t>时间步长稳定性与状态更新</a:t>
            </a:r>
            <a:endParaRPr lang="zh-CN" altLang="en-US" sz="1000" b="1">
              <a:solidFill>
                <a:srgbClr val="00329F"/>
              </a:solidFill>
            </a:endParaRPr>
          </a:p>
        </p:txBody>
      </p:sp>
      <p:pic>
        <p:nvPicPr>
          <p:cNvPr id="55" name="图片 54" descr="19.2.2"/>
          <p:cNvPicPr>
            <a:picLocks noChangeAspect="1"/>
          </p:cNvPicPr>
          <p:nvPr/>
        </p:nvPicPr>
        <p:blipFill>
          <a:blip r:embed="rId2"/>
          <a:stretch>
            <a:fillRect/>
          </a:stretch>
        </p:blipFill>
        <p:spPr>
          <a:xfrm>
            <a:off x="6303010" y="2268220"/>
            <a:ext cx="1530985" cy="2237105"/>
          </a:xfrm>
          <a:prstGeom prst="rect">
            <a:avLst/>
          </a:prstGeom>
        </p:spPr>
      </p:pic>
      <p:sp>
        <p:nvSpPr>
          <p:cNvPr id="56" name="文本框 55"/>
          <p:cNvSpPr txBox="1"/>
          <p:nvPr/>
        </p:nvSpPr>
        <p:spPr>
          <a:xfrm>
            <a:off x="6424295" y="4645660"/>
            <a:ext cx="1491615" cy="368300"/>
          </a:xfrm>
          <a:prstGeom prst="rect">
            <a:avLst/>
          </a:prstGeom>
          <a:noFill/>
        </p:spPr>
        <p:txBody>
          <a:bodyPr wrap="square" rtlCol="0">
            <a:spAutoFit/>
          </a:bodyPr>
          <a:p>
            <a:r>
              <a:rPr lang="zh-CN" altLang="en-US" sz="900" b="1">
                <a:latin typeface="微软雅黑" panose="020B0503020204020204" charset="-122"/>
                <a:ea typeface="微软雅黑" panose="020B0503020204020204" charset="-122"/>
                <a:cs typeface="微软雅黑" panose="020B0503020204020204" charset="-122"/>
              </a:rPr>
              <a:t>基于</a:t>
            </a:r>
            <a:r>
              <a:rPr lang="en-US" altLang="zh-CN" sz="900" b="1">
                <a:latin typeface="微软雅黑" panose="020B0503020204020204" charset="-122"/>
                <a:ea typeface="微软雅黑" panose="020B0503020204020204" charset="-122"/>
                <a:cs typeface="微软雅黑" panose="020B0503020204020204" charset="-122"/>
              </a:rPr>
              <a:t>Lagrange/Kane</a:t>
            </a:r>
            <a:r>
              <a:rPr lang="zh-CN" altLang="en-US" sz="900" b="1">
                <a:latin typeface="微软雅黑" panose="020B0503020204020204" charset="-122"/>
                <a:ea typeface="微软雅黑" panose="020B0503020204020204" charset="-122"/>
                <a:cs typeface="微软雅黑" panose="020B0503020204020204" charset="-122"/>
              </a:rPr>
              <a:t>法建立动力学方程；</a:t>
            </a:r>
            <a:endParaRPr lang="zh-CN" altLang="en-US" sz="900" b="1">
              <a:latin typeface="微软雅黑" panose="020B0503020204020204" charset="-122"/>
              <a:ea typeface="微软雅黑" panose="020B0503020204020204" charset="-122"/>
              <a:cs typeface="微软雅黑" panose="020B0503020204020204" charset="-122"/>
            </a:endParaRPr>
          </a:p>
        </p:txBody>
      </p:sp>
      <p:sp>
        <p:nvSpPr>
          <p:cNvPr id="57" name="矩形 56"/>
          <p:cNvSpPr/>
          <p:nvPr/>
        </p:nvSpPr>
        <p:spPr>
          <a:xfrm>
            <a:off x="6348730" y="474154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矩形 57"/>
          <p:cNvSpPr/>
          <p:nvPr/>
        </p:nvSpPr>
        <p:spPr>
          <a:xfrm>
            <a:off x="6348730" y="504444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矩形 58"/>
          <p:cNvSpPr/>
          <p:nvPr/>
        </p:nvSpPr>
        <p:spPr>
          <a:xfrm>
            <a:off x="6348730" y="537591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矩形 59"/>
          <p:cNvSpPr/>
          <p:nvPr/>
        </p:nvSpPr>
        <p:spPr>
          <a:xfrm>
            <a:off x="6348730" y="569658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文本框 60"/>
          <p:cNvSpPr txBox="1"/>
          <p:nvPr/>
        </p:nvSpPr>
        <p:spPr>
          <a:xfrm>
            <a:off x="6498590" y="5001895"/>
            <a:ext cx="1414145" cy="368300"/>
          </a:xfrm>
          <a:prstGeom prst="rect">
            <a:avLst/>
          </a:prstGeom>
          <a:noFill/>
        </p:spPr>
        <p:txBody>
          <a:bodyPr wrap="square" rtlCol="0">
            <a:spAutoFit/>
          </a:bodyPr>
          <a:p>
            <a:r>
              <a:rPr lang="zh-CN" altLang="en-US" sz="900" b="1">
                <a:latin typeface="微软雅黑" panose="020B0503020204020204" charset="-122"/>
                <a:ea typeface="微软雅黑" panose="020B0503020204020204" charset="-122"/>
                <a:cs typeface="微软雅黑" panose="020B0503020204020204" charset="-122"/>
              </a:rPr>
              <a:t>采用</a:t>
            </a:r>
            <a:r>
              <a:rPr lang="en-US" altLang="zh-CN" sz="900" b="1">
                <a:latin typeface="微软雅黑" panose="020B0503020204020204" charset="-122"/>
                <a:ea typeface="微软雅黑" panose="020B0503020204020204" charset="-122"/>
                <a:cs typeface="微软雅黑" panose="020B0503020204020204" charset="-122"/>
              </a:rPr>
              <a:t>Euler-Bernoulli</a:t>
            </a:r>
            <a:r>
              <a:rPr lang="zh-CN" altLang="en-US" sz="900" b="1">
                <a:latin typeface="微软雅黑" panose="020B0503020204020204" charset="-122"/>
                <a:ea typeface="微软雅黑" panose="020B0503020204020204" charset="-122"/>
                <a:cs typeface="微软雅黑" panose="020B0503020204020204" charset="-122"/>
              </a:rPr>
              <a:t>梁单元；</a:t>
            </a:r>
            <a:endParaRPr lang="zh-CN" altLang="en-US" sz="900" b="1">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6489700" y="5349240"/>
            <a:ext cx="1422400" cy="381635"/>
          </a:xfrm>
          <a:prstGeom prst="rect">
            <a:avLst/>
          </a:prstGeom>
          <a:noFill/>
        </p:spPr>
        <p:txBody>
          <a:bodyPr wrap="square" rtlCol="0">
            <a:spAutoFit/>
          </a:bodyPr>
          <a:p>
            <a:pPr>
              <a:lnSpc>
                <a:spcPct val="70000"/>
              </a:lnSpc>
              <a:spcBef>
                <a:spcPts val="0"/>
              </a:spcBef>
              <a:spcAft>
                <a:spcPts val="0"/>
              </a:spcAft>
            </a:pPr>
            <a:r>
              <a:rPr lang="zh-CN" altLang="en-US" sz="900" b="1"/>
              <a:t>考虑线弹性与双线性</a:t>
            </a:r>
            <a:r>
              <a:rPr lang="zh-CN" altLang="en-US" sz="900" b="1"/>
              <a:t>弹塑性本构</a:t>
            </a:r>
            <a:r>
              <a:rPr lang="zh-CN" altLang="en-US"/>
              <a:t>；</a:t>
            </a:r>
            <a:endParaRPr lang="zh-CN" altLang="en-US"/>
          </a:p>
        </p:txBody>
      </p:sp>
      <p:sp>
        <p:nvSpPr>
          <p:cNvPr id="63" name="文本框 62"/>
          <p:cNvSpPr txBox="1"/>
          <p:nvPr/>
        </p:nvSpPr>
        <p:spPr>
          <a:xfrm>
            <a:off x="6489700" y="5642610"/>
            <a:ext cx="1312545" cy="368300"/>
          </a:xfrm>
          <a:prstGeom prst="rect">
            <a:avLst/>
          </a:prstGeom>
          <a:noFill/>
        </p:spPr>
        <p:txBody>
          <a:bodyPr wrap="square" rtlCol="0">
            <a:spAutoFit/>
          </a:bodyPr>
          <a:p>
            <a:r>
              <a:rPr lang="zh-CN" altLang="en-US" sz="900" b="1">
                <a:latin typeface="微软雅黑" panose="020B0503020204020204" charset="-122"/>
                <a:ea typeface="微软雅黑" panose="020B0503020204020204" charset="-122"/>
                <a:cs typeface="微软雅黑" panose="020B0503020204020204" charset="-122"/>
              </a:rPr>
              <a:t>集中质量与弹簧</a:t>
            </a:r>
            <a:r>
              <a:rPr lang="en-US" altLang="zh-CN" sz="900" b="1">
                <a:latin typeface="微软雅黑" panose="020B0503020204020204" charset="-122"/>
                <a:ea typeface="微软雅黑" panose="020B0503020204020204" charset="-122"/>
                <a:cs typeface="微软雅黑" panose="020B0503020204020204" charset="-122"/>
              </a:rPr>
              <a:t>-</a:t>
            </a:r>
            <a:r>
              <a:rPr lang="zh-CN" altLang="en-US" sz="900" b="1">
                <a:latin typeface="微软雅黑" panose="020B0503020204020204" charset="-122"/>
                <a:ea typeface="微软雅黑" panose="020B0503020204020204" charset="-122"/>
                <a:cs typeface="微软雅黑" panose="020B0503020204020204" charset="-122"/>
              </a:rPr>
              <a:t>阻尼耦合；</a:t>
            </a:r>
            <a:endParaRPr lang="zh-CN" altLang="en-US" sz="900" b="1">
              <a:latin typeface="微软雅黑" panose="020B0503020204020204" charset="-122"/>
              <a:ea typeface="微软雅黑" panose="020B0503020204020204" charset="-122"/>
              <a:cs typeface="微软雅黑" panose="020B0503020204020204" charset="-122"/>
            </a:endParaRPr>
          </a:p>
        </p:txBody>
      </p:sp>
      <p:pic>
        <p:nvPicPr>
          <p:cNvPr id="64" name="图片 63" descr="19.3.3"/>
          <p:cNvPicPr>
            <a:picLocks noChangeAspect="1"/>
          </p:cNvPicPr>
          <p:nvPr/>
        </p:nvPicPr>
        <p:blipFill>
          <a:blip r:embed="rId3"/>
          <a:srcRect l="2675" t="8213" r="3104" b="11426"/>
          <a:stretch>
            <a:fillRect/>
          </a:stretch>
        </p:blipFill>
        <p:spPr>
          <a:xfrm>
            <a:off x="3966210" y="2259965"/>
            <a:ext cx="2250440" cy="1308100"/>
          </a:xfrm>
          <a:prstGeom prst="rect">
            <a:avLst/>
          </a:prstGeom>
        </p:spPr>
      </p:pic>
      <p:pic>
        <p:nvPicPr>
          <p:cNvPr id="65" name="图片 64" descr="19.4.4"/>
          <p:cNvPicPr>
            <a:picLocks noChangeAspect="1"/>
          </p:cNvPicPr>
          <p:nvPr/>
        </p:nvPicPr>
        <p:blipFill>
          <a:blip r:embed="rId4"/>
          <a:stretch>
            <a:fillRect/>
          </a:stretch>
        </p:blipFill>
        <p:spPr>
          <a:xfrm>
            <a:off x="3965575" y="3869055"/>
            <a:ext cx="2187575" cy="2142490"/>
          </a:xfrm>
          <a:prstGeom prst="rect">
            <a:avLst/>
          </a:prstGeom>
        </p:spPr>
      </p:pic>
      <p:pic>
        <p:nvPicPr>
          <p:cNvPr id="66" name="图片 65" descr="19.6.6"/>
          <p:cNvPicPr>
            <a:picLocks noChangeAspect="1"/>
          </p:cNvPicPr>
          <p:nvPr/>
        </p:nvPicPr>
        <p:blipFill>
          <a:blip r:embed="rId5"/>
          <a:srcRect l="1544" r="1851" b="4944"/>
          <a:stretch>
            <a:fillRect/>
          </a:stretch>
        </p:blipFill>
        <p:spPr>
          <a:xfrm>
            <a:off x="8258810" y="4834255"/>
            <a:ext cx="3026410" cy="1239520"/>
          </a:xfrm>
          <a:prstGeom prst="rect">
            <a:avLst/>
          </a:prstGeom>
        </p:spPr>
      </p:pic>
      <p:pic>
        <p:nvPicPr>
          <p:cNvPr id="67" name="图片 66" descr="19.5.5"/>
          <p:cNvPicPr>
            <a:picLocks noChangeAspect="1"/>
          </p:cNvPicPr>
          <p:nvPr/>
        </p:nvPicPr>
        <p:blipFill>
          <a:blip r:embed="rId6"/>
          <a:stretch>
            <a:fillRect/>
          </a:stretch>
        </p:blipFill>
        <p:spPr>
          <a:xfrm>
            <a:off x="8055610" y="2268220"/>
            <a:ext cx="3482975" cy="2237105"/>
          </a:xfrm>
          <a:prstGeom prst="rect">
            <a:avLst/>
          </a:prstGeom>
        </p:spPr>
      </p:pic>
      <p:sp>
        <p:nvSpPr>
          <p:cNvPr id="2" name="文本框 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19/68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805116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对比整体模型与联合仿真模型在三种典型工况下的时程响应</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endParaRPr lang="zh-CN" altLang="en-US" sz="2300" b="1">
              <a:solidFill>
                <a:srgbClr val="C00000"/>
              </a:solidFill>
            </a:endParaRPr>
          </a:p>
        </p:txBody>
      </p:sp>
      <p:sp>
        <p:nvSpPr>
          <p:cNvPr id="13" name="矩形 12"/>
          <p:cNvSpPr/>
          <p:nvPr/>
        </p:nvSpPr>
        <p:spPr>
          <a:xfrm>
            <a:off x="7958455" y="1590675"/>
            <a:ext cx="3767455" cy="292100"/>
          </a:xfrm>
          <a:prstGeom prst="rect">
            <a:avLst/>
          </a:prstGeom>
          <a:solidFill>
            <a:srgbClr val="04217D"/>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4084320" y="1610995"/>
            <a:ext cx="3706495" cy="271145"/>
          </a:xfrm>
          <a:prstGeom prst="rect">
            <a:avLst/>
          </a:prstGeom>
          <a:solidFill>
            <a:srgbClr val="04217D"/>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433705" y="1614805"/>
            <a:ext cx="3482975" cy="271145"/>
          </a:xfrm>
          <a:prstGeom prst="rect">
            <a:avLst/>
          </a:prstGeom>
          <a:solidFill>
            <a:srgbClr val="04217D"/>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547495" y="1590675"/>
            <a:ext cx="1762760" cy="291465"/>
          </a:xfrm>
          <a:prstGeom prst="rect">
            <a:avLst/>
          </a:prstGeom>
          <a:noFill/>
        </p:spPr>
        <p:txBody>
          <a:bodyPr wrap="square" rtlCol="0">
            <a:spAutoFit/>
          </a:bodyPr>
          <a:p>
            <a:r>
              <a:rPr lang="zh-CN" altLang="en-US" sz="1300" b="1">
                <a:solidFill>
                  <a:schemeClr val="bg1"/>
                </a:solidFill>
              </a:rPr>
              <a:t>线弹性材料本构</a:t>
            </a:r>
            <a:endParaRPr lang="zh-CN" altLang="en-US" sz="1300" b="1">
              <a:solidFill>
                <a:schemeClr val="bg1"/>
              </a:solidFill>
            </a:endParaRPr>
          </a:p>
        </p:txBody>
      </p:sp>
      <p:sp>
        <p:nvSpPr>
          <p:cNvPr id="17" name="文本框 16"/>
          <p:cNvSpPr txBox="1"/>
          <p:nvPr/>
        </p:nvSpPr>
        <p:spPr>
          <a:xfrm>
            <a:off x="4948555" y="1590675"/>
            <a:ext cx="2294255" cy="291465"/>
          </a:xfrm>
          <a:prstGeom prst="rect">
            <a:avLst/>
          </a:prstGeom>
          <a:noFill/>
        </p:spPr>
        <p:txBody>
          <a:bodyPr wrap="square" rtlCol="0">
            <a:spAutoFit/>
          </a:bodyPr>
          <a:p>
            <a:r>
              <a:rPr lang="zh-CN" altLang="en-US" sz="1300" b="1">
                <a:solidFill>
                  <a:schemeClr val="bg1"/>
                </a:solidFill>
              </a:rPr>
              <a:t>平滑启动后的线弹性</a:t>
            </a:r>
            <a:r>
              <a:rPr lang="zh-CN" altLang="en-US" sz="1300" b="1">
                <a:solidFill>
                  <a:schemeClr val="bg1"/>
                </a:solidFill>
              </a:rPr>
              <a:t>响应</a:t>
            </a:r>
            <a:endParaRPr lang="zh-CN" altLang="en-US" sz="1300" b="1">
              <a:solidFill>
                <a:schemeClr val="bg1"/>
              </a:solidFill>
            </a:endParaRPr>
          </a:p>
        </p:txBody>
      </p:sp>
      <p:sp>
        <p:nvSpPr>
          <p:cNvPr id="18" name="文本框 17"/>
          <p:cNvSpPr txBox="1"/>
          <p:nvPr/>
        </p:nvSpPr>
        <p:spPr>
          <a:xfrm>
            <a:off x="9164320" y="1590675"/>
            <a:ext cx="1355725" cy="291465"/>
          </a:xfrm>
          <a:prstGeom prst="rect">
            <a:avLst/>
          </a:prstGeom>
          <a:noFill/>
        </p:spPr>
        <p:txBody>
          <a:bodyPr wrap="square" rtlCol="0">
            <a:spAutoFit/>
          </a:bodyPr>
          <a:p>
            <a:r>
              <a:rPr lang="zh-CN" altLang="en-US" sz="1300" b="1">
                <a:solidFill>
                  <a:schemeClr val="bg1"/>
                </a:solidFill>
              </a:rPr>
              <a:t>弹塑性材料本构</a:t>
            </a:r>
            <a:endParaRPr lang="zh-CN" altLang="en-US" sz="1300" b="1">
              <a:solidFill>
                <a:schemeClr val="bg1"/>
              </a:solidFill>
            </a:endParaRPr>
          </a:p>
        </p:txBody>
      </p:sp>
      <p:cxnSp>
        <p:nvCxnSpPr>
          <p:cNvPr id="19" name="直接连接符 18"/>
          <p:cNvCxnSpPr/>
          <p:nvPr/>
        </p:nvCxnSpPr>
        <p:spPr>
          <a:xfrm>
            <a:off x="3970655" y="1598295"/>
            <a:ext cx="0" cy="3842385"/>
          </a:xfrm>
          <a:prstGeom prst="line">
            <a:avLst/>
          </a:prstGeom>
          <a:ln>
            <a:solidFill>
              <a:srgbClr val="B2B2B2"/>
            </a:solidFill>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flipH="1">
            <a:off x="7874000" y="1605280"/>
            <a:ext cx="6985" cy="3829050"/>
          </a:xfrm>
          <a:prstGeom prst="line">
            <a:avLst/>
          </a:prstGeom>
          <a:ln>
            <a:solidFill>
              <a:srgbClr val="B2B2B2"/>
            </a:solidFill>
          </a:ln>
        </p:spPr>
        <p:style>
          <a:lnRef idx="2">
            <a:schemeClr val="accent1"/>
          </a:lnRef>
          <a:fillRef idx="0">
            <a:srgbClr val="FFFFFF"/>
          </a:fillRef>
          <a:effectRef idx="0">
            <a:srgbClr val="FFFFFF"/>
          </a:effectRef>
          <a:fontRef idx="minor">
            <a:schemeClr val="tx1"/>
          </a:fontRef>
        </p:style>
      </p:cxnSp>
      <p:sp>
        <p:nvSpPr>
          <p:cNvPr id="21" name="圆角矩形 20"/>
          <p:cNvSpPr/>
          <p:nvPr/>
        </p:nvSpPr>
        <p:spPr>
          <a:xfrm>
            <a:off x="434975" y="4540250"/>
            <a:ext cx="3434080" cy="901065"/>
          </a:xfrm>
          <a:prstGeom prst="roundRect">
            <a:avLst/>
          </a:prstGeom>
          <a:noFill/>
          <a:ln w="19050">
            <a:solidFill>
              <a:srgbClr val="A8B2B8"/>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nvSpPr>
        <p:spPr>
          <a:xfrm>
            <a:off x="433705" y="4424680"/>
            <a:ext cx="413385" cy="345440"/>
          </a:xfrm>
          <a:prstGeom prst="rect">
            <a:avLst/>
          </a:prstGeom>
          <a:noFill/>
        </p:spPr>
        <p:txBody>
          <a:bodyPr wrap="square" rtlCol="0">
            <a:noAutofit/>
          </a:bodyPr>
          <a:p>
            <a:r>
              <a:rPr lang="en-US" altLang="zh-CN" sz="2400">
                <a:latin typeface="微软雅黑" panose="020B0503020204020204" charset="-122"/>
                <a:ea typeface="微软雅黑" panose="020B0503020204020204" charset="-122"/>
              </a:rPr>
              <a:t>·</a:t>
            </a:r>
            <a:endParaRPr lang="en-US" altLang="zh-CN" sz="2400">
              <a:latin typeface="微软雅黑" panose="020B0503020204020204" charset="-122"/>
              <a:ea typeface="微软雅黑" panose="020B0503020204020204" charset="-122"/>
            </a:endParaRPr>
          </a:p>
        </p:txBody>
      </p:sp>
      <p:sp>
        <p:nvSpPr>
          <p:cNvPr id="25" name="文本框 24"/>
          <p:cNvSpPr txBox="1"/>
          <p:nvPr/>
        </p:nvSpPr>
        <p:spPr>
          <a:xfrm>
            <a:off x="595630" y="4540250"/>
            <a:ext cx="3042920" cy="245110"/>
          </a:xfrm>
          <a:prstGeom prst="rect">
            <a:avLst/>
          </a:prstGeom>
          <a:noFill/>
        </p:spPr>
        <p:txBody>
          <a:bodyPr wrap="square" rtlCol="0">
            <a:spAutoFit/>
          </a:bodyPr>
          <a:p>
            <a:r>
              <a:rPr lang="zh-CN" altLang="en-US" sz="1000" b="1"/>
              <a:t>位移响应：整体模型与联合仿真模型</a:t>
            </a:r>
            <a:r>
              <a:rPr lang="zh-CN" altLang="en-US" sz="1000" b="1">
                <a:solidFill>
                  <a:srgbClr val="C00000"/>
                </a:solidFill>
              </a:rPr>
              <a:t>吻合良好</a:t>
            </a:r>
            <a:r>
              <a:rPr lang="zh-CN" altLang="en-US" sz="1000" b="1"/>
              <a:t>。</a:t>
            </a:r>
            <a:endParaRPr lang="zh-CN" altLang="en-US" sz="1000" b="1"/>
          </a:p>
        </p:txBody>
      </p:sp>
      <p:sp>
        <p:nvSpPr>
          <p:cNvPr id="27" name="文本框 26"/>
          <p:cNvSpPr txBox="1"/>
          <p:nvPr/>
        </p:nvSpPr>
        <p:spPr>
          <a:xfrm>
            <a:off x="433705" y="4649470"/>
            <a:ext cx="413385" cy="345440"/>
          </a:xfrm>
          <a:prstGeom prst="rect">
            <a:avLst/>
          </a:prstGeom>
          <a:noFill/>
        </p:spPr>
        <p:txBody>
          <a:bodyPr wrap="square" rtlCol="0">
            <a:noAutofit/>
          </a:bodyPr>
          <a:p>
            <a:r>
              <a:rPr lang="en-US" altLang="zh-CN" sz="2400">
                <a:latin typeface="微软雅黑" panose="020B0503020204020204" charset="-122"/>
                <a:ea typeface="微软雅黑" panose="020B0503020204020204" charset="-122"/>
              </a:rPr>
              <a:t>·</a:t>
            </a:r>
            <a:endParaRPr lang="en-US" altLang="zh-CN" sz="2400">
              <a:latin typeface="微软雅黑" panose="020B0503020204020204" charset="-122"/>
              <a:ea typeface="微软雅黑" panose="020B0503020204020204" charset="-122"/>
            </a:endParaRPr>
          </a:p>
        </p:txBody>
      </p:sp>
      <p:sp>
        <p:nvSpPr>
          <p:cNvPr id="28" name="文本框 27"/>
          <p:cNvSpPr txBox="1"/>
          <p:nvPr/>
        </p:nvSpPr>
        <p:spPr>
          <a:xfrm>
            <a:off x="595630" y="4770120"/>
            <a:ext cx="3166110" cy="419100"/>
          </a:xfrm>
          <a:prstGeom prst="rect">
            <a:avLst/>
          </a:prstGeom>
          <a:noFill/>
        </p:spPr>
        <p:txBody>
          <a:bodyPr wrap="square" rtlCol="0">
            <a:noAutofit/>
          </a:bodyPr>
          <a:p>
            <a:pPr>
              <a:lnSpc>
                <a:spcPct val="110000"/>
              </a:lnSpc>
              <a:spcBef>
                <a:spcPts val="0"/>
              </a:spcBef>
              <a:spcAft>
                <a:spcPts val="0"/>
              </a:spcAft>
            </a:pPr>
            <a:r>
              <a:rPr lang="zh-CN" altLang="en-US" sz="1000" b="1"/>
              <a:t>速度与加速度响应：在初始阶段存在</a:t>
            </a:r>
            <a:r>
              <a:rPr lang="zh-CN" altLang="en-US" sz="1000" b="1">
                <a:solidFill>
                  <a:srgbClr val="C00000"/>
                </a:solidFill>
              </a:rPr>
              <a:t>短时高频摄荡，</a:t>
            </a:r>
            <a:r>
              <a:rPr lang="zh-CN" altLang="en-US" sz="1000" b="1"/>
              <a:t>因显式耦合的信息交换延迟与瞬态不一致引起;</a:t>
            </a:r>
            <a:endParaRPr lang="zh-CN" altLang="en-US" sz="1000" b="1"/>
          </a:p>
        </p:txBody>
      </p:sp>
      <p:sp>
        <p:nvSpPr>
          <p:cNvPr id="29" name="文本框 28"/>
          <p:cNvSpPr txBox="1"/>
          <p:nvPr/>
        </p:nvSpPr>
        <p:spPr>
          <a:xfrm>
            <a:off x="595630" y="5142865"/>
            <a:ext cx="2663190" cy="245110"/>
          </a:xfrm>
          <a:prstGeom prst="rect">
            <a:avLst/>
          </a:prstGeom>
          <a:noFill/>
        </p:spPr>
        <p:txBody>
          <a:bodyPr wrap="square" rtlCol="0">
            <a:spAutoFit/>
          </a:bodyPr>
          <a:p>
            <a:r>
              <a:rPr lang="zh-CN" altLang="en-US" sz="1000" b="1"/>
              <a:t>随后响应</a:t>
            </a:r>
            <a:r>
              <a:rPr lang="zh-CN" altLang="en-US" sz="1000" b="1">
                <a:solidFill>
                  <a:srgbClr val="C00000"/>
                </a:solidFill>
              </a:rPr>
              <a:t>迅速趋于一致，</a:t>
            </a:r>
            <a:r>
              <a:rPr lang="zh-CN" altLang="en-US" sz="1000" b="1"/>
              <a:t>吻合度高。</a:t>
            </a:r>
            <a:endParaRPr lang="zh-CN" altLang="en-US" sz="1000" b="1"/>
          </a:p>
        </p:txBody>
      </p:sp>
      <p:sp>
        <p:nvSpPr>
          <p:cNvPr id="30" name="圆角矩形 29"/>
          <p:cNvSpPr/>
          <p:nvPr/>
        </p:nvSpPr>
        <p:spPr>
          <a:xfrm>
            <a:off x="4100830" y="4649470"/>
            <a:ext cx="3623310" cy="791845"/>
          </a:xfrm>
          <a:prstGeom prst="roundRect">
            <a:avLst/>
          </a:prstGeom>
          <a:noFill/>
          <a:ln w="19050">
            <a:solidFill>
              <a:srgbClr val="A8B2B8"/>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nvSpPr>
        <p:spPr>
          <a:xfrm>
            <a:off x="4107180" y="4540250"/>
            <a:ext cx="413385" cy="345440"/>
          </a:xfrm>
          <a:prstGeom prst="rect">
            <a:avLst/>
          </a:prstGeom>
          <a:noFill/>
        </p:spPr>
        <p:txBody>
          <a:bodyPr wrap="square" rtlCol="0">
            <a:noAutofit/>
          </a:bodyPr>
          <a:p>
            <a:r>
              <a:rPr lang="en-US" altLang="zh-CN" sz="2400">
                <a:latin typeface="微软雅黑" panose="020B0503020204020204" charset="-122"/>
                <a:ea typeface="微软雅黑" panose="020B0503020204020204" charset="-122"/>
              </a:rPr>
              <a:t>·</a:t>
            </a:r>
            <a:endParaRPr lang="en-US" altLang="zh-CN" sz="2400">
              <a:latin typeface="微软雅黑" panose="020B0503020204020204" charset="-122"/>
              <a:ea typeface="微软雅黑" panose="020B0503020204020204" charset="-122"/>
            </a:endParaRPr>
          </a:p>
        </p:txBody>
      </p:sp>
      <p:sp>
        <p:nvSpPr>
          <p:cNvPr id="32" name="文本框 31"/>
          <p:cNvSpPr txBox="1"/>
          <p:nvPr/>
        </p:nvSpPr>
        <p:spPr>
          <a:xfrm>
            <a:off x="4107180" y="4994910"/>
            <a:ext cx="413385" cy="345440"/>
          </a:xfrm>
          <a:prstGeom prst="rect">
            <a:avLst/>
          </a:prstGeom>
          <a:noFill/>
        </p:spPr>
        <p:txBody>
          <a:bodyPr wrap="square" rtlCol="0">
            <a:noAutofit/>
          </a:bodyPr>
          <a:p>
            <a:r>
              <a:rPr lang="en-US" altLang="zh-CN" sz="2400">
                <a:latin typeface="微软雅黑" panose="020B0503020204020204" charset="-122"/>
                <a:ea typeface="微软雅黑" panose="020B0503020204020204" charset="-122"/>
              </a:rPr>
              <a:t>·</a:t>
            </a:r>
            <a:endParaRPr lang="en-US" altLang="zh-CN" sz="2400">
              <a:latin typeface="微软雅黑" panose="020B0503020204020204" charset="-122"/>
              <a:ea typeface="微软雅黑" panose="020B0503020204020204" charset="-122"/>
            </a:endParaRPr>
          </a:p>
        </p:txBody>
      </p:sp>
      <p:sp>
        <p:nvSpPr>
          <p:cNvPr id="33" name="文本框 32"/>
          <p:cNvSpPr txBox="1"/>
          <p:nvPr/>
        </p:nvSpPr>
        <p:spPr>
          <a:xfrm>
            <a:off x="4258310" y="4648200"/>
            <a:ext cx="3171190" cy="496570"/>
          </a:xfrm>
          <a:prstGeom prst="rect">
            <a:avLst/>
          </a:prstGeom>
          <a:noFill/>
        </p:spPr>
        <p:txBody>
          <a:bodyPr wrap="square" rtlCol="0">
            <a:spAutoFit/>
          </a:bodyPr>
          <a:p>
            <a:pPr>
              <a:lnSpc>
                <a:spcPct val="120000"/>
              </a:lnSpc>
              <a:spcBef>
                <a:spcPts val="0"/>
              </a:spcBef>
              <a:spcAft>
                <a:spcPts val="0"/>
              </a:spcAft>
            </a:pPr>
            <a:r>
              <a:rPr lang="zh-CN" altLang="en-US" sz="1100" b="1"/>
              <a:t>采用荷载平滑启动策略后，初始阶段的</a:t>
            </a:r>
            <a:r>
              <a:rPr lang="zh-CN" altLang="en-US" sz="1100" b="1">
                <a:solidFill>
                  <a:srgbClr val="C00000"/>
                </a:solidFill>
              </a:rPr>
              <a:t>高频振荡显著减小。</a:t>
            </a:r>
            <a:endParaRPr lang="zh-CN" altLang="en-US" sz="1100" b="1">
              <a:solidFill>
                <a:srgbClr val="C00000"/>
              </a:solidFill>
            </a:endParaRPr>
          </a:p>
        </p:txBody>
      </p:sp>
      <p:sp>
        <p:nvSpPr>
          <p:cNvPr id="34" name="文本框 33"/>
          <p:cNvSpPr txBox="1"/>
          <p:nvPr/>
        </p:nvSpPr>
        <p:spPr>
          <a:xfrm>
            <a:off x="4258310" y="5108575"/>
            <a:ext cx="3226435" cy="260350"/>
          </a:xfrm>
          <a:prstGeom prst="rect">
            <a:avLst/>
          </a:prstGeom>
          <a:noFill/>
        </p:spPr>
        <p:txBody>
          <a:bodyPr wrap="square" rtlCol="0">
            <a:spAutoFit/>
          </a:bodyPr>
          <a:p>
            <a:r>
              <a:rPr lang="zh-CN" altLang="en-US" sz="1100" b="1"/>
              <a:t>响应曲线更为平滑，</a:t>
            </a:r>
            <a:r>
              <a:rPr lang="zh-CN" altLang="en-US" sz="1100" b="1">
                <a:solidFill>
                  <a:srgbClr val="C00000"/>
                </a:solidFill>
              </a:rPr>
              <a:t>数值稳定性与计算精度提升。</a:t>
            </a:r>
            <a:endParaRPr lang="zh-CN" altLang="en-US" sz="1100" b="1">
              <a:solidFill>
                <a:srgbClr val="C00000"/>
              </a:solidFill>
            </a:endParaRPr>
          </a:p>
        </p:txBody>
      </p:sp>
      <p:sp>
        <p:nvSpPr>
          <p:cNvPr id="35" name="圆角矩形 34"/>
          <p:cNvSpPr/>
          <p:nvPr/>
        </p:nvSpPr>
        <p:spPr>
          <a:xfrm>
            <a:off x="7981315" y="4594860"/>
            <a:ext cx="3779520" cy="847090"/>
          </a:xfrm>
          <a:prstGeom prst="roundRect">
            <a:avLst/>
          </a:prstGeom>
          <a:noFill/>
          <a:ln w="19050">
            <a:solidFill>
              <a:srgbClr val="A8B2B8"/>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文本框 35"/>
          <p:cNvSpPr txBox="1"/>
          <p:nvPr/>
        </p:nvSpPr>
        <p:spPr>
          <a:xfrm>
            <a:off x="8030845" y="4490085"/>
            <a:ext cx="413385" cy="345440"/>
          </a:xfrm>
          <a:prstGeom prst="rect">
            <a:avLst/>
          </a:prstGeom>
          <a:noFill/>
        </p:spPr>
        <p:txBody>
          <a:bodyPr wrap="square" rtlCol="0">
            <a:noAutofit/>
          </a:bodyPr>
          <a:p>
            <a:r>
              <a:rPr lang="en-US" altLang="zh-CN" sz="2400">
                <a:latin typeface="微软雅黑" panose="020B0503020204020204" charset="-122"/>
                <a:ea typeface="微软雅黑" panose="020B0503020204020204" charset="-122"/>
              </a:rPr>
              <a:t>·</a:t>
            </a:r>
            <a:endParaRPr lang="en-US" altLang="zh-CN" sz="2400">
              <a:latin typeface="微软雅黑" panose="020B0503020204020204" charset="-122"/>
              <a:ea typeface="微软雅黑" panose="020B0503020204020204" charset="-122"/>
            </a:endParaRPr>
          </a:p>
        </p:txBody>
      </p:sp>
      <p:sp>
        <p:nvSpPr>
          <p:cNvPr id="37" name="文本框 36"/>
          <p:cNvSpPr txBox="1"/>
          <p:nvPr/>
        </p:nvSpPr>
        <p:spPr>
          <a:xfrm>
            <a:off x="8030845" y="4885690"/>
            <a:ext cx="413385" cy="345440"/>
          </a:xfrm>
          <a:prstGeom prst="rect">
            <a:avLst/>
          </a:prstGeom>
          <a:noFill/>
        </p:spPr>
        <p:txBody>
          <a:bodyPr wrap="square" rtlCol="0">
            <a:noAutofit/>
          </a:bodyPr>
          <a:p>
            <a:r>
              <a:rPr lang="en-US" altLang="zh-CN" sz="2400">
                <a:latin typeface="微软雅黑" panose="020B0503020204020204" charset="-122"/>
                <a:ea typeface="微软雅黑" panose="020B0503020204020204" charset="-122"/>
              </a:rPr>
              <a:t>·</a:t>
            </a:r>
            <a:endParaRPr lang="en-US" altLang="zh-CN" sz="2400">
              <a:latin typeface="微软雅黑" panose="020B0503020204020204" charset="-122"/>
              <a:ea typeface="微软雅黑" panose="020B0503020204020204" charset="-122"/>
            </a:endParaRPr>
          </a:p>
        </p:txBody>
      </p:sp>
      <p:sp>
        <p:nvSpPr>
          <p:cNvPr id="38" name="文本框 37"/>
          <p:cNvSpPr txBox="1"/>
          <p:nvPr/>
        </p:nvSpPr>
        <p:spPr>
          <a:xfrm>
            <a:off x="8030845" y="4490085"/>
            <a:ext cx="413385" cy="345440"/>
          </a:xfrm>
          <a:prstGeom prst="rect">
            <a:avLst/>
          </a:prstGeom>
          <a:noFill/>
        </p:spPr>
        <p:txBody>
          <a:bodyPr wrap="square" rtlCol="0">
            <a:noAutofit/>
          </a:bodyPr>
          <a:p>
            <a:r>
              <a:rPr lang="en-US" altLang="zh-CN" sz="2400">
                <a:latin typeface="微软雅黑" panose="020B0503020204020204" charset="-122"/>
                <a:ea typeface="微软雅黑" panose="020B0503020204020204" charset="-122"/>
              </a:rPr>
              <a:t>·</a:t>
            </a:r>
            <a:endParaRPr lang="en-US" altLang="zh-CN" sz="2400">
              <a:latin typeface="微软雅黑" panose="020B0503020204020204" charset="-122"/>
              <a:ea typeface="微软雅黑" panose="020B0503020204020204" charset="-122"/>
            </a:endParaRPr>
          </a:p>
        </p:txBody>
      </p:sp>
      <p:sp>
        <p:nvSpPr>
          <p:cNvPr id="39" name="文本框 38"/>
          <p:cNvSpPr txBox="1"/>
          <p:nvPr/>
        </p:nvSpPr>
        <p:spPr>
          <a:xfrm>
            <a:off x="8186420" y="4594860"/>
            <a:ext cx="3268345" cy="429895"/>
          </a:xfrm>
          <a:prstGeom prst="rect">
            <a:avLst/>
          </a:prstGeom>
          <a:noFill/>
        </p:spPr>
        <p:txBody>
          <a:bodyPr wrap="square" rtlCol="0">
            <a:spAutoFit/>
          </a:bodyPr>
          <a:p>
            <a:r>
              <a:rPr lang="zh-CN" altLang="en-US" sz="1100" b="1"/>
              <a:t>引入弹塑性本构后，系统位移、速度与加速度响应</a:t>
            </a:r>
            <a:r>
              <a:rPr lang="zh-CN" altLang="en-US" sz="1100" b="1">
                <a:solidFill>
                  <a:srgbClr val="C00000"/>
                </a:solidFill>
              </a:rPr>
              <a:t>幅值与波动均显著增大。</a:t>
            </a:r>
            <a:endParaRPr lang="zh-CN" altLang="en-US" sz="1100" b="1">
              <a:solidFill>
                <a:srgbClr val="C00000"/>
              </a:solidFill>
            </a:endParaRPr>
          </a:p>
        </p:txBody>
      </p:sp>
      <p:sp>
        <p:nvSpPr>
          <p:cNvPr id="40" name="文本框 39"/>
          <p:cNvSpPr txBox="1"/>
          <p:nvPr/>
        </p:nvSpPr>
        <p:spPr>
          <a:xfrm>
            <a:off x="8186420" y="5004435"/>
            <a:ext cx="3220720" cy="429895"/>
          </a:xfrm>
          <a:prstGeom prst="rect">
            <a:avLst/>
          </a:prstGeom>
          <a:noFill/>
        </p:spPr>
        <p:txBody>
          <a:bodyPr wrap="square" rtlCol="0">
            <a:spAutoFit/>
          </a:bodyPr>
          <a:p>
            <a:r>
              <a:rPr lang="zh-CN" altLang="en-US" sz="1100" b="1"/>
              <a:t>联合仿真模型仍能较好地捕捉非线性动力响应，与整体模型保持</a:t>
            </a:r>
            <a:r>
              <a:rPr lang="zh-CN" altLang="en-US" sz="1100" b="1">
                <a:solidFill>
                  <a:srgbClr val="C00000"/>
                </a:solidFill>
              </a:rPr>
              <a:t>良好一致。</a:t>
            </a:r>
            <a:endParaRPr lang="zh-CN" altLang="en-US" sz="1100" b="1">
              <a:solidFill>
                <a:srgbClr val="C00000"/>
              </a:solidFill>
            </a:endParaRPr>
          </a:p>
        </p:txBody>
      </p:sp>
      <p:sp>
        <p:nvSpPr>
          <p:cNvPr id="41" name="圆角矩形 40"/>
          <p:cNvSpPr/>
          <p:nvPr/>
        </p:nvSpPr>
        <p:spPr>
          <a:xfrm>
            <a:off x="524510" y="5535930"/>
            <a:ext cx="11124565" cy="861060"/>
          </a:xfrm>
          <a:prstGeom prst="roundRect">
            <a:avLst/>
          </a:prstGeom>
          <a:ln w="19050">
            <a:solidFill>
              <a:srgbClr val="558EA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2" name="文本框 41"/>
          <p:cNvSpPr txBox="1"/>
          <p:nvPr/>
        </p:nvSpPr>
        <p:spPr>
          <a:xfrm>
            <a:off x="630555" y="5591810"/>
            <a:ext cx="10930890" cy="770890"/>
          </a:xfrm>
          <a:prstGeom prst="rect">
            <a:avLst/>
          </a:prstGeom>
          <a:noFill/>
        </p:spPr>
        <p:txBody>
          <a:bodyPr wrap="square" rtlCol="0">
            <a:spAutoFit/>
          </a:bodyPr>
          <a:p>
            <a:pPr algn="ctr">
              <a:lnSpc>
                <a:spcPct val="130000"/>
              </a:lnSpc>
              <a:spcBef>
                <a:spcPts val="0"/>
              </a:spcBef>
              <a:spcAft>
                <a:spcPts val="0"/>
              </a:spcAft>
            </a:pPr>
            <a:r>
              <a:rPr lang="zh-CN" altLang="en-US" sz="1700" b="1"/>
              <a:t>显式耦合的联合仿真在</a:t>
            </a:r>
            <a:r>
              <a:rPr lang="zh-CN" altLang="en-US" sz="1700" b="1">
                <a:solidFill>
                  <a:srgbClr val="C00000"/>
                </a:solidFill>
              </a:rPr>
              <a:t>线弹性</a:t>
            </a:r>
            <a:r>
              <a:rPr lang="zh-CN" altLang="en-US" sz="1700" b="1"/>
              <a:t>与</a:t>
            </a:r>
            <a:r>
              <a:rPr lang="zh-CN" altLang="en-US" sz="1700" b="1">
                <a:solidFill>
                  <a:srgbClr val="C00000"/>
                </a:solidFill>
              </a:rPr>
              <a:t>非线性</a:t>
            </a:r>
            <a:r>
              <a:rPr lang="zh-CN" altLang="en-US" sz="1700" b="1"/>
              <a:t>条件下均具备良好的精度与一致性；</a:t>
            </a:r>
            <a:r>
              <a:rPr lang="zh-CN" altLang="en-US" sz="1700" b="1">
                <a:solidFill>
                  <a:srgbClr val="C00000"/>
                </a:solidFill>
              </a:rPr>
              <a:t>荷载平滑启动策略</a:t>
            </a:r>
            <a:r>
              <a:rPr lang="zh-CN" altLang="en-US" sz="1700" b="1"/>
              <a:t>有效抑制了初始数值振荡，提升了数值稳定性；为后续开展更复杂非线性条件下的联合仿真分析</a:t>
            </a:r>
            <a:r>
              <a:rPr lang="zh-CN" altLang="en-US" sz="1700" b="1">
                <a:solidFill>
                  <a:srgbClr val="C00000"/>
                </a:solidFill>
              </a:rPr>
              <a:t>奠定数值基础。</a:t>
            </a:r>
            <a:endParaRPr lang="zh-CN" altLang="en-US" sz="1700" b="1">
              <a:solidFill>
                <a:srgbClr val="C00000"/>
              </a:solidFill>
            </a:endParaRPr>
          </a:p>
        </p:txBody>
      </p:sp>
      <p:pic>
        <p:nvPicPr>
          <p:cNvPr id="43" name="图片 42" descr="20.1.1"/>
          <p:cNvPicPr>
            <a:picLocks noChangeAspect="1"/>
          </p:cNvPicPr>
          <p:nvPr/>
        </p:nvPicPr>
        <p:blipFill>
          <a:blip r:embed="rId1"/>
          <a:stretch>
            <a:fillRect/>
          </a:stretch>
        </p:blipFill>
        <p:spPr>
          <a:xfrm>
            <a:off x="645795" y="1948815"/>
            <a:ext cx="3098165" cy="2525395"/>
          </a:xfrm>
          <a:prstGeom prst="rect">
            <a:avLst/>
          </a:prstGeom>
        </p:spPr>
      </p:pic>
      <p:pic>
        <p:nvPicPr>
          <p:cNvPr id="44" name="图片 43" descr="20.2.2"/>
          <p:cNvPicPr>
            <a:picLocks noChangeAspect="1"/>
          </p:cNvPicPr>
          <p:nvPr/>
        </p:nvPicPr>
        <p:blipFill>
          <a:blip r:embed="rId2"/>
          <a:stretch>
            <a:fillRect/>
          </a:stretch>
        </p:blipFill>
        <p:spPr>
          <a:xfrm>
            <a:off x="4310380" y="1939925"/>
            <a:ext cx="3224530" cy="2656205"/>
          </a:xfrm>
          <a:prstGeom prst="rect">
            <a:avLst/>
          </a:prstGeom>
        </p:spPr>
      </p:pic>
      <p:pic>
        <p:nvPicPr>
          <p:cNvPr id="45" name="图片 44" descr="20.3.3"/>
          <p:cNvPicPr>
            <a:picLocks noChangeAspect="1"/>
          </p:cNvPicPr>
          <p:nvPr/>
        </p:nvPicPr>
        <p:blipFill>
          <a:blip r:embed="rId3"/>
          <a:stretch>
            <a:fillRect/>
          </a:stretch>
        </p:blipFill>
        <p:spPr>
          <a:xfrm>
            <a:off x="8325485" y="1936115"/>
            <a:ext cx="3132455" cy="2605405"/>
          </a:xfrm>
          <a:prstGeom prst="rect">
            <a:avLst/>
          </a:prstGeom>
        </p:spPr>
      </p:pic>
      <p:sp>
        <p:nvSpPr>
          <p:cNvPr id="2" name="文本框 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20/68</a:t>
            </a:r>
            <a:endParaRPr lang="en-US" altLang="zh-CN">
              <a:latin typeface="微软雅黑" panose="020B0503020204020204" charset="-122"/>
              <a:ea typeface="微软雅黑" panose="020B0503020204020204" charset="-122"/>
            </a:endParaRPr>
          </a:p>
        </p:txBody>
      </p: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5110480"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大型混塔式风电机组联合仿真策略</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endParaRPr lang="zh-CN" altLang="en-US" sz="2300" b="1">
              <a:solidFill>
                <a:srgbClr val="C00000"/>
              </a:solidFill>
            </a:endParaRPr>
          </a:p>
        </p:txBody>
      </p:sp>
      <p:sp>
        <p:nvSpPr>
          <p:cNvPr id="12" name="矩形 11"/>
          <p:cNvSpPr/>
          <p:nvPr/>
        </p:nvSpPr>
        <p:spPr>
          <a:xfrm>
            <a:off x="637540" y="1632585"/>
            <a:ext cx="3523615" cy="4553585"/>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矩形 12"/>
          <p:cNvSpPr/>
          <p:nvPr/>
        </p:nvSpPr>
        <p:spPr>
          <a:xfrm>
            <a:off x="4249420" y="1624965"/>
            <a:ext cx="3855720" cy="4561205"/>
          </a:xfrm>
          <a:prstGeom prst="rect">
            <a:avLst/>
          </a:prstGeom>
          <a:ln w="19050">
            <a:solidFill>
              <a:srgbClr val="3C5069"/>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矩形 13"/>
          <p:cNvSpPr/>
          <p:nvPr/>
        </p:nvSpPr>
        <p:spPr>
          <a:xfrm>
            <a:off x="8200390" y="1638300"/>
            <a:ext cx="3442335" cy="4554855"/>
          </a:xfrm>
          <a:prstGeom prst="rect">
            <a:avLst/>
          </a:prstGeom>
          <a:ln w="19050">
            <a:solidFill>
              <a:srgbClr val="8B8D8A"/>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5" name="图片 14" descr="21.1.1"/>
          <p:cNvPicPr>
            <a:picLocks noChangeAspect="1"/>
          </p:cNvPicPr>
          <p:nvPr/>
        </p:nvPicPr>
        <p:blipFill>
          <a:blip r:embed="rId1"/>
          <a:stretch>
            <a:fillRect/>
          </a:stretch>
        </p:blipFill>
        <p:spPr>
          <a:xfrm>
            <a:off x="4319270" y="1652270"/>
            <a:ext cx="3665220" cy="4484370"/>
          </a:xfrm>
          <a:prstGeom prst="rect">
            <a:avLst/>
          </a:prstGeom>
        </p:spPr>
      </p:pic>
      <p:pic>
        <p:nvPicPr>
          <p:cNvPr id="16" name="图片 15" descr="21.2.2"/>
          <p:cNvPicPr>
            <a:picLocks noChangeAspect="1"/>
          </p:cNvPicPr>
          <p:nvPr/>
        </p:nvPicPr>
        <p:blipFill>
          <a:blip r:embed="rId2"/>
          <a:stretch>
            <a:fillRect/>
          </a:stretch>
        </p:blipFill>
        <p:spPr>
          <a:xfrm>
            <a:off x="8253095" y="1652270"/>
            <a:ext cx="3389630" cy="4484370"/>
          </a:xfrm>
          <a:prstGeom prst="rect">
            <a:avLst/>
          </a:prstGeom>
        </p:spPr>
      </p:pic>
      <p:pic>
        <p:nvPicPr>
          <p:cNvPr id="2" name="图片 1" descr="勾"/>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870" y="1792605"/>
            <a:ext cx="250825" cy="250825"/>
          </a:xfrm>
          <a:prstGeom prst="rect">
            <a:avLst/>
          </a:prstGeom>
        </p:spPr>
      </p:pic>
      <p:sp>
        <p:nvSpPr>
          <p:cNvPr id="3" name="文本框 2"/>
          <p:cNvSpPr txBox="1"/>
          <p:nvPr/>
        </p:nvSpPr>
        <p:spPr>
          <a:xfrm>
            <a:off x="955675" y="1692910"/>
            <a:ext cx="3293745" cy="817245"/>
          </a:xfrm>
          <a:prstGeom prst="rect">
            <a:avLst/>
          </a:prstGeom>
          <a:noFill/>
        </p:spPr>
        <p:txBody>
          <a:bodyPr wrap="square" rtlCol="0">
            <a:noAutofit/>
          </a:bodyPr>
          <a:p>
            <a:pPr>
              <a:lnSpc>
                <a:spcPct val="120000"/>
              </a:lnSpc>
              <a:spcBef>
                <a:spcPts val="0"/>
              </a:spcBef>
              <a:spcAft>
                <a:spcPts val="0"/>
              </a:spcAft>
            </a:pPr>
            <a:r>
              <a:rPr lang="zh-CN" altLang="en-US" sz="2100" b="1">
                <a:solidFill>
                  <a:srgbClr val="023A8B"/>
                </a:solidFill>
                <a:latin typeface="微软雅黑" panose="020B0503020204020204" charset="-122"/>
                <a:ea typeface="微软雅黑" panose="020B0503020204020204" charset="-122"/>
                <a:cs typeface="微软雅黑" panose="020B0503020204020204" charset="-122"/>
              </a:rPr>
              <a:t>子系统：</a:t>
            </a:r>
            <a:r>
              <a:rPr lang="zh-CN" altLang="en-US" sz="2100" b="1">
                <a:latin typeface="微软雅黑" panose="020B0503020204020204" charset="-122"/>
                <a:ea typeface="微软雅黑" panose="020B0503020204020204" charset="-122"/>
                <a:cs typeface="微软雅黑" panose="020B0503020204020204" charset="-122"/>
              </a:rPr>
              <a:t>系统分解为</a:t>
            </a:r>
            <a:r>
              <a:rPr lang="zh-CN" altLang="en-US" sz="2100" b="1">
                <a:solidFill>
                  <a:srgbClr val="C00000"/>
                </a:solidFill>
                <a:latin typeface="微软雅黑" panose="020B0503020204020204" charset="-122"/>
                <a:ea typeface="微软雅黑" panose="020B0503020204020204" charset="-122"/>
                <a:cs typeface="微软雅黑" panose="020B0503020204020204" charset="-122"/>
              </a:rPr>
              <a:t>叶轮</a:t>
            </a:r>
            <a:r>
              <a:rPr lang="en-US" altLang="zh-CN" sz="2100" b="1">
                <a:solidFill>
                  <a:srgbClr val="C00000"/>
                </a:solidFill>
                <a:latin typeface="微软雅黑" panose="020B0503020204020204" charset="-122"/>
                <a:ea typeface="微软雅黑" panose="020B0503020204020204" charset="-122"/>
                <a:cs typeface="微软雅黑" panose="020B0503020204020204" charset="-122"/>
              </a:rPr>
              <a:t>-</a:t>
            </a:r>
            <a:r>
              <a:rPr lang="zh-CN" altLang="en-US" sz="2100" b="1">
                <a:solidFill>
                  <a:srgbClr val="C00000"/>
                </a:solidFill>
                <a:latin typeface="微软雅黑" panose="020B0503020204020204" charset="-122"/>
                <a:ea typeface="微软雅黑" panose="020B0503020204020204" charset="-122"/>
                <a:cs typeface="微软雅黑" panose="020B0503020204020204" charset="-122"/>
              </a:rPr>
              <a:t>机舱子系统</a:t>
            </a:r>
            <a:r>
              <a:rPr lang="zh-CN" altLang="en-US" sz="2100" b="1">
                <a:latin typeface="微软雅黑" panose="020B0503020204020204" charset="-122"/>
                <a:ea typeface="微软雅黑" panose="020B0503020204020204" charset="-122"/>
                <a:cs typeface="微软雅黑" panose="020B0503020204020204" charset="-122"/>
              </a:rPr>
              <a:t>与</a:t>
            </a:r>
            <a:r>
              <a:rPr lang="zh-CN" altLang="en-US" sz="2100" b="1">
                <a:solidFill>
                  <a:srgbClr val="C00000"/>
                </a:solidFill>
                <a:latin typeface="微软雅黑" panose="020B0503020204020204" charset="-122"/>
                <a:ea typeface="微软雅黑" panose="020B0503020204020204" charset="-122"/>
                <a:cs typeface="微软雅黑" panose="020B0503020204020204" charset="-122"/>
              </a:rPr>
              <a:t>混塔子系统</a:t>
            </a:r>
            <a:endParaRPr lang="zh-CN" altLang="en-US" sz="21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955675" y="2510155"/>
            <a:ext cx="3363595" cy="829945"/>
          </a:xfrm>
          <a:prstGeom prst="rect">
            <a:avLst/>
          </a:prstGeom>
          <a:noFill/>
        </p:spPr>
        <p:txBody>
          <a:bodyPr wrap="square" rtlCol="0">
            <a:spAutoFit/>
          </a:bodyPr>
          <a:p>
            <a:pPr>
              <a:lnSpc>
                <a:spcPct val="120000"/>
              </a:lnSpc>
              <a:spcBef>
                <a:spcPts val="0"/>
              </a:spcBef>
              <a:spcAft>
                <a:spcPts val="0"/>
              </a:spcAft>
            </a:pPr>
            <a:r>
              <a:rPr lang="zh-CN" altLang="en-US" sz="2000" b="1">
                <a:solidFill>
                  <a:srgbClr val="023A8B"/>
                </a:solidFill>
              </a:rPr>
              <a:t>边界节点：</a:t>
            </a:r>
            <a:r>
              <a:rPr lang="zh-CN" altLang="en-US" sz="2000" b="1"/>
              <a:t>偏航法兰与塔架顶部连接位置</a:t>
            </a:r>
            <a:endParaRPr lang="zh-CN" altLang="en-US" sz="2000" b="1"/>
          </a:p>
        </p:txBody>
      </p:sp>
      <p:pic>
        <p:nvPicPr>
          <p:cNvPr id="18" name="图片 17" descr="勾"/>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850" y="2613025"/>
            <a:ext cx="250825" cy="250825"/>
          </a:xfrm>
          <a:prstGeom prst="rect">
            <a:avLst/>
          </a:prstGeom>
        </p:spPr>
      </p:pic>
      <p:pic>
        <p:nvPicPr>
          <p:cNvPr id="19" name="图片 18" descr="勾"/>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870" y="3433445"/>
            <a:ext cx="250825" cy="250825"/>
          </a:xfrm>
          <a:prstGeom prst="rect">
            <a:avLst/>
          </a:prstGeom>
        </p:spPr>
      </p:pic>
      <p:pic>
        <p:nvPicPr>
          <p:cNvPr id="20" name="图片 19" descr="勾"/>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870" y="4657725"/>
            <a:ext cx="250825" cy="250825"/>
          </a:xfrm>
          <a:prstGeom prst="rect">
            <a:avLst/>
          </a:prstGeom>
        </p:spPr>
      </p:pic>
      <p:pic>
        <p:nvPicPr>
          <p:cNvPr id="21" name="图片 20" descr="勾"/>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870" y="5395595"/>
            <a:ext cx="250825" cy="250825"/>
          </a:xfrm>
          <a:prstGeom prst="rect">
            <a:avLst/>
          </a:prstGeom>
        </p:spPr>
      </p:pic>
      <p:sp>
        <p:nvSpPr>
          <p:cNvPr id="22" name="文本框 21"/>
          <p:cNvSpPr txBox="1"/>
          <p:nvPr/>
        </p:nvSpPr>
        <p:spPr>
          <a:xfrm>
            <a:off x="988695" y="3295015"/>
            <a:ext cx="3289300" cy="1229995"/>
          </a:xfrm>
          <a:prstGeom prst="rect">
            <a:avLst/>
          </a:prstGeom>
          <a:noFill/>
        </p:spPr>
        <p:txBody>
          <a:bodyPr wrap="square" rtlCol="0">
            <a:spAutoFit/>
          </a:bodyPr>
          <a:p>
            <a:pPr>
              <a:lnSpc>
                <a:spcPct val="130000"/>
              </a:lnSpc>
              <a:spcBef>
                <a:spcPts val="0"/>
              </a:spcBef>
              <a:spcAft>
                <a:spcPts val="0"/>
              </a:spcAft>
            </a:pPr>
            <a:r>
              <a:rPr lang="zh-CN" altLang="en-US" sz="1900" b="1">
                <a:solidFill>
                  <a:srgbClr val="023A8B"/>
                </a:solidFill>
              </a:rPr>
              <a:t>耦合策略：</a:t>
            </a:r>
            <a:r>
              <a:rPr lang="zh-CN" altLang="en-US" sz="1900" b="1"/>
              <a:t>子系统间通过力、位移、速度等接口条件进行显式耦合</a:t>
            </a:r>
            <a:endParaRPr lang="zh-CN" altLang="en-US" sz="1900" b="1"/>
          </a:p>
        </p:txBody>
      </p:sp>
      <p:sp>
        <p:nvSpPr>
          <p:cNvPr id="23" name="文本框 22"/>
          <p:cNvSpPr txBox="1"/>
          <p:nvPr/>
        </p:nvSpPr>
        <p:spPr>
          <a:xfrm>
            <a:off x="955675" y="4507230"/>
            <a:ext cx="3302000" cy="891540"/>
          </a:xfrm>
          <a:prstGeom prst="rect">
            <a:avLst/>
          </a:prstGeom>
          <a:noFill/>
        </p:spPr>
        <p:txBody>
          <a:bodyPr wrap="square" rtlCol="0">
            <a:spAutoFit/>
          </a:bodyPr>
          <a:p>
            <a:pPr>
              <a:lnSpc>
                <a:spcPct val="130000"/>
              </a:lnSpc>
              <a:spcBef>
                <a:spcPts val="0"/>
              </a:spcBef>
              <a:spcAft>
                <a:spcPts val="0"/>
              </a:spcAft>
            </a:pPr>
            <a:r>
              <a:rPr lang="zh-CN" altLang="en-US" sz="2000" b="1">
                <a:solidFill>
                  <a:srgbClr val="023A8B"/>
                </a:solidFill>
              </a:rPr>
              <a:t>联合仿真引擎：</a:t>
            </a:r>
            <a:r>
              <a:rPr lang="zh-CN" altLang="en-US" sz="2000" b="1"/>
              <a:t>进行子系统间的</a:t>
            </a:r>
            <a:r>
              <a:rPr lang="zh-CN" altLang="en-US" sz="2000" b="1">
                <a:solidFill>
                  <a:srgbClr val="C00000"/>
                </a:solidFill>
              </a:rPr>
              <a:t>数据交互和动态耦合</a:t>
            </a:r>
            <a:endParaRPr lang="zh-CN" altLang="en-US" sz="2000" b="1">
              <a:solidFill>
                <a:srgbClr val="C00000"/>
              </a:solidFill>
            </a:endParaRPr>
          </a:p>
        </p:txBody>
      </p:sp>
      <p:sp>
        <p:nvSpPr>
          <p:cNvPr id="24" name="文本框 23"/>
          <p:cNvSpPr txBox="1"/>
          <p:nvPr/>
        </p:nvSpPr>
        <p:spPr>
          <a:xfrm>
            <a:off x="955675" y="5309870"/>
            <a:ext cx="3302635" cy="829945"/>
          </a:xfrm>
          <a:prstGeom prst="rect">
            <a:avLst/>
          </a:prstGeom>
          <a:noFill/>
        </p:spPr>
        <p:txBody>
          <a:bodyPr wrap="square" rtlCol="0">
            <a:spAutoFit/>
          </a:bodyPr>
          <a:p>
            <a:pPr>
              <a:lnSpc>
                <a:spcPct val="120000"/>
              </a:lnSpc>
              <a:spcBef>
                <a:spcPts val="0"/>
              </a:spcBef>
              <a:spcAft>
                <a:spcPts val="0"/>
              </a:spcAft>
            </a:pPr>
            <a:r>
              <a:rPr lang="zh-CN" altLang="en-US" sz="2000" b="1"/>
              <a:t>同时捕捉混塔式风电机组的</a:t>
            </a:r>
            <a:r>
              <a:rPr lang="zh-CN" altLang="en-US" sz="2000" b="1">
                <a:solidFill>
                  <a:srgbClr val="C00000"/>
                </a:solidFill>
              </a:rPr>
              <a:t>非线性行为和全耦合特征</a:t>
            </a:r>
            <a:endParaRPr lang="zh-CN" altLang="en-US" sz="2000" b="1">
              <a:solidFill>
                <a:srgbClr val="C00000"/>
              </a:solidFill>
            </a:endParaRPr>
          </a:p>
        </p:txBody>
      </p:sp>
      <p:sp>
        <p:nvSpPr>
          <p:cNvPr id="25" name="矩形 24"/>
          <p:cNvSpPr/>
          <p:nvPr/>
        </p:nvSpPr>
        <p:spPr>
          <a:xfrm>
            <a:off x="955675" y="6301740"/>
            <a:ext cx="86995" cy="88900"/>
          </a:xfrm>
          <a:prstGeom prst="rect">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文本框 25"/>
          <p:cNvSpPr txBox="1"/>
          <p:nvPr/>
        </p:nvSpPr>
        <p:spPr>
          <a:xfrm>
            <a:off x="988695" y="6226810"/>
            <a:ext cx="10347960" cy="429895"/>
          </a:xfrm>
          <a:prstGeom prst="rect">
            <a:avLst/>
          </a:prstGeom>
          <a:noFill/>
        </p:spPr>
        <p:txBody>
          <a:bodyPr wrap="square" rtlCol="0">
            <a:spAutoFit/>
          </a:bodyPr>
          <a:p>
            <a:r>
              <a:rPr lang="en-US" altLang="zh-CN" sz="1100" b="1">
                <a:latin typeface="微软雅黑" panose="020B0503020204020204" charset="-122"/>
                <a:ea typeface="微软雅黑" panose="020B0503020204020204" charset="-122"/>
              </a:rPr>
              <a:t>J.kovecses,Dynamics of Mechanical Systems and the Generalized Free-Body Diagram-Part I: General Formulation,Journal of Applied Mechanics 75(6) (2008) 061012.</a:t>
            </a:r>
            <a:endParaRPr lang="en-US" altLang="zh-CN" sz="1100" b="1">
              <a:latin typeface="微软雅黑" panose="020B0503020204020204" charset="-122"/>
              <a:ea typeface="微软雅黑" panose="020B0503020204020204" charset="-122"/>
            </a:endParaRPr>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21/68</a:t>
            </a:r>
            <a:endParaRPr lang="en-US" altLang="zh-CN">
              <a:latin typeface="微软雅黑" panose="020B0503020204020204" charset="-122"/>
              <a:ea typeface="微软雅黑" panose="020B0503020204020204" charset="-122"/>
            </a:endParaRPr>
          </a:p>
        </p:txBody>
      </p:sp>
      <p:sp>
        <p:nvSpPr>
          <p:cNvPr id="27" name="文本框 26"/>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矩形 17"/>
          <p:cNvSpPr/>
          <p:nvPr/>
        </p:nvSpPr>
        <p:spPr>
          <a:xfrm>
            <a:off x="5245100" y="2886075"/>
            <a:ext cx="2635885" cy="982345"/>
          </a:xfrm>
          <a:prstGeom prst="rect">
            <a:avLst/>
          </a:prstGeom>
          <a:solidFill>
            <a:srgbClr val="599BD7"/>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6285230"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大型混塔式风电机组联合仿真</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多保真度模型</a:t>
            </a:r>
            <a:endParaRPr lang="zh-CN" altLang="en-US" sz="23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1178560" y="1618615"/>
            <a:ext cx="3781425" cy="304800"/>
          </a:xfrm>
          <a:prstGeom prst="rect">
            <a:avLst/>
          </a:prstGeom>
          <a:solidFill>
            <a:srgbClr val="FEEAD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 name="文本框 2"/>
          <p:cNvSpPr txBox="1"/>
          <p:nvPr/>
        </p:nvSpPr>
        <p:spPr>
          <a:xfrm>
            <a:off x="1579245" y="1631950"/>
            <a:ext cx="3082925" cy="245110"/>
          </a:xfrm>
          <a:prstGeom prst="rect">
            <a:avLst/>
          </a:prstGeom>
          <a:noFill/>
        </p:spPr>
        <p:txBody>
          <a:bodyPr wrap="square" rtlCol="0">
            <a:spAutoFit/>
          </a:bodyPr>
          <a:p>
            <a:r>
              <a:rPr lang="zh-CN" altLang="en-US" sz="1000" b="1">
                <a:latin typeface="微软雅黑" panose="020B0503020204020204" charset="-122"/>
                <a:ea typeface="微软雅黑" panose="020B0503020204020204" charset="-122"/>
                <a:cs typeface="微软雅黑" panose="020B0503020204020204" charset="-122"/>
              </a:rPr>
              <a:t>中保真度：</a:t>
            </a:r>
            <a:r>
              <a:rPr lang="en-US" altLang="zh-CN" sz="1000" b="1">
                <a:latin typeface="微软雅黑" panose="020B0503020204020204" charset="-122"/>
                <a:ea typeface="微软雅黑" panose="020B0503020204020204" charset="-122"/>
                <a:cs typeface="微软雅黑" panose="020B0503020204020204" charset="-122"/>
              </a:rPr>
              <a:t>Simpack+Simulink+OpenSees</a:t>
            </a:r>
            <a:r>
              <a:rPr lang="zh-CN" altLang="en-US" sz="1000" b="1">
                <a:latin typeface="微软雅黑" panose="020B0503020204020204" charset="-122"/>
                <a:ea typeface="微软雅黑" panose="020B0503020204020204" charset="-122"/>
                <a:cs typeface="微软雅黑" panose="020B0503020204020204" charset="-122"/>
              </a:rPr>
              <a:t>联合</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12" name="矩形 11"/>
          <p:cNvSpPr/>
          <p:nvPr/>
        </p:nvSpPr>
        <p:spPr>
          <a:xfrm>
            <a:off x="8161020" y="1618615"/>
            <a:ext cx="2709545" cy="304800"/>
          </a:xfrm>
          <a:prstGeom prst="rect">
            <a:avLst/>
          </a:prstGeom>
          <a:solidFill>
            <a:srgbClr val="FEEAD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8336915" y="1678305"/>
            <a:ext cx="2357755" cy="245110"/>
          </a:xfrm>
          <a:prstGeom prst="rect">
            <a:avLst/>
          </a:prstGeom>
          <a:noFill/>
        </p:spPr>
        <p:txBody>
          <a:bodyPr wrap="square" rtlCol="0">
            <a:spAutoFit/>
          </a:bodyPr>
          <a:p>
            <a:r>
              <a:rPr lang="zh-CN" altLang="en-US" sz="1000" b="1">
                <a:latin typeface="微软雅黑" panose="020B0503020204020204" charset="-122"/>
                <a:ea typeface="微软雅黑" panose="020B0503020204020204" charset="-122"/>
                <a:cs typeface="微软雅黑" panose="020B0503020204020204" charset="-122"/>
              </a:rPr>
              <a:t>高保真度：</a:t>
            </a:r>
            <a:r>
              <a:rPr lang="en-US" altLang="zh-CN" sz="1000" b="1">
                <a:latin typeface="微软雅黑" panose="020B0503020204020204" charset="-122"/>
                <a:ea typeface="微软雅黑" panose="020B0503020204020204" charset="-122"/>
                <a:cs typeface="微软雅黑" panose="020B0503020204020204" charset="-122"/>
              </a:rPr>
              <a:t>Simpack+Abaqus</a:t>
            </a:r>
            <a:r>
              <a:rPr lang="zh-CN" altLang="en-US" sz="1000" b="1">
                <a:latin typeface="微软雅黑" panose="020B0503020204020204" charset="-122"/>
                <a:ea typeface="微软雅黑" panose="020B0503020204020204" charset="-122"/>
                <a:cs typeface="微软雅黑" panose="020B0503020204020204" charset="-122"/>
              </a:rPr>
              <a:t>联合</a:t>
            </a:r>
            <a:endParaRPr lang="zh-CN" altLang="en-US" sz="1000" b="1">
              <a:latin typeface="微软雅黑" panose="020B0503020204020204" charset="-122"/>
              <a:ea typeface="微软雅黑" panose="020B0503020204020204" charset="-122"/>
              <a:cs typeface="微软雅黑" panose="020B0503020204020204" charset="-122"/>
            </a:endParaRPr>
          </a:p>
        </p:txBody>
      </p:sp>
      <p:sp>
        <p:nvSpPr>
          <p:cNvPr id="14" name="矩形 13"/>
          <p:cNvSpPr/>
          <p:nvPr/>
        </p:nvSpPr>
        <p:spPr>
          <a:xfrm>
            <a:off x="5245100" y="1713865"/>
            <a:ext cx="2628900" cy="772160"/>
          </a:xfrm>
          <a:prstGeom prst="rect">
            <a:avLst/>
          </a:prstGeom>
          <a:solidFill>
            <a:srgbClr val="9CC2E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文本框 14"/>
          <p:cNvSpPr txBox="1"/>
          <p:nvPr/>
        </p:nvSpPr>
        <p:spPr>
          <a:xfrm>
            <a:off x="5283200" y="2984500"/>
            <a:ext cx="2554605" cy="783590"/>
          </a:xfrm>
          <a:prstGeom prst="rect">
            <a:avLst/>
          </a:prstGeom>
          <a:noFill/>
        </p:spPr>
        <p:txBody>
          <a:bodyPr wrap="square" rtlCol="0">
            <a:spAutoFit/>
          </a:bodyPr>
          <a:p>
            <a:pPr algn="ctr"/>
            <a:r>
              <a:rPr lang="zh-CN" altLang="en-US" sz="1500" b="1" u="sng">
                <a:solidFill>
                  <a:schemeClr val="bg1"/>
                </a:solidFill>
              </a:rPr>
              <a:t>中保真度</a:t>
            </a:r>
            <a:endParaRPr lang="zh-CN" altLang="en-US" sz="1500" b="1">
              <a:solidFill>
                <a:schemeClr val="bg1"/>
              </a:solidFill>
            </a:endParaRPr>
          </a:p>
          <a:p>
            <a:pPr algn="ctr"/>
            <a:r>
              <a:rPr lang="zh-CN" altLang="en-US" sz="1500">
                <a:solidFill>
                  <a:schemeClr val="bg1"/>
                </a:solidFill>
              </a:rPr>
              <a:t>材料、几何非线性属性塔架；钢筋混凝土截面；预应力</a:t>
            </a:r>
            <a:endParaRPr lang="zh-CN" altLang="en-US" sz="1500">
              <a:solidFill>
                <a:schemeClr val="bg1"/>
              </a:solidFill>
            </a:endParaRPr>
          </a:p>
        </p:txBody>
      </p:sp>
      <p:sp>
        <p:nvSpPr>
          <p:cNvPr id="16" name="文本框 15"/>
          <p:cNvSpPr txBox="1"/>
          <p:nvPr/>
        </p:nvSpPr>
        <p:spPr>
          <a:xfrm>
            <a:off x="5283200" y="1823720"/>
            <a:ext cx="2554605" cy="553085"/>
          </a:xfrm>
          <a:prstGeom prst="rect">
            <a:avLst/>
          </a:prstGeom>
          <a:noFill/>
        </p:spPr>
        <p:txBody>
          <a:bodyPr wrap="square" rtlCol="0">
            <a:spAutoFit/>
          </a:bodyPr>
          <a:p>
            <a:pPr algn="ctr"/>
            <a:r>
              <a:rPr lang="zh-CN" altLang="en-US" sz="1500" b="1" u="sng">
                <a:solidFill>
                  <a:schemeClr val="bg1"/>
                </a:solidFill>
              </a:rPr>
              <a:t>低保真度</a:t>
            </a:r>
            <a:endParaRPr lang="zh-CN" altLang="en-US" sz="1500" b="1">
              <a:solidFill>
                <a:schemeClr val="bg1"/>
              </a:solidFill>
            </a:endParaRPr>
          </a:p>
          <a:p>
            <a:pPr algn="ctr"/>
            <a:r>
              <a:rPr lang="zh-CN" altLang="en-US" sz="1500">
                <a:solidFill>
                  <a:schemeClr val="bg1"/>
                </a:solidFill>
              </a:rPr>
              <a:t>线性柔</a:t>
            </a:r>
            <a:r>
              <a:rPr lang="zh-CN" altLang="en-US" sz="1500">
                <a:solidFill>
                  <a:schemeClr val="bg1"/>
                </a:solidFill>
              </a:rPr>
              <a:t>性体；无结构</a:t>
            </a:r>
            <a:r>
              <a:rPr lang="zh-CN" altLang="en-US" sz="1500">
                <a:solidFill>
                  <a:schemeClr val="bg1"/>
                </a:solidFill>
              </a:rPr>
              <a:t>特征</a:t>
            </a:r>
            <a:endParaRPr lang="zh-CN" altLang="en-US" sz="1500">
              <a:solidFill>
                <a:schemeClr val="bg1"/>
              </a:solidFill>
            </a:endParaRPr>
          </a:p>
        </p:txBody>
      </p:sp>
      <p:sp>
        <p:nvSpPr>
          <p:cNvPr id="17" name="下箭头 16"/>
          <p:cNvSpPr/>
          <p:nvPr/>
        </p:nvSpPr>
        <p:spPr>
          <a:xfrm>
            <a:off x="6281420" y="2485390"/>
            <a:ext cx="576580" cy="390525"/>
          </a:xfrm>
          <a:prstGeom prst="downArrow">
            <a:avLst/>
          </a:prstGeom>
          <a:solidFill>
            <a:srgbClr val="9CC2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下箭头 18"/>
          <p:cNvSpPr/>
          <p:nvPr/>
        </p:nvSpPr>
        <p:spPr>
          <a:xfrm>
            <a:off x="6220460" y="3860800"/>
            <a:ext cx="732155" cy="497205"/>
          </a:xfrm>
          <a:prstGeom prst="downArrow">
            <a:avLst/>
          </a:prstGeom>
          <a:solidFill>
            <a:srgbClr val="599B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5245100" y="4377690"/>
            <a:ext cx="2628900" cy="1762125"/>
          </a:xfrm>
          <a:prstGeom prst="rect">
            <a:avLst/>
          </a:prstGeom>
          <a:solidFill>
            <a:srgbClr val="3076B4"/>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5283200" y="4505960"/>
            <a:ext cx="2554605" cy="1476375"/>
          </a:xfrm>
          <a:prstGeom prst="rect">
            <a:avLst/>
          </a:prstGeom>
          <a:noFill/>
        </p:spPr>
        <p:txBody>
          <a:bodyPr wrap="square" rtlCol="0">
            <a:spAutoFit/>
          </a:bodyPr>
          <a:p>
            <a:pPr algn="ctr"/>
            <a:r>
              <a:rPr lang="zh-CN" altLang="en-US" sz="1500" b="1" u="sng">
                <a:solidFill>
                  <a:schemeClr val="bg1"/>
                </a:solidFill>
              </a:rPr>
              <a:t>高保真度</a:t>
            </a:r>
            <a:endParaRPr lang="zh-CN" altLang="en-US" sz="1500" b="1">
              <a:solidFill>
                <a:schemeClr val="bg1"/>
              </a:solidFill>
            </a:endParaRPr>
          </a:p>
          <a:p>
            <a:pPr algn="ctr"/>
            <a:r>
              <a:rPr lang="zh-CN" altLang="en-US" sz="1500">
                <a:solidFill>
                  <a:schemeClr val="bg1"/>
                </a:solidFill>
              </a:rPr>
              <a:t>材料、几何、边界非线性属性塔架；精细化三维结构（可考虑诸如螺栓法兰连接、几何缺陷、局部优化设计等关键问题）</a:t>
            </a:r>
            <a:endParaRPr lang="zh-CN" altLang="en-US" sz="1500">
              <a:solidFill>
                <a:schemeClr val="bg1"/>
              </a:solidFill>
            </a:endParaRPr>
          </a:p>
        </p:txBody>
      </p:sp>
      <p:sp>
        <p:nvSpPr>
          <p:cNvPr id="23" name="矩形 22"/>
          <p:cNvSpPr/>
          <p:nvPr/>
        </p:nvSpPr>
        <p:spPr>
          <a:xfrm>
            <a:off x="1307465" y="2045970"/>
            <a:ext cx="1016635" cy="480695"/>
          </a:xfrm>
          <a:prstGeom prst="rect">
            <a:avLst/>
          </a:prstGeom>
          <a:solidFill>
            <a:srgbClr val="DDEBF4"/>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4" name="矩形 23"/>
          <p:cNvSpPr/>
          <p:nvPr/>
        </p:nvSpPr>
        <p:spPr>
          <a:xfrm>
            <a:off x="2676525" y="2045970"/>
            <a:ext cx="1009650" cy="487680"/>
          </a:xfrm>
          <a:prstGeom prst="rect">
            <a:avLst/>
          </a:prstGeom>
          <a:solidFill>
            <a:srgbClr val="DDEBF4"/>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矩形 24"/>
          <p:cNvSpPr/>
          <p:nvPr/>
        </p:nvSpPr>
        <p:spPr>
          <a:xfrm>
            <a:off x="3855720" y="2038985"/>
            <a:ext cx="1022985" cy="494665"/>
          </a:xfrm>
          <a:prstGeom prst="rect">
            <a:avLst/>
          </a:prstGeom>
          <a:solidFill>
            <a:srgbClr val="DDEBF4"/>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矩形 25"/>
          <p:cNvSpPr/>
          <p:nvPr/>
        </p:nvSpPr>
        <p:spPr>
          <a:xfrm>
            <a:off x="1307465" y="2845435"/>
            <a:ext cx="1016635" cy="4743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矩形 26"/>
          <p:cNvSpPr/>
          <p:nvPr/>
        </p:nvSpPr>
        <p:spPr>
          <a:xfrm>
            <a:off x="2676525" y="2838450"/>
            <a:ext cx="1009650" cy="488315"/>
          </a:xfrm>
          <a:prstGeom prst="rect">
            <a:avLst/>
          </a:prstGeom>
          <a:solidFill>
            <a:srgbClr val="DDEBF4"/>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矩形 27"/>
          <p:cNvSpPr/>
          <p:nvPr/>
        </p:nvSpPr>
        <p:spPr>
          <a:xfrm>
            <a:off x="4424680" y="2689225"/>
            <a:ext cx="461010" cy="582930"/>
          </a:xfrm>
          <a:prstGeom prst="rect">
            <a:avLst/>
          </a:prstGeom>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矩形 28"/>
          <p:cNvSpPr/>
          <p:nvPr/>
        </p:nvSpPr>
        <p:spPr>
          <a:xfrm>
            <a:off x="1314450" y="3576955"/>
            <a:ext cx="1002665" cy="488315"/>
          </a:xfrm>
          <a:prstGeom prst="rect">
            <a:avLst/>
          </a:prstGeom>
          <a:solidFill>
            <a:srgbClr val="D7D7D7"/>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矩形 29"/>
          <p:cNvSpPr/>
          <p:nvPr/>
        </p:nvSpPr>
        <p:spPr>
          <a:xfrm>
            <a:off x="2669540" y="3576955"/>
            <a:ext cx="1029970" cy="488315"/>
          </a:xfrm>
          <a:prstGeom prst="rect">
            <a:avLst/>
          </a:prstGeom>
          <a:solidFill>
            <a:srgbClr val="D7D7D7"/>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矩形 30"/>
          <p:cNvSpPr/>
          <p:nvPr/>
        </p:nvSpPr>
        <p:spPr>
          <a:xfrm>
            <a:off x="1321435" y="4322445"/>
            <a:ext cx="1009650" cy="474345"/>
          </a:xfrm>
          <a:prstGeom prst="rect">
            <a:avLst/>
          </a:prstGeom>
          <a:solidFill>
            <a:srgbClr val="E7F1D6"/>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矩形 31"/>
          <p:cNvSpPr/>
          <p:nvPr/>
        </p:nvSpPr>
        <p:spPr>
          <a:xfrm>
            <a:off x="1307465" y="5122545"/>
            <a:ext cx="1009650" cy="487680"/>
          </a:xfrm>
          <a:prstGeom prst="rect">
            <a:avLst/>
          </a:prstGeom>
          <a:solidFill>
            <a:srgbClr val="E7F1D6"/>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矩形 32"/>
          <p:cNvSpPr/>
          <p:nvPr/>
        </p:nvSpPr>
        <p:spPr>
          <a:xfrm>
            <a:off x="1314450" y="5881370"/>
            <a:ext cx="996315" cy="3727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4" name="矩形 33"/>
          <p:cNvSpPr/>
          <p:nvPr/>
        </p:nvSpPr>
        <p:spPr>
          <a:xfrm>
            <a:off x="2628900" y="5122545"/>
            <a:ext cx="1057275" cy="480695"/>
          </a:xfrm>
          <a:prstGeom prst="rect">
            <a:avLst/>
          </a:prstGeom>
          <a:solidFill>
            <a:srgbClr val="E7F1D6"/>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矩形 34"/>
          <p:cNvSpPr/>
          <p:nvPr/>
        </p:nvSpPr>
        <p:spPr>
          <a:xfrm>
            <a:off x="2615565" y="5888355"/>
            <a:ext cx="1083945" cy="36576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6" name="矩形 35"/>
          <p:cNvSpPr/>
          <p:nvPr/>
        </p:nvSpPr>
        <p:spPr>
          <a:xfrm>
            <a:off x="4208145" y="4552950"/>
            <a:ext cx="670560" cy="718185"/>
          </a:xfrm>
          <a:prstGeom prst="rect">
            <a:avLst/>
          </a:prstGeom>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7" name="矩形 36"/>
          <p:cNvSpPr/>
          <p:nvPr/>
        </p:nvSpPr>
        <p:spPr>
          <a:xfrm>
            <a:off x="1172210" y="1950720"/>
            <a:ext cx="3794760" cy="2223135"/>
          </a:xfrm>
          <a:prstGeom prst="rect">
            <a:avLst/>
          </a:prstGeom>
          <a:ln w="19050">
            <a:solidFill>
              <a:srgbClr val="A8B2B8"/>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8" name="矩形 37"/>
          <p:cNvSpPr/>
          <p:nvPr/>
        </p:nvSpPr>
        <p:spPr>
          <a:xfrm>
            <a:off x="1178560" y="4214495"/>
            <a:ext cx="3781425" cy="2141220"/>
          </a:xfrm>
          <a:prstGeom prst="rect">
            <a:avLst/>
          </a:prstGeom>
          <a:ln w="19050">
            <a:solidFill>
              <a:srgbClr val="A8B2B8"/>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9" name="矩形 38"/>
          <p:cNvSpPr/>
          <p:nvPr/>
        </p:nvSpPr>
        <p:spPr>
          <a:xfrm>
            <a:off x="8165465" y="1971040"/>
            <a:ext cx="2717800" cy="2019300"/>
          </a:xfrm>
          <a:prstGeom prst="rect">
            <a:avLst/>
          </a:prstGeom>
          <a:ln w="19050">
            <a:solidFill>
              <a:srgbClr val="A8B2B8"/>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0" name="矩形 39"/>
          <p:cNvSpPr/>
          <p:nvPr/>
        </p:nvSpPr>
        <p:spPr>
          <a:xfrm>
            <a:off x="8159115" y="4058285"/>
            <a:ext cx="2730500" cy="2310765"/>
          </a:xfrm>
          <a:prstGeom prst="rect">
            <a:avLst/>
          </a:prstGeom>
          <a:ln w="19050">
            <a:solidFill>
              <a:srgbClr val="A8B2B8"/>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1" name="矩形 40"/>
          <p:cNvSpPr/>
          <p:nvPr/>
        </p:nvSpPr>
        <p:spPr>
          <a:xfrm>
            <a:off x="8606155" y="2045970"/>
            <a:ext cx="1009650" cy="460375"/>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2" name="矩形 41"/>
          <p:cNvSpPr/>
          <p:nvPr/>
        </p:nvSpPr>
        <p:spPr>
          <a:xfrm>
            <a:off x="9778365" y="2032000"/>
            <a:ext cx="1003300" cy="474345"/>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3" name="矩形 42"/>
          <p:cNvSpPr/>
          <p:nvPr/>
        </p:nvSpPr>
        <p:spPr>
          <a:xfrm>
            <a:off x="8606155" y="2838450"/>
            <a:ext cx="1002665" cy="467995"/>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5" name="矩形 44"/>
          <p:cNvSpPr/>
          <p:nvPr/>
        </p:nvSpPr>
        <p:spPr>
          <a:xfrm>
            <a:off x="9778365" y="2825115"/>
            <a:ext cx="1023620" cy="481330"/>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6" name="矩形 45"/>
          <p:cNvSpPr/>
          <p:nvPr/>
        </p:nvSpPr>
        <p:spPr>
          <a:xfrm>
            <a:off x="10340975" y="3353435"/>
            <a:ext cx="454025" cy="575945"/>
          </a:xfrm>
          <a:prstGeom prst="rect">
            <a:avLst/>
          </a:prstGeom>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7" name="矩形 46"/>
          <p:cNvSpPr/>
          <p:nvPr/>
        </p:nvSpPr>
        <p:spPr>
          <a:xfrm>
            <a:off x="9798685" y="4356735"/>
            <a:ext cx="677545" cy="718185"/>
          </a:xfrm>
          <a:prstGeom prst="rect">
            <a:avLst/>
          </a:prstGeom>
          <a:ln>
            <a:solidFill>
              <a:srgbClr val="A8B2B8"/>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8" name="矩形 47"/>
          <p:cNvSpPr/>
          <p:nvPr/>
        </p:nvSpPr>
        <p:spPr>
          <a:xfrm>
            <a:off x="8613140" y="4227830"/>
            <a:ext cx="1009650" cy="406400"/>
          </a:xfrm>
          <a:prstGeom prst="rect">
            <a:avLst/>
          </a:prstGeom>
          <a:solidFill>
            <a:srgbClr val="E7F1D6"/>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9" name="矩形 48"/>
          <p:cNvSpPr/>
          <p:nvPr/>
        </p:nvSpPr>
        <p:spPr>
          <a:xfrm>
            <a:off x="8606155" y="4776470"/>
            <a:ext cx="1009650" cy="393065"/>
          </a:xfrm>
          <a:prstGeom prst="rect">
            <a:avLst/>
          </a:prstGeom>
          <a:solidFill>
            <a:srgbClr val="E7F1D6"/>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0" name="矩形 49"/>
          <p:cNvSpPr/>
          <p:nvPr/>
        </p:nvSpPr>
        <p:spPr>
          <a:xfrm>
            <a:off x="8606155" y="5299075"/>
            <a:ext cx="1002665" cy="365125"/>
          </a:xfrm>
          <a:prstGeom prst="rect">
            <a:avLst/>
          </a:prstGeom>
          <a:solidFill>
            <a:srgbClr val="E7F1D6"/>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1" name="矩形 50"/>
          <p:cNvSpPr/>
          <p:nvPr/>
        </p:nvSpPr>
        <p:spPr>
          <a:xfrm>
            <a:off x="8606155" y="5868035"/>
            <a:ext cx="1002665" cy="4064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3" name="矩形 52"/>
          <p:cNvSpPr/>
          <p:nvPr/>
        </p:nvSpPr>
        <p:spPr>
          <a:xfrm>
            <a:off x="9765030" y="5285105"/>
            <a:ext cx="738505" cy="3727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4" name="文本框 53"/>
          <p:cNvSpPr txBox="1"/>
          <p:nvPr/>
        </p:nvSpPr>
        <p:spPr>
          <a:xfrm>
            <a:off x="1307465" y="2167255"/>
            <a:ext cx="1137920" cy="245110"/>
          </a:xfrm>
          <a:prstGeom prst="rect">
            <a:avLst/>
          </a:prstGeom>
          <a:noFill/>
        </p:spPr>
        <p:txBody>
          <a:bodyPr wrap="square" rtlCol="0">
            <a:spAutoFit/>
          </a:bodyPr>
          <a:p>
            <a:r>
              <a:rPr lang="zh-CN" altLang="en-US" sz="1000" b="1"/>
              <a:t>多体动力学模型</a:t>
            </a:r>
            <a:endParaRPr lang="zh-CN" altLang="en-US" sz="1000" b="1"/>
          </a:p>
        </p:txBody>
      </p:sp>
      <p:cxnSp>
        <p:nvCxnSpPr>
          <p:cNvPr id="56" name="直接箭头连接符 55"/>
          <p:cNvCxnSpPr>
            <a:endCxn id="24" idx="1"/>
          </p:cNvCxnSpPr>
          <p:nvPr/>
        </p:nvCxnSpPr>
        <p:spPr>
          <a:xfrm>
            <a:off x="2310765" y="2282825"/>
            <a:ext cx="365760" cy="698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7" name="直接箭头连接符 56"/>
          <p:cNvCxnSpPr>
            <a:stCxn id="24" idx="3"/>
            <a:endCxn id="25" idx="1"/>
          </p:cNvCxnSpPr>
          <p:nvPr/>
        </p:nvCxnSpPr>
        <p:spPr>
          <a:xfrm flipH="1" flipV="1">
            <a:off x="3686175" y="2286635"/>
            <a:ext cx="169545" cy="3175"/>
          </a:xfrm>
          <a:prstGeom prst="straightConnector1">
            <a:avLst/>
          </a:prstGeom>
          <a:ln>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58" name="直接箭头连接符 57"/>
          <p:cNvCxnSpPr/>
          <p:nvPr/>
        </p:nvCxnSpPr>
        <p:spPr>
          <a:xfrm flipV="1">
            <a:off x="3121025" y="2533650"/>
            <a:ext cx="0" cy="30480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9" name="直接箭头连接符 58"/>
          <p:cNvCxnSpPr/>
          <p:nvPr/>
        </p:nvCxnSpPr>
        <p:spPr>
          <a:xfrm rot="10800000" flipV="1">
            <a:off x="3248025" y="2540635"/>
            <a:ext cx="0" cy="30480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0" name="直接箭头连接符 59"/>
          <p:cNvCxnSpPr/>
          <p:nvPr/>
        </p:nvCxnSpPr>
        <p:spPr>
          <a:xfrm flipH="1" flipV="1">
            <a:off x="1814830" y="2526665"/>
            <a:ext cx="3175" cy="31750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1" name="直接箭头连接符 60"/>
          <p:cNvCxnSpPr/>
          <p:nvPr/>
        </p:nvCxnSpPr>
        <p:spPr>
          <a:xfrm>
            <a:off x="2331085" y="3768090"/>
            <a:ext cx="365760" cy="698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2" name="直接箭头连接符 61"/>
          <p:cNvCxnSpPr/>
          <p:nvPr/>
        </p:nvCxnSpPr>
        <p:spPr>
          <a:xfrm rot="10800000">
            <a:off x="2303780" y="3868420"/>
            <a:ext cx="365760" cy="698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3" name="直接箭头连接符 62"/>
          <p:cNvCxnSpPr/>
          <p:nvPr/>
        </p:nvCxnSpPr>
        <p:spPr>
          <a:xfrm flipH="1" flipV="1">
            <a:off x="1728470" y="4796790"/>
            <a:ext cx="3175" cy="31750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4" name="直接箭头连接符 63"/>
          <p:cNvCxnSpPr/>
          <p:nvPr/>
        </p:nvCxnSpPr>
        <p:spPr>
          <a:xfrm rot="10800000" flipH="1" flipV="1">
            <a:off x="1900555" y="4805045"/>
            <a:ext cx="3175" cy="31750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5" name="直接箭头连接符 64"/>
          <p:cNvCxnSpPr/>
          <p:nvPr/>
        </p:nvCxnSpPr>
        <p:spPr>
          <a:xfrm flipH="1" flipV="1">
            <a:off x="1818005" y="5603240"/>
            <a:ext cx="635" cy="28765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6" name="直接箭头连接符 65"/>
          <p:cNvCxnSpPr/>
          <p:nvPr/>
        </p:nvCxnSpPr>
        <p:spPr>
          <a:xfrm flipH="1" flipV="1">
            <a:off x="3157220" y="5610225"/>
            <a:ext cx="635" cy="28765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7" name="直接箭头连接符 66"/>
          <p:cNvCxnSpPr/>
          <p:nvPr/>
        </p:nvCxnSpPr>
        <p:spPr>
          <a:xfrm flipV="1">
            <a:off x="9030335" y="2506345"/>
            <a:ext cx="3175" cy="32448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8" name="直接箭头连接符 67"/>
          <p:cNvCxnSpPr/>
          <p:nvPr/>
        </p:nvCxnSpPr>
        <p:spPr>
          <a:xfrm rot="10800000" flipV="1">
            <a:off x="9206230" y="2520950"/>
            <a:ext cx="3175" cy="32448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9" name="直接箭头连接符 68"/>
          <p:cNvCxnSpPr/>
          <p:nvPr/>
        </p:nvCxnSpPr>
        <p:spPr>
          <a:xfrm flipH="1">
            <a:off x="9608820" y="2275205"/>
            <a:ext cx="173990" cy="444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0" name="直接箭头连接符 69"/>
          <p:cNvCxnSpPr/>
          <p:nvPr/>
        </p:nvCxnSpPr>
        <p:spPr>
          <a:xfrm flipH="1">
            <a:off x="9608820" y="3070225"/>
            <a:ext cx="173990" cy="444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1" name="直接箭头连接符 70"/>
          <p:cNvCxnSpPr/>
          <p:nvPr/>
        </p:nvCxnSpPr>
        <p:spPr>
          <a:xfrm flipV="1">
            <a:off x="9026525" y="3306445"/>
            <a:ext cx="3810" cy="93027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4" name="直接箭头连接符 73"/>
          <p:cNvCxnSpPr/>
          <p:nvPr/>
        </p:nvCxnSpPr>
        <p:spPr>
          <a:xfrm rot="10800000" flipV="1">
            <a:off x="9206230" y="3306445"/>
            <a:ext cx="3810" cy="93027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5" name="直接箭头连接符 74"/>
          <p:cNvCxnSpPr/>
          <p:nvPr/>
        </p:nvCxnSpPr>
        <p:spPr>
          <a:xfrm flipV="1">
            <a:off x="8393430" y="2270760"/>
            <a:ext cx="219710" cy="381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8387080" y="2270760"/>
            <a:ext cx="2540" cy="270954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7" name="直接连接符 76"/>
          <p:cNvCxnSpPr>
            <a:endCxn id="49" idx="1"/>
          </p:cNvCxnSpPr>
          <p:nvPr/>
        </p:nvCxnSpPr>
        <p:spPr>
          <a:xfrm flipV="1">
            <a:off x="8392795" y="4973320"/>
            <a:ext cx="213360" cy="38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8" name="直接箭头连接符 77"/>
          <p:cNvCxnSpPr/>
          <p:nvPr/>
        </p:nvCxnSpPr>
        <p:spPr>
          <a:xfrm flipV="1">
            <a:off x="9116060" y="5169535"/>
            <a:ext cx="3810" cy="13017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9" name="直接箭头连接符 78"/>
          <p:cNvCxnSpPr/>
          <p:nvPr/>
        </p:nvCxnSpPr>
        <p:spPr>
          <a:xfrm flipH="1" flipV="1">
            <a:off x="9116060" y="5657850"/>
            <a:ext cx="5080" cy="2082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80" name="直接箭头连接符 79"/>
          <p:cNvCxnSpPr/>
          <p:nvPr/>
        </p:nvCxnSpPr>
        <p:spPr>
          <a:xfrm flipH="1">
            <a:off x="9608820" y="5480685"/>
            <a:ext cx="161290" cy="381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81" name="文本框 80"/>
          <p:cNvSpPr txBox="1"/>
          <p:nvPr/>
        </p:nvSpPr>
        <p:spPr>
          <a:xfrm>
            <a:off x="2628900" y="2167255"/>
            <a:ext cx="1137920" cy="245110"/>
          </a:xfrm>
          <a:prstGeom prst="rect">
            <a:avLst/>
          </a:prstGeom>
          <a:noFill/>
        </p:spPr>
        <p:txBody>
          <a:bodyPr wrap="square" rtlCol="0">
            <a:spAutoFit/>
          </a:bodyPr>
          <a:p>
            <a:r>
              <a:rPr lang="zh-CN" altLang="en-US" sz="1000" b="1"/>
              <a:t>时间积分</a:t>
            </a:r>
            <a:r>
              <a:rPr lang="zh-CN" altLang="en-US" sz="1000" b="1"/>
              <a:t>求解器</a:t>
            </a:r>
            <a:endParaRPr lang="zh-CN" altLang="en-US" sz="1000" b="1"/>
          </a:p>
        </p:txBody>
      </p:sp>
      <p:sp>
        <p:nvSpPr>
          <p:cNvPr id="82" name="文本框 81"/>
          <p:cNvSpPr txBox="1"/>
          <p:nvPr/>
        </p:nvSpPr>
        <p:spPr>
          <a:xfrm>
            <a:off x="4023995" y="2167255"/>
            <a:ext cx="807085" cy="245110"/>
          </a:xfrm>
          <a:prstGeom prst="rect">
            <a:avLst/>
          </a:prstGeom>
          <a:noFill/>
        </p:spPr>
        <p:txBody>
          <a:bodyPr wrap="square" rtlCol="0">
            <a:spAutoFit/>
          </a:bodyPr>
          <a:p>
            <a:r>
              <a:rPr lang="zh-CN" altLang="en-US" sz="1000" b="1"/>
              <a:t>环境</a:t>
            </a:r>
            <a:r>
              <a:rPr lang="zh-CN" altLang="en-US" sz="1000" b="1"/>
              <a:t>载荷</a:t>
            </a:r>
            <a:endParaRPr lang="zh-CN" altLang="en-US" sz="1000" b="1"/>
          </a:p>
        </p:txBody>
      </p:sp>
      <p:sp>
        <p:nvSpPr>
          <p:cNvPr id="83" name="文本框 82"/>
          <p:cNvSpPr txBox="1"/>
          <p:nvPr/>
        </p:nvSpPr>
        <p:spPr>
          <a:xfrm>
            <a:off x="1314450" y="2874010"/>
            <a:ext cx="981075" cy="433070"/>
          </a:xfrm>
          <a:prstGeom prst="rect">
            <a:avLst/>
          </a:prstGeom>
          <a:solidFill>
            <a:srgbClr val="DDEBF4"/>
          </a:solidFill>
        </p:spPr>
        <p:txBody>
          <a:bodyPr wrap="square" rtlCol="0">
            <a:noAutofit/>
          </a:bodyPr>
          <a:p>
            <a:pPr algn="ctr"/>
            <a:r>
              <a:rPr lang="zh-CN" altLang="en-US" sz="900" b="1"/>
              <a:t>叶轮、机舱结构、材料、伺服控制参数</a:t>
            </a:r>
            <a:endParaRPr lang="zh-CN" altLang="en-US" sz="900" b="1"/>
          </a:p>
        </p:txBody>
      </p:sp>
      <p:sp>
        <p:nvSpPr>
          <p:cNvPr id="84" name="文本框 83"/>
          <p:cNvSpPr txBox="1"/>
          <p:nvPr/>
        </p:nvSpPr>
        <p:spPr>
          <a:xfrm>
            <a:off x="2669540" y="2984500"/>
            <a:ext cx="1137920" cy="245110"/>
          </a:xfrm>
          <a:prstGeom prst="rect">
            <a:avLst/>
          </a:prstGeom>
          <a:noFill/>
        </p:spPr>
        <p:txBody>
          <a:bodyPr wrap="square" rtlCol="0">
            <a:spAutoFit/>
          </a:bodyPr>
          <a:p>
            <a:r>
              <a:rPr lang="zh-CN" altLang="en-US" sz="1000" b="1"/>
              <a:t>本地服务器</a:t>
            </a:r>
            <a:r>
              <a:rPr lang="zh-CN" altLang="en-US" sz="1000" b="1"/>
              <a:t>端口</a:t>
            </a:r>
            <a:endParaRPr lang="zh-CN" altLang="en-US" sz="1000" b="1"/>
          </a:p>
        </p:txBody>
      </p:sp>
      <p:sp>
        <p:nvSpPr>
          <p:cNvPr id="85" name="文本框 84"/>
          <p:cNvSpPr txBox="1"/>
          <p:nvPr/>
        </p:nvSpPr>
        <p:spPr>
          <a:xfrm>
            <a:off x="2676525" y="2555240"/>
            <a:ext cx="1137920" cy="245110"/>
          </a:xfrm>
          <a:prstGeom prst="rect">
            <a:avLst/>
          </a:prstGeom>
          <a:noFill/>
        </p:spPr>
        <p:txBody>
          <a:bodyPr wrap="square" rtlCol="0">
            <a:spAutoFit/>
          </a:bodyPr>
          <a:p>
            <a:r>
              <a:rPr lang="zh-CN" altLang="en-US" sz="1000" b="1"/>
              <a:t>分析步动态</a:t>
            </a:r>
            <a:r>
              <a:rPr lang="zh-CN" altLang="en-US" sz="1000" b="1"/>
              <a:t>响应</a:t>
            </a:r>
            <a:endParaRPr lang="zh-CN" altLang="en-US" sz="1000" b="1"/>
          </a:p>
        </p:txBody>
      </p:sp>
      <p:sp>
        <p:nvSpPr>
          <p:cNvPr id="86" name="文本框 85"/>
          <p:cNvSpPr txBox="1"/>
          <p:nvPr/>
        </p:nvSpPr>
        <p:spPr>
          <a:xfrm>
            <a:off x="4376420" y="2689225"/>
            <a:ext cx="590550" cy="553085"/>
          </a:xfrm>
          <a:prstGeom prst="rect">
            <a:avLst/>
          </a:prstGeom>
          <a:noFill/>
        </p:spPr>
        <p:txBody>
          <a:bodyPr wrap="square" rtlCol="0">
            <a:spAutoFit/>
          </a:bodyPr>
          <a:p>
            <a:r>
              <a:rPr lang="zh-CN" altLang="en-US" sz="1000" b="1"/>
              <a:t>叶轮、机舱</a:t>
            </a:r>
            <a:r>
              <a:rPr lang="en-US" altLang="zh-CN" sz="1000" b="1"/>
              <a:t>    </a:t>
            </a:r>
            <a:r>
              <a:rPr lang="zh-CN" altLang="en-US" sz="1000" b="1"/>
              <a:t>子系统</a:t>
            </a:r>
            <a:endParaRPr lang="zh-CN" altLang="en-US" sz="1000" b="1"/>
          </a:p>
        </p:txBody>
      </p:sp>
      <p:sp>
        <p:nvSpPr>
          <p:cNvPr id="87" name="文本框 86"/>
          <p:cNvSpPr txBox="1"/>
          <p:nvPr/>
        </p:nvSpPr>
        <p:spPr>
          <a:xfrm>
            <a:off x="1249680" y="3591560"/>
            <a:ext cx="1137920" cy="398780"/>
          </a:xfrm>
          <a:prstGeom prst="rect">
            <a:avLst/>
          </a:prstGeom>
          <a:noFill/>
        </p:spPr>
        <p:txBody>
          <a:bodyPr wrap="square" rtlCol="0">
            <a:spAutoFit/>
          </a:bodyPr>
          <a:p>
            <a:pPr algn="ctr"/>
            <a:r>
              <a:rPr lang="en-US" altLang="zh-CN" sz="1000" b="1"/>
              <a:t>OpenSEES</a:t>
            </a:r>
            <a:r>
              <a:rPr lang="zh-CN" altLang="en-US" sz="1000" b="1"/>
              <a:t>联合仿真接口</a:t>
            </a:r>
            <a:r>
              <a:rPr lang="zh-CN" altLang="en-US" sz="1000" b="1"/>
              <a:t>程序</a:t>
            </a:r>
            <a:endParaRPr lang="zh-CN" altLang="en-US" sz="1000" b="1"/>
          </a:p>
        </p:txBody>
      </p:sp>
      <p:sp>
        <p:nvSpPr>
          <p:cNvPr id="88" name="文本框 87"/>
          <p:cNvSpPr txBox="1"/>
          <p:nvPr/>
        </p:nvSpPr>
        <p:spPr>
          <a:xfrm>
            <a:off x="1307465" y="4436745"/>
            <a:ext cx="1137920" cy="245110"/>
          </a:xfrm>
          <a:prstGeom prst="rect">
            <a:avLst/>
          </a:prstGeom>
          <a:noFill/>
        </p:spPr>
        <p:txBody>
          <a:bodyPr wrap="square" rtlCol="0">
            <a:spAutoFit/>
          </a:bodyPr>
          <a:p>
            <a:r>
              <a:rPr lang="zh-CN" altLang="en-US" sz="1000" b="1"/>
              <a:t>本地服务器</a:t>
            </a:r>
            <a:r>
              <a:rPr lang="zh-CN" altLang="en-US" sz="1000" b="1"/>
              <a:t>端口</a:t>
            </a:r>
            <a:endParaRPr lang="zh-CN" altLang="en-US" sz="1000" b="1"/>
          </a:p>
        </p:txBody>
      </p:sp>
      <p:sp>
        <p:nvSpPr>
          <p:cNvPr id="89" name="文本框 88"/>
          <p:cNvSpPr txBox="1"/>
          <p:nvPr/>
        </p:nvSpPr>
        <p:spPr>
          <a:xfrm>
            <a:off x="1321435" y="4829810"/>
            <a:ext cx="1137920" cy="245110"/>
          </a:xfrm>
          <a:prstGeom prst="rect">
            <a:avLst/>
          </a:prstGeom>
          <a:solidFill>
            <a:schemeClr val="bg1"/>
          </a:solidFill>
        </p:spPr>
        <p:txBody>
          <a:bodyPr wrap="square" rtlCol="0">
            <a:spAutoFit/>
          </a:bodyPr>
          <a:p>
            <a:r>
              <a:rPr lang="zh-CN" altLang="en-US" sz="1000" b="1"/>
              <a:t>分析步动态</a:t>
            </a:r>
            <a:r>
              <a:rPr lang="zh-CN" altLang="en-US" sz="1000" b="1"/>
              <a:t>响应</a:t>
            </a:r>
            <a:endParaRPr lang="zh-CN" altLang="en-US" sz="1000" b="1"/>
          </a:p>
        </p:txBody>
      </p:sp>
      <p:sp>
        <p:nvSpPr>
          <p:cNvPr id="90" name="文本框 89"/>
          <p:cNvSpPr txBox="1"/>
          <p:nvPr/>
        </p:nvSpPr>
        <p:spPr>
          <a:xfrm>
            <a:off x="1306195" y="5169535"/>
            <a:ext cx="1081405" cy="398780"/>
          </a:xfrm>
          <a:prstGeom prst="rect">
            <a:avLst/>
          </a:prstGeom>
          <a:noFill/>
        </p:spPr>
        <p:txBody>
          <a:bodyPr wrap="square" rtlCol="0">
            <a:spAutoFit/>
          </a:bodyPr>
          <a:p>
            <a:pPr algn="ctr"/>
            <a:r>
              <a:rPr lang="zh-CN" altLang="en-US" sz="1000" b="1"/>
              <a:t>非线性有限元</a:t>
            </a:r>
            <a:r>
              <a:rPr lang="zh-CN" altLang="en-US" sz="1000" b="1"/>
              <a:t>求解器</a:t>
            </a:r>
            <a:endParaRPr lang="zh-CN" altLang="en-US" sz="1000" b="1"/>
          </a:p>
        </p:txBody>
      </p:sp>
      <p:sp>
        <p:nvSpPr>
          <p:cNvPr id="91" name="文本框 90"/>
          <p:cNvSpPr txBox="1"/>
          <p:nvPr/>
        </p:nvSpPr>
        <p:spPr>
          <a:xfrm>
            <a:off x="1500505" y="5944870"/>
            <a:ext cx="802640" cy="245110"/>
          </a:xfrm>
          <a:prstGeom prst="rect">
            <a:avLst/>
          </a:prstGeom>
          <a:solidFill>
            <a:srgbClr val="E7F1D6"/>
          </a:solidFill>
        </p:spPr>
        <p:txBody>
          <a:bodyPr wrap="square" rtlCol="0">
            <a:spAutoFit/>
          </a:bodyPr>
          <a:p>
            <a:r>
              <a:rPr lang="zh-CN" altLang="en-US" sz="1000" b="1"/>
              <a:t>环境载荷</a:t>
            </a:r>
            <a:endParaRPr lang="zh-CN" altLang="en-US" sz="1000" b="1"/>
          </a:p>
        </p:txBody>
      </p:sp>
      <p:sp>
        <p:nvSpPr>
          <p:cNvPr id="92" name="文本框 91"/>
          <p:cNvSpPr txBox="1"/>
          <p:nvPr/>
        </p:nvSpPr>
        <p:spPr>
          <a:xfrm>
            <a:off x="2561590" y="5169535"/>
            <a:ext cx="1205230" cy="398780"/>
          </a:xfrm>
          <a:prstGeom prst="rect">
            <a:avLst/>
          </a:prstGeom>
          <a:noFill/>
        </p:spPr>
        <p:txBody>
          <a:bodyPr wrap="square" rtlCol="0">
            <a:spAutoFit/>
          </a:bodyPr>
          <a:p>
            <a:pPr algn="ctr"/>
            <a:r>
              <a:rPr lang="zh-CN" altLang="en-US" sz="1000" b="1"/>
              <a:t>非线性纤维梁单元</a:t>
            </a:r>
            <a:r>
              <a:rPr lang="zh-CN" altLang="en-US" sz="1000" b="1"/>
              <a:t>模型</a:t>
            </a:r>
            <a:endParaRPr lang="zh-CN" altLang="en-US" sz="1000" b="1"/>
          </a:p>
        </p:txBody>
      </p:sp>
      <p:sp>
        <p:nvSpPr>
          <p:cNvPr id="93" name="文本框 92"/>
          <p:cNvSpPr txBox="1"/>
          <p:nvPr/>
        </p:nvSpPr>
        <p:spPr>
          <a:xfrm>
            <a:off x="2628900" y="5897880"/>
            <a:ext cx="1043305" cy="356235"/>
          </a:xfrm>
          <a:prstGeom prst="rect">
            <a:avLst/>
          </a:prstGeom>
          <a:solidFill>
            <a:srgbClr val="E7F1D6"/>
          </a:solidFill>
        </p:spPr>
        <p:txBody>
          <a:bodyPr wrap="square" rtlCol="0">
            <a:noAutofit/>
          </a:bodyPr>
          <a:p>
            <a:pPr algn="ctr"/>
            <a:r>
              <a:rPr lang="zh-CN" altLang="en-US" sz="1000" b="1"/>
              <a:t>塔架结构、材料</a:t>
            </a:r>
            <a:r>
              <a:rPr lang="zh-CN" altLang="en-US" sz="1000" b="1"/>
              <a:t>参数</a:t>
            </a:r>
            <a:endParaRPr lang="zh-CN" altLang="en-US" sz="1000" b="1"/>
          </a:p>
        </p:txBody>
      </p:sp>
      <p:sp>
        <p:nvSpPr>
          <p:cNvPr id="94" name="文本框 93"/>
          <p:cNvSpPr txBox="1"/>
          <p:nvPr/>
        </p:nvSpPr>
        <p:spPr>
          <a:xfrm>
            <a:off x="2628900" y="3591560"/>
            <a:ext cx="1137920" cy="398780"/>
          </a:xfrm>
          <a:prstGeom prst="rect">
            <a:avLst/>
          </a:prstGeom>
          <a:noFill/>
        </p:spPr>
        <p:txBody>
          <a:bodyPr wrap="square" rtlCol="0">
            <a:spAutoFit/>
          </a:bodyPr>
          <a:p>
            <a:pPr algn="ctr"/>
            <a:r>
              <a:rPr lang="en-US" altLang="zh-CN" sz="1000" b="1"/>
              <a:t>Simpack</a:t>
            </a:r>
            <a:r>
              <a:rPr lang="zh-CN" altLang="en-US" sz="1000" b="1"/>
              <a:t>联合仿真接口</a:t>
            </a:r>
            <a:r>
              <a:rPr lang="zh-CN" altLang="en-US" sz="1000" b="1"/>
              <a:t>程序</a:t>
            </a:r>
            <a:endParaRPr lang="zh-CN" altLang="en-US" sz="1000" b="1"/>
          </a:p>
        </p:txBody>
      </p:sp>
      <p:sp>
        <p:nvSpPr>
          <p:cNvPr id="95" name="文本框 94"/>
          <p:cNvSpPr txBox="1"/>
          <p:nvPr/>
        </p:nvSpPr>
        <p:spPr>
          <a:xfrm>
            <a:off x="4328160" y="3591560"/>
            <a:ext cx="631825" cy="398780"/>
          </a:xfrm>
          <a:prstGeom prst="rect">
            <a:avLst/>
          </a:prstGeom>
          <a:noFill/>
        </p:spPr>
        <p:txBody>
          <a:bodyPr wrap="square" rtlCol="0">
            <a:spAutoFit/>
          </a:bodyPr>
          <a:p>
            <a:pPr algn="ctr"/>
            <a:r>
              <a:rPr lang="zh-CN" altLang="en-US" sz="1000" b="1"/>
              <a:t>联合仿真接口</a:t>
            </a:r>
            <a:endParaRPr lang="zh-CN" altLang="en-US" sz="1000" b="1"/>
          </a:p>
        </p:txBody>
      </p:sp>
      <p:sp>
        <p:nvSpPr>
          <p:cNvPr id="97" name="文本框 96"/>
          <p:cNvSpPr txBox="1"/>
          <p:nvPr/>
        </p:nvSpPr>
        <p:spPr>
          <a:xfrm>
            <a:off x="4171315" y="4616450"/>
            <a:ext cx="788670" cy="553085"/>
          </a:xfrm>
          <a:prstGeom prst="rect">
            <a:avLst/>
          </a:prstGeom>
          <a:noFill/>
        </p:spPr>
        <p:txBody>
          <a:bodyPr wrap="square" rtlCol="0">
            <a:spAutoFit/>
          </a:bodyPr>
          <a:p>
            <a:pPr algn="ctr"/>
            <a:r>
              <a:rPr lang="zh-CN" altLang="en-US" sz="1000" b="1"/>
              <a:t>塔架非线性纤维梁单元</a:t>
            </a:r>
            <a:r>
              <a:rPr lang="zh-CN" altLang="en-US" sz="1000" b="1"/>
              <a:t>模型</a:t>
            </a:r>
            <a:endParaRPr lang="zh-CN" altLang="en-US" sz="1000" b="1"/>
          </a:p>
        </p:txBody>
      </p:sp>
      <p:sp>
        <p:nvSpPr>
          <p:cNvPr id="98" name="文本框 97"/>
          <p:cNvSpPr txBox="1"/>
          <p:nvPr/>
        </p:nvSpPr>
        <p:spPr>
          <a:xfrm>
            <a:off x="8606155" y="2167255"/>
            <a:ext cx="1137920" cy="245110"/>
          </a:xfrm>
          <a:prstGeom prst="rect">
            <a:avLst/>
          </a:prstGeom>
          <a:noFill/>
        </p:spPr>
        <p:txBody>
          <a:bodyPr wrap="square" rtlCol="0">
            <a:spAutoFit/>
          </a:bodyPr>
          <a:p>
            <a:r>
              <a:rPr lang="zh-CN" altLang="en-US" sz="1000" b="1"/>
              <a:t>多体动力学模型</a:t>
            </a:r>
            <a:endParaRPr lang="zh-CN" altLang="en-US" sz="1000" b="1"/>
          </a:p>
        </p:txBody>
      </p:sp>
      <p:sp>
        <p:nvSpPr>
          <p:cNvPr id="99" name="文本框 98"/>
          <p:cNvSpPr txBox="1"/>
          <p:nvPr/>
        </p:nvSpPr>
        <p:spPr>
          <a:xfrm>
            <a:off x="9785985" y="2002155"/>
            <a:ext cx="965835" cy="553085"/>
          </a:xfrm>
          <a:prstGeom prst="rect">
            <a:avLst/>
          </a:prstGeom>
          <a:noFill/>
        </p:spPr>
        <p:txBody>
          <a:bodyPr wrap="square" rtlCol="0">
            <a:spAutoFit/>
          </a:bodyPr>
          <a:p>
            <a:pPr algn="ctr"/>
            <a:r>
              <a:rPr lang="zh-CN" altLang="en-US" sz="1000" b="1"/>
              <a:t>叶轮、机舱结构、材料、伺服控制</a:t>
            </a:r>
            <a:r>
              <a:rPr lang="zh-CN" altLang="en-US" sz="1000" b="1"/>
              <a:t>参数</a:t>
            </a:r>
            <a:endParaRPr lang="zh-CN" altLang="en-US" sz="1000" b="1"/>
          </a:p>
        </p:txBody>
      </p:sp>
      <p:sp>
        <p:nvSpPr>
          <p:cNvPr id="100" name="文本框 99"/>
          <p:cNvSpPr txBox="1"/>
          <p:nvPr/>
        </p:nvSpPr>
        <p:spPr>
          <a:xfrm>
            <a:off x="8606155" y="2533650"/>
            <a:ext cx="1137920" cy="245110"/>
          </a:xfrm>
          <a:prstGeom prst="rect">
            <a:avLst/>
          </a:prstGeom>
          <a:solidFill>
            <a:schemeClr val="bg1"/>
          </a:solidFill>
        </p:spPr>
        <p:txBody>
          <a:bodyPr wrap="square" rtlCol="0">
            <a:spAutoFit/>
          </a:bodyPr>
          <a:p>
            <a:r>
              <a:rPr lang="zh-CN" altLang="en-US" sz="1000" b="1">
                <a:solidFill>
                  <a:schemeClr val="tx1"/>
                </a:solidFill>
              </a:rPr>
              <a:t>分析步动态响应</a:t>
            </a:r>
            <a:endParaRPr lang="zh-CN" altLang="en-US" sz="1000" b="1">
              <a:solidFill>
                <a:schemeClr val="tx1"/>
              </a:solidFill>
            </a:endParaRPr>
          </a:p>
        </p:txBody>
      </p:sp>
      <p:sp>
        <p:nvSpPr>
          <p:cNvPr id="101" name="文本框 100"/>
          <p:cNvSpPr txBox="1"/>
          <p:nvPr/>
        </p:nvSpPr>
        <p:spPr>
          <a:xfrm>
            <a:off x="8538210" y="2873375"/>
            <a:ext cx="1137920" cy="398780"/>
          </a:xfrm>
          <a:prstGeom prst="rect">
            <a:avLst/>
          </a:prstGeom>
          <a:noFill/>
        </p:spPr>
        <p:txBody>
          <a:bodyPr wrap="square" rtlCol="0">
            <a:spAutoFit/>
          </a:bodyPr>
          <a:p>
            <a:pPr algn="ctr"/>
            <a:r>
              <a:rPr lang="zh-CN" altLang="en-US" sz="1000" b="1"/>
              <a:t>联合</a:t>
            </a:r>
            <a:r>
              <a:rPr lang="zh-CN" altLang="en-US" sz="1000" b="1"/>
              <a:t>仿真时间积分</a:t>
            </a:r>
            <a:r>
              <a:rPr lang="zh-CN" altLang="en-US" sz="1000" b="1"/>
              <a:t>求解器</a:t>
            </a:r>
            <a:endParaRPr lang="zh-CN" altLang="en-US" sz="1000" b="1"/>
          </a:p>
        </p:txBody>
      </p:sp>
      <p:sp>
        <p:nvSpPr>
          <p:cNvPr id="102" name="文本框 101"/>
          <p:cNvSpPr txBox="1"/>
          <p:nvPr/>
        </p:nvSpPr>
        <p:spPr>
          <a:xfrm>
            <a:off x="9949180" y="2939415"/>
            <a:ext cx="802640" cy="245110"/>
          </a:xfrm>
          <a:prstGeom prst="rect">
            <a:avLst/>
          </a:prstGeom>
          <a:noFill/>
        </p:spPr>
        <p:txBody>
          <a:bodyPr wrap="square" rtlCol="0">
            <a:spAutoFit/>
          </a:bodyPr>
          <a:p>
            <a:r>
              <a:rPr lang="zh-CN" altLang="en-US" sz="1000" b="1"/>
              <a:t>环境载荷</a:t>
            </a:r>
            <a:endParaRPr lang="zh-CN" altLang="en-US" sz="1000" b="1"/>
          </a:p>
        </p:txBody>
      </p:sp>
      <p:sp>
        <p:nvSpPr>
          <p:cNvPr id="103" name="文本框 102"/>
          <p:cNvSpPr txBox="1"/>
          <p:nvPr/>
        </p:nvSpPr>
        <p:spPr>
          <a:xfrm>
            <a:off x="10299065" y="3353435"/>
            <a:ext cx="590550" cy="553085"/>
          </a:xfrm>
          <a:prstGeom prst="rect">
            <a:avLst/>
          </a:prstGeom>
          <a:noFill/>
        </p:spPr>
        <p:txBody>
          <a:bodyPr wrap="square" rtlCol="0">
            <a:spAutoFit/>
          </a:bodyPr>
          <a:p>
            <a:r>
              <a:rPr lang="zh-CN" altLang="en-US" sz="1000" b="1"/>
              <a:t>叶轮、机舱</a:t>
            </a:r>
            <a:r>
              <a:rPr lang="en-US" altLang="zh-CN" sz="1000" b="1"/>
              <a:t>    </a:t>
            </a:r>
            <a:r>
              <a:rPr lang="zh-CN" altLang="en-US" sz="1000" b="1"/>
              <a:t>子系统</a:t>
            </a:r>
            <a:endParaRPr lang="zh-CN" altLang="en-US" sz="1000" b="1"/>
          </a:p>
        </p:txBody>
      </p:sp>
      <p:sp>
        <p:nvSpPr>
          <p:cNvPr id="104" name="文本框 103"/>
          <p:cNvSpPr txBox="1"/>
          <p:nvPr/>
        </p:nvSpPr>
        <p:spPr>
          <a:xfrm>
            <a:off x="8606155" y="3684270"/>
            <a:ext cx="1137920" cy="245110"/>
          </a:xfrm>
          <a:prstGeom prst="rect">
            <a:avLst/>
          </a:prstGeom>
          <a:solidFill>
            <a:schemeClr val="bg1"/>
          </a:solidFill>
        </p:spPr>
        <p:txBody>
          <a:bodyPr wrap="square" rtlCol="0">
            <a:spAutoFit/>
          </a:bodyPr>
          <a:p>
            <a:r>
              <a:rPr lang="zh-CN" altLang="en-US" sz="1000" b="1"/>
              <a:t>分析步动态</a:t>
            </a:r>
            <a:r>
              <a:rPr lang="zh-CN" altLang="en-US" sz="1000" b="1"/>
              <a:t>响应</a:t>
            </a:r>
            <a:endParaRPr lang="zh-CN" altLang="en-US" sz="1000" b="1"/>
          </a:p>
        </p:txBody>
      </p:sp>
      <p:sp>
        <p:nvSpPr>
          <p:cNvPr id="105" name="文本框 104"/>
          <p:cNvSpPr txBox="1"/>
          <p:nvPr/>
        </p:nvSpPr>
        <p:spPr>
          <a:xfrm>
            <a:off x="8538210" y="4214495"/>
            <a:ext cx="1085215" cy="398780"/>
          </a:xfrm>
          <a:prstGeom prst="rect">
            <a:avLst/>
          </a:prstGeom>
          <a:noFill/>
        </p:spPr>
        <p:txBody>
          <a:bodyPr wrap="square" rtlCol="0">
            <a:spAutoFit/>
          </a:bodyPr>
          <a:p>
            <a:pPr algn="ctr"/>
            <a:r>
              <a:rPr lang="zh-CN" altLang="en-US" sz="1000" b="1"/>
              <a:t>非线性有限元</a:t>
            </a:r>
            <a:r>
              <a:rPr lang="zh-CN" altLang="en-US" sz="1000" b="1"/>
              <a:t>求解器</a:t>
            </a:r>
            <a:endParaRPr lang="zh-CN" altLang="en-US" sz="1000" b="1"/>
          </a:p>
        </p:txBody>
      </p:sp>
      <p:sp>
        <p:nvSpPr>
          <p:cNvPr id="106" name="文本框 105"/>
          <p:cNvSpPr txBox="1"/>
          <p:nvPr/>
        </p:nvSpPr>
        <p:spPr>
          <a:xfrm>
            <a:off x="8538210" y="4770755"/>
            <a:ext cx="1070610" cy="398780"/>
          </a:xfrm>
          <a:prstGeom prst="rect">
            <a:avLst/>
          </a:prstGeom>
          <a:noFill/>
        </p:spPr>
        <p:txBody>
          <a:bodyPr wrap="square" rtlCol="0">
            <a:spAutoFit/>
          </a:bodyPr>
          <a:p>
            <a:pPr algn="ctr"/>
            <a:r>
              <a:rPr lang="zh-CN" altLang="en-US" sz="1000" b="1"/>
              <a:t>非线性有限元</a:t>
            </a:r>
            <a:r>
              <a:rPr lang="zh-CN" altLang="en-US" sz="1000" b="1"/>
              <a:t>模型</a:t>
            </a:r>
            <a:endParaRPr lang="zh-CN" altLang="en-US" sz="1000" b="1"/>
          </a:p>
        </p:txBody>
      </p:sp>
      <p:sp>
        <p:nvSpPr>
          <p:cNvPr id="107" name="文本框 106"/>
          <p:cNvSpPr txBox="1"/>
          <p:nvPr/>
        </p:nvSpPr>
        <p:spPr>
          <a:xfrm>
            <a:off x="8538210" y="5365115"/>
            <a:ext cx="1137920" cy="245110"/>
          </a:xfrm>
          <a:prstGeom prst="rect">
            <a:avLst/>
          </a:prstGeom>
          <a:noFill/>
        </p:spPr>
        <p:txBody>
          <a:bodyPr wrap="square" rtlCol="0">
            <a:spAutoFit/>
          </a:bodyPr>
          <a:p>
            <a:pPr algn="ctr"/>
            <a:r>
              <a:rPr lang="zh-CN" altLang="en-US" sz="1000" b="1"/>
              <a:t>精细化三维</a:t>
            </a:r>
            <a:r>
              <a:rPr lang="zh-CN" altLang="en-US" sz="1000" b="1"/>
              <a:t>模型</a:t>
            </a:r>
            <a:endParaRPr lang="zh-CN" altLang="en-US" sz="1000" b="1"/>
          </a:p>
        </p:txBody>
      </p:sp>
      <p:sp>
        <p:nvSpPr>
          <p:cNvPr id="108" name="文本框 107"/>
          <p:cNvSpPr txBox="1"/>
          <p:nvPr/>
        </p:nvSpPr>
        <p:spPr>
          <a:xfrm>
            <a:off x="8613140" y="5890895"/>
            <a:ext cx="995680" cy="374015"/>
          </a:xfrm>
          <a:prstGeom prst="rect">
            <a:avLst/>
          </a:prstGeom>
          <a:solidFill>
            <a:srgbClr val="E7F1D6"/>
          </a:solidFill>
        </p:spPr>
        <p:txBody>
          <a:bodyPr wrap="square" rtlCol="0">
            <a:noAutofit/>
          </a:bodyPr>
          <a:p>
            <a:pPr algn="ctr"/>
            <a:r>
              <a:rPr lang="zh-CN" altLang="en-US" sz="1000" b="1"/>
              <a:t>塔架、</a:t>
            </a:r>
            <a:r>
              <a:rPr lang="zh-CN" altLang="en-US" sz="1000" b="1"/>
              <a:t>基础结构参数</a:t>
            </a:r>
            <a:endParaRPr lang="zh-CN" altLang="en-US" sz="1000" b="1"/>
          </a:p>
        </p:txBody>
      </p:sp>
      <p:sp>
        <p:nvSpPr>
          <p:cNvPr id="109" name="文本框 108"/>
          <p:cNvSpPr txBox="1"/>
          <p:nvPr/>
        </p:nvSpPr>
        <p:spPr>
          <a:xfrm>
            <a:off x="9765030" y="4420235"/>
            <a:ext cx="788670" cy="553085"/>
          </a:xfrm>
          <a:prstGeom prst="rect">
            <a:avLst/>
          </a:prstGeom>
          <a:noFill/>
        </p:spPr>
        <p:txBody>
          <a:bodyPr wrap="square" rtlCol="0">
            <a:spAutoFit/>
          </a:bodyPr>
          <a:p>
            <a:pPr algn="ctr"/>
            <a:r>
              <a:rPr lang="zh-CN" altLang="en-US" sz="1000" b="1"/>
              <a:t>塔架精细化</a:t>
            </a:r>
            <a:r>
              <a:rPr lang="zh-CN" altLang="en-US" sz="1000" b="1"/>
              <a:t>有限元模型</a:t>
            </a:r>
            <a:endParaRPr lang="zh-CN" altLang="en-US" sz="1000" b="1"/>
          </a:p>
        </p:txBody>
      </p:sp>
      <p:sp>
        <p:nvSpPr>
          <p:cNvPr id="110" name="文本框 109"/>
          <p:cNvSpPr txBox="1"/>
          <p:nvPr/>
        </p:nvSpPr>
        <p:spPr>
          <a:xfrm>
            <a:off x="9798685" y="5309235"/>
            <a:ext cx="676910" cy="347980"/>
          </a:xfrm>
          <a:prstGeom prst="rect">
            <a:avLst/>
          </a:prstGeom>
          <a:solidFill>
            <a:srgbClr val="E7F1D6"/>
          </a:solidFill>
        </p:spPr>
        <p:txBody>
          <a:bodyPr wrap="square" rtlCol="0">
            <a:noAutofit/>
          </a:bodyPr>
          <a:p>
            <a:pPr algn="ctr"/>
            <a:r>
              <a:rPr lang="zh-CN" altLang="en-US" sz="700" b="1">
                <a:latin typeface="微软雅黑" panose="020B0503020204020204" charset="-122"/>
                <a:ea typeface="微软雅黑" panose="020B0503020204020204" charset="-122"/>
              </a:rPr>
              <a:t>塔混凝土、钢本构参数型</a:t>
            </a:r>
            <a:endParaRPr lang="zh-CN" altLang="en-US" sz="700" b="1">
              <a:latin typeface="微软雅黑" panose="020B0503020204020204" charset="-122"/>
              <a:ea typeface="微软雅黑" panose="020B0503020204020204" charset="-122"/>
            </a:endParaRPr>
          </a:p>
        </p:txBody>
      </p:sp>
      <p:sp>
        <p:nvSpPr>
          <p:cNvPr id="111" name="文本框 110"/>
          <p:cNvSpPr txBox="1"/>
          <p:nvPr/>
        </p:nvSpPr>
        <p:spPr>
          <a:xfrm>
            <a:off x="3201670" y="3319780"/>
            <a:ext cx="969645" cy="229870"/>
          </a:xfrm>
          <a:prstGeom prst="rect">
            <a:avLst/>
          </a:prstGeom>
          <a:noFill/>
        </p:spPr>
        <p:txBody>
          <a:bodyPr wrap="square" rtlCol="0">
            <a:spAutoFit/>
          </a:bodyPr>
          <a:p>
            <a:r>
              <a:rPr lang="en-US" altLang="zh-CN" sz="900">
                <a:latin typeface="微软雅黑" panose="020B0503020204020204" charset="-122"/>
                <a:ea typeface="微软雅黑" panose="020B0503020204020204" charset="-122"/>
                <a:cs typeface="微软雅黑" panose="020B0503020204020204" charset="-122"/>
              </a:rPr>
              <a:t>TCP/IP</a:t>
            </a:r>
            <a:r>
              <a:rPr lang="zh-CN" altLang="en-US" sz="900">
                <a:latin typeface="微软雅黑" panose="020B0503020204020204" charset="-122"/>
                <a:ea typeface="微软雅黑" panose="020B0503020204020204" charset="-122"/>
                <a:cs typeface="微软雅黑" panose="020B0503020204020204" charset="-122"/>
              </a:rPr>
              <a:t>通讯</a:t>
            </a:r>
            <a:endParaRPr lang="zh-CN" altLang="en-US" sz="900">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a:off x="1818640" y="4092575"/>
            <a:ext cx="969645" cy="229870"/>
          </a:xfrm>
          <a:prstGeom prst="rect">
            <a:avLst/>
          </a:prstGeom>
          <a:noFill/>
        </p:spPr>
        <p:txBody>
          <a:bodyPr wrap="square" rtlCol="0">
            <a:spAutoFit/>
          </a:bodyPr>
          <a:p>
            <a:r>
              <a:rPr lang="en-US" altLang="zh-CN" sz="900">
                <a:latin typeface="微软雅黑" panose="020B0503020204020204" charset="-122"/>
                <a:ea typeface="微软雅黑" panose="020B0503020204020204" charset="-122"/>
                <a:cs typeface="微软雅黑" panose="020B0503020204020204" charset="-122"/>
              </a:rPr>
              <a:t>TCP/IP</a:t>
            </a:r>
            <a:r>
              <a:rPr lang="zh-CN" altLang="en-US" sz="900">
                <a:latin typeface="微软雅黑" panose="020B0503020204020204" charset="-122"/>
                <a:ea typeface="微软雅黑" panose="020B0503020204020204" charset="-122"/>
                <a:cs typeface="微软雅黑" panose="020B0503020204020204" charset="-122"/>
              </a:rPr>
              <a:t>通讯</a:t>
            </a:r>
            <a:endParaRPr lang="zh-CN" altLang="en-US" sz="900">
              <a:latin typeface="微软雅黑" panose="020B0503020204020204" charset="-122"/>
              <a:ea typeface="微软雅黑" panose="020B0503020204020204" charset="-122"/>
              <a:cs typeface="微软雅黑" panose="020B0503020204020204" charset="-122"/>
            </a:endParaRPr>
          </a:p>
        </p:txBody>
      </p:sp>
      <p:sp>
        <p:nvSpPr>
          <p:cNvPr id="113" name="下箭头 112"/>
          <p:cNvSpPr/>
          <p:nvPr/>
        </p:nvSpPr>
        <p:spPr>
          <a:xfrm>
            <a:off x="3088640" y="3429000"/>
            <a:ext cx="192405" cy="162560"/>
          </a:xfrm>
          <a:prstGeom prst="downArrow">
            <a:avLst/>
          </a:prstGeom>
          <a:solidFill>
            <a:srgbClr val="7FAC5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4" name="下箭头 113"/>
          <p:cNvSpPr/>
          <p:nvPr/>
        </p:nvSpPr>
        <p:spPr>
          <a:xfrm rot="10800000">
            <a:off x="3088640" y="3306445"/>
            <a:ext cx="192405" cy="162560"/>
          </a:xfrm>
          <a:prstGeom prst="downArrow">
            <a:avLst/>
          </a:prstGeom>
          <a:solidFill>
            <a:srgbClr val="7FAC5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5" name="下箭头 114"/>
          <p:cNvSpPr/>
          <p:nvPr/>
        </p:nvSpPr>
        <p:spPr>
          <a:xfrm>
            <a:off x="1731645" y="4159885"/>
            <a:ext cx="192405" cy="162560"/>
          </a:xfrm>
          <a:prstGeom prst="downArrow">
            <a:avLst/>
          </a:prstGeom>
          <a:solidFill>
            <a:srgbClr val="7FAC5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6" name="下箭头 115"/>
          <p:cNvSpPr/>
          <p:nvPr/>
        </p:nvSpPr>
        <p:spPr>
          <a:xfrm rot="10800000">
            <a:off x="1728470" y="4051935"/>
            <a:ext cx="192405" cy="162560"/>
          </a:xfrm>
          <a:prstGeom prst="downArrow">
            <a:avLst/>
          </a:prstGeom>
          <a:solidFill>
            <a:srgbClr val="7FAC5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7" name="文本框 116"/>
          <p:cNvSpPr txBox="1"/>
          <p:nvPr/>
        </p:nvSpPr>
        <p:spPr>
          <a:xfrm>
            <a:off x="8172450" y="4092575"/>
            <a:ext cx="440690" cy="398780"/>
          </a:xfrm>
          <a:prstGeom prst="rect">
            <a:avLst/>
          </a:prstGeom>
          <a:solidFill>
            <a:schemeClr val="bg1"/>
          </a:solidFill>
        </p:spPr>
        <p:txBody>
          <a:bodyPr wrap="square" rtlCol="0">
            <a:spAutoFit/>
          </a:bodyPr>
          <a:p>
            <a:r>
              <a:rPr lang="en-US" altLang="zh-CN" sz="1000">
                <a:latin typeface="微软雅黑" panose="020B0503020204020204" charset="-122"/>
                <a:ea typeface="微软雅黑" panose="020B0503020204020204" charset="-122"/>
                <a:cs typeface="微软雅黑" panose="020B0503020204020204" charset="-122"/>
              </a:rPr>
              <a:t>.inp</a:t>
            </a:r>
            <a:r>
              <a:rPr lang="zh-CN" altLang="en-US" sz="1000">
                <a:latin typeface="微软雅黑" panose="020B0503020204020204" charset="-122"/>
                <a:ea typeface="微软雅黑" panose="020B0503020204020204" charset="-122"/>
                <a:cs typeface="微软雅黑" panose="020B0503020204020204" charset="-122"/>
              </a:rPr>
              <a:t>文件</a:t>
            </a:r>
            <a:endParaRPr lang="zh-CN" altLang="en-US" sz="1000">
              <a:latin typeface="微软雅黑" panose="020B0503020204020204" charset="-122"/>
              <a:ea typeface="微软雅黑" panose="020B0503020204020204" charset="-122"/>
              <a:cs typeface="微软雅黑" panose="020B0503020204020204" charset="-122"/>
            </a:endParaRPr>
          </a:p>
        </p:txBody>
      </p:sp>
      <p:pic>
        <p:nvPicPr>
          <p:cNvPr id="21" name="图片 20" descr="22.1"/>
          <p:cNvPicPr>
            <a:picLocks noChangeAspect="1"/>
          </p:cNvPicPr>
          <p:nvPr/>
        </p:nvPicPr>
        <p:blipFill>
          <a:blip r:embed="rId1"/>
          <a:stretch>
            <a:fillRect/>
          </a:stretch>
        </p:blipFill>
        <p:spPr>
          <a:xfrm>
            <a:off x="3747770" y="2600960"/>
            <a:ext cx="628650" cy="628650"/>
          </a:xfrm>
          <a:prstGeom prst="rect">
            <a:avLst/>
          </a:prstGeom>
        </p:spPr>
      </p:pic>
      <p:pic>
        <p:nvPicPr>
          <p:cNvPr id="44" name="图片 43" descr="22.2"/>
          <p:cNvPicPr>
            <a:picLocks noChangeAspect="1"/>
          </p:cNvPicPr>
          <p:nvPr/>
        </p:nvPicPr>
        <p:blipFill>
          <a:blip r:embed="rId2"/>
          <a:stretch>
            <a:fillRect/>
          </a:stretch>
        </p:blipFill>
        <p:spPr>
          <a:xfrm>
            <a:off x="3941445" y="3549650"/>
            <a:ext cx="307340" cy="274320"/>
          </a:xfrm>
          <a:prstGeom prst="rect">
            <a:avLst/>
          </a:prstGeom>
        </p:spPr>
      </p:pic>
      <p:sp>
        <p:nvSpPr>
          <p:cNvPr id="52" name="文本框 51"/>
          <p:cNvSpPr txBox="1"/>
          <p:nvPr/>
        </p:nvSpPr>
        <p:spPr>
          <a:xfrm>
            <a:off x="3747770" y="3761105"/>
            <a:ext cx="744855" cy="398780"/>
          </a:xfrm>
          <a:prstGeom prst="rect">
            <a:avLst/>
          </a:prstGeom>
          <a:noFill/>
        </p:spPr>
        <p:txBody>
          <a:bodyPr wrap="square" rtlCol="0">
            <a:spAutoFit/>
          </a:bodyPr>
          <a:p>
            <a:r>
              <a:rPr lang="en-US" altLang="zh-CN" sz="1000"/>
              <a:t>MATLAB SIMULINK</a:t>
            </a:r>
            <a:endParaRPr lang="en-US" altLang="zh-CN" sz="1000"/>
          </a:p>
        </p:txBody>
      </p:sp>
      <p:pic>
        <p:nvPicPr>
          <p:cNvPr id="55" name="图片 54" descr="22.3"/>
          <p:cNvPicPr>
            <a:picLocks noChangeAspect="1"/>
          </p:cNvPicPr>
          <p:nvPr/>
        </p:nvPicPr>
        <p:blipFill>
          <a:blip r:embed="rId3"/>
          <a:stretch>
            <a:fillRect/>
          </a:stretch>
        </p:blipFill>
        <p:spPr>
          <a:xfrm>
            <a:off x="3912870" y="4236720"/>
            <a:ext cx="918210" cy="2118995"/>
          </a:xfrm>
          <a:prstGeom prst="rect">
            <a:avLst/>
          </a:prstGeom>
        </p:spPr>
      </p:pic>
      <p:pic>
        <p:nvPicPr>
          <p:cNvPr id="72" name="图片 71" descr="22.4"/>
          <p:cNvPicPr>
            <a:picLocks noChangeAspect="1"/>
          </p:cNvPicPr>
          <p:nvPr/>
        </p:nvPicPr>
        <p:blipFill>
          <a:blip r:embed="rId4"/>
          <a:stretch>
            <a:fillRect/>
          </a:stretch>
        </p:blipFill>
        <p:spPr>
          <a:xfrm>
            <a:off x="4171315" y="5584825"/>
            <a:ext cx="707390" cy="728980"/>
          </a:xfrm>
          <a:prstGeom prst="rect">
            <a:avLst/>
          </a:prstGeom>
        </p:spPr>
      </p:pic>
      <p:pic>
        <p:nvPicPr>
          <p:cNvPr id="73" name="图片 72" descr="22.1"/>
          <p:cNvPicPr>
            <a:picLocks noChangeAspect="1"/>
          </p:cNvPicPr>
          <p:nvPr/>
        </p:nvPicPr>
        <p:blipFill>
          <a:blip r:embed="rId1"/>
          <a:stretch>
            <a:fillRect/>
          </a:stretch>
        </p:blipFill>
        <p:spPr>
          <a:xfrm>
            <a:off x="9561830" y="3319780"/>
            <a:ext cx="737235" cy="628650"/>
          </a:xfrm>
          <a:prstGeom prst="rect">
            <a:avLst/>
          </a:prstGeom>
        </p:spPr>
      </p:pic>
      <p:pic>
        <p:nvPicPr>
          <p:cNvPr id="96" name="图片 95" descr="22.5"/>
          <p:cNvPicPr>
            <a:picLocks noChangeAspect="1"/>
          </p:cNvPicPr>
          <p:nvPr/>
        </p:nvPicPr>
        <p:blipFill>
          <a:blip r:embed="rId5"/>
          <a:stretch>
            <a:fillRect/>
          </a:stretch>
        </p:blipFill>
        <p:spPr>
          <a:xfrm>
            <a:off x="9778365" y="4093210"/>
            <a:ext cx="973455" cy="2220595"/>
          </a:xfrm>
          <a:prstGeom prst="rect">
            <a:avLst/>
          </a:prstGeom>
        </p:spPr>
      </p:pic>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22/68</a:t>
            </a:r>
            <a:endParaRPr lang="en-US" altLang="zh-CN">
              <a:latin typeface="微软雅黑" panose="020B0503020204020204" charset="-122"/>
              <a:ea typeface="微软雅黑" panose="020B0503020204020204" charset="-122"/>
            </a:endParaRPr>
          </a:p>
        </p:txBody>
      </p:sp>
      <p:sp>
        <p:nvSpPr>
          <p:cNvPr id="118" name="文本框 117"/>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10071100" cy="445135"/>
          </a:xfrm>
          <a:prstGeom prst="rect">
            <a:avLst/>
          </a:prstGeom>
          <a:noFill/>
        </p:spPr>
        <p:txBody>
          <a:bodyPr wrap="square" rtlCol="0">
            <a:spAutoFit/>
          </a:bodyPr>
          <a:p>
            <a:r>
              <a:rPr lang="zh-CN" altLang="en-US" sz="2300" b="1">
                <a:solidFill>
                  <a:srgbClr val="394C7E"/>
                </a:solidFill>
              </a:rPr>
              <a:t>研究对象为位于我国通榆地区的某大型混塔式</a:t>
            </a:r>
            <a:r>
              <a:rPr lang="zh-CN" altLang="en-US" sz="2300" b="1">
                <a:solidFill>
                  <a:srgbClr val="394C7E"/>
                </a:solidFill>
              </a:rPr>
              <a:t>风电机组</a:t>
            </a:r>
            <a:endParaRPr lang="zh-CN" altLang="en-US" sz="2300" b="1">
              <a:solidFill>
                <a:srgbClr val="394C7E"/>
              </a:solidFill>
            </a:endParaRPr>
          </a:p>
        </p:txBody>
      </p:sp>
      <p:sp>
        <p:nvSpPr>
          <p:cNvPr id="13" name="任意多边形 12"/>
          <p:cNvSpPr/>
          <p:nvPr/>
        </p:nvSpPr>
        <p:spPr>
          <a:xfrm>
            <a:off x="552640" y="1791970"/>
            <a:ext cx="3090990" cy="1304925"/>
          </a:xfrm>
          <a:custGeom>
            <a:avLst/>
            <a:gdLst>
              <a:gd name="connsiteX0" fmla="*/ 1 w 4867"/>
              <a:gd name="connsiteY0" fmla="*/ 189 h 2055"/>
              <a:gd name="connsiteX1" fmla="*/ 224 w 4867"/>
              <a:gd name="connsiteY1" fmla="*/ 0 h 2055"/>
              <a:gd name="connsiteX2" fmla="*/ 4635 w 4867"/>
              <a:gd name="connsiteY2" fmla="*/ 0 h 2055"/>
              <a:gd name="connsiteX3" fmla="*/ 4868 w 4867"/>
              <a:gd name="connsiteY3" fmla="*/ 244 h 2055"/>
              <a:gd name="connsiteX4" fmla="*/ 4868 w 4867"/>
              <a:gd name="connsiteY4" fmla="*/ 1800 h 2055"/>
              <a:gd name="connsiteX5" fmla="*/ 4657 w 4867"/>
              <a:gd name="connsiteY5" fmla="*/ 2055 h 2055"/>
              <a:gd name="connsiteX6" fmla="*/ 168 w 4867"/>
              <a:gd name="connsiteY6" fmla="*/ 2044 h 2055"/>
              <a:gd name="connsiteX7" fmla="*/ 1 w 4867"/>
              <a:gd name="connsiteY7" fmla="*/ 1789 h 2055"/>
              <a:gd name="connsiteX8" fmla="*/ 1 w 4867"/>
              <a:gd name="connsiteY8" fmla="*/ 189 h 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68" h="2055">
                <a:moveTo>
                  <a:pt x="1" y="189"/>
                </a:moveTo>
                <a:cubicBezTo>
                  <a:pt x="1" y="1"/>
                  <a:pt x="36" y="0"/>
                  <a:pt x="224" y="0"/>
                </a:cubicBezTo>
                <a:lnTo>
                  <a:pt x="4635" y="0"/>
                </a:lnTo>
                <a:cubicBezTo>
                  <a:pt x="4823" y="0"/>
                  <a:pt x="4868" y="56"/>
                  <a:pt x="4868" y="244"/>
                </a:cubicBezTo>
                <a:lnTo>
                  <a:pt x="4868" y="1800"/>
                </a:lnTo>
                <a:cubicBezTo>
                  <a:pt x="4868" y="1988"/>
                  <a:pt x="4845" y="2055"/>
                  <a:pt x="4657" y="2055"/>
                </a:cubicBezTo>
                <a:lnTo>
                  <a:pt x="168" y="2044"/>
                </a:lnTo>
                <a:cubicBezTo>
                  <a:pt x="-20" y="2044"/>
                  <a:pt x="1" y="1977"/>
                  <a:pt x="1" y="1789"/>
                </a:cubicBezTo>
                <a:lnTo>
                  <a:pt x="1" y="189"/>
                </a:lnTo>
                <a:close/>
              </a:path>
            </a:pathLst>
          </a:custGeom>
          <a:ln>
            <a:solidFill>
              <a:srgbClr val="D7D7D7"/>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圆角矩形 13"/>
          <p:cNvSpPr/>
          <p:nvPr/>
        </p:nvSpPr>
        <p:spPr>
          <a:xfrm>
            <a:off x="552450" y="1558925"/>
            <a:ext cx="1044575" cy="233045"/>
          </a:xfrm>
          <a:prstGeom prst="round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791210" y="1504315"/>
            <a:ext cx="861695" cy="382905"/>
          </a:xfrm>
          <a:prstGeom prst="rect">
            <a:avLst/>
          </a:prstGeom>
          <a:noFill/>
        </p:spPr>
        <p:txBody>
          <a:bodyPr wrap="square" rtlCol="0">
            <a:noAutofit/>
          </a:bodyPr>
          <a:p>
            <a:r>
              <a:rPr lang="zh-CN" altLang="en-US" sz="1300">
                <a:solidFill>
                  <a:schemeClr val="bg1"/>
                </a:solidFill>
              </a:rPr>
              <a:t>研究对象</a:t>
            </a:r>
            <a:endParaRPr lang="zh-CN" altLang="en-US" sz="1300">
              <a:solidFill>
                <a:schemeClr val="bg1"/>
              </a:solidFill>
            </a:endParaRPr>
          </a:p>
        </p:txBody>
      </p:sp>
      <p:pic>
        <p:nvPicPr>
          <p:cNvPr id="16" name="图片 15" descr="饼图"/>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5630" y="1596390"/>
            <a:ext cx="195580" cy="195580"/>
          </a:xfrm>
          <a:prstGeom prst="rect">
            <a:avLst/>
          </a:prstGeom>
        </p:spPr>
      </p:pic>
      <p:sp>
        <p:nvSpPr>
          <p:cNvPr id="17" name="圆角矩形 16"/>
          <p:cNvSpPr/>
          <p:nvPr/>
        </p:nvSpPr>
        <p:spPr>
          <a:xfrm>
            <a:off x="552450" y="3159125"/>
            <a:ext cx="1044575" cy="233045"/>
          </a:xfrm>
          <a:prstGeom prst="round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552450" y="4500245"/>
            <a:ext cx="1629410" cy="233045"/>
          </a:xfrm>
          <a:prstGeom prst="round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9" name="图片 18" descr="业绩数据图"/>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630" y="3159125"/>
            <a:ext cx="210185" cy="210185"/>
          </a:xfrm>
          <a:prstGeom prst="rect">
            <a:avLst/>
          </a:prstGeom>
        </p:spPr>
      </p:pic>
      <p:sp>
        <p:nvSpPr>
          <p:cNvPr id="20" name="文本框 19"/>
          <p:cNvSpPr txBox="1"/>
          <p:nvPr/>
        </p:nvSpPr>
        <p:spPr>
          <a:xfrm>
            <a:off x="735330" y="3116580"/>
            <a:ext cx="861695" cy="340995"/>
          </a:xfrm>
          <a:prstGeom prst="rect">
            <a:avLst/>
          </a:prstGeom>
          <a:noFill/>
        </p:spPr>
        <p:txBody>
          <a:bodyPr wrap="square" rtlCol="0">
            <a:noAutofit/>
          </a:bodyPr>
          <a:p>
            <a:r>
              <a:rPr lang="zh-CN" altLang="en-US" sz="1300">
                <a:solidFill>
                  <a:schemeClr val="bg1"/>
                </a:solidFill>
              </a:rPr>
              <a:t>塔架</a:t>
            </a:r>
            <a:r>
              <a:rPr lang="zh-CN" altLang="en-US" sz="1300">
                <a:solidFill>
                  <a:schemeClr val="bg1"/>
                </a:solidFill>
              </a:rPr>
              <a:t>组成</a:t>
            </a:r>
            <a:endParaRPr lang="zh-CN" altLang="en-US" sz="1300">
              <a:solidFill>
                <a:schemeClr val="bg1"/>
              </a:solidFill>
            </a:endParaRPr>
          </a:p>
        </p:txBody>
      </p:sp>
      <p:pic>
        <p:nvPicPr>
          <p:cNvPr id="21" name="图片 20" descr="文件袋"/>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5630" y="4500245"/>
            <a:ext cx="214630" cy="231140"/>
          </a:xfrm>
          <a:prstGeom prst="rect">
            <a:avLst/>
          </a:prstGeom>
        </p:spPr>
      </p:pic>
      <p:sp>
        <p:nvSpPr>
          <p:cNvPr id="22" name="文本框 21"/>
          <p:cNvSpPr txBox="1"/>
          <p:nvPr/>
        </p:nvSpPr>
        <p:spPr>
          <a:xfrm>
            <a:off x="805815" y="4457700"/>
            <a:ext cx="1375410" cy="383540"/>
          </a:xfrm>
          <a:prstGeom prst="rect">
            <a:avLst/>
          </a:prstGeom>
          <a:noFill/>
        </p:spPr>
        <p:txBody>
          <a:bodyPr wrap="square" rtlCol="0">
            <a:noAutofit/>
          </a:bodyPr>
          <a:p>
            <a:r>
              <a:rPr lang="zh-CN" altLang="en-US" sz="1300">
                <a:solidFill>
                  <a:schemeClr val="bg1"/>
                </a:solidFill>
              </a:rPr>
              <a:t>关键连接与</a:t>
            </a:r>
            <a:r>
              <a:rPr lang="zh-CN" altLang="en-US" sz="1300">
                <a:solidFill>
                  <a:schemeClr val="bg1"/>
                </a:solidFill>
              </a:rPr>
              <a:t>材料</a:t>
            </a:r>
            <a:endParaRPr lang="zh-CN" altLang="en-US" sz="1300">
              <a:solidFill>
                <a:schemeClr val="bg1"/>
              </a:solidFill>
            </a:endParaRPr>
          </a:p>
        </p:txBody>
      </p:sp>
      <p:sp>
        <p:nvSpPr>
          <p:cNvPr id="23" name="矩形 22"/>
          <p:cNvSpPr/>
          <p:nvPr/>
        </p:nvSpPr>
        <p:spPr>
          <a:xfrm>
            <a:off x="645160" y="191198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矩形 23"/>
          <p:cNvSpPr/>
          <p:nvPr/>
        </p:nvSpPr>
        <p:spPr>
          <a:xfrm>
            <a:off x="645160" y="233616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645160" y="274764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645160" y="347535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矩形 26"/>
          <p:cNvSpPr/>
          <p:nvPr/>
        </p:nvSpPr>
        <p:spPr>
          <a:xfrm>
            <a:off x="645160" y="370522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矩形 27"/>
          <p:cNvSpPr/>
          <p:nvPr/>
        </p:nvSpPr>
        <p:spPr>
          <a:xfrm>
            <a:off x="645160" y="3893820"/>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矩形 28"/>
          <p:cNvSpPr/>
          <p:nvPr/>
        </p:nvSpPr>
        <p:spPr>
          <a:xfrm>
            <a:off x="645160" y="408241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矩形 29"/>
          <p:cNvSpPr/>
          <p:nvPr/>
        </p:nvSpPr>
        <p:spPr>
          <a:xfrm>
            <a:off x="645160" y="484822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矩形 30"/>
          <p:cNvSpPr/>
          <p:nvPr/>
        </p:nvSpPr>
        <p:spPr>
          <a:xfrm>
            <a:off x="645160" y="523430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矩形 31"/>
          <p:cNvSpPr/>
          <p:nvPr/>
        </p:nvSpPr>
        <p:spPr>
          <a:xfrm>
            <a:off x="645160" y="5417185"/>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矩形 32"/>
          <p:cNvSpPr/>
          <p:nvPr/>
        </p:nvSpPr>
        <p:spPr>
          <a:xfrm>
            <a:off x="645160" y="5910580"/>
            <a:ext cx="75565" cy="7556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文本框 33"/>
          <p:cNvSpPr txBox="1"/>
          <p:nvPr/>
        </p:nvSpPr>
        <p:spPr>
          <a:xfrm>
            <a:off x="8603615" y="1546225"/>
            <a:ext cx="2073910" cy="275590"/>
          </a:xfrm>
          <a:prstGeom prst="rect">
            <a:avLst/>
          </a:prstGeom>
          <a:noFill/>
        </p:spPr>
        <p:txBody>
          <a:bodyPr wrap="square" rtlCol="0">
            <a:spAutoFit/>
          </a:bodyPr>
          <a:p>
            <a:r>
              <a:rPr lang="zh-CN" altLang="en-US" sz="1200" b="1">
                <a:solidFill>
                  <a:srgbClr val="023A8B"/>
                </a:solidFill>
              </a:rPr>
              <a:t>本文研究对象的现场照片</a:t>
            </a:r>
            <a:endParaRPr lang="zh-CN" altLang="en-US" sz="1200" b="1">
              <a:solidFill>
                <a:srgbClr val="023A8B"/>
              </a:solidFill>
            </a:endParaRPr>
          </a:p>
        </p:txBody>
      </p:sp>
      <p:sp>
        <p:nvSpPr>
          <p:cNvPr id="35" name="文本框 34"/>
          <p:cNvSpPr txBox="1"/>
          <p:nvPr/>
        </p:nvSpPr>
        <p:spPr>
          <a:xfrm>
            <a:off x="8526145" y="3969385"/>
            <a:ext cx="2073910" cy="275590"/>
          </a:xfrm>
          <a:prstGeom prst="rect">
            <a:avLst/>
          </a:prstGeom>
          <a:noFill/>
        </p:spPr>
        <p:txBody>
          <a:bodyPr wrap="square" rtlCol="0">
            <a:spAutoFit/>
          </a:bodyPr>
          <a:p>
            <a:r>
              <a:rPr lang="zh-CN" altLang="en-US" sz="1200" b="1">
                <a:solidFill>
                  <a:srgbClr val="023A8B"/>
                </a:solidFill>
              </a:rPr>
              <a:t>风电机组坐标系</a:t>
            </a:r>
            <a:r>
              <a:rPr lang="zh-CN" altLang="en-US" sz="1200" b="1">
                <a:solidFill>
                  <a:srgbClr val="023A8B"/>
                </a:solidFill>
              </a:rPr>
              <a:t>定义</a:t>
            </a:r>
            <a:endParaRPr lang="zh-CN" altLang="en-US" sz="1200" b="1">
              <a:solidFill>
                <a:srgbClr val="023A8B"/>
              </a:solidFill>
            </a:endParaRPr>
          </a:p>
        </p:txBody>
      </p:sp>
      <p:sp>
        <p:nvSpPr>
          <p:cNvPr id="36" name="文本框 35"/>
          <p:cNvSpPr txBox="1"/>
          <p:nvPr/>
        </p:nvSpPr>
        <p:spPr>
          <a:xfrm>
            <a:off x="720725" y="1784985"/>
            <a:ext cx="2976880" cy="436880"/>
          </a:xfrm>
          <a:prstGeom prst="rect">
            <a:avLst/>
          </a:prstGeom>
          <a:noFill/>
        </p:spPr>
        <p:txBody>
          <a:bodyPr wrap="square" rtlCol="0">
            <a:noAutofit/>
          </a:bodyPr>
          <a:p>
            <a:pPr>
              <a:lnSpc>
                <a:spcPct val="120000"/>
              </a:lnSpc>
              <a:spcBef>
                <a:spcPts val="0"/>
              </a:spcBef>
              <a:spcAft>
                <a:spcPts val="0"/>
              </a:spcAft>
            </a:pPr>
            <a:r>
              <a:rPr lang="zh-CN" altLang="en-US" sz="1100" b="1"/>
              <a:t>轮毂高度</a:t>
            </a:r>
            <a:r>
              <a:rPr lang="zh-CN" altLang="en-US" sz="1100" b="1">
                <a:solidFill>
                  <a:srgbClr val="C00000"/>
                </a:solidFill>
              </a:rPr>
              <a:t>160m</a:t>
            </a:r>
            <a:r>
              <a:rPr lang="zh-CN" altLang="en-US" sz="1100" b="1"/>
              <a:t>.叶轮直径</a:t>
            </a:r>
            <a:r>
              <a:rPr lang="zh-CN" altLang="en-US" sz="1100" b="1">
                <a:solidFill>
                  <a:srgbClr val="C00000"/>
                </a:solidFill>
              </a:rPr>
              <a:t>126m，</a:t>
            </a:r>
            <a:r>
              <a:rPr lang="zh-CN" altLang="en-US" sz="1100" b="1"/>
              <a:t>额定风速</a:t>
            </a:r>
            <a:endParaRPr lang="zh-CN" altLang="en-US" sz="1100" b="1"/>
          </a:p>
          <a:p>
            <a:pPr>
              <a:lnSpc>
                <a:spcPct val="120000"/>
              </a:lnSpc>
              <a:spcBef>
                <a:spcPts val="0"/>
              </a:spcBef>
              <a:spcAft>
                <a:spcPts val="0"/>
              </a:spcAft>
            </a:pPr>
            <a:r>
              <a:rPr lang="zh-CN" altLang="en-US" sz="1100" b="1">
                <a:solidFill>
                  <a:srgbClr val="C00000"/>
                </a:solidFill>
              </a:rPr>
              <a:t>12 im/s</a:t>
            </a:r>
            <a:r>
              <a:rPr lang="zh-CN" altLang="en-US" sz="1100" b="1"/>
              <a:t>,额定叶轮转速</a:t>
            </a:r>
            <a:r>
              <a:rPr lang="zh-CN" altLang="en-US" sz="1100" b="1">
                <a:solidFill>
                  <a:srgbClr val="C00000"/>
                </a:solidFill>
              </a:rPr>
              <a:t>12.1 r/min.</a:t>
            </a:r>
            <a:endParaRPr lang="zh-CN" altLang="en-US" sz="1100" b="1">
              <a:solidFill>
                <a:srgbClr val="C00000"/>
              </a:solidFill>
            </a:endParaRPr>
          </a:p>
        </p:txBody>
      </p:sp>
      <p:sp>
        <p:nvSpPr>
          <p:cNvPr id="37" name="文本框 36"/>
          <p:cNvSpPr txBox="1"/>
          <p:nvPr/>
        </p:nvSpPr>
        <p:spPr>
          <a:xfrm>
            <a:off x="720725" y="2196465"/>
            <a:ext cx="2870835" cy="496570"/>
          </a:xfrm>
          <a:prstGeom prst="rect">
            <a:avLst/>
          </a:prstGeom>
          <a:noFill/>
        </p:spPr>
        <p:txBody>
          <a:bodyPr wrap="square" rtlCol="0">
            <a:spAutoFit/>
          </a:bodyPr>
          <a:p>
            <a:pPr>
              <a:lnSpc>
                <a:spcPct val="120000"/>
              </a:lnSpc>
              <a:spcBef>
                <a:spcPts val="0"/>
              </a:spcBef>
              <a:spcAft>
                <a:spcPts val="0"/>
              </a:spcAft>
            </a:pPr>
            <a:r>
              <a:rPr lang="zh-CN" altLang="en-US" sz="1100" b="1"/>
              <a:t>塔架总高度</a:t>
            </a:r>
            <a:r>
              <a:rPr lang="zh-CN" altLang="en-US" sz="1100" b="1">
                <a:solidFill>
                  <a:srgbClr val="C00000"/>
                </a:solidFill>
              </a:rPr>
              <a:t>1573m.</a:t>
            </a:r>
            <a:r>
              <a:rPr lang="zh-CN" altLang="en-US" sz="1100" b="1"/>
              <a:t>外形为圆维形，直径由底部</a:t>
            </a:r>
            <a:r>
              <a:rPr lang="zh-CN" altLang="en-US" sz="1100" b="1">
                <a:solidFill>
                  <a:srgbClr val="C00000"/>
                </a:solidFill>
              </a:rPr>
              <a:t>8.3m</a:t>
            </a:r>
            <a:r>
              <a:rPr lang="zh-CN" altLang="en-US" sz="1100" b="1"/>
              <a:t>平滑过渡至顶部</a:t>
            </a:r>
            <a:r>
              <a:rPr lang="zh-CN" altLang="en-US" sz="1100" b="1">
                <a:solidFill>
                  <a:srgbClr val="C00000"/>
                </a:solidFill>
              </a:rPr>
              <a:t>3.4 m</a:t>
            </a:r>
            <a:r>
              <a:rPr lang="zh-CN" altLang="en-US" sz="1100" b="1"/>
              <a:t>.</a:t>
            </a:r>
            <a:endParaRPr lang="zh-CN" altLang="en-US" sz="1100" b="1"/>
          </a:p>
        </p:txBody>
      </p:sp>
      <p:sp>
        <p:nvSpPr>
          <p:cNvPr id="38" name="文本框 37"/>
          <p:cNvSpPr txBox="1"/>
          <p:nvPr/>
        </p:nvSpPr>
        <p:spPr>
          <a:xfrm>
            <a:off x="720725" y="2642235"/>
            <a:ext cx="2870835" cy="496570"/>
          </a:xfrm>
          <a:prstGeom prst="rect">
            <a:avLst/>
          </a:prstGeom>
          <a:noFill/>
        </p:spPr>
        <p:txBody>
          <a:bodyPr wrap="square" rtlCol="0">
            <a:spAutoFit/>
          </a:bodyPr>
          <a:p>
            <a:pPr>
              <a:lnSpc>
                <a:spcPct val="120000"/>
              </a:lnSpc>
              <a:spcBef>
                <a:spcPts val="0"/>
              </a:spcBef>
              <a:spcAft>
                <a:spcPts val="0"/>
              </a:spcAft>
            </a:pPr>
            <a:r>
              <a:rPr lang="zh-CN" altLang="en-US" sz="1100" b="1"/>
              <a:t>技术方案：预制装配式混凝土管片+后张拉</a:t>
            </a:r>
            <a:endParaRPr lang="zh-CN" altLang="en-US" sz="1100" b="1"/>
          </a:p>
          <a:p>
            <a:pPr>
              <a:lnSpc>
                <a:spcPct val="120000"/>
              </a:lnSpc>
              <a:spcBef>
                <a:spcPts val="0"/>
              </a:spcBef>
              <a:spcAft>
                <a:spcPts val="0"/>
              </a:spcAft>
            </a:pPr>
            <a:r>
              <a:rPr lang="zh-CN" altLang="en-US" sz="1100" b="1"/>
              <a:t>体外预应力索。</a:t>
            </a:r>
            <a:endParaRPr lang="zh-CN" altLang="en-US" sz="1100" b="1"/>
          </a:p>
        </p:txBody>
      </p:sp>
      <p:sp>
        <p:nvSpPr>
          <p:cNvPr id="39" name="文本框 38"/>
          <p:cNvSpPr txBox="1"/>
          <p:nvPr/>
        </p:nvSpPr>
        <p:spPr>
          <a:xfrm>
            <a:off x="720725" y="3406775"/>
            <a:ext cx="2870200" cy="260350"/>
          </a:xfrm>
          <a:prstGeom prst="rect">
            <a:avLst/>
          </a:prstGeom>
          <a:noFill/>
        </p:spPr>
        <p:txBody>
          <a:bodyPr wrap="square" rtlCol="0">
            <a:spAutoFit/>
          </a:bodyPr>
          <a:p>
            <a:r>
              <a:rPr lang="zh-CN" altLang="en-US" sz="1100" b="1"/>
              <a:t>混凝土塔段</a:t>
            </a:r>
            <a:r>
              <a:rPr lang="zh-CN" altLang="en-US" sz="1100" b="1">
                <a:solidFill>
                  <a:srgbClr val="C00000"/>
                </a:solidFill>
              </a:rPr>
              <a:t>112.0m</a:t>
            </a:r>
            <a:r>
              <a:rPr lang="zh-CN" altLang="en-US" sz="1100" b="1"/>
              <a:t>，共3</a:t>
            </a:r>
            <a:r>
              <a:rPr lang="zh-CN" altLang="en-US" sz="1100" b="1">
                <a:solidFill>
                  <a:srgbClr val="C00000"/>
                </a:solidFill>
              </a:rPr>
              <a:t>1</a:t>
            </a:r>
            <a:r>
              <a:rPr lang="zh-CN" altLang="en-US" sz="1100" b="1"/>
              <a:t>节，材料</a:t>
            </a:r>
            <a:r>
              <a:rPr lang="zh-CN" altLang="en-US" sz="1100" b="1">
                <a:solidFill>
                  <a:srgbClr val="C00000"/>
                </a:solidFill>
              </a:rPr>
              <a:t>C70</a:t>
            </a:r>
            <a:r>
              <a:rPr lang="zh-CN" altLang="en-US" sz="1100" b="1"/>
              <a:t>。</a:t>
            </a:r>
            <a:endParaRPr lang="zh-CN" altLang="en-US" sz="1100" b="1"/>
          </a:p>
        </p:txBody>
      </p:sp>
      <p:sp>
        <p:nvSpPr>
          <p:cNvPr id="40" name="文本框 39"/>
          <p:cNvSpPr txBox="1"/>
          <p:nvPr/>
        </p:nvSpPr>
        <p:spPr>
          <a:xfrm>
            <a:off x="720725" y="3583305"/>
            <a:ext cx="2870200" cy="260350"/>
          </a:xfrm>
          <a:prstGeom prst="rect">
            <a:avLst/>
          </a:prstGeom>
          <a:noFill/>
        </p:spPr>
        <p:txBody>
          <a:bodyPr wrap="square" rtlCol="0">
            <a:spAutoFit/>
          </a:bodyPr>
          <a:p>
            <a:r>
              <a:rPr lang="zh-CN" altLang="en-US" sz="1100" b="1"/>
              <a:t>过渡段</a:t>
            </a:r>
            <a:r>
              <a:rPr lang="zh-CN" altLang="en-US" sz="1100" b="1">
                <a:solidFill>
                  <a:srgbClr val="C00000"/>
                </a:solidFill>
              </a:rPr>
              <a:t>1.5m</a:t>
            </a:r>
            <a:r>
              <a:rPr lang="zh-CN" altLang="en-US" sz="1100" b="1"/>
              <a:t>.编号第</a:t>
            </a:r>
            <a:r>
              <a:rPr lang="zh-CN" altLang="en-US" sz="1100" b="1">
                <a:solidFill>
                  <a:srgbClr val="C00000"/>
                </a:solidFill>
              </a:rPr>
              <a:t>3</a:t>
            </a:r>
            <a:r>
              <a:rPr lang="zh-CN" altLang="en-US" sz="1100" b="1"/>
              <a:t>2节，材料</a:t>
            </a:r>
            <a:r>
              <a:rPr lang="zh-CN" altLang="en-US" sz="1100" b="1">
                <a:solidFill>
                  <a:srgbClr val="C00000"/>
                </a:solidFill>
              </a:rPr>
              <a:t>Q345</a:t>
            </a:r>
            <a:r>
              <a:rPr lang="zh-CN" altLang="en-US" sz="1100" b="1"/>
              <a:t>。</a:t>
            </a:r>
            <a:endParaRPr lang="zh-CN" altLang="en-US" sz="1100" b="1"/>
          </a:p>
        </p:txBody>
      </p:sp>
      <p:sp>
        <p:nvSpPr>
          <p:cNvPr id="41" name="文本框 40"/>
          <p:cNvSpPr txBox="1"/>
          <p:nvPr/>
        </p:nvSpPr>
        <p:spPr>
          <a:xfrm>
            <a:off x="720725" y="3793490"/>
            <a:ext cx="2870200" cy="260350"/>
          </a:xfrm>
          <a:prstGeom prst="rect">
            <a:avLst/>
          </a:prstGeom>
          <a:noFill/>
        </p:spPr>
        <p:txBody>
          <a:bodyPr wrap="square" rtlCol="0">
            <a:spAutoFit/>
          </a:bodyPr>
          <a:p>
            <a:r>
              <a:rPr lang="zh-CN" altLang="en-US" sz="1100" b="1"/>
              <a:t>钢塔段</a:t>
            </a:r>
            <a:r>
              <a:rPr lang="zh-CN" altLang="en-US" sz="1100" b="1">
                <a:solidFill>
                  <a:srgbClr val="C00000"/>
                </a:solidFill>
              </a:rPr>
              <a:t>43.8m</a:t>
            </a:r>
            <a:r>
              <a:rPr lang="zh-CN" altLang="en-US" sz="1100" b="1"/>
              <a:t>.共</a:t>
            </a:r>
            <a:r>
              <a:rPr lang="zh-CN" altLang="en-US" sz="1100" b="1">
                <a:solidFill>
                  <a:srgbClr val="C00000"/>
                </a:solidFill>
              </a:rPr>
              <a:t>4</a:t>
            </a:r>
            <a:r>
              <a:rPr lang="zh-CN" altLang="en-US" sz="1100" b="1"/>
              <a:t>节，材料</a:t>
            </a:r>
            <a:r>
              <a:rPr lang="zh-CN" altLang="en-US" sz="1100" b="1">
                <a:solidFill>
                  <a:srgbClr val="C00000"/>
                </a:solidFill>
              </a:rPr>
              <a:t>Q345.</a:t>
            </a:r>
            <a:endParaRPr lang="zh-CN" altLang="en-US" sz="1100" b="1">
              <a:solidFill>
                <a:srgbClr val="C00000"/>
              </a:solidFill>
            </a:endParaRPr>
          </a:p>
        </p:txBody>
      </p:sp>
      <p:sp>
        <p:nvSpPr>
          <p:cNvPr id="42" name="文本框 41"/>
          <p:cNvSpPr txBox="1"/>
          <p:nvPr/>
        </p:nvSpPr>
        <p:spPr>
          <a:xfrm>
            <a:off x="720725" y="3977005"/>
            <a:ext cx="2413000" cy="460375"/>
          </a:xfrm>
          <a:prstGeom prst="rect">
            <a:avLst/>
          </a:prstGeom>
          <a:noFill/>
        </p:spPr>
        <p:txBody>
          <a:bodyPr wrap="square" rtlCol="0">
            <a:spAutoFit/>
          </a:bodyPr>
          <a:p>
            <a:r>
              <a:rPr lang="zh-CN" altLang="en-US" sz="1200" b="1"/>
              <a:t>节段编号：混凝土</a:t>
            </a:r>
            <a:r>
              <a:rPr lang="zh-CN" altLang="en-US" sz="1200" b="1">
                <a:solidFill>
                  <a:srgbClr val="C00000"/>
                </a:solidFill>
              </a:rPr>
              <a:t>1-31</a:t>
            </a:r>
            <a:r>
              <a:rPr lang="zh-CN" altLang="en-US" sz="1200" b="1"/>
              <a:t>过渡段</a:t>
            </a:r>
            <a:r>
              <a:rPr lang="zh-CN" altLang="en-US" sz="1200" b="1">
                <a:solidFill>
                  <a:srgbClr val="C00000"/>
                </a:solidFill>
              </a:rPr>
              <a:t>32</a:t>
            </a:r>
            <a:endParaRPr lang="zh-CN" altLang="en-US" sz="1200" b="1">
              <a:solidFill>
                <a:srgbClr val="C00000"/>
              </a:solidFill>
            </a:endParaRPr>
          </a:p>
          <a:p>
            <a:r>
              <a:rPr lang="zh-CN" altLang="en-US" sz="1200" b="1"/>
              <a:t>钢塔段</a:t>
            </a:r>
            <a:r>
              <a:rPr lang="zh-CN" altLang="en-US" sz="1200" b="1">
                <a:solidFill>
                  <a:srgbClr val="C00000"/>
                </a:solidFill>
              </a:rPr>
              <a:t>33~36。</a:t>
            </a:r>
            <a:endParaRPr lang="zh-CN" altLang="en-US" sz="1200" b="1">
              <a:solidFill>
                <a:srgbClr val="C00000"/>
              </a:solidFill>
            </a:endParaRPr>
          </a:p>
        </p:txBody>
      </p:sp>
      <p:sp>
        <p:nvSpPr>
          <p:cNvPr id="43" name="文本框 42"/>
          <p:cNvSpPr txBox="1"/>
          <p:nvPr/>
        </p:nvSpPr>
        <p:spPr>
          <a:xfrm>
            <a:off x="720725" y="4766310"/>
            <a:ext cx="2945130" cy="429895"/>
          </a:xfrm>
          <a:prstGeom prst="rect">
            <a:avLst/>
          </a:prstGeom>
          <a:noFill/>
        </p:spPr>
        <p:txBody>
          <a:bodyPr wrap="square" rtlCol="0">
            <a:spAutoFit/>
          </a:bodyPr>
          <a:p>
            <a:r>
              <a:rPr lang="zh-CN" altLang="en-US" sz="1100" b="1">
                <a:solidFill>
                  <a:schemeClr val="tx1"/>
                </a:solidFill>
              </a:rPr>
              <a:t>预应力索：</a:t>
            </a:r>
            <a:r>
              <a:rPr lang="zh-CN" altLang="en-US" sz="1100" b="1">
                <a:solidFill>
                  <a:srgbClr val="C00000"/>
                </a:solidFill>
              </a:rPr>
              <a:t>36</a:t>
            </a:r>
            <a:r>
              <a:rPr lang="zh-CN" altLang="en-US" sz="1100" b="1">
                <a:solidFill>
                  <a:schemeClr val="tx1"/>
                </a:solidFill>
              </a:rPr>
              <a:t>束，每束</a:t>
            </a:r>
            <a:r>
              <a:rPr lang="zh-CN" altLang="en-US" sz="1100" b="1">
                <a:solidFill>
                  <a:srgbClr val="C00000"/>
                </a:solidFill>
              </a:rPr>
              <a:t>9</a:t>
            </a:r>
            <a:r>
              <a:rPr lang="zh-CN" altLang="en-US" sz="1100" b="1">
                <a:solidFill>
                  <a:schemeClr val="tx1"/>
                </a:solidFill>
              </a:rPr>
              <a:t>根，公称截面积</a:t>
            </a:r>
            <a:r>
              <a:rPr lang="zh-CN" altLang="en-US" sz="1100" b="1">
                <a:solidFill>
                  <a:srgbClr val="C00000"/>
                </a:solidFill>
              </a:rPr>
              <a:t>140.0 mm²</a:t>
            </a:r>
            <a:r>
              <a:rPr lang="zh-CN" altLang="en-US" sz="1100" b="1">
                <a:solidFill>
                  <a:schemeClr val="tx1"/>
                </a:solidFill>
              </a:rPr>
              <a:t>，</a:t>
            </a:r>
            <a:r>
              <a:rPr lang="zh-CN" altLang="en-US" sz="1100" b="1">
                <a:solidFill>
                  <a:srgbClr val="C00000"/>
                </a:solidFill>
              </a:rPr>
              <a:t>1×7</a:t>
            </a:r>
            <a:r>
              <a:rPr lang="zh-CN" altLang="en-US" sz="1100" b="1">
                <a:solidFill>
                  <a:schemeClr val="tx1"/>
                </a:solidFill>
              </a:rPr>
              <a:t>结构钢绞线。</a:t>
            </a:r>
            <a:endParaRPr lang="zh-CN" altLang="en-US" sz="1100" b="1">
              <a:solidFill>
                <a:srgbClr val="C00000"/>
              </a:solidFill>
            </a:endParaRPr>
          </a:p>
        </p:txBody>
      </p:sp>
      <p:sp>
        <p:nvSpPr>
          <p:cNvPr id="44" name="文本框 43"/>
          <p:cNvSpPr txBox="1"/>
          <p:nvPr/>
        </p:nvSpPr>
        <p:spPr>
          <a:xfrm>
            <a:off x="698500" y="5101590"/>
            <a:ext cx="2945130" cy="260350"/>
          </a:xfrm>
          <a:prstGeom prst="rect">
            <a:avLst/>
          </a:prstGeom>
          <a:noFill/>
        </p:spPr>
        <p:txBody>
          <a:bodyPr wrap="square" rtlCol="0">
            <a:spAutoFit/>
          </a:bodyPr>
          <a:p>
            <a:r>
              <a:rPr lang="zh-CN" altLang="en-US" sz="1100" b="1">
                <a:solidFill>
                  <a:schemeClr val="tx1"/>
                </a:solidFill>
              </a:rPr>
              <a:t>螺栓与螺母：</a:t>
            </a:r>
            <a:r>
              <a:rPr lang="zh-CN" altLang="en-US" sz="1100" b="1">
                <a:solidFill>
                  <a:srgbClr val="C00000"/>
                </a:solidFill>
              </a:rPr>
              <a:t>M45，10.9</a:t>
            </a:r>
            <a:r>
              <a:rPr lang="zh-CN" altLang="en-US" sz="1100" b="1">
                <a:solidFill>
                  <a:schemeClr val="tx1"/>
                </a:solidFill>
              </a:rPr>
              <a:t>级。</a:t>
            </a:r>
            <a:endParaRPr lang="zh-CN" altLang="en-US" sz="1100" b="1">
              <a:solidFill>
                <a:schemeClr val="tx1"/>
              </a:solidFill>
            </a:endParaRPr>
          </a:p>
        </p:txBody>
      </p:sp>
      <p:sp>
        <p:nvSpPr>
          <p:cNvPr id="45" name="文本框 44"/>
          <p:cNvSpPr txBox="1"/>
          <p:nvPr/>
        </p:nvSpPr>
        <p:spPr>
          <a:xfrm>
            <a:off x="698500" y="5850890"/>
            <a:ext cx="3294380" cy="260350"/>
          </a:xfrm>
          <a:prstGeom prst="rect">
            <a:avLst/>
          </a:prstGeom>
          <a:noFill/>
        </p:spPr>
        <p:txBody>
          <a:bodyPr wrap="square" rtlCol="0">
            <a:spAutoFit/>
          </a:bodyPr>
          <a:p>
            <a:r>
              <a:rPr lang="zh-CN" altLang="en-US" sz="1100" b="1">
                <a:solidFill>
                  <a:srgbClr val="C00000"/>
                </a:solidFill>
              </a:rPr>
              <a:t>Q345钢：</a:t>
            </a:r>
            <a:r>
              <a:rPr lang="zh-CN" altLang="en-US" sz="1100" b="1">
                <a:solidFill>
                  <a:schemeClr val="tx1"/>
                </a:solidFill>
              </a:rPr>
              <a:t>屈服强度</a:t>
            </a:r>
            <a:r>
              <a:rPr lang="zh-CN" altLang="en-US" sz="1100" b="1">
                <a:solidFill>
                  <a:srgbClr val="C00000"/>
                </a:solidFill>
              </a:rPr>
              <a:t>345 MPa</a:t>
            </a:r>
            <a:r>
              <a:rPr lang="en-US" altLang="zh-CN" sz="1100" b="1">
                <a:solidFill>
                  <a:srgbClr val="C00000"/>
                </a:solidFill>
              </a:rPr>
              <a:t>,</a:t>
            </a:r>
            <a:r>
              <a:rPr lang="zh-CN" altLang="en-US" sz="1100" b="1">
                <a:solidFill>
                  <a:schemeClr val="tx1"/>
                </a:solidFill>
              </a:rPr>
              <a:t>抗拉强度4</a:t>
            </a:r>
            <a:r>
              <a:rPr lang="zh-CN" altLang="en-US" sz="1100" b="1">
                <a:solidFill>
                  <a:srgbClr val="C00000"/>
                </a:solidFill>
              </a:rPr>
              <a:t>70 MPa.</a:t>
            </a:r>
            <a:endParaRPr lang="zh-CN" altLang="en-US" sz="1100" b="1">
              <a:solidFill>
                <a:srgbClr val="C00000"/>
              </a:solidFill>
            </a:endParaRPr>
          </a:p>
        </p:txBody>
      </p:sp>
      <p:sp>
        <p:nvSpPr>
          <p:cNvPr id="46" name="文本框 45"/>
          <p:cNvSpPr txBox="1"/>
          <p:nvPr/>
        </p:nvSpPr>
        <p:spPr>
          <a:xfrm>
            <a:off x="720725" y="5309870"/>
            <a:ext cx="3048000" cy="598805"/>
          </a:xfrm>
          <a:prstGeom prst="rect">
            <a:avLst/>
          </a:prstGeom>
          <a:noFill/>
        </p:spPr>
        <p:txBody>
          <a:bodyPr wrap="square" rtlCol="0">
            <a:spAutoFit/>
          </a:bodyPr>
          <a:p>
            <a:r>
              <a:rPr lang="zh-CN" altLang="en-US" sz="1100" b="1">
                <a:solidFill>
                  <a:srgbClr val="C00000"/>
                </a:solidFill>
              </a:rPr>
              <a:t>C70</a:t>
            </a:r>
            <a:r>
              <a:rPr lang="zh-CN" altLang="en-US" sz="1100" b="1"/>
              <a:t>混凝土：抗压强度设计值</a:t>
            </a:r>
            <a:r>
              <a:rPr lang="zh-CN" altLang="en-US" sz="1100" b="1">
                <a:solidFill>
                  <a:srgbClr val="C00000"/>
                </a:solidFill>
              </a:rPr>
              <a:t>31.8MPa</a:t>
            </a:r>
            <a:r>
              <a:rPr lang="zh-CN" altLang="en-US" sz="1100" b="1"/>
              <a:t>.标准值</a:t>
            </a:r>
            <a:r>
              <a:rPr lang="zh-CN" altLang="en-US" sz="1100" b="1">
                <a:solidFill>
                  <a:srgbClr val="C00000"/>
                </a:solidFill>
              </a:rPr>
              <a:t>44.5MPa：</a:t>
            </a:r>
            <a:r>
              <a:rPr lang="zh-CN" altLang="en-US" sz="1100" b="1"/>
              <a:t>抗拉强度设计值</a:t>
            </a:r>
            <a:r>
              <a:rPr lang="zh-CN" altLang="en-US" sz="1100" b="1">
                <a:solidFill>
                  <a:srgbClr val="C00000"/>
                </a:solidFill>
              </a:rPr>
              <a:t>2.14 MPa</a:t>
            </a:r>
            <a:r>
              <a:rPr lang="zh-CN" altLang="en-US" sz="1100" b="1"/>
              <a:t>，标准值</a:t>
            </a:r>
            <a:r>
              <a:rPr lang="zh-CN" altLang="en-US" sz="1100" b="1">
                <a:solidFill>
                  <a:srgbClr val="C00000"/>
                </a:solidFill>
              </a:rPr>
              <a:t>2.99 MPa：</a:t>
            </a:r>
            <a:r>
              <a:rPr lang="zh-CN" altLang="en-US" sz="1100" b="1"/>
              <a:t>极限压应变</a:t>
            </a:r>
            <a:r>
              <a:rPr lang="zh-CN" altLang="en-US" sz="1100" b="1">
                <a:solidFill>
                  <a:srgbClr val="C00000"/>
                </a:solidFill>
              </a:rPr>
              <a:t>0.0033</a:t>
            </a:r>
            <a:r>
              <a:rPr lang="zh-CN" altLang="en-US" sz="1100" b="1"/>
              <a:t>。</a:t>
            </a:r>
            <a:endParaRPr lang="zh-CN" altLang="en-US" sz="1100" b="1"/>
          </a:p>
        </p:txBody>
      </p:sp>
      <p:graphicFrame>
        <p:nvGraphicFramePr>
          <p:cNvPr id="48" name="表格 47"/>
          <p:cNvGraphicFramePr/>
          <p:nvPr>
            <p:custDataLst>
              <p:tags r:id="rId7"/>
            </p:custDataLst>
          </p:nvPr>
        </p:nvGraphicFramePr>
        <p:xfrm>
          <a:off x="3798570" y="1821815"/>
          <a:ext cx="3775075" cy="4658995"/>
        </p:xfrm>
        <a:graphic>
          <a:graphicData uri="http://schemas.openxmlformats.org/drawingml/2006/table">
            <a:tbl>
              <a:tblPr firstRow="1" bandRow="1">
                <a:tableStyleId>{5C22544A-7EE6-4342-B048-85BDC9FD1C3A}</a:tableStyleId>
              </a:tblPr>
              <a:tblGrid>
                <a:gridCol w="1446530"/>
                <a:gridCol w="1119505"/>
                <a:gridCol w="1209040"/>
              </a:tblGrid>
              <a:tr h="198120">
                <a:tc>
                  <a:txBody>
                    <a:bodyPr/>
                    <a:p>
                      <a:pPr>
                        <a:buNone/>
                      </a:pPr>
                      <a:r>
                        <a:rPr lang="zh-CN" altLang="en-US" sz="700">
                          <a:latin typeface="微软雅黑" panose="020B0503020204020204" charset="-122"/>
                          <a:ea typeface="微软雅黑" panose="020B0503020204020204" charset="-122"/>
                        </a:rPr>
                        <a:t>部件名称</a:t>
                      </a:r>
                      <a:endParaRPr lang="zh-CN" altLang="en-US" sz="700">
                        <a:latin typeface="微软雅黑" panose="020B0503020204020204" charset="-122"/>
                        <a:ea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rPr>
                        <a:t>参数</a:t>
                      </a:r>
                      <a:endParaRPr lang="zh-CN" altLang="en-US" sz="700">
                        <a:latin typeface="微软雅黑" panose="020B0503020204020204" charset="-122"/>
                        <a:ea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rPr>
                        <a:t>数值</a:t>
                      </a:r>
                      <a:endParaRPr lang="zh-CN" altLang="en-US" sz="700">
                        <a:latin typeface="微软雅黑" panose="020B0503020204020204" charset="-122"/>
                        <a:ea typeface="微软雅黑" panose="020B0503020204020204" charset="-122"/>
                      </a:endParaRPr>
                    </a:p>
                  </a:txBody>
                  <a:tcPr/>
                </a:tc>
              </a:tr>
              <a:tr h="198120">
                <a:tc rowSpan="5">
                  <a:txBody>
                    <a:bodyPr/>
                    <a:p>
                      <a:pPr algn="ctr">
                        <a:buNone/>
                      </a:pPr>
                      <a:endParaRPr lang="zh-CN" altLang="en-US" sz="700">
                        <a:latin typeface="微软雅黑" panose="020B0503020204020204" charset="-122"/>
                        <a:ea typeface="微软雅黑" panose="020B0503020204020204" charset="-122"/>
                        <a:cs typeface="微软雅黑" panose="020B0503020204020204" charset="-122"/>
                      </a:endParaRPr>
                    </a:p>
                    <a:p>
                      <a:pPr algn="ctr">
                        <a:buNone/>
                      </a:pPr>
                      <a:endParaRPr lang="zh-CN" altLang="en-US" sz="700">
                        <a:latin typeface="微软雅黑" panose="020B0503020204020204" charset="-122"/>
                        <a:ea typeface="微软雅黑" panose="020B0503020204020204" charset="-122"/>
                        <a:cs typeface="微软雅黑" panose="020B0503020204020204" charset="-122"/>
                      </a:endParaRPr>
                    </a:p>
                    <a:p>
                      <a:pPr algn="ctr">
                        <a:buNone/>
                      </a:pPr>
                      <a:r>
                        <a:rPr lang="zh-CN" altLang="en-US" sz="700">
                          <a:latin typeface="微软雅黑" panose="020B0503020204020204" charset="-122"/>
                          <a:ea typeface="微软雅黑" panose="020B0503020204020204" charset="-122"/>
                          <a:cs typeface="微软雅黑" panose="020B0503020204020204" charset="-122"/>
                        </a:rPr>
                        <a:t>叶轮</a:t>
                      </a:r>
                      <a:r>
                        <a:rPr lang="en-US" altLang="zh-CN" sz="700">
                          <a:latin typeface="微软雅黑" panose="020B0503020204020204" charset="-122"/>
                          <a:ea typeface="微软雅黑" panose="020B0503020204020204" charset="-122"/>
                          <a:cs typeface="微软雅黑" panose="020B0503020204020204" charset="-122"/>
                        </a:rPr>
                        <a:t>-</a:t>
                      </a:r>
                      <a:r>
                        <a:rPr lang="zh-CN" altLang="en-US" sz="700">
                          <a:latin typeface="微软雅黑" panose="020B0503020204020204" charset="-122"/>
                          <a:ea typeface="微软雅黑" panose="020B0503020204020204" charset="-122"/>
                          <a:cs typeface="微软雅黑" panose="020B0503020204020204" charset="-122"/>
                        </a:rPr>
                        <a:t>机舱</a:t>
                      </a:r>
                      <a:endParaRPr lang="zh-CN" altLang="en-US"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rPr>
                        <a:t>叶轮结构形式</a:t>
                      </a:r>
                      <a:endParaRPr lang="zh-CN" altLang="en-US" sz="700">
                        <a:latin typeface="微软雅黑" panose="020B0503020204020204" charset="-122"/>
                        <a:ea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rPr>
                        <a:t>迎风式，三叶片</a:t>
                      </a:r>
                      <a:endParaRPr lang="zh-CN" altLang="en-US"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叶轮直径（</a:t>
                      </a:r>
                      <a:r>
                        <a:rPr lang="en-US" altLang="zh-CN" sz="700">
                          <a:latin typeface="微软雅黑" panose="020B0503020204020204" charset="-122"/>
                          <a:ea typeface="微软雅黑" panose="020B0503020204020204" charset="-122"/>
                          <a:cs typeface="微软雅黑" panose="020B0503020204020204" charset="-122"/>
                        </a:rPr>
                        <a:t>m</a:t>
                      </a:r>
                      <a:r>
                        <a:rPr lang="zh-CN" altLang="en-US" sz="700">
                          <a:latin typeface="微软雅黑" panose="020B0503020204020204" charset="-122"/>
                          <a:ea typeface="微软雅黑" panose="020B0503020204020204" charset="-122"/>
                          <a:cs typeface="微软雅黑" panose="020B0503020204020204" charset="-122"/>
                        </a:rPr>
                        <a:t>）</a:t>
                      </a:r>
                      <a:endParaRPr lang="zh-CN" altLang="en-US"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126</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轮毂直径（</a:t>
                      </a:r>
                      <a:r>
                        <a:rPr lang="en-US" altLang="zh-CN" sz="700">
                          <a:latin typeface="微软雅黑" panose="020B0503020204020204" charset="-122"/>
                          <a:ea typeface="微软雅黑" panose="020B0503020204020204" charset="-122"/>
                          <a:cs typeface="微软雅黑" panose="020B0503020204020204" charset="-122"/>
                        </a:rPr>
                        <a:t>m</a:t>
                      </a:r>
                      <a:r>
                        <a:rPr lang="zh-CN" altLang="en-US" sz="700">
                          <a:latin typeface="微软雅黑" panose="020B0503020204020204" charset="-122"/>
                          <a:ea typeface="微软雅黑" panose="020B0503020204020204" charset="-122"/>
                          <a:cs typeface="微软雅黑" panose="020B0503020204020204" charset="-122"/>
                        </a:rPr>
                        <a:t>）</a:t>
                      </a:r>
                      <a:endParaRPr lang="zh-CN" altLang="en-US"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160</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额定风速（</a:t>
                      </a:r>
                      <a:r>
                        <a:rPr lang="en-US" altLang="zh-CN" sz="700">
                          <a:latin typeface="微软雅黑" panose="020B0503020204020204" charset="-122"/>
                          <a:ea typeface="微软雅黑" panose="020B0503020204020204" charset="-122"/>
                          <a:cs typeface="微软雅黑" panose="020B0503020204020204" charset="-122"/>
                        </a:rPr>
                        <a:t>m/s</a:t>
                      </a:r>
                      <a:r>
                        <a:rPr lang="zh-CN" altLang="en-US" sz="700">
                          <a:latin typeface="微软雅黑" panose="020B0503020204020204" charset="-122"/>
                          <a:ea typeface="微软雅黑" panose="020B0503020204020204" charset="-122"/>
                          <a:cs typeface="微软雅黑" panose="020B0503020204020204" charset="-122"/>
                        </a:rPr>
                        <a:t>）</a:t>
                      </a:r>
                      <a:endParaRPr lang="zh-CN" altLang="en-US"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12</a:t>
                      </a:r>
                      <a:endParaRPr lang="en-US" altLang="zh-CN" sz="700">
                        <a:latin typeface="微软雅黑" panose="020B0503020204020204" charset="-122"/>
                        <a:ea typeface="微软雅黑" panose="020B0503020204020204" charset="-122"/>
                      </a:endParaRPr>
                    </a:p>
                  </a:txBody>
                  <a:tcPr/>
                </a:tc>
              </a:tr>
              <a:tr h="266065">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额定叶轮转速（</a:t>
                      </a:r>
                      <a:r>
                        <a:rPr lang="en-US" altLang="zh-CN" sz="700">
                          <a:latin typeface="微软雅黑" panose="020B0503020204020204" charset="-122"/>
                          <a:ea typeface="微软雅黑" panose="020B0503020204020204" charset="-122"/>
                          <a:cs typeface="微软雅黑" panose="020B0503020204020204" charset="-122"/>
                        </a:rPr>
                        <a:t>r/min</a:t>
                      </a:r>
                      <a:r>
                        <a:rPr lang="zh-CN" altLang="en-US" sz="700">
                          <a:latin typeface="微软雅黑" panose="020B0503020204020204" charset="-122"/>
                          <a:ea typeface="微软雅黑" panose="020B0503020204020204" charset="-122"/>
                          <a:cs typeface="微软雅黑" panose="020B0503020204020204" charset="-122"/>
                        </a:rPr>
                        <a:t>）</a:t>
                      </a:r>
                      <a:endParaRPr lang="zh-CN" altLang="en-US"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12.1</a:t>
                      </a:r>
                      <a:endParaRPr lang="en-US" altLang="zh-CN" sz="700">
                        <a:latin typeface="微软雅黑" panose="020B0503020204020204" charset="-122"/>
                        <a:ea typeface="微软雅黑" panose="020B0503020204020204" charset="-122"/>
                      </a:endParaRPr>
                    </a:p>
                  </a:txBody>
                  <a:tcPr/>
                </a:tc>
              </a:tr>
              <a:tr h="198120">
                <a:tc rowSpan="5">
                  <a:txBody>
                    <a:bodyPr/>
                    <a:p>
                      <a:pPr>
                        <a:buNone/>
                      </a:pPr>
                      <a:r>
                        <a:rPr lang="en-US" altLang="zh-CN" sz="700">
                          <a:latin typeface="微软雅黑" panose="020B0503020204020204" charset="-122"/>
                          <a:ea typeface="微软雅黑" panose="020B0503020204020204" charset="-122"/>
                          <a:cs typeface="微软雅黑" panose="020B0503020204020204" charset="-122"/>
                        </a:rPr>
                        <a:t>   </a:t>
                      </a:r>
                      <a:endParaRPr lang="en-US" altLang="zh-CN" sz="700">
                        <a:latin typeface="微软雅黑" panose="020B0503020204020204" charset="-122"/>
                        <a:ea typeface="微软雅黑" panose="020B0503020204020204" charset="-122"/>
                        <a:cs typeface="微软雅黑" panose="020B0503020204020204" charset="-122"/>
                      </a:endParaRPr>
                    </a:p>
                    <a:p>
                      <a:pPr>
                        <a:buNone/>
                      </a:pPr>
                      <a:endParaRPr lang="en-US" altLang="zh-CN" sz="700">
                        <a:latin typeface="微软雅黑" panose="020B0503020204020204" charset="-122"/>
                        <a:ea typeface="微软雅黑" panose="020B0503020204020204" charset="-122"/>
                        <a:cs typeface="微软雅黑" panose="020B0503020204020204" charset="-122"/>
                      </a:endParaRPr>
                    </a:p>
                    <a:p>
                      <a:pPr>
                        <a:buNone/>
                      </a:pPr>
                      <a:endParaRPr lang="en-US" altLang="zh-CN" sz="700">
                        <a:latin typeface="微软雅黑" panose="020B0503020204020204" charset="-122"/>
                        <a:ea typeface="微软雅黑" panose="020B0503020204020204" charset="-122"/>
                        <a:cs typeface="微软雅黑" panose="020B0503020204020204" charset="-122"/>
                      </a:endParaRPr>
                    </a:p>
                    <a:p>
                      <a:pPr>
                        <a:buNone/>
                      </a:pPr>
                      <a:endParaRPr lang="en-US" altLang="zh-CN" sz="700">
                        <a:latin typeface="微软雅黑" panose="020B0503020204020204" charset="-122"/>
                        <a:ea typeface="微软雅黑" panose="020B0503020204020204" charset="-122"/>
                        <a:cs typeface="微软雅黑" panose="020B0503020204020204" charset="-122"/>
                      </a:endParaRPr>
                    </a:p>
                    <a:p>
                      <a:pPr algn="ctr">
                        <a:buNone/>
                      </a:pPr>
                      <a:r>
                        <a:rPr lang="zh-CN" altLang="en-US" sz="700">
                          <a:latin typeface="微软雅黑" panose="020B0503020204020204" charset="-122"/>
                          <a:ea typeface="微软雅黑" panose="020B0503020204020204" charset="-122"/>
                          <a:cs typeface="微软雅黑" panose="020B0503020204020204" charset="-122"/>
                        </a:rPr>
                        <a:t>混凝土塔段</a:t>
                      </a:r>
                      <a:endParaRPr lang="zh-CN" altLang="en-US"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高度</a:t>
                      </a:r>
                      <a:r>
                        <a:rPr lang="en-US" altLang="zh-CN" sz="700">
                          <a:latin typeface="微软雅黑" panose="020B0503020204020204" charset="-122"/>
                          <a:ea typeface="微软雅黑" panose="020B0503020204020204" charset="-122"/>
                          <a:cs typeface="微软雅黑" panose="020B0503020204020204" charset="-122"/>
                        </a:rPr>
                        <a:t>(m)</a:t>
                      </a:r>
                      <a:endParaRPr lang="en-US" altLang="zh-CN"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112.0</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rPr>
                        <a:t>塔节数量</a:t>
                      </a:r>
                      <a:endParaRPr lang="zh-CN" altLang="en-US" sz="700">
                        <a:latin typeface="微软雅黑" panose="020B0503020204020204" charset="-122"/>
                        <a:ea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31</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顶部直径</a:t>
                      </a:r>
                      <a:r>
                        <a:rPr lang="en-US" altLang="zh-CN" sz="700">
                          <a:latin typeface="微软雅黑" panose="020B0503020204020204" charset="-122"/>
                          <a:ea typeface="微软雅黑" panose="020B0503020204020204" charset="-122"/>
                          <a:cs typeface="微软雅黑" panose="020B0503020204020204" charset="-122"/>
                        </a:rPr>
                        <a:t>(m)</a:t>
                      </a:r>
                      <a:endParaRPr lang="en-US" altLang="zh-CN"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4.7</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底部直径</a:t>
                      </a:r>
                      <a:r>
                        <a:rPr lang="en-US" altLang="zh-CN" sz="700">
                          <a:latin typeface="微软雅黑" panose="020B0503020204020204" charset="-122"/>
                          <a:ea typeface="微软雅黑" panose="020B0503020204020204" charset="-122"/>
                          <a:cs typeface="微软雅黑" panose="020B0503020204020204" charset="-122"/>
                        </a:rPr>
                        <a:t>(m)</a:t>
                      </a:r>
                      <a:endParaRPr lang="en-US" altLang="zh-CN"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8.3</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rPr>
                        <a:t>材料</a:t>
                      </a:r>
                      <a:endParaRPr lang="zh-CN" altLang="en-US" sz="700">
                        <a:latin typeface="微软雅黑" panose="020B0503020204020204" charset="-122"/>
                        <a:ea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C70</a:t>
                      </a:r>
                      <a:endParaRPr lang="en-US" altLang="zh-CN" sz="700">
                        <a:latin typeface="微软雅黑" panose="020B0503020204020204" charset="-122"/>
                        <a:ea typeface="微软雅黑" panose="020B0503020204020204" charset="-122"/>
                      </a:endParaRPr>
                    </a:p>
                  </a:txBody>
                  <a:tcPr/>
                </a:tc>
              </a:tr>
              <a:tr h="198120">
                <a:tc rowSpan="2">
                  <a:txBody>
                    <a:bodyPr/>
                    <a:p>
                      <a:pPr algn="ctr">
                        <a:buNone/>
                      </a:pPr>
                      <a:endParaRPr lang="zh-CN" altLang="en-US" sz="700">
                        <a:latin typeface="微软雅黑" panose="020B0503020204020204" charset="-122"/>
                        <a:ea typeface="微软雅黑" panose="020B0503020204020204" charset="-122"/>
                      </a:endParaRPr>
                    </a:p>
                    <a:p>
                      <a:pPr algn="ctr">
                        <a:buNone/>
                      </a:pPr>
                      <a:r>
                        <a:rPr lang="zh-CN" altLang="en-US" sz="700">
                          <a:latin typeface="微软雅黑" panose="020B0503020204020204" charset="-122"/>
                          <a:ea typeface="微软雅黑" panose="020B0503020204020204" charset="-122"/>
                        </a:rPr>
                        <a:t>过渡段</a:t>
                      </a:r>
                      <a:endParaRPr lang="zh-CN" altLang="en-US" sz="700">
                        <a:latin typeface="微软雅黑" panose="020B0503020204020204" charset="-122"/>
                        <a:ea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高度</a:t>
                      </a:r>
                      <a:r>
                        <a:rPr lang="en-US" altLang="zh-CN" sz="700">
                          <a:latin typeface="微软雅黑" panose="020B0503020204020204" charset="-122"/>
                          <a:ea typeface="微软雅黑" panose="020B0503020204020204" charset="-122"/>
                          <a:cs typeface="微软雅黑" panose="020B0503020204020204" charset="-122"/>
                        </a:rPr>
                        <a:t>(m)</a:t>
                      </a:r>
                      <a:endParaRPr lang="en-US" altLang="zh-CN"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1.5</a:t>
                      </a:r>
                      <a:endParaRPr lang="en-US" altLang="zh-CN" sz="700">
                        <a:latin typeface="微软雅黑" panose="020B0503020204020204" charset="-122"/>
                        <a:ea typeface="微软雅黑" panose="020B0503020204020204" charset="-122"/>
                      </a:endParaRPr>
                    </a:p>
                  </a:txBody>
                  <a:tcPr/>
                </a:tc>
              </a:tr>
              <a:tr h="201930">
                <a:tc vMerge="1">
                  <a:tcPr/>
                </a:tc>
                <a:tc>
                  <a:txBody>
                    <a:bodyPr/>
                    <a:p>
                      <a:pPr>
                        <a:buNone/>
                      </a:pPr>
                      <a:r>
                        <a:rPr lang="zh-CN" altLang="en-US" sz="700">
                          <a:latin typeface="微软雅黑" panose="020B0503020204020204" charset="-122"/>
                          <a:ea typeface="微软雅黑" panose="020B0503020204020204" charset="-122"/>
                        </a:rPr>
                        <a:t>材料</a:t>
                      </a:r>
                      <a:endParaRPr lang="zh-CN" altLang="en-US" sz="700">
                        <a:latin typeface="微软雅黑" panose="020B0503020204020204" charset="-122"/>
                        <a:ea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Q345</a:t>
                      </a:r>
                      <a:endParaRPr lang="en-US" altLang="zh-CN" sz="700">
                        <a:latin typeface="微软雅黑" panose="020B0503020204020204" charset="-122"/>
                        <a:ea typeface="微软雅黑" panose="020B0503020204020204" charset="-122"/>
                      </a:endParaRPr>
                    </a:p>
                  </a:txBody>
                  <a:tcPr/>
                </a:tc>
              </a:tr>
              <a:tr h="198120">
                <a:tc rowSpan="5">
                  <a:txBody>
                    <a:bodyPr/>
                    <a:p>
                      <a:pPr>
                        <a:buNone/>
                      </a:pPr>
                      <a:r>
                        <a:rPr lang="en-US" altLang="zh-CN" sz="700">
                          <a:latin typeface="微软雅黑" panose="020B0503020204020204" charset="-122"/>
                          <a:ea typeface="微软雅黑" panose="020B0503020204020204" charset="-122"/>
                        </a:rPr>
                        <a:t>     </a:t>
                      </a:r>
                      <a:endParaRPr lang="en-US" altLang="zh-CN" sz="700">
                        <a:latin typeface="微软雅黑" panose="020B0503020204020204" charset="-122"/>
                        <a:ea typeface="微软雅黑" panose="020B0503020204020204" charset="-122"/>
                      </a:endParaRPr>
                    </a:p>
                    <a:p>
                      <a:pPr>
                        <a:buNone/>
                      </a:pPr>
                      <a:endParaRPr lang="en-US" altLang="zh-CN" sz="700">
                        <a:latin typeface="微软雅黑" panose="020B0503020204020204" charset="-122"/>
                        <a:ea typeface="微软雅黑" panose="020B0503020204020204" charset="-122"/>
                      </a:endParaRPr>
                    </a:p>
                    <a:p>
                      <a:pPr>
                        <a:buNone/>
                      </a:pPr>
                      <a:endParaRPr lang="en-US" altLang="zh-CN" sz="700">
                        <a:latin typeface="微软雅黑" panose="020B0503020204020204" charset="-122"/>
                        <a:ea typeface="微软雅黑" panose="020B0503020204020204" charset="-122"/>
                      </a:endParaRPr>
                    </a:p>
                    <a:p>
                      <a:pPr algn="ctr">
                        <a:buNone/>
                      </a:pPr>
                      <a:r>
                        <a:rPr lang="zh-CN" altLang="en-US" sz="700">
                          <a:latin typeface="微软雅黑" panose="020B0503020204020204" charset="-122"/>
                          <a:ea typeface="微软雅黑" panose="020B0503020204020204" charset="-122"/>
                        </a:rPr>
                        <a:t>钢塔段</a:t>
                      </a:r>
                      <a:endParaRPr lang="zh-CN" altLang="en-US" sz="700">
                        <a:latin typeface="微软雅黑" panose="020B0503020204020204" charset="-122"/>
                        <a:ea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高度</a:t>
                      </a:r>
                      <a:r>
                        <a:rPr lang="en-US" altLang="zh-CN" sz="700">
                          <a:latin typeface="微软雅黑" panose="020B0503020204020204" charset="-122"/>
                          <a:ea typeface="微软雅黑" panose="020B0503020204020204" charset="-122"/>
                          <a:cs typeface="微软雅黑" panose="020B0503020204020204" charset="-122"/>
                        </a:rPr>
                        <a:t>(m)</a:t>
                      </a:r>
                      <a:endParaRPr lang="en-US" altLang="zh-CN"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43.8</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sym typeface="+mn-ea"/>
                        </a:rPr>
                        <a:t>塔节数量</a:t>
                      </a:r>
                      <a:endParaRPr lang="zh-CN" altLang="en-US" sz="700">
                        <a:latin typeface="微软雅黑" panose="020B0503020204020204" charset="-122"/>
                        <a:ea typeface="微软雅黑" panose="020B0503020204020204" charset="-122"/>
                        <a:sym typeface="+mn-ea"/>
                      </a:endParaRPr>
                    </a:p>
                  </a:txBody>
                  <a:tcPr/>
                </a:tc>
                <a:tc>
                  <a:txBody>
                    <a:bodyPr/>
                    <a:p>
                      <a:pPr>
                        <a:buNone/>
                      </a:pPr>
                      <a:r>
                        <a:rPr lang="en-US" altLang="zh-CN" sz="700">
                          <a:latin typeface="微软雅黑" panose="020B0503020204020204" charset="-122"/>
                          <a:ea typeface="微软雅黑" panose="020B0503020204020204" charset="-122"/>
                        </a:rPr>
                        <a:t>4</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sym typeface="+mn-ea"/>
                        </a:rPr>
                        <a:t>顶部直径</a:t>
                      </a:r>
                      <a:r>
                        <a:rPr lang="en-US" altLang="zh-CN" sz="700">
                          <a:latin typeface="微软雅黑" panose="020B0503020204020204" charset="-122"/>
                          <a:ea typeface="微软雅黑" panose="020B0503020204020204" charset="-122"/>
                          <a:cs typeface="微软雅黑" panose="020B0503020204020204" charset="-122"/>
                          <a:sym typeface="+mn-ea"/>
                        </a:rPr>
                        <a:t>(m)</a:t>
                      </a:r>
                      <a:endParaRPr lang="zh-CN" altLang="en-US" sz="700">
                        <a:latin typeface="微软雅黑" panose="020B0503020204020204" charset="-122"/>
                        <a:ea typeface="微软雅黑" panose="020B0503020204020204" charset="-122"/>
                        <a:cs typeface="微软雅黑" panose="020B0503020204020204" charset="-122"/>
                        <a:sym typeface="+mn-ea"/>
                      </a:endParaRPr>
                    </a:p>
                  </a:txBody>
                  <a:tcPr/>
                </a:tc>
                <a:tc>
                  <a:txBody>
                    <a:bodyPr/>
                    <a:p>
                      <a:pPr>
                        <a:buNone/>
                      </a:pPr>
                      <a:r>
                        <a:rPr lang="en-US" altLang="zh-CN" sz="700">
                          <a:latin typeface="微软雅黑" panose="020B0503020204020204" charset="-122"/>
                          <a:ea typeface="微软雅黑" panose="020B0503020204020204" charset="-122"/>
                        </a:rPr>
                        <a:t>3.4</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sym typeface="+mn-ea"/>
                        </a:rPr>
                        <a:t>底部直径</a:t>
                      </a:r>
                      <a:r>
                        <a:rPr lang="en-US" altLang="zh-CN" sz="700">
                          <a:latin typeface="微软雅黑" panose="020B0503020204020204" charset="-122"/>
                          <a:ea typeface="微软雅黑" panose="020B0503020204020204" charset="-122"/>
                          <a:cs typeface="微软雅黑" panose="020B0503020204020204" charset="-122"/>
                          <a:sym typeface="+mn-ea"/>
                        </a:rPr>
                        <a:t>(m)</a:t>
                      </a:r>
                      <a:endParaRPr lang="zh-CN" altLang="en-US" sz="700">
                        <a:latin typeface="微软雅黑" panose="020B0503020204020204" charset="-122"/>
                        <a:ea typeface="微软雅黑" panose="020B0503020204020204" charset="-122"/>
                        <a:cs typeface="微软雅黑" panose="020B0503020204020204" charset="-122"/>
                        <a:sym typeface="+mn-ea"/>
                      </a:endParaRPr>
                    </a:p>
                  </a:txBody>
                  <a:tcPr/>
                </a:tc>
                <a:tc>
                  <a:txBody>
                    <a:bodyPr/>
                    <a:p>
                      <a:pPr>
                        <a:buNone/>
                      </a:pPr>
                      <a:r>
                        <a:rPr lang="en-US" altLang="zh-CN" sz="700">
                          <a:latin typeface="微软雅黑" panose="020B0503020204020204" charset="-122"/>
                          <a:ea typeface="微软雅黑" panose="020B0503020204020204" charset="-122"/>
                        </a:rPr>
                        <a:t>4.5</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sym typeface="+mn-ea"/>
                        </a:rPr>
                        <a:t>材料</a:t>
                      </a:r>
                      <a:endParaRPr lang="zh-CN" altLang="en-US" sz="700">
                        <a:latin typeface="微软雅黑" panose="020B0503020204020204" charset="-122"/>
                        <a:ea typeface="微软雅黑" panose="020B0503020204020204" charset="-122"/>
                        <a:sym typeface="+mn-ea"/>
                      </a:endParaRPr>
                    </a:p>
                  </a:txBody>
                  <a:tcPr/>
                </a:tc>
                <a:tc>
                  <a:txBody>
                    <a:bodyPr/>
                    <a:p>
                      <a:pPr>
                        <a:buNone/>
                      </a:pPr>
                      <a:r>
                        <a:rPr lang="en-US" altLang="zh-CN" sz="700">
                          <a:latin typeface="微软雅黑" panose="020B0503020204020204" charset="-122"/>
                          <a:ea typeface="微软雅黑" panose="020B0503020204020204" charset="-122"/>
                        </a:rPr>
                        <a:t>Q345</a:t>
                      </a:r>
                      <a:endParaRPr lang="en-US" altLang="zh-CN" sz="700">
                        <a:latin typeface="微软雅黑" panose="020B0503020204020204" charset="-122"/>
                        <a:ea typeface="微软雅黑" panose="020B0503020204020204" charset="-122"/>
                      </a:endParaRPr>
                    </a:p>
                  </a:txBody>
                  <a:tcPr/>
                </a:tc>
              </a:tr>
              <a:tr h="198120">
                <a:tc rowSpan="3">
                  <a:txBody>
                    <a:bodyPr/>
                    <a:p>
                      <a:pPr>
                        <a:buNone/>
                      </a:pPr>
                      <a:endParaRPr lang="zh-CN" altLang="en-US" sz="700">
                        <a:latin typeface="微软雅黑" panose="020B0503020204020204" charset="-122"/>
                        <a:ea typeface="微软雅黑" panose="020B0503020204020204" charset="-122"/>
                      </a:endParaRPr>
                    </a:p>
                    <a:p>
                      <a:pPr>
                        <a:buNone/>
                      </a:pPr>
                      <a:endParaRPr lang="zh-CN" altLang="en-US" sz="700">
                        <a:latin typeface="微软雅黑" panose="020B0503020204020204" charset="-122"/>
                        <a:ea typeface="微软雅黑" panose="020B0503020204020204" charset="-122"/>
                      </a:endParaRPr>
                    </a:p>
                    <a:p>
                      <a:pPr algn="ctr">
                        <a:buNone/>
                      </a:pPr>
                      <a:r>
                        <a:rPr lang="zh-CN" altLang="en-US" sz="700">
                          <a:latin typeface="微软雅黑" panose="020B0503020204020204" charset="-122"/>
                          <a:ea typeface="微软雅黑" panose="020B0503020204020204" charset="-122"/>
                        </a:rPr>
                        <a:t>预应力</a:t>
                      </a:r>
                      <a:r>
                        <a:rPr lang="zh-CN" altLang="en-US" sz="700">
                          <a:latin typeface="微软雅黑" panose="020B0503020204020204" charset="-122"/>
                          <a:ea typeface="微软雅黑" panose="020B0503020204020204" charset="-122"/>
                        </a:rPr>
                        <a:t>索</a:t>
                      </a:r>
                      <a:endParaRPr lang="zh-CN" altLang="en-US" sz="700">
                        <a:latin typeface="微软雅黑" panose="020B0503020204020204" charset="-122"/>
                        <a:ea typeface="微软雅黑" panose="020B0503020204020204" charset="-122"/>
                      </a:endParaRPr>
                    </a:p>
                    <a:p>
                      <a:pPr>
                        <a:buNone/>
                      </a:pPr>
                      <a:endParaRPr lang="zh-CN" altLang="en-US" sz="700">
                        <a:latin typeface="微软雅黑" panose="020B0503020204020204" charset="-122"/>
                        <a:ea typeface="微软雅黑" panose="020B0503020204020204" charset="-122"/>
                      </a:endParaRPr>
                    </a:p>
                    <a:p>
                      <a:pPr>
                        <a:buNone/>
                      </a:pPr>
                      <a:endParaRPr lang="zh-CN" altLang="en-US" sz="700">
                        <a:latin typeface="微软雅黑" panose="020B0503020204020204" charset="-122"/>
                        <a:ea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rPr>
                        <a:t>数量</a:t>
                      </a:r>
                      <a:endParaRPr lang="zh-CN" altLang="en-US" sz="700">
                        <a:latin typeface="微软雅黑" panose="020B0503020204020204" charset="-122"/>
                        <a:ea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cs typeface="微软雅黑" panose="020B0503020204020204" charset="-122"/>
                        </a:rPr>
                        <a:t>36</a:t>
                      </a:r>
                      <a:r>
                        <a:rPr lang="zh-CN" altLang="en-US" sz="700">
                          <a:latin typeface="微软雅黑" panose="020B0503020204020204" charset="-122"/>
                          <a:ea typeface="微软雅黑" panose="020B0503020204020204" charset="-122"/>
                          <a:cs typeface="微软雅黑" panose="020B0503020204020204" charset="-122"/>
                        </a:rPr>
                        <a:t>束，每束</a:t>
                      </a:r>
                      <a:r>
                        <a:rPr lang="en-US" altLang="zh-CN" sz="700">
                          <a:latin typeface="微软雅黑" panose="020B0503020204020204" charset="-122"/>
                          <a:ea typeface="微软雅黑" panose="020B0503020204020204" charset="-122"/>
                          <a:cs typeface="微软雅黑" panose="020B0503020204020204" charset="-122"/>
                        </a:rPr>
                        <a:t>9</a:t>
                      </a:r>
                      <a:r>
                        <a:rPr lang="zh-CN" altLang="en-US" sz="700">
                          <a:latin typeface="微软雅黑" panose="020B0503020204020204" charset="-122"/>
                          <a:ea typeface="微软雅黑" panose="020B0503020204020204" charset="-122"/>
                          <a:cs typeface="微软雅黑" panose="020B0503020204020204" charset="-122"/>
                        </a:rPr>
                        <a:t>根</a:t>
                      </a:r>
                      <a:endParaRPr lang="en-US" altLang="zh-CN" sz="700">
                        <a:latin typeface="微软雅黑" panose="020B0503020204020204" charset="-122"/>
                        <a:ea typeface="微软雅黑" panose="020B0503020204020204" charset="-122"/>
                        <a:cs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cs typeface="微软雅黑" panose="020B0503020204020204" charset="-122"/>
                        </a:rPr>
                        <a:t>公称截面积</a:t>
                      </a:r>
                      <a:r>
                        <a:rPr lang="en-US" altLang="zh-CN" sz="700">
                          <a:latin typeface="微软雅黑" panose="020B0503020204020204" charset="-122"/>
                          <a:ea typeface="微软雅黑" panose="020B0503020204020204" charset="-122"/>
                          <a:cs typeface="微软雅黑" panose="020B0503020204020204" charset="-122"/>
                        </a:rPr>
                        <a:t>(mm</a:t>
                      </a:r>
                      <a:r>
                        <a:rPr lang="en-US" altLang="zh-CN" sz="700" baseline="30000">
                          <a:latin typeface="微软雅黑" panose="020B0503020204020204" charset="-122"/>
                          <a:ea typeface="微软雅黑" panose="020B0503020204020204" charset="-122"/>
                          <a:cs typeface="微软雅黑" panose="020B0503020204020204" charset="-122"/>
                        </a:rPr>
                        <a:t>2</a:t>
                      </a:r>
                      <a:r>
                        <a:rPr lang="en-US" altLang="zh-CN" sz="700">
                          <a:latin typeface="微软雅黑" panose="020B0503020204020204" charset="-122"/>
                          <a:ea typeface="微软雅黑" panose="020B0503020204020204" charset="-122"/>
                          <a:cs typeface="微软雅黑" panose="020B0503020204020204" charset="-122"/>
                        </a:rPr>
                        <a:t>)</a:t>
                      </a:r>
                      <a:endParaRPr lang="en-US" altLang="zh-CN" sz="7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140.0</a:t>
                      </a:r>
                      <a:endParaRPr lang="en-US" altLang="zh-CN" sz="700">
                        <a:latin typeface="微软雅黑" panose="020B0503020204020204" charset="-122"/>
                        <a:ea typeface="微软雅黑" panose="020B0503020204020204" charset="-122"/>
                      </a:endParaRPr>
                    </a:p>
                  </a:txBody>
                  <a:tcPr/>
                </a:tc>
              </a:tr>
              <a:tr h="228600">
                <a:tc vMerge="1">
                  <a:tcPr/>
                </a:tc>
                <a:tc>
                  <a:txBody>
                    <a:bodyPr/>
                    <a:p>
                      <a:pPr>
                        <a:buNone/>
                      </a:pPr>
                      <a:r>
                        <a:rPr lang="zh-CN" altLang="en-US" sz="700">
                          <a:latin typeface="微软雅黑" panose="020B0503020204020204" charset="-122"/>
                          <a:ea typeface="微软雅黑" panose="020B0503020204020204" charset="-122"/>
                        </a:rPr>
                        <a:t>材料</a:t>
                      </a:r>
                      <a:endParaRPr lang="zh-CN" altLang="en-US" sz="700">
                        <a:latin typeface="微软雅黑" panose="020B0503020204020204" charset="-122"/>
                        <a:ea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cs typeface="微软雅黑" panose="020B0503020204020204" charset="-122"/>
                        </a:rPr>
                        <a:t>1</a:t>
                      </a:r>
                      <a:r>
                        <a:rPr lang="zh-CN" altLang="en-US" sz="700">
                          <a:latin typeface="微软雅黑" panose="020B0503020204020204" charset="-122"/>
                          <a:ea typeface="微软雅黑" panose="020B0503020204020204" charset="-122"/>
                          <a:cs typeface="微软雅黑" panose="020B0503020204020204" charset="-122"/>
                        </a:rPr>
                        <a:t>×</a:t>
                      </a:r>
                      <a:r>
                        <a:rPr lang="en-US" altLang="zh-CN" sz="700">
                          <a:latin typeface="微软雅黑" panose="020B0503020204020204" charset="-122"/>
                          <a:ea typeface="微软雅黑" panose="020B0503020204020204" charset="-122"/>
                          <a:cs typeface="微软雅黑" panose="020B0503020204020204" charset="-122"/>
                        </a:rPr>
                        <a:t>7</a:t>
                      </a:r>
                      <a:r>
                        <a:rPr lang="zh-CN" altLang="en-US" sz="700">
                          <a:latin typeface="微软雅黑" panose="020B0503020204020204" charset="-122"/>
                          <a:ea typeface="微软雅黑" panose="020B0503020204020204" charset="-122"/>
                          <a:cs typeface="微软雅黑" panose="020B0503020204020204" charset="-122"/>
                        </a:rPr>
                        <a:t>结构钢绞线</a:t>
                      </a:r>
                      <a:endParaRPr lang="zh-CN" altLang="en-US" sz="700">
                        <a:latin typeface="微软雅黑" panose="020B0503020204020204" charset="-122"/>
                        <a:ea typeface="微软雅黑" panose="020B0503020204020204" charset="-122"/>
                        <a:cs typeface="微软雅黑" panose="020B0503020204020204" charset="-122"/>
                      </a:endParaRPr>
                    </a:p>
                  </a:txBody>
                  <a:tcPr/>
                </a:tc>
              </a:tr>
              <a:tr h="198120">
                <a:tc rowSpan="2">
                  <a:txBody>
                    <a:bodyPr/>
                    <a:p>
                      <a:pPr algn="ctr">
                        <a:buNone/>
                      </a:pPr>
                      <a:endParaRPr lang="zh-CN" altLang="en-US" sz="700">
                        <a:latin typeface="微软雅黑" panose="020B0503020204020204" charset="-122"/>
                        <a:ea typeface="微软雅黑" panose="020B0503020204020204" charset="-122"/>
                      </a:endParaRPr>
                    </a:p>
                    <a:p>
                      <a:pPr algn="ctr">
                        <a:buNone/>
                      </a:pPr>
                      <a:r>
                        <a:rPr lang="zh-CN" altLang="en-US" sz="700">
                          <a:latin typeface="微软雅黑" panose="020B0503020204020204" charset="-122"/>
                          <a:ea typeface="微软雅黑" panose="020B0503020204020204" charset="-122"/>
                        </a:rPr>
                        <a:t>螺栓与</a:t>
                      </a:r>
                      <a:r>
                        <a:rPr lang="zh-CN" altLang="en-US" sz="700">
                          <a:latin typeface="微软雅黑" panose="020B0503020204020204" charset="-122"/>
                          <a:ea typeface="微软雅黑" panose="020B0503020204020204" charset="-122"/>
                        </a:rPr>
                        <a:t>螺母</a:t>
                      </a:r>
                      <a:endParaRPr lang="zh-CN" altLang="en-US" sz="700">
                        <a:latin typeface="微软雅黑" panose="020B0503020204020204" charset="-122"/>
                        <a:ea typeface="微软雅黑" panose="020B0503020204020204" charset="-122"/>
                      </a:endParaRPr>
                    </a:p>
                  </a:txBody>
                  <a:tcPr/>
                </a:tc>
                <a:tc>
                  <a:txBody>
                    <a:bodyPr/>
                    <a:p>
                      <a:pPr>
                        <a:buNone/>
                      </a:pPr>
                      <a:r>
                        <a:rPr lang="zh-CN" altLang="en-US" sz="700">
                          <a:latin typeface="微软雅黑" panose="020B0503020204020204" charset="-122"/>
                          <a:ea typeface="微软雅黑" panose="020B0503020204020204" charset="-122"/>
                        </a:rPr>
                        <a:t>螺纹规格</a:t>
                      </a:r>
                      <a:endParaRPr lang="zh-CN" altLang="en-US" sz="700">
                        <a:latin typeface="微软雅黑" panose="020B0503020204020204" charset="-122"/>
                        <a:ea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rPr>
                        <a:t>M45</a:t>
                      </a:r>
                      <a:endParaRPr lang="en-US" altLang="zh-CN" sz="700">
                        <a:latin typeface="微软雅黑" panose="020B0503020204020204" charset="-122"/>
                        <a:ea typeface="微软雅黑" panose="020B0503020204020204" charset="-122"/>
                      </a:endParaRPr>
                    </a:p>
                  </a:txBody>
                  <a:tcPr/>
                </a:tc>
              </a:tr>
              <a:tr h="198120">
                <a:tc vMerge="1">
                  <a:tcPr/>
                </a:tc>
                <a:tc>
                  <a:txBody>
                    <a:bodyPr/>
                    <a:p>
                      <a:pPr>
                        <a:buNone/>
                      </a:pPr>
                      <a:r>
                        <a:rPr lang="zh-CN" altLang="en-US" sz="700">
                          <a:latin typeface="微软雅黑" panose="020B0503020204020204" charset="-122"/>
                          <a:ea typeface="微软雅黑" panose="020B0503020204020204" charset="-122"/>
                        </a:rPr>
                        <a:t>性能等级</a:t>
                      </a:r>
                      <a:endParaRPr lang="zh-CN" altLang="en-US" sz="700">
                        <a:latin typeface="微软雅黑" panose="020B0503020204020204" charset="-122"/>
                        <a:ea typeface="微软雅黑" panose="020B0503020204020204" charset="-122"/>
                      </a:endParaRPr>
                    </a:p>
                  </a:txBody>
                  <a:tcPr/>
                </a:tc>
                <a:tc>
                  <a:txBody>
                    <a:bodyPr/>
                    <a:p>
                      <a:pPr>
                        <a:buNone/>
                      </a:pPr>
                      <a:r>
                        <a:rPr lang="en-US" altLang="zh-CN" sz="700">
                          <a:latin typeface="微软雅黑" panose="020B0503020204020204" charset="-122"/>
                          <a:ea typeface="微软雅黑" panose="020B0503020204020204" charset="-122"/>
                          <a:cs typeface="微软雅黑" panose="020B0503020204020204" charset="-122"/>
                        </a:rPr>
                        <a:t>10.9</a:t>
                      </a:r>
                      <a:r>
                        <a:rPr lang="zh-CN" altLang="en-US" sz="700">
                          <a:latin typeface="微软雅黑" panose="020B0503020204020204" charset="-122"/>
                          <a:ea typeface="微软雅黑" panose="020B0503020204020204" charset="-122"/>
                          <a:cs typeface="微软雅黑" panose="020B0503020204020204" charset="-122"/>
                        </a:rPr>
                        <a:t>级</a:t>
                      </a:r>
                      <a:endParaRPr lang="zh-CN" altLang="en-US" sz="700">
                        <a:latin typeface="微软雅黑" panose="020B0503020204020204" charset="-122"/>
                        <a:ea typeface="微软雅黑" panose="020B0503020204020204" charset="-122"/>
                        <a:cs typeface="微软雅黑" panose="020B0503020204020204" charset="-122"/>
                      </a:endParaRPr>
                    </a:p>
                  </a:txBody>
                  <a:tcPr/>
                </a:tc>
              </a:tr>
            </a:tbl>
          </a:graphicData>
        </a:graphic>
      </p:graphicFrame>
      <p:sp>
        <p:nvSpPr>
          <p:cNvPr id="49" name="文本框 48"/>
          <p:cNvSpPr txBox="1"/>
          <p:nvPr/>
        </p:nvSpPr>
        <p:spPr>
          <a:xfrm>
            <a:off x="4709160" y="1546225"/>
            <a:ext cx="2073910" cy="275590"/>
          </a:xfrm>
          <a:prstGeom prst="rect">
            <a:avLst/>
          </a:prstGeom>
          <a:noFill/>
        </p:spPr>
        <p:txBody>
          <a:bodyPr wrap="square" rtlCol="0">
            <a:spAutoFit/>
          </a:bodyPr>
          <a:p>
            <a:r>
              <a:rPr lang="zh-CN" altLang="en-US" sz="1200" b="1">
                <a:solidFill>
                  <a:srgbClr val="023A8B"/>
                </a:solidFill>
              </a:rPr>
              <a:t>混塔式风电机组关键</a:t>
            </a:r>
            <a:r>
              <a:rPr lang="zh-CN" altLang="en-US" sz="1200" b="1">
                <a:solidFill>
                  <a:srgbClr val="023A8B"/>
                </a:solidFill>
              </a:rPr>
              <a:t>参数</a:t>
            </a:r>
            <a:endParaRPr lang="zh-CN" altLang="en-US" sz="1200" b="1">
              <a:solidFill>
                <a:srgbClr val="023A8B"/>
              </a:solidFill>
            </a:endParaRPr>
          </a:p>
        </p:txBody>
      </p:sp>
      <p:sp>
        <p:nvSpPr>
          <p:cNvPr id="50" name="任意多边形 49"/>
          <p:cNvSpPr/>
          <p:nvPr/>
        </p:nvSpPr>
        <p:spPr>
          <a:xfrm>
            <a:off x="552450" y="3406775"/>
            <a:ext cx="3091180" cy="1030605"/>
          </a:xfrm>
          <a:custGeom>
            <a:avLst/>
            <a:gdLst>
              <a:gd name="connsiteX0" fmla="*/ 1 w 4867"/>
              <a:gd name="connsiteY0" fmla="*/ 189 h 2055"/>
              <a:gd name="connsiteX1" fmla="*/ 224 w 4867"/>
              <a:gd name="connsiteY1" fmla="*/ 0 h 2055"/>
              <a:gd name="connsiteX2" fmla="*/ 4635 w 4867"/>
              <a:gd name="connsiteY2" fmla="*/ 0 h 2055"/>
              <a:gd name="connsiteX3" fmla="*/ 4868 w 4867"/>
              <a:gd name="connsiteY3" fmla="*/ 244 h 2055"/>
              <a:gd name="connsiteX4" fmla="*/ 4868 w 4867"/>
              <a:gd name="connsiteY4" fmla="*/ 1800 h 2055"/>
              <a:gd name="connsiteX5" fmla="*/ 4657 w 4867"/>
              <a:gd name="connsiteY5" fmla="*/ 2055 h 2055"/>
              <a:gd name="connsiteX6" fmla="*/ 168 w 4867"/>
              <a:gd name="connsiteY6" fmla="*/ 2044 h 2055"/>
              <a:gd name="connsiteX7" fmla="*/ 1 w 4867"/>
              <a:gd name="connsiteY7" fmla="*/ 1789 h 2055"/>
              <a:gd name="connsiteX8" fmla="*/ 1 w 4867"/>
              <a:gd name="connsiteY8" fmla="*/ 189 h 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68" h="2055">
                <a:moveTo>
                  <a:pt x="1" y="189"/>
                </a:moveTo>
                <a:cubicBezTo>
                  <a:pt x="1" y="1"/>
                  <a:pt x="36" y="0"/>
                  <a:pt x="224" y="0"/>
                </a:cubicBezTo>
                <a:lnTo>
                  <a:pt x="4635" y="0"/>
                </a:lnTo>
                <a:cubicBezTo>
                  <a:pt x="4823" y="0"/>
                  <a:pt x="4868" y="56"/>
                  <a:pt x="4868" y="244"/>
                </a:cubicBezTo>
                <a:lnTo>
                  <a:pt x="4868" y="1800"/>
                </a:lnTo>
                <a:cubicBezTo>
                  <a:pt x="4868" y="1988"/>
                  <a:pt x="4845" y="2055"/>
                  <a:pt x="4657" y="2055"/>
                </a:cubicBezTo>
                <a:lnTo>
                  <a:pt x="168" y="2044"/>
                </a:lnTo>
                <a:cubicBezTo>
                  <a:pt x="-20" y="2044"/>
                  <a:pt x="1" y="1977"/>
                  <a:pt x="1" y="1789"/>
                </a:cubicBezTo>
                <a:lnTo>
                  <a:pt x="1" y="189"/>
                </a:lnTo>
                <a:close/>
              </a:path>
            </a:pathLst>
          </a:custGeom>
          <a:ln>
            <a:solidFill>
              <a:srgbClr val="D7D7D7"/>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1" name="任意多边形 50"/>
          <p:cNvSpPr/>
          <p:nvPr/>
        </p:nvSpPr>
        <p:spPr>
          <a:xfrm>
            <a:off x="552450" y="4766310"/>
            <a:ext cx="3091180" cy="1402715"/>
          </a:xfrm>
          <a:custGeom>
            <a:avLst/>
            <a:gdLst>
              <a:gd name="connsiteX0" fmla="*/ 1 w 4867"/>
              <a:gd name="connsiteY0" fmla="*/ 189 h 2055"/>
              <a:gd name="connsiteX1" fmla="*/ 224 w 4867"/>
              <a:gd name="connsiteY1" fmla="*/ 0 h 2055"/>
              <a:gd name="connsiteX2" fmla="*/ 4635 w 4867"/>
              <a:gd name="connsiteY2" fmla="*/ 0 h 2055"/>
              <a:gd name="connsiteX3" fmla="*/ 4868 w 4867"/>
              <a:gd name="connsiteY3" fmla="*/ 244 h 2055"/>
              <a:gd name="connsiteX4" fmla="*/ 4868 w 4867"/>
              <a:gd name="connsiteY4" fmla="*/ 1800 h 2055"/>
              <a:gd name="connsiteX5" fmla="*/ 4657 w 4867"/>
              <a:gd name="connsiteY5" fmla="*/ 2055 h 2055"/>
              <a:gd name="connsiteX6" fmla="*/ 168 w 4867"/>
              <a:gd name="connsiteY6" fmla="*/ 2044 h 2055"/>
              <a:gd name="connsiteX7" fmla="*/ 1 w 4867"/>
              <a:gd name="connsiteY7" fmla="*/ 1789 h 2055"/>
              <a:gd name="connsiteX8" fmla="*/ 1 w 4867"/>
              <a:gd name="connsiteY8" fmla="*/ 189 h 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68" h="2055">
                <a:moveTo>
                  <a:pt x="1" y="189"/>
                </a:moveTo>
                <a:cubicBezTo>
                  <a:pt x="1" y="1"/>
                  <a:pt x="36" y="0"/>
                  <a:pt x="224" y="0"/>
                </a:cubicBezTo>
                <a:lnTo>
                  <a:pt x="4635" y="0"/>
                </a:lnTo>
                <a:cubicBezTo>
                  <a:pt x="4823" y="0"/>
                  <a:pt x="4868" y="56"/>
                  <a:pt x="4868" y="244"/>
                </a:cubicBezTo>
                <a:lnTo>
                  <a:pt x="4868" y="1800"/>
                </a:lnTo>
                <a:cubicBezTo>
                  <a:pt x="4868" y="1988"/>
                  <a:pt x="4845" y="2055"/>
                  <a:pt x="4657" y="2055"/>
                </a:cubicBezTo>
                <a:lnTo>
                  <a:pt x="168" y="2044"/>
                </a:lnTo>
                <a:cubicBezTo>
                  <a:pt x="-20" y="2044"/>
                  <a:pt x="1" y="1977"/>
                  <a:pt x="1" y="1789"/>
                </a:cubicBezTo>
                <a:lnTo>
                  <a:pt x="1" y="189"/>
                </a:lnTo>
                <a:close/>
              </a:path>
            </a:pathLst>
          </a:custGeom>
          <a:ln>
            <a:solidFill>
              <a:srgbClr val="D7D7D7"/>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2" name="图片 1" descr="23.1.1"/>
          <p:cNvPicPr>
            <a:picLocks noChangeAspect="1"/>
          </p:cNvPicPr>
          <p:nvPr/>
        </p:nvPicPr>
        <p:blipFill>
          <a:blip r:embed="rId8"/>
          <a:stretch>
            <a:fillRect/>
          </a:stretch>
        </p:blipFill>
        <p:spPr>
          <a:xfrm>
            <a:off x="8015605" y="1945640"/>
            <a:ext cx="3633470" cy="1637665"/>
          </a:xfrm>
          <a:prstGeom prst="rect">
            <a:avLst/>
          </a:prstGeom>
        </p:spPr>
      </p:pic>
      <p:pic>
        <p:nvPicPr>
          <p:cNvPr id="3" name="图片 2" descr="23.2.1"/>
          <p:cNvPicPr>
            <a:picLocks noChangeAspect="1"/>
          </p:cNvPicPr>
          <p:nvPr/>
        </p:nvPicPr>
        <p:blipFill>
          <a:blip r:embed="rId9"/>
          <a:stretch>
            <a:fillRect/>
          </a:stretch>
        </p:blipFill>
        <p:spPr>
          <a:xfrm>
            <a:off x="7877810" y="4361180"/>
            <a:ext cx="3526155" cy="1984375"/>
          </a:xfrm>
          <a:prstGeom prst="rect">
            <a:avLst/>
          </a:prstGeom>
        </p:spPr>
      </p:pic>
      <p:sp>
        <p:nvSpPr>
          <p:cNvPr id="4" name="文本框 3"/>
          <p:cNvSpPr txBox="1"/>
          <p:nvPr/>
        </p:nvSpPr>
        <p:spPr>
          <a:xfrm>
            <a:off x="7987665" y="3692525"/>
            <a:ext cx="1287145" cy="245110"/>
          </a:xfrm>
          <a:prstGeom prst="rect">
            <a:avLst/>
          </a:prstGeom>
          <a:noFill/>
        </p:spPr>
        <p:txBody>
          <a:bodyPr wrap="square" rtlCol="0">
            <a:spAutoFit/>
          </a:bodyPr>
          <a:p>
            <a:r>
              <a:rPr lang="en-US" altLang="zh-CN" sz="1000">
                <a:latin typeface="微软雅黑" panose="020B0503020204020204" charset="-122"/>
                <a:ea typeface="微软雅黑" panose="020B0503020204020204" charset="-122"/>
                <a:cs typeface="微软雅黑" panose="020B0503020204020204" charset="-122"/>
              </a:rPr>
              <a:t>a) </a:t>
            </a:r>
            <a:r>
              <a:rPr lang="zh-CN" altLang="en-US" sz="1000">
                <a:latin typeface="微软雅黑" panose="020B0503020204020204" charset="-122"/>
                <a:ea typeface="微软雅黑" panose="020B0503020204020204" charset="-122"/>
                <a:cs typeface="微软雅黑" panose="020B0503020204020204" charset="-122"/>
              </a:rPr>
              <a:t>混凝土塔段吊装</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9190355" y="3692525"/>
            <a:ext cx="901700" cy="245110"/>
          </a:xfrm>
          <a:prstGeom prst="rect">
            <a:avLst/>
          </a:prstGeom>
          <a:noFill/>
        </p:spPr>
        <p:txBody>
          <a:bodyPr wrap="square" rtlCol="0">
            <a:spAutoFit/>
          </a:bodyPr>
          <a:p>
            <a:r>
              <a:rPr lang="en-US" altLang="zh-CN" sz="1000"/>
              <a:t>b) </a:t>
            </a:r>
            <a:r>
              <a:rPr lang="zh-CN" altLang="en-US" sz="1000"/>
              <a:t>机舱吊装</a:t>
            </a:r>
            <a:endParaRPr lang="zh-CN" altLang="en-US" sz="1000"/>
          </a:p>
        </p:txBody>
      </p:sp>
      <p:sp>
        <p:nvSpPr>
          <p:cNvPr id="47" name="文本框 46"/>
          <p:cNvSpPr txBox="1"/>
          <p:nvPr/>
        </p:nvSpPr>
        <p:spPr>
          <a:xfrm>
            <a:off x="10443845" y="3692525"/>
            <a:ext cx="1205230" cy="245110"/>
          </a:xfrm>
          <a:prstGeom prst="rect">
            <a:avLst/>
          </a:prstGeom>
          <a:noFill/>
        </p:spPr>
        <p:txBody>
          <a:bodyPr wrap="square" rtlCol="0">
            <a:spAutoFit/>
          </a:bodyPr>
          <a:p>
            <a:r>
              <a:rPr lang="en-US" altLang="zh-CN" sz="1000"/>
              <a:t>c) </a:t>
            </a:r>
            <a:r>
              <a:rPr lang="zh-CN" altLang="en-US" sz="1000"/>
              <a:t>整机吊装完成</a:t>
            </a:r>
            <a:endParaRPr lang="zh-CN" altLang="en-US" sz="1000"/>
          </a:p>
        </p:txBody>
      </p:sp>
      <p:sp>
        <p:nvSpPr>
          <p:cNvPr id="52" name="文本框 5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23/68</a:t>
            </a:r>
            <a:endParaRPr lang="en-US" altLang="zh-CN">
              <a:latin typeface="微软雅黑" panose="020B0503020204020204" charset="-122"/>
              <a:ea typeface="微软雅黑" panose="020B0503020204020204" charset="-122"/>
            </a:endParaRPr>
          </a:p>
        </p:txBody>
      </p:sp>
      <p:sp>
        <p:nvSpPr>
          <p:cNvPr id="53" name="文本框 5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3657600" cy="445135"/>
          </a:xfrm>
          <a:prstGeom prst="rect">
            <a:avLst/>
          </a:prstGeom>
          <a:noFill/>
        </p:spPr>
        <p:txBody>
          <a:bodyPr wrap="square" rtlCol="0">
            <a:spAutoFit/>
          </a:bodyPr>
          <a:p>
            <a:r>
              <a:rPr lang="zh-CN" altLang="en-US" sz="2300" b="1">
                <a:solidFill>
                  <a:srgbClr val="FF0000"/>
                </a:solidFill>
              </a:rPr>
              <a:t>高保真度模型</a:t>
            </a:r>
            <a:r>
              <a:rPr lang="zh-CN" altLang="en-US" sz="2300" b="1">
                <a:solidFill>
                  <a:srgbClr val="394C7E"/>
                </a:solidFill>
              </a:rPr>
              <a:t>仿真</a:t>
            </a:r>
            <a:r>
              <a:rPr lang="zh-CN" altLang="en-US" sz="2300" b="1">
                <a:solidFill>
                  <a:srgbClr val="394C7E"/>
                </a:solidFill>
              </a:rPr>
              <a:t>框架</a:t>
            </a:r>
            <a:endParaRPr lang="zh-CN" altLang="en-US" sz="2300" b="1">
              <a:solidFill>
                <a:srgbClr val="394C7E"/>
              </a:solidFill>
            </a:endParaRPr>
          </a:p>
        </p:txBody>
      </p:sp>
      <p:pic>
        <p:nvPicPr>
          <p:cNvPr id="12" name="图片 11" descr="勾"/>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8665" y="1743075"/>
            <a:ext cx="229870" cy="229870"/>
          </a:xfrm>
          <a:prstGeom prst="rect">
            <a:avLst/>
          </a:prstGeom>
        </p:spPr>
      </p:pic>
      <p:sp>
        <p:nvSpPr>
          <p:cNvPr id="13" name="文本框 12"/>
          <p:cNvSpPr txBox="1"/>
          <p:nvPr/>
        </p:nvSpPr>
        <p:spPr>
          <a:xfrm>
            <a:off x="978535" y="1632585"/>
            <a:ext cx="4480560" cy="801370"/>
          </a:xfrm>
          <a:prstGeom prst="rect">
            <a:avLst/>
          </a:prstGeom>
          <a:noFill/>
        </p:spPr>
        <p:txBody>
          <a:bodyPr wrap="square" rtlCol="0">
            <a:spAutoFit/>
          </a:bodyPr>
          <a:p>
            <a:pPr>
              <a:lnSpc>
                <a:spcPct val="110000"/>
              </a:lnSpc>
              <a:spcBef>
                <a:spcPts val="0"/>
              </a:spcBef>
              <a:spcAft>
                <a:spcPts val="0"/>
              </a:spcAft>
            </a:pPr>
            <a:r>
              <a:rPr lang="zh-CN" altLang="en-US" sz="2100" b="1">
                <a:solidFill>
                  <a:srgbClr val="FF0000"/>
                </a:solidFill>
              </a:rPr>
              <a:t>高保真度模型</a:t>
            </a:r>
            <a:r>
              <a:rPr lang="zh-CN" altLang="en-US" sz="2100" b="1">
                <a:solidFill>
                  <a:srgbClr val="023A8B"/>
                </a:solidFill>
              </a:rPr>
              <a:t>采用Simpack+Abaqus</a:t>
            </a:r>
            <a:endParaRPr lang="zh-CN" altLang="en-US" sz="2100" b="1"/>
          </a:p>
          <a:p>
            <a:pPr>
              <a:lnSpc>
                <a:spcPct val="110000"/>
              </a:lnSpc>
              <a:spcBef>
                <a:spcPts val="0"/>
              </a:spcBef>
              <a:spcAft>
                <a:spcPts val="0"/>
              </a:spcAft>
            </a:pPr>
            <a:r>
              <a:rPr lang="zh-CN" altLang="en-US" sz="2100" b="1"/>
              <a:t>联合仿真</a:t>
            </a:r>
            <a:endParaRPr lang="zh-CN" altLang="en-US" sz="2100" b="1"/>
          </a:p>
        </p:txBody>
      </p:sp>
      <p:sp>
        <p:nvSpPr>
          <p:cNvPr id="2" name="椭圆 1"/>
          <p:cNvSpPr/>
          <p:nvPr/>
        </p:nvSpPr>
        <p:spPr>
          <a:xfrm>
            <a:off x="792480" y="2526665"/>
            <a:ext cx="75565" cy="75565"/>
          </a:xfrm>
          <a:prstGeom prst="ellipse">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椭圆 2"/>
          <p:cNvSpPr/>
          <p:nvPr/>
        </p:nvSpPr>
        <p:spPr>
          <a:xfrm>
            <a:off x="798830" y="3602355"/>
            <a:ext cx="75565" cy="75565"/>
          </a:xfrm>
          <a:prstGeom prst="ellipse">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792480" y="4591685"/>
            <a:ext cx="75565" cy="75565"/>
          </a:xfrm>
          <a:prstGeom prst="ellipse">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631180" y="1797050"/>
            <a:ext cx="3130550" cy="4187825"/>
          </a:xfrm>
          <a:prstGeom prst="rect">
            <a:avLst/>
          </a:prstGeom>
          <a:ln w="19050">
            <a:solidFill>
              <a:schemeClr val="bg2">
                <a:lumMod val="5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矩形 15"/>
          <p:cNvSpPr/>
          <p:nvPr/>
        </p:nvSpPr>
        <p:spPr>
          <a:xfrm>
            <a:off x="8816340" y="1780540"/>
            <a:ext cx="2785110" cy="751840"/>
          </a:xfrm>
          <a:prstGeom prst="rect">
            <a:avLst/>
          </a:prstGeom>
          <a:ln w="1905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矩形 16"/>
          <p:cNvSpPr/>
          <p:nvPr/>
        </p:nvSpPr>
        <p:spPr>
          <a:xfrm>
            <a:off x="8816340" y="2602230"/>
            <a:ext cx="2785110" cy="880110"/>
          </a:xfrm>
          <a:prstGeom prst="rect">
            <a:avLst/>
          </a:prstGeom>
          <a:ln w="1905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矩形 17"/>
          <p:cNvSpPr/>
          <p:nvPr/>
        </p:nvSpPr>
        <p:spPr>
          <a:xfrm>
            <a:off x="8816340" y="3552190"/>
            <a:ext cx="2785110" cy="2423795"/>
          </a:xfrm>
          <a:prstGeom prst="rect">
            <a:avLst/>
          </a:prstGeom>
          <a:ln w="1905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文本框 18"/>
          <p:cNvSpPr txBox="1"/>
          <p:nvPr/>
        </p:nvSpPr>
        <p:spPr>
          <a:xfrm>
            <a:off x="1010285" y="2322195"/>
            <a:ext cx="4388485" cy="1106805"/>
          </a:xfrm>
          <a:prstGeom prst="rect">
            <a:avLst/>
          </a:prstGeom>
          <a:noFill/>
        </p:spPr>
        <p:txBody>
          <a:bodyPr wrap="square" rtlCol="0">
            <a:spAutoFit/>
          </a:bodyPr>
          <a:p>
            <a:pPr>
              <a:lnSpc>
                <a:spcPct val="110000"/>
              </a:lnSpc>
              <a:spcBef>
                <a:spcPts val="0"/>
              </a:spcBef>
              <a:spcAft>
                <a:spcPts val="0"/>
              </a:spcAft>
            </a:pPr>
            <a:r>
              <a:rPr lang="zh-CN" altLang="en-US" sz="2000" b="1">
                <a:solidFill>
                  <a:srgbClr val="023A8B"/>
                </a:solidFill>
                <a:latin typeface="微软雅黑" panose="020B0503020204020204" charset="-122"/>
                <a:ea typeface="微软雅黑" panose="020B0503020204020204" charset="-122"/>
                <a:cs typeface="微软雅黑" panose="020B0503020204020204" charset="-122"/>
              </a:rPr>
              <a:t>叶轮</a:t>
            </a:r>
            <a:r>
              <a:rPr lang="en-US" altLang="zh-CN" sz="2000" b="1">
                <a:solidFill>
                  <a:srgbClr val="023A8B"/>
                </a:solidFill>
                <a:latin typeface="微软雅黑" panose="020B0503020204020204" charset="-122"/>
                <a:ea typeface="微软雅黑" panose="020B0503020204020204" charset="-122"/>
                <a:cs typeface="微软雅黑" panose="020B0503020204020204" charset="-122"/>
              </a:rPr>
              <a:t>-</a:t>
            </a:r>
            <a:r>
              <a:rPr lang="zh-CN" altLang="en-US" sz="2000" b="1">
                <a:solidFill>
                  <a:srgbClr val="023A8B"/>
                </a:solidFill>
                <a:latin typeface="微软雅黑" panose="020B0503020204020204" charset="-122"/>
                <a:ea typeface="微软雅黑" panose="020B0503020204020204" charset="-122"/>
                <a:cs typeface="微软雅黑" panose="020B0503020204020204" charset="-122"/>
              </a:rPr>
              <a:t>机舱子系统</a:t>
            </a:r>
            <a:r>
              <a:rPr lang="zh-CN" altLang="en-US" sz="2000" b="1">
                <a:latin typeface="微软雅黑" panose="020B0503020204020204" charset="-122"/>
                <a:ea typeface="微软雅黑" panose="020B0503020204020204" charset="-122"/>
                <a:cs typeface="微软雅黑" panose="020B0503020204020204" charset="-122"/>
              </a:rPr>
              <a:t>基于多体动力学原理及模态法构建（同步构建风电机组的伺服控制系统）</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994410" y="3363595"/>
            <a:ext cx="4516755" cy="1106805"/>
          </a:xfrm>
          <a:prstGeom prst="rect">
            <a:avLst/>
          </a:prstGeom>
          <a:noFill/>
        </p:spPr>
        <p:txBody>
          <a:bodyPr wrap="square" rtlCol="0">
            <a:spAutoFit/>
          </a:bodyPr>
          <a:p>
            <a:pPr>
              <a:lnSpc>
                <a:spcPct val="110000"/>
              </a:lnSpc>
              <a:spcBef>
                <a:spcPts val="0"/>
              </a:spcBef>
              <a:spcAft>
                <a:spcPts val="0"/>
              </a:spcAft>
            </a:pPr>
            <a:r>
              <a:rPr lang="zh-CN" altLang="en-US" sz="2000" b="1">
                <a:solidFill>
                  <a:srgbClr val="023A8B"/>
                </a:solidFill>
                <a:latin typeface="微软雅黑" panose="020B0503020204020204" charset="-122"/>
                <a:ea typeface="微软雅黑" panose="020B0503020204020204" charset="-122"/>
                <a:cs typeface="微软雅黑" panose="020B0503020204020204" charset="-122"/>
              </a:rPr>
              <a:t>塔架子系统</a:t>
            </a:r>
            <a:r>
              <a:rPr lang="zh-CN" altLang="en-US" sz="2000" b="1">
                <a:latin typeface="微软雅黑" panose="020B0503020204020204" charset="-122"/>
                <a:ea typeface="微软雅黑" panose="020B0503020204020204" charset="-122"/>
                <a:cs typeface="微软雅黑" panose="020B0503020204020204" charset="-122"/>
              </a:rPr>
              <a:t>通过</a:t>
            </a:r>
            <a:r>
              <a:rPr lang="en-US" altLang="zh-CN" sz="2000" b="1">
                <a:solidFill>
                  <a:srgbClr val="023A8B"/>
                </a:solidFill>
                <a:latin typeface="微软雅黑" panose="020B0503020204020204" charset="-122"/>
                <a:ea typeface="微软雅黑" panose="020B0503020204020204" charset="-122"/>
                <a:cs typeface="微软雅黑" panose="020B0503020204020204" charset="-122"/>
              </a:rPr>
              <a:t>Abaqus</a:t>
            </a:r>
            <a:r>
              <a:rPr lang="zh-CN" altLang="en-US" sz="2000" b="1">
                <a:solidFill>
                  <a:srgbClr val="023A8B"/>
                </a:solidFill>
                <a:latin typeface="微软雅黑" panose="020B0503020204020204" charset="-122"/>
                <a:ea typeface="微软雅黑" panose="020B0503020204020204" charset="-122"/>
                <a:cs typeface="微软雅黑" panose="020B0503020204020204" charset="-122"/>
              </a:rPr>
              <a:t>软件</a:t>
            </a:r>
            <a:r>
              <a:rPr lang="zh-CN" altLang="en-US" sz="2000" b="1">
                <a:latin typeface="微软雅黑" panose="020B0503020204020204" charset="-122"/>
                <a:ea typeface="微软雅黑" panose="020B0503020204020204" charset="-122"/>
                <a:cs typeface="微软雅黑" panose="020B0503020204020204" charset="-122"/>
              </a:rPr>
              <a:t>建模（综合考虑细节结构以及材料、几何、边界非线性等</a:t>
            </a:r>
            <a:r>
              <a:rPr lang="zh-CN" altLang="en-US" sz="2000" b="1">
                <a:latin typeface="微软雅黑" panose="020B0503020204020204" charset="-122"/>
                <a:ea typeface="微软雅黑" panose="020B0503020204020204" charset="-122"/>
                <a:cs typeface="微软雅黑" panose="020B0503020204020204" charset="-122"/>
              </a:rPr>
              <a:t>因素）</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1059180" y="4402455"/>
            <a:ext cx="4398010" cy="1494155"/>
          </a:xfrm>
          <a:prstGeom prst="rect">
            <a:avLst/>
          </a:prstGeom>
          <a:noFill/>
        </p:spPr>
        <p:txBody>
          <a:bodyPr wrap="square" rtlCol="0">
            <a:spAutoFit/>
          </a:bodyPr>
          <a:p>
            <a:pPr>
              <a:lnSpc>
                <a:spcPct val="120000"/>
              </a:lnSpc>
              <a:spcBef>
                <a:spcPts val="0"/>
              </a:spcBef>
              <a:spcAft>
                <a:spcPts val="0"/>
              </a:spcAft>
            </a:pPr>
            <a:r>
              <a:rPr lang="en-US" altLang="zh-CN" sz="1900" b="1">
                <a:solidFill>
                  <a:schemeClr val="tx1"/>
                </a:solidFill>
                <a:latin typeface="微软雅黑" panose="020B0503020204020204" charset="-122"/>
                <a:ea typeface="微软雅黑" panose="020B0503020204020204" charset="-122"/>
                <a:cs typeface="微软雅黑" panose="020B0503020204020204" charset="-122"/>
              </a:rPr>
              <a:t>Simpack</a:t>
            </a:r>
            <a:r>
              <a:rPr lang="zh-CN" altLang="en-US" sz="1900" b="1">
                <a:solidFill>
                  <a:schemeClr val="tx1"/>
                </a:solidFill>
                <a:latin typeface="微软雅黑" panose="020B0503020204020204" charset="-122"/>
                <a:ea typeface="微软雅黑" panose="020B0503020204020204" charset="-122"/>
                <a:cs typeface="微软雅黑" panose="020B0503020204020204" charset="-122"/>
              </a:rPr>
              <a:t>和</a:t>
            </a:r>
            <a:r>
              <a:rPr lang="en-US" altLang="zh-CN" sz="1900" b="1">
                <a:solidFill>
                  <a:schemeClr val="tx1"/>
                </a:solidFill>
                <a:latin typeface="微软雅黑" panose="020B0503020204020204" charset="-122"/>
                <a:ea typeface="微软雅黑" panose="020B0503020204020204" charset="-122"/>
                <a:cs typeface="微软雅黑" panose="020B0503020204020204" charset="-122"/>
              </a:rPr>
              <a:t>Abaqus</a:t>
            </a:r>
            <a:r>
              <a:rPr lang="zh-CN" altLang="en-US" sz="1900" b="1">
                <a:solidFill>
                  <a:schemeClr val="tx1"/>
                </a:solidFill>
                <a:latin typeface="微软雅黑" panose="020B0503020204020204" charset="-122"/>
                <a:ea typeface="微软雅黑" panose="020B0503020204020204" charset="-122"/>
                <a:cs typeface="微软雅黑" panose="020B0503020204020204" charset="-122"/>
              </a:rPr>
              <a:t>求解器作为独立的进程运行，通过</a:t>
            </a:r>
            <a:r>
              <a:rPr lang="en-US" altLang="zh-CN" sz="1900" b="1">
                <a:solidFill>
                  <a:schemeClr val="tx1"/>
                </a:solidFill>
                <a:latin typeface="微软雅黑" panose="020B0503020204020204" charset="-122"/>
                <a:ea typeface="微软雅黑" panose="020B0503020204020204" charset="-122"/>
                <a:cs typeface="微软雅黑" panose="020B0503020204020204" charset="-122"/>
              </a:rPr>
              <a:t>Simpack</a:t>
            </a:r>
            <a:r>
              <a:rPr lang="zh-CN" altLang="en-US" sz="1900" b="1">
                <a:solidFill>
                  <a:schemeClr val="tx1"/>
                </a:solidFill>
                <a:latin typeface="微软雅黑" panose="020B0503020204020204" charset="-122"/>
                <a:ea typeface="微软雅黑" panose="020B0503020204020204" charset="-122"/>
                <a:cs typeface="微软雅黑" panose="020B0503020204020204" charset="-122"/>
              </a:rPr>
              <a:t>内置</a:t>
            </a:r>
            <a:r>
              <a:rPr lang="zh-CN" altLang="en-US" sz="1900" b="1">
                <a:solidFill>
                  <a:srgbClr val="023A8B"/>
                </a:solidFill>
                <a:latin typeface="微软雅黑" panose="020B0503020204020204" charset="-122"/>
                <a:ea typeface="微软雅黑" panose="020B0503020204020204" charset="-122"/>
                <a:cs typeface="微软雅黑" panose="020B0503020204020204" charset="-122"/>
              </a:rPr>
              <a:t>联合仿真引擎</a:t>
            </a:r>
            <a:r>
              <a:rPr lang="en-US" altLang="zh-CN" sz="1900" b="1">
                <a:solidFill>
                  <a:srgbClr val="023A8B"/>
                </a:solidFill>
                <a:latin typeface="微软雅黑" panose="020B0503020204020204" charset="-122"/>
                <a:ea typeface="微软雅黑" panose="020B0503020204020204" charset="-122"/>
                <a:cs typeface="微软雅黑" panose="020B0503020204020204" charset="-122"/>
              </a:rPr>
              <a:t>(CSE)</a:t>
            </a:r>
            <a:r>
              <a:rPr lang="zh-CN" altLang="en-US" sz="1900" b="1">
                <a:solidFill>
                  <a:schemeClr val="tx1"/>
                </a:solidFill>
                <a:latin typeface="微软雅黑" panose="020B0503020204020204" charset="-122"/>
                <a:ea typeface="微软雅黑" panose="020B0503020204020204" charset="-122"/>
                <a:cs typeface="微软雅黑" panose="020B0503020204020204" charset="-122"/>
              </a:rPr>
              <a:t>实现两个求解器之间的数据通信与进程调度。</a:t>
            </a:r>
            <a:endParaRPr lang="zh-CN" altLang="en-US" sz="1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2" name="矩形 21"/>
          <p:cNvSpPr/>
          <p:nvPr/>
        </p:nvSpPr>
        <p:spPr>
          <a:xfrm>
            <a:off x="8938260" y="1856105"/>
            <a:ext cx="1083945" cy="379095"/>
          </a:xfrm>
          <a:prstGeom prst="rect">
            <a:avLst/>
          </a:prstGeom>
          <a:solidFill>
            <a:srgbClr val="FFE9D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nvSpPr>
        <p:spPr>
          <a:xfrm>
            <a:off x="9039860" y="1915795"/>
            <a:ext cx="881380" cy="260350"/>
          </a:xfrm>
          <a:prstGeom prst="rect">
            <a:avLst/>
          </a:prstGeom>
          <a:noFill/>
        </p:spPr>
        <p:txBody>
          <a:bodyPr wrap="square" rtlCol="0">
            <a:spAutoFit/>
          </a:bodyPr>
          <a:p>
            <a:r>
              <a:rPr lang="en-US" altLang="zh-CN" sz="1100">
                <a:latin typeface="微软雅黑" panose="020B0503020204020204" charset="-122"/>
                <a:ea typeface="微软雅黑" panose="020B0503020204020204" charset="-122"/>
                <a:cs typeface="微软雅黑" panose="020B0503020204020204" charset="-122"/>
              </a:rPr>
              <a:t>MBD</a:t>
            </a:r>
            <a:r>
              <a:rPr lang="zh-CN" altLang="en-US" sz="1100">
                <a:latin typeface="微软雅黑" panose="020B0503020204020204" charset="-122"/>
                <a:ea typeface="微软雅黑" panose="020B0503020204020204" charset="-122"/>
                <a:cs typeface="微软雅黑" panose="020B0503020204020204" charset="-122"/>
              </a:rPr>
              <a:t>模型</a:t>
            </a:r>
            <a:endParaRPr lang="zh-CN" altLang="en-US" sz="1100">
              <a:latin typeface="微软雅黑" panose="020B0503020204020204" charset="-122"/>
              <a:ea typeface="微软雅黑" panose="020B0503020204020204" charset="-122"/>
              <a:cs typeface="微软雅黑" panose="020B0503020204020204" charset="-122"/>
            </a:endParaRPr>
          </a:p>
        </p:txBody>
      </p:sp>
      <p:sp>
        <p:nvSpPr>
          <p:cNvPr id="25" name="矩形 24"/>
          <p:cNvSpPr/>
          <p:nvPr/>
        </p:nvSpPr>
        <p:spPr>
          <a:xfrm>
            <a:off x="10273030" y="1856740"/>
            <a:ext cx="1219835" cy="378460"/>
          </a:xfrm>
          <a:prstGeom prst="rect">
            <a:avLst/>
          </a:prstGeom>
          <a:solidFill>
            <a:srgbClr val="FFE9DC"/>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nvSpPr>
        <p:spPr>
          <a:xfrm>
            <a:off x="10235565" y="1821180"/>
            <a:ext cx="1319530" cy="429895"/>
          </a:xfrm>
          <a:prstGeom prst="rect">
            <a:avLst/>
          </a:prstGeom>
          <a:noFill/>
        </p:spPr>
        <p:txBody>
          <a:bodyPr wrap="square" rtlCol="0">
            <a:spAutoFit/>
          </a:bodyPr>
          <a:p>
            <a:r>
              <a:rPr lang="zh-CN" altLang="en-US" sz="1100">
                <a:latin typeface="微软雅黑" panose="020B0503020204020204" charset="-122"/>
                <a:ea typeface="微软雅黑" panose="020B0503020204020204" charset="-122"/>
                <a:cs typeface="微软雅黑" panose="020B0503020204020204" charset="-122"/>
              </a:rPr>
              <a:t>叶轮</a:t>
            </a:r>
            <a:r>
              <a:rPr lang="en-US" altLang="zh-CN" sz="1100">
                <a:latin typeface="微软雅黑" panose="020B0503020204020204" charset="-122"/>
                <a:ea typeface="微软雅黑" panose="020B0503020204020204" charset="-122"/>
                <a:cs typeface="微软雅黑" panose="020B0503020204020204" charset="-122"/>
              </a:rPr>
              <a:t>-</a:t>
            </a:r>
            <a:r>
              <a:rPr lang="zh-CN" altLang="en-US" sz="1100">
                <a:latin typeface="微软雅黑" panose="020B0503020204020204" charset="-122"/>
                <a:ea typeface="微软雅黑" panose="020B0503020204020204" charset="-122"/>
                <a:cs typeface="微软雅黑" panose="020B0503020204020204" charset="-122"/>
              </a:rPr>
              <a:t>机舱结构与伺服控制系统参数</a:t>
            </a:r>
            <a:endParaRPr lang="zh-CN" altLang="en-US" sz="1100">
              <a:latin typeface="微软雅黑" panose="020B0503020204020204" charset="-122"/>
              <a:ea typeface="微软雅黑" panose="020B0503020204020204" charset="-122"/>
              <a:cs typeface="微软雅黑" panose="020B0503020204020204" charset="-122"/>
            </a:endParaRPr>
          </a:p>
        </p:txBody>
      </p:sp>
      <p:cxnSp>
        <p:nvCxnSpPr>
          <p:cNvPr id="60" name="直接箭头连接符 59"/>
          <p:cNvCxnSpPr/>
          <p:nvPr/>
        </p:nvCxnSpPr>
        <p:spPr>
          <a:xfrm flipH="1" flipV="1">
            <a:off x="9384665" y="2242185"/>
            <a:ext cx="3175" cy="44704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flipH="1">
            <a:off x="9565640" y="2235200"/>
            <a:ext cx="635" cy="44132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7" name="矩形 26"/>
          <p:cNvSpPr/>
          <p:nvPr/>
        </p:nvSpPr>
        <p:spPr>
          <a:xfrm>
            <a:off x="10483215" y="2296160"/>
            <a:ext cx="1009650" cy="196850"/>
          </a:xfrm>
          <a:prstGeom prst="rect">
            <a:avLst/>
          </a:prstGeom>
          <a:solidFill>
            <a:srgbClr val="D7D7D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文本框 27"/>
          <p:cNvSpPr txBox="1"/>
          <p:nvPr/>
        </p:nvSpPr>
        <p:spPr>
          <a:xfrm>
            <a:off x="10574020" y="2256790"/>
            <a:ext cx="827405" cy="275590"/>
          </a:xfrm>
          <a:prstGeom prst="rect">
            <a:avLst/>
          </a:prstGeom>
          <a:noFill/>
        </p:spPr>
        <p:txBody>
          <a:bodyPr wrap="square" rtlCol="0">
            <a:spAutoFit/>
          </a:bodyPr>
          <a:p>
            <a:r>
              <a:rPr lang="en-US" altLang="zh-CN" sz="1200">
                <a:latin typeface="微软雅黑" panose="020B0503020204020204" charset="-122"/>
                <a:ea typeface="微软雅黑" panose="020B0503020204020204" charset="-122"/>
              </a:rPr>
              <a:t>Simpack</a:t>
            </a:r>
            <a:endParaRPr lang="en-US" altLang="zh-CN" sz="1200">
              <a:latin typeface="微软雅黑" panose="020B0503020204020204" charset="-122"/>
              <a:ea typeface="微软雅黑" panose="020B0503020204020204" charset="-122"/>
            </a:endParaRPr>
          </a:p>
        </p:txBody>
      </p:sp>
      <p:sp>
        <p:nvSpPr>
          <p:cNvPr id="29" name="矩形 28"/>
          <p:cNvSpPr/>
          <p:nvPr/>
        </p:nvSpPr>
        <p:spPr>
          <a:xfrm>
            <a:off x="8938260" y="2682875"/>
            <a:ext cx="1063625" cy="494665"/>
          </a:xfrm>
          <a:prstGeom prst="rect">
            <a:avLst/>
          </a:prstGeom>
          <a:solidFill>
            <a:srgbClr val="FFE9D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文本框 29"/>
          <p:cNvSpPr txBox="1"/>
          <p:nvPr/>
        </p:nvSpPr>
        <p:spPr>
          <a:xfrm>
            <a:off x="8935720" y="2720975"/>
            <a:ext cx="1099185" cy="410210"/>
          </a:xfrm>
          <a:prstGeom prst="rect">
            <a:avLst/>
          </a:prstGeom>
          <a:noFill/>
        </p:spPr>
        <p:txBody>
          <a:bodyPr wrap="square" rtlCol="0">
            <a:noAutofit/>
          </a:bodyPr>
          <a:p>
            <a:pPr algn="ctr"/>
            <a:r>
              <a:rPr lang="zh-CN" altLang="en-US" sz="1100"/>
              <a:t>联合仿真时间积分求解器</a:t>
            </a:r>
            <a:endParaRPr lang="zh-CN" altLang="en-US" sz="1100"/>
          </a:p>
        </p:txBody>
      </p:sp>
      <p:sp>
        <p:nvSpPr>
          <p:cNvPr id="31" name="矩形 30"/>
          <p:cNvSpPr/>
          <p:nvPr/>
        </p:nvSpPr>
        <p:spPr>
          <a:xfrm>
            <a:off x="10280015" y="2689225"/>
            <a:ext cx="1205865" cy="501650"/>
          </a:xfrm>
          <a:prstGeom prst="rect">
            <a:avLst/>
          </a:prstGeom>
          <a:solidFill>
            <a:srgbClr val="FFE9D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文本框 31"/>
          <p:cNvSpPr txBox="1"/>
          <p:nvPr/>
        </p:nvSpPr>
        <p:spPr>
          <a:xfrm>
            <a:off x="10356215" y="2809875"/>
            <a:ext cx="1045210" cy="260350"/>
          </a:xfrm>
          <a:prstGeom prst="rect">
            <a:avLst/>
          </a:prstGeom>
          <a:noFill/>
        </p:spPr>
        <p:txBody>
          <a:bodyPr wrap="square" rtlCol="0">
            <a:spAutoFit/>
          </a:bodyPr>
          <a:p>
            <a:r>
              <a:rPr lang="zh-CN" altLang="en-US" sz="1100">
                <a:latin typeface="微软雅黑" panose="020B0503020204020204" charset="-122"/>
                <a:ea typeface="微软雅黑" panose="020B0503020204020204" charset="-122"/>
                <a:cs typeface="微软雅黑" panose="020B0503020204020204" charset="-122"/>
              </a:rPr>
              <a:t>接口节点</a:t>
            </a:r>
            <a:r>
              <a:rPr lang="zh-CN" altLang="en-US" sz="1100">
                <a:latin typeface="微软雅黑" panose="020B0503020204020204" charset="-122"/>
                <a:ea typeface="微软雅黑" panose="020B0503020204020204" charset="-122"/>
                <a:cs typeface="微软雅黑" panose="020B0503020204020204" charset="-122"/>
              </a:rPr>
              <a:t>耦合</a:t>
            </a:r>
            <a:endParaRPr lang="zh-CN" altLang="en-US" sz="1100">
              <a:latin typeface="微软雅黑" panose="020B0503020204020204" charset="-122"/>
              <a:ea typeface="微软雅黑" panose="020B0503020204020204" charset="-122"/>
              <a:cs typeface="微软雅黑" panose="020B0503020204020204" charset="-122"/>
            </a:endParaRPr>
          </a:p>
        </p:txBody>
      </p:sp>
      <p:sp>
        <p:nvSpPr>
          <p:cNvPr id="33" name="矩形 32"/>
          <p:cNvSpPr/>
          <p:nvPr/>
        </p:nvSpPr>
        <p:spPr>
          <a:xfrm>
            <a:off x="8924290" y="3678555"/>
            <a:ext cx="1084580" cy="508635"/>
          </a:xfrm>
          <a:prstGeom prst="rect">
            <a:avLst/>
          </a:prstGeom>
          <a:solidFill>
            <a:srgbClr val="FFE9D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4" name="文本框 33"/>
          <p:cNvSpPr txBox="1"/>
          <p:nvPr/>
        </p:nvSpPr>
        <p:spPr>
          <a:xfrm>
            <a:off x="8975725" y="3802380"/>
            <a:ext cx="1039495" cy="260350"/>
          </a:xfrm>
          <a:prstGeom prst="rect">
            <a:avLst/>
          </a:prstGeom>
          <a:noFill/>
        </p:spPr>
        <p:txBody>
          <a:bodyPr wrap="square" rtlCol="0">
            <a:spAutoFit/>
          </a:bodyPr>
          <a:p>
            <a:r>
              <a:rPr lang="zh-CN" altLang="en-US" sz="1100">
                <a:latin typeface="微软雅黑" panose="020B0503020204020204" charset="-122"/>
                <a:ea typeface="微软雅黑" panose="020B0503020204020204" charset="-122"/>
                <a:cs typeface="微软雅黑" panose="020B0503020204020204" charset="-122"/>
              </a:rPr>
              <a:t>生成</a:t>
            </a:r>
            <a:r>
              <a:rPr lang="en-US" altLang="zh-CN" sz="1100">
                <a:latin typeface="微软雅黑" panose="020B0503020204020204" charset="-122"/>
                <a:ea typeface="微软雅黑" panose="020B0503020204020204" charset="-122"/>
                <a:cs typeface="微软雅黑" panose="020B0503020204020204" charset="-122"/>
              </a:rPr>
              <a:t>.inp</a:t>
            </a:r>
            <a:r>
              <a:rPr lang="zh-CN" altLang="en-US" sz="1100">
                <a:latin typeface="微软雅黑" panose="020B0503020204020204" charset="-122"/>
                <a:ea typeface="微软雅黑" panose="020B0503020204020204" charset="-122"/>
                <a:cs typeface="微软雅黑" panose="020B0503020204020204" charset="-122"/>
              </a:rPr>
              <a:t>文件</a:t>
            </a:r>
            <a:endParaRPr lang="zh-CN" altLang="en-US" sz="1100">
              <a:latin typeface="微软雅黑" panose="020B0503020204020204" charset="-122"/>
              <a:ea typeface="微软雅黑" panose="020B0503020204020204" charset="-122"/>
              <a:cs typeface="微软雅黑" panose="020B0503020204020204" charset="-122"/>
            </a:endParaRPr>
          </a:p>
        </p:txBody>
      </p:sp>
      <p:sp>
        <p:nvSpPr>
          <p:cNvPr id="35" name="矩形 34"/>
          <p:cNvSpPr/>
          <p:nvPr/>
        </p:nvSpPr>
        <p:spPr>
          <a:xfrm>
            <a:off x="8931275" y="4288790"/>
            <a:ext cx="1077595" cy="406400"/>
          </a:xfrm>
          <a:prstGeom prst="rect">
            <a:avLst/>
          </a:prstGeom>
          <a:solidFill>
            <a:srgbClr val="FFE9D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6" name="文本框 35"/>
          <p:cNvSpPr txBox="1"/>
          <p:nvPr/>
        </p:nvSpPr>
        <p:spPr>
          <a:xfrm>
            <a:off x="9096375" y="4382770"/>
            <a:ext cx="768350" cy="260350"/>
          </a:xfrm>
          <a:prstGeom prst="rect">
            <a:avLst/>
          </a:prstGeom>
          <a:noFill/>
        </p:spPr>
        <p:txBody>
          <a:bodyPr wrap="square" rtlCol="0">
            <a:spAutoFit/>
          </a:bodyPr>
          <a:p>
            <a:r>
              <a:rPr lang="en-US" altLang="zh-CN" sz="1100">
                <a:latin typeface="微软雅黑" panose="020B0503020204020204" charset="-122"/>
                <a:ea typeface="微软雅黑" panose="020B0503020204020204" charset="-122"/>
                <a:cs typeface="微软雅黑" panose="020B0503020204020204" charset="-122"/>
              </a:rPr>
              <a:t>FE </a:t>
            </a:r>
            <a:r>
              <a:rPr lang="zh-CN" altLang="en-US" sz="1100">
                <a:latin typeface="微软雅黑" panose="020B0503020204020204" charset="-122"/>
                <a:ea typeface="微软雅黑" panose="020B0503020204020204" charset="-122"/>
                <a:cs typeface="微软雅黑" panose="020B0503020204020204" charset="-122"/>
              </a:rPr>
              <a:t>模型</a:t>
            </a:r>
            <a:endParaRPr lang="zh-CN" altLang="en-US" sz="1100">
              <a:latin typeface="微软雅黑" panose="020B0503020204020204" charset="-122"/>
              <a:ea typeface="微软雅黑" panose="020B0503020204020204" charset="-122"/>
              <a:cs typeface="微软雅黑" panose="020B0503020204020204" charset="-122"/>
            </a:endParaRPr>
          </a:p>
        </p:txBody>
      </p:sp>
      <p:sp>
        <p:nvSpPr>
          <p:cNvPr id="37" name="矩形 36"/>
          <p:cNvSpPr/>
          <p:nvPr/>
        </p:nvSpPr>
        <p:spPr>
          <a:xfrm>
            <a:off x="8931275" y="4824095"/>
            <a:ext cx="1070610" cy="514985"/>
          </a:xfrm>
          <a:prstGeom prst="rect">
            <a:avLst/>
          </a:prstGeom>
          <a:solidFill>
            <a:srgbClr val="FFE9D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8" name="文本框 37"/>
          <p:cNvSpPr txBox="1"/>
          <p:nvPr/>
        </p:nvSpPr>
        <p:spPr>
          <a:xfrm>
            <a:off x="8881745" y="4921250"/>
            <a:ext cx="1202055" cy="260350"/>
          </a:xfrm>
          <a:prstGeom prst="rect">
            <a:avLst/>
          </a:prstGeom>
          <a:noFill/>
        </p:spPr>
        <p:txBody>
          <a:bodyPr wrap="square" rtlCol="0">
            <a:spAutoFit/>
          </a:bodyPr>
          <a:p>
            <a:r>
              <a:rPr lang="zh-CN" altLang="en-US" sz="1100">
                <a:latin typeface="微软雅黑" panose="020B0503020204020204" charset="-122"/>
                <a:ea typeface="微软雅黑" panose="020B0503020204020204" charset="-122"/>
                <a:cs typeface="微软雅黑" panose="020B0503020204020204" charset="-122"/>
              </a:rPr>
              <a:t>精细化</a:t>
            </a:r>
            <a:r>
              <a:rPr lang="zh-CN" altLang="en-US" sz="1100">
                <a:latin typeface="微软雅黑" panose="020B0503020204020204" charset="-122"/>
                <a:ea typeface="微软雅黑" panose="020B0503020204020204" charset="-122"/>
                <a:cs typeface="微软雅黑" panose="020B0503020204020204" charset="-122"/>
              </a:rPr>
              <a:t>三维模型</a:t>
            </a:r>
            <a:endParaRPr lang="zh-CN" altLang="en-US" sz="1100">
              <a:latin typeface="微软雅黑" panose="020B0503020204020204" charset="-122"/>
              <a:ea typeface="微软雅黑" panose="020B0503020204020204" charset="-122"/>
              <a:cs typeface="微软雅黑" panose="020B0503020204020204" charset="-122"/>
            </a:endParaRPr>
          </a:p>
        </p:txBody>
      </p:sp>
      <p:cxnSp>
        <p:nvCxnSpPr>
          <p:cNvPr id="39" name="直接箭头连接符 38"/>
          <p:cNvCxnSpPr/>
          <p:nvPr/>
        </p:nvCxnSpPr>
        <p:spPr>
          <a:xfrm flipV="1">
            <a:off x="9391650" y="3191510"/>
            <a:ext cx="635" cy="48958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9577705" y="3180080"/>
            <a:ext cx="3810" cy="49784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1" name="矩形 40"/>
          <p:cNvSpPr/>
          <p:nvPr/>
        </p:nvSpPr>
        <p:spPr>
          <a:xfrm>
            <a:off x="8947150" y="5469890"/>
            <a:ext cx="1066800" cy="393700"/>
          </a:xfrm>
          <a:prstGeom prst="rect">
            <a:avLst/>
          </a:prstGeom>
          <a:solidFill>
            <a:srgbClr val="FFE9D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42" name="直接箭头连接符 41"/>
          <p:cNvCxnSpPr/>
          <p:nvPr/>
        </p:nvCxnSpPr>
        <p:spPr>
          <a:xfrm flipH="1" flipV="1">
            <a:off x="9465310" y="4173855"/>
            <a:ext cx="8890" cy="10604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8940165" y="5536565"/>
            <a:ext cx="1073785" cy="260350"/>
          </a:xfrm>
          <a:prstGeom prst="rect">
            <a:avLst/>
          </a:prstGeom>
          <a:noFill/>
        </p:spPr>
        <p:txBody>
          <a:bodyPr wrap="square" rtlCol="0">
            <a:spAutoFit/>
          </a:bodyPr>
          <a:p>
            <a:r>
              <a:rPr lang="zh-CN" altLang="en-US" sz="1100"/>
              <a:t>混塔结构参数</a:t>
            </a:r>
            <a:endParaRPr lang="zh-CN" altLang="en-US" sz="1100"/>
          </a:p>
        </p:txBody>
      </p:sp>
      <p:sp>
        <p:nvSpPr>
          <p:cNvPr id="44" name="矩形 43"/>
          <p:cNvSpPr/>
          <p:nvPr/>
        </p:nvSpPr>
        <p:spPr>
          <a:xfrm>
            <a:off x="10267950" y="4828540"/>
            <a:ext cx="1212850" cy="508000"/>
          </a:xfrm>
          <a:prstGeom prst="rect">
            <a:avLst/>
          </a:prstGeom>
          <a:solidFill>
            <a:srgbClr val="D7E3BD"/>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5" name="文本框 44"/>
          <p:cNvSpPr txBox="1"/>
          <p:nvPr/>
        </p:nvSpPr>
        <p:spPr>
          <a:xfrm>
            <a:off x="10327640" y="4952365"/>
            <a:ext cx="1073785" cy="260350"/>
          </a:xfrm>
          <a:prstGeom prst="rect">
            <a:avLst/>
          </a:prstGeom>
          <a:noFill/>
        </p:spPr>
        <p:txBody>
          <a:bodyPr wrap="square" rtlCol="0">
            <a:spAutoFit/>
          </a:bodyPr>
          <a:p>
            <a:r>
              <a:rPr lang="zh-CN" altLang="en-US" sz="1100"/>
              <a:t>局部</a:t>
            </a:r>
            <a:r>
              <a:rPr lang="zh-CN" altLang="en-US" sz="1100"/>
              <a:t>优化设计</a:t>
            </a:r>
            <a:endParaRPr lang="zh-CN" altLang="en-US" sz="1100"/>
          </a:p>
        </p:txBody>
      </p:sp>
      <p:sp>
        <p:nvSpPr>
          <p:cNvPr id="46" name="矩形 45"/>
          <p:cNvSpPr/>
          <p:nvPr/>
        </p:nvSpPr>
        <p:spPr>
          <a:xfrm>
            <a:off x="10483215" y="3232150"/>
            <a:ext cx="1009650" cy="196850"/>
          </a:xfrm>
          <a:prstGeom prst="rect">
            <a:avLst/>
          </a:prstGeom>
          <a:solidFill>
            <a:srgbClr val="D7D7D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7" name="文本框 46"/>
          <p:cNvSpPr txBox="1"/>
          <p:nvPr/>
        </p:nvSpPr>
        <p:spPr>
          <a:xfrm>
            <a:off x="10773410" y="3206750"/>
            <a:ext cx="520700" cy="275590"/>
          </a:xfrm>
          <a:prstGeom prst="rect">
            <a:avLst/>
          </a:prstGeom>
          <a:noFill/>
        </p:spPr>
        <p:txBody>
          <a:bodyPr wrap="square" rtlCol="0">
            <a:spAutoFit/>
          </a:bodyPr>
          <a:p>
            <a:r>
              <a:rPr lang="en-US" altLang="zh-CN" sz="1200">
                <a:latin typeface="微软雅黑" panose="020B0503020204020204" charset="-122"/>
                <a:ea typeface="微软雅黑" panose="020B0503020204020204" charset="-122"/>
              </a:rPr>
              <a:t>CSE</a:t>
            </a:r>
            <a:endParaRPr lang="en-US" altLang="zh-CN" sz="1200">
              <a:latin typeface="微软雅黑" panose="020B0503020204020204" charset="-122"/>
              <a:ea typeface="微软雅黑" panose="020B0503020204020204" charset="-122"/>
            </a:endParaRPr>
          </a:p>
        </p:txBody>
      </p:sp>
      <p:sp>
        <p:nvSpPr>
          <p:cNvPr id="48" name="矩形 47"/>
          <p:cNvSpPr/>
          <p:nvPr/>
        </p:nvSpPr>
        <p:spPr>
          <a:xfrm>
            <a:off x="10471150" y="5666740"/>
            <a:ext cx="1009650" cy="196850"/>
          </a:xfrm>
          <a:prstGeom prst="rect">
            <a:avLst/>
          </a:prstGeom>
          <a:solidFill>
            <a:srgbClr val="D7D7D7"/>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9" name="文本框 48"/>
          <p:cNvSpPr txBox="1"/>
          <p:nvPr/>
        </p:nvSpPr>
        <p:spPr>
          <a:xfrm>
            <a:off x="10574020" y="5621020"/>
            <a:ext cx="768350" cy="275590"/>
          </a:xfrm>
          <a:prstGeom prst="rect">
            <a:avLst/>
          </a:prstGeom>
          <a:noFill/>
        </p:spPr>
        <p:txBody>
          <a:bodyPr wrap="square" rtlCol="0">
            <a:spAutoFit/>
          </a:bodyPr>
          <a:p>
            <a:r>
              <a:rPr lang="en-US" altLang="zh-CN" sz="1200">
                <a:latin typeface="微软雅黑" panose="020B0503020204020204" charset="-122"/>
                <a:ea typeface="微软雅黑" panose="020B0503020204020204" charset="-122"/>
              </a:rPr>
              <a:t>Abaqus</a:t>
            </a:r>
            <a:endParaRPr lang="en-US" altLang="zh-CN" sz="1200">
              <a:latin typeface="微软雅黑" panose="020B0503020204020204" charset="-122"/>
              <a:ea typeface="微软雅黑" panose="020B0503020204020204" charset="-122"/>
            </a:endParaRPr>
          </a:p>
        </p:txBody>
      </p:sp>
      <p:sp>
        <p:nvSpPr>
          <p:cNvPr id="50" name="矩形 49"/>
          <p:cNvSpPr/>
          <p:nvPr/>
        </p:nvSpPr>
        <p:spPr>
          <a:xfrm>
            <a:off x="748665" y="6212840"/>
            <a:ext cx="86995" cy="88900"/>
          </a:xfrm>
          <a:prstGeom prst="rect">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1" name="文本框 50"/>
          <p:cNvSpPr txBox="1"/>
          <p:nvPr/>
        </p:nvSpPr>
        <p:spPr>
          <a:xfrm>
            <a:off x="798830" y="6130925"/>
            <a:ext cx="4978400" cy="506730"/>
          </a:xfrm>
          <a:prstGeom prst="rect">
            <a:avLst/>
          </a:prstGeom>
          <a:noFill/>
        </p:spPr>
        <p:txBody>
          <a:bodyPr wrap="square" rtlCol="0">
            <a:spAutoFit/>
          </a:bodyPr>
          <a:p>
            <a:r>
              <a:rPr lang="en-US" altLang="zh-CN" sz="900">
                <a:latin typeface="微软雅黑" panose="020B0503020204020204" charset="-122"/>
                <a:ea typeface="微软雅黑" panose="020B0503020204020204" charset="-122"/>
              </a:rPr>
              <a:t>Wang D, Xu J ,et al. Hight-fidelity integrated co-simulation model for dynamic analysis of onshore wind turbines with steel-concrete hybrid tower[J]</a:t>
            </a:r>
            <a:r>
              <a:rPr lang="en-US" altLang="zh-CN" sz="900" b="1">
                <a:latin typeface="微软雅黑" panose="020B0503020204020204" charset="-122"/>
                <a:ea typeface="微软雅黑" panose="020B0503020204020204" charset="-122"/>
              </a:rPr>
              <a:t>.</a:t>
            </a:r>
            <a:r>
              <a:rPr lang="en-US" altLang="zh-CN" sz="900" b="1" i="1">
                <a:latin typeface="Times New Roman" panose="02020603050405020304" charset="0"/>
                <a:ea typeface="微软雅黑" panose="020B0503020204020204" charset="-122"/>
                <a:cs typeface="Times New Roman" panose="02020603050405020304" charset="0"/>
              </a:rPr>
              <a:t>Mech Syst Signal Process,</a:t>
            </a:r>
            <a:r>
              <a:rPr lang="en-US" altLang="zh-CN" sz="900" b="1">
                <a:latin typeface="微软雅黑" panose="020B0503020204020204" charset="-122"/>
                <a:ea typeface="微软雅黑" panose="020B0503020204020204" charset="-122"/>
              </a:rPr>
              <a:t> </a:t>
            </a:r>
            <a:r>
              <a:rPr lang="en-US" altLang="zh-CN" sz="900">
                <a:latin typeface="微软雅黑" panose="020B0503020204020204" charset="-122"/>
                <a:ea typeface="微软雅黑" panose="020B0503020204020204" charset="-122"/>
              </a:rPr>
              <a:t>2025, 230: 112583.</a:t>
            </a:r>
            <a:endParaRPr lang="en-US" altLang="zh-CN" sz="900">
              <a:latin typeface="微软雅黑" panose="020B0503020204020204" charset="-122"/>
              <a:ea typeface="微软雅黑" panose="020B0503020204020204" charset="-122"/>
            </a:endParaRPr>
          </a:p>
        </p:txBody>
      </p:sp>
      <p:sp>
        <p:nvSpPr>
          <p:cNvPr id="52" name="文本框 51"/>
          <p:cNvSpPr txBox="1"/>
          <p:nvPr/>
        </p:nvSpPr>
        <p:spPr>
          <a:xfrm>
            <a:off x="5631180" y="2885440"/>
            <a:ext cx="803275" cy="275590"/>
          </a:xfrm>
          <a:prstGeom prst="rect">
            <a:avLst/>
          </a:prstGeom>
          <a:noFill/>
        </p:spPr>
        <p:txBody>
          <a:bodyPr wrap="square" rtlCol="0">
            <a:spAutoFit/>
          </a:bodyPr>
          <a:p>
            <a:r>
              <a:rPr lang="zh-CN" altLang="en-US" sz="1200"/>
              <a:t>湍流风场</a:t>
            </a:r>
            <a:endParaRPr lang="zh-CN" altLang="en-US" sz="1200"/>
          </a:p>
        </p:txBody>
      </p:sp>
      <p:pic>
        <p:nvPicPr>
          <p:cNvPr id="53" name="图片 52" descr="24.1"/>
          <p:cNvPicPr>
            <a:picLocks noChangeAspect="1"/>
          </p:cNvPicPr>
          <p:nvPr/>
        </p:nvPicPr>
        <p:blipFill>
          <a:blip r:embed="rId3"/>
          <a:stretch>
            <a:fillRect/>
          </a:stretch>
        </p:blipFill>
        <p:spPr>
          <a:xfrm>
            <a:off x="5677535" y="1821180"/>
            <a:ext cx="781050" cy="1115060"/>
          </a:xfrm>
          <a:prstGeom prst="rect">
            <a:avLst/>
          </a:prstGeom>
        </p:spPr>
      </p:pic>
      <p:pic>
        <p:nvPicPr>
          <p:cNvPr id="54" name="图片 53" descr="24.3"/>
          <p:cNvPicPr>
            <a:picLocks noChangeAspect="1"/>
          </p:cNvPicPr>
          <p:nvPr/>
        </p:nvPicPr>
        <p:blipFill>
          <a:blip r:embed="rId4"/>
          <a:stretch>
            <a:fillRect/>
          </a:stretch>
        </p:blipFill>
        <p:spPr>
          <a:xfrm>
            <a:off x="10280015" y="3580765"/>
            <a:ext cx="1253490" cy="1188720"/>
          </a:xfrm>
          <a:prstGeom prst="rect">
            <a:avLst/>
          </a:prstGeom>
        </p:spPr>
      </p:pic>
      <p:cxnSp>
        <p:nvCxnSpPr>
          <p:cNvPr id="55" name="直接箭头连接符 54"/>
          <p:cNvCxnSpPr>
            <a:stCxn id="37" idx="0"/>
          </p:cNvCxnSpPr>
          <p:nvPr/>
        </p:nvCxnSpPr>
        <p:spPr>
          <a:xfrm flipV="1">
            <a:off x="9466580" y="4695190"/>
            <a:ext cx="7620" cy="12890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6" name="直接箭头连接符 55"/>
          <p:cNvCxnSpPr>
            <a:stCxn id="41" idx="0"/>
          </p:cNvCxnSpPr>
          <p:nvPr/>
        </p:nvCxnSpPr>
        <p:spPr>
          <a:xfrm flipH="1" flipV="1">
            <a:off x="9474200" y="5336540"/>
            <a:ext cx="6350" cy="13335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7" name="文本框 56"/>
          <p:cNvSpPr txBox="1"/>
          <p:nvPr/>
        </p:nvSpPr>
        <p:spPr>
          <a:xfrm>
            <a:off x="8881745" y="2287270"/>
            <a:ext cx="1267460" cy="245110"/>
          </a:xfrm>
          <a:prstGeom prst="rect">
            <a:avLst/>
          </a:prstGeom>
          <a:noFill/>
        </p:spPr>
        <p:txBody>
          <a:bodyPr wrap="square" rtlCol="0">
            <a:spAutoFit/>
          </a:bodyPr>
          <a:p>
            <a:r>
              <a:rPr lang="zh-CN" altLang="en-US" sz="1000"/>
              <a:t>接口节点动态响应</a:t>
            </a:r>
            <a:endParaRPr lang="zh-CN" altLang="en-US" sz="1000"/>
          </a:p>
        </p:txBody>
      </p:sp>
      <p:sp>
        <p:nvSpPr>
          <p:cNvPr id="58" name="文本框 57"/>
          <p:cNvSpPr txBox="1"/>
          <p:nvPr/>
        </p:nvSpPr>
        <p:spPr>
          <a:xfrm>
            <a:off x="8881745" y="3237230"/>
            <a:ext cx="1267460" cy="245110"/>
          </a:xfrm>
          <a:prstGeom prst="rect">
            <a:avLst/>
          </a:prstGeom>
          <a:noFill/>
        </p:spPr>
        <p:txBody>
          <a:bodyPr wrap="square" rtlCol="0">
            <a:spAutoFit/>
          </a:bodyPr>
          <a:p>
            <a:r>
              <a:rPr lang="zh-CN" altLang="en-US" sz="1000"/>
              <a:t>接口节点动态响应</a:t>
            </a:r>
            <a:endParaRPr lang="zh-CN" altLang="en-US" sz="1000"/>
          </a:p>
        </p:txBody>
      </p:sp>
      <p:cxnSp>
        <p:nvCxnSpPr>
          <p:cNvPr id="59" name="直接连接符 58"/>
          <p:cNvCxnSpPr>
            <a:stCxn id="34" idx="3"/>
          </p:cNvCxnSpPr>
          <p:nvPr/>
        </p:nvCxnSpPr>
        <p:spPr>
          <a:xfrm>
            <a:off x="10015220" y="3932555"/>
            <a:ext cx="93980" cy="635"/>
          </a:xfrm>
          <a:prstGeom prst="line">
            <a:avLst/>
          </a:prstGeom>
          <a:ln>
            <a:solidFill>
              <a:schemeClr val="tx1"/>
            </a:solidFill>
            <a:prstDash val="sysDash"/>
          </a:ln>
        </p:spPr>
        <p:style>
          <a:lnRef idx="2">
            <a:schemeClr val="accent1"/>
          </a:lnRef>
          <a:fillRef idx="0">
            <a:srgbClr val="FFFFFF"/>
          </a:fillRef>
          <a:effectRef idx="0">
            <a:srgbClr val="FFFFFF"/>
          </a:effectRef>
          <a:fontRef idx="minor">
            <a:schemeClr val="tx1"/>
          </a:fontRef>
        </p:style>
      </p:cxnSp>
      <p:cxnSp>
        <p:nvCxnSpPr>
          <p:cNvPr id="62" name="直接连接符 61"/>
          <p:cNvCxnSpPr/>
          <p:nvPr/>
        </p:nvCxnSpPr>
        <p:spPr>
          <a:xfrm flipH="1" flipV="1">
            <a:off x="10022205" y="2044700"/>
            <a:ext cx="237490" cy="3175"/>
          </a:xfrm>
          <a:prstGeom prst="line">
            <a:avLst/>
          </a:prstGeom>
          <a:ln>
            <a:solidFill>
              <a:schemeClr val="tx1"/>
            </a:solidFill>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63" name="直接连接符 62"/>
          <p:cNvCxnSpPr/>
          <p:nvPr/>
        </p:nvCxnSpPr>
        <p:spPr>
          <a:xfrm>
            <a:off x="10110470" y="3077845"/>
            <a:ext cx="0" cy="848995"/>
          </a:xfrm>
          <a:prstGeom prst="line">
            <a:avLst/>
          </a:prstGeom>
          <a:ln>
            <a:solidFill>
              <a:schemeClr val="tx1"/>
            </a:solidFill>
            <a:prstDash val="sysDash"/>
          </a:ln>
        </p:spPr>
        <p:style>
          <a:lnRef idx="2">
            <a:schemeClr val="accent1"/>
          </a:lnRef>
          <a:fillRef idx="0">
            <a:srgbClr val="FFFFFF"/>
          </a:fillRef>
          <a:effectRef idx="0">
            <a:srgbClr val="FFFFFF"/>
          </a:effectRef>
          <a:fontRef idx="minor">
            <a:schemeClr val="tx1"/>
          </a:fontRef>
        </p:style>
      </p:cxnSp>
      <p:cxnSp>
        <p:nvCxnSpPr>
          <p:cNvPr id="64" name="直接连接符 63"/>
          <p:cNvCxnSpPr/>
          <p:nvPr/>
        </p:nvCxnSpPr>
        <p:spPr>
          <a:xfrm>
            <a:off x="10110470" y="3081020"/>
            <a:ext cx="163195" cy="0"/>
          </a:xfrm>
          <a:prstGeom prst="line">
            <a:avLst/>
          </a:prstGeom>
          <a:ln>
            <a:solidFill>
              <a:schemeClr val="tx1"/>
            </a:solidFill>
            <a:prstDash val="sysDash"/>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65" name="直接连接符 64"/>
          <p:cNvCxnSpPr/>
          <p:nvPr/>
        </p:nvCxnSpPr>
        <p:spPr>
          <a:xfrm flipH="1" flipV="1">
            <a:off x="10013950" y="2933065"/>
            <a:ext cx="237490" cy="3175"/>
          </a:xfrm>
          <a:prstGeom prst="line">
            <a:avLst/>
          </a:prstGeom>
          <a:ln>
            <a:solidFill>
              <a:schemeClr val="tx1"/>
            </a:solidFill>
            <a:headEnd type="none" w="med" len="med"/>
            <a:tailEnd type="triangle" w="med" len="med"/>
          </a:ln>
        </p:spPr>
        <p:style>
          <a:lnRef idx="2">
            <a:schemeClr val="accent1"/>
          </a:lnRef>
          <a:fillRef idx="0">
            <a:srgbClr val="FFFFFF"/>
          </a:fillRef>
          <a:effectRef idx="0">
            <a:srgbClr val="FFFFFF"/>
          </a:effectRef>
          <a:fontRef idx="minor">
            <a:schemeClr val="tx1"/>
          </a:fontRef>
        </p:style>
      </p:cxnSp>
      <p:cxnSp>
        <p:nvCxnSpPr>
          <p:cNvPr id="66" name="直接连接符 65"/>
          <p:cNvCxnSpPr/>
          <p:nvPr/>
        </p:nvCxnSpPr>
        <p:spPr>
          <a:xfrm flipV="1">
            <a:off x="10022840" y="2160270"/>
            <a:ext cx="97155" cy="1270"/>
          </a:xfrm>
          <a:prstGeom prst="line">
            <a:avLst/>
          </a:prstGeom>
          <a:ln>
            <a:solidFill>
              <a:schemeClr val="tx1"/>
            </a:solidFill>
            <a:prstDash val="sysDash"/>
          </a:ln>
        </p:spPr>
        <p:style>
          <a:lnRef idx="2">
            <a:schemeClr val="accent1"/>
          </a:lnRef>
          <a:fillRef idx="0">
            <a:srgbClr val="FFFFFF"/>
          </a:fillRef>
          <a:effectRef idx="0">
            <a:srgbClr val="FFFFFF"/>
          </a:effectRef>
          <a:fontRef idx="minor">
            <a:schemeClr val="tx1"/>
          </a:fontRef>
        </p:style>
      </p:cxnSp>
      <p:cxnSp>
        <p:nvCxnSpPr>
          <p:cNvPr id="67" name="直接连接符 66"/>
          <p:cNvCxnSpPr/>
          <p:nvPr/>
        </p:nvCxnSpPr>
        <p:spPr>
          <a:xfrm flipH="1">
            <a:off x="10119995" y="2158365"/>
            <a:ext cx="1270" cy="650875"/>
          </a:xfrm>
          <a:prstGeom prst="line">
            <a:avLst/>
          </a:prstGeom>
          <a:ln>
            <a:solidFill>
              <a:schemeClr val="tx1"/>
            </a:solidFill>
            <a:prstDash val="sysDash"/>
          </a:ln>
        </p:spPr>
        <p:style>
          <a:lnRef idx="2">
            <a:schemeClr val="accent1"/>
          </a:lnRef>
          <a:fillRef idx="0">
            <a:srgbClr val="FFFFFF"/>
          </a:fillRef>
          <a:effectRef idx="0">
            <a:srgbClr val="FFFFFF"/>
          </a:effectRef>
          <a:fontRef idx="minor">
            <a:schemeClr val="tx1"/>
          </a:fontRef>
        </p:style>
      </p:cxnSp>
      <p:cxnSp>
        <p:nvCxnSpPr>
          <p:cNvPr id="68" name="直接连接符 67"/>
          <p:cNvCxnSpPr/>
          <p:nvPr/>
        </p:nvCxnSpPr>
        <p:spPr>
          <a:xfrm flipV="1">
            <a:off x="10119995" y="2801620"/>
            <a:ext cx="146050" cy="3175"/>
          </a:xfrm>
          <a:prstGeom prst="line">
            <a:avLst/>
          </a:prstGeom>
          <a:ln>
            <a:solidFill>
              <a:schemeClr val="tx1"/>
            </a:solidFill>
            <a:prstDash val="sysDash"/>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44" idx="1"/>
          </p:cNvCxnSpPr>
          <p:nvPr/>
        </p:nvCxnSpPr>
        <p:spPr>
          <a:xfrm flipH="1" flipV="1">
            <a:off x="10001885" y="5080000"/>
            <a:ext cx="266065" cy="2540"/>
          </a:xfrm>
          <a:prstGeom prst="line">
            <a:avLst/>
          </a:prstGeom>
          <a:ln>
            <a:solidFill>
              <a:schemeClr val="tx1"/>
            </a:solidFill>
            <a:headEnd type="none" w="med" len="med"/>
            <a:tailEnd type="triangle" w="med" len="med"/>
          </a:ln>
        </p:spPr>
        <p:style>
          <a:lnRef idx="2">
            <a:schemeClr val="accent1"/>
          </a:lnRef>
          <a:fillRef idx="0">
            <a:srgbClr val="FFFFFF"/>
          </a:fillRef>
          <a:effectRef idx="0">
            <a:srgbClr val="FFFFFF"/>
          </a:effectRef>
          <a:fontRef idx="minor">
            <a:schemeClr val="tx1"/>
          </a:fontRef>
        </p:style>
      </p:cxnSp>
      <p:pic>
        <p:nvPicPr>
          <p:cNvPr id="70" name="图片 69" descr="24.2.2"/>
          <p:cNvPicPr>
            <a:picLocks noChangeAspect="1"/>
          </p:cNvPicPr>
          <p:nvPr/>
        </p:nvPicPr>
        <p:blipFill>
          <a:blip r:embed="rId5"/>
          <a:stretch>
            <a:fillRect/>
          </a:stretch>
        </p:blipFill>
        <p:spPr>
          <a:xfrm>
            <a:off x="5631180" y="1821180"/>
            <a:ext cx="3130550" cy="4154805"/>
          </a:xfrm>
          <a:prstGeom prst="rect">
            <a:avLst/>
          </a:prstGeom>
        </p:spPr>
      </p:pic>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24/68</a:t>
            </a:r>
            <a:endParaRPr lang="en-US" altLang="zh-CN">
              <a:latin typeface="微软雅黑" panose="020B0503020204020204" charset="-122"/>
              <a:ea typeface="微软雅黑" panose="020B0503020204020204" charset="-122"/>
            </a:endParaRPr>
          </a:p>
        </p:txBody>
      </p:sp>
      <p:sp>
        <p:nvSpPr>
          <p:cNvPr id="61" name="文本框 60"/>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3975735" cy="445135"/>
          </a:xfrm>
          <a:prstGeom prst="rect">
            <a:avLst/>
          </a:prstGeom>
          <a:noFill/>
        </p:spPr>
        <p:txBody>
          <a:bodyPr wrap="square" rtlCol="0">
            <a:spAutoFit/>
          </a:bodyPr>
          <a:p>
            <a:r>
              <a:rPr lang="zh-CN" altLang="en-US" sz="2300" b="1">
                <a:solidFill>
                  <a:srgbClr val="394C7E"/>
                </a:solidFill>
              </a:rPr>
              <a:t>模型建立：叶轮</a:t>
            </a:r>
            <a:r>
              <a:rPr lang="en-US" altLang="zh-CN" sz="2300" b="1">
                <a:solidFill>
                  <a:srgbClr val="394C7E"/>
                </a:solidFill>
              </a:rPr>
              <a:t>-</a:t>
            </a:r>
            <a:r>
              <a:rPr lang="zh-CN" altLang="en-US" sz="2300" b="1">
                <a:solidFill>
                  <a:srgbClr val="394C7E"/>
                </a:solidFill>
              </a:rPr>
              <a:t>机舱</a:t>
            </a:r>
            <a:r>
              <a:rPr lang="zh-CN" altLang="en-US" sz="2300" b="1">
                <a:solidFill>
                  <a:srgbClr val="394C7E"/>
                </a:solidFill>
              </a:rPr>
              <a:t>子系统</a:t>
            </a:r>
            <a:endParaRPr lang="zh-CN" altLang="en-US" sz="2300" b="1">
              <a:solidFill>
                <a:srgbClr val="394C7E"/>
              </a:solidFill>
            </a:endParaRPr>
          </a:p>
        </p:txBody>
      </p:sp>
      <p:sp>
        <p:nvSpPr>
          <p:cNvPr id="12" name="圆角矩形 11"/>
          <p:cNvSpPr/>
          <p:nvPr/>
        </p:nvSpPr>
        <p:spPr>
          <a:xfrm>
            <a:off x="799465" y="1633220"/>
            <a:ext cx="4834255" cy="2404745"/>
          </a:xfrm>
          <a:prstGeom prst="roundRect">
            <a:avLst/>
          </a:prstGeom>
          <a:ln>
            <a:solidFill>
              <a:srgbClr val="D7D7D7"/>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矩形 12"/>
          <p:cNvSpPr/>
          <p:nvPr/>
        </p:nvSpPr>
        <p:spPr>
          <a:xfrm>
            <a:off x="681355" y="4114165"/>
            <a:ext cx="5181600" cy="229489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矩形 13"/>
          <p:cNvSpPr/>
          <p:nvPr/>
        </p:nvSpPr>
        <p:spPr>
          <a:xfrm>
            <a:off x="6150610" y="1760855"/>
            <a:ext cx="1981200" cy="584200"/>
          </a:xfrm>
          <a:prstGeom prst="rect">
            <a:avLst/>
          </a:prstGeom>
          <a:ln>
            <a:solidFill>
              <a:srgbClr val="D7D7D7"/>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椭圆 14"/>
          <p:cNvSpPr/>
          <p:nvPr/>
        </p:nvSpPr>
        <p:spPr>
          <a:xfrm>
            <a:off x="798830" y="4355465"/>
            <a:ext cx="75565" cy="7556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799465" y="4748530"/>
            <a:ext cx="75565" cy="7556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798830" y="5141595"/>
            <a:ext cx="75565" cy="7556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798830" y="5557520"/>
            <a:ext cx="75565" cy="7556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943610" y="4207510"/>
            <a:ext cx="4979035" cy="368300"/>
          </a:xfrm>
          <a:prstGeom prst="rect">
            <a:avLst/>
          </a:prstGeom>
          <a:noFill/>
        </p:spPr>
        <p:txBody>
          <a:bodyPr wrap="square" rtlCol="0">
            <a:spAutoFit/>
          </a:bodyPr>
          <a:p>
            <a:r>
              <a:rPr lang="zh-CN" altLang="en-US" b="1">
                <a:latin typeface="Times New Roman" panose="02020603050405020304" charset="0"/>
                <a:cs typeface="Times New Roman" panose="02020603050405020304" charset="0"/>
              </a:rPr>
              <a:t>使用</a:t>
            </a:r>
            <a:r>
              <a:rPr lang="zh-CN" altLang="en-US" b="1">
                <a:solidFill>
                  <a:srgbClr val="023A8B"/>
                </a:solidFill>
                <a:latin typeface="Times New Roman" panose="02020603050405020304" charset="0"/>
                <a:cs typeface="Times New Roman" panose="02020603050405020304" charset="0"/>
              </a:rPr>
              <a:t>多体动力学软件</a:t>
            </a:r>
            <a:r>
              <a:rPr lang="en-US" altLang="zh-CN" b="1">
                <a:solidFill>
                  <a:srgbClr val="C00000"/>
                </a:solidFill>
                <a:latin typeface="Times New Roman" panose="02020603050405020304" charset="0"/>
                <a:cs typeface="Times New Roman" panose="02020603050405020304" charset="0"/>
              </a:rPr>
              <a:t>Simpack</a:t>
            </a:r>
            <a:r>
              <a:rPr lang="zh-CN" altLang="en-US" b="1">
                <a:latin typeface="Times New Roman" panose="02020603050405020304" charset="0"/>
                <a:cs typeface="Times New Roman" panose="02020603050405020304" charset="0"/>
              </a:rPr>
              <a:t>进行建模和模拟</a:t>
            </a:r>
            <a:r>
              <a:rPr lang="zh-CN" altLang="en-US"/>
              <a:t>。</a:t>
            </a:r>
            <a:endParaRPr lang="zh-CN" altLang="en-US"/>
          </a:p>
        </p:txBody>
      </p:sp>
      <p:sp>
        <p:nvSpPr>
          <p:cNvPr id="20" name="文本框 19"/>
          <p:cNvSpPr txBox="1"/>
          <p:nvPr/>
        </p:nvSpPr>
        <p:spPr>
          <a:xfrm>
            <a:off x="943610" y="4613910"/>
            <a:ext cx="4826635" cy="368300"/>
          </a:xfrm>
          <a:prstGeom prst="rect">
            <a:avLst/>
          </a:prstGeom>
          <a:noFill/>
        </p:spPr>
        <p:txBody>
          <a:bodyPr wrap="square" rtlCol="0">
            <a:spAutoFit/>
          </a:bodyPr>
          <a:p>
            <a:r>
              <a:rPr lang="zh-CN" altLang="en-US" b="1">
                <a:solidFill>
                  <a:schemeClr val="tx1"/>
                </a:solidFill>
                <a:latin typeface="Times New Roman" panose="02020603050405020304" charset="0"/>
                <a:cs typeface="Times New Roman" panose="02020603050405020304" charset="0"/>
              </a:rPr>
              <a:t>部件中除</a:t>
            </a:r>
            <a:r>
              <a:rPr lang="zh-CN" altLang="en-US" b="1">
                <a:solidFill>
                  <a:srgbClr val="C00000"/>
                </a:solidFill>
                <a:latin typeface="Times New Roman" panose="02020603050405020304" charset="0"/>
                <a:cs typeface="Times New Roman" panose="02020603050405020304" charset="0"/>
              </a:rPr>
              <a:t>叶片为柔性体</a:t>
            </a:r>
            <a:r>
              <a:rPr lang="zh-CN" altLang="en-US" b="1">
                <a:solidFill>
                  <a:schemeClr val="tx1"/>
                </a:solidFill>
                <a:latin typeface="Times New Roman" panose="02020603050405020304" charset="0"/>
                <a:cs typeface="Times New Roman" panose="02020603050405020304" charset="0"/>
              </a:rPr>
              <a:t>外</a:t>
            </a:r>
            <a:r>
              <a:rPr lang="en-US" altLang="zh-CN" b="1">
                <a:solidFill>
                  <a:schemeClr val="tx1"/>
                </a:solidFill>
                <a:latin typeface="Times New Roman" panose="02020603050405020304" charset="0"/>
                <a:cs typeface="Times New Roman" panose="02020603050405020304" charset="0"/>
              </a:rPr>
              <a:t>,</a:t>
            </a:r>
            <a:r>
              <a:rPr lang="zh-CN" altLang="en-US" b="1">
                <a:solidFill>
                  <a:schemeClr val="tx1"/>
                </a:solidFill>
                <a:latin typeface="Times New Roman" panose="02020603050405020304" charset="0"/>
                <a:cs typeface="Times New Roman" panose="02020603050405020304" charset="0"/>
              </a:rPr>
              <a:t>其他部件均视为刚体。</a:t>
            </a:r>
            <a:endParaRPr lang="zh-CN" altLang="en-US" b="1">
              <a:solidFill>
                <a:schemeClr val="tx1"/>
              </a:solidFill>
              <a:latin typeface="Times New Roman" panose="02020603050405020304" charset="0"/>
              <a:cs typeface="Times New Roman" panose="02020603050405020304" charset="0"/>
            </a:endParaRPr>
          </a:p>
        </p:txBody>
      </p:sp>
      <p:sp>
        <p:nvSpPr>
          <p:cNvPr id="21" name="文本框 20"/>
          <p:cNvSpPr txBox="1"/>
          <p:nvPr/>
        </p:nvSpPr>
        <p:spPr>
          <a:xfrm>
            <a:off x="943610" y="4982210"/>
            <a:ext cx="5131435" cy="368300"/>
          </a:xfrm>
          <a:prstGeom prst="rect">
            <a:avLst/>
          </a:prstGeom>
          <a:noFill/>
        </p:spPr>
        <p:txBody>
          <a:bodyPr wrap="square" rtlCol="0">
            <a:spAutoFit/>
          </a:bodyPr>
          <a:p>
            <a:r>
              <a:rPr lang="zh-CN" altLang="en-US" b="1">
                <a:solidFill>
                  <a:srgbClr val="023A8B"/>
                </a:solidFill>
                <a:latin typeface="Times New Roman" panose="02020603050405020304" charset="0"/>
                <a:cs typeface="Times New Roman" panose="02020603050405020304" charset="0"/>
              </a:rPr>
              <a:t>伺服控制系统</a:t>
            </a:r>
            <a:r>
              <a:rPr lang="en-US" altLang="zh-CN" b="1">
                <a:solidFill>
                  <a:srgbClr val="023A8B"/>
                </a:solidFill>
                <a:latin typeface="Times New Roman" panose="02020603050405020304" charset="0"/>
                <a:cs typeface="Times New Roman" panose="02020603050405020304" charset="0"/>
              </a:rPr>
              <a:t>,</a:t>
            </a:r>
            <a:r>
              <a:rPr lang="zh-CN" altLang="en-US" b="1">
                <a:solidFill>
                  <a:srgbClr val="023A8B"/>
                </a:solidFill>
                <a:latin typeface="Times New Roman" panose="02020603050405020304" charset="0"/>
                <a:cs typeface="Times New Roman" panose="02020603050405020304" charset="0"/>
              </a:rPr>
              <a:t>包括</a:t>
            </a:r>
            <a:r>
              <a:rPr lang="zh-CN" altLang="en-US" b="1">
                <a:solidFill>
                  <a:srgbClr val="C00000"/>
                </a:solidFill>
                <a:latin typeface="Times New Roman" panose="02020603050405020304" charset="0"/>
                <a:cs typeface="Times New Roman" panose="02020603050405020304" charset="0"/>
              </a:rPr>
              <a:t>变桨控制</a:t>
            </a:r>
            <a:r>
              <a:rPr lang="zh-CN" altLang="en-US" b="1">
                <a:solidFill>
                  <a:schemeClr val="tx1"/>
                </a:solidFill>
                <a:latin typeface="Times New Roman" panose="02020603050405020304" charset="0"/>
                <a:cs typeface="Times New Roman" panose="02020603050405020304" charset="0"/>
              </a:rPr>
              <a:t>和</a:t>
            </a:r>
            <a:r>
              <a:rPr lang="zh-CN" altLang="en-US" b="1">
                <a:solidFill>
                  <a:srgbClr val="C00000"/>
                </a:solidFill>
                <a:latin typeface="Times New Roman" panose="02020603050405020304" charset="0"/>
                <a:cs typeface="Times New Roman" panose="02020603050405020304" charset="0"/>
              </a:rPr>
              <a:t>发电机转矩控制</a:t>
            </a:r>
            <a:r>
              <a:rPr lang="zh-CN" altLang="en-US"/>
              <a:t>。</a:t>
            </a:r>
            <a:endParaRPr lang="zh-CN" altLang="en-US"/>
          </a:p>
        </p:txBody>
      </p:sp>
      <p:sp>
        <p:nvSpPr>
          <p:cNvPr id="22" name="文本框 21"/>
          <p:cNvSpPr txBox="1"/>
          <p:nvPr/>
        </p:nvSpPr>
        <p:spPr>
          <a:xfrm>
            <a:off x="883920" y="5350510"/>
            <a:ext cx="4979035" cy="755650"/>
          </a:xfrm>
          <a:prstGeom prst="rect">
            <a:avLst/>
          </a:prstGeom>
          <a:noFill/>
        </p:spPr>
        <p:txBody>
          <a:bodyPr wrap="square" rtlCol="0">
            <a:spAutoFit/>
          </a:bodyPr>
          <a:p>
            <a:pPr>
              <a:lnSpc>
                <a:spcPct val="120000"/>
              </a:lnSpc>
              <a:spcBef>
                <a:spcPts val="0"/>
              </a:spcBef>
              <a:spcAft>
                <a:spcPts val="0"/>
              </a:spcAft>
            </a:pPr>
            <a:r>
              <a:rPr lang="zh-CN" altLang="en-US" b="1">
                <a:solidFill>
                  <a:srgbClr val="023A8B"/>
                </a:solidFill>
                <a:latin typeface="Times New Roman" panose="02020603050405020304" charset="0"/>
                <a:cs typeface="Times New Roman" panose="02020603050405020304" charset="0"/>
              </a:rPr>
              <a:t>发电机转矩控制：</a:t>
            </a:r>
            <a:r>
              <a:rPr lang="zh-CN" altLang="en-US" b="1">
                <a:solidFill>
                  <a:schemeClr val="tx1"/>
                </a:solidFill>
                <a:latin typeface="微软雅黑" panose="020B0503020204020204" charset="-122"/>
                <a:ea typeface="微软雅黑" panose="020B0503020204020204" charset="-122"/>
                <a:cs typeface="微软雅黑" panose="020B0503020204020204" charset="-122"/>
              </a:rPr>
              <a:t>在额定转速以下提高能量捕获效率</a:t>
            </a:r>
            <a:r>
              <a:rPr lang="en-US" altLang="zh-CN" b="1">
                <a:solidFill>
                  <a:schemeClr val="tx1"/>
                </a:solidFill>
                <a:latin typeface="微软雅黑" panose="020B0503020204020204" charset="-122"/>
                <a:ea typeface="微软雅黑" panose="020B0503020204020204" charset="-122"/>
                <a:cs typeface="微软雅黑" panose="020B0503020204020204" charset="-122"/>
              </a:rPr>
              <a:t>,</a:t>
            </a:r>
            <a:r>
              <a:rPr lang="zh-CN" altLang="en-US" b="1">
                <a:solidFill>
                  <a:schemeClr val="tx1"/>
                </a:solidFill>
                <a:latin typeface="微软雅黑" panose="020B0503020204020204" charset="-122"/>
                <a:ea typeface="微软雅黑" panose="020B0503020204020204" charset="-122"/>
                <a:cs typeface="微软雅黑" panose="020B0503020204020204" charset="-122"/>
              </a:rPr>
              <a:t>在额定转速以上稳定功率输出。</a:t>
            </a:r>
            <a:endParaRPr lang="zh-CN" altLang="en-US"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6209665" y="2482850"/>
            <a:ext cx="551180" cy="33591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4" name="矩形 23"/>
          <p:cNvSpPr/>
          <p:nvPr/>
        </p:nvSpPr>
        <p:spPr>
          <a:xfrm>
            <a:off x="6235065" y="1802765"/>
            <a:ext cx="525145" cy="3302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矩形 24"/>
          <p:cNvSpPr/>
          <p:nvPr/>
        </p:nvSpPr>
        <p:spPr>
          <a:xfrm>
            <a:off x="7209155" y="1802765"/>
            <a:ext cx="542925" cy="3219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矩形 25"/>
          <p:cNvSpPr/>
          <p:nvPr/>
        </p:nvSpPr>
        <p:spPr>
          <a:xfrm>
            <a:off x="7209155" y="2488565"/>
            <a:ext cx="532765" cy="3219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矩形 26"/>
          <p:cNvSpPr/>
          <p:nvPr/>
        </p:nvSpPr>
        <p:spPr>
          <a:xfrm>
            <a:off x="8208010" y="1802765"/>
            <a:ext cx="541655" cy="3219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矩形 27"/>
          <p:cNvSpPr/>
          <p:nvPr/>
        </p:nvSpPr>
        <p:spPr>
          <a:xfrm>
            <a:off x="8208010" y="2488565"/>
            <a:ext cx="533400" cy="3302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矩形 28"/>
          <p:cNvSpPr/>
          <p:nvPr/>
        </p:nvSpPr>
        <p:spPr>
          <a:xfrm>
            <a:off x="6201410" y="3166110"/>
            <a:ext cx="558800" cy="33845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矩形 29"/>
          <p:cNvSpPr/>
          <p:nvPr/>
        </p:nvSpPr>
        <p:spPr>
          <a:xfrm>
            <a:off x="7217410" y="3166110"/>
            <a:ext cx="550545" cy="338455"/>
          </a:xfrm>
          <a:prstGeom prst="rect">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文本框 30"/>
          <p:cNvSpPr txBox="1"/>
          <p:nvPr/>
        </p:nvSpPr>
        <p:spPr>
          <a:xfrm>
            <a:off x="6282055" y="1845310"/>
            <a:ext cx="487045" cy="213995"/>
          </a:xfrm>
          <a:prstGeom prst="rect">
            <a:avLst/>
          </a:prstGeom>
          <a:noFill/>
        </p:spPr>
        <p:txBody>
          <a:bodyPr wrap="square" rtlCol="0">
            <a:spAutoFit/>
          </a:bodyPr>
          <a:p>
            <a:r>
              <a:rPr lang="zh-CN" altLang="en-US" sz="800"/>
              <a:t>叶片</a:t>
            </a:r>
            <a:endParaRPr lang="zh-CN" altLang="en-US" sz="800"/>
          </a:p>
        </p:txBody>
      </p:sp>
      <p:sp>
        <p:nvSpPr>
          <p:cNvPr id="32" name="椭圆 31"/>
          <p:cNvSpPr/>
          <p:nvPr/>
        </p:nvSpPr>
        <p:spPr>
          <a:xfrm>
            <a:off x="6877050" y="1860550"/>
            <a:ext cx="213360" cy="215900"/>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文本框 32"/>
          <p:cNvSpPr txBox="1"/>
          <p:nvPr/>
        </p:nvSpPr>
        <p:spPr>
          <a:xfrm>
            <a:off x="7209155" y="1845310"/>
            <a:ext cx="629920" cy="213995"/>
          </a:xfrm>
          <a:prstGeom prst="rect">
            <a:avLst/>
          </a:prstGeom>
          <a:noFill/>
        </p:spPr>
        <p:txBody>
          <a:bodyPr wrap="square" rtlCol="0">
            <a:spAutoFit/>
          </a:bodyPr>
          <a:p>
            <a:r>
              <a:rPr lang="zh-CN" altLang="en-US" sz="800"/>
              <a:t>变桨法兰</a:t>
            </a:r>
            <a:endParaRPr lang="zh-CN" altLang="en-US" sz="800"/>
          </a:p>
        </p:txBody>
      </p:sp>
      <p:sp>
        <p:nvSpPr>
          <p:cNvPr id="34" name="文本框 33"/>
          <p:cNvSpPr txBox="1"/>
          <p:nvPr/>
        </p:nvSpPr>
        <p:spPr>
          <a:xfrm>
            <a:off x="8288020" y="1845310"/>
            <a:ext cx="487045" cy="213995"/>
          </a:xfrm>
          <a:prstGeom prst="rect">
            <a:avLst/>
          </a:prstGeom>
          <a:noFill/>
        </p:spPr>
        <p:txBody>
          <a:bodyPr wrap="square" rtlCol="0">
            <a:spAutoFit/>
          </a:bodyPr>
          <a:p>
            <a:r>
              <a:rPr lang="zh-CN" altLang="en-US" sz="800"/>
              <a:t>轮毂</a:t>
            </a:r>
            <a:endParaRPr lang="zh-CN" altLang="en-US" sz="800"/>
          </a:p>
        </p:txBody>
      </p:sp>
      <p:sp>
        <p:nvSpPr>
          <p:cNvPr id="35" name="文本框 34"/>
          <p:cNvSpPr txBox="1"/>
          <p:nvPr/>
        </p:nvSpPr>
        <p:spPr>
          <a:xfrm>
            <a:off x="6292215" y="2542540"/>
            <a:ext cx="487045" cy="213995"/>
          </a:xfrm>
          <a:prstGeom prst="rect">
            <a:avLst/>
          </a:prstGeom>
          <a:noFill/>
        </p:spPr>
        <p:txBody>
          <a:bodyPr wrap="square" rtlCol="0">
            <a:spAutoFit/>
          </a:bodyPr>
          <a:p>
            <a:r>
              <a:rPr lang="zh-CN" altLang="en-US" sz="800"/>
              <a:t>机舱</a:t>
            </a:r>
            <a:endParaRPr lang="zh-CN" altLang="en-US" sz="800"/>
          </a:p>
        </p:txBody>
      </p:sp>
      <p:sp>
        <p:nvSpPr>
          <p:cNvPr id="36" name="文本框 35"/>
          <p:cNvSpPr txBox="1"/>
          <p:nvPr/>
        </p:nvSpPr>
        <p:spPr>
          <a:xfrm>
            <a:off x="7235825" y="2538095"/>
            <a:ext cx="532130" cy="213995"/>
          </a:xfrm>
          <a:prstGeom prst="rect">
            <a:avLst/>
          </a:prstGeom>
          <a:noFill/>
        </p:spPr>
        <p:txBody>
          <a:bodyPr wrap="square" rtlCol="0">
            <a:spAutoFit/>
          </a:bodyPr>
          <a:p>
            <a:r>
              <a:rPr lang="zh-CN" altLang="en-US" sz="800"/>
              <a:t>高速轴</a:t>
            </a:r>
            <a:endParaRPr lang="zh-CN" altLang="en-US" sz="800"/>
          </a:p>
        </p:txBody>
      </p:sp>
      <p:sp>
        <p:nvSpPr>
          <p:cNvPr id="37" name="文本框 36"/>
          <p:cNvSpPr txBox="1"/>
          <p:nvPr/>
        </p:nvSpPr>
        <p:spPr>
          <a:xfrm>
            <a:off x="8237855" y="2538095"/>
            <a:ext cx="532130" cy="213995"/>
          </a:xfrm>
          <a:prstGeom prst="rect">
            <a:avLst/>
          </a:prstGeom>
          <a:noFill/>
        </p:spPr>
        <p:txBody>
          <a:bodyPr wrap="square" rtlCol="0">
            <a:spAutoFit/>
          </a:bodyPr>
          <a:p>
            <a:r>
              <a:rPr lang="zh-CN" altLang="en-US" sz="800"/>
              <a:t>低速轴</a:t>
            </a:r>
            <a:endParaRPr lang="zh-CN" altLang="en-US" sz="800"/>
          </a:p>
        </p:txBody>
      </p:sp>
      <p:sp>
        <p:nvSpPr>
          <p:cNvPr id="38" name="文本框 37"/>
          <p:cNvSpPr txBox="1"/>
          <p:nvPr/>
        </p:nvSpPr>
        <p:spPr>
          <a:xfrm>
            <a:off x="6201410" y="3231515"/>
            <a:ext cx="640080" cy="213995"/>
          </a:xfrm>
          <a:prstGeom prst="rect">
            <a:avLst/>
          </a:prstGeom>
          <a:noFill/>
        </p:spPr>
        <p:txBody>
          <a:bodyPr wrap="square" rtlCol="0">
            <a:spAutoFit/>
          </a:bodyPr>
          <a:p>
            <a:r>
              <a:rPr lang="zh-CN" altLang="en-US" sz="800"/>
              <a:t>偏航法兰</a:t>
            </a:r>
            <a:endParaRPr lang="zh-CN" altLang="en-US" sz="800"/>
          </a:p>
        </p:txBody>
      </p:sp>
      <p:sp>
        <p:nvSpPr>
          <p:cNvPr id="39" name="文本框 38"/>
          <p:cNvSpPr txBox="1"/>
          <p:nvPr/>
        </p:nvSpPr>
        <p:spPr>
          <a:xfrm>
            <a:off x="7272020" y="3230880"/>
            <a:ext cx="487045" cy="213995"/>
          </a:xfrm>
          <a:prstGeom prst="rect">
            <a:avLst/>
          </a:prstGeom>
          <a:noFill/>
        </p:spPr>
        <p:txBody>
          <a:bodyPr wrap="square" rtlCol="0">
            <a:spAutoFit/>
          </a:bodyPr>
          <a:p>
            <a:r>
              <a:rPr lang="zh-CN" altLang="en-US" sz="800"/>
              <a:t>混塔</a:t>
            </a:r>
            <a:endParaRPr lang="zh-CN" altLang="en-US" sz="800"/>
          </a:p>
        </p:txBody>
      </p:sp>
      <p:sp>
        <p:nvSpPr>
          <p:cNvPr id="40" name="文本框 39"/>
          <p:cNvSpPr txBox="1"/>
          <p:nvPr/>
        </p:nvSpPr>
        <p:spPr>
          <a:xfrm>
            <a:off x="6793230" y="1845310"/>
            <a:ext cx="391795" cy="201930"/>
          </a:xfrm>
          <a:prstGeom prst="rect">
            <a:avLst/>
          </a:prstGeom>
          <a:noFill/>
        </p:spPr>
        <p:txBody>
          <a:bodyPr wrap="square" rtlCol="0">
            <a:noAutofit/>
          </a:bodyPr>
          <a:p>
            <a:pPr algn="ctr">
              <a:lnSpc>
                <a:spcPct val="80000"/>
              </a:lnSpc>
            </a:pPr>
            <a:r>
              <a:rPr lang="en-US" altLang="zh-CN" sz="600">
                <a:latin typeface="微软雅黑" panose="020B0503020204020204" charset="-122"/>
                <a:ea typeface="微软雅黑" panose="020B0503020204020204" charset="-122"/>
              </a:rPr>
              <a:t>0</a:t>
            </a:r>
            <a:endParaRPr lang="en-US" altLang="zh-CN" sz="600">
              <a:latin typeface="微软雅黑" panose="020B0503020204020204" charset="-122"/>
              <a:ea typeface="微软雅黑" panose="020B0503020204020204" charset="-122"/>
            </a:endParaRPr>
          </a:p>
          <a:p>
            <a:pPr algn="ctr">
              <a:lnSpc>
                <a:spcPct val="80000"/>
              </a:lnSpc>
            </a:pPr>
            <a:r>
              <a:rPr lang="en-US" altLang="zh-CN" sz="600">
                <a:latin typeface="微软雅黑" panose="020B0503020204020204" charset="-122"/>
                <a:ea typeface="微软雅黑" panose="020B0503020204020204" charset="-122"/>
              </a:rPr>
              <a:t>OOF</a:t>
            </a:r>
            <a:endParaRPr lang="en-US" altLang="zh-CN" sz="600">
              <a:latin typeface="微软雅黑" panose="020B0503020204020204" charset="-122"/>
              <a:ea typeface="微软雅黑" panose="020B0503020204020204" charset="-122"/>
            </a:endParaRPr>
          </a:p>
        </p:txBody>
      </p:sp>
      <p:cxnSp>
        <p:nvCxnSpPr>
          <p:cNvPr id="41" name="直接连接符 40"/>
          <p:cNvCxnSpPr/>
          <p:nvPr/>
        </p:nvCxnSpPr>
        <p:spPr>
          <a:xfrm>
            <a:off x="6760210" y="1963420"/>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a:off x="7082155" y="1963420"/>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7742555" y="1963420"/>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p:nvPr/>
        </p:nvCxnSpPr>
        <p:spPr>
          <a:xfrm>
            <a:off x="8081010" y="1963420"/>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a:off x="6750685" y="2653665"/>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6" name="直接连接符 45"/>
          <p:cNvCxnSpPr/>
          <p:nvPr/>
        </p:nvCxnSpPr>
        <p:spPr>
          <a:xfrm>
            <a:off x="7090410" y="2653665"/>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7" name="直接连接符 46"/>
          <p:cNvCxnSpPr/>
          <p:nvPr/>
        </p:nvCxnSpPr>
        <p:spPr>
          <a:xfrm>
            <a:off x="7733030" y="2653665"/>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8" name="直接连接符 47"/>
          <p:cNvCxnSpPr/>
          <p:nvPr/>
        </p:nvCxnSpPr>
        <p:spPr>
          <a:xfrm>
            <a:off x="8081010" y="2644775"/>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48"/>
          <p:cNvCxnSpPr/>
          <p:nvPr/>
        </p:nvCxnSpPr>
        <p:spPr>
          <a:xfrm>
            <a:off x="6750685" y="3338830"/>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a:off x="7088505" y="3338830"/>
            <a:ext cx="127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1" name="直接连接符 50"/>
          <p:cNvCxnSpPr/>
          <p:nvPr/>
        </p:nvCxnSpPr>
        <p:spPr>
          <a:xfrm>
            <a:off x="8479155" y="2415540"/>
            <a:ext cx="0" cy="7493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2" name="直接连接符 51"/>
          <p:cNvCxnSpPr/>
          <p:nvPr/>
        </p:nvCxnSpPr>
        <p:spPr>
          <a:xfrm>
            <a:off x="8479155" y="2124710"/>
            <a:ext cx="0" cy="7175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3" name="椭圆 52"/>
          <p:cNvSpPr/>
          <p:nvPr/>
        </p:nvSpPr>
        <p:spPr>
          <a:xfrm>
            <a:off x="8359775" y="2206625"/>
            <a:ext cx="220345" cy="208915"/>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椭圆 53"/>
          <p:cNvSpPr/>
          <p:nvPr/>
        </p:nvSpPr>
        <p:spPr>
          <a:xfrm>
            <a:off x="6883400" y="2542540"/>
            <a:ext cx="205105" cy="209550"/>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椭圆 54"/>
          <p:cNvSpPr/>
          <p:nvPr/>
        </p:nvSpPr>
        <p:spPr>
          <a:xfrm>
            <a:off x="7869555" y="2542540"/>
            <a:ext cx="211455" cy="213995"/>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6" name="椭圆 55"/>
          <p:cNvSpPr/>
          <p:nvPr/>
        </p:nvSpPr>
        <p:spPr>
          <a:xfrm>
            <a:off x="6883400" y="3230880"/>
            <a:ext cx="205105" cy="209550"/>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椭圆 56"/>
          <p:cNvSpPr/>
          <p:nvPr/>
        </p:nvSpPr>
        <p:spPr>
          <a:xfrm>
            <a:off x="7875905" y="1860550"/>
            <a:ext cx="205105" cy="209550"/>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nvSpPr>
        <p:spPr>
          <a:xfrm>
            <a:off x="6793230" y="2538095"/>
            <a:ext cx="391795" cy="201930"/>
          </a:xfrm>
          <a:prstGeom prst="rect">
            <a:avLst/>
          </a:prstGeom>
          <a:noFill/>
        </p:spPr>
        <p:txBody>
          <a:bodyPr wrap="square" rtlCol="0">
            <a:noAutofit/>
          </a:bodyPr>
          <a:p>
            <a:pPr algn="ctr">
              <a:lnSpc>
                <a:spcPct val="80000"/>
              </a:lnSpc>
            </a:pPr>
            <a:r>
              <a:rPr lang="en-US" altLang="zh-CN" sz="600">
                <a:latin typeface="微软雅黑" panose="020B0503020204020204" charset="-122"/>
                <a:ea typeface="微软雅黑" panose="020B0503020204020204" charset="-122"/>
              </a:rPr>
              <a:t>1</a:t>
            </a:r>
            <a:endParaRPr lang="en-US" altLang="zh-CN" sz="600">
              <a:latin typeface="微软雅黑" panose="020B0503020204020204" charset="-122"/>
              <a:ea typeface="微软雅黑" panose="020B0503020204020204" charset="-122"/>
            </a:endParaRPr>
          </a:p>
          <a:p>
            <a:pPr algn="ctr">
              <a:lnSpc>
                <a:spcPct val="80000"/>
              </a:lnSpc>
            </a:pPr>
            <a:r>
              <a:rPr lang="en-US" altLang="zh-CN" sz="600">
                <a:latin typeface="微软雅黑" panose="020B0503020204020204" charset="-122"/>
                <a:ea typeface="微软雅黑" panose="020B0503020204020204" charset="-122"/>
              </a:rPr>
              <a:t>OOF</a:t>
            </a:r>
            <a:endParaRPr lang="en-US" altLang="zh-CN" sz="600">
              <a:latin typeface="微软雅黑" panose="020B0503020204020204" charset="-122"/>
              <a:ea typeface="微软雅黑" panose="020B0503020204020204" charset="-122"/>
            </a:endParaRPr>
          </a:p>
        </p:txBody>
      </p:sp>
      <p:sp>
        <p:nvSpPr>
          <p:cNvPr id="59" name="文本框 58"/>
          <p:cNvSpPr txBox="1"/>
          <p:nvPr/>
        </p:nvSpPr>
        <p:spPr>
          <a:xfrm>
            <a:off x="7782560" y="1845310"/>
            <a:ext cx="391795" cy="201930"/>
          </a:xfrm>
          <a:prstGeom prst="rect">
            <a:avLst/>
          </a:prstGeom>
          <a:noFill/>
        </p:spPr>
        <p:txBody>
          <a:bodyPr wrap="square" rtlCol="0">
            <a:noAutofit/>
          </a:bodyPr>
          <a:p>
            <a:pPr algn="ctr">
              <a:lnSpc>
                <a:spcPct val="80000"/>
              </a:lnSpc>
            </a:pPr>
            <a:r>
              <a:rPr lang="en-US" altLang="zh-CN" sz="600">
                <a:latin typeface="微软雅黑" panose="020B0503020204020204" charset="-122"/>
                <a:ea typeface="微软雅黑" panose="020B0503020204020204" charset="-122"/>
              </a:rPr>
              <a:t>1</a:t>
            </a:r>
            <a:endParaRPr lang="en-US" altLang="zh-CN" sz="600">
              <a:latin typeface="微软雅黑" panose="020B0503020204020204" charset="-122"/>
              <a:ea typeface="微软雅黑" panose="020B0503020204020204" charset="-122"/>
            </a:endParaRPr>
          </a:p>
          <a:p>
            <a:pPr algn="ctr">
              <a:lnSpc>
                <a:spcPct val="80000"/>
              </a:lnSpc>
            </a:pPr>
            <a:r>
              <a:rPr lang="en-US" altLang="zh-CN" sz="600">
                <a:latin typeface="微软雅黑" panose="020B0503020204020204" charset="-122"/>
                <a:ea typeface="微软雅黑" panose="020B0503020204020204" charset="-122"/>
              </a:rPr>
              <a:t>OOF</a:t>
            </a:r>
            <a:endParaRPr lang="en-US" altLang="zh-CN" sz="600">
              <a:latin typeface="微软雅黑" panose="020B0503020204020204" charset="-122"/>
              <a:ea typeface="微软雅黑" panose="020B0503020204020204" charset="-122"/>
            </a:endParaRPr>
          </a:p>
        </p:txBody>
      </p:sp>
      <p:sp>
        <p:nvSpPr>
          <p:cNvPr id="60" name="文本框 59"/>
          <p:cNvSpPr txBox="1"/>
          <p:nvPr/>
        </p:nvSpPr>
        <p:spPr>
          <a:xfrm>
            <a:off x="7782560" y="2538095"/>
            <a:ext cx="391795" cy="201930"/>
          </a:xfrm>
          <a:prstGeom prst="rect">
            <a:avLst/>
          </a:prstGeom>
          <a:noFill/>
        </p:spPr>
        <p:txBody>
          <a:bodyPr wrap="square" rtlCol="0">
            <a:noAutofit/>
          </a:bodyPr>
          <a:p>
            <a:pPr algn="ctr">
              <a:lnSpc>
                <a:spcPct val="80000"/>
              </a:lnSpc>
            </a:pPr>
            <a:r>
              <a:rPr lang="en-US" altLang="zh-CN" sz="600">
                <a:latin typeface="微软雅黑" panose="020B0503020204020204" charset="-122"/>
                <a:ea typeface="微软雅黑" panose="020B0503020204020204" charset="-122"/>
              </a:rPr>
              <a:t>1</a:t>
            </a:r>
            <a:endParaRPr lang="en-US" altLang="zh-CN" sz="600">
              <a:latin typeface="微软雅黑" panose="020B0503020204020204" charset="-122"/>
              <a:ea typeface="微软雅黑" panose="020B0503020204020204" charset="-122"/>
            </a:endParaRPr>
          </a:p>
          <a:p>
            <a:pPr algn="ctr">
              <a:lnSpc>
                <a:spcPct val="80000"/>
              </a:lnSpc>
            </a:pPr>
            <a:r>
              <a:rPr lang="en-US" altLang="zh-CN" sz="600">
                <a:latin typeface="微软雅黑" panose="020B0503020204020204" charset="-122"/>
                <a:ea typeface="微软雅黑" panose="020B0503020204020204" charset="-122"/>
              </a:rPr>
              <a:t>OOF</a:t>
            </a:r>
            <a:endParaRPr lang="en-US" altLang="zh-CN" sz="600">
              <a:latin typeface="微软雅黑" panose="020B0503020204020204" charset="-122"/>
              <a:ea typeface="微软雅黑" panose="020B0503020204020204" charset="-122"/>
            </a:endParaRPr>
          </a:p>
        </p:txBody>
      </p:sp>
      <p:sp>
        <p:nvSpPr>
          <p:cNvPr id="61" name="文本框 60"/>
          <p:cNvSpPr txBox="1"/>
          <p:nvPr/>
        </p:nvSpPr>
        <p:spPr>
          <a:xfrm>
            <a:off x="8288020" y="2196465"/>
            <a:ext cx="391795" cy="201930"/>
          </a:xfrm>
          <a:prstGeom prst="rect">
            <a:avLst/>
          </a:prstGeom>
          <a:noFill/>
        </p:spPr>
        <p:txBody>
          <a:bodyPr wrap="square" rtlCol="0">
            <a:noAutofit/>
          </a:bodyPr>
          <a:p>
            <a:pPr algn="ctr">
              <a:lnSpc>
                <a:spcPct val="80000"/>
              </a:lnSpc>
            </a:pPr>
            <a:r>
              <a:rPr lang="en-US" altLang="zh-CN" sz="600">
                <a:latin typeface="微软雅黑" panose="020B0503020204020204" charset="-122"/>
                <a:ea typeface="微软雅黑" panose="020B0503020204020204" charset="-122"/>
              </a:rPr>
              <a:t>0</a:t>
            </a:r>
            <a:endParaRPr lang="en-US" altLang="zh-CN" sz="600">
              <a:latin typeface="微软雅黑" panose="020B0503020204020204" charset="-122"/>
              <a:ea typeface="微软雅黑" panose="020B0503020204020204" charset="-122"/>
            </a:endParaRPr>
          </a:p>
          <a:p>
            <a:pPr algn="ctr">
              <a:lnSpc>
                <a:spcPct val="80000"/>
              </a:lnSpc>
            </a:pPr>
            <a:r>
              <a:rPr lang="en-US" altLang="zh-CN" sz="600">
                <a:latin typeface="微软雅黑" panose="020B0503020204020204" charset="-122"/>
                <a:ea typeface="微软雅黑" panose="020B0503020204020204" charset="-122"/>
              </a:rPr>
              <a:t>OOF</a:t>
            </a:r>
            <a:endParaRPr lang="en-US" altLang="zh-CN" sz="600">
              <a:latin typeface="微软雅黑" panose="020B0503020204020204" charset="-122"/>
              <a:ea typeface="微软雅黑" panose="020B0503020204020204" charset="-122"/>
            </a:endParaRPr>
          </a:p>
        </p:txBody>
      </p:sp>
      <p:sp>
        <p:nvSpPr>
          <p:cNvPr id="62" name="文本框 61"/>
          <p:cNvSpPr txBox="1"/>
          <p:nvPr/>
        </p:nvSpPr>
        <p:spPr>
          <a:xfrm>
            <a:off x="6292215" y="2883535"/>
            <a:ext cx="391795" cy="201930"/>
          </a:xfrm>
          <a:prstGeom prst="rect">
            <a:avLst/>
          </a:prstGeom>
          <a:noFill/>
        </p:spPr>
        <p:txBody>
          <a:bodyPr wrap="square" rtlCol="0">
            <a:noAutofit/>
          </a:bodyPr>
          <a:p>
            <a:pPr algn="ctr">
              <a:lnSpc>
                <a:spcPct val="80000"/>
              </a:lnSpc>
            </a:pPr>
            <a:r>
              <a:rPr lang="en-US" altLang="zh-CN" sz="600">
                <a:latin typeface="微软雅黑" panose="020B0503020204020204" charset="-122"/>
                <a:ea typeface="微软雅黑" panose="020B0503020204020204" charset="-122"/>
              </a:rPr>
              <a:t>0</a:t>
            </a:r>
            <a:endParaRPr lang="en-US" altLang="zh-CN" sz="600">
              <a:latin typeface="微软雅黑" panose="020B0503020204020204" charset="-122"/>
              <a:ea typeface="微软雅黑" panose="020B0503020204020204" charset="-122"/>
            </a:endParaRPr>
          </a:p>
          <a:p>
            <a:pPr algn="ctr">
              <a:lnSpc>
                <a:spcPct val="80000"/>
              </a:lnSpc>
            </a:pPr>
            <a:r>
              <a:rPr lang="en-US" altLang="zh-CN" sz="600">
                <a:latin typeface="微软雅黑" panose="020B0503020204020204" charset="-122"/>
                <a:ea typeface="微软雅黑" panose="020B0503020204020204" charset="-122"/>
              </a:rPr>
              <a:t>OOF</a:t>
            </a:r>
            <a:endParaRPr lang="en-US" altLang="zh-CN" sz="600">
              <a:latin typeface="微软雅黑" panose="020B0503020204020204" charset="-122"/>
              <a:ea typeface="微软雅黑" panose="020B0503020204020204" charset="-122"/>
            </a:endParaRPr>
          </a:p>
        </p:txBody>
      </p:sp>
      <p:sp>
        <p:nvSpPr>
          <p:cNvPr id="64" name="文本框 63"/>
          <p:cNvSpPr txBox="1"/>
          <p:nvPr/>
        </p:nvSpPr>
        <p:spPr>
          <a:xfrm>
            <a:off x="6793230" y="3227070"/>
            <a:ext cx="391795" cy="201930"/>
          </a:xfrm>
          <a:prstGeom prst="rect">
            <a:avLst/>
          </a:prstGeom>
          <a:noFill/>
        </p:spPr>
        <p:txBody>
          <a:bodyPr wrap="square" rtlCol="0">
            <a:noAutofit/>
          </a:bodyPr>
          <a:p>
            <a:pPr algn="ctr">
              <a:lnSpc>
                <a:spcPct val="80000"/>
              </a:lnSpc>
            </a:pPr>
            <a:r>
              <a:rPr lang="en-US" altLang="zh-CN" sz="600">
                <a:latin typeface="微软雅黑" panose="020B0503020204020204" charset="-122"/>
                <a:ea typeface="微软雅黑" panose="020B0503020204020204" charset="-122"/>
              </a:rPr>
              <a:t>0</a:t>
            </a:r>
            <a:endParaRPr lang="en-US" altLang="zh-CN" sz="600">
              <a:latin typeface="微软雅黑" panose="020B0503020204020204" charset="-122"/>
              <a:ea typeface="微软雅黑" panose="020B0503020204020204" charset="-122"/>
            </a:endParaRPr>
          </a:p>
          <a:p>
            <a:pPr algn="ctr">
              <a:lnSpc>
                <a:spcPct val="80000"/>
              </a:lnSpc>
            </a:pPr>
            <a:r>
              <a:rPr lang="en-US" altLang="zh-CN" sz="600">
                <a:latin typeface="微软雅黑" panose="020B0503020204020204" charset="-122"/>
                <a:ea typeface="微软雅黑" panose="020B0503020204020204" charset="-122"/>
              </a:rPr>
              <a:t>OOF</a:t>
            </a:r>
            <a:endParaRPr lang="en-US" altLang="zh-CN" sz="600">
              <a:latin typeface="微软雅黑" panose="020B0503020204020204" charset="-122"/>
              <a:ea typeface="微软雅黑" panose="020B0503020204020204" charset="-122"/>
            </a:endParaRPr>
          </a:p>
        </p:txBody>
      </p:sp>
      <p:sp>
        <p:nvSpPr>
          <p:cNvPr id="65" name="椭圆 64"/>
          <p:cNvSpPr/>
          <p:nvPr/>
        </p:nvSpPr>
        <p:spPr>
          <a:xfrm>
            <a:off x="6382385" y="2883535"/>
            <a:ext cx="211455" cy="213995"/>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6" name="直接连接符 65"/>
          <p:cNvCxnSpPr/>
          <p:nvPr/>
        </p:nvCxnSpPr>
        <p:spPr>
          <a:xfrm>
            <a:off x="6488430" y="2810510"/>
            <a:ext cx="0" cy="7175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p:nvPr/>
        </p:nvCxnSpPr>
        <p:spPr>
          <a:xfrm>
            <a:off x="6488430" y="3097530"/>
            <a:ext cx="0" cy="7175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68" name="矩形 67"/>
          <p:cNvSpPr/>
          <p:nvPr/>
        </p:nvSpPr>
        <p:spPr>
          <a:xfrm>
            <a:off x="7627620" y="2153920"/>
            <a:ext cx="466725" cy="161925"/>
          </a:xfrm>
          <a:prstGeom prst="rect">
            <a:avLst/>
          </a:prstGeom>
          <a:solidFill>
            <a:srgbClr val="E2F2F7"/>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9" name="文本框 68"/>
          <p:cNvSpPr txBox="1"/>
          <p:nvPr/>
        </p:nvSpPr>
        <p:spPr>
          <a:xfrm>
            <a:off x="7592060" y="2124710"/>
            <a:ext cx="568325" cy="213995"/>
          </a:xfrm>
          <a:prstGeom prst="rect">
            <a:avLst/>
          </a:prstGeom>
          <a:noFill/>
        </p:spPr>
        <p:txBody>
          <a:bodyPr wrap="square" rtlCol="0">
            <a:spAutoFit/>
          </a:bodyPr>
          <a:p>
            <a:r>
              <a:rPr lang="zh-CN" altLang="en-US" sz="800"/>
              <a:t>共三</a:t>
            </a:r>
            <a:r>
              <a:rPr lang="zh-CN" altLang="en-US" sz="800"/>
              <a:t>组</a:t>
            </a:r>
            <a:endParaRPr lang="zh-CN" altLang="en-US" sz="800"/>
          </a:p>
        </p:txBody>
      </p:sp>
      <p:sp>
        <p:nvSpPr>
          <p:cNvPr id="70" name="上箭头 69"/>
          <p:cNvSpPr/>
          <p:nvPr/>
        </p:nvSpPr>
        <p:spPr>
          <a:xfrm>
            <a:off x="7235825" y="3518535"/>
            <a:ext cx="167640" cy="158115"/>
          </a:xfrm>
          <a:prstGeom prst="upArrow">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 name="矩形 70"/>
          <p:cNvSpPr/>
          <p:nvPr/>
        </p:nvSpPr>
        <p:spPr>
          <a:xfrm>
            <a:off x="6659245" y="3663950"/>
            <a:ext cx="1298575" cy="279400"/>
          </a:xfrm>
          <a:prstGeom prst="rect">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2" name="文本框 71"/>
          <p:cNvSpPr txBox="1"/>
          <p:nvPr/>
        </p:nvSpPr>
        <p:spPr>
          <a:xfrm>
            <a:off x="6948170" y="3642360"/>
            <a:ext cx="1009650" cy="321945"/>
          </a:xfrm>
          <a:prstGeom prst="rect">
            <a:avLst/>
          </a:prstGeom>
          <a:noFill/>
        </p:spPr>
        <p:txBody>
          <a:bodyPr wrap="square" rtlCol="0">
            <a:spAutoFit/>
          </a:bodyPr>
          <a:p>
            <a:r>
              <a:rPr lang="zh-CN" altLang="en-US" sz="1500">
                <a:solidFill>
                  <a:schemeClr val="bg1"/>
                </a:solidFill>
              </a:rPr>
              <a:t>拓扑图</a:t>
            </a:r>
            <a:endParaRPr lang="zh-CN" altLang="en-US" sz="1500">
              <a:solidFill>
                <a:schemeClr val="bg1"/>
              </a:solidFill>
            </a:endParaRPr>
          </a:p>
        </p:txBody>
      </p:sp>
      <p:sp>
        <p:nvSpPr>
          <p:cNvPr id="73" name="上箭头 72"/>
          <p:cNvSpPr/>
          <p:nvPr/>
        </p:nvSpPr>
        <p:spPr>
          <a:xfrm>
            <a:off x="10151745" y="3504565"/>
            <a:ext cx="167640" cy="158115"/>
          </a:xfrm>
          <a:prstGeom prst="upArrow">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4" name="上箭头 73"/>
          <p:cNvSpPr/>
          <p:nvPr/>
        </p:nvSpPr>
        <p:spPr>
          <a:xfrm>
            <a:off x="7235825" y="6043295"/>
            <a:ext cx="167640" cy="158115"/>
          </a:xfrm>
          <a:prstGeom prst="upArrow">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5" name="上箭头 74"/>
          <p:cNvSpPr/>
          <p:nvPr/>
        </p:nvSpPr>
        <p:spPr>
          <a:xfrm>
            <a:off x="10121265" y="6043295"/>
            <a:ext cx="167640" cy="158115"/>
          </a:xfrm>
          <a:prstGeom prst="upArrow">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6" name="矩形 75"/>
          <p:cNvSpPr/>
          <p:nvPr/>
        </p:nvSpPr>
        <p:spPr>
          <a:xfrm>
            <a:off x="9250045" y="3642360"/>
            <a:ext cx="1979295" cy="279400"/>
          </a:xfrm>
          <a:prstGeom prst="rect">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7" name="矩形 76"/>
          <p:cNvSpPr/>
          <p:nvPr/>
        </p:nvSpPr>
        <p:spPr>
          <a:xfrm>
            <a:off x="6659245" y="6201410"/>
            <a:ext cx="1298575" cy="279400"/>
          </a:xfrm>
          <a:prstGeom prst="rect">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矩形 77"/>
          <p:cNvSpPr/>
          <p:nvPr/>
        </p:nvSpPr>
        <p:spPr>
          <a:xfrm>
            <a:off x="9555480" y="6201410"/>
            <a:ext cx="1298575" cy="279400"/>
          </a:xfrm>
          <a:prstGeom prst="rect">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文本框 78"/>
          <p:cNvSpPr txBox="1"/>
          <p:nvPr/>
        </p:nvSpPr>
        <p:spPr>
          <a:xfrm>
            <a:off x="9426575" y="3642360"/>
            <a:ext cx="1771015" cy="321945"/>
          </a:xfrm>
          <a:prstGeom prst="rect">
            <a:avLst/>
          </a:prstGeom>
          <a:noFill/>
        </p:spPr>
        <p:txBody>
          <a:bodyPr wrap="square" rtlCol="0">
            <a:spAutoFit/>
          </a:bodyPr>
          <a:p>
            <a:r>
              <a:rPr lang="zh-CN" altLang="en-US" sz="1500">
                <a:solidFill>
                  <a:schemeClr val="bg1"/>
                </a:solidFill>
              </a:rPr>
              <a:t>叶轮</a:t>
            </a:r>
            <a:r>
              <a:rPr lang="en-US" altLang="zh-CN" sz="1500">
                <a:solidFill>
                  <a:schemeClr val="bg1"/>
                </a:solidFill>
              </a:rPr>
              <a:t>-</a:t>
            </a:r>
            <a:r>
              <a:rPr lang="zh-CN" altLang="en-US" sz="1500">
                <a:solidFill>
                  <a:schemeClr val="bg1"/>
                </a:solidFill>
              </a:rPr>
              <a:t>机舱</a:t>
            </a:r>
            <a:r>
              <a:rPr lang="zh-CN" altLang="en-US" sz="1500">
                <a:solidFill>
                  <a:schemeClr val="bg1"/>
                </a:solidFill>
              </a:rPr>
              <a:t>子系统</a:t>
            </a:r>
            <a:endParaRPr lang="zh-CN" altLang="en-US" sz="1500">
              <a:solidFill>
                <a:schemeClr val="bg1"/>
              </a:solidFill>
            </a:endParaRPr>
          </a:p>
        </p:txBody>
      </p:sp>
      <p:sp>
        <p:nvSpPr>
          <p:cNvPr id="80" name="文本框 79"/>
          <p:cNvSpPr txBox="1"/>
          <p:nvPr/>
        </p:nvSpPr>
        <p:spPr>
          <a:xfrm>
            <a:off x="6769100" y="6158865"/>
            <a:ext cx="1301750" cy="321945"/>
          </a:xfrm>
          <a:prstGeom prst="rect">
            <a:avLst/>
          </a:prstGeom>
          <a:noFill/>
        </p:spPr>
        <p:txBody>
          <a:bodyPr wrap="square" rtlCol="0">
            <a:spAutoFit/>
          </a:bodyPr>
          <a:p>
            <a:r>
              <a:rPr lang="zh-CN" altLang="en-US" sz="1500">
                <a:solidFill>
                  <a:schemeClr val="bg1"/>
                </a:solidFill>
              </a:rPr>
              <a:t>控制</a:t>
            </a:r>
            <a:r>
              <a:rPr lang="zh-CN" altLang="en-US" sz="1500">
                <a:solidFill>
                  <a:schemeClr val="bg1"/>
                </a:solidFill>
              </a:rPr>
              <a:t>逻辑图</a:t>
            </a:r>
            <a:endParaRPr lang="zh-CN" altLang="en-US" sz="1500">
              <a:solidFill>
                <a:schemeClr val="bg1"/>
              </a:solidFill>
            </a:endParaRPr>
          </a:p>
        </p:txBody>
      </p:sp>
      <p:sp>
        <p:nvSpPr>
          <p:cNvPr id="81" name="文本框 80"/>
          <p:cNvSpPr txBox="1"/>
          <p:nvPr/>
        </p:nvSpPr>
        <p:spPr>
          <a:xfrm>
            <a:off x="9730740" y="6158865"/>
            <a:ext cx="1009650" cy="321945"/>
          </a:xfrm>
          <a:prstGeom prst="rect">
            <a:avLst/>
          </a:prstGeom>
          <a:noFill/>
        </p:spPr>
        <p:txBody>
          <a:bodyPr wrap="square" rtlCol="0">
            <a:spAutoFit/>
          </a:bodyPr>
          <a:p>
            <a:r>
              <a:rPr lang="zh-CN" altLang="en-US" sz="1500">
                <a:solidFill>
                  <a:schemeClr val="bg1"/>
                </a:solidFill>
              </a:rPr>
              <a:t>转矩曲线</a:t>
            </a:r>
            <a:endParaRPr lang="zh-CN" altLang="en-US" sz="1500">
              <a:solidFill>
                <a:schemeClr val="bg1"/>
              </a:solidFill>
            </a:endParaRPr>
          </a:p>
        </p:txBody>
      </p:sp>
      <p:sp>
        <p:nvSpPr>
          <p:cNvPr id="82" name="矩形 81"/>
          <p:cNvSpPr/>
          <p:nvPr/>
        </p:nvSpPr>
        <p:spPr>
          <a:xfrm>
            <a:off x="7178040" y="4171315"/>
            <a:ext cx="548640" cy="3302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3" name="矩形 82"/>
          <p:cNvSpPr/>
          <p:nvPr/>
        </p:nvSpPr>
        <p:spPr>
          <a:xfrm>
            <a:off x="6360160" y="4653915"/>
            <a:ext cx="538480" cy="31496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4" name="矩形 83"/>
          <p:cNvSpPr/>
          <p:nvPr/>
        </p:nvSpPr>
        <p:spPr>
          <a:xfrm>
            <a:off x="7934960" y="4653915"/>
            <a:ext cx="538480" cy="31496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5" name="矩形 84"/>
          <p:cNvSpPr/>
          <p:nvPr/>
        </p:nvSpPr>
        <p:spPr>
          <a:xfrm>
            <a:off x="7172960" y="4648835"/>
            <a:ext cx="553720" cy="32512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6" name="矩形 85"/>
          <p:cNvSpPr/>
          <p:nvPr/>
        </p:nvSpPr>
        <p:spPr>
          <a:xfrm>
            <a:off x="7178040" y="5121275"/>
            <a:ext cx="538480" cy="32512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7" name="矩形 86"/>
          <p:cNvSpPr/>
          <p:nvPr/>
        </p:nvSpPr>
        <p:spPr>
          <a:xfrm>
            <a:off x="7167880" y="5608955"/>
            <a:ext cx="548640" cy="30988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88" name="直接箭头连接符 87"/>
          <p:cNvCxnSpPr/>
          <p:nvPr/>
        </p:nvCxnSpPr>
        <p:spPr>
          <a:xfrm>
            <a:off x="6065520" y="4819015"/>
            <a:ext cx="294640" cy="50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89" name="直接箭头连接符 88"/>
          <p:cNvCxnSpPr/>
          <p:nvPr/>
        </p:nvCxnSpPr>
        <p:spPr>
          <a:xfrm>
            <a:off x="6890385" y="4824095"/>
            <a:ext cx="294640" cy="50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0" name="直接箭头连接符 89"/>
          <p:cNvCxnSpPr/>
          <p:nvPr/>
        </p:nvCxnSpPr>
        <p:spPr>
          <a:xfrm rot="10800000">
            <a:off x="8455025" y="4813935"/>
            <a:ext cx="294640" cy="50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1" name="直接箭头连接符 90"/>
          <p:cNvCxnSpPr/>
          <p:nvPr/>
        </p:nvCxnSpPr>
        <p:spPr>
          <a:xfrm flipH="1">
            <a:off x="7712075" y="5276215"/>
            <a:ext cx="495935" cy="50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2" name="直接箭头连接符 91"/>
          <p:cNvCxnSpPr/>
          <p:nvPr/>
        </p:nvCxnSpPr>
        <p:spPr>
          <a:xfrm flipH="1">
            <a:off x="7712075" y="5758815"/>
            <a:ext cx="492125" cy="254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3" name="直接连接符 92"/>
          <p:cNvCxnSpPr>
            <a:stCxn id="84" idx="2"/>
          </p:cNvCxnSpPr>
          <p:nvPr/>
        </p:nvCxnSpPr>
        <p:spPr>
          <a:xfrm>
            <a:off x="8204200" y="4968875"/>
            <a:ext cx="0" cy="7943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4" name="直接箭头连接符 93"/>
          <p:cNvCxnSpPr/>
          <p:nvPr/>
        </p:nvCxnSpPr>
        <p:spPr>
          <a:xfrm flipH="1" flipV="1">
            <a:off x="7449820" y="4968875"/>
            <a:ext cx="635" cy="1447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5" name="直接箭头连接符 94"/>
          <p:cNvCxnSpPr/>
          <p:nvPr/>
        </p:nvCxnSpPr>
        <p:spPr>
          <a:xfrm flipH="1" flipV="1">
            <a:off x="7449820" y="4501515"/>
            <a:ext cx="635" cy="1447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6" name="直接箭头连接符 95"/>
          <p:cNvCxnSpPr/>
          <p:nvPr/>
        </p:nvCxnSpPr>
        <p:spPr>
          <a:xfrm flipH="1" flipV="1">
            <a:off x="6629400" y="4968875"/>
            <a:ext cx="1905" cy="78803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7" name="直接连接符 96"/>
          <p:cNvCxnSpPr>
            <a:stCxn id="87" idx="1"/>
          </p:cNvCxnSpPr>
          <p:nvPr/>
        </p:nvCxnSpPr>
        <p:spPr>
          <a:xfrm flipH="1" flipV="1">
            <a:off x="6631305" y="5756910"/>
            <a:ext cx="536575" cy="6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8" name="直接箭头连接符 97"/>
          <p:cNvCxnSpPr/>
          <p:nvPr/>
        </p:nvCxnSpPr>
        <p:spPr>
          <a:xfrm>
            <a:off x="8204200" y="4343400"/>
            <a:ext cx="0" cy="31051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9" name="直接连接符 98"/>
          <p:cNvCxnSpPr>
            <a:stCxn id="82" idx="3"/>
          </p:cNvCxnSpPr>
          <p:nvPr/>
        </p:nvCxnSpPr>
        <p:spPr>
          <a:xfrm flipV="1">
            <a:off x="7726680" y="4334510"/>
            <a:ext cx="479425" cy="19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00" name="文本框 99"/>
          <p:cNvSpPr txBox="1"/>
          <p:nvPr/>
        </p:nvSpPr>
        <p:spPr>
          <a:xfrm>
            <a:off x="6461125" y="4691380"/>
            <a:ext cx="487045" cy="213995"/>
          </a:xfrm>
          <a:prstGeom prst="rect">
            <a:avLst/>
          </a:prstGeom>
          <a:noFill/>
        </p:spPr>
        <p:txBody>
          <a:bodyPr wrap="square" rtlCol="0">
            <a:spAutoFit/>
          </a:bodyPr>
          <a:p>
            <a:r>
              <a:rPr lang="zh-CN" altLang="en-US" sz="800"/>
              <a:t>风轮</a:t>
            </a:r>
            <a:endParaRPr lang="zh-CN" altLang="en-US" sz="800"/>
          </a:p>
        </p:txBody>
      </p:sp>
      <p:sp>
        <p:nvSpPr>
          <p:cNvPr id="101" name="文本框 100"/>
          <p:cNvSpPr txBox="1"/>
          <p:nvPr/>
        </p:nvSpPr>
        <p:spPr>
          <a:xfrm>
            <a:off x="6065520" y="4615180"/>
            <a:ext cx="487045" cy="213995"/>
          </a:xfrm>
          <a:prstGeom prst="rect">
            <a:avLst/>
          </a:prstGeom>
          <a:noFill/>
        </p:spPr>
        <p:txBody>
          <a:bodyPr wrap="square" rtlCol="0">
            <a:spAutoFit/>
          </a:bodyPr>
          <a:p>
            <a:r>
              <a:rPr lang="zh-CN" altLang="en-US" sz="800"/>
              <a:t>风</a:t>
            </a:r>
            <a:endParaRPr lang="zh-CN" altLang="en-US" sz="800"/>
          </a:p>
        </p:txBody>
      </p:sp>
      <p:sp>
        <p:nvSpPr>
          <p:cNvPr id="102" name="文本框 101"/>
          <p:cNvSpPr txBox="1"/>
          <p:nvPr/>
        </p:nvSpPr>
        <p:spPr>
          <a:xfrm>
            <a:off x="6841490" y="4653915"/>
            <a:ext cx="487045" cy="213995"/>
          </a:xfrm>
          <a:prstGeom prst="rect">
            <a:avLst/>
          </a:prstGeom>
          <a:noFill/>
        </p:spPr>
        <p:txBody>
          <a:bodyPr wrap="square" rtlCol="0">
            <a:spAutoFit/>
          </a:bodyPr>
          <a:p>
            <a:r>
              <a:rPr lang="zh-CN" altLang="en-US" sz="800"/>
              <a:t>驱动</a:t>
            </a:r>
            <a:endParaRPr lang="zh-CN" altLang="en-US" sz="800"/>
          </a:p>
        </p:txBody>
      </p:sp>
      <p:sp>
        <p:nvSpPr>
          <p:cNvPr id="103" name="文本框 102"/>
          <p:cNvSpPr txBox="1"/>
          <p:nvPr/>
        </p:nvSpPr>
        <p:spPr>
          <a:xfrm>
            <a:off x="7110095" y="4251960"/>
            <a:ext cx="728980" cy="213995"/>
          </a:xfrm>
          <a:prstGeom prst="rect">
            <a:avLst/>
          </a:prstGeom>
          <a:noFill/>
        </p:spPr>
        <p:txBody>
          <a:bodyPr wrap="square" rtlCol="0">
            <a:spAutoFit/>
          </a:bodyPr>
          <a:p>
            <a:r>
              <a:rPr lang="zh-CN" altLang="en-US" sz="800"/>
              <a:t>转速</a:t>
            </a:r>
            <a:r>
              <a:rPr lang="zh-CN" altLang="en-US" sz="800"/>
              <a:t>传感器</a:t>
            </a:r>
            <a:endParaRPr lang="zh-CN" altLang="en-US" sz="800"/>
          </a:p>
        </p:txBody>
      </p:sp>
      <p:sp>
        <p:nvSpPr>
          <p:cNvPr id="104" name="文本框 103"/>
          <p:cNvSpPr txBox="1"/>
          <p:nvPr/>
        </p:nvSpPr>
        <p:spPr>
          <a:xfrm>
            <a:off x="7712075" y="4171950"/>
            <a:ext cx="741045" cy="183515"/>
          </a:xfrm>
          <a:prstGeom prst="rect">
            <a:avLst/>
          </a:prstGeom>
          <a:noFill/>
        </p:spPr>
        <p:txBody>
          <a:bodyPr wrap="square" rtlCol="0">
            <a:spAutoFit/>
          </a:bodyPr>
          <a:p>
            <a:r>
              <a:rPr lang="zh-CN" altLang="en-US" sz="600"/>
              <a:t>发电机转速</a:t>
            </a:r>
            <a:endParaRPr lang="zh-CN" altLang="en-US" sz="600"/>
          </a:p>
        </p:txBody>
      </p:sp>
      <p:sp>
        <p:nvSpPr>
          <p:cNvPr id="105" name="文本框 104"/>
          <p:cNvSpPr txBox="1"/>
          <p:nvPr/>
        </p:nvSpPr>
        <p:spPr>
          <a:xfrm>
            <a:off x="7232015" y="4691380"/>
            <a:ext cx="550545" cy="213995"/>
          </a:xfrm>
          <a:prstGeom prst="rect">
            <a:avLst/>
          </a:prstGeom>
          <a:noFill/>
        </p:spPr>
        <p:txBody>
          <a:bodyPr wrap="square" rtlCol="0">
            <a:spAutoFit/>
          </a:bodyPr>
          <a:p>
            <a:r>
              <a:rPr lang="zh-CN" altLang="en-US" sz="800"/>
              <a:t>发电机</a:t>
            </a:r>
            <a:endParaRPr lang="zh-CN" altLang="en-US" sz="800"/>
          </a:p>
        </p:txBody>
      </p:sp>
      <p:sp>
        <p:nvSpPr>
          <p:cNvPr id="106" name="文本框 105"/>
          <p:cNvSpPr txBox="1"/>
          <p:nvPr/>
        </p:nvSpPr>
        <p:spPr>
          <a:xfrm>
            <a:off x="7209155" y="5141595"/>
            <a:ext cx="569595" cy="213995"/>
          </a:xfrm>
          <a:prstGeom prst="rect">
            <a:avLst/>
          </a:prstGeom>
          <a:noFill/>
        </p:spPr>
        <p:txBody>
          <a:bodyPr wrap="square" rtlCol="0">
            <a:spAutoFit/>
          </a:bodyPr>
          <a:p>
            <a:r>
              <a:rPr lang="zh-CN" altLang="en-US" sz="800"/>
              <a:t>逆变器</a:t>
            </a:r>
            <a:endParaRPr lang="zh-CN" altLang="en-US" sz="800"/>
          </a:p>
        </p:txBody>
      </p:sp>
      <p:sp>
        <p:nvSpPr>
          <p:cNvPr id="108" name="文本框 107"/>
          <p:cNvSpPr txBox="1"/>
          <p:nvPr/>
        </p:nvSpPr>
        <p:spPr>
          <a:xfrm>
            <a:off x="7957820" y="4691380"/>
            <a:ext cx="569595" cy="213995"/>
          </a:xfrm>
          <a:prstGeom prst="rect">
            <a:avLst/>
          </a:prstGeom>
          <a:noFill/>
        </p:spPr>
        <p:txBody>
          <a:bodyPr wrap="square" rtlCol="0">
            <a:spAutoFit/>
          </a:bodyPr>
          <a:p>
            <a:r>
              <a:rPr lang="zh-CN" altLang="en-US" sz="800"/>
              <a:t>控制器</a:t>
            </a:r>
            <a:endParaRPr lang="zh-CN" altLang="en-US" sz="800"/>
          </a:p>
        </p:txBody>
      </p:sp>
      <p:sp>
        <p:nvSpPr>
          <p:cNvPr id="109" name="文本框 108"/>
          <p:cNvSpPr txBox="1"/>
          <p:nvPr/>
        </p:nvSpPr>
        <p:spPr>
          <a:xfrm>
            <a:off x="7365365" y="4958080"/>
            <a:ext cx="569595" cy="183515"/>
          </a:xfrm>
          <a:prstGeom prst="rect">
            <a:avLst/>
          </a:prstGeom>
          <a:noFill/>
        </p:spPr>
        <p:txBody>
          <a:bodyPr wrap="square" rtlCol="0">
            <a:spAutoFit/>
          </a:bodyPr>
          <a:p>
            <a:r>
              <a:rPr lang="zh-CN" altLang="en-US" sz="600"/>
              <a:t>电磁转矩</a:t>
            </a:r>
            <a:endParaRPr lang="zh-CN" altLang="en-US" sz="600"/>
          </a:p>
        </p:txBody>
      </p:sp>
      <p:sp>
        <p:nvSpPr>
          <p:cNvPr id="110" name="文本框 109"/>
          <p:cNvSpPr txBox="1"/>
          <p:nvPr/>
        </p:nvSpPr>
        <p:spPr>
          <a:xfrm>
            <a:off x="7178040" y="5608955"/>
            <a:ext cx="569595" cy="337185"/>
          </a:xfrm>
          <a:prstGeom prst="rect">
            <a:avLst/>
          </a:prstGeom>
          <a:noFill/>
        </p:spPr>
        <p:txBody>
          <a:bodyPr wrap="square" rtlCol="0">
            <a:spAutoFit/>
          </a:bodyPr>
          <a:p>
            <a:r>
              <a:rPr lang="zh-CN" altLang="en-US" sz="800"/>
              <a:t>变桨</a:t>
            </a:r>
            <a:r>
              <a:rPr lang="zh-CN" altLang="en-US" sz="800"/>
              <a:t>驱动电机</a:t>
            </a:r>
            <a:endParaRPr lang="zh-CN" altLang="en-US" sz="800"/>
          </a:p>
        </p:txBody>
      </p:sp>
      <p:sp>
        <p:nvSpPr>
          <p:cNvPr id="111" name="文本框 110"/>
          <p:cNvSpPr txBox="1"/>
          <p:nvPr/>
        </p:nvSpPr>
        <p:spPr>
          <a:xfrm>
            <a:off x="8160385" y="5128895"/>
            <a:ext cx="179705" cy="628015"/>
          </a:xfrm>
          <a:prstGeom prst="rect">
            <a:avLst/>
          </a:prstGeom>
          <a:noFill/>
        </p:spPr>
        <p:txBody>
          <a:bodyPr wrap="square" rtlCol="0">
            <a:noAutofit/>
          </a:bodyPr>
          <a:p>
            <a:r>
              <a:rPr lang="zh-CN" altLang="en-US" sz="600"/>
              <a:t>控制信号</a:t>
            </a:r>
            <a:endParaRPr lang="zh-CN" altLang="en-US" sz="600"/>
          </a:p>
        </p:txBody>
      </p:sp>
      <p:sp>
        <p:nvSpPr>
          <p:cNvPr id="112" name="文本框 111"/>
          <p:cNvSpPr txBox="1"/>
          <p:nvPr/>
        </p:nvSpPr>
        <p:spPr>
          <a:xfrm>
            <a:off x="8455025" y="4575810"/>
            <a:ext cx="384810" cy="275590"/>
          </a:xfrm>
          <a:prstGeom prst="rect">
            <a:avLst/>
          </a:prstGeom>
          <a:noFill/>
        </p:spPr>
        <p:txBody>
          <a:bodyPr wrap="square" rtlCol="0">
            <a:spAutoFit/>
          </a:bodyPr>
          <a:p>
            <a:r>
              <a:rPr lang="zh-CN" altLang="en-US" sz="600"/>
              <a:t>目标转速</a:t>
            </a:r>
            <a:endParaRPr lang="zh-CN" altLang="en-US" sz="600"/>
          </a:p>
        </p:txBody>
      </p:sp>
      <p:pic>
        <p:nvPicPr>
          <p:cNvPr id="2" name="图片 1" descr="25.1.1"/>
          <p:cNvPicPr>
            <a:picLocks noChangeAspect="1"/>
          </p:cNvPicPr>
          <p:nvPr/>
        </p:nvPicPr>
        <p:blipFill>
          <a:blip r:embed="rId1"/>
          <a:stretch>
            <a:fillRect/>
          </a:stretch>
        </p:blipFill>
        <p:spPr>
          <a:xfrm>
            <a:off x="1894840" y="1689735"/>
            <a:ext cx="2924175" cy="2274570"/>
          </a:xfrm>
          <a:prstGeom prst="rect">
            <a:avLst/>
          </a:prstGeom>
        </p:spPr>
      </p:pic>
      <p:pic>
        <p:nvPicPr>
          <p:cNvPr id="63" name="图片 62" descr="25.3"/>
          <p:cNvPicPr>
            <a:picLocks noChangeAspect="1"/>
          </p:cNvPicPr>
          <p:nvPr/>
        </p:nvPicPr>
        <p:blipFill>
          <a:blip r:embed="rId2"/>
          <a:stretch>
            <a:fillRect/>
          </a:stretch>
        </p:blipFill>
        <p:spPr>
          <a:xfrm>
            <a:off x="9006840" y="4207510"/>
            <a:ext cx="2571750" cy="1867535"/>
          </a:xfrm>
          <a:prstGeom prst="rect">
            <a:avLst/>
          </a:prstGeom>
        </p:spPr>
      </p:pic>
      <p:pic>
        <p:nvPicPr>
          <p:cNvPr id="107" name="图片 106" descr="25.2.1"/>
          <p:cNvPicPr>
            <a:picLocks noChangeAspect="1"/>
          </p:cNvPicPr>
          <p:nvPr/>
        </p:nvPicPr>
        <p:blipFill>
          <a:blip r:embed="rId3"/>
          <a:stretch>
            <a:fillRect/>
          </a:stretch>
        </p:blipFill>
        <p:spPr>
          <a:xfrm>
            <a:off x="8954770" y="1802765"/>
            <a:ext cx="2560955" cy="1725930"/>
          </a:xfrm>
          <a:prstGeom prst="rect">
            <a:avLst/>
          </a:prstGeom>
        </p:spPr>
      </p:pic>
      <p:sp>
        <p:nvSpPr>
          <p:cNvPr id="3" name="文本框 2"/>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25/68</a:t>
            </a:r>
            <a:endParaRPr lang="en-US" altLang="zh-CN">
              <a:latin typeface="微软雅黑" panose="020B0503020204020204" charset="-122"/>
              <a:ea typeface="微软雅黑" panose="020B0503020204020204" charset="-122"/>
            </a:endParaRPr>
          </a:p>
        </p:txBody>
      </p:sp>
      <p:sp>
        <p:nvSpPr>
          <p:cNvPr id="4" name="文本框 3"/>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3975735" cy="445135"/>
          </a:xfrm>
          <a:prstGeom prst="rect">
            <a:avLst/>
          </a:prstGeom>
          <a:noFill/>
        </p:spPr>
        <p:txBody>
          <a:bodyPr wrap="square" rtlCol="0">
            <a:spAutoFit/>
          </a:bodyPr>
          <a:p>
            <a:r>
              <a:rPr lang="zh-CN" altLang="en-US" sz="2300" b="1">
                <a:solidFill>
                  <a:srgbClr val="394C7E"/>
                </a:solidFill>
              </a:rPr>
              <a:t>模型建立：风场与气动</a:t>
            </a:r>
            <a:r>
              <a:rPr lang="zh-CN" altLang="en-US" sz="2300" b="1">
                <a:solidFill>
                  <a:srgbClr val="394C7E"/>
                </a:solidFill>
              </a:rPr>
              <a:t>荷载</a:t>
            </a:r>
            <a:endParaRPr lang="zh-CN" altLang="en-US" sz="2300" b="1">
              <a:solidFill>
                <a:srgbClr val="394C7E"/>
              </a:solidFill>
            </a:endParaRPr>
          </a:p>
        </p:txBody>
      </p:sp>
      <p:sp>
        <p:nvSpPr>
          <p:cNvPr id="12" name="矩形 11"/>
          <p:cNvSpPr/>
          <p:nvPr/>
        </p:nvSpPr>
        <p:spPr>
          <a:xfrm>
            <a:off x="1988820" y="1703070"/>
            <a:ext cx="1795145" cy="1219200"/>
          </a:xfrm>
          <a:prstGeom prst="rect">
            <a:avLst/>
          </a:prstGeom>
          <a:solidFill>
            <a:srgbClr val="DEEAF6"/>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椭圆 12"/>
          <p:cNvSpPr/>
          <p:nvPr/>
        </p:nvSpPr>
        <p:spPr>
          <a:xfrm>
            <a:off x="2098675" y="1921510"/>
            <a:ext cx="109855" cy="12636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2081530" y="2321560"/>
            <a:ext cx="127000" cy="11874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2081530" y="2713990"/>
            <a:ext cx="127000" cy="11874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2208530" y="1800860"/>
            <a:ext cx="1502410" cy="368300"/>
          </a:xfrm>
          <a:prstGeom prst="rect">
            <a:avLst/>
          </a:prstGeom>
          <a:noFill/>
        </p:spPr>
        <p:txBody>
          <a:bodyPr wrap="square" rtlCol="0">
            <a:spAutoFit/>
          </a:bodyPr>
          <a:p>
            <a:r>
              <a:rPr lang="zh-CN" altLang="en-US" b="1"/>
              <a:t>湍流风场</a:t>
            </a:r>
            <a:endParaRPr lang="zh-CN" altLang="en-US" b="1"/>
          </a:p>
        </p:txBody>
      </p:sp>
      <p:sp>
        <p:nvSpPr>
          <p:cNvPr id="17" name="文本框 16"/>
          <p:cNvSpPr txBox="1"/>
          <p:nvPr/>
        </p:nvSpPr>
        <p:spPr>
          <a:xfrm>
            <a:off x="2208530" y="2197100"/>
            <a:ext cx="1704975" cy="368300"/>
          </a:xfrm>
          <a:prstGeom prst="rect">
            <a:avLst/>
          </a:prstGeom>
          <a:noFill/>
        </p:spPr>
        <p:txBody>
          <a:bodyPr wrap="square" rtlCol="0">
            <a:spAutoFit/>
          </a:bodyPr>
          <a:p>
            <a:r>
              <a:rPr lang="zh-CN" altLang="en-US" b="1"/>
              <a:t>叶片气动荷载</a:t>
            </a:r>
            <a:endParaRPr lang="zh-CN" altLang="en-US" b="1"/>
          </a:p>
        </p:txBody>
      </p:sp>
      <p:sp>
        <p:nvSpPr>
          <p:cNvPr id="18" name="文本框 17"/>
          <p:cNvSpPr txBox="1"/>
          <p:nvPr/>
        </p:nvSpPr>
        <p:spPr>
          <a:xfrm>
            <a:off x="2208530" y="2550160"/>
            <a:ext cx="1747520" cy="368300"/>
          </a:xfrm>
          <a:prstGeom prst="rect">
            <a:avLst/>
          </a:prstGeom>
          <a:noFill/>
        </p:spPr>
        <p:txBody>
          <a:bodyPr wrap="square" rtlCol="0">
            <a:spAutoFit/>
          </a:bodyPr>
          <a:p>
            <a:r>
              <a:rPr lang="zh-CN" altLang="en-US" b="1"/>
              <a:t>塔架气动荷载</a:t>
            </a:r>
            <a:endParaRPr lang="zh-CN" altLang="en-US" b="1"/>
          </a:p>
        </p:txBody>
      </p:sp>
      <p:sp>
        <p:nvSpPr>
          <p:cNvPr id="19" name="右箭头 18"/>
          <p:cNvSpPr/>
          <p:nvPr/>
        </p:nvSpPr>
        <p:spPr>
          <a:xfrm>
            <a:off x="4185920" y="1835785"/>
            <a:ext cx="321310" cy="212090"/>
          </a:xfrm>
          <a:prstGeom prst="rightArrow">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右箭头 19"/>
          <p:cNvSpPr/>
          <p:nvPr/>
        </p:nvSpPr>
        <p:spPr>
          <a:xfrm>
            <a:off x="4185920" y="2238375"/>
            <a:ext cx="321310" cy="212090"/>
          </a:xfrm>
          <a:prstGeom prst="rightArrow">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右箭头 20"/>
          <p:cNvSpPr/>
          <p:nvPr/>
        </p:nvSpPr>
        <p:spPr>
          <a:xfrm>
            <a:off x="4185920" y="2640330"/>
            <a:ext cx="321310" cy="212090"/>
          </a:xfrm>
          <a:prstGeom prst="rightArrow">
            <a:avLst/>
          </a:prstGeom>
          <a:solidFill>
            <a:srgbClr val="023A8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矩形 21"/>
          <p:cNvSpPr/>
          <p:nvPr/>
        </p:nvSpPr>
        <p:spPr>
          <a:xfrm>
            <a:off x="4829175" y="1710055"/>
            <a:ext cx="2903855" cy="1270000"/>
          </a:xfrm>
          <a:prstGeom prst="rect">
            <a:avLst/>
          </a:prstGeom>
          <a:solidFill>
            <a:srgbClr val="E0EED5"/>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nvSpPr>
        <p:spPr>
          <a:xfrm>
            <a:off x="4909185" y="1800860"/>
            <a:ext cx="1502410" cy="368300"/>
          </a:xfrm>
          <a:prstGeom prst="rect">
            <a:avLst/>
          </a:prstGeom>
          <a:noFill/>
        </p:spPr>
        <p:txBody>
          <a:bodyPr wrap="square" rtlCol="0">
            <a:spAutoFit/>
          </a:bodyPr>
          <a:p>
            <a:r>
              <a:rPr lang="en-US" altLang="zh-CN" b="1"/>
              <a:t>TurbSim</a:t>
            </a:r>
            <a:r>
              <a:rPr lang="zh-CN" altLang="en-US" b="1"/>
              <a:t>生成</a:t>
            </a:r>
            <a:endParaRPr lang="zh-CN" altLang="en-US" b="1"/>
          </a:p>
        </p:txBody>
      </p:sp>
      <p:sp>
        <p:nvSpPr>
          <p:cNvPr id="24" name="文本框 23"/>
          <p:cNvSpPr txBox="1"/>
          <p:nvPr/>
        </p:nvSpPr>
        <p:spPr>
          <a:xfrm>
            <a:off x="4779645" y="2197100"/>
            <a:ext cx="1747520" cy="368300"/>
          </a:xfrm>
          <a:prstGeom prst="rect">
            <a:avLst/>
          </a:prstGeom>
          <a:noFill/>
        </p:spPr>
        <p:txBody>
          <a:bodyPr wrap="square" rtlCol="0">
            <a:spAutoFit/>
          </a:bodyPr>
          <a:p>
            <a:r>
              <a:rPr lang="zh-CN" altLang="en-US" b="1">
                <a:solidFill>
                  <a:srgbClr val="023A8B"/>
                </a:solidFill>
              </a:rPr>
              <a:t>叶素动量理论</a:t>
            </a:r>
            <a:endParaRPr lang="zh-CN" altLang="en-US" b="1">
              <a:solidFill>
                <a:srgbClr val="023A8B"/>
              </a:solidFill>
            </a:endParaRPr>
          </a:p>
        </p:txBody>
      </p:sp>
      <p:sp>
        <p:nvSpPr>
          <p:cNvPr id="25" name="文本框 24"/>
          <p:cNvSpPr txBox="1"/>
          <p:nvPr/>
        </p:nvSpPr>
        <p:spPr>
          <a:xfrm>
            <a:off x="4829175" y="2553970"/>
            <a:ext cx="1502410" cy="368300"/>
          </a:xfrm>
          <a:prstGeom prst="rect">
            <a:avLst/>
          </a:prstGeom>
          <a:noFill/>
        </p:spPr>
        <p:txBody>
          <a:bodyPr wrap="square" rtlCol="0">
            <a:spAutoFit/>
          </a:bodyPr>
          <a:p>
            <a:r>
              <a:rPr lang="zh-CN" altLang="en-US" b="1">
                <a:solidFill>
                  <a:srgbClr val="023A8B"/>
                </a:solidFill>
              </a:rPr>
              <a:t>准定常假定</a:t>
            </a:r>
            <a:endParaRPr lang="zh-CN" altLang="en-US" b="1">
              <a:solidFill>
                <a:srgbClr val="023A8B"/>
              </a:solidFill>
            </a:endParaRPr>
          </a:p>
        </p:txBody>
      </p:sp>
      <p:sp>
        <p:nvSpPr>
          <p:cNvPr id="26" name="矩形 25"/>
          <p:cNvSpPr/>
          <p:nvPr/>
        </p:nvSpPr>
        <p:spPr>
          <a:xfrm>
            <a:off x="842010" y="3199765"/>
            <a:ext cx="10523855" cy="3133090"/>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文本框 26"/>
          <p:cNvSpPr txBox="1"/>
          <p:nvPr/>
        </p:nvSpPr>
        <p:spPr>
          <a:xfrm>
            <a:off x="874395" y="3199130"/>
            <a:ext cx="1600200" cy="429895"/>
          </a:xfrm>
          <a:prstGeom prst="rect">
            <a:avLst/>
          </a:prstGeom>
          <a:noFill/>
        </p:spPr>
        <p:txBody>
          <a:bodyPr wrap="square" rtlCol="0">
            <a:spAutoFit/>
          </a:bodyPr>
          <a:p>
            <a:r>
              <a:rPr lang="zh-CN" altLang="en-US" sz="2200" b="1">
                <a:solidFill>
                  <a:srgbClr val="023A8B"/>
                </a:solidFill>
              </a:rPr>
              <a:t>湍流风场</a:t>
            </a:r>
            <a:endParaRPr lang="zh-CN" altLang="en-US" sz="2200" b="1">
              <a:solidFill>
                <a:srgbClr val="023A8B"/>
              </a:solidFill>
            </a:endParaRPr>
          </a:p>
        </p:txBody>
      </p:sp>
      <p:sp>
        <p:nvSpPr>
          <p:cNvPr id="29" name="矩形 28"/>
          <p:cNvSpPr/>
          <p:nvPr/>
        </p:nvSpPr>
        <p:spPr>
          <a:xfrm>
            <a:off x="4550410" y="4698365"/>
            <a:ext cx="3293745" cy="1397000"/>
          </a:xfrm>
          <a:prstGeom prst="rect">
            <a:avLst/>
          </a:prstGeom>
          <a:solidFill>
            <a:srgbClr val="DEE3F6"/>
          </a:solidFill>
          <a:ln>
            <a:solidFill>
              <a:srgbClr val="619EAD"/>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椭圆 29"/>
          <p:cNvSpPr/>
          <p:nvPr/>
        </p:nvSpPr>
        <p:spPr>
          <a:xfrm>
            <a:off x="4652645" y="4850765"/>
            <a:ext cx="75565" cy="7556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椭圆 30"/>
          <p:cNvSpPr/>
          <p:nvPr/>
        </p:nvSpPr>
        <p:spPr>
          <a:xfrm>
            <a:off x="4652645" y="5494655"/>
            <a:ext cx="75565" cy="75565"/>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2" name="文本框 31"/>
              <p:cNvSpPr txBox="1"/>
              <p:nvPr/>
            </p:nvSpPr>
            <p:spPr>
              <a:xfrm>
                <a:off x="4909185" y="4688840"/>
                <a:ext cx="2579370" cy="728345"/>
              </a:xfrm>
              <a:prstGeom prst="rect">
                <a:avLst/>
              </a:prstGeom>
              <a:noFill/>
            </p:spPr>
            <p:txBody>
              <a:bodyPr wrap="square" rtlCol="0">
                <a:noAutofit/>
              </a:bodyPr>
              <a:p>
                <a:pPr>
                  <a:lnSpc>
                    <a:spcPct val="90000"/>
                  </a:lnSpc>
                </a:pPr>
                <a:r>
                  <a:rPr lang="en-US" altLang="zh-CN"/>
                  <a:t>Kaimal</a:t>
                </a:r>
                <a:r>
                  <a:rPr lang="zh-CN" altLang="en-US" sz="1500"/>
                  <a:t>风谱</a:t>
                </a:r>
                <a:r>
                  <a:rPr lang="zh-CN" altLang="en-US"/>
                  <a:t>：</a:t>
                </a:r>
                <a:endParaRPr lang="zh-CN" altLang="en-US"/>
              </a:p>
              <a:p>
                <a:pPr>
                  <a:lnSpc>
                    <a:spcPct val="90000"/>
                  </a:lnSpc>
                </a:pPr>
                <a:r>
                  <a:rPr lang="en-US" altLang="zh-CN" sz="2500" i="1">
                    <a:latin typeface="Cambria Math" panose="02040503050406030204" charset="0"/>
                    <a:cs typeface="Cambria Math" panose="02040503050406030204" charset="0"/>
                  </a:rPr>
                  <a:t>s</a:t>
                </a:r>
                <a:r>
                  <a:rPr lang="en-US" altLang="zh-CN" sz="2500" i="1" baseline="-25000">
                    <a:latin typeface="Cambria Math" panose="02040503050406030204" charset="0"/>
                    <a:cs typeface="Cambria Math" panose="02040503050406030204" charset="0"/>
                  </a:rPr>
                  <a:t>uu</a:t>
                </a:r>
                <a:r>
                  <a:rPr lang="en-US" altLang="zh-CN" sz="2500" i="1">
                    <a:latin typeface="Cambria Math" panose="02040503050406030204" charset="0"/>
                    <a:cs typeface="Cambria Math" panose="02040503050406030204" charset="0"/>
                  </a:rPr>
                  <a:t>(f)=u</a:t>
                </a:r>
                <a:r>
                  <a:rPr lang="en-US" altLang="zh-CN" sz="2500" i="1" baseline="-25000">
                    <a:latin typeface="Cambria Math" panose="02040503050406030204" charset="0"/>
                    <a:cs typeface="Cambria Math" panose="02040503050406030204" charset="0"/>
                  </a:rPr>
                  <a:t>t</a:t>
                </a:r>
                <a:r>
                  <a:rPr lang="en-US" altLang="zh-CN" sz="2500" baseline="30000">
                    <a:latin typeface="Cambria Math" panose="02040503050406030204" charset="0"/>
                    <a:cs typeface="Cambria Math" panose="02040503050406030204" charset="0"/>
                  </a:rPr>
                  <a:t>2</a:t>
                </a:r>
                <a14:m>
                  <m:oMath xmlns:m="http://schemas.openxmlformats.org/officeDocument/2006/math">
                    <m:f>
                      <m:fPr>
                        <m:ctrlPr>
                          <a:rPr lang="en-US" altLang="zh-CN" sz="2500" i="1" baseline="30000">
                            <a:latin typeface="Cambria Math" panose="02040503050406030204" charset="0"/>
                            <a:cs typeface="Cambria Math" panose="02040503050406030204" charset="0"/>
                          </a:rPr>
                        </m:ctrlPr>
                      </m:fPr>
                      <m:num>
                        <m:r>
                          <a:rPr lang="en-US" altLang="zh-CN" sz="2500" i="1" baseline="30000">
                            <a:latin typeface="Cambria Math" panose="02040503050406030204" charset="0"/>
                            <a:ea typeface="MS Mincho" charset="0"/>
                            <a:cs typeface="Cambria Math" panose="02040503050406030204" charset="0"/>
                          </a:rPr>
                          <m:t>52</m:t>
                        </m:r>
                        <m:r>
                          <a:rPr lang="en-US" altLang="zh-CN" sz="2500" i="1" baseline="30000">
                            <a:latin typeface="Cambria Math" panose="02040503050406030204" charset="0"/>
                            <a:ea typeface="MS Mincho" charset="0"/>
                            <a:cs typeface="Cambria Math" panose="02040503050406030204" charset="0"/>
                          </a:rPr>
                          <m:t>.</m:t>
                        </m:r>
                        <m:r>
                          <a:rPr lang="en-US" altLang="zh-CN" sz="2500" i="1" baseline="30000">
                            <a:latin typeface="Cambria Math" panose="02040503050406030204" charset="0"/>
                            <a:ea typeface="MS Mincho" charset="0"/>
                            <a:cs typeface="Cambria Math" panose="02040503050406030204" charset="0"/>
                          </a:rPr>
                          <m:t>5</m:t>
                        </m:r>
                        <m:r>
                          <a:rPr lang="en-US" altLang="zh-CN" sz="2500" i="1" baseline="30000">
                            <a:latin typeface="Cambria Math" panose="02040503050406030204" charset="0"/>
                            <a:cs typeface="Cambria Math" panose="02040503050406030204" charset="0"/>
                          </a:rPr>
                          <m:t>𝑧</m:t>
                        </m:r>
                        <m:r>
                          <a:rPr lang="en-US" altLang="zh-CN" sz="2500" i="1" baseline="30000">
                            <a:latin typeface="Cambria Math" panose="02040503050406030204" charset="0"/>
                            <a:ea typeface="MS Mincho" charset="0"/>
                            <a:cs typeface="Cambria Math" panose="02040503050406030204" charset="0"/>
                          </a:rPr>
                          <m:t>/</m:t>
                        </m:r>
                        <m:r>
                          <a:rPr lang="en-US" altLang="zh-CN" sz="2500" i="1" baseline="30000">
                            <a:latin typeface="Cambria Math" panose="02040503050406030204" charset="0"/>
                            <a:cs typeface="Cambria Math" panose="02040503050406030204" charset="0"/>
                          </a:rPr>
                          <m:t>𝑈</m:t>
                        </m:r>
                      </m:num>
                      <m:den>
                        <m:r>
                          <a:rPr lang="en-US" altLang="zh-CN" sz="2500" i="1" baseline="30000">
                            <a:latin typeface="Cambria Math" panose="02040503050406030204" charset="0"/>
                            <a:ea typeface="MS Mincho" charset="0"/>
                            <a:cs typeface="Cambria Math" panose="02040503050406030204" charset="0"/>
                          </a:rPr>
                          <m:t>(</m:t>
                        </m:r>
                        <m:r>
                          <a:rPr lang="en-US" altLang="zh-CN" sz="2500" i="1" baseline="30000">
                            <a:latin typeface="Cambria Math" panose="02040503050406030204" charset="0"/>
                            <a:ea typeface="MS Mincho" charset="0"/>
                            <a:cs typeface="Cambria Math" panose="02040503050406030204" charset="0"/>
                          </a:rPr>
                          <m:t>1</m:t>
                        </m:r>
                        <m:r>
                          <a:rPr lang="en-US" altLang="zh-CN" sz="2500" i="1" baseline="30000">
                            <a:latin typeface="Cambria Math" panose="02040503050406030204" charset="0"/>
                            <a:ea typeface="MS Mincho" charset="0"/>
                            <a:cs typeface="Cambria Math" panose="02040503050406030204" charset="0"/>
                          </a:rPr>
                          <m:t>+</m:t>
                        </m:r>
                        <m:r>
                          <a:rPr lang="en-US" altLang="zh-CN" sz="2500" i="1" baseline="30000">
                            <a:latin typeface="Cambria Math" panose="02040503050406030204" charset="0"/>
                            <a:ea typeface="MS Mincho" charset="0"/>
                            <a:cs typeface="Cambria Math" panose="02040503050406030204" charset="0"/>
                          </a:rPr>
                          <m:t>33</m:t>
                        </m:r>
                        <m:r>
                          <a:rPr lang="en-US" altLang="zh-CN" sz="2500" i="1" baseline="30000">
                            <a:latin typeface="Cambria Math" panose="02040503050406030204" charset="0"/>
                            <a:cs typeface="Cambria Math" panose="02040503050406030204" charset="0"/>
                          </a:rPr>
                          <m:t>𝑛</m:t>
                        </m:r>
                        <m:r>
                          <a:rPr lang="en-US" altLang="zh-CN" sz="2500" i="1" baseline="30000">
                            <a:latin typeface="Cambria Math" panose="02040503050406030204" charset="0"/>
                            <a:ea typeface="MS Mincho" charset="0"/>
                            <a:cs typeface="Cambria Math" panose="02040503050406030204" charset="0"/>
                          </a:rPr>
                          <m:t>)</m:t>
                        </m:r>
                        <m:r>
                          <a:rPr lang="en-US" altLang="zh-CN" sz="2500" i="1" baseline="30000">
                            <a:latin typeface="Cambria Math" panose="02040503050406030204" charset="0"/>
                            <a:ea typeface="MS Mincho" charset="0"/>
                            <a:cs typeface="Cambria Math" panose="02040503050406030204" charset="0"/>
                          </a:rPr>
                          <m:t>5</m:t>
                        </m:r>
                        <m:r>
                          <a:rPr lang="en-US" altLang="zh-CN" sz="2500" i="1" baseline="30000">
                            <a:latin typeface="Cambria Math" panose="02040503050406030204" charset="0"/>
                            <a:ea typeface="MS Mincho" charset="0"/>
                            <a:cs typeface="Cambria Math" panose="02040503050406030204" charset="0"/>
                          </a:rPr>
                          <m:t>/</m:t>
                        </m:r>
                        <m:r>
                          <a:rPr lang="en-US" altLang="zh-CN" sz="2500" i="1" baseline="30000">
                            <a:latin typeface="Cambria Math" panose="02040503050406030204" charset="0"/>
                            <a:ea typeface="MS Mincho" charset="0"/>
                            <a:cs typeface="Cambria Math" panose="02040503050406030204" charset="0"/>
                          </a:rPr>
                          <m:t>3</m:t>
                        </m:r>
                      </m:den>
                    </m:f>
                  </m:oMath>
                </a14:m>
                <a:endParaRPr lang="en-US" altLang="zh-CN" sz="2500" baseline="30000">
                  <a:latin typeface="Cambria Math" panose="02040503050406030204" charset="0"/>
                  <a:ea typeface="宋体" panose="02010600030101010101" pitchFamily="2" charset="-122"/>
                  <a:cs typeface="Cambria Math" panose="02040503050406030204" charset="0"/>
                </a:endParaRPr>
              </a:p>
            </p:txBody>
          </p:sp>
        </mc:Choice>
        <mc:Fallback>
          <p:sp>
            <p:nvSpPr>
              <p:cNvPr id="32" name="文本框 31"/>
              <p:cNvSpPr txBox="1">
                <a:spLocks noRot="1" noChangeAspect="1" noMove="1" noResize="1" noEditPoints="1" noAdjustHandles="1" noChangeArrowheads="1" noChangeShapeType="1" noTextEdit="1"/>
              </p:cNvSpPr>
              <p:nvPr/>
            </p:nvSpPr>
            <p:spPr>
              <a:xfrm>
                <a:off x="4909185" y="4688840"/>
                <a:ext cx="2579370" cy="728345"/>
              </a:xfrm>
              <a:prstGeom prst="rect">
                <a:avLst/>
              </a:prstGeom>
              <a:blipFill rotWithShape="1">
                <a:blip r:embed="rId1"/>
                <a:stretch>
                  <a:fillRect b="-133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4909185" y="5371465"/>
                <a:ext cx="2920365" cy="723900"/>
              </a:xfrm>
              <a:prstGeom prst="rect">
                <a:avLst/>
              </a:prstGeom>
              <a:noFill/>
            </p:spPr>
            <p:txBody>
              <a:bodyPr wrap="square" rtlCol="0">
                <a:noAutofit/>
              </a:bodyPr>
              <a:p>
                <a:r>
                  <a:rPr lang="zh-CN" altLang="en-US" sz="1500"/>
                  <a:t>空间相干性：</a:t>
                </a:r>
                <a:endParaRPr lang="zh-CN" altLang="en-US" sz="1500"/>
              </a:p>
              <a:p>
                <a:r>
                  <a:rPr lang="en-US" altLang="zh-CN" sz="1500">
                    <a:latin typeface="Times New Roman" panose="02020603050405020304" charset="0"/>
                    <a:cs typeface="Times New Roman" panose="02020603050405020304" charset="0"/>
                  </a:rPr>
                  <a:t>S</a:t>
                </a:r>
                <a:r>
                  <a:rPr lang="en-US" altLang="zh-CN" sz="1500" baseline="-25000">
                    <a:latin typeface="Times New Roman" panose="02020603050405020304" charset="0"/>
                    <a:cs typeface="Times New Roman" panose="02020603050405020304" charset="0"/>
                  </a:rPr>
                  <a:t>ij</a:t>
                </a:r>
                <a:r>
                  <a:rPr lang="en-US" altLang="zh-CN" sz="1500">
                    <a:latin typeface="Times New Roman" panose="02020603050405020304" charset="0"/>
                    <a:cs typeface="Times New Roman" panose="02020603050405020304" charset="0"/>
                  </a:rPr>
                  <a:t>(f)=Coh(i,j)</a:t>
                </a:r>
                <a14:m>
                  <m:oMath xmlns:m="http://schemas.openxmlformats.org/officeDocument/2006/math">
                    <m:rad>
                      <m:radPr>
                        <m:degHide m:val="on"/>
                        <m:ctrlPr>
                          <a:rPr lang="en-US" altLang="zh-CN" sz="1500" i="1">
                            <a:latin typeface="Cambria Math" panose="02040503050406030204" charset="0"/>
                            <a:cs typeface="Cambria Math" panose="02040503050406030204" charset="0"/>
                          </a:rPr>
                        </m:ctrlPr>
                      </m:radPr>
                      <m:deg/>
                      <m:e>
                        <m:r>
                          <a:rPr lang="en-US" altLang="zh-CN" sz="1500" i="1">
                            <a:latin typeface="Cambria Math" panose="02040503050406030204" charset="0"/>
                            <a:cs typeface="Cambria Math" panose="02040503050406030204" charset="0"/>
                          </a:rPr>
                          <m:t>𝑆</m:t>
                        </m:r>
                        <m:r>
                          <a:rPr lang="en-US" altLang="zh-CN" sz="1500" i="1" baseline="-25000">
                            <a:latin typeface="Cambria Math" panose="02040503050406030204" charset="0"/>
                            <a:cs typeface="Cambria Math" panose="02040503050406030204" charset="0"/>
                          </a:rPr>
                          <m:t>𝑖𝑖</m:t>
                        </m:r>
                        <m:r>
                          <a:rPr lang="en-US" altLang="zh-CN" sz="1500" i="1">
                            <a:latin typeface="Cambria Math" panose="02040503050406030204" charset="0"/>
                            <a:ea typeface="MS Mincho" charset="0"/>
                            <a:cs typeface="Cambria Math" panose="02040503050406030204" charset="0"/>
                          </a:rPr>
                          <m:t>(</m:t>
                        </m:r>
                        <m:r>
                          <a:rPr lang="en-US" altLang="zh-CN" sz="1500" i="1">
                            <a:latin typeface="Cambria Math" panose="02040503050406030204" charset="0"/>
                            <a:cs typeface="Cambria Math" panose="02040503050406030204" charset="0"/>
                          </a:rPr>
                          <m:t>𝑓</m:t>
                        </m:r>
                        <m:r>
                          <a:rPr lang="en-US" altLang="zh-CN" sz="1500" i="1">
                            <a:latin typeface="Cambria Math" panose="02040503050406030204" charset="0"/>
                            <a:ea typeface="MS Mincho" charset="0"/>
                            <a:cs typeface="Cambria Math" panose="02040503050406030204" charset="0"/>
                          </a:rPr>
                          <m:t>)+</m:t>
                        </m:r>
                        <m:r>
                          <a:rPr lang="en-US" altLang="zh-CN" sz="1500" i="1">
                            <a:latin typeface="Cambria Math" panose="02040503050406030204" charset="0"/>
                            <a:cs typeface="Cambria Math" panose="02040503050406030204" charset="0"/>
                          </a:rPr>
                          <m:t>𝑆</m:t>
                        </m:r>
                        <m:r>
                          <a:rPr lang="en-US" altLang="zh-CN" sz="1500" i="1" baseline="-25000">
                            <a:latin typeface="Cambria Math" panose="02040503050406030204" charset="0"/>
                            <a:cs typeface="Cambria Math" panose="02040503050406030204" charset="0"/>
                          </a:rPr>
                          <m:t>𝑗𝑗</m:t>
                        </m:r>
                        <m:r>
                          <a:rPr lang="en-US" altLang="zh-CN" sz="1500" i="1">
                            <a:latin typeface="Cambria Math" panose="02040503050406030204" charset="0"/>
                            <a:ea typeface="MS Mincho" charset="0"/>
                            <a:cs typeface="Cambria Math" panose="02040503050406030204" charset="0"/>
                          </a:rPr>
                          <m:t>(</m:t>
                        </m:r>
                        <m:r>
                          <a:rPr lang="en-US" altLang="zh-CN" sz="1500" i="1">
                            <a:latin typeface="Cambria Math" panose="02040503050406030204" charset="0"/>
                            <a:cs typeface="Cambria Math" panose="02040503050406030204" charset="0"/>
                          </a:rPr>
                          <m:t>𝑓</m:t>
                        </m:r>
                        <m:r>
                          <a:rPr lang="en-US" altLang="zh-CN" sz="1500" i="1">
                            <a:latin typeface="Cambria Math" panose="02040503050406030204" charset="0"/>
                            <a:ea typeface="MS Mincho" charset="0"/>
                            <a:cs typeface="Cambria Math" panose="02040503050406030204" charset="0"/>
                          </a:rPr>
                          <m:t>)</m:t>
                        </m:r>
                        <m:r>
                          <a:rPr lang="en-US" altLang="zh-CN" sz="1500">
                            <a:latin typeface="Cambria Math" panose="02040503050406030204" charset="0"/>
                            <a:cs typeface="Cambria Math" panose="02040503050406030204" charset="0"/>
                          </a:rPr>
                          <m:t> </m:t>
                        </m:r>
                      </m:e>
                    </m:rad>
                  </m:oMath>
                </a14:m>
                <a:endParaRPr lang="en-US" altLang="zh-CN" sz="1500">
                  <a:latin typeface="Times New Roman" panose="02020603050405020304" charset="0"/>
                  <a:cs typeface="Times New Roman" panose="02020603050405020304" charset="0"/>
                </a:endParaRPr>
              </a:p>
            </p:txBody>
          </p:sp>
        </mc:Choice>
        <mc:Fallback>
          <p:sp>
            <p:nvSpPr>
              <p:cNvPr id="34" name="文本框 33"/>
              <p:cNvSpPr txBox="1">
                <a:spLocks noRot="1" noChangeAspect="1" noMove="1" noResize="1" noEditPoints="1" noAdjustHandles="1" noChangeArrowheads="1" noChangeShapeType="1" noTextEdit="1"/>
              </p:cNvSpPr>
              <p:nvPr/>
            </p:nvSpPr>
            <p:spPr>
              <a:xfrm>
                <a:off x="4909185" y="5371465"/>
                <a:ext cx="2920365" cy="723900"/>
              </a:xfrm>
              <a:prstGeom prst="rect">
                <a:avLst/>
              </a:prstGeom>
              <a:blipFill rotWithShape="1">
                <a:blip r:embed="rId2"/>
                <a:stretch>
                  <a:fillRect/>
                </a:stretch>
              </a:blipFill>
            </p:spPr>
            <p:txBody>
              <a:bodyPr/>
              <a:lstStyle/>
              <a:p>
                <a:r>
                  <a:rPr lang="zh-CN" altLang="en-US">
                    <a:noFill/>
                  </a:rPr>
                  <a:t> </a:t>
                </a:r>
              </a:p>
            </p:txBody>
          </p:sp>
        </mc:Fallback>
      </mc:AlternateContent>
      <p:sp>
        <p:nvSpPr>
          <p:cNvPr id="35" name="矩形 34"/>
          <p:cNvSpPr/>
          <p:nvPr/>
        </p:nvSpPr>
        <p:spPr>
          <a:xfrm>
            <a:off x="8453755" y="4707255"/>
            <a:ext cx="2548255" cy="617855"/>
          </a:xfrm>
          <a:prstGeom prst="rect">
            <a:avLst/>
          </a:prstGeom>
          <a:solidFill>
            <a:srgbClr val="DEE3F6"/>
          </a:solidFill>
          <a:ln>
            <a:solidFill>
              <a:srgbClr val="619EAD"/>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43" name="对象 42"/>
          <p:cNvGraphicFramePr/>
          <p:nvPr/>
        </p:nvGraphicFramePr>
        <p:xfrm>
          <a:off x="8966200" y="4688840"/>
          <a:ext cx="1626870" cy="603885"/>
        </p:xfrm>
        <a:graphic>
          <a:graphicData uri="http://schemas.openxmlformats.org/presentationml/2006/ole">
            <mc:AlternateContent xmlns:mc="http://schemas.openxmlformats.org/markup-compatibility/2006">
              <mc:Choice xmlns:v="urn:schemas-microsoft-com:vml" Requires="v">
                <p:oleObj spid="_x0000_s44" name="" r:id="rId3" imgW="1651000" imgH="634365" progId="Equation.KSEE3">
                  <p:embed/>
                </p:oleObj>
              </mc:Choice>
              <mc:Fallback>
                <p:oleObj name="" r:id="rId3" imgW="1651000" imgH="634365" progId="Equation.KSEE3">
                  <p:embed/>
                  <p:pic>
                    <p:nvPicPr>
                      <p:cNvPr id="0" name="图片 43"/>
                      <p:cNvPicPr/>
                      <p:nvPr/>
                    </p:nvPicPr>
                    <p:blipFill>
                      <a:blip r:embed="rId4"/>
                      <a:stretch>
                        <a:fillRect/>
                      </a:stretch>
                    </p:blipFill>
                    <p:spPr>
                      <a:xfrm>
                        <a:off x="8966200" y="4688840"/>
                        <a:ext cx="1626870" cy="603885"/>
                      </a:xfrm>
                      <a:prstGeom prst="rect">
                        <a:avLst/>
                      </a:prstGeom>
                    </p:spPr>
                  </p:pic>
                </p:oleObj>
              </mc:Fallback>
            </mc:AlternateContent>
          </a:graphicData>
        </a:graphic>
      </p:graphicFrame>
      <p:sp>
        <p:nvSpPr>
          <p:cNvPr id="45" name="圆角矩形 44"/>
          <p:cNvSpPr/>
          <p:nvPr/>
        </p:nvSpPr>
        <p:spPr>
          <a:xfrm>
            <a:off x="4550410" y="3851910"/>
            <a:ext cx="1600200" cy="516255"/>
          </a:xfrm>
          <a:prstGeom prst="roundRect">
            <a:avLst/>
          </a:prstGeom>
          <a:solidFill>
            <a:srgbClr val="DEE3F6"/>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动脉风</a:t>
            </a:r>
            <a:endParaRPr lang="zh-CN" altLang="en-US">
              <a:solidFill>
                <a:schemeClr val="tx1"/>
              </a:solidFill>
            </a:endParaRPr>
          </a:p>
        </p:txBody>
      </p:sp>
      <p:sp>
        <p:nvSpPr>
          <p:cNvPr id="46" name="圆角矩形 45"/>
          <p:cNvSpPr/>
          <p:nvPr/>
        </p:nvSpPr>
        <p:spPr>
          <a:xfrm>
            <a:off x="8377555" y="3851910"/>
            <a:ext cx="1600200" cy="516255"/>
          </a:xfrm>
          <a:prstGeom prst="roundRect">
            <a:avLst/>
          </a:prstGeom>
          <a:solidFill>
            <a:srgbClr val="DEE3F6"/>
          </a:solidFill>
          <a:ln>
            <a:solidFill>
              <a:srgbClr val="000000">
                <a:alpha val="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平均风</a:t>
            </a:r>
            <a:endParaRPr lang="zh-CN" altLang="en-US">
              <a:solidFill>
                <a:schemeClr val="tx1"/>
              </a:solidFill>
            </a:endParaRPr>
          </a:p>
        </p:txBody>
      </p:sp>
      <p:pic>
        <p:nvPicPr>
          <p:cNvPr id="2" name="图片 1" descr="26.1.1"/>
          <p:cNvPicPr>
            <a:picLocks noChangeAspect="1"/>
          </p:cNvPicPr>
          <p:nvPr/>
        </p:nvPicPr>
        <p:blipFill>
          <a:blip r:embed="rId5"/>
          <a:srcRect t="2852" r="-636" b="5685"/>
          <a:stretch>
            <a:fillRect/>
          </a:stretch>
        </p:blipFill>
        <p:spPr>
          <a:xfrm>
            <a:off x="1203325" y="3630295"/>
            <a:ext cx="2837180" cy="2595880"/>
          </a:xfrm>
          <a:prstGeom prst="rect">
            <a:avLst/>
          </a:prstGeom>
        </p:spPr>
      </p:pic>
      <p:pic>
        <p:nvPicPr>
          <p:cNvPr id="3" name="图片 2" descr="26.2.1"/>
          <p:cNvPicPr>
            <a:picLocks noChangeAspect="1"/>
          </p:cNvPicPr>
          <p:nvPr/>
        </p:nvPicPr>
        <p:blipFill>
          <a:blip r:embed="rId6"/>
          <a:stretch>
            <a:fillRect/>
          </a:stretch>
        </p:blipFill>
        <p:spPr>
          <a:xfrm>
            <a:off x="8333105" y="1233805"/>
            <a:ext cx="1924050" cy="1924050"/>
          </a:xfrm>
          <a:prstGeom prst="rect">
            <a:avLst/>
          </a:prstGeom>
        </p:spPr>
      </p:pic>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26/68</a:t>
            </a:r>
            <a:endParaRPr lang="en-US" altLang="zh-CN">
              <a:latin typeface="微软雅黑" panose="020B0503020204020204" charset="-122"/>
              <a:ea typeface="微软雅黑" panose="020B0503020204020204" charset="-122"/>
            </a:endParaRPr>
          </a:p>
        </p:txBody>
      </p:sp>
      <p:sp>
        <p:nvSpPr>
          <p:cNvPr id="28" name="文本框 27"/>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4064635" cy="445135"/>
          </a:xfrm>
          <a:prstGeom prst="rect">
            <a:avLst/>
          </a:prstGeom>
          <a:noFill/>
        </p:spPr>
        <p:txBody>
          <a:bodyPr wrap="square" rtlCol="0">
            <a:spAutoFit/>
          </a:bodyPr>
          <a:p>
            <a:r>
              <a:rPr lang="zh-CN" altLang="en-US" sz="2300" b="1">
                <a:solidFill>
                  <a:srgbClr val="394C7E"/>
                </a:solidFill>
              </a:rPr>
              <a:t>模型建立：风场与气动</a:t>
            </a:r>
            <a:r>
              <a:rPr lang="zh-CN" altLang="en-US" sz="2300" b="1">
                <a:solidFill>
                  <a:srgbClr val="394C7E"/>
                </a:solidFill>
              </a:rPr>
              <a:t>荷载</a:t>
            </a:r>
            <a:endParaRPr lang="zh-CN" altLang="en-US" sz="2300" b="1">
              <a:solidFill>
                <a:srgbClr val="394C7E"/>
              </a:solidFill>
            </a:endParaRPr>
          </a:p>
        </p:txBody>
      </p:sp>
      <p:sp>
        <p:nvSpPr>
          <p:cNvPr id="12" name="矩形 11"/>
          <p:cNvSpPr/>
          <p:nvPr/>
        </p:nvSpPr>
        <p:spPr>
          <a:xfrm>
            <a:off x="849630" y="1668145"/>
            <a:ext cx="5054600" cy="4605655"/>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矩形 12"/>
          <p:cNvSpPr/>
          <p:nvPr/>
        </p:nvSpPr>
        <p:spPr>
          <a:xfrm>
            <a:off x="6303010" y="1668145"/>
            <a:ext cx="5256530" cy="4605655"/>
          </a:xfrm>
          <a:prstGeom prst="rect">
            <a:avLst/>
          </a:prstGeom>
          <a:ln w="19050">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椭圆 13"/>
          <p:cNvSpPr/>
          <p:nvPr/>
        </p:nvSpPr>
        <p:spPr>
          <a:xfrm>
            <a:off x="989330" y="1786255"/>
            <a:ext cx="135890" cy="135890"/>
          </a:xfrm>
          <a:prstGeom prst="ellipse">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6407785" y="1777365"/>
            <a:ext cx="135890" cy="135890"/>
          </a:xfrm>
          <a:prstGeom prst="ellipse">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149350" y="1652270"/>
            <a:ext cx="3597910" cy="398780"/>
          </a:xfrm>
          <a:prstGeom prst="rect">
            <a:avLst/>
          </a:prstGeom>
          <a:noFill/>
        </p:spPr>
        <p:txBody>
          <a:bodyPr wrap="square" rtlCol="0">
            <a:spAutoFit/>
          </a:bodyPr>
          <a:p>
            <a:r>
              <a:rPr lang="zh-CN" altLang="en-US" sz="2000" b="1">
                <a:solidFill>
                  <a:srgbClr val="C00000"/>
                </a:solidFill>
              </a:rPr>
              <a:t>叶片气动荷载：</a:t>
            </a:r>
            <a:r>
              <a:rPr lang="zh-CN" altLang="en-US" sz="2000" b="1">
                <a:solidFill>
                  <a:srgbClr val="023A8B"/>
                </a:solidFill>
              </a:rPr>
              <a:t>叶素动量理论</a:t>
            </a:r>
            <a:endParaRPr lang="zh-CN" altLang="en-US" sz="2000" b="1">
              <a:solidFill>
                <a:srgbClr val="023A8B"/>
              </a:solidFill>
            </a:endParaRPr>
          </a:p>
        </p:txBody>
      </p:sp>
      <p:sp>
        <p:nvSpPr>
          <p:cNvPr id="17" name="文本框 16"/>
          <p:cNvSpPr txBox="1"/>
          <p:nvPr/>
        </p:nvSpPr>
        <p:spPr>
          <a:xfrm>
            <a:off x="6602730" y="1652270"/>
            <a:ext cx="2023745" cy="398780"/>
          </a:xfrm>
          <a:prstGeom prst="rect">
            <a:avLst/>
          </a:prstGeom>
          <a:noFill/>
        </p:spPr>
        <p:txBody>
          <a:bodyPr wrap="square" rtlCol="0">
            <a:spAutoFit/>
          </a:bodyPr>
          <a:p>
            <a:r>
              <a:rPr lang="zh-CN" altLang="en-US" sz="2000" b="1">
                <a:solidFill>
                  <a:srgbClr val="C00000"/>
                </a:solidFill>
              </a:rPr>
              <a:t>塔架气动载荷</a:t>
            </a:r>
            <a:endParaRPr lang="zh-CN" altLang="en-US" sz="2000" b="1">
              <a:solidFill>
                <a:srgbClr val="C00000"/>
              </a:solidFill>
            </a:endParaRPr>
          </a:p>
        </p:txBody>
      </p:sp>
      <p:sp>
        <p:nvSpPr>
          <p:cNvPr id="20" name="文本框 19"/>
          <p:cNvSpPr txBox="1"/>
          <p:nvPr/>
        </p:nvSpPr>
        <p:spPr>
          <a:xfrm>
            <a:off x="3520440" y="3559175"/>
            <a:ext cx="2221865" cy="1506855"/>
          </a:xfrm>
          <a:prstGeom prst="rect">
            <a:avLst/>
          </a:prstGeom>
          <a:noFill/>
        </p:spPr>
        <p:txBody>
          <a:bodyPr wrap="square" rtlCol="0">
            <a:spAutoFit/>
          </a:bodyPr>
          <a:p>
            <a:r>
              <a:rPr lang="zh-CN" altLang="en-US" sz="2000" b="1">
                <a:solidFill>
                  <a:srgbClr val="023A8B"/>
                </a:solidFill>
              </a:rPr>
              <a:t>动量理论：</a:t>
            </a:r>
            <a:endParaRPr lang="zh-CN" altLang="en-US" sz="2000" b="1">
              <a:solidFill>
                <a:srgbClr val="023A8B"/>
              </a:solidFill>
            </a:endParaRPr>
          </a:p>
          <a:p>
            <a:r>
              <a:rPr lang="zh-CN" altLang="en-US"/>
              <a:t>根据一维动量理论，每个单元环状流管产生的推力和力矩可以</a:t>
            </a:r>
            <a:r>
              <a:rPr lang="zh-CN" altLang="en-US"/>
              <a:t>求得。</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1857946" y="5205349"/>
                <a:ext cx="3331210" cy="50482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1200" i="1">
                          <a:latin typeface="Cambria Math" panose="02040503050406030204" charset="0"/>
                          <a:cs typeface="Cambria Math" panose="02040503050406030204" charset="0"/>
                        </a:rPr>
                        <m:t>𝑇</m:t>
                      </m:r>
                      <m:r>
                        <a:rPr lang="en-US" altLang="zh-CN" sz="1200" i="1">
                          <a:latin typeface="Cambria Math" panose="02040503050406030204" charset="0"/>
                          <a:cs typeface="Cambria Math" panose="02040503050406030204" charset="0"/>
                        </a:rPr>
                        <m:t>=</m:t>
                      </m:r>
                      <m:nary>
                        <m:naryPr>
                          <m:limLoc m:val="subSup"/>
                          <m:ctrlPr>
                            <a:rPr lang="en-US" altLang="zh-CN" sz="1200" i="1">
                              <a:latin typeface="Cambria Math" panose="02040503050406030204" charset="0"/>
                              <a:cs typeface="Cambria Math" panose="02040503050406030204" charset="0"/>
                            </a:rPr>
                          </m:ctrlPr>
                        </m:naryPr>
                        <m:sub>
                          <m:r>
                            <a:rPr lang="en-US" altLang="zh-CN" sz="1200" i="1">
                              <a:latin typeface="Cambria Math" panose="02040503050406030204" charset="0"/>
                              <a:cs typeface="Cambria Math" panose="02040503050406030204" charset="0"/>
                            </a:rPr>
                            <m:t>0</m:t>
                          </m:r>
                        </m:sub>
                        <m:sup>
                          <m:r>
                            <a:rPr lang="en-US" altLang="zh-CN" sz="1200" i="1">
                              <a:latin typeface="Cambria Math" panose="02040503050406030204" charset="0"/>
                              <a:cs typeface="Cambria Math" panose="02040503050406030204" charset="0"/>
                            </a:rPr>
                            <m:t>𝑅</m:t>
                          </m:r>
                        </m:sup>
                        <m:e>
                          <m:r>
                            <a:rPr lang="en-US" altLang="zh-CN" sz="1200" i="1">
                              <a:latin typeface="Cambria Math" panose="02040503050406030204" charset="0"/>
                              <a:cs typeface="Cambria Math" panose="02040503050406030204" charset="0"/>
                            </a:rPr>
                            <m:t>𝑑𝑇</m:t>
                          </m:r>
                          <m:r>
                            <a:rPr lang="en-US" altLang="zh-CN" sz="1200" i="1">
                              <a:latin typeface="Cambria Math" panose="02040503050406030204" charset="0"/>
                              <a:cs typeface="Cambria Math" panose="02040503050406030204" charset="0"/>
                            </a:rPr>
                            <m:t>=</m:t>
                          </m:r>
                        </m:e>
                      </m:nary>
                      <m:f>
                        <m:fPr>
                          <m:ctrlPr>
                            <a:rPr lang="en-US" altLang="zh-CN" sz="1200" i="1">
                              <a:latin typeface="Cambria Math" panose="02040503050406030204" charset="0"/>
                              <a:cs typeface="Cambria Math" panose="02040503050406030204" charset="0"/>
                            </a:rPr>
                          </m:ctrlPr>
                        </m:fPr>
                        <m:num>
                          <m:r>
                            <a:rPr lang="en-US" altLang="zh-CN" sz="1200" i="1">
                              <a:latin typeface="Cambria Math" panose="02040503050406030204" charset="0"/>
                              <a:cs typeface="Cambria Math" panose="02040503050406030204" charset="0"/>
                            </a:rPr>
                            <m:t>𝜌</m:t>
                          </m:r>
                          <m:r>
                            <a:rPr lang="en-US" altLang="zh-CN" sz="1200" i="1">
                              <a:latin typeface="Cambria Math" panose="02040503050406030204" charset="0"/>
                              <a:cs typeface="Cambria Math" panose="02040503050406030204" charset="0"/>
                            </a:rPr>
                            <m:t>𝐵</m:t>
                          </m:r>
                        </m:num>
                        <m:den>
                          <m:r>
                            <a:rPr lang="en-US" altLang="zh-CN" sz="1200" i="1">
                              <a:latin typeface="Cambria Math" panose="02040503050406030204" charset="0"/>
                              <a:cs typeface="Cambria Math" panose="02040503050406030204" charset="0"/>
                            </a:rPr>
                            <m:t>2</m:t>
                          </m:r>
                        </m:den>
                      </m:f>
                      <m:nary>
                        <m:naryPr>
                          <m:limLoc m:val="subSup"/>
                          <m:ctrlPr>
                            <a:rPr lang="en-US" altLang="zh-CN" sz="1200" i="1">
                              <a:latin typeface="Cambria Math" panose="02040503050406030204" charset="0"/>
                              <a:cs typeface="Cambria Math" panose="02040503050406030204" charset="0"/>
                            </a:rPr>
                          </m:ctrlPr>
                        </m:naryPr>
                        <m:sub>
                          <m:r>
                            <a:rPr lang="en-US" altLang="zh-CN" sz="1200" i="1">
                              <a:latin typeface="Cambria Math" panose="02040503050406030204" charset="0"/>
                              <a:cs typeface="Cambria Math" panose="02040503050406030204" charset="0"/>
                            </a:rPr>
                            <m:t>0</m:t>
                          </m:r>
                        </m:sub>
                        <m:sup>
                          <m:r>
                            <a:rPr lang="en-US" altLang="zh-CN" sz="1200" i="1">
                              <a:latin typeface="Cambria Math" panose="02040503050406030204" charset="0"/>
                              <a:cs typeface="Cambria Math" panose="02040503050406030204" charset="0"/>
                            </a:rPr>
                            <m:t>𝑅</m:t>
                          </m:r>
                        </m:sup>
                        <m:e>
                          <m:f>
                            <m:fPr>
                              <m:ctrlPr>
                                <a:rPr lang="en-US" altLang="zh-CN" sz="1200" i="1">
                                  <a:latin typeface="Cambria Math" panose="02040503050406030204" charset="0"/>
                                  <a:cs typeface="Cambria Math" panose="02040503050406030204" charset="0"/>
                                </a:rPr>
                              </m:ctrlPr>
                            </m:fPr>
                            <m:num>
                              <m:sSup>
                                <m:sSupPr>
                                  <m:ctrlPr>
                                    <a:rPr lang="en-US" altLang="zh-CN" sz="1200" i="1">
                                      <a:latin typeface="Cambria Math" panose="02040503050406030204" charset="0"/>
                                      <a:cs typeface="Cambria Math" panose="02040503050406030204" charset="0"/>
                                    </a:rPr>
                                  </m:ctrlPr>
                                </m:sSupPr>
                                <m:e>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𝑣</m:t>
                                  </m:r>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𝑣</m:t>
                                      </m:r>
                                    </m:e>
                                    <m:sub>
                                      <m:r>
                                        <a:rPr lang="en-US" altLang="zh-CN" sz="1200" i="1">
                                          <a:latin typeface="Cambria Math" panose="02040503050406030204" charset="0"/>
                                          <a:cs typeface="Cambria Math" panose="02040503050406030204" charset="0"/>
                                        </a:rPr>
                                        <m:t>𝑏</m:t>
                                      </m:r>
                                    </m:sub>
                                  </m:sSub>
                                  <m:r>
                                    <a:rPr lang="en-US" altLang="zh-CN" sz="1200" i="1">
                                      <a:latin typeface="Cambria Math" panose="02040503050406030204" charset="0"/>
                                      <a:cs typeface="Cambria Math" panose="02040503050406030204" charset="0"/>
                                    </a:rPr>
                                    <m:t>)</m:t>
                                  </m:r>
                                </m:e>
                                <m:sup>
                                  <m:r>
                                    <a:rPr lang="en-US" altLang="zh-CN" sz="1200" i="1">
                                      <a:latin typeface="Cambria Math" panose="02040503050406030204" charset="0"/>
                                      <a:cs typeface="Cambria Math" panose="02040503050406030204" charset="0"/>
                                    </a:rPr>
                                    <m:t>2</m:t>
                                  </m:r>
                                </m:sup>
                              </m:sSup>
                              <m:sSup>
                                <m:sSupPr>
                                  <m:ctrlPr>
                                    <a:rPr lang="en-US" altLang="zh-CN" sz="1200" i="1">
                                      <a:latin typeface="Cambria Math" panose="02040503050406030204" charset="0"/>
                                      <a:cs typeface="Cambria Math" panose="02040503050406030204" charset="0"/>
                                    </a:rPr>
                                  </m:ctrlPr>
                                </m:sSupPr>
                                <m:e>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𝑎</m:t>
                                  </m:r>
                                  <m:r>
                                    <a:rPr lang="en-US" altLang="zh-CN" sz="1200" i="1">
                                      <a:latin typeface="Cambria Math" panose="02040503050406030204" charset="0"/>
                                      <a:cs typeface="Cambria Math" panose="02040503050406030204" charset="0"/>
                                    </a:rPr>
                                    <m:t>)</m:t>
                                  </m:r>
                                </m:e>
                                <m:sup>
                                  <m:r>
                                    <a:rPr lang="en-US" altLang="zh-CN" sz="1200" i="1">
                                      <a:latin typeface="Cambria Math" panose="02040503050406030204" charset="0"/>
                                      <a:cs typeface="Cambria Math" panose="02040503050406030204" charset="0"/>
                                    </a:rPr>
                                    <m:t>2</m:t>
                                  </m:r>
                                </m:sup>
                              </m:sSup>
                            </m:num>
                            <m:den>
                              <m:sSup>
                                <m:sSupPr>
                                  <m:ctrlPr>
                                    <a:rPr lang="en-US" altLang="zh-CN" sz="1200" i="1">
                                      <a:latin typeface="Cambria Math" panose="02040503050406030204" charset="0"/>
                                      <a:cs typeface="Cambria Math" panose="02040503050406030204" charset="0"/>
                                    </a:rPr>
                                  </m:ctrlPr>
                                </m:sSupPr>
                                <m:e>
                                  <m:r>
                                    <a:rPr lang="en-US" altLang="zh-CN" sz="1200" i="1">
                                      <a:latin typeface="Cambria Math" panose="02040503050406030204" charset="0"/>
                                      <a:cs typeface="Cambria Math" panose="02040503050406030204" charset="0"/>
                                    </a:rPr>
                                    <m:t>𝑠𝑖𝑛</m:t>
                                  </m:r>
                                </m:e>
                                <m:sup>
                                  <m:r>
                                    <a:rPr lang="en-US" altLang="zh-CN" sz="1200" i="1">
                                      <a:latin typeface="Cambria Math" panose="02040503050406030204" charset="0"/>
                                      <a:cs typeface="Cambria Math" panose="02040503050406030204" charset="0"/>
                                    </a:rPr>
                                    <m:t>2</m:t>
                                  </m:r>
                                </m:sup>
                              </m:sSup>
                              <m:r>
                                <a:rPr lang="en-US" altLang="zh-CN" sz="1200" i="1">
                                  <a:latin typeface="Cambria Math" panose="02040503050406030204" charset="0"/>
                                  <a:cs typeface="Cambria Math" panose="02040503050406030204" charset="0"/>
                                </a:rPr>
                                <m:t>𝜙</m:t>
                              </m:r>
                            </m:den>
                          </m:f>
                          <m:r>
                            <a:rPr lang="en-US" altLang="zh-CN" sz="1200" i="1">
                              <a:latin typeface="Cambria Math" panose="02040503050406030204" charset="0"/>
                              <a:cs typeface="Cambria Math" panose="02040503050406030204" charset="0"/>
                            </a:rPr>
                            <m:t>𝑐</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𝑟</m:t>
                          </m:r>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𝐶</m:t>
                              </m:r>
                            </m:e>
                            <m:sub>
                              <m:r>
                                <a:rPr lang="en-US" altLang="zh-CN" sz="1200" i="1">
                                  <a:latin typeface="Cambria Math" panose="02040503050406030204" charset="0"/>
                                  <a:cs typeface="Cambria Math" panose="02040503050406030204" charset="0"/>
                                </a:rPr>
                                <m:t>𝑁</m:t>
                              </m:r>
                            </m:sub>
                          </m:sSub>
                          <m:r>
                            <a:rPr lang="en-US" altLang="zh-CN" sz="1200" i="1">
                              <a:latin typeface="Cambria Math" panose="02040503050406030204" charset="0"/>
                              <a:cs typeface="Cambria Math" panose="02040503050406030204" charset="0"/>
                            </a:rPr>
                            <m:t>𝑑𝑟</m:t>
                          </m:r>
                        </m:e>
                      </m:nary>
                    </m:oMath>
                  </m:oMathPara>
                </a14:m>
                <a:endParaRPr lang="zh-CN" altLang="en-US" sz="1200"/>
              </a:p>
            </p:txBody>
          </p:sp>
        </mc:Choice>
        <mc:Fallback>
          <p:sp>
            <p:nvSpPr>
              <p:cNvPr id="3" name="文本框 2"/>
              <p:cNvSpPr txBox="1">
                <a:spLocks noRot="1" noChangeAspect="1" noMove="1" noResize="1" noEditPoints="1" noAdjustHandles="1" noChangeArrowheads="1" noChangeShapeType="1" noTextEdit="1"/>
              </p:cNvSpPr>
              <p:nvPr/>
            </p:nvSpPr>
            <p:spPr>
              <a:xfrm>
                <a:off x="1857946" y="5205349"/>
                <a:ext cx="3331210" cy="504825"/>
              </a:xfrm>
              <a:prstGeom prst="rect">
                <a:avLst/>
              </a:prstGeom>
              <a:blipFill rotWithShape="1">
                <a:blip r:embed="rId1"/>
                <a:stretch>
                  <a:fillRect l="-17" t="-50" r="17"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1844611" y="5644134"/>
                <a:ext cx="3897630" cy="50609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1200" i="1">
                          <a:latin typeface="Cambria Math" panose="02040503050406030204" charset="0"/>
                          <a:cs typeface="Cambria Math" panose="02040503050406030204" charset="0"/>
                        </a:rPr>
                        <m:t>𝑀</m:t>
                      </m:r>
                      <m:r>
                        <a:rPr lang="en-US" altLang="zh-CN" sz="1200" i="1">
                          <a:latin typeface="Cambria Math" panose="02040503050406030204" charset="0"/>
                          <a:cs typeface="Cambria Math" panose="02040503050406030204" charset="0"/>
                        </a:rPr>
                        <m:t>=</m:t>
                      </m:r>
                      <m:nary>
                        <m:naryPr>
                          <m:limLoc m:val="subSup"/>
                          <m:ctrlPr>
                            <a:rPr lang="en-US" altLang="zh-CN" sz="1200" i="1">
                              <a:latin typeface="Cambria Math" panose="02040503050406030204" charset="0"/>
                              <a:cs typeface="Cambria Math" panose="02040503050406030204" charset="0"/>
                            </a:rPr>
                          </m:ctrlPr>
                        </m:naryPr>
                        <m:sub>
                          <m:r>
                            <a:rPr lang="en-US" altLang="zh-CN" sz="1200" i="1">
                              <a:latin typeface="Cambria Math" panose="02040503050406030204" charset="0"/>
                              <a:cs typeface="Cambria Math" panose="02040503050406030204" charset="0"/>
                            </a:rPr>
                            <m:t>0</m:t>
                          </m:r>
                        </m:sub>
                        <m:sup>
                          <m:r>
                            <a:rPr lang="en-US" altLang="zh-CN" sz="1200" i="1">
                              <a:latin typeface="Cambria Math" panose="02040503050406030204" charset="0"/>
                              <a:cs typeface="Cambria Math" panose="02040503050406030204" charset="0"/>
                            </a:rPr>
                            <m:t>𝑅</m:t>
                          </m:r>
                        </m:sup>
                        <m:e>
                          <m:r>
                            <a:rPr lang="en-US" altLang="zh-CN" sz="1200" i="1">
                              <a:latin typeface="Cambria Math" panose="02040503050406030204" charset="0"/>
                              <a:cs typeface="Cambria Math" panose="02040503050406030204" charset="0"/>
                            </a:rPr>
                            <m:t>𝑑𝑀</m:t>
                          </m:r>
                          <m:r>
                            <a:rPr lang="en-US" altLang="zh-CN" sz="1200" i="1">
                              <a:latin typeface="Cambria Math" panose="02040503050406030204" charset="0"/>
                              <a:cs typeface="Cambria Math" panose="02040503050406030204" charset="0"/>
                            </a:rPr>
                            <m:t>=</m:t>
                          </m:r>
                        </m:e>
                      </m:nary>
                      <m:f>
                        <m:fPr>
                          <m:ctrlPr>
                            <a:rPr lang="en-US" altLang="zh-CN" sz="1200" i="1">
                              <a:latin typeface="Cambria Math" panose="02040503050406030204" charset="0"/>
                              <a:cs typeface="Cambria Math" panose="02040503050406030204" charset="0"/>
                            </a:rPr>
                          </m:ctrlPr>
                        </m:fPr>
                        <m:num>
                          <m:r>
                            <a:rPr lang="en-US" altLang="zh-CN" sz="1200" i="1">
                              <a:latin typeface="Cambria Math" panose="02040503050406030204" charset="0"/>
                              <a:cs typeface="Cambria Math" panose="02040503050406030204" charset="0"/>
                            </a:rPr>
                            <m:t>𝜌</m:t>
                          </m:r>
                          <m:r>
                            <a:rPr lang="en-US" altLang="zh-CN" sz="1200" i="1">
                              <a:latin typeface="Cambria Math" panose="02040503050406030204" charset="0"/>
                              <a:cs typeface="Cambria Math" panose="02040503050406030204" charset="0"/>
                            </a:rPr>
                            <m:t>𝐵</m:t>
                          </m:r>
                          <m:r>
                            <a:rPr lang="en-US" altLang="zh-CN" sz="1200" i="1">
                              <a:latin typeface="Cambria Math" panose="02040503050406030204" charset="0"/>
                              <a:cs typeface="Cambria Math" panose="02040503050406030204" charset="0"/>
                            </a:rPr>
                            <m:t>𝛺</m:t>
                          </m:r>
                        </m:num>
                        <m:den>
                          <m:r>
                            <a:rPr lang="en-US" altLang="zh-CN" sz="1200" i="1">
                              <a:latin typeface="Cambria Math" panose="02040503050406030204" charset="0"/>
                              <a:cs typeface="Cambria Math" panose="02040503050406030204" charset="0"/>
                            </a:rPr>
                            <m:t>2</m:t>
                          </m:r>
                        </m:den>
                      </m:f>
                      <m:nary>
                        <m:naryPr>
                          <m:limLoc m:val="subSup"/>
                          <m:ctrlPr>
                            <a:rPr lang="en-US" altLang="zh-CN" sz="1200" i="1">
                              <a:latin typeface="Cambria Math" panose="02040503050406030204" charset="0"/>
                              <a:cs typeface="Cambria Math" panose="02040503050406030204" charset="0"/>
                            </a:rPr>
                          </m:ctrlPr>
                        </m:naryPr>
                        <m:sub>
                          <m:r>
                            <a:rPr lang="en-US" altLang="zh-CN" sz="1200" i="1">
                              <a:latin typeface="Cambria Math" panose="02040503050406030204" charset="0"/>
                              <a:cs typeface="Cambria Math" panose="02040503050406030204" charset="0"/>
                            </a:rPr>
                            <m:t>0</m:t>
                          </m:r>
                        </m:sub>
                        <m:sup>
                          <m:r>
                            <a:rPr lang="en-US" altLang="zh-CN" sz="1200" i="1">
                              <a:latin typeface="Cambria Math" panose="02040503050406030204" charset="0"/>
                              <a:cs typeface="Cambria Math" panose="02040503050406030204" charset="0"/>
                            </a:rPr>
                            <m:t>𝑅</m:t>
                          </m:r>
                        </m:sup>
                        <m:e>
                          <m:f>
                            <m:fPr>
                              <m:ctrlPr>
                                <a:rPr lang="en-US" altLang="zh-CN" sz="1200" i="1">
                                  <a:latin typeface="Cambria Math" panose="02040503050406030204" charset="0"/>
                                  <a:cs typeface="Cambria Math" panose="02040503050406030204" charset="0"/>
                                </a:rPr>
                              </m:ctrlPr>
                            </m:fPr>
                            <m:num>
                              <m:r>
                                <a:rPr lang="en-US" altLang="zh-CN" sz="1200" i="1">
                                  <a:latin typeface="Cambria Math" panose="02040503050406030204" charset="0"/>
                                  <a:cs typeface="Cambria Math" panose="02040503050406030204" charset="0"/>
                                </a:rPr>
                                <m:t>𝑟</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𝑣</m:t>
                              </m:r>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𝑣</m:t>
                                  </m:r>
                                </m:e>
                                <m:sub>
                                  <m:r>
                                    <a:rPr lang="en-US" altLang="zh-CN" sz="1200" i="1">
                                      <a:latin typeface="Cambria Math" panose="02040503050406030204" charset="0"/>
                                      <a:cs typeface="Cambria Math" panose="02040503050406030204" charset="0"/>
                                    </a:rPr>
                                    <m:t>𝑏</m:t>
                                  </m:r>
                                </m:sub>
                              </m:sSub>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𝑎</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r>
                                <a:rPr lang="en-US" altLang="zh-CN" sz="1200" i="1">
                                  <a:latin typeface="Cambria Math" panose="02040503050406030204" charset="0"/>
                                  <a:cs typeface="Cambria Math" panose="02040503050406030204" charset="0"/>
                                </a:rPr>
                                <m:t>+</m:t>
                              </m:r>
                              <m:sSup>
                                <m:sSupPr>
                                  <m:ctrlPr>
                                    <a:rPr lang="en-US" altLang="zh-CN" sz="1200" i="1">
                                      <a:latin typeface="Cambria Math" panose="02040503050406030204" charset="0"/>
                                      <a:cs typeface="Cambria Math" panose="02040503050406030204" charset="0"/>
                                    </a:rPr>
                                  </m:ctrlPr>
                                </m:sSupPr>
                                <m:e>
                                  <m:r>
                                    <a:rPr lang="en-US" altLang="zh-CN" sz="1200" i="1">
                                      <a:latin typeface="Cambria Math" panose="02040503050406030204" charset="0"/>
                                      <a:cs typeface="Cambria Math" panose="02040503050406030204" charset="0"/>
                                    </a:rPr>
                                    <m:t>𝑎</m:t>
                                  </m:r>
                                </m:e>
                                <m:sup>
                                  <m:r>
                                    <a:rPr lang="en-US" altLang="zh-CN" sz="1200" i="1">
                                      <a:latin typeface="Cambria Math" panose="02040503050406030204" charset="0"/>
                                      <a:cs typeface="Cambria Math" panose="02040503050406030204" charset="0"/>
                                    </a:rPr>
                                    <m:t>’</m:t>
                                  </m:r>
                                </m:sup>
                              </m:sSup>
                              <m:r>
                                <a:rPr lang="en-US" altLang="zh-CN" sz="1200" i="1">
                                  <a:latin typeface="Cambria Math" panose="02040503050406030204" charset="0"/>
                                  <a:cs typeface="Cambria Math" panose="02040503050406030204" charset="0"/>
                                </a:rPr>
                                <m:t>)</m:t>
                              </m:r>
                            </m:num>
                            <m:den>
                              <m:r>
                                <a:rPr lang="en-US" altLang="zh-CN" sz="1200" i="1">
                                  <a:latin typeface="Cambria Math" panose="02040503050406030204" charset="0"/>
                                  <a:cs typeface="Cambria Math" panose="02040503050406030204" charset="0"/>
                                </a:rPr>
                                <m:t>𝑠𝑖𝑛</m:t>
                              </m:r>
                              <m:r>
                                <a:rPr lang="en-US" altLang="zh-CN" sz="1200" i="1">
                                  <a:latin typeface="Cambria Math" panose="02040503050406030204" charset="0"/>
                                  <a:cs typeface="Cambria Math" panose="02040503050406030204" charset="0"/>
                                </a:rPr>
                                <m:t>𝜙</m:t>
                              </m:r>
                              <m:r>
                                <a:rPr lang="en-US" altLang="zh-CN" sz="1200" i="1">
                                  <a:latin typeface="Cambria Math" panose="02040503050406030204" charset="0"/>
                                  <a:cs typeface="Cambria Math" panose="02040503050406030204" charset="0"/>
                                </a:rPr>
                                <m:t>𝑐𝑜𝑠</m:t>
                              </m:r>
                              <m:r>
                                <a:rPr lang="en-US" altLang="zh-CN" sz="1200" i="1">
                                  <a:latin typeface="Cambria Math" panose="02040503050406030204" charset="0"/>
                                  <a:cs typeface="Cambria Math" panose="02040503050406030204" charset="0"/>
                                </a:rPr>
                                <m:t>𝜙</m:t>
                              </m:r>
                            </m:den>
                          </m:f>
                          <m:r>
                            <a:rPr lang="en-US" altLang="zh-CN" sz="1200" i="1">
                              <a:latin typeface="Cambria Math" panose="02040503050406030204" charset="0"/>
                              <a:cs typeface="Cambria Math" panose="02040503050406030204" charset="0"/>
                            </a:rPr>
                            <m:t>𝑐</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𝑟</m:t>
                          </m:r>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𝐶</m:t>
                              </m:r>
                            </m:e>
                            <m:sub>
                              <m:r>
                                <a:rPr lang="en-US" altLang="zh-CN" sz="1200" i="1">
                                  <a:latin typeface="Cambria Math" panose="02040503050406030204" charset="0"/>
                                  <a:cs typeface="Cambria Math" panose="02040503050406030204" charset="0"/>
                                </a:rPr>
                                <m:t>𝑇</m:t>
                              </m:r>
                            </m:sub>
                          </m:sSub>
                          <m:r>
                            <a:rPr lang="en-US" altLang="zh-CN" sz="1200" i="1">
                              <a:latin typeface="Cambria Math" panose="02040503050406030204" charset="0"/>
                              <a:cs typeface="Cambria Math" panose="02040503050406030204" charset="0"/>
                            </a:rPr>
                            <m:t>𝑑𝑟</m:t>
                          </m:r>
                        </m:e>
                      </m:nary>
                    </m:oMath>
                  </m:oMathPara>
                </a14:m>
                <a:endParaRPr lang="zh-CN" altLang="en-US" sz="1200"/>
              </a:p>
            </p:txBody>
          </p:sp>
        </mc:Choice>
        <mc:Fallback>
          <p:sp>
            <p:nvSpPr>
              <p:cNvPr id="19" name="文本框 18"/>
              <p:cNvSpPr txBox="1">
                <a:spLocks noRot="1" noChangeAspect="1" noMove="1" noResize="1" noEditPoints="1" noAdjustHandles="1" noChangeArrowheads="1" noChangeShapeType="1" noTextEdit="1"/>
              </p:cNvSpPr>
              <p:nvPr/>
            </p:nvSpPr>
            <p:spPr>
              <a:xfrm>
                <a:off x="1844611" y="5644134"/>
                <a:ext cx="3897630" cy="506095"/>
              </a:xfrm>
              <a:prstGeom prst="rect">
                <a:avLst/>
              </a:prstGeom>
              <a:blipFill rotWithShape="1">
                <a:blip r:embed="rId2"/>
                <a:stretch>
                  <a:fillRect l="-15" t="-50" r="15" b="50"/>
                </a:stretch>
              </a:blipFill>
            </p:spPr>
            <p:txBody>
              <a:bodyPr/>
              <a:lstStyle/>
              <a:p>
                <a:r>
                  <a:rPr lang="zh-CN" altLang="en-US">
                    <a:noFill/>
                  </a:rPr>
                  <a:t> </a:t>
                </a:r>
              </a:p>
            </p:txBody>
          </p:sp>
        </mc:Fallback>
      </mc:AlternateContent>
      <p:sp>
        <p:nvSpPr>
          <p:cNvPr id="21" name="椭圆 20"/>
          <p:cNvSpPr/>
          <p:nvPr/>
        </p:nvSpPr>
        <p:spPr>
          <a:xfrm>
            <a:off x="6602730" y="2466975"/>
            <a:ext cx="75565" cy="75565"/>
          </a:xfrm>
          <a:prstGeom prst="ellipse">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p:nvSpPr>
        <p:spPr>
          <a:xfrm>
            <a:off x="6602730" y="3251835"/>
            <a:ext cx="75565" cy="75565"/>
          </a:xfrm>
          <a:prstGeom prst="ellipse">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6790055" y="2255520"/>
            <a:ext cx="2567305" cy="810260"/>
          </a:xfrm>
          <a:prstGeom prst="rect">
            <a:avLst/>
          </a:prstGeom>
          <a:noFill/>
        </p:spPr>
        <p:txBody>
          <a:bodyPr wrap="square" rtlCol="0">
            <a:spAutoFit/>
          </a:bodyPr>
          <a:p>
            <a:pPr>
              <a:lnSpc>
                <a:spcPct val="130000"/>
              </a:lnSpc>
              <a:spcBef>
                <a:spcPts val="0"/>
              </a:spcBef>
              <a:spcAft>
                <a:spcPts val="0"/>
              </a:spcAft>
            </a:pPr>
            <a:r>
              <a:rPr lang="zh-CN" altLang="en-US"/>
              <a:t>通过对单元施加均匀荷载的方式模拟</a:t>
            </a:r>
            <a:endParaRPr lang="zh-CN" altLang="en-US"/>
          </a:p>
        </p:txBody>
      </p:sp>
      <p:sp>
        <p:nvSpPr>
          <p:cNvPr id="24" name="文本框 23"/>
          <p:cNvSpPr txBox="1"/>
          <p:nvPr/>
        </p:nvSpPr>
        <p:spPr>
          <a:xfrm>
            <a:off x="6790055" y="3002915"/>
            <a:ext cx="2567305" cy="1252855"/>
          </a:xfrm>
          <a:prstGeom prst="rect">
            <a:avLst/>
          </a:prstGeom>
          <a:noFill/>
        </p:spPr>
        <p:txBody>
          <a:bodyPr wrap="square" rtlCol="0">
            <a:spAutoFit/>
          </a:bodyPr>
          <a:p>
            <a:pPr>
              <a:lnSpc>
                <a:spcPct val="140000"/>
              </a:lnSpc>
              <a:spcBef>
                <a:spcPts val="0"/>
              </a:spcBef>
              <a:spcAft>
                <a:spcPts val="0"/>
              </a:spcAft>
            </a:pPr>
            <a:r>
              <a:rPr lang="zh-CN" altLang="en-US"/>
              <a:t>采用</a:t>
            </a:r>
            <a:r>
              <a:rPr lang="zh-CN" altLang="en-US">
                <a:solidFill>
                  <a:srgbClr val="023A8B"/>
                </a:solidFill>
              </a:rPr>
              <a:t>准定常假定</a:t>
            </a:r>
            <a:r>
              <a:rPr lang="zh-CN" altLang="en-US"/>
              <a:t>，塔架高度</a:t>
            </a:r>
            <a:r>
              <a:rPr lang="en-US" altLang="zh-CN"/>
              <a:t>z</a:t>
            </a:r>
            <a:r>
              <a:rPr lang="zh-CN" altLang="en-US"/>
              <a:t>处的气动荷载可表示为</a:t>
            </a:r>
            <a:r>
              <a:rPr lang="en-US" altLang="zh-CN"/>
              <a:t>:</a:t>
            </a:r>
            <a:endParaRPr lang="en-US" altLang="zh-CN"/>
          </a:p>
        </p:txBody>
      </p:sp>
      <p:pic>
        <p:nvPicPr>
          <p:cNvPr id="2" name="图片 1" descr="27.1.1"/>
          <p:cNvPicPr>
            <a:picLocks noChangeAspect="1"/>
          </p:cNvPicPr>
          <p:nvPr/>
        </p:nvPicPr>
        <p:blipFill>
          <a:blip r:embed="rId3"/>
          <a:srcRect l="8534"/>
          <a:stretch>
            <a:fillRect/>
          </a:stretch>
        </p:blipFill>
        <p:spPr>
          <a:xfrm>
            <a:off x="1059180" y="2180590"/>
            <a:ext cx="2334260" cy="2828925"/>
          </a:xfrm>
          <a:prstGeom prst="rect">
            <a:avLst/>
          </a:prstGeom>
        </p:spPr>
      </p:pic>
      <p:sp>
        <p:nvSpPr>
          <p:cNvPr id="18" name="文本框 17"/>
          <p:cNvSpPr txBox="1"/>
          <p:nvPr/>
        </p:nvSpPr>
        <p:spPr>
          <a:xfrm>
            <a:off x="2790825" y="2215515"/>
            <a:ext cx="3056255" cy="1229995"/>
          </a:xfrm>
          <a:prstGeom prst="rect">
            <a:avLst/>
          </a:prstGeom>
          <a:noFill/>
        </p:spPr>
        <p:txBody>
          <a:bodyPr wrap="square" rtlCol="0">
            <a:spAutoFit/>
          </a:bodyPr>
          <a:p>
            <a:r>
              <a:rPr lang="zh-CN" altLang="en-US" sz="2000" b="1">
                <a:solidFill>
                  <a:srgbClr val="023A8B"/>
                </a:solidFill>
              </a:rPr>
              <a:t>叶素：</a:t>
            </a:r>
            <a:endParaRPr lang="zh-CN" altLang="en-US" sz="2000" b="1">
              <a:solidFill>
                <a:srgbClr val="023A8B"/>
              </a:solidFill>
            </a:endParaRPr>
          </a:p>
          <a:p>
            <a:r>
              <a:rPr lang="zh-CN" altLang="en-US"/>
              <a:t>将叶片分割为若干个单元，认为每个单元内部是几何一致的，且各个单元互不影响。</a:t>
            </a:r>
            <a:endParaRPr lang="zh-CN" altLang="en-US"/>
          </a:p>
        </p:txBody>
      </p:sp>
      <p:sp>
        <p:nvSpPr>
          <p:cNvPr id="26" name="文本框 25"/>
          <p:cNvSpPr txBox="1"/>
          <p:nvPr/>
        </p:nvSpPr>
        <p:spPr>
          <a:xfrm rot="16200000">
            <a:off x="824230" y="3423920"/>
            <a:ext cx="279400" cy="321945"/>
          </a:xfrm>
          <a:prstGeom prst="rect">
            <a:avLst/>
          </a:prstGeom>
          <a:noFill/>
        </p:spPr>
        <p:txBody>
          <a:bodyPr wrap="square" rtlCol="0">
            <a:spAutoFit/>
          </a:bodyPr>
          <a:p>
            <a:r>
              <a:rPr lang="en-US" altLang="zh-CN" sz="1500"/>
              <a:t>R</a:t>
            </a:r>
            <a:endParaRPr lang="en-US" altLang="zh-CN" sz="1500"/>
          </a:p>
        </p:txBody>
      </p:sp>
      <p:pic>
        <p:nvPicPr>
          <p:cNvPr id="27" name="图片 26" descr="27.2.1"/>
          <p:cNvPicPr>
            <a:picLocks noChangeAspect="1"/>
          </p:cNvPicPr>
          <p:nvPr/>
        </p:nvPicPr>
        <p:blipFill>
          <a:blip r:embed="rId4"/>
          <a:stretch>
            <a:fillRect/>
          </a:stretch>
        </p:blipFill>
        <p:spPr>
          <a:xfrm>
            <a:off x="9405620" y="2180590"/>
            <a:ext cx="1987550" cy="3394710"/>
          </a:xfrm>
          <a:prstGeom prst="rect">
            <a:avLst/>
          </a:prstGeom>
        </p:spPr>
      </p:pic>
      <mc:AlternateContent xmlns:mc="http://schemas.openxmlformats.org/markup-compatibility/2006">
        <mc:Choice xmlns:a14="http://schemas.microsoft.com/office/drawing/2010/main" Requires="a14">
          <p:sp>
            <p:nvSpPr>
              <p:cNvPr id="25" name="文本框 24"/>
              <p:cNvSpPr txBox="1"/>
              <p:nvPr/>
            </p:nvSpPr>
            <p:spPr>
              <a:xfrm>
                <a:off x="6462331" y="4400804"/>
                <a:ext cx="3366135" cy="51943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1500" i="1">
                          <a:latin typeface="Cambria Math" panose="02040503050406030204" charset="0"/>
                          <a:cs typeface="Cambria Math" panose="02040503050406030204" charset="0"/>
                        </a:rPr>
                        <m:t>𝑑</m:t>
                      </m:r>
                      <m:sSub>
                        <m:sSubPr>
                          <m:ctrlPr>
                            <a:rPr lang="en-US" altLang="zh-CN" sz="1500" i="1">
                              <a:latin typeface="Cambria Math" panose="02040503050406030204" charset="0"/>
                              <a:cs typeface="Cambria Math" panose="02040503050406030204" charset="0"/>
                            </a:rPr>
                          </m:ctrlPr>
                        </m:sSubPr>
                        <m:e>
                          <m:r>
                            <a:rPr lang="en-US" altLang="zh-CN" sz="1500" i="1">
                              <a:latin typeface="Cambria Math" panose="02040503050406030204" charset="0"/>
                              <a:cs typeface="Cambria Math" panose="02040503050406030204" charset="0"/>
                            </a:rPr>
                            <m:t>𝑄</m:t>
                          </m:r>
                        </m:e>
                        <m:sub>
                          <m:r>
                            <a:rPr lang="en-US" altLang="zh-CN" sz="1500" i="1">
                              <a:latin typeface="Cambria Math" panose="02040503050406030204" charset="0"/>
                              <a:cs typeface="Cambria Math" panose="02040503050406030204" charset="0"/>
                            </a:rPr>
                            <m:t>𝑡𝑜𝑤</m:t>
                          </m:r>
                        </m:sub>
                      </m:sSub>
                      <m:r>
                        <a:rPr lang="en-US" altLang="zh-CN" sz="1500" i="1">
                          <a:latin typeface="Cambria Math" panose="02040503050406030204" charset="0"/>
                          <a:cs typeface="Cambria Math" panose="02040503050406030204" charset="0"/>
                        </a:rPr>
                        <m:t>(</m:t>
                      </m:r>
                      <m:r>
                        <a:rPr lang="en-US" altLang="zh-CN" sz="1500" i="1">
                          <a:latin typeface="Cambria Math" panose="02040503050406030204" charset="0"/>
                          <a:cs typeface="Cambria Math" panose="02040503050406030204" charset="0"/>
                        </a:rPr>
                        <m:t>𝑧</m:t>
                      </m:r>
                      <m:r>
                        <a:rPr lang="en-US" altLang="zh-CN" sz="1500" i="1">
                          <a:latin typeface="Cambria Math" panose="02040503050406030204" charset="0"/>
                          <a:cs typeface="Cambria Math" panose="02040503050406030204" charset="0"/>
                        </a:rPr>
                        <m:t>)=</m:t>
                      </m:r>
                      <m:f>
                        <m:fPr>
                          <m:ctrlPr>
                            <a:rPr lang="en-US" altLang="zh-CN" sz="1500" i="1">
                              <a:latin typeface="Cambria Math" panose="02040503050406030204" charset="0"/>
                              <a:cs typeface="Cambria Math" panose="02040503050406030204" charset="0"/>
                            </a:rPr>
                          </m:ctrlPr>
                        </m:fPr>
                        <m:num>
                          <m:r>
                            <a:rPr lang="en-US" altLang="zh-CN" sz="1500" i="1">
                              <a:latin typeface="Cambria Math" panose="02040503050406030204" charset="0"/>
                              <a:cs typeface="Cambria Math" panose="02040503050406030204" charset="0"/>
                            </a:rPr>
                            <m:t>1</m:t>
                          </m:r>
                        </m:num>
                        <m:den>
                          <m:r>
                            <a:rPr lang="en-US" altLang="zh-CN" sz="1500" i="1">
                              <a:latin typeface="Cambria Math" panose="02040503050406030204" charset="0"/>
                              <a:cs typeface="Cambria Math" panose="02040503050406030204" charset="0"/>
                            </a:rPr>
                            <m:t>2</m:t>
                          </m:r>
                        </m:den>
                      </m:f>
                      <m:sSub>
                        <m:sSubPr>
                          <m:ctrlPr>
                            <a:rPr lang="en-US" altLang="zh-CN" sz="1500" i="1">
                              <a:latin typeface="Cambria Math" panose="02040503050406030204" charset="0"/>
                              <a:cs typeface="Cambria Math" panose="02040503050406030204" charset="0"/>
                            </a:rPr>
                          </m:ctrlPr>
                        </m:sSubPr>
                        <m:e>
                          <m:r>
                            <a:rPr lang="en-US" altLang="zh-CN" sz="1500" i="1">
                              <a:latin typeface="Cambria Math" panose="02040503050406030204" charset="0"/>
                              <a:cs typeface="Cambria Math" panose="02040503050406030204" charset="0"/>
                            </a:rPr>
                            <m:t>𝐶</m:t>
                          </m:r>
                        </m:e>
                        <m:sub>
                          <m:r>
                            <a:rPr lang="en-US" altLang="zh-CN" sz="1500" i="1">
                              <a:latin typeface="Cambria Math" panose="02040503050406030204" charset="0"/>
                              <a:cs typeface="Cambria Math" panose="02040503050406030204" charset="0"/>
                            </a:rPr>
                            <m:t>𝑡𝑜𝑤</m:t>
                          </m:r>
                        </m:sub>
                      </m:sSub>
                      <m:sSub>
                        <m:sSubPr>
                          <m:ctrlPr>
                            <a:rPr lang="en-US" altLang="zh-CN" sz="1500" i="1">
                              <a:latin typeface="Cambria Math" panose="02040503050406030204" charset="0"/>
                              <a:cs typeface="Cambria Math" panose="02040503050406030204" charset="0"/>
                            </a:rPr>
                          </m:ctrlPr>
                        </m:sSubPr>
                        <m:e>
                          <m:r>
                            <a:rPr lang="en-US" altLang="zh-CN" sz="1500" i="1">
                              <a:latin typeface="Cambria Math" panose="02040503050406030204" charset="0"/>
                              <a:cs typeface="Cambria Math" panose="02040503050406030204" charset="0"/>
                            </a:rPr>
                            <m:t>𝐷</m:t>
                          </m:r>
                        </m:e>
                        <m:sub>
                          <m:r>
                            <a:rPr lang="en-US" altLang="zh-CN" sz="1500" i="1">
                              <a:latin typeface="Cambria Math" panose="02040503050406030204" charset="0"/>
                              <a:cs typeface="Cambria Math" panose="02040503050406030204" charset="0"/>
                            </a:rPr>
                            <m:t>𝑡𝑜𝑤</m:t>
                          </m:r>
                        </m:sub>
                      </m:sSub>
                      <m:r>
                        <a:rPr lang="en-US" altLang="zh-CN" sz="1500" i="1">
                          <a:latin typeface="Cambria Math" panose="02040503050406030204" charset="0"/>
                          <a:cs typeface="Cambria Math" panose="02040503050406030204" charset="0"/>
                        </a:rPr>
                        <m:t>𝜌</m:t>
                      </m:r>
                      <m:r>
                        <a:rPr lang="en-US" altLang="zh-CN" sz="1500" i="1">
                          <a:latin typeface="Cambria Math" panose="02040503050406030204" charset="0"/>
                          <a:cs typeface="Cambria Math" panose="02040503050406030204" charset="0"/>
                        </a:rPr>
                        <m:t>(</m:t>
                      </m:r>
                      <m:sSub>
                        <m:sSubPr>
                          <m:ctrlPr>
                            <a:rPr lang="en-US" altLang="zh-CN" sz="1500" i="1">
                              <a:latin typeface="Cambria Math" panose="02040503050406030204" charset="0"/>
                              <a:cs typeface="Cambria Math" panose="02040503050406030204" charset="0"/>
                            </a:rPr>
                          </m:ctrlPr>
                        </m:sSubPr>
                        <m:e>
                          <m:r>
                            <a:rPr lang="en-US" altLang="zh-CN" sz="1500" i="1">
                              <a:latin typeface="Cambria Math" panose="02040503050406030204" charset="0"/>
                              <a:cs typeface="Cambria Math" panose="02040503050406030204" charset="0"/>
                            </a:rPr>
                            <m:t>𝑣</m:t>
                          </m:r>
                        </m:e>
                        <m:sub>
                          <m:r>
                            <a:rPr lang="en-US" altLang="zh-CN" sz="1500" i="1">
                              <a:latin typeface="Cambria Math" panose="02040503050406030204" charset="0"/>
                              <a:cs typeface="Cambria Math" panose="02040503050406030204" charset="0"/>
                            </a:rPr>
                            <m:t>𝑧</m:t>
                          </m:r>
                        </m:sub>
                      </m:sSub>
                      <m:r>
                        <a:rPr lang="en-US" altLang="zh-CN" sz="1500" i="1">
                          <a:latin typeface="Cambria Math" panose="02040503050406030204" charset="0"/>
                          <a:cs typeface="Cambria Math" panose="02040503050406030204" charset="0"/>
                        </a:rPr>
                        <m:t>−</m:t>
                      </m:r>
                      <m:sSub>
                        <m:sSubPr>
                          <m:ctrlPr>
                            <a:rPr lang="en-US" altLang="zh-CN" sz="1500" i="1">
                              <a:latin typeface="Cambria Math" panose="02040503050406030204" charset="0"/>
                              <a:cs typeface="Cambria Math" panose="02040503050406030204" charset="0"/>
                            </a:rPr>
                          </m:ctrlPr>
                        </m:sSubPr>
                        <m:e>
                          <m:r>
                            <a:rPr lang="en-US" altLang="zh-CN" sz="1500" i="1">
                              <a:latin typeface="Cambria Math" panose="02040503050406030204" charset="0"/>
                              <a:cs typeface="Cambria Math" panose="02040503050406030204" charset="0"/>
                            </a:rPr>
                            <m:t>𝑣</m:t>
                          </m:r>
                        </m:e>
                        <m:sub>
                          <m:r>
                            <a:rPr lang="en-US" altLang="zh-CN" sz="1500" i="1">
                              <a:latin typeface="Cambria Math" panose="02040503050406030204" charset="0"/>
                              <a:cs typeface="Cambria Math" panose="02040503050406030204" charset="0"/>
                            </a:rPr>
                            <m:t>𝑡𝑜𝑤</m:t>
                          </m:r>
                        </m:sub>
                      </m:sSub>
                      <m:r>
                        <a:rPr lang="en-US" altLang="zh-CN" sz="1500" i="1">
                          <a:latin typeface="Cambria Math" panose="02040503050406030204" charset="0"/>
                          <a:cs typeface="Cambria Math" panose="02040503050406030204" charset="0"/>
                        </a:rPr>
                        <m:t>)</m:t>
                      </m:r>
                      <m:r>
                        <a:rPr lang="en-US" altLang="zh-CN" sz="1500" i="1" baseline="30000">
                          <a:latin typeface="Cambria Math" panose="02040503050406030204" charset="0"/>
                          <a:cs typeface="Cambria Math" panose="02040503050406030204" charset="0"/>
                        </a:rPr>
                        <m:t>2</m:t>
                      </m:r>
                      <m:r>
                        <a:rPr lang="en-US" altLang="zh-CN" sz="1500" i="1">
                          <a:latin typeface="Cambria Math" panose="02040503050406030204" charset="0"/>
                          <a:cs typeface="Cambria Math" panose="02040503050406030204" charset="0"/>
                        </a:rPr>
                        <m:t>𝑑𝑧</m:t>
                      </m:r>
                    </m:oMath>
                  </m:oMathPara>
                </a14:m>
                <a:endParaRPr lang="zh-CN" altLang="en-US" sz="1500"/>
              </a:p>
            </p:txBody>
          </p:sp>
        </mc:Choice>
        <mc:Fallback>
          <p:sp>
            <p:nvSpPr>
              <p:cNvPr id="25" name="文本框 24"/>
              <p:cNvSpPr txBox="1">
                <a:spLocks noRot="1" noChangeAspect="1" noMove="1" noResize="1" noEditPoints="1" noAdjustHandles="1" noChangeArrowheads="1" noChangeShapeType="1" noTextEdit="1"/>
              </p:cNvSpPr>
              <p:nvPr/>
            </p:nvSpPr>
            <p:spPr>
              <a:xfrm>
                <a:off x="6462331" y="4400804"/>
                <a:ext cx="3366135" cy="519430"/>
              </a:xfrm>
              <a:prstGeom prst="rect">
                <a:avLst/>
              </a:prstGeom>
              <a:blipFill rotWithShape="1">
                <a:blip r:embed="rId5"/>
                <a:stretch>
                  <a:fillRect l="-17" t="-416" r="17" b="49"/>
                </a:stretch>
              </a:blipFill>
            </p:spPr>
            <p:txBody>
              <a:bodyPr/>
              <a:lstStyle/>
              <a:p>
                <a:r>
                  <a:rPr lang="zh-CN" altLang="en-US">
                    <a:noFill/>
                  </a:rPr>
                  <a:t> </a:t>
                </a:r>
              </a:p>
            </p:txBody>
          </p:sp>
        </mc:Fallback>
      </mc:AlternateContent>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27/68</a:t>
            </a:r>
            <a:endParaRPr lang="en-US" altLang="zh-CN">
              <a:latin typeface="微软雅黑" panose="020B0503020204020204" charset="-122"/>
              <a:ea typeface="微软雅黑" panose="020B0503020204020204" charset="-122"/>
            </a:endParaRPr>
          </a:p>
        </p:txBody>
      </p:sp>
      <p:sp>
        <p:nvSpPr>
          <p:cNvPr id="28" name="文本框 27"/>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805116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模型建立：高保真度模型混塔子系统（</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Abaqus</a:t>
            </a:r>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精细有限元）</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endParaRPr lang="zh-CN" altLang="en-US" sz="2300" b="1">
              <a:solidFill>
                <a:srgbClr val="C00000"/>
              </a:solidFill>
            </a:endParaRPr>
          </a:p>
        </p:txBody>
      </p:sp>
      <p:sp>
        <p:nvSpPr>
          <p:cNvPr id="12" name="矩形 11"/>
          <p:cNvSpPr/>
          <p:nvPr/>
        </p:nvSpPr>
        <p:spPr>
          <a:xfrm>
            <a:off x="847090" y="1699895"/>
            <a:ext cx="6396990" cy="1734820"/>
          </a:xfrm>
          <a:prstGeom prst="rect">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椭圆 12"/>
          <p:cNvSpPr/>
          <p:nvPr/>
        </p:nvSpPr>
        <p:spPr>
          <a:xfrm>
            <a:off x="983615" y="200533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983615" y="2484755"/>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983615" y="296418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203325" y="1843405"/>
            <a:ext cx="5488940" cy="398780"/>
          </a:xfrm>
          <a:prstGeom prst="rect">
            <a:avLst/>
          </a:prstGeom>
          <a:noFill/>
        </p:spPr>
        <p:txBody>
          <a:bodyPr wrap="square" rtlCol="0">
            <a:spAutoFit/>
          </a:bodyPr>
          <a:p>
            <a:r>
              <a:rPr lang="zh-CN" altLang="en-US" sz="2000" b="1">
                <a:solidFill>
                  <a:srgbClr val="023A8B"/>
                </a:solidFill>
              </a:rPr>
              <a:t>参数化建模</a:t>
            </a:r>
            <a:r>
              <a:rPr lang="zh-CN" altLang="en-US" sz="2000" b="1"/>
              <a:t>方式进行混塔的精细化三维建模</a:t>
            </a:r>
            <a:r>
              <a:rPr lang="zh-CN" altLang="en-US"/>
              <a:t>。</a:t>
            </a:r>
            <a:endParaRPr lang="zh-CN" altLang="en-US"/>
          </a:p>
        </p:txBody>
      </p:sp>
      <p:sp>
        <p:nvSpPr>
          <p:cNvPr id="17" name="文本框 16"/>
          <p:cNvSpPr txBox="1"/>
          <p:nvPr/>
        </p:nvSpPr>
        <p:spPr>
          <a:xfrm>
            <a:off x="1203325" y="2337435"/>
            <a:ext cx="5913755" cy="398780"/>
          </a:xfrm>
          <a:prstGeom prst="rect">
            <a:avLst/>
          </a:prstGeom>
          <a:noFill/>
        </p:spPr>
        <p:txBody>
          <a:bodyPr wrap="square" rtlCol="0">
            <a:spAutoFit/>
          </a:bodyPr>
          <a:p>
            <a:r>
              <a:rPr lang="zh-CN" altLang="en-US" sz="2000" b="1"/>
              <a:t>将三维模型导入</a:t>
            </a:r>
            <a:r>
              <a:rPr lang="en-US" altLang="zh-CN" sz="2000" b="1"/>
              <a:t>Abaqus</a:t>
            </a:r>
            <a:r>
              <a:rPr lang="zh-CN" altLang="en-US" sz="2000" b="1"/>
              <a:t>中，建立</a:t>
            </a:r>
            <a:r>
              <a:rPr lang="zh-CN" altLang="en-US" sz="2000" b="1">
                <a:solidFill>
                  <a:srgbClr val="023A8B"/>
                </a:solidFill>
              </a:rPr>
              <a:t>非线性有限元模型</a:t>
            </a:r>
            <a:r>
              <a:rPr lang="zh-CN" altLang="en-US" sz="2000" b="1"/>
              <a:t>。</a:t>
            </a:r>
            <a:endParaRPr lang="zh-CN" altLang="en-US" sz="2000" b="1"/>
          </a:p>
        </p:txBody>
      </p:sp>
      <p:sp>
        <p:nvSpPr>
          <p:cNvPr id="18" name="文本框 17"/>
          <p:cNvSpPr txBox="1"/>
          <p:nvPr/>
        </p:nvSpPr>
        <p:spPr>
          <a:xfrm>
            <a:off x="1203325" y="2831465"/>
            <a:ext cx="5488940" cy="383540"/>
          </a:xfrm>
          <a:prstGeom prst="rect">
            <a:avLst/>
          </a:prstGeom>
          <a:noFill/>
        </p:spPr>
        <p:txBody>
          <a:bodyPr wrap="square" rtlCol="0">
            <a:spAutoFit/>
          </a:bodyPr>
          <a:p>
            <a:r>
              <a:rPr lang="zh-CN" altLang="en-US" sz="1900" b="1"/>
              <a:t>定义模型的材料、接触以及几何非线性属性。</a:t>
            </a:r>
            <a:endParaRPr lang="zh-CN" altLang="en-US" sz="1900" b="1"/>
          </a:p>
        </p:txBody>
      </p:sp>
      <p:sp>
        <p:nvSpPr>
          <p:cNvPr id="19" name="文本框 18"/>
          <p:cNvSpPr txBox="1"/>
          <p:nvPr/>
        </p:nvSpPr>
        <p:spPr>
          <a:xfrm>
            <a:off x="1598930" y="4500245"/>
            <a:ext cx="1097915" cy="368300"/>
          </a:xfrm>
          <a:prstGeom prst="rect">
            <a:avLst/>
          </a:prstGeom>
          <a:noFill/>
        </p:spPr>
        <p:txBody>
          <a:bodyPr wrap="square" rtlCol="0">
            <a:spAutoFit/>
          </a:bodyPr>
          <a:p>
            <a:r>
              <a:rPr lang="zh-CN" altLang="en-US"/>
              <a:t>模态分析</a:t>
            </a:r>
            <a:endParaRPr lang="zh-CN" altLang="en-US"/>
          </a:p>
        </p:txBody>
      </p:sp>
      <p:sp>
        <p:nvSpPr>
          <p:cNvPr id="20" name="文本框 19"/>
          <p:cNvSpPr txBox="1"/>
          <p:nvPr/>
        </p:nvSpPr>
        <p:spPr>
          <a:xfrm>
            <a:off x="4656455" y="5657850"/>
            <a:ext cx="1145540" cy="337185"/>
          </a:xfrm>
          <a:prstGeom prst="rect">
            <a:avLst/>
          </a:prstGeom>
          <a:noFill/>
        </p:spPr>
        <p:txBody>
          <a:bodyPr wrap="square" rtlCol="0">
            <a:spAutoFit/>
          </a:bodyPr>
          <a:p>
            <a:r>
              <a:rPr lang="zh-CN" altLang="en-US" sz="1600"/>
              <a:t>推覆分析</a:t>
            </a:r>
            <a:endParaRPr lang="zh-CN" altLang="en-US" sz="1600"/>
          </a:p>
        </p:txBody>
      </p:sp>
      <p:pic>
        <p:nvPicPr>
          <p:cNvPr id="2" name="图片 1" descr="28.1"/>
          <p:cNvPicPr>
            <a:picLocks noChangeAspect="1"/>
          </p:cNvPicPr>
          <p:nvPr/>
        </p:nvPicPr>
        <p:blipFill>
          <a:blip r:embed="rId1"/>
          <a:stretch>
            <a:fillRect/>
          </a:stretch>
        </p:blipFill>
        <p:spPr>
          <a:xfrm>
            <a:off x="723900" y="3721100"/>
            <a:ext cx="1188085" cy="2355215"/>
          </a:xfrm>
          <a:prstGeom prst="rect">
            <a:avLst/>
          </a:prstGeom>
        </p:spPr>
      </p:pic>
      <p:pic>
        <p:nvPicPr>
          <p:cNvPr id="3" name="图片 2" descr="28.2"/>
          <p:cNvPicPr>
            <a:picLocks noChangeAspect="1"/>
          </p:cNvPicPr>
          <p:nvPr/>
        </p:nvPicPr>
        <p:blipFill>
          <a:blip r:embed="rId2"/>
          <a:stretch>
            <a:fillRect/>
          </a:stretch>
        </p:blipFill>
        <p:spPr>
          <a:xfrm>
            <a:off x="2312670" y="3689350"/>
            <a:ext cx="1174115" cy="2305685"/>
          </a:xfrm>
          <a:prstGeom prst="rect">
            <a:avLst/>
          </a:prstGeom>
        </p:spPr>
      </p:pic>
      <p:pic>
        <p:nvPicPr>
          <p:cNvPr id="21" name="图片 20" descr="28.3.1"/>
          <p:cNvPicPr>
            <a:picLocks noChangeAspect="1"/>
          </p:cNvPicPr>
          <p:nvPr/>
        </p:nvPicPr>
        <p:blipFill>
          <a:blip r:embed="rId3"/>
          <a:stretch>
            <a:fillRect/>
          </a:stretch>
        </p:blipFill>
        <p:spPr>
          <a:xfrm>
            <a:off x="7261225" y="1699895"/>
            <a:ext cx="3953510" cy="4603750"/>
          </a:xfrm>
          <a:prstGeom prst="rect">
            <a:avLst/>
          </a:prstGeom>
        </p:spPr>
      </p:pic>
      <p:sp>
        <p:nvSpPr>
          <p:cNvPr id="22" name="文本框 21"/>
          <p:cNvSpPr txBox="1"/>
          <p:nvPr/>
        </p:nvSpPr>
        <p:spPr>
          <a:xfrm>
            <a:off x="8769350" y="3144520"/>
            <a:ext cx="2228850" cy="172085"/>
          </a:xfrm>
          <a:prstGeom prst="rect">
            <a:avLst/>
          </a:prstGeom>
          <a:solidFill>
            <a:schemeClr val="bg1"/>
          </a:solidFill>
        </p:spPr>
        <p:txBody>
          <a:bodyPr wrap="square" rtlCol="0">
            <a:noAutofit/>
          </a:bodyPr>
          <a:p>
            <a:r>
              <a:rPr lang="en-US" altLang="zh-CN" sz="1000"/>
              <a:t>(b) The constitutive model of steel.</a:t>
            </a:r>
            <a:endParaRPr lang="en-US" altLang="zh-CN" sz="1000"/>
          </a:p>
        </p:txBody>
      </p:sp>
      <p:sp>
        <p:nvSpPr>
          <p:cNvPr id="23" name="文本框 22"/>
          <p:cNvSpPr txBox="1"/>
          <p:nvPr/>
        </p:nvSpPr>
        <p:spPr>
          <a:xfrm>
            <a:off x="8839200" y="4783455"/>
            <a:ext cx="2228850" cy="156210"/>
          </a:xfrm>
          <a:prstGeom prst="rect">
            <a:avLst/>
          </a:prstGeom>
          <a:solidFill>
            <a:schemeClr val="bg1"/>
          </a:solidFill>
        </p:spPr>
        <p:txBody>
          <a:bodyPr wrap="square" rtlCol="0">
            <a:noAutofit/>
          </a:bodyPr>
          <a:p>
            <a:r>
              <a:rPr lang="en-US" altLang="zh-CN" sz="1000"/>
              <a:t>(c) The constitutive model of concrete.</a:t>
            </a:r>
            <a:endParaRPr lang="en-US" altLang="zh-CN" sz="1000"/>
          </a:p>
        </p:txBody>
      </p:sp>
      <p:sp>
        <p:nvSpPr>
          <p:cNvPr id="24" name="文本框 23"/>
          <p:cNvSpPr txBox="1"/>
          <p:nvPr/>
        </p:nvSpPr>
        <p:spPr>
          <a:xfrm>
            <a:off x="8699500" y="6133465"/>
            <a:ext cx="2647950" cy="170180"/>
          </a:xfrm>
          <a:prstGeom prst="rect">
            <a:avLst/>
          </a:prstGeom>
          <a:solidFill>
            <a:schemeClr val="bg1"/>
          </a:solidFill>
        </p:spPr>
        <p:txBody>
          <a:bodyPr wrap="square" rtlCol="0">
            <a:noAutofit/>
          </a:bodyPr>
          <a:p>
            <a:r>
              <a:rPr lang="en-US" altLang="zh-CN" sz="1000"/>
              <a:t>(d) Contact pressure-overclosure relationships.</a:t>
            </a:r>
            <a:endParaRPr lang="en-US" altLang="zh-CN" sz="1000"/>
          </a:p>
        </p:txBody>
      </p:sp>
      <p:sp>
        <p:nvSpPr>
          <p:cNvPr id="25" name="文本框 24"/>
          <p:cNvSpPr txBox="1"/>
          <p:nvPr/>
        </p:nvSpPr>
        <p:spPr>
          <a:xfrm>
            <a:off x="7302500" y="6133465"/>
            <a:ext cx="1123950" cy="201295"/>
          </a:xfrm>
          <a:prstGeom prst="rect">
            <a:avLst/>
          </a:prstGeom>
          <a:solidFill>
            <a:schemeClr val="bg1"/>
          </a:solidFill>
        </p:spPr>
        <p:txBody>
          <a:bodyPr wrap="square" rtlCol="0">
            <a:noAutofit/>
          </a:bodyPr>
          <a:p>
            <a:r>
              <a:rPr lang="en-US" altLang="zh-CN" sz="1000"/>
              <a:t>(a) The FE model.</a:t>
            </a:r>
            <a:endParaRPr lang="en-US" altLang="zh-CN" sz="1000"/>
          </a:p>
        </p:txBody>
      </p:sp>
      <p:pic>
        <p:nvPicPr>
          <p:cNvPr id="26" name="图片 25" descr="28.4.1"/>
          <p:cNvPicPr>
            <a:picLocks noChangeAspect="1"/>
          </p:cNvPicPr>
          <p:nvPr/>
        </p:nvPicPr>
        <p:blipFill>
          <a:blip r:embed="rId4"/>
          <a:stretch>
            <a:fillRect/>
          </a:stretch>
        </p:blipFill>
        <p:spPr>
          <a:xfrm>
            <a:off x="3524885" y="3527425"/>
            <a:ext cx="3295015" cy="2138045"/>
          </a:xfrm>
          <a:prstGeom prst="rect">
            <a:avLst/>
          </a:prstGeom>
        </p:spPr>
      </p:pic>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28/68</a:t>
            </a:r>
            <a:endParaRPr lang="en-US" altLang="zh-CN">
              <a:latin typeface="微软雅黑" panose="020B0503020204020204" charset="-122"/>
              <a:ea typeface="微软雅黑" panose="020B0503020204020204" charset="-122"/>
            </a:endParaRPr>
          </a:p>
        </p:txBody>
      </p:sp>
      <p:sp>
        <p:nvSpPr>
          <p:cNvPr id="27" name="文本框 26"/>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35075" y="1116965"/>
            <a:ext cx="397319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高保真度模型联合仿真流程</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endParaRPr lang="zh-CN" altLang="en-US" sz="2300" b="1">
              <a:solidFill>
                <a:srgbClr val="C00000"/>
              </a:solidFill>
            </a:endParaRPr>
          </a:p>
        </p:txBody>
      </p:sp>
      <p:cxnSp>
        <p:nvCxnSpPr>
          <p:cNvPr id="12" name="直接连接符 11"/>
          <p:cNvCxnSpPr>
            <a:stCxn id="22" idx="0"/>
          </p:cNvCxnSpPr>
          <p:nvPr/>
        </p:nvCxnSpPr>
        <p:spPr>
          <a:xfrm flipV="1">
            <a:off x="1818005" y="1842135"/>
            <a:ext cx="4416425" cy="6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flipH="1">
            <a:off x="6232525" y="1842770"/>
            <a:ext cx="3175" cy="390017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4" name="弧形 13"/>
          <p:cNvSpPr/>
          <p:nvPr>
            <p:custDataLst>
              <p:tags r:id="rId1"/>
            </p:custDataLst>
          </p:nvPr>
        </p:nvSpPr>
        <p:spPr>
          <a:xfrm rot="10800000" flipH="1">
            <a:off x="5654675" y="5400040"/>
            <a:ext cx="577850" cy="705485"/>
          </a:xfrm>
          <a:prstGeom prst="arc">
            <a:avLst>
              <a:gd name="adj1" fmla="val 15933834"/>
              <a:gd name="adj2" fmla="val 381660"/>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6" name="直接连接符 15"/>
          <p:cNvCxnSpPr>
            <a:stCxn id="17" idx="2"/>
            <a:endCxn id="14" idx="0"/>
          </p:cNvCxnSpPr>
          <p:nvPr>
            <p:custDataLst>
              <p:tags r:id="rId2"/>
            </p:custDataLst>
          </p:nvPr>
        </p:nvCxnSpPr>
        <p:spPr>
          <a:xfrm flipV="1">
            <a:off x="967105" y="6104255"/>
            <a:ext cx="4949190" cy="38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7" name="弧形 16"/>
          <p:cNvSpPr/>
          <p:nvPr>
            <p:custDataLst>
              <p:tags r:id="rId3"/>
            </p:custDataLst>
          </p:nvPr>
        </p:nvSpPr>
        <p:spPr>
          <a:xfrm flipH="1">
            <a:off x="595630" y="5258435"/>
            <a:ext cx="711200" cy="850265"/>
          </a:xfrm>
          <a:prstGeom prst="arc">
            <a:avLst>
              <a:gd name="adj1" fmla="val 16200000"/>
              <a:gd name="adj2" fmla="val 5528955"/>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8" name="直接连接符 17"/>
          <p:cNvCxnSpPr>
            <a:stCxn id="17" idx="0"/>
          </p:cNvCxnSpPr>
          <p:nvPr>
            <p:custDataLst>
              <p:tags r:id="rId4"/>
            </p:custDataLst>
          </p:nvPr>
        </p:nvCxnSpPr>
        <p:spPr>
          <a:xfrm flipV="1">
            <a:off x="951230" y="5251450"/>
            <a:ext cx="536575" cy="6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9" name="弧形 18"/>
          <p:cNvSpPr/>
          <p:nvPr>
            <p:custDataLst>
              <p:tags r:id="rId5"/>
            </p:custDataLst>
          </p:nvPr>
        </p:nvSpPr>
        <p:spPr>
          <a:xfrm flipH="1">
            <a:off x="815340" y="4401185"/>
            <a:ext cx="711200" cy="850265"/>
          </a:xfrm>
          <a:prstGeom prst="arc">
            <a:avLst>
              <a:gd name="adj1" fmla="val 16200000"/>
              <a:gd name="adj2" fmla="val 5528955"/>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弧形 19"/>
          <p:cNvSpPr/>
          <p:nvPr>
            <p:custDataLst>
              <p:tags r:id="rId6"/>
            </p:custDataLst>
          </p:nvPr>
        </p:nvSpPr>
        <p:spPr>
          <a:xfrm flipH="1">
            <a:off x="1031875" y="3550920"/>
            <a:ext cx="711200" cy="850265"/>
          </a:xfrm>
          <a:prstGeom prst="arc">
            <a:avLst>
              <a:gd name="adj1" fmla="val 16200000"/>
              <a:gd name="adj2" fmla="val 5528955"/>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弧形 20"/>
          <p:cNvSpPr/>
          <p:nvPr>
            <p:custDataLst>
              <p:tags r:id="rId7"/>
            </p:custDataLst>
          </p:nvPr>
        </p:nvSpPr>
        <p:spPr>
          <a:xfrm flipH="1">
            <a:off x="1250950" y="2696845"/>
            <a:ext cx="711200" cy="850265"/>
          </a:xfrm>
          <a:prstGeom prst="arc">
            <a:avLst>
              <a:gd name="adj1" fmla="val 16200000"/>
              <a:gd name="adj2" fmla="val 5528955"/>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弧形 21"/>
          <p:cNvSpPr/>
          <p:nvPr>
            <p:custDataLst>
              <p:tags r:id="rId8"/>
            </p:custDataLst>
          </p:nvPr>
        </p:nvSpPr>
        <p:spPr>
          <a:xfrm flipH="1">
            <a:off x="1462405" y="1842770"/>
            <a:ext cx="711200" cy="850265"/>
          </a:xfrm>
          <a:prstGeom prst="arc">
            <a:avLst>
              <a:gd name="adj1" fmla="val 16200000"/>
              <a:gd name="adj2" fmla="val 5528955"/>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23" name="直接连接符 22"/>
          <p:cNvCxnSpPr>
            <a:stCxn id="21" idx="0"/>
          </p:cNvCxnSpPr>
          <p:nvPr>
            <p:custDataLst>
              <p:tags r:id="rId9"/>
            </p:custDataLst>
          </p:nvPr>
        </p:nvCxnSpPr>
        <p:spPr>
          <a:xfrm flipV="1">
            <a:off x="1606550" y="2692400"/>
            <a:ext cx="537210" cy="444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4" name="直接连接符 23"/>
          <p:cNvCxnSpPr>
            <a:stCxn id="20" idx="0"/>
          </p:cNvCxnSpPr>
          <p:nvPr>
            <p:custDataLst>
              <p:tags r:id="rId10"/>
            </p:custDataLst>
          </p:nvPr>
        </p:nvCxnSpPr>
        <p:spPr>
          <a:xfrm flipV="1">
            <a:off x="1387475" y="3545205"/>
            <a:ext cx="534035" cy="57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5" name="直接连接符 24"/>
          <p:cNvCxnSpPr>
            <a:stCxn id="19" idx="0"/>
          </p:cNvCxnSpPr>
          <p:nvPr>
            <p:custDataLst>
              <p:tags r:id="rId11"/>
            </p:custDataLst>
          </p:nvPr>
        </p:nvCxnSpPr>
        <p:spPr>
          <a:xfrm flipV="1">
            <a:off x="1170940" y="4398645"/>
            <a:ext cx="536575" cy="25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6" name="直接连接符 25"/>
          <p:cNvCxnSpPr/>
          <p:nvPr>
            <p:custDataLst>
              <p:tags r:id="rId12"/>
            </p:custDataLst>
          </p:nvPr>
        </p:nvCxnSpPr>
        <p:spPr>
          <a:xfrm>
            <a:off x="2370455" y="5253355"/>
            <a:ext cx="3860800" cy="444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p:nvPr>
            <p:custDataLst>
              <p:tags r:id="rId13"/>
            </p:custDataLst>
          </p:nvPr>
        </p:nvCxnSpPr>
        <p:spPr>
          <a:xfrm flipV="1">
            <a:off x="2580005" y="4400550"/>
            <a:ext cx="3646805" cy="19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8" name="直接连接符 27"/>
          <p:cNvCxnSpPr/>
          <p:nvPr>
            <p:custDataLst>
              <p:tags r:id="rId14"/>
            </p:custDataLst>
          </p:nvPr>
        </p:nvCxnSpPr>
        <p:spPr>
          <a:xfrm flipV="1">
            <a:off x="3018155" y="2693670"/>
            <a:ext cx="3210560" cy="444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9" name="文本框 28"/>
          <p:cNvSpPr txBox="1"/>
          <p:nvPr>
            <p:custDataLst>
              <p:tags r:id="rId15"/>
            </p:custDataLst>
          </p:nvPr>
        </p:nvSpPr>
        <p:spPr>
          <a:xfrm>
            <a:off x="1707515" y="2122805"/>
            <a:ext cx="381635" cy="491490"/>
          </a:xfrm>
          <a:prstGeom prst="rect">
            <a:avLst/>
          </a:prstGeom>
          <a:noFill/>
        </p:spPr>
        <p:txBody>
          <a:bodyPr wrap="square" rtlCol="0">
            <a:spAutoFit/>
          </a:bodyPr>
          <a:p>
            <a:r>
              <a:rPr lang="en-US" altLang="zh-CN" sz="2600" b="1"/>
              <a:t>5</a:t>
            </a:r>
            <a:endParaRPr lang="en-US" altLang="zh-CN" sz="2600" b="1"/>
          </a:p>
        </p:txBody>
      </p:sp>
      <p:sp>
        <p:nvSpPr>
          <p:cNvPr id="30" name="文本框 29"/>
          <p:cNvSpPr txBox="1"/>
          <p:nvPr>
            <p:custDataLst>
              <p:tags r:id="rId16"/>
            </p:custDataLst>
          </p:nvPr>
        </p:nvSpPr>
        <p:spPr>
          <a:xfrm>
            <a:off x="1526540" y="2973705"/>
            <a:ext cx="381635" cy="491490"/>
          </a:xfrm>
          <a:prstGeom prst="rect">
            <a:avLst/>
          </a:prstGeom>
          <a:noFill/>
        </p:spPr>
        <p:txBody>
          <a:bodyPr wrap="square" rtlCol="0">
            <a:spAutoFit/>
          </a:bodyPr>
          <a:p>
            <a:r>
              <a:rPr lang="en-US" altLang="zh-CN" sz="2600" b="1"/>
              <a:t>4</a:t>
            </a:r>
            <a:endParaRPr lang="en-US" altLang="zh-CN" sz="2600" b="1"/>
          </a:p>
        </p:txBody>
      </p:sp>
      <p:sp>
        <p:nvSpPr>
          <p:cNvPr id="31" name="文本框 30"/>
          <p:cNvSpPr txBox="1"/>
          <p:nvPr>
            <p:custDataLst>
              <p:tags r:id="rId17"/>
            </p:custDataLst>
          </p:nvPr>
        </p:nvSpPr>
        <p:spPr>
          <a:xfrm>
            <a:off x="1306830" y="3827145"/>
            <a:ext cx="381635" cy="491490"/>
          </a:xfrm>
          <a:prstGeom prst="rect">
            <a:avLst/>
          </a:prstGeom>
          <a:noFill/>
        </p:spPr>
        <p:txBody>
          <a:bodyPr wrap="square" rtlCol="0">
            <a:spAutoFit/>
          </a:bodyPr>
          <a:p>
            <a:r>
              <a:rPr lang="en-US" altLang="zh-CN" sz="2600" b="1"/>
              <a:t>3</a:t>
            </a:r>
            <a:endParaRPr lang="en-US" altLang="zh-CN" sz="2600" b="1"/>
          </a:p>
        </p:txBody>
      </p:sp>
      <p:sp>
        <p:nvSpPr>
          <p:cNvPr id="32" name="文本框 31"/>
          <p:cNvSpPr txBox="1"/>
          <p:nvPr>
            <p:custDataLst>
              <p:tags r:id="rId18"/>
            </p:custDataLst>
          </p:nvPr>
        </p:nvSpPr>
        <p:spPr>
          <a:xfrm>
            <a:off x="1080770" y="4681855"/>
            <a:ext cx="381635" cy="491490"/>
          </a:xfrm>
          <a:prstGeom prst="rect">
            <a:avLst/>
          </a:prstGeom>
          <a:noFill/>
        </p:spPr>
        <p:txBody>
          <a:bodyPr wrap="square" rtlCol="0">
            <a:spAutoFit/>
          </a:bodyPr>
          <a:p>
            <a:r>
              <a:rPr lang="en-US" altLang="zh-CN" sz="2600" b="1"/>
              <a:t>2</a:t>
            </a:r>
            <a:endParaRPr lang="en-US" altLang="zh-CN" sz="2600" b="1"/>
          </a:p>
        </p:txBody>
      </p:sp>
      <p:sp>
        <p:nvSpPr>
          <p:cNvPr id="33" name="文本框 32"/>
          <p:cNvSpPr txBox="1"/>
          <p:nvPr>
            <p:custDataLst>
              <p:tags r:id="rId19"/>
            </p:custDataLst>
          </p:nvPr>
        </p:nvSpPr>
        <p:spPr>
          <a:xfrm>
            <a:off x="853440" y="5536565"/>
            <a:ext cx="381635" cy="491490"/>
          </a:xfrm>
          <a:prstGeom prst="rect">
            <a:avLst/>
          </a:prstGeom>
          <a:noFill/>
        </p:spPr>
        <p:txBody>
          <a:bodyPr wrap="square" rtlCol="0">
            <a:spAutoFit/>
          </a:bodyPr>
          <a:p>
            <a:r>
              <a:rPr lang="en-US" altLang="zh-CN" sz="2600" b="1"/>
              <a:t>1</a:t>
            </a:r>
            <a:endParaRPr lang="en-US" altLang="zh-CN" sz="2600" b="1"/>
          </a:p>
        </p:txBody>
      </p:sp>
      <p:sp>
        <p:nvSpPr>
          <p:cNvPr id="34" name="文本框 33"/>
          <p:cNvSpPr txBox="1"/>
          <p:nvPr>
            <p:custDataLst>
              <p:tags r:id="rId20"/>
            </p:custDataLst>
          </p:nvPr>
        </p:nvSpPr>
        <p:spPr>
          <a:xfrm>
            <a:off x="3291840" y="1928495"/>
            <a:ext cx="2291080" cy="398780"/>
          </a:xfrm>
          <a:prstGeom prst="rect">
            <a:avLst/>
          </a:prstGeom>
          <a:noFill/>
        </p:spPr>
        <p:txBody>
          <a:bodyPr wrap="square" rtlCol="0">
            <a:spAutoFit/>
          </a:bodyPr>
          <a:p>
            <a:r>
              <a:rPr lang="zh-CN" altLang="en-US" sz="2000" b="1">
                <a:solidFill>
                  <a:schemeClr val="accent6">
                    <a:lumMod val="75000"/>
                  </a:schemeClr>
                </a:solidFill>
              </a:rPr>
              <a:t>反馈响应数据</a:t>
            </a:r>
            <a:endParaRPr lang="zh-CN" altLang="en-US" sz="2000" b="1">
              <a:solidFill>
                <a:schemeClr val="accent6">
                  <a:lumMod val="75000"/>
                </a:schemeClr>
              </a:solidFill>
            </a:endParaRPr>
          </a:p>
        </p:txBody>
      </p:sp>
      <p:sp>
        <p:nvSpPr>
          <p:cNvPr id="35" name="文本框 34"/>
          <p:cNvSpPr txBox="1"/>
          <p:nvPr>
            <p:custDataLst>
              <p:tags r:id="rId21"/>
            </p:custDataLst>
          </p:nvPr>
        </p:nvSpPr>
        <p:spPr>
          <a:xfrm>
            <a:off x="3124835" y="2734310"/>
            <a:ext cx="2291080" cy="398780"/>
          </a:xfrm>
          <a:prstGeom prst="rect">
            <a:avLst/>
          </a:prstGeom>
          <a:noFill/>
        </p:spPr>
        <p:txBody>
          <a:bodyPr wrap="square" rtlCol="0">
            <a:spAutoFit/>
          </a:bodyPr>
          <a:p>
            <a:r>
              <a:rPr lang="zh-CN" altLang="en-US" sz="2000" b="1">
                <a:solidFill>
                  <a:schemeClr val="accent6">
                    <a:lumMod val="75000"/>
                  </a:schemeClr>
                </a:solidFill>
              </a:rPr>
              <a:t>非线性有限元分析</a:t>
            </a:r>
            <a:endParaRPr lang="zh-CN" altLang="en-US" sz="2000" b="1">
              <a:solidFill>
                <a:schemeClr val="accent6">
                  <a:lumMod val="75000"/>
                </a:schemeClr>
              </a:solidFill>
            </a:endParaRPr>
          </a:p>
        </p:txBody>
      </p:sp>
      <p:sp>
        <p:nvSpPr>
          <p:cNvPr id="36" name="文本框 35"/>
          <p:cNvSpPr txBox="1"/>
          <p:nvPr>
            <p:custDataLst>
              <p:tags r:id="rId22"/>
            </p:custDataLst>
          </p:nvPr>
        </p:nvSpPr>
        <p:spPr>
          <a:xfrm>
            <a:off x="2880995" y="3590925"/>
            <a:ext cx="2291080" cy="398780"/>
          </a:xfrm>
          <a:prstGeom prst="rect">
            <a:avLst/>
          </a:prstGeom>
          <a:noFill/>
        </p:spPr>
        <p:txBody>
          <a:bodyPr wrap="square" rtlCol="0">
            <a:spAutoFit/>
          </a:bodyPr>
          <a:p>
            <a:r>
              <a:rPr lang="zh-CN" altLang="en-US" sz="2000" b="1">
                <a:solidFill>
                  <a:srgbClr val="C00000"/>
                </a:solidFill>
              </a:rPr>
              <a:t>荷载传递</a:t>
            </a:r>
            <a:endParaRPr lang="zh-CN" altLang="en-US" sz="2000" b="1">
              <a:solidFill>
                <a:srgbClr val="C00000"/>
              </a:solidFill>
            </a:endParaRPr>
          </a:p>
        </p:txBody>
      </p:sp>
      <p:sp>
        <p:nvSpPr>
          <p:cNvPr id="37" name="文本框 36"/>
          <p:cNvSpPr txBox="1"/>
          <p:nvPr>
            <p:custDataLst>
              <p:tags r:id="rId23"/>
            </p:custDataLst>
          </p:nvPr>
        </p:nvSpPr>
        <p:spPr>
          <a:xfrm>
            <a:off x="2656205" y="4502150"/>
            <a:ext cx="2291080" cy="398780"/>
          </a:xfrm>
          <a:prstGeom prst="rect">
            <a:avLst/>
          </a:prstGeom>
          <a:noFill/>
        </p:spPr>
        <p:txBody>
          <a:bodyPr wrap="square" rtlCol="0">
            <a:spAutoFit/>
          </a:bodyPr>
          <a:p>
            <a:r>
              <a:rPr lang="zh-CN" altLang="en-US" sz="2000" b="1">
                <a:solidFill>
                  <a:srgbClr val="C00000"/>
                </a:solidFill>
              </a:rPr>
              <a:t>多体</a:t>
            </a:r>
            <a:r>
              <a:rPr lang="zh-CN" altLang="en-US" sz="2000" b="1">
                <a:solidFill>
                  <a:srgbClr val="C00000"/>
                </a:solidFill>
              </a:rPr>
              <a:t>动力学分析</a:t>
            </a:r>
            <a:endParaRPr lang="zh-CN" altLang="en-US" sz="2000" b="1">
              <a:solidFill>
                <a:srgbClr val="C00000"/>
              </a:solidFill>
            </a:endParaRPr>
          </a:p>
        </p:txBody>
      </p:sp>
      <p:sp>
        <p:nvSpPr>
          <p:cNvPr id="38" name="文本框 37"/>
          <p:cNvSpPr txBox="1"/>
          <p:nvPr>
            <p:custDataLst>
              <p:tags r:id="rId24"/>
            </p:custDataLst>
          </p:nvPr>
        </p:nvSpPr>
        <p:spPr>
          <a:xfrm>
            <a:off x="2466340" y="5302885"/>
            <a:ext cx="2606040" cy="398780"/>
          </a:xfrm>
          <a:prstGeom prst="rect">
            <a:avLst/>
          </a:prstGeom>
          <a:noFill/>
        </p:spPr>
        <p:txBody>
          <a:bodyPr wrap="square" rtlCol="0">
            <a:spAutoFit/>
          </a:bodyPr>
          <a:p>
            <a:r>
              <a:rPr lang="zh-CN" altLang="en-US" sz="2000" b="1">
                <a:solidFill>
                  <a:srgbClr val="C00000"/>
                </a:solidFill>
              </a:rPr>
              <a:t>定义子系统接口</a:t>
            </a:r>
            <a:r>
              <a:rPr lang="zh-CN" altLang="en-US" sz="2000" b="1">
                <a:solidFill>
                  <a:srgbClr val="C00000"/>
                </a:solidFill>
              </a:rPr>
              <a:t>节点</a:t>
            </a:r>
            <a:endParaRPr lang="zh-CN" altLang="en-US" sz="2000" b="1">
              <a:solidFill>
                <a:srgbClr val="C00000"/>
              </a:solidFill>
            </a:endParaRPr>
          </a:p>
        </p:txBody>
      </p:sp>
      <p:sp>
        <p:nvSpPr>
          <p:cNvPr id="39" name="文本框 38"/>
          <p:cNvSpPr txBox="1"/>
          <p:nvPr>
            <p:custDataLst>
              <p:tags r:id="rId25"/>
            </p:custDataLst>
          </p:nvPr>
        </p:nvSpPr>
        <p:spPr>
          <a:xfrm>
            <a:off x="3180715" y="2338705"/>
            <a:ext cx="3413760" cy="275590"/>
          </a:xfrm>
          <a:prstGeom prst="rect">
            <a:avLst/>
          </a:prstGeom>
          <a:noFill/>
        </p:spPr>
        <p:txBody>
          <a:bodyPr wrap="square" rtlCol="0">
            <a:spAutoFit/>
          </a:bodyPr>
          <a:p>
            <a:r>
              <a:rPr lang="zh-CN" altLang="en-US" sz="1200"/>
              <a:t>将塔架顶部的位移和速度反馈给接口节点。</a:t>
            </a:r>
            <a:endParaRPr lang="zh-CN" altLang="en-US" sz="1200"/>
          </a:p>
        </p:txBody>
      </p:sp>
      <p:sp>
        <p:nvSpPr>
          <p:cNvPr id="40" name="文本框 39"/>
          <p:cNvSpPr txBox="1"/>
          <p:nvPr>
            <p:custDataLst>
              <p:tags r:id="rId26"/>
            </p:custDataLst>
          </p:nvPr>
        </p:nvSpPr>
        <p:spPr>
          <a:xfrm>
            <a:off x="3124835" y="3169285"/>
            <a:ext cx="3383280" cy="275590"/>
          </a:xfrm>
          <a:prstGeom prst="rect">
            <a:avLst/>
          </a:prstGeom>
          <a:noFill/>
        </p:spPr>
        <p:txBody>
          <a:bodyPr wrap="square" rtlCol="0">
            <a:spAutoFit/>
          </a:bodyPr>
          <a:p>
            <a:r>
              <a:rPr lang="zh-CN" altLang="en-US" sz="1200"/>
              <a:t>使用</a:t>
            </a:r>
            <a:r>
              <a:rPr lang="en-US" altLang="zh-CN" sz="1200"/>
              <a:t>Abaqus</a:t>
            </a:r>
            <a:r>
              <a:rPr lang="zh-CN" altLang="en-US" sz="1200"/>
              <a:t>进行塔架的非线性有限元分析。</a:t>
            </a:r>
            <a:endParaRPr lang="zh-CN" altLang="en-US" sz="1200"/>
          </a:p>
        </p:txBody>
      </p:sp>
      <p:sp>
        <p:nvSpPr>
          <p:cNvPr id="41" name="文本框 40"/>
          <p:cNvSpPr txBox="1"/>
          <p:nvPr>
            <p:custDataLst>
              <p:tags r:id="rId27"/>
            </p:custDataLst>
          </p:nvPr>
        </p:nvSpPr>
        <p:spPr>
          <a:xfrm>
            <a:off x="2880995" y="4025265"/>
            <a:ext cx="3383280" cy="275590"/>
          </a:xfrm>
          <a:prstGeom prst="rect">
            <a:avLst/>
          </a:prstGeom>
          <a:noFill/>
        </p:spPr>
        <p:txBody>
          <a:bodyPr wrap="square" rtlCol="0">
            <a:spAutoFit/>
          </a:bodyPr>
          <a:p>
            <a:r>
              <a:rPr lang="zh-CN" altLang="en-US" sz="1200"/>
              <a:t>将荷载从机舱转递到塔架的</a:t>
            </a:r>
            <a:r>
              <a:rPr lang="zh-CN" altLang="en-US" sz="1200"/>
              <a:t>接口节点。</a:t>
            </a:r>
            <a:endParaRPr lang="zh-CN" altLang="en-US" sz="1200"/>
          </a:p>
        </p:txBody>
      </p:sp>
      <p:sp>
        <p:nvSpPr>
          <p:cNvPr id="43" name="文本框 42"/>
          <p:cNvSpPr txBox="1"/>
          <p:nvPr>
            <p:custDataLst>
              <p:tags r:id="rId28"/>
            </p:custDataLst>
          </p:nvPr>
        </p:nvSpPr>
        <p:spPr>
          <a:xfrm>
            <a:off x="2656205" y="4866640"/>
            <a:ext cx="3383280" cy="275590"/>
          </a:xfrm>
          <a:prstGeom prst="rect">
            <a:avLst/>
          </a:prstGeom>
          <a:noFill/>
        </p:spPr>
        <p:txBody>
          <a:bodyPr wrap="square" rtlCol="0">
            <a:spAutoFit/>
          </a:bodyPr>
          <a:p>
            <a:r>
              <a:rPr lang="zh-CN" altLang="en-US" sz="1200"/>
              <a:t>使用</a:t>
            </a:r>
            <a:r>
              <a:rPr lang="en-US" altLang="zh-CN" sz="1200"/>
              <a:t>Simpack</a:t>
            </a:r>
            <a:r>
              <a:rPr lang="zh-CN" altLang="en-US" sz="1200"/>
              <a:t>分析叶轮</a:t>
            </a:r>
            <a:r>
              <a:rPr lang="en-US" altLang="zh-CN" sz="1200"/>
              <a:t>-</a:t>
            </a:r>
            <a:r>
              <a:rPr lang="zh-CN" altLang="en-US" sz="1200"/>
              <a:t>机舱子系统的</a:t>
            </a:r>
            <a:r>
              <a:rPr lang="zh-CN" altLang="en-US" sz="1200"/>
              <a:t>动力学。</a:t>
            </a:r>
            <a:endParaRPr lang="zh-CN" altLang="en-US" sz="1200"/>
          </a:p>
        </p:txBody>
      </p:sp>
      <p:sp>
        <p:nvSpPr>
          <p:cNvPr id="44" name="文本框 43"/>
          <p:cNvSpPr txBox="1"/>
          <p:nvPr>
            <p:custDataLst>
              <p:tags r:id="rId29"/>
            </p:custDataLst>
          </p:nvPr>
        </p:nvSpPr>
        <p:spPr>
          <a:xfrm>
            <a:off x="2466340" y="5669915"/>
            <a:ext cx="3754120" cy="460375"/>
          </a:xfrm>
          <a:prstGeom prst="rect">
            <a:avLst/>
          </a:prstGeom>
          <a:noFill/>
        </p:spPr>
        <p:txBody>
          <a:bodyPr wrap="square" rtlCol="0">
            <a:spAutoFit/>
          </a:bodyPr>
          <a:p>
            <a:r>
              <a:rPr lang="zh-CN" altLang="en-US" sz="1200"/>
              <a:t>叶轮</a:t>
            </a:r>
            <a:r>
              <a:rPr lang="en-US" altLang="zh-CN" sz="1200"/>
              <a:t>-</a:t>
            </a:r>
            <a:r>
              <a:rPr lang="zh-CN" altLang="en-US" sz="1200"/>
              <a:t>机舱子系统的接口节点定义在偏航法兰的中心。混塔子系统，接口节点位于</a:t>
            </a:r>
            <a:r>
              <a:rPr lang="zh-CN" altLang="en-US" sz="1200"/>
              <a:t>塔顶中心。</a:t>
            </a:r>
            <a:endParaRPr lang="zh-CN" altLang="en-US" sz="1200"/>
          </a:p>
        </p:txBody>
      </p:sp>
      <p:sp>
        <p:nvSpPr>
          <p:cNvPr id="52" name="弧形 51"/>
          <p:cNvSpPr/>
          <p:nvPr>
            <p:custDataLst>
              <p:tags r:id="rId30"/>
            </p:custDataLst>
          </p:nvPr>
        </p:nvSpPr>
        <p:spPr>
          <a:xfrm flipH="1">
            <a:off x="2320925" y="1842770"/>
            <a:ext cx="83185" cy="190500"/>
          </a:xfrm>
          <a:prstGeom prst="arc">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57" name="曲线连接符 56"/>
          <p:cNvCxnSpPr/>
          <p:nvPr>
            <p:custDataLst>
              <p:tags r:id="rId31"/>
            </p:custDataLst>
          </p:nvPr>
        </p:nvCxnSpPr>
        <p:spPr>
          <a:xfrm rot="5400000">
            <a:off x="1666240" y="4234815"/>
            <a:ext cx="245110" cy="207010"/>
          </a:xfrm>
          <a:prstGeom prst="curvedConnector3">
            <a:avLst>
              <a:gd name="adj1" fmla="val 50259"/>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8" name="曲线连接符 57"/>
          <p:cNvCxnSpPr/>
          <p:nvPr>
            <p:custDataLst>
              <p:tags r:id="rId32"/>
            </p:custDataLst>
          </p:nvPr>
        </p:nvCxnSpPr>
        <p:spPr>
          <a:xfrm rot="5400000">
            <a:off x="2522855" y="4240530"/>
            <a:ext cx="254000" cy="204470"/>
          </a:xfrm>
          <a:prstGeom prst="curvedConnector3">
            <a:avLst>
              <a:gd name="adj1" fmla="val 50250"/>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9" name="曲线连接符 58"/>
          <p:cNvCxnSpPr/>
          <p:nvPr>
            <p:custDataLst>
              <p:tags r:id="rId33"/>
            </p:custDataLst>
          </p:nvPr>
        </p:nvCxnSpPr>
        <p:spPr>
          <a:xfrm rot="5400000">
            <a:off x="1859280" y="3382645"/>
            <a:ext cx="278765" cy="213995"/>
          </a:xfrm>
          <a:prstGeom prst="curvedConnector3">
            <a:avLst>
              <a:gd name="adj1" fmla="val 50114"/>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0" name="曲线连接符 59"/>
          <p:cNvCxnSpPr/>
          <p:nvPr>
            <p:custDataLst>
              <p:tags r:id="rId34"/>
            </p:custDataLst>
          </p:nvPr>
        </p:nvCxnSpPr>
        <p:spPr>
          <a:xfrm rot="5400000">
            <a:off x="2725420" y="3392170"/>
            <a:ext cx="273685" cy="220345"/>
          </a:xfrm>
          <a:prstGeom prst="curvedConnector3">
            <a:avLst>
              <a:gd name="adj1" fmla="val 50116"/>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1" name="曲线连接符 60"/>
          <p:cNvCxnSpPr/>
          <p:nvPr>
            <p:custDataLst>
              <p:tags r:id="rId35"/>
            </p:custDataLst>
          </p:nvPr>
        </p:nvCxnSpPr>
        <p:spPr>
          <a:xfrm rot="5400000">
            <a:off x="1437640" y="5110480"/>
            <a:ext cx="254000" cy="204470"/>
          </a:xfrm>
          <a:prstGeom prst="curvedConnector3">
            <a:avLst>
              <a:gd name="adj1" fmla="val 50250"/>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2" name="曲线连接符 61"/>
          <p:cNvCxnSpPr/>
          <p:nvPr>
            <p:custDataLst>
              <p:tags r:id="rId36"/>
            </p:custDataLst>
          </p:nvPr>
        </p:nvCxnSpPr>
        <p:spPr>
          <a:xfrm rot="5400000">
            <a:off x="2296795" y="5098415"/>
            <a:ext cx="264795" cy="216535"/>
          </a:xfrm>
          <a:prstGeom prst="curvedConnector3">
            <a:avLst>
              <a:gd name="adj1" fmla="val 50120"/>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64" name="弧形 63"/>
          <p:cNvSpPr/>
          <p:nvPr>
            <p:custDataLst>
              <p:tags r:id="rId37"/>
            </p:custDataLst>
          </p:nvPr>
        </p:nvSpPr>
        <p:spPr>
          <a:xfrm rot="5400000">
            <a:off x="1537335" y="5325110"/>
            <a:ext cx="708660" cy="857885"/>
          </a:xfrm>
          <a:prstGeom prst="arc">
            <a:avLst>
              <a:gd name="adj1" fmla="val 16200000"/>
              <a:gd name="adj2" fmla="val 5273034"/>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65" name="直接连接符 64"/>
          <p:cNvCxnSpPr>
            <a:endCxn id="64" idx="2"/>
          </p:cNvCxnSpPr>
          <p:nvPr>
            <p:custDataLst>
              <p:tags r:id="rId38"/>
            </p:custDataLst>
          </p:nvPr>
        </p:nvCxnSpPr>
        <p:spPr>
          <a:xfrm>
            <a:off x="1459865" y="5330825"/>
            <a:ext cx="3175" cy="4387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p:cNvCxnSpPr/>
          <p:nvPr>
            <p:custDataLst>
              <p:tags r:id="rId39"/>
            </p:custDataLst>
          </p:nvPr>
        </p:nvCxnSpPr>
        <p:spPr>
          <a:xfrm>
            <a:off x="2320925" y="5330825"/>
            <a:ext cx="3175" cy="4387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p:nvPr>
            <p:custDataLst>
              <p:tags r:id="rId40"/>
            </p:custDataLst>
          </p:nvPr>
        </p:nvCxnSpPr>
        <p:spPr>
          <a:xfrm flipH="1">
            <a:off x="1670050" y="4455795"/>
            <a:ext cx="13335" cy="6299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p:nvPr>
            <p:custDataLst>
              <p:tags r:id="rId41"/>
            </p:custDataLst>
          </p:nvPr>
        </p:nvCxnSpPr>
        <p:spPr>
          <a:xfrm flipH="1">
            <a:off x="2534285" y="4469765"/>
            <a:ext cx="13335" cy="6299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p:nvPr>
            <p:custDataLst>
              <p:tags r:id="rId42"/>
            </p:custDataLst>
          </p:nvPr>
        </p:nvCxnSpPr>
        <p:spPr>
          <a:xfrm>
            <a:off x="1892300" y="3629660"/>
            <a:ext cx="635" cy="5899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0" name="直接连接符 69"/>
          <p:cNvCxnSpPr/>
          <p:nvPr>
            <p:custDataLst>
              <p:tags r:id="rId43"/>
            </p:custDataLst>
          </p:nvPr>
        </p:nvCxnSpPr>
        <p:spPr>
          <a:xfrm>
            <a:off x="2752090" y="3629660"/>
            <a:ext cx="635" cy="5899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1" name="直接连接符 70"/>
          <p:cNvCxnSpPr/>
          <p:nvPr>
            <p:custDataLst>
              <p:tags r:id="rId44"/>
            </p:custDataLst>
          </p:nvPr>
        </p:nvCxnSpPr>
        <p:spPr>
          <a:xfrm flipH="1">
            <a:off x="2106295" y="2771775"/>
            <a:ext cx="1270" cy="59372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2" name="曲线连接符 71"/>
          <p:cNvCxnSpPr/>
          <p:nvPr>
            <p:custDataLst>
              <p:tags r:id="rId45"/>
            </p:custDataLst>
          </p:nvPr>
        </p:nvCxnSpPr>
        <p:spPr>
          <a:xfrm rot="5400000">
            <a:off x="2077720" y="2529205"/>
            <a:ext cx="278765" cy="213995"/>
          </a:xfrm>
          <a:prstGeom prst="curvedConnector3">
            <a:avLst>
              <a:gd name="adj1" fmla="val 50114"/>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曲线连接符 72"/>
          <p:cNvCxnSpPr/>
          <p:nvPr>
            <p:custDataLst>
              <p:tags r:id="rId46"/>
            </p:custDataLst>
          </p:nvPr>
        </p:nvCxnSpPr>
        <p:spPr>
          <a:xfrm rot="5400000">
            <a:off x="2940050" y="2543175"/>
            <a:ext cx="278765" cy="213995"/>
          </a:xfrm>
          <a:prstGeom prst="curvedConnector3">
            <a:avLst>
              <a:gd name="adj1" fmla="val 50114"/>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4" name="直接连接符 73"/>
          <p:cNvCxnSpPr/>
          <p:nvPr>
            <p:custDataLst>
              <p:tags r:id="rId47"/>
            </p:custDataLst>
          </p:nvPr>
        </p:nvCxnSpPr>
        <p:spPr>
          <a:xfrm flipH="1">
            <a:off x="2971165" y="2789555"/>
            <a:ext cx="1270" cy="59372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5" name="直接连接符 74"/>
          <p:cNvCxnSpPr/>
          <p:nvPr>
            <p:custDataLst>
              <p:tags r:id="rId48"/>
            </p:custDataLst>
          </p:nvPr>
        </p:nvCxnSpPr>
        <p:spPr>
          <a:xfrm>
            <a:off x="2321560" y="1930400"/>
            <a:ext cx="2540" cy="5664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a:stCxn id="77" idx="2"/>
          </p:cNvCxnSpPr>
          <p:nvPr>
            <p:custDataLst>
              <p:tags r:id="rId49"/>
            </p:custDataLst>
          </p:nvPr>
        </p:nvCxnSpPr>
        <p:spPr>
          <a:xfrm>
            <a:off x="3188970" y="1938020"/>
            <a:ext cx="0" cy="57277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77" name="弧形 76"/>
          <p:cNvSpPr/>
          <p:nvPr>
            <p:custDataLst>
              <p:tags r:id="rId50"/>
            </p:custDataLst>
          </p:nvPr>
        </p:nvSpPr>
        <p:spPr>
          <a:xfrm flipH="1">
            <a:off x="3188970" y="1842770"/>
            <a:ext cx="83185" cy="190500"/>
          </a:xfrm>
          <a:prstGeom prst="arc">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3" name="图片 2" descr="29.5"/>
          <p:cNvPicPr>
            <a:picLocks noChangeAspect="1"/>
          </p:cNvPicPr>
          <p:nvPr/>
        </p:nvPicPr>
        <p:blipFill>
          <a:blip r:embed="rId51"/>
          <a:stretch>
            <a:fillRect/>
          </a:stretch>
        </p:blipFill>
        <p:spPr>
          <a:xfrm>
            <a:off x="6368415" y="1216660"/>
            <a:ext cx="4923155" cy="4977130"/>
          </a:xfrm>
          <a:prstGeom prst="rect">
            <a:avLst/>
          </a:prstGeom>
        </p:spPr>
      </p:pic>
      <p:pic>
        <p:nvPicPr>
          <p:cNvPr id="15" name="图片 14" descr="29.6"/>
          <p:cNvPicPr>
            <a:picLocks noChangeAspect="1"/>
          </p:cNvPicPr>
          <p:nvPr/>
        </p:nvPicPr>
        <p:blipFill>
          <a:blip r:embed="rId52"/>
          <a:stretch>
            <a:fillRect/>
          </a:stretch>
        </p:blipFill>
        <p:spPr>
          <a:xfrm>
            <a:off x="9335135" y="3308350"/>
            <a:ext cx="1573530" cy="2618740"/>
          </a:xfrm>
          <a:prstGeom prst="rect">
            <a:avLst/>
          </a:prstGeom>
        </p:spPr>
      </p:pic>
      <p:sp>
        <p:nvSpPr>
          <p:cNvPr id="42" name="椭圆 41"/>
          <p:cNvSpPr/>
          <p:nvPr/>
        </p:nvSpPr>
        <p:spPr>
          <a:xfrm>
            <a:off x="8889365" y="3307715"/>
            <a:ext cx="2471420" cy="2619375"/>
          </a:xfrm>
          <a:prstGeom prst="ellipse">
            <a:avLst/>
          </a:pr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5" name="任意多边形 44"/>
          <p:cNvSpPr/>
          <p:nvPr/>
        </p:nvSpPr>
        <p:spPr>
          <a:xfrm>
            <a:off x="7680325" y="4436745"/>
            <a:ext cx="1079500" cy="361950"/>
          </a:xfrm>
          <a:custGeom>
            <a:avLst/>
            <a:gdLst>
              <a:gd name="connsiteX0" fmla="*/ 0 w 1700"/>
              <a:gd name="connsiteY0" fmla="*/ 333 h 570"/>
              <a:gd name="connsiteX1" fmla="*/ 1415 w 1700"/>
              <a:gd name="connsiteY1" fmla="*/ 143 h 570"/>
              <a:gd name="connsiteX2" fmla="*/ 1415 w 1700"/>
              <a:gd name="connsiteY2" fmla="*/ 0 h 570"/>
              <a:gd name="connsiteX3" fmla="*/ 1700 w 1700"/>
              <a:gd name="connsiteY3" fmla="*/ 285 h 570"/>
              <a:gd name="connsiteX4" fmla="*/ 1415 w 1700"/>
              <a:gd name="connsiteY4" fmla="*/ 570 h 570"/>
              <a:gd name="connsiteX5" fmla="*/ 1415 w 1700"/>
              <a:gd name="connsiteY5" fmla="*/ 428 h 570"/>
              <a:gd name="connsiteX6" fmla="*/ 10 w 1700"/>
              <a:gd name="connsiteY6" fmla="*/ 340 h 570"/>
              <a:gd name="connsiteX7" fmla="*/ 0 w 1700"/>
              <a:gd name="connsiteY7" fmla="*/ 333 h 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0" h="570">
                <a:moveTo>
                  <a:pt x="0" y="333"/>
                </a:moveTo>
                <a:lnTo>
                  <a:pt x="1415" y="143"/>
                </a:lnTo>
                <a:lnTo>
                  <a:pt x="1415" y="0"/>
                </a:lnTo>
                <a:lnTo>
                  <a:pt x="1700" y="285"/>
                </a:lnTo>
                <a:lnTo>
                  <a:pt x="1415" y="570"/>
                </a:lnTo>
                <a:lnTo>
                  <a:pt x="1415" y="428"/>
                </a:lnTo>
                <a:lnTo>
                  <a:pt x="10" y="340"/>
                </a:lnTo>
                <a:lnTo>
                  <a:pt x="0" y="333"/>
                </a:lnTo>
                <a:close/>
              </a:path>
            </a:pathLst>
          </a:custGeom>
          <a:ln>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46" name="图片 45" descr="29.1"/>
          <p:cNvPicPr>
            <a:picLocks noChangeAspect="1"/>
          </p:cNvPicPr>
          <p:nvPr/>
        </p:nvPicPr>
        <p:blipFill>
          <a:blip r:embed="rId53"/>
          <a:stretch>
            <a:fillRect/>
          </a:stretch>
        </p:blipFill>
        <p:spPr>
          <a:xfrm>
            <a:off x="2456180" y="1991995"/>
            <a:ext cx="577215" cy="518795"/>
          </a:xfrm>
          <a:prstGeom prst="rect">
            <a:avLst/>
          </a:prstGeom>
        </p:spPr>
      </p:pic>
      <p:pic>
        <p:nvPicPr>
          <p:cNvPr id="47" name="图片 46" descr="29.2"/>
          <p:cNvPicPr>
            <a:picLocks noChangeAspect="1"/>
          </p:cNvPicPr>
          <p:nvPr/>
        </p:nvPicPr>
        <p:blipFill>
          <a:blip r:embed="rId54"/>
          <a:stretch>
            <a:fillRect/>
          </a:stretch>
        </p:blipFill>
        <p:spPr>
          <a:xfrm>
            <a:off x="2256790" y="2882900"/>
            <a:ext cx="596265" cy="561975"/>
          </a:xfrm>
          <a:prstGeom prst="rect">
            <a:avLst/>
          </a:prstGeom>
        </p:spPr>
      </p:pic>
      <p:pic>
        <p:nvPicPr>
          <p:cNvPr id="48" name="图片 47" descr="29.3"/>
          <p:cNvPicPr>
            <a:picLocks noChangeAspect="1"/>
          </p:cNvPicPr>
          <p:nvPr/>
        </p:nvPicPr>
        <p:blipFill>
          <a:blip r:embed="rId55"/>
          <a:stretch>
            <a:fillRect/>
          </a:stretch>
        </p:blipFill>
        <p:spPr>
          <a:xfrm>
            <a:off x="1891665" y="4622165"/>
            <a:ext cx="419100" cy="463550"/>
          </a:xfrm>
          <a:prstGeom prst="rect">
            <a:avLst/>
          </a:prstGeom>
        </p:spPr>
      </p:pic>
      <p:pic>
        <p:nvPicPr>
          <p:cNvPr id="49" name="图片 48" descr="29.4"/>
          <p:cNvPicPr>
            <a:picLocks noChangeAspect="1"/>
          </p:cNvPicPr>
          <p:nvPr/>
        </p:nvPicPr>
        <p:blipFill>
          <a:blip r:embed="rId56"/>
          <a:stretch>
            <a:fillRect/>
          </a:stretch>
        </p:blipFill>
        <p:spPr>
          <a:xfrm>
            <a:off x="1642110" y="5450840"/>
            <a:ext cx="531495" cy="577850"/>
          </a:xfrm>
          <a:prstGeom prst="rect">
            <a:avLst/>
          </a:prstGeom>
        </p:spPr>
      </p:pic>
      <p:sp>
        <p:nvSpPr>
          <p:cNvPr id="50" name="流程图: 多文档 49"/>
          <p:cNvSpPr/>
          <p:nvPr/>
        </p:nvSpPr>
        <p:spPr>
          <a:xfrm>
            <a:off x="2122805" y="3752215"/>
            <a:ext cx="410845" cy="484505"/>
          </a:xfrm>
          <a:prstGeom prst="flowChartMultidocument">
            <a:avLst/>
          </a:prstGeom>
          <a:noFill/>
          <a:ln>
            <a:solidFill>
              <a:schemeClr val="tx2"/>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29/68</a:t>
            </a:r>
            <a:endParaRPr lang="en-US" altLang="zh-CN">
              <a:latin typeface="微软雅黑" panose="020B0503020204020204" charset="-122"/>
              <a:ea typeface="微软雅黑" panose="020B0503020204020204" charset="-122"/>
            </a:endParaRPr>
          </a:p>
        </p:txBody>
      </p:sp>
      <p:sp>
        <p:nvSpPr>
          <p:cNvPr id="4" name="文本框 3"/>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3884295" cy="445135"/>
          </a:xfrm>
          <a:prstGeom prst="rect">
            <a:avLst/>
          </a:prstGeom>
          <a:noFill/>
        </p:spPr>
        <p:txBody>
          <a:bodyPr wrap="square" rtlCol="0">
            <a:spAutoFit/>
          </a:bodyPr>
          <a:p>
            <a:r>
              <a:rPr lang="zh-CN" altLang="en-US" sz="2300" b="1">
                <a:solidFill>
                  <a:srgbClr val="C00000"/>
                </a:solidFill>
              </a:rPr>
              <a:t>中保真度模型</a:t>
            </a:r>
            <a:r>
              <a:rPr lang="zh-CN" altLang="en-US" sz="2300" b="1">
                <a:solidFill>
                  <a:srgbClr val="394C7E"/>
                </a:solidFill>
              </a:rPr>
              <a:t>仿真</a:t>
            </a:r>
            <a:r>
              <a:rPr lang="zh-CN" altLang="en-US" sz="2300" b="1">
                <a:solidFill>
                  <a:srgbClr val="394C7E"/>
                </a:solidFill>
              </a:rPr>
              <a:t>框架</a:t>
            </a:r>
            <a:endParaRPr lang="zh-CN" altLang="en-US" sz="2300" b="1">
              <a:solidFill>
                <a:srgbClr val="394C7E"/>
              </a:solidFill>
            </a:endParaRPr>
          </a:p>
        </p:txBody>
      </p:sp>
      <p:pic>
        <p:nvPicPr>
          <p:cNvPr id="13" name="图片 12" descr="勾"/>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5510" y="1693545"/>
            <a:ext cx="297815" cy="297815"/>
          </a:xfrm>
          <a:prstGeom prst="rect">
            <a:avLst/>
          </a:prstGeom>
        </p:spPr>
      </p:pic>
      <p:sp>
        <p:nvSpPr>
          <p:cNvPr id="14" name="文本框 13"/>
          <p:cNvSpPr txBox="1"/>
          <p:nvPr/>
        </p:nvSpPr>
        <p:spPr>
          <a:xfrm>
            <a:off x="1149350" y="1586865"/>
            <a:ext cx="6119495" cy="995045"/>
          </a:xfrm>
          <a:prstGeom prst="rect">
            <a:avLst/>
          </a:prstGeom>
          <a:noFill/>
        </p:spPr>
        <p:txBody>
          <a:bodyPr wrap="square" rtlCol="0">
            <a:spAutoFit/>
          </a:bodyPr>
          <a:p>
            <a:pPr>
              <a:lnSpc>
                <a:spcPct val="140000"/>
              </a:lnSpc>
              <a:spcBef>
                <a:spcPts val="0"/>
              </a:spcBef>
              <a:spcAft>
                <a:spcPts val="0"/>
              </a:spcAft>
            </a:pPr>
            <a:r>
              <a:rPr lang="zh-CN" altLang="en-US" sz="2100" b="1">
                <a:solidFill>
                  <a:srgbClr val="C00000"/>
                </a:solidFill>
              </a:rPr>
              <a:t>中保真度模型</a:t>
            </a:r>
            <a:r>
              <a:rPr lang="zh-CN" altLang="en-US" sz="2100" b="1">
                <a:solidFill>
                  <a:schemeClr val="tx1"/>
                </a:solidFill>
              </a:rPr>
              <a:t>采用</a:t>
            </a:r>
            <a:r>
              <a:rPr lang="en-US" altLang="zh-CN" sz="2100" b="1">
                <a:solidFill>
                  <a:srgbClr val="023A8B"/>
                </a:solidFill>
              </a:rPr>
              <a:t>Simpack + Matlab/Simulink + OpenSees </a:t>
            </a:r>
            <a:r>
              <a:rPr lang="zh-CN" altLang="en-US" sz="2100" b="1"/>
              <a:t>（简称</a:t>
            </a:r>
            <a:r>
              <a:rPr lang="en-US" altLang="zh-CN" sz="2100" b="1"/>
              <a:t> “</a:t>
            </a:r>
            <a:r>
              <a:rPr lang="en-US" altLang="zh-CN" sz="2100" b="1">
                <a:solidFill>
                  <a:srgbClr val="C00000"/>
                </a:solidFill>
              </a:rPr>
              <a:t>SSO</a:t>
            </a:r>
            <a:r>
              <a:rPr lang="en-US" altLang="zh-CN" sz="2100" b="1"/>
              <a:t>” </a:t>
            </a:r>
            <a:r>
              <a:rPr lang="zh-CN" altLang="en-US" sz="2100" b="1"/>
              <a:t>）联合仿真</a:t>
            </a:r>
            <a:endParaRPr lang="zh-CN" altLang="en-US" sz="2100" b="1"/>
          </a:p>
        </p:txBody>
      </p:sp>
      <p:sp>
        <p:nvSpPr>
          <p:cNvPr id="15" name="椭圆 14"/>
          <p:cNvSpPr/>
          <p:nvPr/>
        </p:nvSpPr>
        <p:spPr>
          <a:xfrm>
            <a:off x="908050" y="2689860"/>
            <a:ext cx="75565" cy="75565"/>
          </a:xfrm>
          <a:prstGeom prst="ellipse">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908050" y="3589655"/>
            <a:ext cx="75565" cy="75565"/>
          </a:xfrm>
          <a:prstGeom prst="ellipse">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908050" y="4849495"/>
            <a:ext cx="75565" cy="75565"/>
          </a:xfrm>
          <a:prstGeom prst="ellipse">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149350" y="2475865"/>
            <a:ext cx="5667375" cy="953135"/>
          </a:xfrm>
          <a:prstGeom prst="rect">
            <a:avLst/>
          </a:prstGeom>
          <a:noFill/>
        </p:spPr>
        <p:txBody>
          <a:bodyPr wrap="square" rtlCol="0">
            <a:spAutoFit/>
          </a:bodyPr>
          <a:p>
            <a:pPr>
              <a:lnSpc>
                <a:spcPct val="140000"/>
              </a:lnSpc>
              <a:spcBef>
                <a:spcPts val="0"/>
              </a:spcBef>
              <a:spcAft>
                <a:spcPts val="0"/>
              </a:spcAft>
            </a:pPr>
            <a:r>
              <a:rPr lang="zh-CN" altLang="en-US" sz="2000" b="1">
                <a:solidFill>
                  <a:srgbClr val="023A8B"/>
                </a:solidFill>
              </a:rPr>
              <a:t>叶轮</a:t>
            </a:r>
            <a:r>
              <a:rPr lang="en-US" altLang="zh-CN" sz="2000" b="1">
                <a:solidFill>
                  <a:srgbClr val="023A8B"/>
                </a:solidFill>
              </a:rPr>
              <a:t>-</a:t>
            </a:r>
            <a:r>
              <a:rPr lang="zh-CN" altLang="en-US" sz="2000" b="1">
                <a:solidFill>
                  <a:srgbClr val="023A8B"/>
                </a:solidFill>
              </a:rPr>
              <a:t>机舱子系统</a:t>
            </a:r>
            <a:r>
              <a:rPr lang="zh-CN" altLang="en-US" sz="2000" b="1"/>
              <a:t>基于多体动力学原理及模态法构建（与高保真度模型一致）；</a:t>
            </a:r>
            <a:endParaRPr lang="zh-CN" altLang="en-US" sz="2000" b="1"/>
          </a:p>
        </p:txBody>
      </p:sp>
      <p:sp>
        <p:nvSpPr>
          <p:cNvPr id="19" name="文本框 18"/>
          <p:cNvSpPr txBox="1"/>
          <p:nvPr/>
        </p:nvSpPr>
        <p:spPr>
          <a:xfrm>
            <a:off x="1149350" y="3314065"/>
            <a:ext cx="5597525" cy="1379220"/>
          </a:xfrm>
          <a:prstGeom prst="rect">
            <a:avLst/>
          </a:prstGeom>
          <a:noFill/>
        </p:spPr>
        <p:txBody>
          <a:bodyPr wrap="square" rtlCol="0">
            <a:noAutofit/>
          </a:bodyPr>
          <a:p>
            <a:pPr>
              <a:lnSpc>
                <a:spcPct val="140000"/>
              </a:lnSpc>
              <a:spcBef>
                <a:spcPts val="0"/>
              </a:spcBef>
              <a:spcAft>
                <a:spcPts val="0"/>
              </a:spcAft>
            </a:pPr>
            <a:r>
              <a:rPr lang="zh-CN" altLang="en-US" sz="2100" b="1">
                <a:solidFill>
                  <a:srgbClr val="023A8B"/>
                </a:solidFill>
              </a:rPr>
              <a:t>基于客户端</a:t>
            </a:r>
            <a:r>
              <a:rPr lang="en-US" altLang="zh-CN" sz="2100" b="1">
                <a:solidFill>
                  <a:srgbClr val="023A8B"/>
                </a:solidFill>
              </a:rPr>
              <a:t>-</a:t>
            </a:r>
            <a:r>
              <a:rPr lang="zh-CN" altLang="en-US" sz="2100" b="1">
                <a:solidFill>
                  <a:srgbClr val="023A8B"/>
                </a:solidFill>
              </a:rPr>
              <a:t>服务器架构与</a:t>
            </a:r>
            <a:r>
              <a:rPr lang="en-US" altLang="zh-CN" sz="2100" b="1">
                <a:solidFill>
                  <a:srgbClr val="023A8B"/>
                </a:solidFill>
              </a:rPr>
              <a:t>TCP/IP</a:t>
            </a:r>
            <a:r>
              <a:rPr lang="zh-CN" altLang="en-US" sz="2100" b="1">
                <a:solidFill>
                  <a:srgbClr val="023A8B"/>
                </a:solidFill>
              </a:rPr>
              <a:t>通讯协议</a:t>
            </a:r>
            <a:r>
              <a:rPr lang="zh-CN" altLang="en-US" sz="2100" b="1"/>
              <a:t>，以</a:t>
            </a:r>
            <a:r>
              <a:rPr lang="en-US" altLang="zh-CN" sz="2100" b="1">
                <a:solidFill>
                  <a:srgbClr val="C00000"/>
                </a:solidFill>
              </a:rPr>
              <a:t>Matlab/Simulink</a:t>
            </a:r>
            <a:r>
              <a:rPr lang="zh-CN" altLang="en-US" sz="2100" b="1">
                <a:solidFill>
                  <a:srgbClr val="C00000"/>
                </a:solidFill>
              </a:rPr>
              <a:t>为数据传输的</a:t>
            </a:r>
            <a:r>
              <a:rPr lang="en-US" altLang="zh-CN" sz="2100" b="1">
                <a:solidFill>
                  <a:srgbClr val="C00000"/>
                </a:solidFill>
              </a:rPr>
              <a:t>“</a:t>
            </a:r>
            <a:r>
              <a:rPr lang="zh-CN" altLang="en-US" sz="2100" b="1">
                <a:solidFill>
                  <a:srgbClr val="C00000"/>
                </a:solidFill>
              </a:rPr>
              <a:t>桥梁</a:t>
            </a:r>
            <a:r>
              <a:rPr lang="en-US" altLang="zh-CN" sz="2100" b="1">
                <a:solidFill>
                  <a:srgbClr val="C00000"/>
                </a:solidFill>
              </a:rPr>
              <a:t>”</a:t>
            </a:r>
            <a:r>
              <a:rPr lang="zh-CN" altLang="en-US" sz="2100" b="1"/>
              <a:t>，实现</a:t>
            </a:r>
            <a:r>
              <a:rPr lang="en-US" altLang="zh-CN" sz="2100" b="1"/>
              <a:t>Simpack</a:t>
            </a:r>
            <a:r>
              <a:rPr lang="zh-CN" altLang="en-US" sz="2100" b="1"/>
              <a:t>与</a:t>
            </a:r>
            <a:r>
              <a:rPr lang="en-US" altLang="zh-CN" sz="2100" b="1"/>
              <a:t>OpenSees</a:t>
            </a:r>
            <a:r>
              <a:rPr lang="zh-CN" altLang="en-US" sz="2100" b="1"/>
              <a:t>之间的响应数据实时交互；</a:t>
            </a:r>
            <a:endParaRPr lang="zh-CN" altLang="en-US" sz="2100" b="1"/>
          </a:p>
        </p:txBody>
      </p:sp>
      <p:sp>
        <p:nvSpPr>
          <p:cNvPr id="20" name="文本框 19"/>
          <p:cNvSpPr txBox="1"/>
          <p:nvPr/>
        </p:nvSpPr>
        <p:spPr>
          <a:xfrm>
            <a:off x="1131570" y="4598035"/>
            <a:ext cx="6036310" cy="995045"/>
          </a:xfrm>
          <a:prstGeom prst="rect">
            <a:avLst/>
          </a:prstGeom>
          <a:noFill/>
        </p:spPr>
        <p:txBody>
          <a:bodyPr wrap="square" rtlCol="0">
            <a:spAutoFit/>
          </a:bodyPr>
          <a:p>
            <a:pPr>
              <a:lnSpc>
                <a:spcPct val="140000"/>
              </a:lnSpc>
              <a:spcBef>
                <a:spcPts val="0"/>
              </a:spcBef>
              <a:spcAft>
                <a:spcPts val="0"/>
              </a:spcAft>
            </a:pPr>
            <a:r>
              <a:rPr lang="zh-CN" altLang="en-US" sz="2100" b="1">
                <a:solidFill>
                  <a:srgbClr val="023A8B"/>
                </a:solidFill>
              </a:rPr>
              <a:t>塔架子系统</a:t>
            </a:r>
            <a:r>
              <a:rPr lang="zh-CN" altLang="en-US" sz="2100" b="1"/>
              <a:t>基于</a:t>
            </a:r>
            <a:r>
              <a:rPr lang="zh-CN" altLang="en-US" sz="2100" b="1">
                <a:solidFill>
                  <a:srgbClr val="C00000"/>
                </a:solidFill>
              </a:rPr>
              <a:t>非线性纤维梁单元进行建模</a:t>
            </a:r>
            <a:r>
              <a:rPr lang="zh-CN" altLang="en-US" sz="2100" b="1"/>
              <a:t>（综合考虑材料非线性、几何非线性等因素）；</a:t>
            </a:r>
            <a:endParaRPr lang="zh-CN" altLang="en-US" sz="2100" b="1"/>
          </a:p>
        </p:txBody>
      </p:sp>
      <p:sp>
        <p:nvSpPr>
          <p:cNvPr id="21" name="矩形 20"/>
          <p:cNvSpPr/>
          <p:nvPr/>
        </p:nvSpPr>
        <p:spPr>
          <a:xfrm>
            <a:off x="7627620" y="1158240"/>
            <a:ext cx="3940175" cy="2214245"/>
          </a:xfrm>
          <a:prstGeom prst="rect">
            <a:avLst/>
          </a:prstGeom>
          <a:ln w="1905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矩形 21"/>
          <p:cNvSpPr/>
          <p:nvPr/>
        </p:nvSpPr>
        <p:spPr>
          <a:xfrm>
            <a:off x="9154795" y="1232535"/>
            <a:ext cx="1029970" cy="514350"/>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nvSpPr>
        <p:spPr>
          <a:xfrm>
            <a:off x="9306560" y="1367790"/>
            <a:ext cx="726440" cy="245110"/>
          </a:xfrm>
          <a:prstGeom prst="rect">
            <a:avLst/>
          </a:prstGeom>
          <a:noFill/>
        </p:spPr>
        <p:txBody>
          <a:bodyPr wrap="square" rtlCol="0">
            <a:spAutoFit/>
          </a:bodyPr>
          <a:p>
            <a:r>
              <a:rPr lang="zh-CN" altLang="en-US" sz="1000"/>
              <a:t>湍流风场</a:t>
            </a:r>
            <a:endParaRPr lang="zh-CN" altLang="en-US" sz="1000"/>
          </a:p>
        </p:txBody>
      </p:sp>
      <p:sp>
        <p:nvSpPr>
          <p:cNvPr id="26" name="矩形 25"/>
          <p:cNvSpPr/>
          <p:nvPr/>
        </p:nvSpPr>
        <p:spPr>
          <a:xfrm>
            <a:off x="7757160" y="1934845"/>
            <a:ext cx="1082040" cy="541020"/>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4" name="文本框 23"/>
          <p:cNvSpPr txBox="1"/>
          <p:nvPr/>
        </p:nvSpPr>
        <p:spPr>
          <a:xfrm>
            <a:off x="7757160" y="2082800"/>
            <a:ext cx="1156970" cy="245110"/>
          </a:xfrm>
          <a:prstGeom prst="rect">
            <a:avLst/>
          </a:prstGeom>
          <a:noFill/>
        </p:spPr>
        <p:txBody>
          <a:bodyPr wrap="square" rtlCol="0">
            <a:spAutoFit/>
          </a:bodyPr>
          <a:p>
            <a:r>
              <a:rPr lang="zh-CN" altLang="en-US" sz="1000"/>
              <a:t>多体动力学模型</a:t>
            </a:r>
            <a:endParaRPr lang="zh-CN" altLang="en-US" sz="1000"/>
          </a:p>
        </p:txBody>
      </p:sp>
      <p:sp>
        <p:nvSpPr>
          <p:cNvPr id="27" name="矩形 26"/>
          <p:cNvSpPr/>
          <p:nvPr/>
        </p:nvSpPr>
        <p:spPr>
          <a:xfrm>
            <a:off x="9154795" y="1976120"/>
            <a:ext cx="1029970" cy="514350"/>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文本框 24"/>
          <p:cNvSpPr txBox="1"/>
          <p:nvPr/>
        </p:nvSpPr>
        <p:spPr>
          <a:xfrm>
            <a:off x="9154795" y="2082800"/>
            <a:ext cx="1172210" cy="245110"/>
          </a:xfrm>
          <a:prstGeom prst="rect">
            <a:avLst/>
          </a:prstGeom>
          <a:noFill/>
        </p:spPr>
        <p:txBody>
          <a:bodyPr wrap="square" rtlCol="0">
            <a:spAutoFit/>
          </a:bodyPr>
          <a:p>
            <a:r>
              <a:rPr lang="zh-CN" altLang="en-US" sz="1000"/>
              <a:t>时间积分求解器</a:t>
            </a:r>
            <a:endParaRPr lang="zh-CN" altLang="en-US" sz="1000"/>
          </a:p>
        </p:txBody>
      </p:sp>
      <p:sp>
        <p:nvSpPr>
          <p:cNvPr id="29" name="矩形 28"/>
          <p:cNvSpPr/>
          <p:nvPr/>
        </p:nvSpPr>
        <p:spPr>
          <a:xfrm>
            <a:off x="7757160" y="2799715"/>
            <a:ext cx="1082040" cy="514350"/>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文本框 27"/>
          <p:cNvSpPr txBox="1"/>
          <p:nvPr/>
        </p:nvSpPr>
        <p:spPr>
          <a:xfrm>
            <a:off x="7768590" y="2760980"/>
            <a:ext cx="1070610" cy="553085"/>
          </a:xfrm>
          <a:prstGeom prst="rect">
            <a:avLst/>
          </a:prstGeom>
          <a:noFill/>
        </p:spPr>
        <p:txBody>
          <a:bodyPr wrap="square" rtlCol="0">
            <a:spAutoFit/>
          </a:bodyPr>
          <a:p>
            <a:pPr algn="ctr"/>
            <a:r>
              <a:rPr lang="zh-CN" altLang="en-US" sz="1000"/>
              <a:t>叶轮、机舱结构、材料、伺服控制参数</a:t>
            </a:r>
            <a:endParaRPr lang="zh-CN" altLang="en-US" sz="1000"/>
          </a:p>
        </p:txBody>
      </p:sp>
      <p:sp>
        <p:nvSpPr>
          <p:cNvPr id="30" name="矩形 29"/>
          <p:cNvSpPr/>
          <p:nvPr/>
        </p:nvSpPr>
        <p:spPr>
          <a:xfrm>
            <a:off x="9138920" y="2797810"/>
            <a:ext cx="1045845" cy="514350"/>
          </a:xfrm>
          <a:prstGeom prst="rect">
            <a:avLst/>
          </a:prstGeom>
          <a:solidFill>
            <a:srgbClr val="DDEBF8"/>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文本框 30"/>
          <p:cNvSpPr txBox="1"/>
          <p:nvPr/>
        </p:nvSpPr>
        <p:spPr>
          <a:xfrm>
            <a:off x="9256395" y="2934335"/>
            <a:ext cx="827405" cy="245110"/>
          </a:xfrm>
          <a:prstGeom prst="rect">
            <a:avLst/>
          </a:prstGeom>
          <a:noFill/>
        </p:spPr>
        <p:txBody>
          <a:bodyPr wrap="square" rtlCol="0">
            <a:spAutoFit/>
          </a:bodyPr>
          <a:p>
            <a:r>
              <a:rPr lang="zh-CN" altLang="en-US" sz="1000"/>
              <a:t>客户端端口</a:t>
            </a:r>
            <a:endParaRPr lang="zh-CN" altLang="en-US" sz="1000"/>
          </a:p>
        </p:txBody>
      </p:sp>
      <p:sp>
        <p:nvSpPr>
          <p:cNvPr id="32" name="矩形 31"/>
          <p:cNvSpPr/>
          <p:nvPr/>
        </p:nvSpPr>
        <p:spPr>
          <a:xfrm>
            <a:off x="10307955" y="2666365"/>
            <a:ext cx="1202055" cy="643890"/>
          </a:xfrm>
          <a:prstGeom prst="rect">
            <a:avLst/>
          </a:prstGeom>
          <a:ln w="1905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矩形 32"/>
          <p:cNvSpPr/>
          <p:nvPr/>
        </p:nvSpPr>
        <p:spPr>
          <a:xfrm>
            <a:off x="10298430" y="3557905"/>
            <a:ext cx="1200150" cy="577850"/>
          </a:xfrm>
          <a:prstGeom prst="rect">
            <a:avLst/>
          </a:prstGeom>
          <a:ln>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34" name="直接箭头连接符 33"/>
          <p:cNvCxnSpPr>
            <a:stCxn id="22" idx="2"/>
            <a:endCxn id="27" idx="0"/>
          </p:cNvCxnSpPr>
          <p:nvPr/>
        </p:nvCxnSpPr>
        <p:spPr>
          <a:xfrm>
            <a:off x="9669780" y="1746885"/>
            <a:ext cx="0" cy="22923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nvCxnSpPr>
        <p:spPr>
          <a:xfrm>
            <a:off x="9747250" y="2480945"/>
            <a:ext cx="6350" cy="32131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flipV="1">
            <a:off x="9607550" y="2498090"/>
            <a:ext cx="6350" cy="29273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flipV="1">
            <a:off x="8298180" y="2482850"/>
            <a:ext cx="0" cy="31051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9" name="直接箭头连接符 38"/>
          <p:cNvCxnSpPr/>
          <p:nvPr/>
        </p:nvCxnSpPr>
        <p:spPr>
          <a:xfrm rot="5400000" flipV="1">
            <a:off x="8996680" y="2077720"/>
            <a:ext cx="0" cy="31051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0" name="矩形 39"/>
          <p:cNvSpPr/>
          <p:nvPr/>
        </p:nvSpPr>
        <p:spPr>
          <a:xfrm>
            <a:off x="10412095" y="2331085"/>
            <a:ext cx="939800" cy="205740"/>
          </a:xfrm>
          <a:prstGeom prst="rect">
            <a:avLst/>
          </a:prstGeom>
          <a:ln>
            <a:solidFill>
              <a:schemeClr val="bg2">
                <a:lumMod val="5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2" name="上下箭头 41"/>
          <p:cNvSpPr/>
          <p:nvPr/>
        </p:nvSpPr>
        <p:spPr>
          <a:xfrm>
            <a:off x="9585325" y="3315335"/>
            <a:ext cx="152400" cy="264795"/>
          </a:xfrm>
          <a:prstGeom prst="upDownArrow">
            <a:avLst/>
          </a:prstGeom>
          <a:solidFill>
            <a:srgbClr val="669A49"/>
          </a:solidFill>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3" name="上下箭头 42"/>
          <p:cNvSpPr/>
          <p:nvPr/>
        </p:nvSpPr>
        <p:spPr>
          <a:xfrm>
            <a:off x="8197850" y="4086860"/>
            <a:ext cx="152400" cy="264795"/>
          </a:xfrm>
          <a:prstGeom prst="upDownArrow">
            <a:avLst/>
          </a:prstGeom>
          <a:solidFill>
            <a:srgbClr val="669A49"/>
          </a:solidFill>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5" name="矩形 44"/>
          <p:cNvSpPr/>
          <p:nvPr/>
        </p:nvSpPr>
        <p:spPr>
          <a:xfrm>
            <a:off x="7614920" y="3439795"/>
            <a:ext cx="3952240" cy="755015"/>
          </a:xfrm>
          <a:prstGeom prst="rect">
            <a:avLst/>
          </a:prstGeom>
          <a:ln w="1905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6" name="矩形 45"/>
          <p:cNvSpPr/>
          <p:nvPr/>
        </p:nvSpPr>
        <p:spPr>
          <a:xfrm>
            <a:off x="7614920" y="4240530"/>
            <a:ext cx="3952240" cy="2235200"/>
          </a:xfrm>
          <a:prstGeom prst="rect">
            <a:avLst/>
          </a:prstGeom>
          <a:ln w="19050">
            <a:solidFill>
              <a:schemeClr val="bg2">
                <a:lumMod val="75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7" name="文本框 46"/>
          <p:cNvSpPr txBox="1"/>
          <p:nvPr/>
        </p:nvSpPr>
        <p:spPr>
          <a:xfrm>
            <a:off x="9737725" y="3310255"/>
            <a:ext cx="869315" cy="245110"/>
          </a:xfrm>
          <a:prstGeom prst="rect">
            <a:avLst/>
          </a:prstGeom>
          <a:noFill/>
        </p:spPr>
        <p:txBody>
          <a:bodyPr wrap="square" rtlCol="0">
            <a:spAutoFit/>
          </a:bodyPr>
          <a:p>
            <a:r>
              <a:rPr lang="en-US" altLang="zh-CN" sz="1000"/>
              <a:t>TCP/IP</a:t>
            </a:r>
            <a:r>
              <a:rPr lang="zh-CN" altLang="en-US" sz="1000"/>
              <a:t>通讯</a:t>
            </a:r>
            <a:endParaRPr lang="zh-CN" altLang="en-US" sz="1000"/>
          </a:p>
        </p:txBody>
      </p:sp>
      <p:sp>
        <p:nvSpPr>
          <p:cNvPr id="49" name="矩形 48"/>
          <p:cNvSpPr/>
          <p:nvPr/>
        </p:nvSpPr>
        <p:spPr>
          <a:xfrm>
            <a:off x="7757160" y="3580130"/>
            <a:ext cx="1061720" cy="497840"/>
          </a:xfrm>
          <a:prstGeom prst="rect">
            <a:avLst/>
          </a:prstGeom>
          <a:solidFill>
            <a:srgbClr val="FFF3C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0" name="文本框 49"/>
          <p:cNvSpPr txBox="1"/>
          <p:nvPr/>
        </p:nvSpPr>
        <p:spPr>
          <a:xfrm>
            <a:off x="7768590" y="3629660"/>
            <a:ext cx="1091565" cy="398780"/>
          </a:xfrm>
          <a:prstGeom prst="rect">
            <a:avLst/>
          </a:prstGeom>
          <a:noFill/>
        </p:spPr>
        <p:txBody>
          <a:bodyPr wrap="square" rtlCol="0">
            <a:spAutoFit/>
          </a:bodyPr>
          <a:p>
            <a:r>
              <a:rPr lang="en-US" altLang="zh-CN" sz="1000"/>
              <a:t>OpenSees</a:t>
            </a:r>
            <a:r>
              <a:rPr lang="zh-CN" altLang="en-US" sz="1000"/>
              <a:t>联合仿真接口程序</a:t>
            </a:r>
            <a:endParaRPr lang="zh-CN" altLang="en-US" sz="1000"/>
          </a:p>
        </p:txBody>
      </p:sp>
      <p:sp>
        <p:nvSpPr>
          <p:cNvPr id="51" name="矩形 50"/>
          <p:cNvSpPr/>
          <p:nvPr/>
        </p:nvSpPr>
        <p:spPr>
          <a:xfrm>
            <a:off x="9123045" y="3580130"/>
            <a:ext cx="1061720" cy="497840"/>
          </a:xfrm>
          <a:prstGeom prst="rect">
            <a:avLst/>
          </a:prstGeom>
          <a:solidFill>
            <a:srgbClr val="FFF3CC"/>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2" name="文本框 51"/>
          <p:cNvSpPr txBox="1"/>
          <p:nvPr/>
        </p:nvSpPr>
        <p:spPr>
          <a:xfrm>
            <a:off x="9138920" y="3629660"/>
            <a:ext cx="1123315" cy="398780"/>
          </a:xfrm>
          <a:prstGeom prst="rect">
            <a:avLst/>
          </a:prstGeom>
          <a:noFill/>
        </p:spPr>
        <p:txBody>
          <a:bodyPr wrap="square" rtlCol="0">
            <a:spAutoFit/>
          </a:bodyPr>
          <a:p>
            <a:pPr algn="ctr"/>
            <a:r>
              <a:rPr lang="en-US" altLang="zh-CN" sz="1000"/>
              <a:t>Simpack</a:t>
            </a:r>
            <a:r>
              <a:rPr lang="zh-CN" altLang="en-US" sz="1000"/>
              <a:t>联合仿真接口程序</a:t>
            </a:r>
            <a:endParaRPr lang="zh-CN" altLang="en-US" sz="1000"/>
          </a:p>
        </p:txBody>
      </p:sp>
      <p:cxnSp>
        <p:nvCxnSpPr>
          <p:cNvPr id="53" name="直接箭头连接符 52"/>
          <p:cNvCxnSpPr/>
          <p:nvPr/>
        </p:nvCxnSpPr>
        <p:spPr>
          <a:xfrm>
            <a:off x="8813800" y="3775710"/>
            <a:ext cx="309245" cy="127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直接箭头连接符 53"/>
          <p:cNvCxnSpPr/>
          <p:nvPr/>
        </p:nvCxnSpPr>
        <p:spPr>
          <a:xfrm flipH="1" flipV="1">
            <a:off x="8797925" y="3883025"/>
            <a:ext cx="325120" cy="5080"/>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5" name="直接连接符 54"/>
          <p:cNvCxnSpPr/>
          <p:nvPr/>
        </p:nvCxnSpPr>
        <p:spPr>
          <a:xfrm flipV="1">
            <a:off x="6746875" y="2593340"/>
            <a:ext cx="746125" cy="257175"/>
          </a:xfrm>
          <a:prstGeom prst="line">
            <a:avLst/>
          </a:prstGeom>
          <a:ln w="57150">
            <a:solidFill>
              <a:srgbClr val="023A8B"/>
            </a:solidFill>
            <a:prstDash val="sysDash"/>
          </a:ln>
        </p:spPr>
        <p:style>
          <a:lnRef idx="2">
            <a:schemeClr val="accent1"/>
          </a:lnRef>
          <a:fillRef idx="0">
            <a:srgbClr val="FFFFFF"/>
          </a:fillRef>
          <a:effectRef idx="0">
            <a:srgbClr val="FFFFFF"/>
          </a:effectRef>
          <a:fontRef idx="minor">
            <a:schemeClr val="tx1"/>
          </a:fontRef>
        </p:style>
      </p:cxnSp>
      <p:cxnSp>
        <p:nvCxnSpPr>
          <p:cNvPr id="56" name="直接连接符 55"/>
          <p:cNvCxnSpPr/>
          <p:nvPr/>
        </p:nvCxnSpPr>
        <p:spPr>
          <a:xfrm flipV="1">
            <a:off x="6784975" y="3834130"/>
            <a:ext cx="688975" cy="19685"/>
          </a:xfrm>
          <a:prstGeom prst="line">
            <a:avLst/>
          </a:prstGeom>
          <a:ln w="57150">
            <a:solidFill>
              <a:srgbClr val="023A8B"/>
            </a:solidFill>
            <a:prstDash val="sysDash"/>
          </a:ln>
        </p:spPr>
        <p:style>
          <a:lnRef idx="2">
            <a:schemeClr val="accent1"/>
          </a:lnRef>
          <a:fillRef idx="0">
            <a:srgbClr val="FFFFFF"/>
          </a:fillRef>
          <a:effectRef idx="0">
            <a:srgbClr val="FFFFFF"/>
          </a:effectRef>
          <a:fontRef idx="minor">
            <a:schemeClr val="tx1"/>
          </a:fontRef>
        </p:style>
      </p:cxnSp>
      <p:cxnSp>
        <p:nvCxnSpPr>
          <p:cNvPr id="57" name="直接连接符 56"/>
          <p:cNvCxnSpPr/>
          <p:nvPr/>
        </p:nvCxnSpPr>
        <p:spPr>
          <a:xfrm>
            <a:off x="6865620" y="4992370"/>
            <a:ext cx="587375" cy="134620"/>
          </a:xfrm>
          <a:prstGeom prst="line">
            <a:avLst/>
          </a:prstGeom>
          <a:ln w="57150">
            <a:solidFill>
              <a:srgbClr val="023A8B"/>
            </a:solidFill>
            <a:prstDash val="sysDash"/>
          </a:ln>
        </p:spPr>
        <p:style>
          <a:lnRef idx="2">
            <a:schemeClr val="accent1"/>
          </a:lnRef>
          <a:fillRef idx="0">
            <a:srgbClr val="FFFFFF"/>
          </a:fillRef>
          <a:effectRef idx="0">
            <a:srgbClr val="FFFFFF"/>
          </a:effectRef>
          <a:fontRef idx="minor">
            <a:schemeClr val="tx1"/>
          </a:fontRef>
        </p:style>
      </p:cxnSp>
      <p:sp>
        <p:nvSpPr>
          <p:cNvPr id="58" name="椭圆 57"/>
          <p:cNvSpPr/>
          <p:nvPr/>
        </p:nvSpPr>
        <p:spPr>
          <a:xfrm>
            <a:off x="7512685" y="2451735"/>
            <a:ext cx="209550" cy="199390"/>
          </a:xfrm>
          <a:prstGeom prst="ellipse">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椭圆 58"/>
          <p:cNvSpPr/>
          <p:nvPr/>
        </p:nvSpPr>
        <p:spPr>
          <a:xfrm>
            <a:off x="7512685" y="3717290"/>
            <a:ext cx="209550" cy="199390"/>
          </a:xfrm>
          <a:prstGeom prst="ellipse">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椭圆 59"/>
          <p:cNvSpPr/>
          <p:nvPr/>
        </p:nvSpPr>
        <p:spPr>
          <a:xfrm>
            <a:off x="7512685" y="5048885"/>
            <a:ext cx="209550" cy="199390"/>
          </a:xfrm>
          <a:prstGeom prst="ellipse">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矩形 60"/>
          <p:cNvSpPr/>
          <p:nvPr/>
        </p:nvSpPr>
        <p:spPr>
          <a:xfrm>
            <a:off x="7768590" y="4351655"/>
            <a:ext cx="1061720" cy="497840"/>
          </a:xfrm>
          <a:prstGeom prst="rect">
            <a:avLst/>
          </a:prstGeom>
          <a:solidFill>
            <a:srgbClr val="E5EFD7"/>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8" name="文本框 47"/>
          <p:cNvSpPr txBox="1"/>
          <p:nvPr/>
        </p:nvSpPr>
        <p:spPr>
          <a:xfrm>
            <a:off x="8298180" y="4086860"/>
            <a:ext cx="869315" cy="245110"/>
          </a:xfrm>
          <a:prstGeom prst="rect">
            <a:avLst/>
          </a:prstGeom>
          <a:noFill/>
        </p:spPr>
        <p:txBody>
          <a:bodyPr wrap="square" rtlCol="0">
            <a:spAutoFit/>
          </a:bodyPr>
          <a:p>
            <a:r>
              <a:rPr lang="en-US" altLang="zh-CN" sz="1000"/>
              <a:t>TCP/IP</a:t>
            </a:r>
            <a:r>
              <a:rPr lang="zh-CN" altLang="en-US" sz="1000"/>
              <a:t>通讯</a:t>
            </a:r>
            <a:endParaRPr lang="zh-CN" altLang="en-US" sz="1000"/>
          </a:p>
        </p:txBody>
      </p:sp>
      <p:sp>
        <p:nvSpPr>
          <p:cNvPr id="62" name="文本框 61"/>
          <p:cNvSpPr txBox="1"/>
          <p:nvPr/>
        </p:nvSpPr>
        <p:spPr>
          <a:xfrm>
            <a:off x="7884160" y="4478020"/>
            <a:ext cx="827405" cy="245110"/>
          </a:xfrm>
          <a:prstGeom prst="rect">
            <a:avLst/>
          </a:prstGeom>
          <a:noFill/>
        </p:spPr>
        <p:txBody>
          <a:bodyPr wrap="square" rtlCol="0">
            <a:spAutoFit/>
          </a:bodyPr>
          <a:p>
            <a:r>
              <a:rPr lang="zh-CN" altLang="en-US" sz="1000"/>
              <a:t>客户端端口</a:t>
            </a:r>
            <a:endParaRPr lang="zh-CN" altLang="en-US" sz="1000"/>
          </a:p>
        </p:txBody>
      </p:sp>
      <p:sp>
        <p:nvSpPr>
          <p:cNvPr id="64" name="矩形 63"/>
          <p:cNvSpPr/>
          <p:nvPr/>
        </p:nvSpPr>
        <p:spPr>
          <a:xfrm>
            <a:off x="9138920" y="4351655"/>
            <a:ext cx="1061720" cy="497840"/>
          </a:xfrm>
          <a:prstGeom prst="rect">
            <a:avLst/>
          </a:prstGeom>
          <a:solidFill>
            <a:srgbClr val="E5EFD7"/>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3" name="文本框 62"/>
          <p:cNvSpPr txBox="1"/>
          <p:nvPr/>
        </p:nvSpPr>
        <p:spPr>
          <a:xfrm>
            <a:off x="9102725" y="4385945"/>
            <a:ext cx="1159510" cy="398780"/>
          </a:xfrm>
          <a:prstGeom prst="rect">
            <a:avLst/>
          </a:prstGeom>
          <a:noFill/>
        </p:spPr>
        <p:txBody>
          <a:bodyPr wrap="square" rtlCol="0">
            <a:spAutoFit/>
          </a:bodyPr>
          <a:p>
            <a:pPr algn="ctr"/>
            <a:r>
              <a:rPr lang="zh-CN" altLang="en-US" sz="1000"/>
              <a:t>塔架结构、材料参数</a:t>
            </a:r>
            <a:endParaRPr lang="zh-CN" altLang="en-US" sz="1000"/>
          </a:p>
        </p:txBody>
      </p:sp>
      <p:sp>
        <p:nvSpPr>
          <p:cNvPr id="44" name="文本框 43"/>
          <p:cNvSpPr txBox="1"/>
          <p:nvPr/>
        </p:nvSpPr>
        <p:spPr>
          <a:xfrm>
            <a:off x="9138920" y="2521585"/>
            <a:ext cx="1216025" cy="245110"/>
          </a:xfrm>
          <a:prstGeom prst="rect">
            <a:avLst/>
          </a:prstGeom>
          <a:noFill/>
        </p:spPr>
        <p:txBody>
          <a:bodyPr wrap="square" rtlCol="0">
            <a:spAutoFit/>
          </a:bodyPr>
          <a:p>
            <a:r>
              <a:rPr lang="zh-CN" altLang="en-US" sz="1000"/>
              <a:t>分析步动态响应</a:t>
            </a:r>
            <a:endParaRPr lang="zh-CN" altLang="en-US" sz="1000"/>
          </a:p>
        </p:txBody>
      </p:sp>
      <p:sp>
        <p:nvSpPr>
          <p:cNvPr id="66" name="矩形 65"/>
          <p:cNvSpPr/>
          <p:nvPr/>
        </p:nvSpPr>
        <p:spPr>
          <a:xfrm>
            <a:off x="7757160" y="5194300"/>
            <a:ext cx="1061720" cy="497840"/>
          </a:xfrm>
          <a:prstGeom prst="rect">
            <a:avLst/>
          </a:prstGeom>
          <a:solidFill>
            <a:srgbClr val="E5EFD7"/>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7" name="文本框 66"/>
          <p:cNvSpPr txBox="1"/>
          <p:nvPr/>
        </p:nvSpPr>
        <p:spPr>
          <a:xfrm>
            <a:off x="7821295" y="5248275"/>
            <a:ext cx="976630" cy="398780"/>
          </a:xfrm>
          <a:prstGeom prst="rect">
            <a:avLst/>
          </a:prstGeom>
          <a:noFill/>
        </p:spPr>
        <p:txBody>
          <a:bodyPr wrap="square" rtlCol="0">
            <a:spAutoFit/>
          </a:bodyPr>
          <a:p>
            <a:pPr algn="ctr"/>
            <a:r>
              <a:rPr lang="zh-CN" altLang="en-US" sz="1000"/>
              <a:t>非线性有限元</a:t>
            </a:r>
            <a:r>
              <a:rPr lang="zh-CN" altLang="en-US" sz="1000"/>
              <a:t>求解器</a:t>
            </a:r>
            <a:endParaRPr lang="zh-CN" altLang="en-US" sz="1000"/>
          </a:p>
        </p:txBody>
      </p:sp>
      <p:sp>
        <p:nvSpPr>
          <p:cNvPr id="68" name="矩形 67"/>
          <p:cNvSpPr/>
          <p:nvPr/>
        </p:nvSpPr>
        <p:spPr>
          <a:xfrm>
            <a:off x="9138920" y="5194300"/>
            <a:ext cx="1061720" cy="497840"/>
          </a:xfrm>
          <a:prstGeom prst="rect">
            <a:avLst/>
          </a:prstGeom>
          <a:solidFill>
            <a:srgbClr val="E5EFD7"/>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9" name="文本框 68"/>
          <p:cNvSpPr txBox="1"/>
          <p:nvPr/>
        </p:nvSpPr>
        <p:spPr>
          <a:xfrm>
            <a:off x="9123045" y="5248275"/>
            <a:ext cx="1085215" cy="398780"/>
          </a:xfrm>
          <a:prstGeom prst="rect">
            <a:avLst/>
          </a:prstGeom>
          <a:noFill/>
        </p:spPr>
        <p:txBody>
          <a:bodyPr wrap="square" rtlCol="0">
            <a:spAutoFit/>
          </a:bodyPr>
          <a:p>
            <a:pPr algn="ctr"/>
            <a:r>
              <a:rPr lang="zh-CN" altLang="en-US" sz="1000"/>
              <a:t>非线性纤维梁单元</a:t>
            </a:r>
            <a:r>
              <a:rPr lang="zh-CN" altLang="en-US" sz="1000"/>
              <a:t>模型</a:t>
            </a:r>
            <a:endParaRPr lang="zh-CN" altLang="en-US" sz="1000"/>
          </a:p>
        </p:txBody>
      </p:sp>
      <p:sp>
        <p:nvSpPr>
          <p:cNvPr id="70" name="矩形 69"/>
          <p:cNvSpPr/>
          <p:nvPr/>
        </p:nvSpPr>
        <p:spPr>
          <a:xfrm>
            <a:off x="7757160" y="5986145"/>
            <a:ext cx="1061720" cy="387985"/>
          </a:xfrm>
          <a:prstGeom prst="rect">
            <a:avLst/>
          </a:prstGeom>
          <a:solidFill>
            <a:srgbClr val="E5EFD7"/>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1" name="文本框 70"/>
          <p:cNvSpPr txBox="1"/>
          <p:nvPr/>
        </p:nvSpPr>
        <p:spPr>
          <a:xfrm>
            <a:off x="7946390" y="6057900"/>
            <a:ext cx="726440" cy="245110"/>
          </a:xfrm>
          <a:prstGeom prst="rect">
            <a:avLst/>
          </a:prstGeom>
          <a:noFill/>
        </p:spPr>
        <p:txBody>
          <a:bodyPr wrap="square" rtlCol="0">
            <a:spAutoFit/>
          </a:bodyPr>
          <a:p>
            <a:r>
              <a:rPr lang="zh-CN" altLang="en-US" sz="1000"/>
              <a:t>湍流风场</a:t>
            </a:r>
            <a:endParaRPr lang="zh-CN" altLang="en-US" sz="1000"/>
          </a:p>
        </p:txBody>
      </p:sp>
      <p:cxnSp>
        <p:nvCxnSpPr>
          <p:cNvPr id="72" name="直接箭头连接符 71"/>
          <p:cNvCxnSpPr/>
          <p:nvPr/>
        </p:nvCxnSpPr>
        <p:spPr>
          <a:xfrm flipV="1">
            <a:off x="8298180" y="5675630"/>
            <a:ext cx="0" cy="31051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3" name="直接箭头连接符 72"/>
          <p:cNvCxnSpPr/>
          <p:nvPr/>
        </p:nvCxnSpPr>
        <p:spPr>
          <a:xfrm flipV="1">
            <a:off x="8197850" y="4822190"/>
            <a:ext cx="1905" cy="37020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4" name="直接箭头连接符 73"/>
          <p:cNvCxnSpPr/>
          <p:nvPr/>
        </p:nvCxnSpPr>
        <p:spPr>
          <a:xfrm rot="10800000" flipV="1">
            <a:off x="8375650" y="4849495"/>
            <a:ext cx="1905" cy="37020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5" name="文本框 64"/>
          <p:cNvSpPr txBox="1"/>
          <p:nvPr/>
        </p:nvSpPr>
        <p:spPr>
          <a:xfrm>
            <a:off x="7768590" y="4881880"/>
            <a:ext cx="1216025" cy="245110"/>
          </a:xfrm>
          <a:prstGeom prst="rect">
            <a:avLst/>
          </a:prstGeom>
          <a:noFill/>
        </p:spPr>
        <p:txBody>
          <a:bodyPr wrap="square" rtlCol="0">
            <a:spAutoFit/>
          </a:bodyPr>
          <a:p>
            <a:r>
              <a:rPr lang="zh-CN" altLang="en-US" sz="1000"/>
              <a:t>分析步动态响应</a:t>
            </a:r>
            <a:endParaRPr lang="zh-CN" altLang="en-US" sz="1000"/>
          </a:p>
        </p:txBody>
      </p:sp>
      <p:cxnSp>
        <p:nvCxnSpPr>
          <p:cNvPr id="75" name="直接箭头连接符 74"/>
          <p:cNvCxnSpPr/>
          <p:nvPr/>
        </p:nvCxnSpPr>
        <p:spPr>
          <a:xfrm rot="10800000" flipV="1">
            <a:off x="9669780" y="4849495"/>
            <a:ext cx="1905" cy="37020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6" name="直接箭头连接符 75"/>
          <p:cNvCxnSpPr/>
          <p:nvPr/>
        </p:nvCxnSpPr>
        <p:spPr>
          <a:xfrm flipH="1" flipV="1">
            <a:off x="8822055" y="5435600"/>
            <a:ext cx="332740" cy="8255"/>
          </a:xfrm>
          <a:prstGeom prst="straightConnector1">
            <a:avLst/>
          </a:prstGeom>
          <a:ln>
            <a:solidFill>
              <a:schemeClr val="tx1"/>
            </a:solidFill>
            <a:headEnd type="none"/>
            <a:tailEnd type="triangle" w="med" len="med"/>
          </a:ln>
        </p:spPr>
        <p:style>
          <a:lnRef idx="2">
            <a:schemeClr val="accent1"/>
          </a:lnRef>
          <a:fillRef idx="0">
            <a:srgbClr val="FFFFFF"/>
          </a:fillRef>
          <a:effectRef idx="0">
            <a:srgbClr val="FFFFFF"/>
          </a:effectRef>
          <a:fontRef idx="minor">
            <a:schemeClr val="tx1"/>
          </a:fontRef>
        </p:style>
      </p:cxnSp>
      <p:pic>
        <p:nvPicPr>
          <p:cNvPr id="2" name="图片 1" descr="24.1"/>
          <p:cNvPicPr>
            <a:picLocks noChangeAspect="1"/>
          </p:cNvPicPr>
          <p:nvPr/>
        </p:nvPicPr>
        <p:blipFill>
          <a:blip r:embed="rId3"/>
          <a:stretch>
            <a:fillRect/>
          </a:stretch>
        </p:blipFill>
        <p:spPr>
          <a:xfrm>
            <a:off x="8465185" y="1170305"/>
            <a:ext cx="535940" cy="764540"/>
          </a:xfrm>
          <a:prstGeom prst="rect">
            <a:avLst/>
          </a:prstGeom>
        </p:spPr>
      </p:pic>
      <p:pic>
        <p:nvPicPr>
          <p:cNvPr id="3" name="图片 2" descr="24.1"/>
          <p:cNvPicPr>
            <a:picLocks noChangeAspect="1"/>
          </p:cNvPicPr>
          <p:nvPr/>
        </p:nvPicPr>
        <p:blipFill>
          <a:blip r:embed="rId3"/>
          <a:stretch>
            <a:fillRect/>
          </a:stretch>
        </p:blipFill>
        <p:spPr>
          <a:xfrm>
            <a:off x="8984615" y="5692140"/>
            <a:ext cx="535940" cy="764540"/>
          </a:xfrm>
          <a:prstGeom prst="rect">
            <a:avLst/>
          </a:prstGeom>
        </p:spPr>
      </p:pic>
      <p:pic>
        <p:nvPicPr>
          <p:cNvPr id="12" name="图片 11" descr="22.2"/>
          <p:cNvPicPr>
            <a:picLocks noChangeAspect="1"/>
          </p:cNvPicPr>
          <p:nvPr/>
        </p:nvPicPr>
        <p:blipFill>
          <a:blip r:embed="rId4"/>
          <a:stretch>
            <a:fillRect/>
          </a:stretch>
        </p:blipFill>
        <p:spPr>
          <a:xfrm>
            <a:off x="10469245" y="3580130"/>
            <a:ext cx="299720" cy="267970"/>
          </a:xfrm>
          <a:prstGeom prst="rect">
            <a:avLst/>
          </a:prstGeom>
        </p:spPr>
      </p:pic>
      <p:sp>
        <p:nvSpPr>
          <p:cNvPr id="37" name="文本框 36"/>
          <p:cNvSpPr txBox="1"/>
          <p:nvPr/>
        </p:nvSpPr>
        <p:spPr>
          <a:xfrm>
            <a:off x="1022350" y="5824220"/>
            <a:ext cx="6145530" cy="445135"/>
          </a:xfrm>
          <a:prstGeom prst="rect">
            <a:avLst/>
          </a:prstGeom>
          <a:noFill/>
        </p:spPr>
        <p:txBody>
          <a:bodyPr wrap="square" rtlCol="0">
            <a:spAutoFit/>
          </a:bodyPr>
          <a:p>
            <a:r>
              <a:rPr lang="zh-CN" altLang="en-US" sz="1100" b="1"/>
              <a:t>Xu J., He Z.Y., Wang D., et al. Nonlinear dynamic response analyses of onshore wind turbines with</a:t>
            </a:r>
            <a:r>
              <a:rPr lang="en-US" altLang="zh-CN" sz="1100" b="1"/>
              <a:t> </a:t>
            </a:r>
            <a:r>
              <a:rPr lang="zh-CN" altLang="en-US" sz="1100" b="1"/>
              <a:t>steel-concrete hybrid tower using a co-simulation approach[J]. Renewable Energy, 2025, 243:122475</a:t>
            </a:r>
            <a:r>
              <a:rPr lang="en-US" altLang="zh-CN" sz="1200" b="1"/>
              <a:t>.</a:t>
            </a:r>
            <a:endParaRPr lang="en-US" altLang="zh-CN" sz="1200" b="1"/>
          </a:p>
        </p:txBody>
      </p:sp>
      <p:sp>
        <p:nvSpPr>
          <p:cNvPr id="41" name="文本框 40"/>
          <p:cNvSpPr txBox="1"/>
          <p:nvPr/>
        </p:nvSpPr>
        <p:spPr>
          <a:xfrm>
            <a:off x="1022350" y="6206490"/>
            <a:ext cx="5981065" cy="429895"/>
          </a:xfrm>
          <a:prstGeom prst="rect">
            <a:avLst/>
          </a:prstGeom>
          <a:noFill/>
        </p:spPr>
        <p:txBody>
          <a:bodyPr wrap="square" rtlCol="0">
            <a:spAutoFit/>
          </a:bodyPr>
          <a:p>
            <a:r>
              <a:rPr lang="zh-CN" altLang="en-US" sz="1100" b="1"/>
              <a:t>徐军，王丹，何泽瑜，等大型混塔式风电机组非线性动力响应分析.太阳能学报,1-10[2025-0</a:t>
            </a:r>
            <a:r>
              <a:rPr lang="en-US" altLang="zh-CN" sz="1100" b="1"/>
              <a:t>8-</a:t>
            </a:r>
            <a:r>
              <a:rPr lang="zh-CN" altLang="en-US" sz="1100" b="1"/>
              <a:t>14].https://doi.org/10.19912/j.0254-0096.tynxb.2024-1724.</a:t>
            </a:r>
            <a:endParaRPr lang="zh-CN" altLang="en-US" sz="1100" b="1"/>
          </a:p>
        </p:txBody>
      </p:sp>
      <p:sp>
        <p:nvSpPr>
          <p:cNvPr id="77" name="矩形 76"/>
          <p:cNvSpPr/>
          <p:nvPr/>
        </p:nvSpPr>
        <p:spPr>
          <a:xfrm>
            <a:off x="946785" y="5910580"/>
            <a:ext cx="75565" cy="75565"/>
          </a:xfrm>
          <a:prstGeom prst="rect">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8" name="矩形 77"/>
          <p:cNvSpPr/>
          <p:nvPr/>
        </p:nvSpPr>
        <p:spPr>
          <a:xfrm>
            <a:off x="946785" y="6303010"/>
            <a:ext cx="75565" cy="75565"/>
          </a:xfrm>
          <a:prstGeom prst="rect">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79" name="图片 78" descr="30.1"/>
          <p:cNvPicPr>
            <a:picLocks noChangeAspect="1"/>
          </p:cNvPicPr>
          <p:nvPr/>
        </p:nvPicPr>
        <p:blipFill>
          <a:blip r:embed="rId5"/>
          <a:stretch>
            <a:fillRect/>
          </a:stretch>
        </p:blipFill>
        <p:spPr>
          <a:xfrm>
            <a:off x="10262235" y="1207135"/>
            <a:ext cx="1200785" cy="1106805"/>
          </a:xfrm>
          <a:prstGeom prst="rect">
            <a:avLst/>
          </a:prstGeom>
        </p:spPr>
      </p:pic>
      <p:cxnSp>
        <p:nvCxnSpPr>
          <p:cNvPr id="80" name="直接连接符 79"/>
          <p:cNvCxnSpPr/>
          <p:nvPr/>
        </p:nvCxnSpPr>
        <p:spPr>
          <a:xfrm flipH="1">
            <a:off x="10859770" y="1961515"/>
            <a:ext cx="1905" cy="352425"/>
          </a:xfrm>
          <a:prstGeom prst="line">
            <a:avLst/>
          </a:prstGeom>
          <a:ln w="12700"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81" name="文本框 80"/>
          <p:cNvSpPr txBox="1"/>
          <p:nvPr/>
        </p:nvSpPr>
        <p:spPr>
          <a:xfrm>
            <a:off x="10380345" y="2313940"/>
            <a:ext cx="960120" cy="245110"/>
          </a:xfrm>
          <a:prstGeom prst="rect">
            <a:avLst/>
          </a:prstGeom>
          <a:noFill/>
        </p:spPr>
        <p:txBody>
          <a:bodyPr wrap="square" rtlCol="0">
            <a:spAutoFit/>
          </a:bodyPr>
          <a:p>
            <a:r>
              <a:rPr lang="zh-CN" altLang="en-US" sz="1000"/>
              <a:t>机舱接口节点</a:t>
            </a:r>
            <a:endParaRPr lang="zh-CN" altLang="en-US" sz="1000"/>
          </a:p>
        </p:txBody>
      </p:sp>
      <p:pic>
        <p:nvPicPr>
          <p:cNvPr id="82" name="图片 81" descr="30.2"/>
          <p:cNvPicPr>
            <a:picLocks noChangeAspect="1"/>
          </p:cNvPicPr>
          <p:nvPr/>
        </p:nvPicPr>
        <p:blipFill>
          <a:blip r:embed="rId6"/>
          <a:stretch>
            <a:fillRect/>
          </a:stretch>
        </p:blipFill>
        <p:spPr>
          <a:xfrm>
            <a:off x="10327005" y="2802255"/>
            <a:ext cx="520065" cy="328930"/>
          </a:xfrm>
          <a:prstGeom prst="rect">
            <a:avLst/>
          </a:prstGeom>
        </p:spPr>
      </p:pic>
      <p:sp>
        <p:nvSpPr>
          <p:cNvPr id="83" name="文本框 82"/>
          <p:cNvSpPr txBox="1"/>
          <p:nvPr/>
        </p:nvSpPr>
        <p:spPr>
          <a:xfrm>
            <a:off x="10835640" y="2689860"/>
            <a:ext cx="731520" cy="553085"/>
          </a:xfrm>
          <a:prstGeom prst="rect">
            <a:avLst/>
          </a:prstGeom>
          <a:noFill/>
        </p:spPr>
        <p:txBody>
          <a:bodyPr wrap="square" rtlCol="0">
            <a:spAutoFit/>
          </a:bodyPr>
          <a:p>
            <a:r>
              <a:rPr lang="zh-CN" altLang="en-US" sz="1000"/>
              <a:t>叶轮</a:t>
            </a:r>
            <a:r>
              <a:rPr lang="en-US" altLang="zh-CN" sz="1000"/>
              <a:t>-</a:t>
            </a:r>
            <a:r>
              <a:rPr lang="zh-CN" altLang="en-US" sz="1000"/>
              <a:t>机舱子系统</a:t>
            </a:r>
            <a:r>
              <a:rPr lang="en-US" altLang="zh-CN" sz="1000"/>
              <a:t>  </a:t>
            </a:r>
            <a:r>
              <a:rPr lang="zh-CN" altLang="en-US" sz="1000"/>
              <a:t>客户端</a:t>
            </a:r>
            <a:endParaRPr lang="zh-CN" altLang="en-US" sz="1000"/>
          </a:p>
        </p:txBody>
      </p:sp>
      <p:sp>
        <p:nvSpPr>
          <p:cNvPr id="84" name="文本框 83"/>
          <p:cNvSpPr txBox="1"/>
          <p:nvPr/>
        </p:nvSpPr>
        <p:spPr>
          <a:xfrm>
            <a:off x="10250170" y="3776980"/>
            <a:ext cx="716280" cy="398780"/>
          </a:xfrm>
          <a:prstGeom prst="rect">
            <a:avLst/>
          </a:prstGeom>
          <a:noFill/>
        </p:spPr>
        <p:txBody>
          <a:bodyPr wrap="square" rtlCol="0">
            <a:spAutoFit/>
          </a:bodyPr>
          <a:p>
            <a:r>
              <a:rPr lang="en-US" altLang="zh-CN" sz="1000"/>
              <a:t>MATLAB</a:t>
            </a:r>
            <a:endParaRPr lang="en-US" altLang="zh-CN" sz="1000"/>
          </a:p>
          <a:p>
            <a:r>
              <a:rPr lang="en-US" altLang="zh-CN" sz="1000"/>
              <a:t>SIMULINK</a:t>
            </a:r>
            <a:endParaRPr lang="en-US" altLang="zh-CN" sz="1000"/>
          </a:p>
        </p:txBody>
      </p:sp>
      <p:sp>
        <p:nvSpPr>
          <p:cNvPr id="85" name="文本框 84"/>
          <p:cNvSpPr txBox="1"/>
          <p:nvPr/>
        </p:nvSpPr>
        <p:spPr>
          <a:xfrm>
            <a:off x="10887075" y="3557905"/>
            <a:ext cx="575945" cy="553085"/>
          </a:xfrm>
          <a:prstGeom prst="rect">
            <a:avLst/>
          </a:prstGeom>
          <a:noFill/>
        </p:spPr>
        <p:txBody>
          <a:bodyPr wrap="square" rtlCol="0">
            <a:spAutoFit/>
          </a:bodyPr>
          <a:p>
            <a:r>
              <a:rPr lang="zh-CN" altLang="en-US" sz="1000"/>
              <a:t>联合仿真接口服务器</a:t>
            </a:r>
            <a:endParaRPr lang="zh-CN" altLang="en-US" sz="1000"/>
          </a:p>
        </p:txBody>
      </p:sp>
      <p:pic>
        <p:nvPicPr>
          <p:cNvPr id="86" name="图片 85" descr="30.3"/>
          <p:cNvPicPr>
            <a:picLocks noChangeAspect="1"/>
          </p:cNvPicPr>
          <p:nvPr/>
        </p:nvPicPr>
        <p:blipFill>
          <a:blip r:embed="rId7"/>
          <a:stretch>
            <a:fillRect/>
          </a:stretch>
        </p:blipFill>
        <p:spPr>
          <a:xfrm>
            <a:off x="10354945" y="4385945"/>
            <a:ext cx="156845" cy="2047240"/>
          </a:xfrm>
          <a:prstGeom prst="rect">
            <a:avLst/>
          </a:prstGeom>
        </p:spPr>
      </p:pic>
      <p:cxnSp>
        <p:nvCxnSpPr>
          <p:cNvPr id="87" name="直接连接符 86"/>
          <p:cNvCxnSpPr>
            <a:stCxn id="86" idx="0"/>
          </p:cNvCxnSpPr>
          <p:nvPr/>
        </p:nvCxnSpPr>
        <p:spPr>
          <a:xfrm>
            <a:off x="10433685" y="4385945"/>
            <a:ext cx="175895" cy="0"/>
          </a:xfrm>
          <a:prstGeom prst="line">
            <a:avLst/>
          </a:prstGeom>
          <a:ln w="12700" cap="flat" cmpd="sng" algn="ctr">
            <a:solidFill>
              <a:schemeClr val="bg2">
                <a:lumMod val="75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88" name="矩形 87"/>
          <p:cNvSpPr/>
          <p:nvPr/>
        </p:nvSpPr>
        <p:spPr>
          <a:xfrm>
            <a:off x="10596880" y="4314190"/>
            <a:ext cx="922655" cy="207645"/>
          </a:xfrm>
          <a:prstGeom prst="rect">
            <a:avLst/>
          </a:prstGeom>
          <a:ln>
            <a:solidFill>
              <a:schemeClr val="bg2">
                <a:lumMod val="75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9" name="文本框 88"/>
          <p:cNvSpPr txBox="1"/>
          <p:nvPr/>
        </p:nvSpPr>
        <p:spPr>
          <a:xfrm>
            <a:off x="10573385" y="4295140"/>
            <a:ext cx="994410" cy="245110"/>
          </a:xfrm>
          <a:prstGeom prst="rect">
            <a:avLst/>
          </a:prstGeom>
          <a:noFill/>
        </p:spPr>
        <p:txBody>
          <a:bodyPr wrap="square" rtlCol="0">
            <a:spAutoFit/>
          </a:bodyPr>
          <a:p>
            <a:r>
              <a:rPr lang="zh-CN" altLang="en-US" sz="1000"/>
              <a:t>塔架接口节点</a:t>
            </a:r>
            <a:endParaRPr lang="zh-CN" altLang="en-US" sz="1000"/>
          </a:p>
        </p:txBody>
      </p:sp>
      <p:sp>
        <p:nvSpPr>
          <p:cNvPr id="90" name="矩形 89"/>
          <p:cNvSpPr/>
          <p:nvPr/>
        </p:nvSpPr>
        <p:spPr>
          <a:xfrm>
            <a:off x="10721975" y="5523865"/>
            <a:ext cx="781050" cy="848360"/>
          </a:xfrm>
          <a:prstGeom prst="rect">
            <a:avLst/>
          </a:prstGeom>
          <a:ln>
            <a:solidFill>
              <a:schemeClr val="bg2">
                <a:lumMod val="75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91" name="图片 90" descr="30.4"/>
          <p:cNvPicPr>
            <a:picLocks noChangeAspect="1"/>
          </p:cNvPicPr>
          <p:nvPr/>
        </p:nvPicPr>
        <p:blipFill>
          <a:blip r:embed="rId8"/>
          <a:stretch>
            <a:fillRect/>
          </a:stretch>
        </p:blipFill>
        <p:spPr>
          <a:xfrm>
            <a:off x="10737850" y="5576570"/>
            <a:ext cx="745490" cy="203835"/>
          </a:xfrm>
          <a:prstGeom prst="rect">
            <a:avLst/>
          </a:prstGeom>
        </p:spPr>
      </p:pic>
      <p:sp>
        <p:nvSpPr>
          <p:cNvPr id="92" name="文本框 91"/>
          <p:cNvSpPr txBox="1"/>
          <p:nvPr/>
        </p:nvSpPr>
        <p:spPr>
          <a:xfrm>
            <a:off x="10814685" y="5797550"/>
            <a:ext cx="596265" cy="553085"/>
          </a:xfrm>
          <a:prstGeom prst="rect">
            <a:avLst/>
          </a:prstGeom>
          <a:noFill/>
        </p:spPr>
        <p:txBody>
          <a:bodyPr wrap="square" rtlCol="0">
            <a:spAutoFit/>
          </a:bodyPr>
          <a:p>
            <a:pPr algn="ctr"/>
            <a:r>
              <a:rPr lang="zh-CN" altLang="en-US" sz="1000"/>
              <a:t>塔架</a:t>
            </a:r>
            <a:r>
              <a:rPr lang="en-US" altLang="zh-CN" sz="1000"/>
              <a:t>  </a:t>
            </a:r>
            <a:r>
              <a:rPr lang="zh-CN" altLang="en-US" sz="1000"/>
              <a:t>子系统客户端</a:t>
            </a:r>
            <a:endParaRPr lang="zh-CN" altLang="en-US" sz="1000"/>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30/68</a:t>
            </a:r>
            <a:endParaRPr lang="en-US" altLang="zh-CN">
              <a:latin typeface="微软雅黑" panose="020B0503020204020204" charset="-122"/>
              <a:ea typeface="微软雅黑" panose="020B0503020204020204" charset="-122"/>
            </a:endParaRPr>
          </a:p>
        </p:txBody>
      </p:sp>
      <p:sp>
        <p:nvSpPr>
          <p:cNvPr id="93" name="文本框 9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833945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模型建立：中保真度模型</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混塔子系统</a:t>
            </a:r>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OpenSees</a:t>
            </a:r>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有限元模型）</a:t>
            </a:r>
            <a:r>
              <a:rPr lang="en-US" altLang="zh-CN" sz="2300" b="1">
                <a:solidFill>
                  <a:srgbClr val="2E5495"/>
                </a:solidFill>
                <a:latin typeface="微软雅黑" panose="020B0503020204020204" charset="-122"/>
                <a:ea typeface="微软雅黑" panose="020B0503020204020204" charset="-122"/>
                <a:cs typeface="微软雅黑" panose="020B0503020204020204" charset="-122"/>
              </a:rPr>
              <a:t> </a:t>
            </a:r>
            <a:endParaRPr lang="zh-CN" altLang="en-US" sz="2300" b="1">
              <a:solidFill>
                <a:srgbClr val="C00000"/>
              </a:solidFill>
            </a:endParaRPr>
          </a:p>
        </p:txBody>
      </p:sp>
      <p:sp>
        <p:nvSpPr>
          <p:cNvPr id="12" name="矩形 11"/>
          <p:cNvSpPr/>
          <p:nvPr/>
        </p:nvSpPr>
        <p:spPr>
          <a:xfrm>
            <a:off x="757555" y="1777365"/>
            <a:ext cx="4148455" cy="4149090"/>
          </a:xfrm>
          <a:prstGeom prst="rect">
            <a:avLst/>
          </a:prstGeom>
          <a:ln w="28575">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椭圆 12"/>
          <p:cNvSpPr/>
          <p:nvPr/>
        </p:nvSpPr>
        <p:spPr>
          <a:xfrm>
            <a:off x="874395" y="2065655"/>
            <a:ext cx="76200" cy="76200"/>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874395" y="5045710"/>
            <a:ext cx="76200" cy="76200"/>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874395" y="2903855"/>
            <a:ext cx="76200" cy="76200"/>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874395" y="4631055"/>
            <a:ext cx="76200" cy="76200"/>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1125220" y="1777365"/>
            <a:ext cx="3555365" cy="953135"/>
          </a:xfrm>
          <a:prstGeom prst="rect">
            <a:avLst/>
          </a:prstGeom>
          <a:noFill/>
        </p:spPr>
        <p:txBody>
          <a:bodyPr wrap="square" rtlCol="0">
            <a:spAutoFit/>
          </a:bodyPr>
          <a:p>
            <a:pPr>
              <a:lnSpc>
                <a:spcPct val="140000"/>
              </a:lnSpc>
              <a:spcBef>
                <a:spcPts val="0"/>
              </a:spcBef>
              <a:spcAft>
                <a:spcPts val="0"/>
              </a:spcAft>
            </a:pPr>
            <a:r>
              <a:rPr lang="zh-CN" altLang="en-US" sz="2000" b="1"/>
              <a:t>通过</a:t>
            </a:r>
            <a:r>
              <a:rPr lang="en-US" altLang="zh-CN" sz="2000" b="1">
                <a:solidFill>
                  <a:srgbClr val="023A8B"/>
                </a:solidFill>
              </a:rPr>
              <a:t>OpenSees</a:t>
            </a:r>
            <a:r>
              <a:rPr lang="zh-CN" altLang="en-US" sz="2000" b="1">
                <a:solidFill>
                  <a:srgbClr val="023A8B"/>
                </a:solidFill>
              </a:rPr>
              <a:t>有限元软件</a:t>
            </a:r>
            <a:r>
              <a:rPr lang="zh-CN" altLang="en-US" sz="2000" b="1"/>
              <a:t>建立混塔子系统数值模型。</a:t>
            </a:r>
            <a:endParaRPr lang="zh-CN" altLang="en-US" sz="2000" b="1"/>
          </a:p>
        </p:txBody>
      </p:sp>
      <p:sp>
        <p:nvSpPr>
          <p:cNvPr id="18" name="文本框 17"/>
          <p:cNvSpPr txBox="1"/>
          <p:nvPr/>
        </p:nvSpPr>
        <p:spPr>
          <a:xfrm>
            <a:off x="1125220" y="2632710"/>
            <a:ext cx="3834130" cy="1814830"/>
          </a:xfrm>
          <a:prstGeom prst="rect">
            <a:avLst/>
          </a:prstGeom>
          <a:noFill/>
        </p:spPr>
        <p:txBody>
          <a:bodyPr wrap="square" rtlCol="0">
            <a:spAutoFit/>
          </a:bodyPr>
          <a:p>
            <a:pPr>
              <a:lnSpc>
                <a:spcPct val="140000"/>
              </a:lnSpc>
              <a:spcBef>
                <a:spcPts val="0"/>
              </a:spcBef>
              <a:spcAft>
                <a:spcPts val="0"/>
              </a:spcAft>
            </a:pPr>
            <a:r>
              <a:rPr lang="zh-CN" altLang="en-US" sz="2000" b="1"/>
              <a:t>为每个混凝土塔节和钢塔节建立了</a:t>
            </a:r>
            <a:r>
              <a:rPr lang="zh-CN" altLang="en-US" sz="2000" b="1">
                <a:solidFill>
                  <a:srgbClr val="023A8B"/>
                </a:solidFill>
              </a:rPr>
              <a:t>非线性纤维梁单元</a:t>
            </a:r>
            <a:r>
              <a:rPr lang="zh-CN" altLang="en-US" sz="2000" b="1"/>
              <a:t>，相邻单元之间通过节点连接，从而形成完整的塔架结构模型。</a:t>
            </a:r>
            <a:endParaRPr lang="zh-CN" altLang="en-US" sz="2000" b="1"/>
          </a:p>
        </p:txBody>
      </p:sp>
      <p:sp>
        <p:nvSpPr>
          <p:cNvPr id="19" name="矩形 18"/>
          <p:cNvSpPr/>
          <p:nvPr/>
        </p:nvSpPr>
        <p:spPr>
          <a:xfrm>
            <a:off x="5075555" y="1769110"/>
            <a:ext cx="3394710" cy="34544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文本框 19"/>
          <p:cNvSpPr txBox="1"/>
          <p:nvPr/>
        </p:nvSpPr>
        <p:spPr>
          <a:xfrm>
            <a:off x="1049655" y="4447540"/>
            <a:ext cx="3926205" cy="398780"/>
          </a:xfrm>
          <a:prstGeom prst="rect">
            <a:avLst/>
          </a:prstGeom>
          <a:noFill/>
        </p:spPr>
        <p:txBody>
          <a:bodyPr wrap="square" rtlCol="0">
            <a:spAutoFit/>
          </a:bodyPr>
          <a:p>
            <a:r>
              <a:rPr lang="zh-CN" altLang="en-US" sz="2000" b="1"/>
              <a:t>预应力索采用</a:t>
            </a:r>
            <a:r>
              <a:rPr lang="en-US" altLang="zh-CN" sz="2000" b="1">
                <a:solidFill>
                  <a:srgbClr val="023A8B"/>
                </a:solidFill>
              </a:rPr>
              <a:t>SteelI02</a:t>
            </a:r>
            <a:r>
              <a:rPr lang="zh-CN" altLang="en-US" sz="2000" b="1"/>
              <a:t>施加预应力</a:t>
            </a:r>
            <a:endParaRPr lang="zh-CN" altLang="en-US" sz="2000" b="1"/>
          </a:p>
        </p:txBody>
      </p:sp>
      <mc:AlternateContent xmlns:mc="http://schemas.openxmlformats.org/markup-compatibility/2006">
        <mc:Choice xmlns:a14="http://schemas.microsoft.com/office/drawing/2010/main" Requires="a14">
          <p:sp>
            <p:nvSpPr>
              <p:cNvPr id="21" name="文本框 20"/>
              <p:cNvSpPr txBox="1"/>
              <p:nvPr/>
            </p:nvSpPr>
            <p:spPr>
              <a:xfrm>
                <a:off x="1114425" y="4795520"/>
                <a:ext cx="3797935" cy="953135"/>
              </a:xfrm>
              <a:prstGeom prst="rect">
                <a:avLst/>
              </a:prstGeom>
              <a:noFill/>
            </p:spPr>
            <p:txBody>
              <a:bodyPr wrap="square" rtlCol="0">
                <a:spAutoFit/>
              </a:bodyPr>
              <a:p>
                <a:pPr>
                  <a:lnSpc>
                    <a:spcPct val="140000"/>
                  </a:lnSpc>
                  <a:spcBef>
                    <a:spcPts val="0"/>
                  </a:spcBef>
                  <a:spcAft>
                    <a:spcPts val="0"/>
                  </a:spcAft>
                </a:pPr>
                <a:r>
                  <a:rPr lang="zh-CN" altLang="en-US" sz="2000" b="1"/>
                  <a:t>定义材料的</a:t>
                </a:r>
                <a:r>
                  <a:rPr lang="zh-CN" altLang="en-US" sz="2000" b="1">
                    <a:solidFill>
                      <a:srgbClr val="023A8B"/>
                    </a:solidFill>
                  </a:rPr>
                  <a:t>非线性本构</a:t>
                </a:r>
                <a:r>
                  <a:rPr lang="zh-CN" altLang="en-US" sz="2000" b="1"/>
                  <a:t>。</a:t>
                </a:r>
                <a:r>
                  <a:rPr lang="zh-CN" altLang="en-US" sz="2000" b="1">
                    <a:solidFill>
                      <a:srgbClr val="023A8B"/>
                    </a:solidFill>
                  </a:rPr>
                  <a:t>几何非线性</a:t>
                </a:r>
                <a:r>
                  <a:rPr lang="zh-CN" altLang="en-US" sz="2000" b="1"/>
                  <a:t>通过引入</a:t>
                </a:r>
                <a:r>
                  <a:rPr lang="en-US" altLang="zh-CN" sz="2000" b="1"/>
                  <a:t>P-</a:t>
                </a:r>
                <a14:m>
                  <m:oMath xmlns:m="http://schemas.openxmlformats.org/officeDocument/2006/math">
                    <m:r>
                      <a:rPr lang="en-US" altLang="zh-CN" sz="2000" b="1" i="1">
                        <a:latin typeface="Cambria Math" panose="02040503050406030204" charset="0"/>
                        <a:cs typeface="Cambria Math" panose="02040503050406030204" charset="0"/>
                      </a:rPr>
                      <m:t>𝜟</m:t>
                    </m:r>
                  </m:oMath>
                </a14:m>
                <a:r>
                  <a:rPr lang="zh-CN" altLang="en-US" sz="2000" b="1">
                    <a:latin typeface="Cambria Math" panose="02040503050406030204" charset="0"/>
                    <a:cs typeface="Cambria Math" panose="02040503050406030204" charset="0"/>
                  </a:rPr>
                  <a:t>效应来实现。</a:t>
                </a:r>
                <a:endParaRPr lang="zh-CN" altLang="en-US" sz="2000" b="1">
                  <a:latin typeface="Cambria Math" panose="02040503050406030204" charset="0"/>
                  <a:cs typeface="Cambria Math" panose="02040503050406030204" charset="0"/>
                </a:endParaRPr>
              </a:p>
            </p:txBody>
          </p:sp>
        </mc:Choice>
        <mc:Fallback>
          <p:sp>
            <p:nvSpPr>
              <p:cNvPr id="21" name="文本框 20"/>
              <p:cNvSpPr txBox="1">
                <a:spLocks noRot="1" noChangeAspect="1" noMove="1" noResize="1" noEditPoints="1" noAdjustHandles="1" noChangeArrowheads="1" noChangeShapeType="1" noTextEdit="1"/>
              </p:cNvSpPr>
              <p:nvPr/>
            </p:nvSpPr>
            <p:spPr>
              <a:xfrm>
                <a:off x="1114425" y="4795520"/>
                <a:ext cx="3797935" cy="953135"/>
              </a:xfrm>
              <a:prstGeom prst="rect">
                <a:avLst/>
              </a:prstGeom>
              <a:blipFill rotWithShape="1">
                <a:blip r:embed="rId1"/>
                <a:stretch>
                  <a:fillRect/>
                </a:stretch>
              </a:blipFill>
            </p:spPr>
            <p:txBody>
              <a:bodyPr/>
              <a:lstStyle/>
              <a:p>
                <a:r>
                  <a:rPr lang="zh-CN" altLang="en-US">
                    <a:noFill/>
                  </a:rPr>
                  <a:t> </a:t>
                </a:r>
              </a:p>
            </p:txBody>
          </p:sp>
        </mc:Fallback>
      </mc:AlternateContent>
      <p:sp>
        <p:nvSpPr>
          <p:cNvPr id="23" name="矩形 22"/>
          <p:cNvSpPr/>
          <p:nvPr/>
        </p:nvSpPr>
        <p:spPr>
          <a:xfrm>
            <a:off x="5050155" y="5460365"/>
            <a:ext cx="3445510" cy="762000"/>
          </a:xfrm>
          <a:prstGeom prst="rect">
            <a:avLst/>
          </a:prstGeom>
          <a:solidFill>
            <a:srgbClr val="023A8B"/>
          </a:solidFill>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4" name="文本框 23"/>
          <p:cNvSpPr txBox="1"/>
          <p:nvPr/>
        </p:nvSpPr>
        <p:spPr>
          <a:xfrm>
            <a:off x="5347970" y="5446395"/>
            <a:ext cx="2849880" cy="706755"/>
          </a:xfrm>
          <a:prstGeom prst="rect">
            <a:avLst/>
          </a:prstGeom>
          <a:noFill/>
        </p:spPr>
        <p:txBody>
          <a:bodyPr wrap="square" rtlCol="0">
            <a:spAutoFit/>
          </a:bodyPr>
          <a:p>
            <a:pPr algn="ctr"/>
            <a:r>
              <a:rPr lang="zh-CN" altLang="en-US" sz="2000" b="1">
                <a:solidFill>
                  <a:schemeClr val="bg1"/>
                </a:solidFill>
              </a:rPr>
              <a:t>基于</a:t>
            </a:r>
            <a:r>
              <a:rPr lang="en-US" altLang="zh-CN" sz="2000" b="1">
                <a:solidFill>
                  <a:schemeClr val="bg1"/>
                </a:solidFill>
              </a:rPr>
              <a:t>TcI</a:t>
            </a:r>
            <a:r>
              <a:rPr lang="zh-CN" altLang="en-US" sz="2000" b="1">
                <a:solidFill>
                  <a:schemeClr val="bg1"/>
                </a:solidFill>
              </a:rPr>
              <a:t>语言，建立模型、划分网络、设置材料</a:t>
            </a:r>
            <a:endParaRPr lang="zh-CN" altLang="en-US" sz="2000" b="1">
              <a:solidFill>
                <a:schemeClr val="bg1"/>
              </a:solidFill>
            </a:endParaRPr>
          </a:p>
        </p:txBody>
      </p:sp>
      <p:sp>
        <p:nvSpPr>
          <p:cNvPr id="25" name="矩形 24"/>
          <p:cNvSpPr/>
          <p:nvPr/>
        </p:nvSpPr>
        <p:spPr>
          <a:xfrm>
            <a:off x="9562465" y="3640455"/>
            <a:ext cx="1447800" cy="312420"/>
          </a:xfrm>
          <a:prstGeom prst="rect">
            <a:avLst/>
          </a:prstGeom>
          <a:solidFill>
            <a:srgbClr val="023A8B"/>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文本框 25"/>
          <p:cNvSpPr txBox="1"/>
          <p:nvPr/>
        </p:nvSpPr>
        <p:spPr>
          <a:xfrm>
            <a:off x="9638665" y="3640455"/>
            <a:ext cx="1541145" cy="368300"/>
          </a:xfrm>
          <a:prstGeom prst="rect">
            <a:avLst/>
          </a:prstGeom>
          <a:noFill/>
        </p:spPr>
        <p:txBody>
          <a:bodyPr wrap="square" rtlCol="0">
            <a:spAutoFit/>
          </a:bodyPr>
          <a:p>
            <a:r>
              <a:rPr lang="zh-CN" altLang="en-US">
                <a:solidFill>
                  <a:schemeClr val="bg1"/>
                </a:solidFill>
              </a:rPr>
              <a:t>纤维梁单元</a:t>
            </a:r>
            <a:endParaRPr lang="zh-CN" altLang="en-US">
              <a:solidFill>
                <a:schemeClr val="bg1"/>
              </a:solidFill>
            </a:endParaRPr>
          </a:p>
        </p:txBody>
      </p:sp>
      <p:sp>
        <p:nvSpPr>
          <p:cNvPr id="27" name="上箭头 26"/>
          <p:cNvSpPr/>
          <p:nvPr/>
        </p:nvSpPr>
        <p:spPr>
          <a:xfrm>
            <a:off x="10116820" y="3429635"/>
            <a:ext cx="338455" cy="210820"/>
          </a:xfrm>
          <a:prstGeom prst="upArrow">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左箭头 27"/>
          <p:cNvSpPr/>
          <p:nvPr/>
        </p:nvSpPr>
        <p:spPr>
          <a:xfrm>
            <a:off x="10226675" y="5748655"/>
            <a:ext cx="1296035" cy="584200"/>
          </a:xfrm>
          <a:prstGeom prst="leftArrow">
            <a:avLst/>
          </a:prstGeom>
          <a:solidFill>
            <a:srgbClr val="023A8B"/>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文本框 28"/>
          <p:cNvSpPr txBox="1"/>
          <p:nvPr/>
        </p:nvSpPr>
        <p:spPr>
          <a:xfrm>
            <a:off x="10362565" y="5854065"/>
            <a:ext cx="1286510" cy="368300"/>
          </a:xfrm>
          <a:prstGeom prst="rect">
            <a:avLst/>
          </a:prstGeom>
          <a:noFill/>
        </p:spPr>
        <p:txBody>
          <a:bodyPr wrap="square" rtlCol="0">
            <a:spAutoFit/>
          </a:bodyPr>
          <a:p>
            <a:r>
              <a:rPr lang="zh-CN" altLang="en-US">
                <a:solidFill>
                  <a:schemeClr val="bg1"/>
                </a:solidFill>
              </a:rPr>
              <a:t>整体模型</a:t>
            </a:r>
            <a:endParaRPr lang="zh-CN" altLang="en-US">
              <a:solidFill>
                <a:schemeClr val="bg1"/>
              </a:solidFill>
            </a:endParaRPr>
          </a:p>
        </p:txBody>
      </p:sp>
      <p:pic>
        <p:nvPicPr>
          <p:cNvPr id="2" name="图片 1" descr="31.2"/>
          <p:cNvPicPr>
            <a:picLocks noChangeAspect="1"/>
          </p:cNvPicPr>
          <p:nvPr/>
        </p:nvPicPr>
        <p:blipFill>
          <a:blip r:embed="rId2"/>
          <a:stretch>
            <a:fillRect/>
          </a:stretch>
        </p:blipFill>
        <p:spPr>
          <a:xfrm>
            <a:off x="9050655" y="4195445"/>
            <a:ext cx="2266950" cy="2076450"/>
          </a:xfrm>
          <a:prstGeom prst="rect">
            <a:avLst/>
          </a:prstGeom>
        </p:spPr>
      </p:pic>
      <p:pic>
        <p:nvPicPr>
          <p:cNvPr id="3" name="图片 2" descr="22.4"/>
          <p:cNvPicPr>
            <a:picLocks noChangeAspect="1"/>
          </p:cNvPicPr>
          <p:nvPr/>
        </p:nvPicPr>
        <p:blipFill>
          <a:blip r:embed="rId3"/>
          <a:srcRect b="13365"/>
          <a:stretch>
            <a:fillRect/>
          </a:stretch>
        </p:blipFill>
        <p:spPr>
          <a:xfrm>
            <a:off x="9175750" y="1413510"/>
            <a:ext cx="2220595" cy="1984375"/>
          </a:xfrm>
          <a:prstGeom prst="rect">
            <a:avLst/>
          </a:prstGeom>
        </p:spPr>
      </p:pic>
      <p:pic>
        <p:nvPicPr>
          <p:cNvPr id="4" name="图片 3" descr="31.1.1"/>
          <p:cNvPicPr>
            <a:picLocks noChangeAspect="1"/>
          </p:cNvPicPr>
          <p:nvPr/>
        </p:nvPicPr>
        <p:blipFill>
          <a:blip r:embed="rId4"/>
          <a:srcRect l="2610" t="2454" r="2411" b="1593"/>
          <a:stretch>
            <a:fillRect/>
          </a:stretch>
        </p:blipFill>
        <p:spPr>
          <a:xfrm>
            <a:off x="5133975" y="1864360"/>
            <a:ext cx="3224530" cy="3188970"/>
          </a:xfrm>
          <a:prstGeom prst="rect">
            <a:avLst/>
          </a:prstGeom>
        </p:spPr>
      </p:pic>
      <p:sp>
        <p:nvSpPr>
          <p:cNvPr id="22" name="左大括号 21"/>
          <p:cNvSpPr/>
          <p:nvPr/>
        </p:nvSpPr>
        <p:spPr>
          <a:xfrm>
            <a:off x="8606790" y="2065655"/>
            <a:ext cx="231140" cy="3659505"/>
          </a:xfrm>
          <a:prstGeom prst="leftBrace">
            <a:avLst/>
          </a:prstGeom>
          <a:ln>
            <a:solidFill>
              <a:schemeClr val="bg2">
                <a:lumMod val="7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0" name="文本框 29"/>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31/68</a:t>
            </a:r>
            <a:endParaRPr lang="en-US" altLang="zh-CN">
              <a:latin typeface="微软雅黑" panose="020B0503020204020204" charset="-122"/>
              <a:ea typeface="微软雅黑" panose="020B0503020204020204" charset="-122"/>
            </a:endParaRPr>
          </a:p>
        </p:txBody>
      </p:sp>
      <p:sp>
        <p:nvSpPr>
          <p:cNvPr id="31" name="文本框 30"/>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833945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模型验证：现场实测与有限元分析对比</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验证整塔固有频率特性</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 </a:t>
            </a:r>
            <a:endParaRPr lang="en-US" altLang="zh-CN" sz="23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2" name="任意多边形 11"/>
          <p:cNvSpPr/>
          <p:nvPr/>
        </p:nvSpPr>
        <p:spPr>
          <a:xfrm>
            <a:off x="976363" y="1591553"/>
            <a:ext cx="5320145" cy="3472992"/>
          </a:xfrm>
          <a:custGeom>
            <a:avLst/>
            <a:gdLst>
              <a:gd name="connsiteX0" fmla="*/ 0 w 8378"/>
              <a:gd name="connsiteY0" fmla="*/ 442 h 5469"/>
              <a:gd name="connsiteX1" fmla="*/ 467 w 8378"/>
              <a:gd name="connsiteY1" fmla="*/ 2 h 5469"/>
              <a:gd name="connsiteX2" fmla="*/ 7947 w 8378"/>
              <a:gd name="connsiteY2" fmla="*/ 42 h 5469"/>
              <a:gd name="connsiteX3" fmla="*/ 8347 w 8378"/>
              <a:gd name="connsiteY3" fmla="*/ 549 h 5469"/>
              <a:gd name="connsiteX4" fmla="*/ 8375 w 8378"/>
              <a:gd name="connsiteY4" fmla="*/ 4960 h 5469"/>
              <a:gd name="connsiteX5" fmla="*/ 7948 w 8378"/>
              <a:gd name="connsiteY5" fmla="*/ 5454 h 5469"/>
              <a:gd name="connsiteX6" fmla="*/ 601 w 8378"/>
              <a:gd name="connsiteY6" fmla="*/ 5453 h 5469"/>
              <a:gd name="connsiteX7" fmla="*/ 14 w 8378"/>
              <a:gd name="connsiteY7" fmla="*/ 5094 h 5469"/>
              <a:gd name="connsiteX8" fmla="*/ 0 w 8378"/>
              <a:gd name="connsiteY8" fmla="*/ 442 h 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78" h="5469">
                <a:moveTo>
                  <a:pt x="0" y="442"/>
                </a:moveTo>
                <a:cubicBezTo>
                  <a:pt x="0" y="-51"/>
                  <a:pt x="-26" y="2"/>
                  <a:pt x="467" y="2"/>
                </a:cubicBezTo>
                <a:lnTo>
                  <a:pt x="7947" y="42"/>
                </a:lnTo>
                <a:cubicBezTo>
                  <a:pt x="8440" y="42"/>
                  <a:pt x="8347" y="56"/>
                  <a:pt x="8347" y="549"/>
                </a:cubicBezTo>
                <a:lnTo>
                  <a:pt x="8375" y="4960"/>
                </a:lnTo>
                <a:cubicBezTo>
                  <a:pt x="8375" y="5453"/>
                  <a:pt x="8441" y="5454"/>
                  <a:pt x="7948" y="5454"/>
                </a:cubicBezTo>
                <a:lnTo>
                  <a:pt x="601" y="5453"/>
                </a:lnTo>
                <a:cubicBezTo>
                  <a:pt x="108" y="5453"/>
                  <a:pt x="14" y="5587"/>
                  <a:pt x="14" y="5094"/>
                </a:cubicBezTo>
                <a:lnTo>
                  <a:pt x="0" y="442"/>
                </a:lnTo>
                <a:close/>
              </a:path>
            </a:pathLst>
          </a:cu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任意多边形 12"/>
          <p:cNvSpPr/>
          <p:nvPr/>
        </p:nvSpPr>
        <p:spPr>
          <a:xfrm>
            <a:off x="6353670" y="1591958"/>
            <a:ext cx="4888861" cy="3461804"/>
          </a:xfrm>
          <a:custGeom>
            <a:avLst/>
            <a:gdLst>
              <a:gd name="connsiteX0" fmla="*/ 14 w 7698"/>
              <a:gd name="connsiteY0" fmla="*/ 442 h 5451"/>
              <a:gd name="connsiteX1" fmla="*/ 442 w 7698"/>
              <a:gd name="connsiteY1" fmla="*/ 2 h 5451"/>
              <a:gd name="connsiteX2" fmla="*/ 7304 w 7698"/>
              <a:gd name="connsiteY2" fmla="*/ 42 h 5451"/>
              <a:gd name="connsiteX3" fmla="*/ 7671 w 7698"/>
              <a:gd name="connsiteY3" fmla="*/ 549 h 5451"/>
              <a:gd name="connsiteX4" fmla="*/ 7696 w 7698"/>
              <a:gd name="connsiteY4" fmla="*/ 4960 h 5451"/>
              <a:gd name="connsiteX5" fmla="*/ 7307 w 7698"/>
              <a:gd name="connsiteY5" fmla="*/ 5452 h 5451"/>
              <a:gd name="connsiteX6" fmla="*/ 480 w 7698"/>
              <a:gd name="connsiteY6" fmla="*/ 5427 h 5451"/>
              <a:gd name="connsiteX7" fmla="*/ 0 w 7698"/>
              <a:gd name="connsiteY7" fmla="*/ 5013 h 5451"/>
              <a:gd name="connsiteX8" fmla="*/ 14 w 7698"/>
              <a:gd name="connsiteY8" fmla="*/ 442 h 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99" h="5452">
                <a:moveTo>
                  <a:pt x="14" y="442"/>
                </a:moveTo>
                <a:cubicBezTo>
                  <a:pt x="14" y="-51"/>
                  <a:pt x="-10" y="2"/>
                  <a:pt x="442" y="2"/>
                </a:cubicBezTo>
                <a:lnTo>
                  <a:pt x="7304" y="42"/>
                </a:lnTo>
                <a:cubicBezTo>
                  <a:pt x="7756" y="42"/>
                  <a:pt x="7671" y="56"/>
                  <a:pt x="7671" y="549"/>
                </a:cubicBezTo>
                <a:lnTo>
                  <a:pt x="7696" y="4960"/>
                </a:lnTo>
                <a:cubicBezTo>
                  <a:pt x="7696" y="5453"/>
                  <a:pt x="7759" y="5452"/>
                  <a:pt x="7307" y="5452"/>
                </a:cubicBezTo>
                <a:lnTo>
                  <a:pt x="480" y="5427"/>
                </a:lnTo>
                <a:cubicBezTo>
                  <a:pt x="28" y="5427"/>
                  <a:pt x="0" y="5506"/>
                  <a:pt x="0" y="5013"/>
                </a:cubicBezTo>
                <a:lnTo>
                  <a:pt x="14" y="442"/>
                </a:lnTo>
                <a:close/>
              </a:path>
            </a:pathLst>
          </a:cu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 name="文本框 1"/>
          <p:cNvSpPr txBox="1"/>
          <p:nvPr/>
        </p:nvSpPr>
        <p:spPr>
          <a:xfrm>
            <a:off x="2847340" y="4778375"/>
            <a:ext cx="1699895" cy="275590"/>
          </a:xfrm>
          <a:prstGeom prst="rect">
            <a:avLst/>
          </a:prstGeom>
          <a:noFill/>
        </p:spPr>
        <p:txBody>
          <a:bodyPr wrap="square" rtlCol="0">
            <a:spAutoFit/>
          </a:bodyPr>
          <a:p>
            <a:r>
              <a:rPr lang="zh-CN" altLang="en-US" sz="1200"/>
              <a:t>振动传感器安装位置</a:t>
            </a:r>
            <a:endParaRPr lang="zh-CN" altLang="en-US" sz="1200"/>
          </a:p>
        </p:txBody>
      </p:sp>
      <p:sp>
        <p:nvSpPr>
          <p:cNvPr id="3" name="文本框 2"/>
          <p:cNvSpPr txBox="1"/>
          <p:nvPr/>
        </p:nvSpPr>
        <p:spPr>
          <a:xfrm>
            <a:off x="2741930" y="5013325"/>
            <a:ext cx="2004695" cy="275590"/>
          </a:xfrm>
          <a:prstGeom prst="rect">
            <a:avLst/>
          </a:prstGeom>
          <a:noFill/>
        </p:spPr>
        <p:txBody>
          <a:bodyPr wrap="square" rtlCol="0">
            <a:spAutoFit/>
          </a:bodyPr>
          <a:p>
            <a:r>
              <a:rPr lang="zh-CN" altLang="en-US" sz="1200"/>
              <a:t>实测频率与仿真频率</a:t>
            </a:r>
            <a:r>
              <a:rPr lang="zh-CN" altLang="en-US" sz="1200"/>
              <a:t>对比</a:t>
            </a:r>
            <a:endParaRPr lang="zh-CN" altLang="en-US" sz="1200"/>
          </a:p>
        </p:txBody>
      </p:sp>
      <p:graphicFrame>
        <p:nvGraphicFramePr>
          <p:cNvPr id="14" name="表格 13"/>
          <p:cNvGraphicFramePr/>
          <p:nvPr>
            <p:custDataLst>
              <p:tags r:id="rId1"/>
            </p:custDataLst>
          </p:nvPr>
        </p:nvGraphicFramePr>
        <p:xfrm>
          <a:off x="874395" y="5242560"/>
          <a:ext cx="5107940" cy="1371600"/>
        </p:xfrm>
        <a:graphic>
          <a:graphicData uri="http://schemas.openxmlformats.org/drawingml/2006/table">
            <a:tbl>
              <a:tblPr firstRow="1" bandRow="1">
                <a:tableStyleId>{5C22544A-7EE6-4342-B048-85BDC9FD1C3A}</a:tableStyleId>
              </a:tblPr>
              <a:tblGrid>
                <a:gridCol w="1583690"/>
                <a:gridCol w="1590040"/>
                <a:gridCol w="1934210"/>
              </a:tblGrid>
              <a:tr h="274320">
                <a:tc>
                  <a:txBody>
                    <a:bodyPr/>
                    <a:p>
                      <a:pPr algn="ctr">
                        <a:buNone/>
                      </a:pPr>
                      <a:r>
                        <a:rPr lang="zh-CN" altLang="en-US" sz="1200"/>
                        <a:t>振型</a:t>
                      </a:r>
                      <a:endParaRPr lang="zh-CN" altLang="en-US" sz="1200"/>
                    </a:p>
                  </a:txBody>
                  <a:tcPr/>
                </a:tc>
                <a:tc>
                  <a:txBody>
                    <a:bodyPr/>
                    <a:p>
                      <a:pPr algn="ctr">
                        <a:buNone/>
                      </a:pPr>
                      <a:r>
                        <a:rPr lang="zh-CN" altLang="en-US" sz="1200"/>
                        <a:t>实测（</a:t>
                      </a:r>
                      <a:r>
                        <a:rPr lang="en-US" altLang="zh-CN" sz="1200"/>
                        <a:t>Hz</a:t>
                      </a:r>
                      <a:r>
                        <a:rPr lang="zh-CN" altLang="en-US" sz="1200"/>
                        <a:t>）</a:t>
                      </a:r>
                      <a:endParaRPr lang="zh-CN" altLang="en-US" sz="1200"/>
                    </a:p>
                  </a:txBody>
                  <a:tcPr/>
                </a:tc>
                <a:tc>
                  <a:txBody>
                    <a:bodyPr/>
                    <a:p>
                      <a:pPr algn="ctr">
                        <a:buNone/>
                      </a:pPr>
                      <a:r>
                        <a:rPr lang="zh-CN" altLang="en-US" sz="1200"/>
                        <a:t>仿真（</a:t>
                      </a:r>
                      <a:r>
                        <a:rPr lang="en-US" altLang="zh-CN" sz="1200"/>
                        <a:t>Hz</a:t>
                      </a:r>
                      <a:r>
                        <a:rPr lang="zh-CN" altLang="en-US" sz="1200"/>
                        <a:t>）</a:t>
                      </a:r>
                      <a:endParaRPr lang="zh-CN" altLang="en-US" sz="1200"/>
                    </a:p>
                  </a:txBody>
                  <a:tcPr/>
                </a:tc>
              </a:tr>
              <a:tr h="274320">
                <a:tc>
                  <a:txBody>
                    <a:bodyPr/>
                    <a:p>
                      <a:pPr algn="ctr">
                        <a:buNone/>
                      </a:pPr>
                      <a:r>
                        <a:rPr lang="zh-CN" altLang="en-US" sz="1200"/>
                        <a:t>一阶前</a:t>
                      </a:r>
                      <a:r>
                        <a:rPr lang="en-US" altLang="zh-CN" sz="1200"/>
                        <a:t> - </a:t>
                      </a:r>
                      <a:r>
                        <a:rPr lang="zh-CN" altLang="en-US" sz="1200"/>
                        <a:t>后方向</a:t>
                      </a:r>
                      <a:endParaRPr lang="zh-CN" altLang="en-US" sz="1200"/>
                    </a:p>
                  </a:txBody>
                  <a:tcPr/>
                </a:tc>
                <a:tc>
                  <a:txBody>
                    <a:bodyPr/>
                    <a:p>
                      <a:pPr algn="ctr">
                        <a:buNone/>
                      </a:pPr>
                      <a:r>
                        <a:rPr lang="en-US" altLang="zh-CN" sz="1200"/>
                        <a:t>0.2377</a:t>
                      </a:r>
                      <a:endParaRPr lang="en-US" altLang="zh-CN" sz="1200"/>
                    </a:p>
                  </a:txBody>
                  <a:tcPr/>
                </a:tc>
                <a:tc>
                  <a:txBody>
                    <a:bodyPr/>
                    <a:p>
                      <a:pPr algn="ctr">
                        <a:buNone/>
                      </a:pPr>
                      <a:r>
                        <a:rPr lang="en-US" altLang="zh-CN" sz="1200"/>
                        <a:t>0.2230</a:t>
                      </a:r>
                      <a:endParaRPr lang="en-US" altLang="zh-CN" sz="1200"/>
                    </a:p>
                  </a:txBody>
                  <a:tcPr/>
                </a:tc>
              </a:tr>
              <a:tr h="274320">
                <a:tc>
                  <a:txBody>
                    <a:bodyPr/>
                    <a:p>
                      <a:pPr algn="ctr">
                        <a:buNone/>
                      </a:pPr>
                      <a:r>
                        <a:rPr lang="zh-CN" altLang="en-US" sz="1200">
                          <a:sym typeface="+mn-ea"/>
                        </a:rPr>
                        <a:t>一阶左</a:t>
                      </a:r>
                      <a:r>
                        <a:rPr lang="en-US" altLang="zh-CN" sz="1200">
                          <a:sym typeface="+mn-ea"/>
                        </a:rPr>
                        <a:t> - </a:t>
                      </a:r>
                      <a:r>
                        <a:rPr lang="zh-CN" altLang="en-US" sz="1200">
                          <a:sym typeface="+mn-ea"/>
                        </a:rPr>
                        <a:t>右方向</a:t>
                      </a:r>
                      <a:endParaRPr lang="zh-CN" altLang="en-US" sz="1200">
                        <a:sym typeface="+mn-ea"/>
                      </a:endParaRPr>
                    </a:p>
                  </a:txBody>
                  <a:tcPr/>
                </a:tc>
                <a:tc>
                  <a:txBody>
                    <a:bodyPr/>
                    <a:p>
                      <a:pPr algn="ctr">
                        <a:buNone/>
                      </a:pPr>
                      <a:r>
                        <a:rPr lang="en-US" altLang="zh-CN" sz="1200"/>
                        <a:t>0.2377</a:t>
                      </a:r>
                      <a:endParaRPr lang="en-US" altLang="zh-CN" sz="1200"/>
                    </a:p>
                  </a:txBody>
                  <a:tcPr/>
                </a:tc>
                <a:tc>
                  <a:txBody>
                    <a:bodyPr/>
                    <a:p>
                      <a:pPr algn="ctr">
                        <a:buNone/>
                      </a:pPr>
                      <a:r>
                        <a:rPr lang="en-US" altLang="zh-CN" sz="1200"/>
                        <a:t>/</a:t>
                      </a:r>
                      <a:endParaRPr lang="en-US" altLang="zh-CN" sz="1200"/>
                    </a:p>
                  </a:txBody>
                  <a:tcPr/>
                </a:tc>
              </a:tr>
              <a:tr h="274320">
                <a:tc>
                  <a:txBody>
                    <a:bodyPr/>
                    <a:p>
                      <a:pPr algn="ctr">
                        <a:buNone/>
                      </a:pPr>
                      <a:r>
                        <a:rPr lang="zh-CN" altLang="en-US" sz="1200">
                          <a:sym typeface="+mn-ea"/>
                        </a:rPr>
                        <a:t>二阶前</a:t>
                      </a:r>
                      <a:r>
                        <a:rPr lang="en-US" altLang="zh-CN" sz="1200">
                          <a:sym typeface="+mn-ea"/>
                        </a:rPr>
                        <a:t> - </a:t>
                      </a:r>
                      <a:r>
                        <a:rPr lang="zh-CN" altLang="en-US" sz="1200">
                          <a:sym typeface="+mn-ea"/>
                        </a:rPr>
                        <a:t>后方向</a:t>
                      </a:r>
                      <a:endParaRPr lang="zh-CN" altLang="en-US" sz="1200">
                        <a:sym typeface="+mn-ea"/>
                      </a:endParaRPr>
                    </a:p>
                  </a:txBody>
                  <a:tcPr/>
                </a:tc>
                <a:tc>
                  <a:txBody>
                    <a:bodyPr/>
                    <a:p>
                      <a:pPr algn="ctr">
                        <a:buNone/>
                      </a:pPr>
                      <a:r>
                        <a:rPr lang="en-US" altLang="zh-CN" sz="1200"/>
                        <a:t>0.8434</a:t>
                      </a:r>
                      <a:endParaRPr lang="en-US" altLang="zh-CN" sz="1200"/>
                    </a:p>
                  </a:txBody>
                  <a:tcPr/>
                </a:tc>
                <a:tc>
                  <a:txBody>
                    <a:bodyPr/>
                    <a:p>
                      <a:pPr algn="ctr">
                        <a:buNone/>
                      </a:pPr>
                      <a:r>
                        <a:rPr lang="en-US" altLang="zh-CN" sz="1200"/>
                        <a:t>0.8123</a:t>
                      </a:r>
                      <a:endParaRPr lang="en-US" altLang="zh-CN" sz="1200"/>
                    </a:p>
                  </a:txBody>
                  <a:tcPr/>
                </a:tc>
              </a:tr>
              <a:tr h="274320">
                <a:tc>
                  <a:txBody>
                    <a:bodyPr/>
                    <a:p>
                      <a:pPr algn="ctr">
                        <a:buNone/>
                      </a:pPr>
                      <a:r>
                        <a:rPr lang="zh-CN" altLang="en-US" sz="1200">
                          <a:sym typeface="+mn-ea"/>
                        </a:rPr>
                        <a:t>二阶左</a:t>
                      </a:r>
                      <a:r>
                        <a:rPr lang="en-US" altLang="zh-CN" sz="1200">
                          <a:sym typeface="+mn-ea"/>
                        </a:rPr>
                        <a:t> - </a:t>
                      </a:r>
                      <a:r>
                        <a:rPr lang="zh-CN" altLang="en-US" sz="1200">
                          <a:sym typeface="+mn-ea"/>
                        </a:rPr>
                        <a:t>右方向</a:t>
                      </a:r>
                      <a:endParaRPr lang="zh-CN" altLang="en-US" sz="1200">
                        <a:sym typeface="+mn-ea"/>
                      </a:endParaRPr>
                    </a:p>
                  </a:txBody>
                  <a:tcPr/>
                </a:tc>
                <a:tc>
                  <a:txBody>
                    <a:bodyPr/>
                    <a:p>
                      <a:pPr algn="ctr">
                        <a:buNone/>
                      </a:pPr>
                      <a:r>
                        <a:rPr lang="en-US" altLang="zh-CN" sz="1200"/>
                        <a:t>0.8358</a:t>
                      </a:r>
                      <a:endParaRPr lang="en-US" altLang="zh-CN" sz="1200"/>
                    </a:p>
                  </a:txBody>
                  <a:tcPr/>
                </a:tc>
                <a:tc>
                  <a:txBody>
                    <a:bodyPr/>
                    <a:p>
                      <a:pPr algn="ctr">
                        <a:buNone/>
                      </a:pPr>
                      <a:r>
                        <a:rPr lang="en-US" altLang="zh-CN" sz="1200"/>
                        <a:t>/</a:t>
                      </a:r>
                      <a:endParaRPr lang="en-US" altLang="zh-CN" sz="1200"/>
                    </a:p>
                  </a:txBody>
                  <a:tcPr anchor="ctr" anchorCtr="0"/>
                </a:tc>
              </a:tr>
            </a:tbl>
          </a:graphicData>
        </a:graphic>
      </p:graphicFrame>
      <p:sp>
        <p:nvSpPr>
          <p:cNvPr id="15" name="圆角矩形 14"/>
          <p:cNvSpPr/>
          <p:nvPr/>
        </p:nvSpPr>
        <p:spPr>
          <a:xfrm>
            <a:off x="976630" y="1590040"/>
            <a:ext cx="1294130" cy="216535"/>
          </a:xfrm>
          <a:prstGeom prst="round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125220" y="1546225"/>
            <a:ext cx="1267460" cy="260350"/>
          </a:xfrm>
          <a:prstGeom prst="rect">
            <a:avLst/>
          </a:prstGeom>
          <a:noFill/>
        </p:spPr>
        <p:txBody>
          <a:bodyPr wrap="square" rtlCol="0">
            <a:spAutoFit/>
          </a:bodyPr>
          <a:p>
            <a:r>
              <a:rPr lang="zh-CN" altLang="en-US" sz="1100">
                <a:solidFill>
                  <a:schemeClr val="bg1"/>
                </a:solidFill>
              </a:rPr>
              <a:t>现场实测方法</a:t>
            </a:r>
            <a:endParaRPr lang="zh-CN" altLang="en-US" sz="1100">
              <a:solidFill>
                <a:schemeClr val="bg1"/>
              </a:solidFill>
            </a:endParaRPr>
          </a:p>
        </p:txBody>
      </p:sp>
      <p:sp>
        <p:nvSpPr>
          <p:cNvPr id="18" name="圆角矩形 17"/>
          <p:cNvSpPr/>
          <p:nvPr/>
        </p:nvSpPr>
        <p:spPr>
          <a:xfrm>
            <a:off x="6353810" y="1590040"/>
            <a:ext cx="1294130" cy="216535"/>
          </a:xfrm>
          <a:prstGeom prst="round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6443980" y="1546225"/>
            <a:ext cx="1204595" cy="260350"/>
          </a:xfrm>
          <a:prstGeom prst="rect">
            <a:avLst/>
          </a:prstGeom>
          <a:noFill/>
        </p:spPr>
        <p:txBody>
          <a:bodyPr wrap="square" rtlCol="0">
            <a:spAutoFit/>
          </a:bodyPr>
          <a:p>
            <a:r>
              <a:rPr lang="zh-CN" altLang="en-US" sz="1100">
                <a:solidFill>
                  <a:schemeClr val="bg1"/>
                </a:solidFill>
              </a:rPr>
              <a:t>仿真频率识别</a:t>
            </a:r>
            <a:endParaRPr lang="zh-CN" altLang="en-US" sz="1100">
              <a:solidFill>
                <a:schemeClr val="bg1"/>
              </a:solidFill>
            </a:endParaRPr>
          </a:p>
        </p:txBody>
      </p:sp>
      <p:sp>
        <p:nvSpPr>
          <p:cNvPr id="19" name="矩形 18"/>
          <p:cNvSpPr/>
          <p:nvPr/>
        </p:nvSpPr>
        <p:spPr>
          <a:xfrm>
            <a:off x="1073785" y="185039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1073785" y="205295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矩形 20"/>
          <p:cNvSpPr/>
          <p:nvPr/>
        </p:nvSpPr>
        <p:spPr>
          <a:xfrm>
            <a:off x="1073785" y="225552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矩形 21"/>
          <p:cNvSpPr/>
          <p:nvPr/>
        </p:nvSpPr>
        <p:spPr>
          <a:xfrm>
            <a:off x="1059180" y="245808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矩形 22"/>
          <p:cNvSpPr/>
          <p:nvPr/>
        </p:nvSpPr>
        <p:spPr>
          <a:xfrm>
            <a:off x="1059180" y="266065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矩形 23"/>
          <p:cNvSpPr/>
          <p:nvPr/>
        </p:nvSpPr>
        <p:spPr>
          <a:xfrm>
            <a:off x="1059180" y="286321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6443980" y="185039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6443980" y="205295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矩形 26"/>
          <p:cNvSpPr/>
          <p:nvPr/>
        </p:nvSpPr>
        <p:spPr>
          <a:xfrm>
            <a:off x="6443980" y="225552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矩形 27"/>
          <p:cNvSpPr/>
          <p:nvPr/>
        </p:nvSpPr>
        <p:spPr>
          <a:xfrm>
            <a:off x="6443980" y="245808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1203325" y="1765300"/>
            <a:ext cx="3836035" cy="245110"/>
          </a:xfrm>
          <a:prstGeom prst="rect">
            <a:avLst/>
          </a:prstGeom>
          <a:noFill/>
        </p:spPr>
        <p:txBody>
          <a:bodyPr wrap="square" rtlCol="0">
            <a:spAutoFit/>
          </a:bodyPr>
          <a:p>
            <a:r>
              <a:rPr lang="zh-CN" altLang="en-US" sz="1000"/>
              <a:t>采用环境激励法，在停机状态下识别前-后和左-右方向固有频率；</a:t>
            </a:r>
            <a:endParaRPr lang="zh-CN" altLang="en-US" sz="1000"/>
          </a:p>
        </p:txBody>
      </p:sp>
      <p:sp>
        <p:nvSpPr>
          <p:cNvPr id="30" name="文本框 29"/>
          <p:cNvSpPr txBox="1"/>
          <p:nvPr/>
        </p:nvSpPr>
        <p:spPr>
          <a:xfrm>
            <a:off x="1210310" y="1983105"/>
            <a:ext cx="3829050" cy="245110"/>
          </a:xfrm>
          <a:prstGeom prst="rect">
            <a:avLst/>
          </a:prstGeom>
          <a:noFill/>
        </p:spPr>
        <p:txBody>
          <a:bodyPr wrap="square" rtlCol="0">
            <a:spAutoFit/>
          </a:bodyPr>
          <a:p>
            <a:r>
              <a:rPr lang="zh-CN" altLang="en-US" sz="1000"/>
              <a:t>仪器设备：低频加速度传感器+DASP快速信号采集与分析系统；</a:t>
            </a:r>
            <a:endParaRPr lang="zh-CN" altLang="en-US" sz="1000"/>
          </a:p>
        </p:txBody>
      </p:sp>
      <p:sp>
        <p:nvSpPr>
          <p:cNvPr id="31" name="文本框 30"/>
          <p:cNvSpPr txBox="1"/>
          <p:nvPr/>
        </p:nvSpPr>
        <p:spPr>
          <a:xfrm>
            <a:off x="1203325" y="2171065"/>
            <a:ext cx="3098165" cy="245110"/>
          </a:xfrm>
          <a:prstGeom prst="rect">
            <a:avLst/>
          </a:prstGeom>
          <a:noFill/>
        </p:spPr>
        <p:txBody>
          <a:bodyPr wrap="square" rtlCol="0">
            <a:spAutoFit/>
          </a:bodyPr>
          <a:p>
            <a:r>
              <a:rPr lang="zh-CN" altLang="en-US" sz="1000"/>
              <a:t>工况：风速2-6 m/s，偏航角0°-90°、45°状态测试；</a:t>
            </a:r>
            <a:endParaRPr lang="zh-CN" altLang="en-US" sz="1000"/>
          </a:p>
        </p:txBody>
      </p:sp>
      <p:sp>
        <p:nvSpPr>
          <p:cNvPr id="32" name="文本框 31"/>
          <p:cNvSpPr txBox="1"/>
          <p:nvPr/>
        </p:nvSpPr>
        <p:spPr>
          <a:xfrm>
            <a:off x="1203325" y="2357755"/>
            <a:ext cx="4975225" cy="245110"/>
          </a:xfrm>
          <a:prstGeom prst="rect">
            <a:avLst/>
          </a:prstGeom>
          <a:noFill/>
        </p:spPr>
        <p:txBody>
          <a:bodyPr wrap="square" rtlCol="0">
            <a:spAutoFit/>
          </a:bodyPr>
          <a:p>
            <a:r>
              <a:rPr lang="zh-CN" altLang="en-US" sz="1000"/>
              <a:t>传感器安装：位于塔简内壁与偏航法兰交界处。沿平行/垂直叶轮平面方向正交布置；</a:t>
            </a:r>
            <a:endParaRPr lang="zh-CN" altLang="en-US" sz="1000"/>
          </a:p>
        </p:txBody>
      </p:sp>
      <p:sp>
        <p:nvSpPr>
          <p:cNvPr id="33" name="文本框 32"/>
          <p:cNvSpPr txBox="1"/>
          <p:nvPr/>
        </p:nvSpPr>
        <p:spPr>
          <a:xfrm>
            <a:off x="1203325" y="2549525"/>
            <a:ext cx="4919980" cy="245110"/>
          </a:xfrm>
          <a:prstGeom prst="rect">
            <a:avLst/>
          </a:prstGeom>
          <a:noFill/>
        </p:spPr>
        <p:txBody>
          <a:bodyPr wrap="square" rtlCol="0">
            <a:spAutoFit/>
          </a:bodyPr>
          <a:p>
            <a:r>
              <a:rPr lang="zh-CN" altLang="en-US" sz="1000"/>
              <a:t>采样参数：采样频率20.48 Hz，4096点，频率分鳞率0.005 Hz，每次采集不少于30 min;</a:t>
            </a:r>
            <a:endParaRPr lang="zh-CN" altLang="en-US" sz="1000"/>
          </a:p>
        </p:txBody>
      </p:sp>
      <p:sp>
        <p:nvSpPr>
          <p:cNvPr id="34" name="文本框 33"/>
          <p:cNvSpPr txBox="1"/>
          <p:nvPr/>
        </p:nvSpPr>
        <p:spPr>
          <a:xfrm>
            <a:off x="1210310" y="2780665"/>
            <a:ext cx="5143500" cy="245110"/>
          </a:xfrm>
          <a:prstGeom prst="rect">
            <a:avLst/>
          </a:prstGeom>
          <a:noFill/>
        </p:spPr>
        <p:txBody>
          <a:bodyPr wrap="square" rtlCol="0">
            <a:spAutoFit/>
          </a:bodyPr>
          <a:p>
            <a:r>
              <a:rPr lang="zh-CN" altLang="en-US" sz="1000"/>
              <a:t>数据处理：去直流、去趋势，0.1-10Hz带通滤波，基于功率谱密度峰值拾取识别固有频率；</a:t>
            </a:r>
            <a:endParaRPr lang="zh-CN" altLang="en-US" sz="1000"/>
          </a:p>
        </p:txBody>
      </p:sp>
      <p:sp>
        <p:nvSpPr>
          <p:cNvPr id="35" name="文本框 34"/>
          <p:cNvSpPr txBox="1"/>
          <p:nvPr/>
        </p:nvSpPr>
        <p:spPr>
          <a:xfrm>
            <a:off x="6566535" y="1765300"/>
            <a:ext cx="2121535" cy="245110"/>
          </a:xfrm>
          <a:prstGeom prst="rect">
            <a:avLst/>
          </a:prstGeom>
          <a:noFill/>
        </p:spPr>
        <p:txBody>
          <a:bodyPr wrap="square" rtlCol="0">
            <a:spAutoFit/>
          </a:bodyPr>
          <a:p>
            <a:r>
              <a:rPr lang="zh-CN" altLang="en-US" sz="1000"/>
              <a:t>在Abaqus中进行模态分析；</a:t>
            </a:r>
            <a:endParaRPr lang="zh-CN" altLang="en-US" sz="1000"/>
          </a:p>
        </p:txBody>
      </p:sp>
      <p:sp>
        <p:nvSpPr>
          <p:cNvPr id="36" name="文本框 35"/>
          <p:cNvSpPr txBox="1"/>
          <p:nvPr/>
        </p:nvSpPr>
        <p:spPr>
          <a:xfrm>
            <a:off x="6566535" y="1983105"/>
            <a:ext cx="2846705" cy="245110"/>
          </a:xfrm>
          <a:prstGeom prst="rect">
            <a:avLst/>
          </a:prstGeom>
          <a:noFill/>
        </p:spPr>
        <p:txBody>
          <a:bodyPr wrap="square" rtlCol="0">
            <a:spAutoFit/>
          </a:bodyPr>
          <a:p>
            <a:r>
              <a:rPr lang="zh-CN" altLang="en-US" sz="1000"/>
              <a:t>叶轮一机舱简化为集中质量阴加于特顶中心；</a:t>
            </a:r>
            <a:endParaRPr lang="zh-CN" altLang="en-US" sz="1000"/>
          </a:p>
        </p:txBody>
      </p:sp>
      <p:sp>
        <p:nvSpPr>
          <p:cNvPr id="37" name="文本框 36"/>
          <p:cNvSpPr txBox="1"/>
          <p:nvPr/>
        </p:nvSpPr>
        <p:spPr>
          <a:xfrm>
            <a:off x="6552565" y="2191385"/>
            <a:ext cx="1206500" cy="245110"/>
          </a:xfrm>
          <a:prstGeom prst="rect">
            <a:avLst/>
          </a:prstGeom>
          <a:noFill/>
        </p:spPr>
        <p:txBody>
          <a:bodyPr wrap="square" rtlCol="0">
            <a:spAutoFit/>
          </a:bodyPr>
          <a:p>
            <a:r>
              <a:rPr lang="zh-CN" altLang="en-US" sz="1000"/>
              <a:t>施加重力荷载；</a:t>
            </a:r>
            <a:endParaRPr lang="zh-CN" altLang="en-US" sz="1000"/>
          </a:p>
        </p:txBody>
      </p:sp>
      <p:sp>
        <p:nvSpPr>
          <p:cNvPr id="38" name="文本框 37"/>
          <p:cNvSpPr txBox="1"/>
          <p:nvPr/>
        </p:nvSpPr>
        <p:spPr>
          <a:xfrm>
            <a:off x="6566535" y="2357755"/>
            <a:ext cx="2630170" cy="245110"/>
          </a:xfrm>
          <a:prstGeom prst="rect">
            <a:avLst/>
          </a:prstGeom>
          <a:noFill/>
        </p:spPr>
        <p:txBody>
          <a:bodyPr wrap="square" rtlCol="0">
            <a:spAutoFit/>
          </a:bodyPr>
          <a:p>
            <a:r>
              <a:rPr lang="zh-CN" altLang="en-US" sz="1000"/>
              <a:t>采用LmcnoS法提取的考阶即有频事与振型。</a:t>
            </a:r>
            <a:endParaRPr lang="en-US" altLang="zh-CN" sz="1000"/>
          </a:p>
        </p:txBody>
      </p:sp>
      <p:sp>
        <p:nvSpPr>
          <p:cNvPr id="40" name="椭圆 39"/>
          <p:cNvSpPr/>
          <p:nvPr/>
        </p:nvSpPr>
        <p:spPr>
          <a:xfrm>
            <a:off x="6552565" y="5454015"/>
            <a:ext cx="108585" cy="11493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椭圆 40"/>
          <p:cNvSpPr/>
          <p:nvPr/>
        </p:nvSpPr>
        <p:spPr>
          <a:xfrm>
            <a:off x="6552565" y="5824855"/>
            <a:ext cx="108585" cy="11493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文本框 41"/>
          <p:cNvSpPr txBox="1"/>
          <p:nvPr/>
        </p:nvSpPr>
        <p:spPr>
          <a:xfrm>
            <a:off x="6661150" y="5327650"/>
            <a:ext cx="3618230" cy="368300"/>
          </a:xfrm>
          <a:prstGeom prst="rect">
            <a:avLst/>
          </a:prstGeom>
          <a:noFill/>
        </p:spPr>
        <p:txBody>
          <a:bodyPr wrap="square" rtlCol="0">
            <a:spAutoFit/>
          </a:bodyPr>
          <a:p>
            <a:r>
              <a:rPr lang="zh-CN" altLang="en-US" b="1"/>
              <a:t>实测结果与有限元分析吻合良好；</a:t>
            </a:r>
            <a:endParaRPr lang="zh-CN" altLang="en-US" b="1"/>
          </a:p>
        </p:txBody>
      </p:sp>
      <p:sp>
        <p:nvSpPr>
          <p:cNvPr id="43" name="文本框 42"/>
          <p:cNvSpPr txBox="1"/>
          <p:nvPr/>
        </p:nvSpPr>
        <p:spPr>
          <a:xfrm>
            <a:off x="6729095" y="5641975"/>
            <a:ext cx="4723130" cy="810260"/>
          </a:xfrm>
          <a:prstGeom prst="rect">
            <a:avLst/>
          </a:prstGeom>
          <a:noFill/>
        </p:spPr>
        <p:txBody>
          <a:bodyPr wrap="square" rtlCol="0">
            <a:spAutoFit/>
          </a:bodyPr>
          <a:p>
            <a:pPr>
              <a:lnSpc>
                <a:spcPct val="130000"/>
              </a:lnSpc>
              <a:spcBef>
                <a:spcPts val="0"/>
              </a:spcBef>
              <a:spcAft>
                <a:spcPts val="0"/>
              </a:spcAft>
            </a:pPr>
            <a:r>
              <a:rPr lang="zh-CN" altLang="en-US" b="1"/>
              <a:t>所建立模型能够较为准确地</a:t>
            </a:r>
            <a:r>
              <a:rPr lang="zh-CN" altLang="en-US" b="1">
                <a:solidFill>
                  <a:srgbClr val="C00000"/>
                </a:solidFill>
              </a:rPr>
              <a:t>反映整塔固有频率特性。</a:t>
            </a:r>
            <a:endParaRPr lang="zh-CN" altLang="en-US" b="1">
              <a:solidFill>
                <a:srgbClr val="C00000"/>
              </a:solidFill>
            </a:endParaRPr>
          </a:p>
        </p:txBody>
      </p:sp>
      <p:sp>
        <p:nvSpPr>
          <p:cNvPr id="44" name="文本框 43"/>
          <p:cNvSpPr txBox="1"/>
          <p:nvPr/>
        </p:nvSpPr>
        <p:spPr>
          <a:xfrm>
            <a:off x="8569325" y="4737735"/>
            <a:ext cx="1151890" cy="275590"/>
          </a:xfrm>
          <a:prstGeom prst="rect">
            <a:avLst/>
          </a:prstGeom>
          <a:noFill/>
        </p:spPr>
        <p:txBody>
          <a:bodyPr wrap="square" rtlCol="0">
            <a:spAutoFit/>
          </a:bodyPr>
          <a:p>
            <a:r>
              <a:rPr lang="zh-CN" altLang="en-US" sz="1200"/>
              <a:t>模态振型</a:t>
            </a:r>
            <a:endParaRPr lang="zh-CN" altLang="en-US" sz="1200"/>
          </a:p>
        </p:txBody>
      </p:sp>
      <p:sp>
        <p:nvSpPr>
          <p:cNvPr id="45" name="文本框 44"/>
          <p:cNvSpPr txBox="1"/>
          <p:nvPr/>
        </p:nvSpPr>
        <p:spPr>
          <a:xfrm>
            <a:off x="7135495" y="4410075"/>
            <a:ext cx="1091565" cy="368300"/>
          </a:xfrm>
          <a:prstGeom prst="rect">
            <a:avLst/>
          </a:prstGeom>
          <a:noFill/>
        </p:spPr>
        <p:txBody>
          <a:bodyPr wrap="square" rtlCol="0">
            <a:spAutoFit/>
          </a:bodyPr>
          <a:p>
            <a:r>
              <a:rPr lang="en-US" altLang="zh-CN"/>
              <a:t>a</a:t>
            </a:r>
            <a:r>
              <a:rPr lang="en-US" altLang="zh-CN" sz="1200"/>
              <a:t>) </a:t>
            </a:r>
            <a:r>
              <a:rPr lang="zh-CN" altLang="en-US" sz="1200"/>
              <a:t>一阶模态</a:t>
            </a:r>
            <a:endParaRPr lang="zh-CN" altLang="en-US" sz="1200"/>
          </a:p>
        </p:txBody>
      </p:sp>
      <p:sp>
        <p:nvSpPr>
          <p:cNvPr id="46" name="文本框 45"/>
          <p:cNvSpPr txBox="1"/>
          <p:nvPr/>
        </p:nvSpPr>
        <p:spPr>
          <a:xfrm>
            <a:off x="9196705" y="4462145"/>
            <a:ext cx="1036320" cy="275590"/>
          </a:xfrm>
          <a:prstGeom prst="rect">
            <a:avLst/>
          </a:prstGeom>
          <a:noFill/>
        </p:spPr>
        <p:txBody>
          <a:bodyPr wrap="square" rtlCol="0">
            <a:spAutoFit/>
          </a:bodyPr>
          <a:p>
            <a:r>
              <a:rPr lang="en-US" altLang="zh-CN" sz="1200"/>
              <a:t>b) </a:t>
            </a:r>
            <a:r>
              <a:rPr lang="zh-CN" altLang="en-US" sz="1200"/>
              <a:t>二阶模态</a:t>
            </a:r>
            <a:endParaRPr lang="zh-CN" altLang="en-US" sz="1200"/>
          </a:p>
        </p:txBody>
      </p:sp>
      <p:pic>
        <p:nvPicPr>
          <p:cNvPr id="47" name="图片 46" descr="32.1"/>
          <p:cNvPicPr>
            <a:picLocks noChangeAspect="1"/>
          </p:cNvPicPr>
          <p:nvPr/>
        </p:nvPicPr>
        <p:blipFill>
          <a:blip r:embed="rId2"/>
          <a:stretch>
            <a:fillRect/>
          </a:stretch>
        </p:blipFill>
        <p:spPr>
          <a:xfrm>
            <a:off x="7410450" y="2660650"/>
            <a:ext cx="294005" cy="1835150"/>
          </a:xfrm>
          <a:prstGeom prst="rect">
            <a:avLst/>
          </a:prstGeom>
        </p:spPr>
      </p:pic>
      <p:pic>
        <p:nvPicPr>
          <p:cNvPr id="48" name="图片 47" descr="32.2"/>
          <p:cNvPicPr>
            <a:picLocks noChangeAspect="1"/>
          </p:cNvPicPr>
          <p:nvPr/>
        </p:nvPicPr>
        <p:blipFill>
          <a:blip r:embed="rId3"/>
          <a:stretch>
            <a:fillRect/>
          </a:stretch>
        </p:blipFill>
        <p:spPr>
          <a:xfrm>
            <a:off x="9460230" y="2686050"/>
            <a:ext cx="420370" cy="1724025"/>
          </a:xfrm>
          <a:prstGeom prst="rect">
            <a:avLst/>
          </a:prstGeom>
        </p:spPr>
      </p:pic>
      <p:pic>
        <p:nvPicPr>
          <p:cNvPr id="49" name="图片 48" descr="32.3"/>
          <p:cNvPicPr>
            <a:picLocks noChangeAspect="1"/>
          </p:cNvPicPr>
          <p:nvPr/>
        </p:nvPicPr>
        <p:blipFill>
          <a:blip r:embed="rId4"/>
          <a:stretch>
            <a:fillRect/>
          </a:stretch>
        </p:blipFill>
        <p:spPr>
          <a:xfrm>
            <a:off x="1149350" y="3025775"/>
            <a:ext cx="2545715" cy="1762125"/>
          </a:xfrm>
          <a:prstGeom prst="rect">
            <a:avLst/>
          </a:prstGeom>
        </p:spPr>
      </p:pic>
      <p:pic>
        <p:nvPicPr>
          <p:cNvPr id="50" name="图片 49" descr="32.4"/>
          <p:cNvPicPr>
            <a:picLocks noChangeAspect="1"/>
          </p:cNvPicPr>
          <p:nvPr/>
        </p:nvPicPr>
        <p:blipFill>
          <a:blip r:embed="rId5"/>
          <a:stretch>
            <a:fillRect/>
          </a:stretch>
        </p:blipFill>
        <p:spPr>
          <a:xfrm>
            <a:off x="3833495" y="3025775"/>
            <a:ext cx="2148840" cy="1760220"/>
          </a:xfrm>
          <a:prstGeom prst="rect">
            <a:avLst/>
          </a:prstGeom>
        </p:spPr>
      </p:pic>
      <p:sp>
        <p:nvSpPr>
          <p:cNvPr id="51" name="文本框 50"/>
          <p:cNvSpPr txBox="1"/>
          <p:nvPr/>
        </p:nvSpPr>
        <p:spPr>
          <a:xfrm>
            <a:off x="2138680" y="3936365"/>
            <a:ext cx="1132205" cy="213995"/>
          </a:xfrm>
          <a:prstGeom prst="rect">
            <a:avLst/>
          </a:prstGeom>
          <a:solidFill>
            <a:schemeClr val="bg1"/>
          </a:solidFill>
        </p:spPr>
        <p:txBody>
          <a:bodyPr wrap="square" rtlCol="0">
            <a:spAutoFit/>
          </a:bodyPr>
          <a:p>
            <a:r>
              <a:rPr lang="zh-CN" altLang="en-US" sz="800" b="1">
                <a:solidFill>
                  <a:srgbClr val="C00000"/>
                </a:solidFill>
              </a:rPr>
              <a:t>振动传感器安装位置</a:t>
            </a:r>
            <a:endParaRPr lang="zh-CN" altLang="en-US" sz="800" b="1">
              <a:solidFill>
                <a:srgbClr val="C00000"/>
              </a:solidFill>
            </a:endParaRPr>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32/68</a:t>
            </a:r>
            <a:endParaRPr lang="en-US" altLang="zh-CN">
              <a:latin typeface="微软雅黑" panose="020B0503020204020204" charset="-122"/>
              <a:ea typeface="微软雅黑" panose="020B0503020204020204" charset="-122"/>
            </a:endParaRPr>
          </a:p>
        </p:txBody>
      </p:sp>
      <p:sp>
        <p:nvSpPr>
          <p:cNvPr id="39" name="文本框 38"/>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459930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模型验证：高保真度模型动力响应</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 </a:t>
            </a:r>
            <a:endParaRPr lang="en-US" altLang="zh-CN" sz="23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2" name="椭圆 11"/>
          <p:cNvSpPr/>
          <p:nvPr/>
        </p:nvSpPr>
        <p:spPr>
          <a:xfrm>
            <a:off x="874395" y="1828800"/>
            <a:ext cx="129540" cy="14287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椭圆 12"/>
          <p:cNvSpPr/>
          <p:nvPr/>
        </p:nvSpPr>
        <p:spPr>
          <a:xfrm>
            <a:off x="871855" y="3039745"/>
            <a:ext cx="129540" cy="14287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125220" y="1652270"/>
            <a:ext cx="5570855" cy="1291590"/>
          </a:xfrm>
          <a:prstGeom prst="rect">
            <a:avLst/>
          </a:prstGeom>
          <a:noFill/>
        </p:spPr>
        <p:txBody>
          <a:bodyPr wrap="square" rtlCol="0">
            <a:spAutoFit/>
          </a:bodyPr>
          <a:p>
            <a:pPr>
              <a:lnSpc>
                <a:spcPct val="130000"/>
              </a:lnSpc>
              <a:spcBef>
                <a:spcPts val="0"/>
              </a:spcBef>
              <a:spcAft>
                <a:spcPts val="0"/>
              </a:spcAft>
            </a:pPr>
            <a:r>
              <a:rPr lang="zh-CN" altLang="en-US" sz="2000" b="1"/>
              <a:t>对比对象</a:t>
            </a:r>
            <a:r>
              <a:rPr lang="zh-CN" altLang="en-US" sz="2000"/>
              <a:t>：分别通过Simpack+Abaqus联合仿真方</a:t>
            </a:r>
            <a:endParaRPr lang="zh-CN" altLang="en-US" sz="2000"/>
          </a:p>
          <a:p>
            <a:pPr>
              <a:lnSpc>
                <a:spcPct val="130000"/>
              </a:lnSpc>
              <a:spcBef>
                <a:spcPts val="0"/>
              </a:spcBef>
              <a:spcAft>
                <a:spcPts val="0"/>
              </a:spcAft>
            </a:pPr>
            <a:r>
              <a:rPr lang="zh-CN" altLang="en-US" sz="2000"/>
              <a:t>法和OpenfAST</a:t>
            </a:r>
            <a:r>
              <a:rPr lang="en-US" altLang="zh-CN" sz="2000"/>
              <a:t> </a:t>
            </a:r>
            <a:r>
              <a:rPr lang="zh-CN" altLang="en-US" sz="2000"/>
              <a:t>建立</a:t>
            </a:r>
            <a:r>
              <a:rPr lang="zh-CN" altLang="en-US" sz="2000" b="1">
                <a:solidFill>
                  <a:srgbClr val="023A8B"/>
                </a:solidFill>
                <a:latin typeface="+mj-ea"/>
                <a:ea typeface="+mj-ea"/>
              </a:rPr>
              <a:t>NREL5-MW</a:t>
            </a:r>
            <a:r>
              <a:rPr lang="zh-CN" altLang="en-US" sz="2000" b="1">
                <a:solidFill>
                  <a:srgbClr val="023A8B"/>
                </a:solidFill>
              </a:rPr>
              <a:t>参考风电机组</a:t>
            </a:r>
            <a:r>
              <a:rPr lang="zh-CN" altLang="en-US" sz="2000"/>
              <a:t>的</a:t>
            </a:r>
            <a:endParaRPr lang="zh-CN" altLang="en-US" sz="2000"/>
          </a:p>
          <a:p>
            <a:pPr>
              <a:lnSpc>
                <a:spcPct val="130000"/>
              </a:lnSpc>
              <a:spcBef>
                <a:spcPts val="0"/>
              </a:spcBef>
              <a:spcAft>
                <a:spcPts val="0"/>
              </a:spcAft>
            </a:pPr>
            <a:r>
              <a:rPr lang="zh-CN" altLang="en-US" sz="2000"/>
              <a:t>数值模型。</a:t>
            </a:r>
            <a:endParaRPr lang="zh-CN" altLang="en-US" sz="2000"/>
          </a:p>
        </p:txBody>
      </p:sp>
      <p:sp>
        <p:nvSpPr>
          <p:cNvPr id="15" name="文本框 14"/>
          <p:cNvSpPr txBox="1"/>
          <p:nvPr/>
        </p:nvSpPr>
        <p:spPr>
          <a:xfrm>
            <a:off x="1125220" y="2830830"/>
            <a:ext cx="5739130" cy="1291590"/>
          </a:xfrm>
          <a:prstGeom prst="rect">
            <a:avLst/>
          </a:prstGeom>
          <a:noFill/>
        </p:spPr>
        <p:txBody>
          <a:bodyPr wrap="square" rtlCol="0">
            <a:spAutoFit/>
          </a:bodyPr>
          <a:p>
            <a:pPr>
              <a:lnSpc>
                <a:spcPct val="130000"/>
              </a:lnSpc>
              <a:spcBef>
                <a:spcPts val="0"/>
              </a:spcBef>
              <a:spcAft>
                <a:spcPts val="0"/>
              </a:spcAft>
            </a:pPr>
            <a:r>
              <a:rPr lang="zh-CN" altLang="en-US" sz="2000"/>
              <a:t>湍流风场采用IC标准中的正常湍流模型，湍流强</a:t>
            </a:r>
            <a:endParaRPr lang="zh-CN" altLang="en-US" sz="2000"/>
          </a:p>
          <a:p>
            <a:pPr>
              <a:lnSpc>
                <a:spcPct val="130000"/>
              </a:lnSpc>
              <a:spcBef>
                <a:spcPts val="0"/>
              </a:spcBef>
              <a:spcAft>
                <a:spcPts val="0"/>
              </a:spcAft>
            </a:pPr>
            <a:r>
              <a:rPr lang="zh-CN" altLang="en-US" sz="2000"/>
              <a:t>度为A，轮毂高度处平均风速为14 m/s，对比塔顶处位移时程相应结果：</a:t>
            </a:r>
            <a:endParaRPr lang="zh-CN" altLang="en-US" sz="2000"/>
          </a:p>
        </p:txBody>
      </p:sp>
      <p:sp>
        <p:nvSpPr>
          <p:cNvPr id="16" name="任意多边形 15"/>
          <p:cNvSpPr/>
          <p:nvPr/>
        </p:nvSpPr>
        <p:spPr>
          <a:xfrm>
            <a:off x="1231900" y="4248785"/>
            <a:ext cx="123825" cy="69850"/>
          </a:xfrm>
          <a:custGeom>
            <a:avLst/>
            <a:gdLst>
              <a:gd name="connsiteX0" fmla="*/ 65 w 195"/>
              <a:gd name="connsiteY0" fmla="*/ 110 h 110"/>
              <a:gd name="connsiteX1" fmla="*/ 0 w 195"/>
              <a:gd name="connsiteY1" fmla="*/ 0 h 110"/>
              <a:gd name="connsiteX2" fmla="*/ 195 w 195"/>
              <a:gd name="connsiteY2" fmla="*/ 110 h 110"/>
              <a:gd name="connsiteX3" fmla="*/ 65 w 195"/>
              <a:gd name="connsiteY3" fmla="*/ 110 h 110"/>
            </a:gdLst>
            <a:ahLst/>
            <a:cxnLst>
              <a:cxn ang="0">
                <a:pos x="connsiteX0" y="connsiteY0"/>
              </a:cxn>
              <a:cxn ang="0">
                <a:pos x="connsiteX1" y="connsiteY1"/>
              </a:cxn>
              <a:cxn ang="0">
                <a:pos x="connsiteX2" y="connsiteY2"/>
              </a:cxn>
              <a:cxn ang="0">
                <a:pos x="connsiteX3" y="connsiteY3"/>
              </a:cxn>
            </a:cxnLst>
            <a:rect l="l" t="t" r="r" b="b"/>
            <a:pathLst>
              <a:path w="195" h="110">
                <a:moveTo>
                  <a:pt x="65" y="110"/>
                </a:moveTo>
                <a:lnTo>
                  <a:pt x="0" y="0"/>
                </a:lnTo>
                <a:lnTo>
                  <a:pt x="195" y="110"/>
                </a:lnTo>
                <a:lnTo>
                  <a:pt x="65" y="110"/>
                </a:lnTo>
                <a:close/>
              </a:path>
            </a:pathLst>
          </a:custGeom>
          <a:solidFill>
            <a:schemeClr val="bg1"/>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nvSpPr>
        <p:spPr>
          <a:xfrm rot="10800000" flipH="1">
            <a:off x="1231900" y="4318635"/>
            <a:ext cx="123825" cy="69850"/>
          </a:xfrm>
          <a:custGeom>
            <a:avLst/>
            <a:gdLst>
              <a:gd name="connsiteX0" fmla="*/ 65 w 195"/>
              <a:gd name="connsiteY0" fmla="*/ 110 h 110"/>
              <a:gd name="connsiteX1" fmla="*/ 0 w 195"/>
              <a:gd name="connsiteY1" fmla="*/ 0 h 110"/>
              <a:gd name="connsiteX2" fmla="*/ 195 w 195"/>
              <a:gd name="connsiteY2" fmla="*/ 110 h 110"/>
              <a:gd name="connsiteX3" fmla="*/ 65 w 195"/>
              <a:gd name="connsiteY3" fmla="*/ 110 h 110"/>
            </a:gdLst>
            <a:ahLst/>
            <a:cxnLst>
              <a:cxn ang="0">
                <a:pos x="connsiteX0" y="connsiteY0"/>
              </a:cxn>
              <a:cxn ang="0">
                <a:pos x="connsiteX1" y="connsiteY1"/>
              </a:cxn>
              <a:cxn ang="0">
                <a:pos x="connsiteX2" y="connsiteY2"/>
              </a:cxn>
              <a:cxn ang="0">
                <a:pos x="connsiteX3" y="connsiteY3"/>
              </a:cxn>
            </a:cxnLst>
            <a:rect l="l" t="t" r="r" b="b"/>
            <a:pathLst>
              <a:path w="195" h="110">
                <a:moveTo>
                  <a:pt x="65" y="110"/>
                </a:moveTo>
                <a:lnTo>
                  <a:pt x="0" y="0"/>
                </a:lnTo>
                <a:lnTo>
                  <a:pt x="195" y="110"/>
                </a:lnTo>
                <a:lnTo>
                  <a:pt x="65" y="110"/>
                </a:lnTo>
                <a:close/>
              </a:path>
            </a:pathLst>
          </a:custGeom>
          <a:solidFill>
            <a:srgbClr val="C00000"/>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任意多边形 17"/>
          <p:cNvSpPr/>
          <p:nvPr/>
        </p:nvSpPr>
        <p:spPr>
          <a:xfrm>
            <a:off x="1235075" y="5055235"/>
            <a:ext cx="123825" cy="69850"/>
          </a:xfrm>
          <a:custGeom>
            <a:avLst/>
            <a:gdLst>
              <a:gd name="connsiteX0" fmla="*/ 65 w 195"/>
              <a:gd name="connsiteY0" fmla="*/ 110 h 110"/>
              <a:gd name="connsiteX1" fmla="*/ 0 w 195"/>
              <a:gd name="connsiteY1" fmla="*/ 0 h 110"/>
              <a:gd name="connsiteX2" fmla="*/ 195 w 195"/>
              <a:gd name="connsiteY2" fmla="*/ 110 h 110"/>
              <a:gd name="connsiteX3" fmla="*/ 65 w 195"/>
              <a:gd name="connsiteY3" fmla="*/ 110 h 110"/>
            </a:gdLst>
            <a:ahLst/>
            <a:cxnLst>
              <a:cxn ang="0">
                <a:pos x="connsiteX0" y="connsiteY0"/>
              </a:cxn>
              <a:cxn ang="0">
                <a:pos x="connsiteX1" y="connsiteY1"/>
              </a:cxn>
              <a:cxn ang="0">
                <a:pos x="connsiteX2" y="connsiteY2"/>
              </a:cxn>
              <a:cxn ang="0">
                <a:pos x="connsiteX3" y="connsiteY3"/>
              </a:cxn>
            </a:cxnLst>
            <a:rect l="l" t="t" r="r" b="b"/>
            <a:pathLst>
              <a:path w="195" h="110">
                <a:moveTo>
                  <a:pt x="65" y="110"/>
                </a:moveTo>
                <a:lnTo>
                  <a:pt x="0" y="0"/>
                </a:lnTo>
                <a:lnTo>
                  <a:pt x="195" y="110"/>
                </a:lnTo>
                <a:lnTo>
                  <a:pt x="65" y="110"/>
                </a:lnTo>
                <a:close/>
              </a:path>
            </a:pathLst>
          </a:custGeom>
          <a:solidFill>
            <a:schemeClr val="bg1"/>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任意多边形 18"/>
          <p:cNvSpPr/>
          <p:nvPr/>
        </p:nvSpPr>
        <p:spPr>
          <a:xfrm rot="10800000" flipH="1">
            <a:off x="1235075" y="5125085"/>
            <a:ext cx="123825" cy="69850"/>
          </a:xfrm>
          <a:custGeom>
            <a:avLst/>
            <a:gdLst>
              <a:gd name="connsiteX0" fmla="*/ 65 w 195"/>
              <a:gd name="connsiteY0" fmla="*/ 110 h 110"/>
              <a:gd name="connsiteX1" fmla="*/ 0 w 195"/>
              <a:gd name="connsiteY1" fmla="*/ 0 h 110"/>
              <a:gd name="connsiteX2" fmla="*/ 195 w 195"/>
              <a:gd name="connsiteY2" fmla="*/ 110 h 110"/>
              <a:gd name="connsiteX3" fmla="*/ 65 w 195"/>
              <a:gd name="connsiteY3" fmla="*/ 110 h 110"/>
            </a:gdLst>
            <a:ahLst/>
            <a:cxnLst>
              <a:cxn ang="0">
                <a:pos x="connsiteX0" y="connsiteY0"/>
              </a:cxn>
              <a:cxn ang="0">
                <a:pos x="connsiteX1" y="connsiteY1"/>
              </a:cxn>
              <a:cxn ang="0">
                <a:pos x="connsiteX2" y="connsiteY2"/>
              </a:cxn>
              <a:cxn ang="0">
                <a:pos x="connsiteX3" y="connsiteY3"/>
              </a:cxn>
            </a:cxnLst>
            <a:rect l="l" t="t" r="r" b="b"/>
            <a:pathLst>
              <a:path w="195" h="110">
                <a:moveTo>
                  <a:pt x="65" y="110"/>
                </a:moveTo>
                <a:lnTo>
                  <a:pt x="0" y="0"/>
                </a:lnTo>
                <a:lnTo>
                  <a:pt x="195" y="110"/>
                </a:lnTo>
                <a:lnTo>
                  <a:pt x="65" y="110"/>
                </a:lnTo>
                <a:close/>
              </a:path>
            </a:pathLst>
          </a:custGeom>
          <a:solidFill>
            <a:schemeClr val="tx1"/>
          </a:solidFill>
          <a:ln w="952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1414780" y="4051300"/>
            <a:ext cx="5379720" cy="930910"/>
          </a:xfrm>
          <a:prstGeom prst="rect">
            <a:avLst/>
          </a:prstGeom>
          <a:noFill/>
        </p:spPr>
        <p:txBody>
          <a:bodyPr wrap="square" rtlCol="0">
            <a:spAutoFit/>
          </a:bodyPr>
          <a:p>
            <a:pPr>
              <a:lnSpc>
                <a:spcPct val="130000"/>
              </a:lnSpc>
              <a:spcBef>
                <a:spcPts val="0"/>
              </a:spcBef>
              <a:spcAft>
                <a:spcPts val="0"/>
              </a:spcAft>
            </a:pPr>
            <a:r>
              <a:rPr lang="zh-CN" altLang="en-US" sz="2100" b="1">
                <a:solidFill>
                  <a:srgbClr val="C00000"/>
                </a:solidFill>
              </a:rPr>
              <a:t>联合仿真模型的动力响应与OpenFAST模型的动力响应基本一致。</a:t>
            </a:r>
            <a:endParaRPr lang="zh-CN" altLang="en-US" sz="2100" b="1">
              <a:solidFill>
                <a:srgbClr val="C00000"/>
              </a:solidFill>
            </a:endParaRPr>
          </a:p>
        </p:txBody>
      </p:sp>
      <p:sp>
        <p:nvSpPr>
          <p:cNvPr id="21" name="文本框 20"/>
          <p:cNvSpPr txBox="1"/>
          <p:nvPr/>
        </p:nvSpPr>
        <p:spPr>
          <a:xfrm>
            <a:off x="1414780" y="4842510"/>
            <a:ext cx="5379085" cy="1311275"/>
          </a:xfrm>
          <a:prstGeom prst="rect">
            <a:avLst/>
          </a:prstGeom>
          <a:noFill/>
        </p:spPr>
        <p:txBody>
          <a:bodyPr wrap="square" rtlCol="0">
            <a:spAutoFit/>
          </a:bodyPr>
          <a:p>
            <a:pPr indent="0" fontAlgn="auto">
              <a:lnSpc>
                <a:spcPct val="130000"/>
              </a:lnSpc>
            </a:pPr>
            <a:r>
              <a:rPr lang="zh-CN" altLang="en-US" sz="2000" b="1"/>
              <a:t>与OpenFAST相较，联合仿真模型在初始状态下的动力响应波动较小。有助于在后续的非线性分析过程中</a:t>
            </a:r>
            <a:r>
              <a:rPr lang="zh-CN" altLang="en-US" sz="2000" b="1">
                <a:solidFill>
                  <a:srgbClr val="023A8B"/>
                </a:solidFill>
              </a:rPr>
              <a:t>避免材料的过早塑性变形或损伤</a:t>
            </a:r>
            <a:r>
              <a:rPr lang="zh-CN" altLang="en-US" sz="2100" b="1">
                <a:solidFill>
                  <a:srgbClr val="023A8B"/>
                </a:solidFill>
              </a:rPr>
              <a:t>。</a:t>
            </a:r>
            <a:endParaRPr lang="zh-CN" altLang="en-US" sz="2100" b="1">
              <a:solidFill>
                <a:srgbClr val="023A8B"/>
              </a:solidFill>
            </a:endParaRPr>
          </a:p>
        </p:txBody>
      </p:sp>
      <p:pic>
        <p:nvPicPr>
          <p:cNvPr id="22" name="图片 21" descr="33.1.1"/>
          <p:cNvPicPr>
            <a:picLocks noChangeAspect="1"/>
          </p:cNvPicPr>
          <p:nvPr/>
        </p:nvPicPr>
        <p:blipFill>
          <a:blip r:embed="rId1"/>
          <a:stretch>
            <a:fillRect/>
          </a:stretch>
        </p:blipFill>
        <p:spPr>
          <a:xfrm>
            <a:off x="7576185" y="1270635"/>
            <a:ext cx="3582670" cy="4846955"/>
          </a:xfrm>
          <a:prstGeom prst="rect">
            <a:avLst/>
          </a:prstGeom>
        </p:spPr>
      </p:pic>
      <p:sp>
        <p:nvSpPr>
          <p:cNvPr id="23" name="文本框 22"/>
          <p:cNvSpPr txBox="1"/>
          <p:nvPr/>
        </p:nvSpPr>
        <p:spPr>
          <a:xfrm rot="16200000">
            <a:off x="6781800" y="4554220"/>
            <a:ext cx="1381125" cy="291465"/>
          </a:xfrm>
          <a:prstGeom prst="rect">
            <a:avLst/>
          </a:prstGeom>
          <a:noFill/>
        </p:spPr>
        <p:txBody>
          <a:bodyPr wrap="square" rtlCol="0">
            <a:spAutoFit/>
          </a:bodyPr>
          <a:p>
            <a:r>
              <a:rPr lang="zh-CN" altLang="en-US" sz="1300"/>
              <a:t>位移</a:t>
            </a:r>
            <a:r>
              <a:rPr lang="en-US" altLang="zh-CN" sz="1300"/>
              <a:t>(mm)</a:t>
            </a:r>
            <a:endParaRPr lang="en-US" altLang="zh-CN" sz="1300"/>
          </a:p>
        </p:txBody>
      </p:sp>
      <p:sp>
        <p:nvSpPr>
          <p:cNvPr id="24" name="文本框 23"/>
          <p:cNvSpPr txBox="1"/>
          <p:nvPr/>
        </p:nvSpPr>
        <p:spPr>
          <a:xfrm>
            <a:off x="9169400" y="6082030"/>
            <a:ext cx="732155" cy="291465"/>
          </a:xfrm>
          <a:prstGeom prst="rect">
            <a:avLst/>
          </a:prstGeom>
          <a:noFill/>
        </p:spPr>
        <p:txBody>
          <a:bodyPr wrap="square" rtlCol="0">
            <a:spAutoFit/>
          </a:bodyPr>
          <a:p>
            <a:r>
              <a:rPr lang="zh-CN" altLang="en-US" sz="1300"/>
              <a:t>时间</a:t>
            </a:r>
            <a:r>
              <a:rPr lang="en-US" altLang="zh-CN" sz="1300"/>
              <a:t>(s)</a:t>
            </a:r>
            <a:endParaRPr lang="en-US" altLang="zh-CN" sz="1300"/>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33/68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14120" y="1101090"/>
            <a:ext cx="9006205" cy="445135"/>
          </a:xfrm>
          <a:prstGeom prst="rect">
            <a:avLst/>
          </a:prstGeom>
          <a:noFill/>
        </p:spPr>
        <p:txBody>
          <a:bodyPr wrap="square" rtlCol="0">
            <a:spAutoFit/>
          </a:bodyPr>
          <a:p>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高保真度模型能够反映</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风场、伺服控制与结构响应</a:t>
            </a:r>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之间的耦合效应</a:t>
            </a:r>
            <a:r>
              <a:rPr lang="en-US" altLang="zh-CN" sz="2300" b="1">
                <a:solidFill>
                  <a:srgbClr val="023A8B"/>
                </a:solidFill>
                <a:latin typeface="微软雅黑" panose="020B0503020204020204" charset="-122"/>
                <a:ea typeface="微软雅黑" panose="020B0503020204020204" charset="-122"/>
                <a:cs typeface="微软雅黑" panose="020B0503020204020204" charset="-122"/>
              </a:rPr>
              <a:t> </a:t>
            </a:r>
            <a:endParaRPr lang="en-US" altLang="zh-CN" sz="2300" b="1">
              <a:solidFill>
                <a:srgbClr val="023A8B"/>
              </a:solidFill>
              <a:latin typeface="微软雅黑" panose="020B0503020204020204" charset="-122"/>
              <a:ea typeface="微软雅黑" panose="020B0503020204020204" charset="-122"/>
              <a:cs typeface="微软雅黑" panose="020B0503020204020204" charset="-122"/>
            </a:endParaRPr>
          </a:p>
        </p:txBody>
      </p:sp>
      <p:sp>
        <p:nvSpPr>
          <p:cNvPr id="12" name="任意多边形 11"/>
          <p:cNvSpPr/>
          <p:nvPr/>
        </p:nvSpPr>
        <p:spPr>
          <a:xfrm>
            <a:off x="549275" y="1535430"/>
            <a:ext cx="5905500" cy="2769262"/>
          </a:xfrm>
          <a:custGeom>
            <a:avLst/>
            <a:gdLst>
              <a:gd name="connsiteX0" fmla="*/ 0 w 9300"/>
              <a:gd name="connsiteY0" fmla="*/ 435 h 4361"/>
              <a:gd name="connsiteX1" fmla="*/ 435 w 9300"/>
              <a:gd name="connsiteY1" fmla="*/ 0 h 4361"/>
              <a:gd name="connsiteX2" fmla="*/ 8885 w 9300"/>
              <a:gd name="connsiteY2" fmla="*/ 5 h 4361"/>
              <a:gd name="connsiteX3" fmla="*/ 9290 w 9300"/>
              <a:gd name="connsiteY3" fmla="*/ 470 h 4361"/>
              <a:gd name="connsiteX4" fmla="*/ 9300 w 9300"/>
              <a:gd name="connsiteY4" fmla="*/ 4000 h 4361"/>
              <a:gd name="connsiteX5" fmla="*/ 8900 w 9300"/>
              <a:gd name="connsiteY5" fmla="*/ 4360 h 4361"/>
              <a:gd name="connsiteX6" fmla="*/ 435 w 9300"/>
              <a:gd name="connsiteY6" fmla="*/ 4360 h 4361"/>
              <a:gd name="connsiteX7" fmla="*/ 10 w 9300"/>
              <a:gd name="connsiteY7" fmla="*/ 3970 h 4361"/>
              <a:gd name="connsiteX8" fmla="*/ 0 w 9300"/>
              <a:gd name="connsiteY8" fmla="*/ 435 h 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0" h="4361">
                <a:moveTo>
                  <a:pt x="0" y="435"/>
                </a:moveTo>
                <a:cubicBezTo>
                  <a:pt x="0" y="36"/>
                  <a:pt x="36" y="0"/>
                  <a:pt x="435" y="0"/>
                </a:cubicBezTo>
                <a:lnTo>
                  <a:pt x="8885" y="5"/>
                </a:lnTo>
                <a:cubicBezTo>
                  <a:pt x="9284" y="5"/>
                  <a:pt x="9290" y="71"/>
                  <a:pt x="9290" y="470"/>
                </a:cubicBezTo>
                <a:lnTo>
                  <a:pt x="9300" y="4000"/>
                </a:lnTo>
                <a:cubicBezTo>
                  <a:pt x="9300" y="4399"/>
                  <a:pt x="9299" y="4360"/>
                  <a:pt x="8900" y="4360"/>
                </a:cubicBezTo>
                <a:lnTo>
                  <a:pt x="435" y="4360"/>
                </a:lnTo>
                <a:cubicBezTo>
                  <a:pt x="36" y="4360"/>
                  <a:pt x="10" y="4369"/>
                  <a:pt x="10" y="3970"/>
                </a:cubicBezTo>
                <a:lnTo>
                  <a:pt x="0" y="435"/>
                </a:lnTo>
                <a:close/>
              </a:path>
            </a:pathLst>
          </a:custGeom>
          <a:ln>
            <a:solidFill>
              <a:schemeClr val="bg2">
                <a:lumMod val="9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1149350" y="4044315"/>
            <a:ext cx="4516120" cy="275590"/>
          </a:xfrm>
          <a:prstGeom prst="rect">
            <a:avLst/>
          </a:prstGeom>
          <a:noFill/>
        </p:spPr>
        <p:txBody>
          <a:bodyPr wrap="square" rtlCol="0">
            <a:spAutoFit/>
          </a:bodyPr>
          <a:p>
            <a:r>
              <a:rPr lang="zh-CN" altLang="en-US" sz="1200"/>
              <a:t>采用评价风速</a:t>
            </a:r>
            <a:r>
              <a:rPr lang="en-US" altLang="zh-CN" sz="1200"/>
              <a:t>12m/s</a:t>
            </a:r>
            <a:r>
              <a:rPr lang="zh-CN" altLang="en-US" sz="1200"/>
              <a:t>与</a:t>
            </a:r>
            <a:r>
              <a:rPr lang="en-US" altLang="zh-CN" sz="1200"/>
              <a:t>22m/s</a:t>
            </a:r>
            <a:r>
              <a:rPr lang="zh-CN" altLang="en-US" sz="1200"/>
              <a:t>，</a:t>
            </a:r>
            <a:r>
              <a:rPr lang="en-US" altLang="zh-CN" sz="1200"/>
              <a:t>A</a:t>
            </a:r>
            <a:r>
              <a:rPr lang="zh-CN" altLang="en-US" sz="1200"/>
              <a:t>类湍流强度的三维风场作为输入</a:t>
            </a:r>
            <a:endParaRPr lang="zh-CN" altLang="en-US" sz="1200"/>
          </a:p>
        </p:txBody>
      </p:sp>
      <p:sp>
        <p:nvSpPr>
          <p:cNvPr id="15" name="任意多边形 14"/>
          <p:cNvSpPr/>
          <p:nvPr/>
        </p:nvSpPr>
        <p:spPr>
          <a:xfrm>
            <a:off x="551815" y="4510405"/>
            <a:ext cx="5901055" cy="1993900"/>
          </a:xfrm>
          <a:custGeom>
            <a:avLst/>
            <a:gdLst>
              <a:gd name="connsiteX0" fmla="*/ 10 w 9293"/>
              <a:gd name="connsiteY0" fmla="*/ 323 h 3140"/>
              <a:gd name="connsiteX1" fmla="*/ 518 w 9293"/>
              <a:gd name="connsiteY1" fmla="*/ 0 h 3140"/>
              <a:gd name="connsiteX2" fmla="*/ 8940 w 9293"/>
              <a:gd name="connsiteY2" fmla="*/ 3 h 3140"/>
              <a:gd name="connsiteX3" fmla="*/ 9287 w 9293"/>
              <a:gd name="connsiteY3" fmla="*/ 353 h 3140"/>
              <a:gd name="connsiteX4" fmla="*/ 9293 w 9293"/>
              <a:gd name="connsiteY4" fmla="*/ 2800 h 3140"/>
              <a:gd name="connsiteX5" fmla="*/ 8973 w 9293"/>
              <a:gd name="connsiteY5" fmla="*/ 3123 h 3140"/>
              <a:gd name="connsiteX6" fmla="*/ 350 w 9293"/>
              <a:gd name="connsiteY6" fmla="*/ 3140 h 3140"/>
              <a:gd name="connsiteX7" fmla="*/ 0 w 9293"/>
              <a:gd name="connsiteY7" fmla="*/ 2770 h 3140"/>
              <a:gd name="connsiteX8" fmla="*/ 10 w 9293"/>
              <a:gd name="connsiteY8" fmla="*/ 323 h 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93" h="3140">
                <a:moveTo>
                  <a:pt x="10" y="323"/>
                </a:moveTo>
                <a:cubicBezTo>
                  <a:pt x="10" y="35"/>
                  <a:pt x="230" y="0"/>
                  <a:pt x="518" y="0"/>
                </a:cubicBezTo>
                <a:lnTo>
                  <a:pt x="8940" y="3"/>
                </a:lnTo>
                <a:cubicBezTo>
                  <a:pt x="9228" y="3"/>
                  <a:pt x="9287" y="65"/>
                  <a:pt x="9287" y="353"/>
                </a:cubicBezTo>
                <a:lnTo>
                  <a:pt x="9293" y="2800"/>
                </a:lnTo>
                <a:cubicBezTo>
                  <a:pt x="9293" y="3088"/>
                  <a:pt x="9261" y="3123"/>
                  <a:pt x="8973" y="3123"/>
                </a:cubicBezTo>
                <a:lnTo>
                  <a:pt x="350" y="3140"/>
                </a:lnTo>
                <a:cubicBezTo>
                  <a:pt x="62" y="3140"/>
                  <a:pt x="0" y="3058"/>
                  <a:pt x="0" y="2770"/>
                </a:cubicBezTo>
                <a:lnTo>
                  <a:pt x="10" y="323"/>
                </a:lnTo>
                <a:close/>
              </a:path>
            </a:pathLst>
          </a:custGeom>
          <a:ln>
            <a:solidFill>
              <a:schemeClr val="bg2">
                <a:lumMod val="9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矩形 15"/>
          <p:cNvSpPr/>
          <p:nvPr/>
        </p:nvSpPr>
        <p:spPr>
          <a:xfrm>
            <a:off x="551815" y="4372610"/>
            <a:ext cx="1782445" cy="278130"/>
          </a:xfrm>
          <a:prstGeom prst="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782955" y="4372610"/>
            <a:ext cx="1673860" cy="222885"/>
          </a:xfrm>
          <a:prstGeom prst="rect">
            <a:avLst/>
          </a:prstGeom>
          <a:noFill/>
        </p:spPr>
        <p:txBody>
          <a:bodyPr wrap="square" rtlCol="0">
            <a:noAutofit/>
          </a:bodyPr>
          <a:p>
            <a:r>
              <a:rPr lang="zh-CN" altLang="en-US" sz="1300" b="1">
                <a:solidFill>
                  <a:schemeClr val="bg1"/>
                </a:solidFill>
              </a:rPr>
              <a:t>风速变化的影响</a:t>
            </a:r>
            <a:endParaRPr lang="zh-CN" altLang="en-US" sz="1300" b="1">
              <a:solidFill>
                <a:schemeClr val="bg1"/>
              </a:solidFill>
            </a:endParaRPr>
          </a:p>
        </p:txBody>
      </p:sp>
      <p:sp>
        <p:nvSpPr>
          <p:cNvPr id="19" name="任意多边形 18"/>
          <p:cNvSpPr/>
          <p:nvPr/>
        </p:nvSpPr>
        <p:spPr>
          <a:xfrm>
            <a:off x="6573520" y="1610317"/>
            <a:ext cx="5109226" cy="4895496"/>
          </a:xfrm>
          <a:custGeom>
            <a:avLst/>
            <a:gdLst>
              <a:gd name="connsiteX0" fmla="*/ 26 w 8046"/>
              <a:gd name="connsiteY0" fmla="*/ 568 h 7709"/>
              <a:gd name="connsiteX1" fmla="*/ 760 w 8046"/>
              <a:gd name="connsiteY1" fmla="*/ 14 h 7709"/>
              <a:gd name="connsiteX2" fmla="*/ 7340 w 8046"/>
              <a:gd name="connsiteY2" fmla="*/ 15 h 7709"/>
              <a:gd name="connsiteX3" fmla="*/ 8040 w 8046"/>
              <a:gd name="connsiteY3" fmla="*/ 675 h 7709"/>
              <a:gd name="connsiteX4" fmla="*/ 8046 w 8046"/>
              <a:gd name="connsiteY4" fmla="*/ 7126 h 7709"/>
              <a:gd name="connsiteX5" fmla="*/ 7353 w 8046"/>
              <a:gd name="connsiteY5" fmla="*/ 7699 h 7709"/>
              <a:gd name="connsiteX6" fmla="*/ 733 w 8046"/>
              <a:gd name="connsiteY6" fmla="*/ 7673 h 7709"/>
              <a:gd name="connsiteX7" fmla="*/ 0 w 8046"/>
              <a:gd name="connsiteY7" fmla="*/ 6987 h 7709"/>
              <a:gd name="connsiteX8" fmla="*/ 26 w 8046"/>
              <a:gd name="connsiteY8" fmla="*/ 568 h 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46" h="7709">
                <a:moveTo>
                  <a:pt x="26" y="568"/>
                </a:moveTo>
                <a:cubicBezTo>
                  <a:pt x="26" y="-140"/>
                  <a:pt x="52" y="14"/>
                  <a:pt x="760" y="14"/>
                </a:cubicBezTo>
                <a:lnTo>
                  <a:pt x="7340" y="15"/>
                </a:lnTo>
                <a:cubicBezTo>
                  <a:pt x="8048" y="15"/>
                  <a:pt x="8040" y="-33"/>
                  <a:pt x="8040" y="675"/>
                </a:cubicBezTo>
                <a:lnTo>
                  <a:pt x="8046" y="7126"/>
                </a:lnTo>
                <a:cubicBezTo>
                  <a:pt x="8046" y="7834"/>
                  <a:pt x="8061" y="7699"/>
                  <a:pt x="7353" y="7699"/>
                </a:cubicBezTo>
                <a:lnTo>
                  <a:pt x="733" y="7673"/>
                </a:lnTo>
                <a:cubicBezTo>
                  <a:pt x="25" y="7673"/>
                  <a:pt x="0" y="7695"/>
                  <a:pt x="0" y="6987"/>
                </a:cubicBezTo>
                <a:lnTo>
                  <a:pt x="26" y="568"/>
                </a:lnTo>
                <a:close/>
              </a:path>
            </a:pathLst>
          </a:custGeom>
          <a:ln>
            <a:solidFill>
              <a:schemeClr val="bg2">
                <a:lumMod val="9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矩形 17"/>
          <p:cNvSpPr/>
          <p:nvPr/>
        </p:nvSpPr>
        <p:spPr>
          <a:xfrm>
            <a:off x="6573520" y="1524635"/>
            <a:ext cx="1782445" cy="278130"/>
          </a:xfrm>
          <a:prstGeom prst="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6783705" y="1524635"/>
            <a:ext cx="1673860" cy="222885"/>
          </a:xfrm>
          <a:prstGeom prst="rect">
            <a:avLst/>
          </a:prstGeom>
          <a:noFill/>
        </p:spPr>
        <p:txBody>
          <a:bodyPr wrap="square" rtlCol="0">
            <a:noAutofit/>
          </a:bodyPr>
          <a:p>
            <a:r>
              <a:rPr lang="zh-CN" altLang="en-US" sz="1300" b="1">
                <a:solidFill>
                  <a:schemeClr val="bg1"/>
                </a:solidFill>
              </a:rPr>
              <a:t>风速变化的影响</a:t>
            </a:r>
            <a:endParaRPr lang="zh-CN" altLang="en-US" sz="1300" b="1">
              <a:solidFill>
                <a:schemeClr val="bg1"/>
              </a:solidFill>
            </a:endParaRPr>
          </a:p>
        </p:txBody>
      </p:sp>
      <p:pic>
        <p:nvPicPr>
          <p:cNvPr id="21" name="图片 20" descr="34.1.1"/>
          <p:cNvPicPr>
            <a:picLocks noChangeAspect="1"/>
          </p:cNvPicPr>
          <p:nvPr/>
        </p:nvPicPr>
        <p:blipFill>
          <a:blip r:embed="rId1"/>
          <a:stretch>
            <a:fillRect/>
          </a:stretch>
        </p:blipFill>
        <p:spPr>
          <a:xfrm>
            <a:off x="695325" y="1610360"/>
            <a:ext cx="3466465" cy="2503170"/>
          </a:xfrm>
          <a:prstGeom prst="rect">
            <a:avLst/>
          </a:prstGeom>
        </p:spPr>
      </p:pic>
      <p:pic>
        <p:nvPicPr>
          <p:cNvPr id="22" name="图片 21" descr="34.1.2"/>
          <p:cNvPicPr>
            <a:picLocks noChangeAspect="1"/>
          </p:cNvPicPr>
          <p:nvPr/>
        </p:nvPicPr>
        <p:blipFill>
          <a:blip r:embed="rId2"/>
          <a:srcRect r="1980"/>
          <a:stretch>
            <a:fillRect/>
          </a:stretch>
        </p:blipFill>
        <p:spPr>
          <a:xfrm>
            <a:off x="4263390" y="1566545"/>
            <a:ext cx="2106295" cy="2247900"/>
          </a:xfrm>
          <a:prstGeom prst="rect">
            <a:avLst/>
          </a:prstGeom>
        </p:spPr>
      </p:pic>
      <p:sp>
        <p:nvSpPr>
          <p:cNvPr id="23" name="文本框 22"/>
          <p:cNvSpPr txBox="1"/>
          <p:nvPr/>
        </p:nvSpPr>
        <p:spPr>
          <a:xfrm>
            <a:off x="4648200" y="3712845"/>
            <a:ext cx="1447800" cy="456565"/>
          </a:xfrm>
          <a:prstGeom prst="rect">
            <a:avLst/>
          </a:prstGeom>
          <a:noFill/>
        </p:spPr>
        <p:txBody>
          <a:bodyPr wrap="square" rtlCol="0">
            <a:spAutoFit/>
          </a:bodyPr>
          <a:p>
            <a:pPr algn="ctr">
              <a:lnSpc>
                <a:spcPct val="170000"/>
              </a:lnSpc>
              <a:spcBef>
                <a:spcPts val="0"/>
              </a:spcBef>
              <a:spcAft>
                <a:spcPts val="0"/>
              </a:spcAft>
            </a:pPr>
            <a:r>
              <a:rPr lang="en-US" altLang="zh-CN" sz="700"/>
              <a:t>b) </a:t>
            </a:r>
            <a:r>
              <a:rPr lang="zh-CN" altLang="en-US" sz="700"/>
              <a:t>机舱、塔顶耦合节点处风荷载</a:t>
            </a:r>
            <a:r>
              <a:rPr lang="en-US" altLang="zh-CN" sz="700"/>
              <a:t>         </a:t>
            </a:r>
            <a:r>
              <a:rPr lang="zh-CN" altLang="en-US" sz="700"/>
              <a:t>风速和风荷载</a:t>
            </a:r>
            <a:endParaRPr lang="zh-CN" altLang="en-US" sz="700"/>
          </a:p>
        </p:txBody>
      </p:sp>
      <p:pic>
        <p:nvPicPr>
          <p:cNvPr id="24" name="图片 23" descr="34.1.4"/>
          <p:cNvPicPr>
            <a:picLocks noChangeAspect="1"/>
          </p:cNvPicPr>
          <p:nvPr/>
        </p:nvPicPr>
        <p:blipFill>
          <a:blip r:embed="rId3"/>
          <a:stretch>
            <a:fillRect/>
          </a:stretch>
        </p:blipFill>
        <p:spPr>
          <a:xfrm>
            <a:off x="744855" y="4648200"/>
            <a:ext cx="5560695" cy="1229995"/>
          </a:xfrm>
          <a:prstGeom prst="rect">
            <a:avLst/>
          </a:prstGeom>
        </p:spPr>
      </p:pic>
      <p:pic>
        <p:nvPicPr>
          <p:cNvPr id="25" name="图片 24" descr="34.1.3"/>
          <p:cNvPicPr>
            <a:picLocks noChangeAspect="1"/>
          </p:cNvPicPr>
          <p:nvPr/>
        </p:nvPicPr>
        <p:blipFill>
          <a:blip r:embed="rId4"/>
          <a:stretch>
            <a:fillRect/>
          </a:stretch>
        </p:blipFill>
        <p:spPr>
          <a:xfrm>
            <a:off x="6678295" y="1802765"/>
            <a:ext cx="2452370" cy="1770380"/>
          </a:xfrm>
          <a:prstGeom prst="rect">
            <a:avLst/>
          </a:prstGeom>
        </p:spPr>
      </p:pic>
      <p:sp>
        <p:nvSpPr>
          <p:cNvPr id="26" name="文本框 25"/>
          <p:cNvSpPr txBox="1"/>
          <p:nvPr/>
        </p:nvSpPr>
        <p:spPr>
          <a:xfrm>
            <a:off x="7011035" y="3528695"/>
            <a:ext cx="831215" cy="229870"/>
          </a:xfrm>
          <a:prstGeom prst="rect">
            <a:avLst/>
          </a:prstGeom>
          <a:noFill/>
        </p:spPr>
        <p:txBody>
          <a:bodyPr wrap="square" rtlCol="0">
            <a:spAutoFit/>
          </a:bodyPr>
          <a:p>
            <a:r>
              <a:rPr lang="en-US" altLang="zh-CN" sz="900"/>
              <a:t>a) </a:t>
            </a:r>
            <a:r>
              <a:rPr lang="zh-CN" altLang="en-US" sz="900"/>
              <a:t>应力云图</a:t>
            </a:r>
            <a:endParaRPr lang="zh-CN" altLang="en-US" sz="900"/>
          </a:p>
        </p:txBody>
      </p:sp>
      <p:sp>
        <p:nvSpPr>
          <p:cNvPr id="27" name="文本框 26"/>
          <p:cNvSpPr txBox="1"/>
          <p:nvPr/>
        </p:nvSpPr>
        <p:spPr>
          <a:xfrm>
            <a:off x="8458200" y="3528695"/>
            <a:ext cx="831215" cy="229870"/>
          </a:xfrm>
          <a:prstGeom prst="rect">
            <a:avLst/>
          </a:prstGeom>
          <a:noFill/>
        </p:spPr>
        <p:txBody>
          <a:bodyPr wrap="square" rtlCol="0">
            <a:spAutoFit/>
          </a:bodyPr>
          <a:p>
            <a:r>
              <a:rPr lang="en-US" altLang="zh-CN" sz="900"/>
              <a:t>b) </a:t>
            </a:r>
            <a:r>
              <a:rPr lang="zh-CN" altLang="en-US" sz="900"/>
              <a:t>应</a:t>
            </a:r>
            <a:r>
              <a:rPr lang="zh-CN" altLang="en-US" sz="900"/>
              <a:t>变云图</a:t>
            </a:r>
            <a:endParaRPr lang="zh-CN" altLang="en-US" sz="900"/>
          </a:p>
        </p:txBody>
      </p:sp>
      <p:sp>
        <p:nvSpPr>
          <p:cNvPr id="28" name="文本框 27"/>
          <p:cNvSpPr txBox="1"/>
          <p:nvPr/>
        </p:nvSpPr>
        <p:spPr>
          <a:xfrm>
            <a:off x="7581900" y="3756025"/>
            <a:ext cx="1624965" cy="229870"/>
          </a:xfrm>
          <a:prstGeom prst="rect">
            <a:avLst/>
          </a:prstGeom>
          <a:noFill/>
        </p:spPr>
        <p:txBody>
          <a:bodyPr wrap="square" rtlCol="0">
            <a:spAutoFit/>
          </a:bodyPr>
          <a:p>
            <a:r>
              <a:rPr lang="zh-CN" altLang="en-US" sz="900"/>
              <a:t>混塔应力、</a:t>
            </a:r>
            <a:r>
              <a:rPr lang="zh-CN" altLang="en-US" sz="900"/>
              <a:t>应变云图</a:t>
            </a:r>
            <a:endParaRPr lang="zh-CN" altLang="en-US" sz="900"/>
          </a:p>
        </p:txBody>
      </p:sp>
      <p:pic>
        <p:nvPicPr>
          <p:cNvPr id="30" name="图片 29" descr="34.1.5"/>
          <p:cNvPicPr>
            <a:picLocks noChangeAspect="1"/>
          </p:cNvPicPr>
          <p:nvPr/>
        </p:nvPicPr>
        <p:blipFill>
          <a:blip r:embed="rId5"/>
          <a:stretch>
            <a:fillRect/>
          </a:stretch>
        </p:blipFill>
        <p:spPr>
          <a:xfrm>
            <a:off x="9277350" y="1652270"/>
            <a:ext cx="2371725" cy="1578610"/>
          </a:xfrm>
          <a:prstGeom prst="rect">
            <a:avLst/>
          </a:prstGeom>
        </p:spPr>
      </p:pic>
      <p:sp>
        <p:nvSpPr>
          <p:cNvPr id="31" name="矩形 30"/>
          <p:cNvSpPr/>
          <p:nvPr/>
        </p:nvSpPr>
        <p:spPr>
          <a:xfrm>
            <a:off x="9455150" y="3287395"/>
            <a:ext cx="120650" cy="101600"/>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文本框 31"/>
          <p:cNvSpPr txBox="1"/>
          <p:nvPr/>
        </p:nvSpPr>
        <p:spPr>
          <a:xfrm>
            <a:off x="9633585" y="3114675"/>
            <a:ext cx="1965960" cy="929640"/>
          </a:xfrm>
          <a:prstGeom prst="rect">
            <a:avLst/>
          </a:prstGeom>
          <a:noFill/>
        </p:spPr>
        <p:txBody>
          <a:bodyPr wrap="square" rtlCol="0">
            <a:spAutoFit/>
          </a:bodyPr>
          <a:p>
            <a:pPr>
              <a:lnSpc>
                <a:spcPct val="130000"/>
              </a:lnSpc>
              <a:spcBef>
                <a:spcPts val="0"/>
              </a:spcBef>
              <a:spcAft>
                <a:spcPts val="0"/>
              </a:spcAft>
            </a:pPr>
            <a:r>
              <a:rPr lang="zh-CN" altLang="en-US" sz="1400" b="1"/>
              <a:t>应力</a:t>
            </a:r>
            <a:r>
              <a:rPr lang="en-US" altLang="zh-CN" sz="1400" b="1"/>
              <a:t> - </a:t>
            </a:r>
            <a:r>
              <a:rPr lang="zh-CN" altLang="en-US" sz="1400" b="1"/>
              <a:t>应变曲线表明混凝土进入塑性阶段并发生刚度退化</a:t>
            </a:r>
            <a:endParaRPr lang="zh-CN" altLang="en-US" sz="1400" b="1"/>
          </a:p>
        </p:txBody>
      </p:sp>
      <p:pic>
        <p:nvPicPr>
          <p:cNvPr id="33" name="图片 32" descr="34.1.6"/>
          <p:cNvPicPr>
            <a:picLocks noChangeAspect="1"/>
          </p:cNvPicPr>
          <p:nvPr/>
        </p:nvPicPr>
        <p:blipFill>
          <a:blip r:embed="rId6"/>
          <a:srcRect t="60030"/>
          <a:stretch>
            <a:fillRect/>
          </a:stretch>
        </p:blipFill>
        <p:spPr>
          <a:xfrm>
            <a:off x="6678295" y="5395595"/>
            <a:ext cx="2698750" cy="744220"/>
          </a:xfrm>
          <a:prstGeom prst="rect">
            <a:avLst/>
          </a:prstGeom>
        </p:spPr>
      </p:pic>
      <p:sp>
        <p:nvSpPr>
          <p:cNvPr id="34" name="文本框 33"/>
          <p:cNvSpPr txBox="1"/>
          <p:nvPr/>
        </p:nvSpPr>
        <p:spPr>
          <a:xfrm>
            <a:off x="7036435" y="6139815"/>
            <a:ext cx="941070" cy="183515"/>
          </a:xfrm>
          <a:prstGeom prst="rect">
            <a:avLst/>
          </a:prstGeom>
          <a:noFill/>
        </p:spPr>
        <p:txBody>
          <a:bodyPr wrap="square" rtlCol="0">
            <a:spAutoFit/>
          </a:bodyPr>
          <a:p>
            <a:r>
              <a:rPr lang="en-US" altLang="zh-CN" sz="600"/>
              <a:t>b) </a:t>
            </a:r>
            <a:r>
              <a:rPr lang="zh-CN" altLang="en-US" sz="600"/>
              <a:t>第</a:t>
            </a:r>
            <a:r>
              <a:rPr lang="en-US" altLang="zh-CN" sz="600"/>
              <a:t>1</a:t>
            </a:r>
            <a:r>
              <a:rPr lang="zh-CN" altLang="en-US" sz="600"/>
              <a:t>节、</a:t>
            </a:r>
            <a:r>
              <a:rPr lang="en-US" altLang="zh-CN" sz="600"/>
              <a:t>2</a:t>
            </a:r>
            <a:r>
              <a:rPr lang="zh-CN" altLang="en-US" sz="600"/>
              <a:t>节交界</a:t>
            </a:r>
            <a:endParaRPr lang="zh-CN" altLang="en-US" sz="600"/>
          </a:p>
        </p:txBody>
      </p:sp>
      <p:sp>
        <p:nvSpPr>
          <p:cNvPr id="35" name="文本框 34"/>
          <p:cNvSpPr txBox="1"/>
          <p:nvPr/>
        </p:nvSpPr>
        <p:spPr>
          <a:xfrm>
            <a:off x="8291195" y="6139815"/>
            <a:ext cx="941070" cy="183515"/>
          </a:xfrm>
          <a:prstGeom prst="rect">
            <a:avLst/>
          </a:prstGeom>
          <a:noFill/>
        </p:spPr>
        <p:txBody>
          <a:bodyPr wrap="square" rtlCol="0">
            <a:spAutoFit/>
          </a:bodyPr>
          <a:p>
            <a:r>
              <a:rPr lang="en-US" altLang="zh-CN" sz="600"/>
              <a:t>c) </a:t>
            </a:r>
            <a:r>
              <a:rPr lang="zh-CN" altLang="en-US" sz="600"/>
              <a:t>第</a:t>
            </a:r>
            <a:r>
              <a:rPr lang="en-US" altLang="zh-CN" sz="600"/>
              <a:t>30</a:t>
            </a:r>
            <a:r>
              <a:rPr lang="zh-CN" altLang="en-US" sz="600"/>
              <a:t>节、</a:t>
            </a:r>
            <a:r>
              <a:rPr lang="en-US" altLang="zh-CN" sz="600"/>
              <a:t>31</a:t>
            </a:r>
            <a:r>
              <a:rPr lang="zh-CN" altLang="en-US" sz="600"/>
              <a:t>节交界</a:t>
            </a:r>
            <a:endParaRPr lang="zh-CN" altLang="en-US" sz="600"/>
          </a:p>
        </p:txBody>
      </p:sp>
      <p:sp>
        <p:nvSpPr>
          <p:cNvPr id="36" name="文本框 35"/>
          <p:cNvSpPr txBox="1"/>
          <p:nvPr/>
        </p:nvSpPr>
        <p:spPr>
          <a:xfrm>
            <a:off x="7811135" y="5250180"/>
            <a:ext cx="433070" cy="183515"/>
          </a:xfrm>
          <a:prstGeom prst="rect">
            <a:avLst/>
          </a:prstGeom>
          <a:noFill/>
        </p:spPr>
        <p:txBody>
          <a:bodyPr wrap="square" rtlCol="0">
            <a:spAutoFit/>
          </a:bodyPr>
          <a:p>
            <a:r>
              <a:rPr lang="en-US" altLang="zh-CN" sz="600"/>
              <a:t>a) </a:t>
            </a:r>
            <a:r>
              <a:rPr lang="zh-CN" altLang="en-US" sz="600"/>
              <a:t>整体</a:t>
            </a:r>
            <a:endParaRPr lang="zh-CN" altLang="en-US" sz="600"/>
          </a:p>
        </p:txBody>
      </p:sp>
      <p:pic>
        <p:nvPicPr>
          <p:cNvPr id="38" name="图片 37" descr="34.1.8"/>
          <p:cNvPicPr>
            <a:picLocks noChangeAspect="1"/>
          </p:cNvPicPr>
          <p:nvPr/>
        </p:nvPicPr>
        <p:blipFill>
          <a:blip r:embed="rId7"/>
          <a:stretch>
            <a:fillRect/>
          </a:stretch>
        </p:blipFill>
        <p:spPr>
          <a:xfrm>
            <a:off x="8120380" y="4044315"/>
            <a:ext cx="170815" cy="1156970"/>
          </a:xfrm>
          <a:prstGeom prst="rect">
            <a:avLst/>
          </a:prstGeom>
        </p:spPr>
      </p:pic>
      <p:pic>
        <p:nvPicPr>
          <p:cNvPr id="39" name="图片 38" descr="34.19"/>
          <p:cNvPicPr>
            <a:picLocks noChangeAspect="1"/>
          </p:cNvPicPr>
          <p:nvPr/>
        </p:nvPicPr>
        <p:blipFill>
          <a:blip r:embed="rId8"/>
          <a:stretch>
            <a:fillRect/>
          </a:stretch>
        </p:blipFill>
        <p:spPr>
          <a:xfrm>
            <a:off x="7742555" y="4044315"/>
            <a:ext cx="377825" cy="500380"/>
          </a:xfrm>
          <a:prstGeom prst="rect">
            <a:avLst/>
          </a:prstGeom>
        </p:spPr>
      </p:pic>
      <p:pic>
        <p:nvPicPr>
          <p:cNvPr id="40" name="图片 39" descr="34.1.7"/>
          <p:cNvPicPr>
            <a:picLocks noChangeAspect="1"/>
          </p:cNvPicPr>
          <p:nvPr/>
        </p:nvPicPr>
        <p:blipFill>
          <a:blip r:embed="rId9"/>
          <a:stretch>
            <a:fillRect/>
          </a:stretch>
        </p:blipFill>
        <p:spPr>
          <a:xfrm>
            <a:off x="9545955" y="4044315"/>
            <a:ext cx="2054860" cy="2298700"/>
          </a:xfrm>
          <a:prstGeom prst="rect">
            <a:avLst/>
          </a:prstGeom>
        </p:spPr>
      </p:pic>
      <p:sp>
        <p:nvSpPr>
          <p:cNvPr id="41" name="矩形 40"/>
          <p:cNvSpPr/>
          <p:nvPr/>
        </p:nvSpPr>
        <p:spPr>
          <a:xfrm>
            <a:off x="1273175" y="5940425"/>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矩形 41"/>
          <p:cNvSpPr/>
          <p:nvPr/>
        </p:nvSpPr>
        <p:spPr>
          <a:xfrm>
            <a:off x="1273175" y="6142990"/>
            <a:ext cx="75565" cy="75565"/>
          </a:xfrm>
          <a:prstGeom prst="rect">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矩形 42"/>
          <p:cNvSpPr/>
          <p:nvPr/>
        </p:nvSpPr>
        <p:spPr>
          <a:xfrm>
            <a:off x="1273175" y="6345555"/>
            <a:ext cx="75565" cy="75565"/>
          </a:xfrm>
          <a:prstGeom prst="rect">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文本框 43"/>
          <p:cNvSpPr txBox="1"/>
          <p:nvPr/>
        </p:nvSpPr>
        <p:spPr>
          <a:xfrm>
            <a:off x="1491615" y="5840095"/>
            <a:ext cx="3001645" cy="275590"/>
          </a:xfrm>
          <a:prstGeom prst="rect">
            <a:avLst/>
          </a:prstGeom>
          <a:noFill/>
        </p:spPr>
        <p:txBody>
          <a:bodyPr wrap="square" rtlCol="0">
            <a:spAutoFit/>
          </a:bodyPr>
          <a:p>
            <a:r>
              <a:rPr lang="zh-CN" altLang="en-US" sz="1200" b="1"/>
              <a:t>12m/s工况下塔顶位移峰值高于22m/s,</a:t>
            </a:r>
            <a:endParaRPr lang="zh-CN" altLang="en-US" sz="1200" b="1"/>
          </a:p>
        </p:txBody>
      </p:sp>
      <p:sp>
        <p:nvSpPr>
          <p:cNvPr id="45" name="文本框 44"/>
          <p:cNvSpPr txBox="1"/>
          <p:nvPr/>
        </p:nvSpPr>
        <p:spPr>
          <a:xfrm>
            <a:off x="1430655" y="6047740"/>
            <a:ext cx="3175000" cy="275590"/>
          </a:xfrm>
          <a:prstGeom prst="rect">
            <a:avLst/>
          </a:prstGeom>
          <a:noFill/>
        </p:spPr>
        <p:txBody>
          <a:bodyPr wrap="square" rtlCol="0">
            <a:spAutoFit/>
          </a:bodyPr>
          <a:p>
            <a:r>
              <a:rPr lang="zh-CN" altLang="en-US" sz="1200" b="1"/>
              <a:t>额定风速式，桨距角接近0°。气动推力较大；</a:t>
            </a:r>
            <a:endParaRPr lang="zh-CN" altLang="en-US" sz="1200" b="1"/>
          </a:p>
        </p:txBody>
      </p:sp>
      <p:sp>
        <p:nvSpPr>
          <p:cNvPr id="46" name="文本框 45"/>
          <p:cNvSpPr txBox="1"/>
          <p:nvPr/>
        </p:nvSpPr>
        <p:spPr>
          <a:xfrm>
            <a:off x="1410970" y="6171565"/>
            <a:ext cx="3162300" cy="332740"/>
          </a:xfrm>
          <a:prstGeom prst="rect">
            <a:avLst/>
          </a:prstGeom>
          <a:noFill/>
        </p:spPr>
        <p:txBody>
          <a:bodyPr wrap="square" rtlCol="0">
            <a:noAutofit/>
          </a:bodyPr>
          <a:p>
            <a:r>
              <a:rPr lang="zh-CN" altLang="en-US" sz="1200" b="1">
                <a:solidFill>
                  <a:srgbClr val="C00000"/>
                </a:solidFill>
              </a:rPr>
              <a:t>桨距控制</a:t>
            </a:r>
            <a:r>
              <a:rPr lang="zh-CN" altLang="en-US" sz="1200" b="1"/>
              <a:t>对塔身的动态响应具有重要影响</a:t>
            </a:r>
            <a:r>
              <a:rPr lang="zh-CN" altLang="en-US"/>
              <a:t>。</a:t>
            </a:r>
            <a:endParaRPr lang="zh-CN" altLang="en-US"/>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34/68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459930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模型验证：</a:t>
            </a:r>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中保真度模型动力响应</a:t>
            </a:r>
            <a:r>
              <a:rPr lang="en-US" altLang="zh-CN" sz="2300" b="1">
                <a:solidFill>
                  <a:srgbClr val="C00000"/>
                </a:solidFill>
                <a:latin typeface="微软雅黑" panose="020B0503020204020204" charset="-122"/>
                <a:ea typeface="微软雅黑" panose="020B0503020204020204" charset="-122"/>
                <a:cs typeface="微软雅黑" panose="020B0503020204020204" charset="-122"/>
              </a:rPr>
              <a:t> </a:t>
            </a:r>
            <a:endParaRPr lang="en-US" altLang="zh-CN" sz="23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29945" y="1747520"/>
            <a:ext cx="10076815" cy="414020"/>
          </a:xfrm>
          <a:prstGeom prst="rect">
            <a:avLst/>
          </a:prstGeom>
          <a:noFill/>
        </p:spPr>
        <p:txBody>
          <a:bodyPr wrap="square" rtlCol="0">
            <a:spAutoFit/>
          </a:bodyPr>
          <a:p>
            <a:r>
              <a:rPr lang="zh-CN" altLang="en-US" sz="2100" b="1"/>
              <a:t>对比对象：分别通过</a:t>
            </a:r>
            <a:r>
              <a:rPr lang="zh-CN" altLang="en-US" sz="2100" b="1">
                <a:latin typeface="微软雅黑" panose="020B0503020204020204" charset="-122"/>
                <a:ea typeface="微软雅黑" panose="020B0503020204020204" charset="-122"/>
              </a:rPr>
              <a:t>SSO</a:t>
            </a:r>
            <a:r>
              <a:rPr lang="zh-CN" altLang="en-US" sz="2100" b="1"/>
              <a:t>联合方法和</a:t>
            </a:r>
            <a:r>
              <a:rPr lang="zh-CN" altLang="en-US" sz="2100" b="1">
                <a:latin typeface="微软雅黑" panose="020B0503020204020204" charset="-122"/>
                <a:ea typeface="微软雅黑" panose="020B0503020204020204" charset="-122"/>
              </a:rPr>
              <a:t>OpenFAST</a:t>
            </a:r>
            <a:r>
              <a:rPr lang="zh-CN" altLang="en-US" sz="2100" b="1"/>
              <a:t>建立</a:t>
            </a:r>
            <a:r>
              <a:rPr lang="zh-CN" altLang="en-US" sz="2100" b="1">
                <a:solidFill>
                  <a:srgbClr val="C00000"/>
                </a:solidFill>
                <a:latin typeface="微软雅黑" panose="020B0503020204020204" charset="-122"/>
                <a:ea typeface="微软雅黑" panose="020B0503020204020204" charset="-122"/>
              </a:rPr>
              <a:t>NREL 5-MW</a:t>
            </a:r>
            <a:r>
              <a:rPr lang="zh-CN" altLang="en-US" sz="2100" b="1">
                <a:solidFill>
                  <a:srgbClr val="C00000"/>
                </a:solidFill>
              </a:rPr>
              <a:t>参考</a:t>
            </a:r>
            <a:r>
              <a:rPr lang="zh-CN" altLang="en-US" sz="2100" b="1"/>
              <a:t>数值模型。</a:t>
            </a:r>
            <a:endParaRPr lang="zh-CN" altLang="en-US" sz="2100" b="1"/>
          </a:p>
        </p:txBody>
      </p:sp>
      <p:sp>
        <p:nvSpPr>
          <p:cNvPr id="13" name="椭圆 12"/>
          <p:cNvSpPr/>
          <p:nvPr/>
        </p:nvSpPr>
        <p:spPr>
          <a:xfrm flipV="1">
            <a:off x="929005" y="2495550"/>
            <a:ext cx="76200" cy="76200"/>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flipV="1">
            <a:off x="929005" y="3041650"/>
            <a:ext cx="76200" cy="76200"/>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1212850" y="2326640"/>
            <a:ext cx="10203815" cy="414020"/>
          </a:xfrm>
          <a:prstGeom prst="rect">
            <a:avLst/>
          </a:prstGeom>
          <a:noFill/>
        </p:spPr>
        <p:txBody>
          <a:bodyPr wrap="square" rtlCol="0">
            <a:spAutoFit/>
          </a:bodyPr>
          <a:p>
            <a:r>
              <a:rPr lang="zh-CN" altLang="en-US" sz="2100" b="1">
                <a:latin typeface="微软雅黑" panose="020B0503020204020204" charset="-122"/>
                <a:ea typeface="微软雅黑" panose="020B0503020204020204" charset="-122"/>
              </a:rPr>
              <a:t>SSO</a:t>
            </a:r>
            <a:r>
              <a:rPr lang="zh-CN" altLang="en-US" sz="2100" b="1"/>
              <a:t>前二阶模态频率分别为</a:t>
            </a:r>
            <a:r>
              <a:rPr lang="zh-CN" altLang="en-US" sz="2100" b="1">
                <a:solidFill>
                  <a:srgbClr val="023A8B"/>
                </a:solidFill>
                <a:latin typeface="微软雅黑" panose="020B0503020204020204" charset="-122"/>
                <a:ea typeface="微软雅黑" panose="020B0503020204020204" charset="-122"/>
              </a:rPr>
              <a:t>0.34 Hz</a:t>
            </a:r>
            <a:r>
              <a:rPr lang="zh-CN" altLang="en-US" sz="2100" b="1">
                <a:solidFill>
                  <a:srgbClr val="023A8B"/>
                </a:solidFill>
              </a:rPr>
              <a:t>与</a:t>
            </a:r>
            <a:r>
              <a:rPr lang="zh-CN" altLang="en-US" sz="2100" b="1">
                <a:solidFill>
                  <a:srgbClr val="023A8B"/>
                </a:solidFill>
                <a:latin typeface="微软雅黑" panose="020B0503020204020204" charset="-122"/>
                <a:ea typeface="微软雅黑" panose="020B0503020204020204" charset="-122"/>
              </a:rPr>
              <a:t>3.06 Hz</a:t>
            </a:r>
            <a:r>
              <a:rPr lang="en-US" altLang="zh-CN" sz="2100" b="1">
                <a:latin typeface="微软雅黑" panose="020B0503020204020204" charset="-122"/>
                <a:ea typeface="微软雅黑" panose="020B0503020204020204" charset="-122"/>
              </a:rPr>
              <a:t>,</a:t>
            </a:r>
            <a:r>
              <a:rPr lang="zh-CN" altLang="en-US" sz="2100" b="1">
                <a:latin typeface="微软雅黑" panose="020B0503020204020204" charset="-122"/>
                <a:ea typeface="微软雅黑" panose="020B0503020204020204" charset="-122"/>
              </a:rPr>
              <a:t>OpenFAST</a:t>
            </a:r>
            <a:r>
              <a:rPr lang="zh-CN" altLang="en-US" sz="2100" b="1"/>
              <a:t>为 </a:t>
            </a:r>
            <a:r>
              <a:rPr lang="zh-CN" altLang="en-US" sz="2100" b="1">
                <a:solidFill>
                  <a:srgbClr val="023A8B"/>
                </a:solidFill>
                <a:latin typeface="微软雅黑" panose="020B0503020204020204" charset="-122"/>
                <a:ea typeface="微软雅黑" panose="020B0503020204020204" charset="-122"/>
              </a:rPr>
              <a:t>0.34 Hz</a:t>
            </a:r>
            <a:r>
              <a:rPr lang="zh-CN" altLang="en-US" sz="2100" b="1">
                <a:solidFill>
                  <a:srgbClr val="023A8B"/>
                </a:solidFill>
              </a:rPr>
              <a:t>与</a:t>
            </a:r>
            <a:r>
              <a:rPr lang="zh-CN" altLang="en-US" sz="2100" b="1">
                <a:solidFill>
                  <a:srgbClr val="023A8B"/>
                </a:solidFill>
                <a:latin typeface="微软雅黑" panose="020B0503020204020204" charset="-122"/>
                <a:ea typeface="微软雅黑" panose="020B0503020204020204" charset="-122"/>
              </a:rPr>
              <a:t>3.07 Hz</a:t>
            </a:r>
            <a:endParaRPr lang="zh-CN" altLang="en-US" sz="2100" b="1">
              <a:solidFill>
                <a:srgbClr val="023A8B"/>
              </a:solidFill>
              <a:latin typeface="微软雅黑" panose="020B0503020204020204" charset="-122"/>
              <a:ea typeface="微软雅黑" panose="020B0503020204020204" charset="-122"/>
            </a:endParaRPr>
          </a:p>
        </p:txBody>
      </p:sp>
      <p:sp>
        <p:nvSpPr>
          <p:cNvPr id="16" name="文本框 15"/>
          <p:cNvSpPr txBox="1"/>
          <p:nvPr/>
        </p:nvSpPr>
        <p:spPr>
          <a:xfrm>
            <a:off x="1168400" y="2740660"/>
            <a:ext cx="10547350" cy="2041525"/>
          </a:xfrm>
          <a:prstGeom prst="rect">
            <a:avLst/>
          </a:prstGeom>
          <a:noFill/>
        </p:spPr>
        <p:txBody>
          <a:bodyPr wrap="square" rtlCol="0">
            <a:noAutofit/>
          </a:bodyPr>
          <a:p>
            <a:pPr>
              <a:lnSpc>
                <a:spcPct val="150000"/>
              </a:lnSpc>
            </a:pPr>
            <a:r>
              <a:rPr lang="zh-CN" altLang="en-US" sz="2100" b="1"/>
              <a:t>进一步对比两种方法开展动力响应分析的结果。湍流风场采用IEC标准中的正常湍流</a:t>
            </a:r>
            <a:endParaRPr lang="zh-CN" altLang="en-US" sz="2100" b="1"/>
          </a:p>
          <a:p>
            <a:pPr>
              <a:lnSpc>
                <a:spcPct val="150000"/>
              </a:lnSpc>
            </a:pPr>
            <a:r>
              <a:rPr lang="zh-CN" altLang="en-US" sz="2100" b="1"/>
              <a:t>模型，湍流强度为</a:t>
            </a:r>
            <a:r>
              <a:rPr lang="zh-CN" altLang="en-US" sz="2100" b="1">
                <a:latin typeface="微软雅黑" panose="020B0503020204020204" charset="-122"/>
                <a:ea typeface="微软雅黑" panose="020B0503020204020204" charset="-122"/>
              </a:rPr>
              <a:t>A</a:t>
            </a:r>
            <a:r>
              <a:rPr lang="zh-CN" altLang="en-US" sz="2100" b="1"/>
              <a:t>，轮毂高度处平均风速为</a:t>
            </a:r>
            <a:r>
              <a:rPr lang="zh-CN" altLang="en-US" sz="2100" b="1">
                <a:latin typeface="微软雅黑" panose="020B0503020204020204" charset="-122"/>
                <a:ea typeface="微软雅黑" panose="020B0503020204020204" charset="-122"/>
              </a:rPr>
              <a:t>12 m/s</a:t>
            </a:r>
            <a:r>
              <a:rPr lang="zh-CN" altLang="en-US" sz="2100" b="1"/>
              <a:t>和</a:t>
            </a:r>
            <a:r>
              <a:rPr lang="zh-CN" altLang="en-US" sz="2100" b="1">
                <a:latin typeface="微软雅黑" panose="020B0503020204020204" charset="-122"/>
                <a:ea typeface="微软雅黑" panose="020B0503020204020204" charset="-122"/>
              </a:rPr>
              <a:t>25 m/s</a:t>
            </a:r>
            <a:r>
              <a:rPr lang="zh-CN" altLang="en-US" sz="2100" b="1"/>
              <a:t>，分析时长</a:t>
            </a:r>
            <a:r>
              <a:rPr lang="zh-CN" altLang="en-US" sz="2100" b="1">
                <a:latin typeface="微软雅黑" panose="020B0503020204020204" charset="-122"/>
                <a:ea typeface="微软雅黑" panose="020B0503020204020204" charset="-122"/>
              </a:rPr>
              <a:t>650 s</a:t>
            </a:r>
            <a:r>
              <a:rPr lang="zh-CN" altLang="en-US" sz="2100" b="1"/>
              <a:t>。</a:t>
            </a:r>
            <a:endParaRPr lang="zh-CN" altLang="en-US" sz="2100" b="1"/>
          </a:p>
          <a:p>
            <a:pPr>
              <a:lnSpc>
                <a:spcPct val="150000"/>
              </a:lnSpc>
            </a:pPr>
            <a:r>
              <a:rPr lang="zh-CN" altLang="en-US" sz="2100" b="1"/>
              <a:t>为了评估</a:t>
            </a:r>
            <a:r>
              <a:rPr lang="zh-CN" altLang="en-US" sz="2100" b="1">
                <a:latin typeface="微软雅黑" panose="020B0503020204020204" charset="-122"/>
                <a:ea typeface="微软雅黑" panose="020B0503020204020204" charset="-122"/>
              </a:rPr>
              <a:t>SSO</a:t>
            </a:r>
            <a:r>
              <a:rPr lang="zh-CN" altLang="en-US" sz="2100" b="1"/>
              <a:t>与</a:t>
            </a:r>
            <a:r>
              <a:rPr lang="zh-CN" altLang="en-US" sz="2100" b="1">
                <a:latin typeface="微软雅黑" panose="020B0503020204020204" charset="-122"/>
                <a:ea typeface="微软雅黑" panose="020B0503020204020204" charset="-122"/>
              </a:rPr>
              <a:t>OpenFAST</a:t>
            </a:r>
            <a:r>
              <a:rPr lang="zh-CN" altLang="en-US" sz="2100" b="1"/>
              <a:t>计算结果之间的差异，采用</a:t>
            </a:r>
            <a:r>
              <a:rPr lang="zh-CN" altLang="en-US" sz="2100" b="1">
                <a:solidFill>
                  <a:srgbClr val="023A8B"/>
                </a:solidFill>
              </a:rPr>
              <a:t>平均绝对百分比误差</a:t>
            </a:r>
            <a:r>
              <a:rPr lang="zh-CN" altLang="en-US" sz="2100" b="1"/>
              <a:t>（简称</a:t>
            </a:r>
            <a:endParaRPr lang="zh-CN" altLang="en-US" sz="2100" b="1"/>
          </a:p>
          <a:p>
            <a:pPr>
              <a:lnSpc>
                <a:spcPct val="150000"/>
              </a:lnSpc>
            </a:pPr>
            <a:r>
              <a:rPr lang="zh-CN" altLang="en-US" sz="2100" b="1"/>
              <a:t>“</a:t>
            </a:r>
            <a:r>
              <a:rPr lang="zh-CN" altLang="en-US" sz="2100" b="1">
                <a:latin typeface="微软雅黑" panose="020B0503020204020204" charset="-122"/>
                <a:ea typeface="微软雅黑" panose="020B0503020204020204" charset="-122"/>
              </a:rPr>
              <a:t>MAPE</a:t>
            </a:r>
            <a:r>
              <a:rPr lang="zh-CN" altLang="en-US" sz="2100" b="1"/>
              <a:t>”）作为评估指标，计算公式如下:</a:t>
            </a:r>
            <a:endParaRPr lang="zh-CN" altLang="en-US" sz="2100" b="1"/>
          </a:p>
        </p:txBody>
      </p:sp>
      <p:sp>
        <p:nvSpPr>
          <p:cNvPr id="18" name="文本框 17"/>
          <p:cNvSpPr txBox="1"/>
          <p:nvPr/>
        </p:nvSpPr>
        <p:spPr>
          <a:xfrm>
            <a:off x="6559550" y="4926330"/>
            <a:ext cx="1638300" cy="368300"/>
          </a:xfrm>
          <a:prstGeom prst="rect">
            <a:avLst/>
          </a:prstGeom>
          <a:noFill/>
        </p:spPr>
        <p:txBody>
          <a:bodyPr wrap="square" rtlCol="0">
            <a:spAutoFit/>
          </a:bodyPr>
          <a:p>
            <a:r>
              <a:rPr lang="zh-CN" altLang="en-US" i="1">
                <a:latin typeface="Times New Roman" panose="02020603050405020304" charset="0"/>
                <a:cs typeface="Times New Roman" panose="02020603050405020304" charset="0"/>
              </a:rPr>
              <a:t>n</a:t>
            </a:r>
            <a:r>
              <a:rPr lang="zh-CN" altLang="en-US"/>
              <a:t>—数据量；</a:t>
            </a:r>
            <a:endParaRPr lang="zh-CN" altLang="en-US"/>
          </a:p>
        </p:txBody>
      </p:sp>
      <p:sp>
        <p:nvSpPr>
          <p:cNvPr id="19" name="文本框 18"/>
          <p:cNvSpPr txBox="1"/>
          <p:nvPr/>
        </p:nvSpPr>
        <p:spPr>
          <a:xfrm>
            <a:off x="6559550" y="5294630"/>
            <a:ext cx="2838450" cy="368300"/>
          </a:xfrm>
          <a:prstGeom prst="rect">
            <a:avLst/>
          </a:prstGeom>
          <a:noFill/>
        </p:spPr>
        <p:txBody>
          <a:bodyPr wrap="square" rtlCol="0">
            <a:spAutoFit/>
          </a:bodyPr>
          <a:p>
            <a:r>
              <a:rPr lang="en-US" altLang="zh-CN" i="1">
                <a:latin typeface="Times New Roman" panose="02020603050405020304" charset="0"/>
                <a:cs typeface="Times New Roman" panose="02020603050405020304" charset="0"/>
              </a:rPr>
              <a:t>y</a:t>
            </a:r>
            <a:r>
              <a:rPr lang="en-US" altLang="zh-CN" i="1" baseline="-25000">
                <a:latin typeface="Times New Roman" panose="02020603050405020304" charset="0"/>
                <a:cs typeface="Times New Roman" panose="02020603050405020304" charset="0"/>
              </a:rPr>
              <a:t>i</a:t>
            </a:r>
            <a:r>
              <a:rPr lang="en-US" altLang="zh-CN"/>
              <a:t>  —</a:t>
            </a:r>
            <a:r>
              <a:rPr lang="zh-CN" altLang="en-US">
                <a:latin typeface="微软雅黑" panose="020B0503020204020204" charset="-122"/>
                <a:ea typeface="微软雅黑" panose="020B0503020204020204" charset="-122"/>
              </a:rPr>
              <a:t>OpenFAST</a:t>
            </a:r>
            <a:r>
              <a:rPr lang="zh-CN" altLang="en-US"/>
              <a:t>第</a:t>
            </a:r>
            <a:r>
              <a:rPr lang="en-US" altLang="zh-CN"/>
              <a:t> </a:t>
            </a:r>
            <a:r>
              <a:rPr lang="zh-CN" altLang="en-US" i="1">
                <a:latin typeface="Times New Roman" panose="02020603050405020304" charset="0"/>
                <a:cs typeface="Times New Roman" panose="02020603050405020304" charset="0"/>
              </a:rPr>
              <a:t>i</a:t>
            </a:r>
            <a:r>
              <a:rPr lang="en-US" altLang="zh-CN" i="1">
                <a:latin typeface="Times New Roman" panose="02020603050405020304" charset="0"/>
                <a:cs typeface="Times New Roman" panose="02020603050405020304" charset="0"/>
              </a:rPr>
              <a:t> </a:t>
            </a:r>
            <a:r>
              <a:rPr lang="zh-CN" altLang="en-US"/>
              <a:t>个值；</a:t>
            </a:r>
            <a:endParaRPr lang="zh-CN" altLang="en-US"/>
          </a:p>
        </p:txBody>
      </p:sp>
      <mc:AlternateContent xmlns:mc="http://schemas.openxmlformats.org/markup-compatibility/2006">
        <mc:Choice xmlns:a14="http://schemas.microsoft.com/office/drawing/2010/main" Requires="a14">
          <p:sp>
            <p:nvSpPr>
              <p:cNvPr id="20" name="文本框 19"/>
              <p:cNvSpPr txBox="1"/>
              <p:nvPr/>
            </p:nvSpPr>
            <p:spPr>
              <a:xfrm>
                <a:off x="6559550" y="5662930"/>
                <a:ext cx="2635250" cy="368300"/>
              </a:xfrm>
              <a:prstGeom prst="rect">
                <a:avLst/>
              </a:prstGeom>
              <a:noFill/>
            </p:spPr>
            <p:txBody>
              <a:bodyPr wrap="square" rtlCol="0">
                <a:spAutoFit/>
              </a:bodyPr>
              <a:p>
                <a14:m>
                  <m:oMath xmlns:m="http://schemas.openxmlformats.org/officeDocument/2006/math">
                    <m:acc>
                      <m:accPr>
                        <m:ctrlPr>
                          <a:rPr lang="en-US" altLang="zh-CN" i="1">
                            <a:latin typeface="Cambria Math" panose="02040503050406030204" charset="0"/>
                            <a:ea typeface="微软雅黑" panose="020B0503020204020204" charset="-122"/>
                            <a:cs typeface="Cambria Math" panose="02040503050406030204" charset="0"/>
                          </a:rPr>
                        </m:ctrlPr>
                      </m:accPr>
                      <m:e>
                        <m:sSub>
                          <m:sSubPr>
                            <m:ctrlPr>
                              <a:rPr lang="en-US" altLang="zh-CN" i="1">
                                <a:latin typeface="Cambria Math" panose="02040503050406030204" charset="0"/>
                                <a:ea typeface="微软雅黑" panose="020B0503020204020204" charset="-122"/>
                                <a:cs typeface="Cambria Math" panose="02040503050406030204" charset="0"/>
                              </a:rPr>
                            </m:ctrlPr>
                          </m:sSubPr>
                          <m:e>
                            <m:r>
                              <a:rPr lang="en-US" altLang="zh-CN" i="1">
                                <a:latin typeface="Cambria Math" panose="02040503050406030204" charset="0"/>
                                <a:ea typeface="微软雅黑" panose="020B0503020204020204" charset="-122"/>
                                <a:cs typeface="Cambria Math" panose="02040503050406030204" charset="0"/>
                              </a:rPr>
                              <m:t>𝑦</m:t>
                            </m:r>
                          </m:e>
                          <m:sub>
                            <m:r>
                              <a:rPr lang="en-US" altLang="zh-CN" i="1">
                                <a:latin typeface="Cambria Math" panose="02040503050406030204" charset="0"/>
                                <a:ea typeface="微软雅黑" panose="020B0503020204020204" charset="-122"/>
                                <a:cs typeface="Cambria Math" panose="02040503050406030204" charset="0"/>
                              </a:rPr>
                              <m:t>𝑖</m:t>
                            </m:r>
                          </m:sub>
                        </m:sSub>
                      </m:e>
                    </m:acc>
                  </m:oMath>
                </a14:m>
                <a:r>
                  <a:rPr lang="en-US" altLang="zh-CN">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SSO</a:t>
                </a:r>
                <a:r>
                  <a:rPr lang="zh-CN" altLang="en-US"/>
                  <a:t>第</a:t>
                </a:r>
                <a:r>
                  <a:rPr lang="en-US" altLang="zh-CN"/>
                  <a:t> </a:t>
                </a:r>
                <a:r>
                  <a:rPr lang="zh-CN" altLang="en-US" i="1">
                    <a:latin typeface="Times New Roman" panose="02020603050405020304" charset="0"/>
                    <a:ea typeface="微软雅黑" panose="020B0503020204020204" charset="-122"/>
                    <a:cs typeface="Times New Roman" panose="02020603050405020304" charset="0"/>
                  </a:rPr>
                  <a:t>i</a:t>
                </a:r>
                <a:r>
                  <a:rPr lang="en-US" altLang="zh-CN" i="1">
                    <a:latin typeface="Times New Roman" panose="02020603050405020304" charset="0"/>
                    <a:ea typeface="微软雅黑" panose="020B0503020204020204" charset="-122"/>
                    <a:cs typeface="Times New Roman" panose="02020603050405020304" charset="0"/>
                  </a:rPr>
                  <a:t> </a:t>
                </a:r>
                <a:r>
                  <a:rPr lang="zh-CN" altLang="en-US"/>
                  <a:t>值。</a:t>
                </a:r>
                <a:endParaRPr lang="zh-CN" altLang="en-US"/>
              </a:p>
            </p:txBody>
          </p:sp>
        </mc:Choice>
        <mc:Fallback>
          <p:sp>
            <p:nvSpPr>
              <p:cNvPr id="20" name="文本框 19"/>
              <p:cNvSpPr txBox="1">
                <a:spLocks noRot="1" noChangeAspect="1" noMove="1" noResize="1" noEditPoints="1" noAdjustHandles="1" noChangeArrowheads="1" noChangeShapeType="1" noTextEdit="1"/>
              </p:cNvSpPr>
              <p:nvPr/>
            </p:nvSpPr>
            <p:spPr>
              <a:xfrm>
                <a:off x="6559550" y="5662930"/>
                <a:ext cx="2635250" cy="36830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1807210" y="4978400"/>
                <a:ext cx="4664075" cy="105283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m:rPr>
                          <m:sty m:val="p"/>
                        </m:rPr>
                        <a:rPr lang="en-US" altLang="zh-CN" sz="2300">
                          <a:latin typeface="Cambria Math" panose="02040503050406030204" charset="0"/>
                          <a:cs typeface="Cambria Math" panose="02040503050406030204" charset="0"/>
                        </a:rPr>
                        <m:t>MAPE</m:t>
                      </m:r>
                      <m:r>
                        <a:rPr lang="en-US" altLang="zh-CN" sz="2300">
                          <a:latin typeface="Cambria Math" panose="02040503050406030204" charset="0"/>
                          <a:cs typeface="Cambria Math" panose="02040503050406030204" charset="0"/>
                        </a:rPr>
                        <m:t>=</m:t>
                      </m:r>
                      <m:f>
                        <m:fPr>
                          <m:ctrlPr>
                            <a:rPr lang="en-US" altLang="zh-CN" sz="2300" i="1">
                              <a:latin typeface="Cambria Math" panose="02040503050406030204" charset="0"/>
                              <a:cs typeface="Cambria Math" panose="02040503050406030204" charset="0"/>
                            </a:rPr>
                          </m:ctrlPr>
                        </m:fPr>
                        <m:num>
                          <m:r>
                            <a:rPr lang="en-US" altLang="zh-CN" sz="2300" i="1">
                              <a:latin typeface="Cambria Math" panose="02040503050406030204" charset="0"/>
                              <a:cs typeface="Cambria Math" panose="02040503050406030204" charset="0"/>
                            </a:rPr>
                            <m:t>1</m:t>
                          </m:r>
                        </m:num>
                        <m:den>
                          <m:r>
                            <a:rPr lang="en-US" altLang="zh-CN" sz="2300" i="1">
                              <a:latin typeface="Cambria Math" panose="02040503050406030204" charset="0"/>
                              <a:cs typeface="Cambria Math" panose="02040503050406030204" charset="0"/>
                            </a:rPr>
                            <m:t>𝑛</m:t>
                          </m:r>
                        </m:den>
                      </m:f>
                      <m:nary>
                        <m:naryPr>
                          <m:chr m:val="∑"/>
                          <m:limLoc m:val="undOvr"/>
                          <m:ctrlPr>
                            <a:rPr lang="en-US" altLang="zh-CN" sz="2300" i="1">
                              <a:latin typeface="Cambria Math" panose="02040503050406030204" charset="0"/>
                              <a:cs typeface="Cambria Math" panose="02040503050406030204" charset="0"/>
                            </a:rPr>
                          </m:ctrlPr>
                        </m:naryPr>
                        <m:sub>
                          <m:r>
                            <a:rPr lang="en-US" altLang="zh-CN" sz="2300" i="1">
                              <a:latin typeface="Cambria Math" panose="02040503050406030204" charset="0"/>
                              <a:cs typeface="Cambria Math" panose="02040503050406030204" charset="0"/>
                            </a:rPr>
                            <m:t>𝑖</m:t>
                          </m:r>
                          <m:r>
                            <a:rPr lang="en-US" altLang="zh-CN" sz="2300" i="1">
                              <a:latin typeface="Cambria Math" panose="02040503050406030204" charset="0"/>
                              <a:cs typeface="Cambria Math" panose="02040503050406030204" charset="0"/>
                            </a:rPr>
                            <m:t>=</m:t>
                          </m:r>
                          <m:r>
                            <a:rPr lang="en-US" altLang="zh-CN" sz="2300" i="1">
                              <a:latin typeface="Cambria Math" panose="02040503050406030204" charset="0"/>
                              <a:cs typeface="Cambria Math" panose="02040503050406030204" charset="0"/>
                            </a:rPr>
                            <m:t>1</m:t>
                          </m:r>
                        </m:sub>
                        <m:sup>
                          <m:r>
                            <a:rPr lang="en-US" altLang="zh-CN" sz="2300" i="1">
                              <a:latin typeface="Cambria Math" panose="02040503050406030204" charset="0"/>
                              <a:cs typeface="Cambria Math" panose="02040503050406030204" charset="0"/>
                            </a:rPr>
                            <m:t>𝑛</m:t>
                          </m:r>
                        </m:sup>
                        <m:e>
                          <m:r>
                            <a:rPr lang="en-US" altLang="zh-CN" sz="2300" i="1">
                              <a:latin typeface="Cambria Math" panose="02040503050406030204" charset="0"/>
                              <a:cs typeface="Cambria Math" panose="02040503050406030204" charset="0"/>
                            </a:rPr>
                            <m:t>|</m:t>
                          </m:r>
                          <m:f>
                            <m:fPr>
                              <m:ctrlPr>
                                <a:rPr lang="en-US" altLang="zh-CN" sz="2300" i="1">
                                  <a:latin typeface="Cambria Math" panose="02040503050406030204" charset="0"/>
                                  <a:cs typeface="Cambria Math" panose="02040503050406030204" charset="0"/>
                                </a:rPr>
                              </m:ctrlPr>
                            </m:fPr>
                            <m:num>
                              <m:sSub>
                                <m:sSubPr>
                                  <m:ctrlPr>
                                    <a:rPr lang="en-US" altLang="zh-CN" sz="2300" i="1">
                                      <a:latin typeface="Cambria Math" panose="02040503050406030204" charset="0"/>
                                      <a:cs typeface="Cambria Math" panose="02040503050406030204" charset="0"/>
                                    </a:rPr>
                                  </m:ctrlPr>
                                </m:sSubPr>
                                <m:e>
                                  <m:r>
                                    <a:rPr lang="en-US" altLang="zh-CN" sz="2300" i="1">
                                      <a:latin typeface="Cambria Math" panose="02040503050406030204" charset="0"/>
                                      <a:cs typeface="Cambria Math" panose="02040503050406030204" charset="0"/>
                                    </a:rPr>
                                    <m:t>𝑦</m:t>
                                  </m:r>
                                </m:e>
                                <m:sub>
                                  <m:r>
                                    <a:rPr lang="en-US" altLang="zh-CN" sz="2300" i="1">
                                      <a:latin typeface="Cambria Math" panose="02040503050406030204" charset="0"/>
                                      <a:cs typeface="Cambria Math" panose="02040503050406030204" charset="0"/>
                                    </a:rPr>
                                    <m:t>𝑖</m:t>
                                  </m:r>
                                </m:sub>
                              </m:sSub>
                              <m:r>
                                <a:rPr lang="en-US" altLang="zh-CN" sz="2300" i="1">
                                  <a:latin typeface="Cambria Math" panose="02040503050406030204" charset="0"/>
                                  <a:cs typeface="Cambria Math" panose="02040503050406030204" charset="0"/>
                                </a:rPr>
                                <m:t>−</m:t>
                              </m:r>
                              <m:acc>
                                <m:accPr>
                                  <m:ctrlPr>
                                    <a:rPr lang="en-US" altLang="zh-CN" sz="2300" i="1">
                                      <a:latin typeface="Cambria Math" panose="02040503050406030204" charset="0"/>
                                      <a:cs typeface="Cambria Math" panose="02040503050406030204" charset="0"/>
                                    </a:rPr>
                                  </m:ctrlPr>
                                </m:accPr>
                                <m:e>
                                  <m:sSub>
                                    <m:sSubPr>
                                      <m:ctrlPr>
                                        <a:rPr lang="en-US" altLang="zh-CN" sz="2300" i="1">
                                          <a:latin typeface="Cambria Math" panose="02040503050406030204" charset="0"/>
                                          <a:cs typeface="Cambria Math" panose="02040503050406030204" charset="0"/>
                                        </a:rPr>
                                      </m:ctrlPr>
                                    </m:sSubPr>
                                    <m:e>
                                      <m:r>
                                        <a:rPr lang="en-US" altLang="zh-CN" sz="2300" i="1">
                                          <a:latin typeface="Cambria Math" panose="02040503050406030204" charset="0"/>
                                          <a:cs typeface="Cambria Math" panose="02040503050406030204" charset="0"/>
                                        </a:rPr>
                                        <m:t>𝑦</m:t>
                                      </m:r>
                                    </m:e>
                                    <m:sub>
                                      <m:r>
                                        <a:rPr lang="en-US" altLang="zh-CN" sz="2300" i="1">
                                          <a:latin typeface="Cambria Math" panose="02040503050406030204" charset="0"/>
                                          <a:cs typeface="Cambria Math" panose="02040503050406030204" charset="0"/>
                                        </a:rPr>
                                        <m:t>𝑖</m:t>
                                      </m:r>
                                    </m:sub>
                                  </m:sSub>
                                </m:e>
                              </m:acc>
                            </m:num>
                            <m:den>
                              <m:sSub>
                                <m:sSubPr>
                                  <m:ctrlPr>
                                    <a:rPr lang="en-US" altLang="zh-CN" sz="2300" i="1">
                                      <a:latin typeface="Cambria Math" panose="02040503050406030204" charset="0"/>
                                      <a:cs typeface="Cambria Math" panose="02040503050406030204" charset="0"/>
                                    </a:rPr>
                                  </m:ctrlPr>
                                </m:sSubPr>
                                <m:e>
                                  <m:r>
                                    <a:rPr lang="en-US" altLang="zh-CN" sz="2300" i="1">
                                      <a:latin typeface="Cambria Math" panose="02040503050406030204" charset="0"/>
                                      <a:cs typeface="Cambria Math" panose="02040503050406030204" charset="0"/>
                                    </a:rPr>
                                    <m:t>𝑦</m:t>
                                  </m:r>
                                </m:e>
                                <m:sub>
                                  <m:r>
                                    <a:rPr lang="en-US" altLang="zh-CN" sz="2300" i="1">
                                      <a:latin typeface="Cambria Math" panose="02040503050406030204" charset="0"/>
                                      <a:cs typeface="Cambria Math" panose="02040503050406030204" charset="0"/>
                                    </a:rPr>
                                    <m:t>𝑖</m:t>
                                  </m:r>
                                </m:sub>
                              </m:sSub>
                            </m:den>
                          </m:f>
                          <m:r>
                            <a:rPr lang="en-US" altLang="zh-CN" sz="2300" i="1">
                              <a:latin typeface="Cambria Math" panose="02040503050406030204" charset="0"/>
                              <a:cs typeface="Cambria Math" panose="02040503050406030204" charset="0"/>
                            </a:rPr>
                            <m:t>|</m:t>
                          </m:r>
                          <m:r>
                            <a:rPr lang="en-US" altLang="zh-CN" sz="2300" i="1">
                              <a:latin typeface="Cambria Math" panose="02040503050406030204" charset="0"/>
                              <a:cs typeface="Cambria Math" panose="02040503050406030204" charset="0"/>
                            </a:rPr>
                            <m:t>×</m:t>
                          </m:r>
                          <m:r>
                            <a:rPr lang="en-US" altLang="zh-CN" sz="2300" i="1">
                              <a:latin typeface="Cambria Math" panose="02040503050406030204" charset="0"/>
                              <a:cs typeface="Cambria Math" panose="02040503050406030204" charset="0"/>
                            </a:rPr>
                            <m:t>100</m:t>
                          </m:r>
                          <m:r>
                            <a:rPr lang="en-US" altLang="zh-CN" sz="2300" i="1">
                              <a:latin typeface="Cambria Math" panose="02040503050406030204" charset="0"/>
                              <a:cs typeface="Cambria Math" panose="02040503050406030204" charset="0"/>
                            </a:rPr>
                            <m:t>%</m:t>
                          </m:r>
                        </m:e>
                      </m:nary>
                    </m:oMath>
                  </m:oMathPara>
                </a14:m>
                <a:endParaRPr lang="zh-CN" altLang="en-US" sz="2300"/>
              </a:p>
            </p:txBody>
          </p:sp>
        </mc:Choice>
        <mc:Fallback>
          <p:sp>
            <p:nvSpPr>
              <p:cNvPr id="22" name="文本框 21"/>
              <p:cNvSpPr txBox="1">
                <a:spLocks noRot="1" noChangeAspect="1" noMove="1" noResize="1" noEditPoints="1" noAdjustHandles="1" noChangeArrowheads="1" noChangeShapeType="1" noTextEdit="1"/>
              </p:cNvSpPr>
              <p:nvPr/>
            </p:nvSpPr>
            <p:spPr>
              <a:xfrm>
                <a:off x="1807210" y="4978400"/>
                <a:ext cx="4664075" cy="1052830"/>
              </a:xfrm>
              <a:prstGeom prst="rect">
                <a:avLst/>
              </a:prstGeom>
              <a:blipFill rotWithShape="1">
                <a:blip r:embed="rId2"/>
                <a:stretch>
                  <a:fillRect/>
                </a:stretch>
              </a:blipFill>
            </p:spPr>
            <p:txBody>
              <a:bodyPr/>
              <a:lstStyle/>
              <a:p>
                <a:r>
                  <a:rPr lang="zh-CN" altLang="en-US">
                    <a:noFill/>
                  </a:rPr>
                  <a:t> </a:t>
                </a:r>
              </a:p>
            </p:txBody>
          </p:sp>
        </mc:Fallback>
      </mc:AlternateContent>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35/68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101090"/>
            <a:ext cx="459930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模型精度验证：中保真度</a:t>
            </a:r>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模型</a:t>
            </a:r>
            <a:endParaRPr lang="zh-CN" altLang="en-US" sz="2300" b="1">
              <a:solidFill>
                <a:srgbClr val="2E5495"/>
              </a:solidFill>
              <a:latin typeface="微软雅黑" panose="020B0503020204020204" charset="-122"/>
              <a:ea typeface="微软雅黑" panose="020B0503020204020204" charset="-122"/>
              <a:cs typeface="微软雅黑" panose="020B0503020204020204" charset="-122"/>
            </a:endParaRPr>
          </a:p>
        </p:txBody>
      </p:sp>
      <p:sp>
        <p:nvSpPr>
          <p:cNvPr id="2" name="圆角矩形 1"/>
          <p:cNvSpPr/>
          <p:nvPr/>
        </p:nvSpPr>
        <p:spPr>
          <a:xfrm>
            <a:off x="5441315" y="2515870"/>
            <a:ext cx="1076325" cy="1158875"/>
          </a:xfrm>
          <a:prstGeom prst="round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圆角矩形 2"/>
          <p:cNvSpPr/>
          <p:nvPr/>
        </p:nvSpPr>
        <p:spPr>
          <a:xfrm>
            <a:off x="5441315" y="4996815"/>
            <a:ext cx="1076325" cy="1131570"/>
          </a:xfrm>
          <a:prstGeom prst="round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5553075" y="2718435"/>
            <a:ext cx="1085215" cy="645160"/>
          </a:xfrm>
          <a:prstGeom prst="rect">
            <a:avLst/>
          </a:prstGeom>
          <a:noFill/>
        </p:spPr>
        <p:txBody>
          <a:bodyPr wrap="square" rtlCol="0">
            <a:spAutoFit/>
          </a:bodyPr>
          <a:p>
            <a:r>
              <a:rPr lang="zh-CN" altLang="en-US">
                <a:solidFill>
                  <a:schemeClr val="bg1"/>
                </a:solidFill>
              </a:rPr>
              <a:t>塔顶位移对比</a:t>
            </a:r>
            <a:endParaRPr lang="zh-CN" altLang="en-US">
              <a:solidFill>
                <a:schemeClr val="bg1"/>
              </a:solidFill>
            </a:endParaRPr>
          </a:p>
        </p:txBody>
      </p:sp>
      <p:sp>
        <p:nvSpPr>
          <p:cNvPr id="13" name="文本框 12"/>
          <p:cNvSpPr txBox="1"/>
          <p:nvPr/>
        </p:nvSpPr>
        <p:spPr>
          <a:xfrm>
            <a:off x="5553075" y="5086985"/>
            <a:ext cx="1085215" cy="922020"/>
          </a:xfrm>
          <a:prstGeom prst="rect">
            <a:avLst/>
          </a:prstGeom>
          <a:noFill/>
        </p:spPr>
        <p:txBody>
          <a:bodyPr wrap="square" rtlCol="0">
            <a:spAutoFit/>
          </a:bodyPr>
          <a:p>
            <a:r>
              <a:rPr lang="zh-CN" altLang="en-US">
                <a:solidFill>
                  <a:schemeClr val="bg1"/>
                </a:solidFill>
              </a:rPr>
              <a:t>加速度弯矩分量</a:t>
            </a:r>
            <a:r>
              <a:rPr lang="zh-CN" altLang="en-US">
                <a:solidFill>
                  <a:schemeClr val="bg1"/>
                </a:solidFill>
              </a:rPr>
              <a:t>对比</a:t>
            </a:r>
            <a:endParaRPr lang="zh-CN" altLang="en-US">
              <a:solidFill>
                <a:schemeClr val="bg1"/>
              </a:solidFill>
            </a:endParaRPr>
          </a:p>
        </p:txBody>
      </p:sp>
      <p:sp>
        <p:nvSpPr>
          <p:cNvPr id="14" name="任意多边形 13"/>
          <p:cNvSpPr/>
          <p:nvPr/>
        </p:nvSpPr>
        <p:spPr>
          <a:xfrm>
            <a:off x="640879" y="3528833"/>
            <a:ext cx="4545448" cy="2865854"/>
          </a:xfrm>
          <a:custGeom>
            <a:avLst/>
            <a:gdLst>
              <a:gd name="connsiteX0" fmla="*/ 5 w 7158"/>
              <a:gd name="connsiteY0" fmla="*/ 392 h 4513"/>
              <a:gd name="connsiteX1" fmla="*/ 347 w 7158"/>
              <a:gd name="connsiteY1" fmla="*/ 0 h 4513"/>
              <a:gd name="connsiteX2" fmla="*/ 6780 w 7158"/>
              <a:gd name="connsiteY2" fmla="*/ 0 h 4513"/>
              <a:gd name="connsiteX3" fmla="*/ 7158 w 7158"/>
              <a:gd name="connsiteY3" fmla="*/ 441 h 4513"/>
              <a:gd name="connsiteX4" fmla="*/ 7158 w 7158"/>
              <a:gd name="connsiteY4" fmla="*/ 4146 h 4513"/>
              <a:gd name="connsiteX5" fmla="*/ 6533 w 7158"/>
              <a:gd name="connsiteY5" fmla="*/ 4489 h 4513"/>
              <a:gd name="connsiteX6" fmla="*/ 445 w 7158"/>
              <a:gd name="connsiteY6" fmla="*/ 4513 h 4513"/>
              <a:gd name="connsiteX7" fmla="*/ 29 w 7158"/>
              <a:gd name="connsiteY7" fmla="*/ 3950 h 4513"/>
              <a:gd name="connsiteX8" fmla="*/ 5 w 7158"/>
              <a:gd name="connsiteY8" fmla="*/ 392 h 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8" h="4513">
                <a:moveTo>
                  <a:pt x="5" y="392"/>
                </a:moveTo>
                <a:cubicBezTo>
                  <a:pt x="5" y="-20"/>
                  <a:pt x="-65" y="0"/>
                  <a:pt x="347" y="0"/>
                </a:cubicBezTo>
                <a:lnTo>
                  <a:pt x="6780" y="0"/>
                </a:lnTo>
                <a:cubicBezTo>
                  <a:pt x="7192" y="0"/>
                  <a:pt x="7158" y="29"/>
                  <a:pt x="7158" y="441"/>
                </a:cubicBezTo>
                <a:lnTo>
                  <a:pt x="7158" y="4146"/>
                </a:lnTo>
                <a:cubicBezTo>
                  <a:pt x="7158" y="4558"/>
                  <a:pt x="6945" y="4489"/>
                  <a:pt x="6533" y="4489"/>
                </a:cubicBezTo>
                <a:lnTo>
                  <a:pt x="445" y="4513"/>
                </a:lnTo>
                <a:cubicBezTo>
                  <a:pt x="33" y="4513"/>
                  <a:pt x="29" y="4362"/>
                  <a:pt x="29" y="3950"/>
                </a:cubicBezTo>
                <a:lnTo>
                  <a:pt x="5" y="392"/>
                </a:lnTo>
                <a:close/>
              </a:path>
            </a:pathLst>
          </a:custGeom>
          <a:ln>
            <a:solidFill>
              <a:srgbClr val="619EAD"/>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圆角矩形 14"/>
          <p:cNvSpPr/>
          <p:nvPr/>
        </p:nvSpPr>
        <p:spPr>
          <a:xfrm>
            <a:off x="640715" y="3528695"/>
            <a:ext cx="4545965" cy="340360"/>
          </a:xfrm>
          <a:prstGeom prst="round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2218055" y="3500755"/>
            <a:ext cx="1530350" cy="368300"/>
          </a:xfrm>
          <a:prstGeom prst="rect">
            <a:avLst/>
          </a:prstGeom>
          <a:noFill/>
        </p:spPr>
        <p:txBody>
          <a:bodyPr wrap="square" rtlCol="0">
            <a:spAutoFit/>
          </a:bodyPr>
          <a:p>
            <a:r>
              <a:rPr lang="zh-CN" altLang="en-US">
                <a:solidFill>
                  <a:schemeClr val="bg1"/>
                </a:solidFill>
              </a:rPr>
              <a:t>分析结论</a:t>
            </a:r>
            <a:endParaRPr lang="zh-CN" altLang="en-US">
              <a:solidFill>
                <a:schemeClr val="bg1"/>
              </a:solidFill>
            </a:endParaRPr>
          </a:p>
        </p:txBody>
      </p:sp>
      <p:sp>
        <p:nvSpPr>
          <p:cNvPr id="18" name="圆角矩形 17"/>
          <p:cNvSpPr/>
          <p:nvPr/>
        </p:nvSpPr>
        <p:spPr>
          <a:xfrm>
            <a:off x="640715" y="1541780"/>
            <a:ext cx="4540885" cy="1902460"/>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文本框 18"/>
          <p:cNvSpPr txBox="1"/>
          <p:nvPr/>
        </p:nvSpPr>
        <p:spPr>
          <a:xfrm>
            <a:off x="874395" y="1546225"/>
            <a:ext cx="1402715" cy="368300"/>
          </a:xfrm>
          <a:prstGeom prst="rect">
            <a:avLst/>
          </a:prstGeom>
          <a:noFill/>
        </p:spPr>
        <p:txBody>
          <a:bodyPr wrap="square" rtlCol="0">
            <a:spAutoFit/>
          </a:bodyPr>
          <a:p>
            <a:r>
              <a:rPr lang="zh-CN" altLang="en-US" b="1">
                <a:solidFill>
                  <a:srgbClr val="31598A"/>
                </a:solidFill>
                <a:latin typeface="微软雅黑" panose="020B0503020204020204" charset="-122"/>
                <a:ea typeface="微软雅黑" panose="020B0503020204020204" charset="-122"/>
                <a:cs typeface="微软雅黑" panose="020B0503020204020204" charset="-122"/>
              </a:rPr>
              <a:t>工</a:t>
            </a:r>
            <a:r>
              <a:rPr lang="en-US" altLang="zh-CN" b="1">
                <a:solidFill>
                  <a:srgbClr val="31598A"/>
                </a:solidFill>
                <a:latin typeface="微软雅黑" panose="020B0503020204020204" charset="-122"/>
                <a:ea typeface="微软雅黑" panose="020B0503020204020204" charset="-122"/>
                <a:cs typeface="微软雅黑" panose="020B0503020204020204" charset="-122"/>
              </a:rPr>
              <a:t> </a:t>
            </a:r>
            <a:r>
              <a:rPr lang="zh-CN" altLang="en-US" b="1">
                <a:solidFill>
                  <a:srgbClr val="31598A"/>
                </a:solidFill>
                <a:latin typeface="微软雅黑" panose="020B0503020204020204" charset="-122"/>
                <a:ea typeface="微软雅黑" panose="020B0503020204020204" charset="-122"/>
                <a:cs typeface="微软雅黑" panose="020B0503020204020204" charset="-122"/>
              </a:rPr>
              <a:t>况</a:t>
            </a:r>
            <a:r>
              <a:rPr lang="en-US" altLang="zh-CN" b="1">
                <a:solidFill>
                  <a:srgbClr val="31598A"/>
                </a:solidFill>
                <a:latin typeface="微软雅黑" panose="020B0503020204020204" charset="-122"/>
                <a:ea typeface="微软雅黑" panose="020B0503020204020204" charset="-122"/>
                <a:cs typeface="微软雅黑" panose="020B0503020204020204" charset="-122"/>
              </a:rPr>
              <a:t> </a:t>
            </a:r>
            <a:r>
              <a:rPr lang="zh-CN" altLang="en-US" b="1">
                <a:solidFill>
                  <a:srgbClr val="31598A"/>
                </a:solidFill>
                <a:latin typeface="微软雅黑" panose="020B0503020204020204" charset="-122"/>
                <a:ea typeface="微软雅黑" panose="020B0503020204020204" charset="-122"/>
                <a:cs typeface="微软雅黑" panose="020B0503020204020204" charset="-122"/>
              </a:rPr>
              <a:t>说</a:t>
            </a:r>
            <a:r>
              <a:rPr lang="en-US" altLang="zh-CN" b="1">
                <a:solidFill>
                  <a:srgbClr val="31598A"/>
                </a:solidFill>
                <a:latin typeface="微软雅黑" panose="020B0503020204020204" charset="-122"/>
                <a:ea typeface="微软雅黑" panose="020B0503020204020204" charset="-122"/>
                <a:cs typeface="微软雅黑" panose="020B0503020204020204" charset="-122"/>
              </a:rPr>
              <a:t> </a:t>
            </a:r>
            <a:r>
              <a:rPr lang="zh-CN" altLang="en-US" b="1">
                <a:solidFill>
                  <a:srgbClr val="31598A"/>
                </a:solidFill>
                <a:latin typeface="微软雅黑" panose="020B0503020204020204" charset="-122"/>
                <a:ea typeface="微软雅黑" panose="020B0503020204020204" charset="-122"/>
                <a:cs typeface="微软雅黑" panose="020B0503020204020204" charset="-122"/>
              </a:rPr>
              <a:t>明</a:t>
            </a:r>
            <a:endParaRPr lang="zh-CN" altLang="en-US" b="1">
              <a:solidFill>
                <a:srgbClr val="31598A"/>
              </a:solidFill>
              <a:latin typeface="微软雅黑" panose="020B0503020204020204" charset="-122"/>
              <a:ea typeface="微软雅黑" panose="020B0503020204020204" charset="-122"/>
              <a:cs typeface="微软雅黑" panose="020B0503020204020204" charset="-122"/>
            </a:endParaRPr>
          </a:p>
        </p:txBody>
      </p:sp>
      <p:sp>
        <p:nvSpPr>
          <p:cNvPr id="20" name="椭圆 19"/>
          <p:cNvSpPr/>
          <p:nvPr/>
        </p:nvSpPr>
        <p:spPr>
          <a:xfrm>
            <a:off x="983615" y="204724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椭圆 20"/>
          <p:cNvSpPr/>
          <p:nvPr/>
        </p:nvSpPr>
        <p:spPr>
          <a:xfrm>
            <a:off x="983615" y="233553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p:nvSpPr>
        <p:spPr>
          <a:xfrm>
            <a:off x="983615" y="262509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椭圆 22"/>
          <p:cNvSpPr/>
          <p:nvPr/>
        </p:nvSpPr>
        <p:spPr>
          <a:xfrm>
            <a:off x="983615" y="292354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椭圆 23"/>
          <p:cNvSpPr/>
          <p:nvPr/>
        </p:nvSpPr>
        <p:spPr>
          <a:xfrm>
            <a:off x="983615" y="322199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nvSpPr>
        <p:spPr>
          <a:xfrm>
            <a:off x="1059180" y="1956435"/>
            <a:ext cx="2405380" cy="275590"/>
          </a:xfrm>
          <a:prstGeom prst="rect">
            <a:avLst/>
          </a:prstGeom>
          <a:noFill/>
        </p:spPr>
        <p:txBody>
          <a:bodyPr wrap="square" rtlCol="0">
            <a:spAutoFit/>
          </a:bodyPr>
          <a:p>
            <a:r>
              <a:rPr lang="zh-CN" altLang="en-US" sz="1200"/>
              <a:t>平均风速：轮毂高度</a:t>
            </a:r>
            <a:r>
              <a:rPr lang="en-US" altLang="zh-CN" sz="1200"/>
              <a:t>160m</a:t>
            </a:r>
            <a:r>
              <a:rPr lang="zh-CN" altLang="en-US" sz="1200"/>
              <a:t>处</a:t>
            </a:r>
            <a:endParaRPr lang="zh-CN" altLang="en-US" sz="1200"/>
          </a:p>
        </p:txBody>
      </p:sp>
      <p:sp>
        <p:nvSpPr>
          <p:cNvPr id="26" name="文本框 25"/>
          <p:cNvSpPr txBox="1"/>
          <p:nvPr/>
        </p:nvSpPr>
        <p:spPr>
          <a:xfrm>
            <a:off x="1059180" y="2244725"/>
            <a:ext cx="4183380" cy="275590"/>
          </a:xfrm>
          <a:prstGeom prst="rect">
            <a:avLst/>
          </a:prstGeom>
          <a:noFill/>
        </p:spPr>
        <p:txBody>
          <a:bodyPr wrap="square" rtlCol="0">
            <a:spAutoFit/>
          </a:bodyPr>
          <a:p>
            <a:r>
              <a:rPr lang="zh-CN" altLang="en-US" sz="1200"/>
              <a:t>风速工况：</a:t>
            </a:r>
            <a:r>
              <a:rPr lang="en-US" altLang="zh-CN" sz="1200"/>
              <a:t>12m/s</a:t>
            </a:r>
            <a:r>
              <a:rPr lang="zh-CN" altLang="en-US" sz="1200"/>
              <a:t>（</a:t>
            </a:r>
            <a:r>
              <a:rPr lang="en-US" altLang="zh-CN" sz="1200"/>
              <a:t>T1=19.5%</a:t>
            </a:r>
            <a:r>
              <a:rPr lang="zh-CN" altLang="en-US" sz="1200"/>
              <a:t>）、</a:t>
            </a:r>
            <a:r>
              <a:rPr lang="en-US" altLang="zh-CN" sz="1200"/>
              <a:t>25m/s</a:t>
            </a:r>
            <a:r>
              <a:rPr lang="zh-CN" altLang="en-US" sz="1200"/>
              <a:t>（</a:t>
            </a:r>
            <a:r>
              <a:rPr lang="en-US" altLang="zh-CN" sz="1200"/>
              <a:t>T1=16.1%</a:t>
            </a:r>
            <a:r>
              <a:rPr lang="zh-CN" altLang="en-US" sz="1200"/>
              <a:t>）</a:t>
            </a:r>
            <a:endParaRPr lang="zh-CN" altLang="en-US" sz="1200"/>
          </a:p>
        </p:txBody>
      </p:sp>
      <p:sp>
        <p:nvSpPr>
          <p:cNvPr id="27" name="文本框 26"/>
          <p:cNvSpPr txBox="1"/>
          <p:nvPr/>
        </p:nvSpPr>
        <p:spPr>
          <a:xfrm>
            <a:off x="1059180" y="2534920"/>
            <a:ext cx="3892550" cy="275590"/>
          </a:xfrm>
          <a:prstGeom prst="rect">
            <a:avLst/>
          </a:prstGeom>
          <a:noFill/>
        </p:spPr>
        <p:txBody>
          <a:bodyPr wrap="square" rtlCol="0">
            <a:spAutoFit/>
          </a:bodyPr>
          <a:p>
            <a:r>
              <a:rPr lang="zh-CN" altLang="en-US" sz="1200"/>
              <a:t>湍流类型：三维湍流风场，参考湍流强度为</a:t>
            </a:r>
            <a:r>
              <a:rPr lang="en-US" altLang="zh-CN" sz="1200"/>
              <a:t>A</a:t>
            </a:r>
            <a:r>
              <a:rPr lang="zh-CN" altLang="en-US" sz="1200"/>
              <a:t>类</a:t>
            </a:r>
            <a:endParaRPr lang="zh-CN" altLang="en-US" sz="1200"/>
          </a:p>
        </p:txBody>
      </p:sp>
      <p:sp>
        <p:nvSpPr>
          <p:cNvPr id="28" name="文本框 27"/>
          <p:cNvSpPr txBox="1"/>
          <p:nvPr/>
        </p:nvSpPr>
        <p:spPr>
          <a:xfrm>
            <a:off x="1028065" y="2832735"/>
            <a:ext cx="3923665" cy="275590"/>
          </a:xfrm>
          <a:prstGeom prst="rect">
            <a:avLst/>
          </a:prstGeom>
          <a:noFill/>
        </p:spPr>
        <p:txBody>
          <a:bodyPr wrap="square" rtlCol="0">
            <a:spAutoFit/>
          </a:bodyPr>
          <a:p>
            <a:r>
              <a:rPr lang="zh-CN" altLang="en-US" sz="1200"/>
              <a:t>分析时长：总时长</a:t>
            </a:r>
            <a:r>
              <a:rPr lang="en-US" altLang="zh-CN" sz="1200"/>
              <a:t>120s</a:t>
            </a:r>
            <a:r>
              <a:rPr lang="zh-CN" altLang="en-US" sz="1200"/>
              <a:t>，舍弃前</a:t>
            </a:r>
            <a:r>
              <a:rPr lang="en-US" altLang="zh-CN" sz="1200"/>
              <a:t>20s</a:t>
            </a:r>
            <a:r>
              <a:rPr lang="zh-CN" altLang="en-US" sz="1200"/>
              <a:t>，但统计后</a:t>
            </a:r>
            <a:r>
              <a:rPr lang="en-US" altLang="zh-CN" sz="1200"/>
              <a:t>100</a:t>
            </a:r>
            <a:r>
              <a:rPr lang="en-US" altLang="zh-CN" sz="1200"/>
              <a:t>s</a:t>
            </a:r>
            <a:endParaRPr lang="en-US" altLang="zh-CN" sz="1200"/>
          </a:p>
        </p:txBody>
      </p:sp>
      <p:sp>
        <p:nvSpPr>
          <p:cNvPr id="29" name="文本框 28"/>
          <p:cNvSpPr txBox="1"/>
          <p:nvPr/>
        </p:nvSpPr>
        <p:spPr>
          <a:xfrm>
            <a:off x="1046480" y="3142615"/>
            <a:ext cx="2717800" cy="275590"/>
          </a:xfrm>
          <a:prstGeom prst="rect">
            <a:avLst/>
          </a:prstGeom>
          <a:noFill/>
        </p:spPr>
        <p:txBody>
          <a:bodyPr wrap="square" rtlCol="0">
            <a:spAutoFit/>
          </a:bodyPr>
          <a:p>
            <a:r>
              <a:rPr lang="zh-CN" altLang="en-US" sz="1200"/>
              <a:t>对比对象：</a:t>
            </a:r>
            <a:r>
              <a:rPr lang="en-US" altLang="zh-CN" sz="1200"/>
              <a:t>OpenFAST</a:t>
            </a:r>
            <a:r>
              <a:rPr lang="zh-CN" altLang="en-US" sz="1200"/>
              <a:t>与</a:t>
            </a:r>
            <a:r>
              <a:rPr lang="en-US" altLang="zh-CN" sz="1200"/>
              <a:t>SSO</a:t>
            </a:r>
            <a:r>
              <a:rPr lang="zh-CN" altLang="en-US" sz="1200"/>
              <a:t>模型</a:t>
            </a:r>
            <a:r>
              <a:rPr lang="zh-CN" altLang="en-US" sz="1200"/>
              <a:t>结果</a:t>
            </a:r>
            <a:endParaRPr lang="zh-CN" altLang="en-US" sz="1200"/>
          </a:p>
        </p:txBody>
      </p:sp>
      <p:sp>
        <p:nvSpPr>
          <p:cNvPr id="30" name="椭圆 29"/>
          <p:cNvSpPr/>
          <p:nvPr/>
        </p:nvSpPr>
        <p:spPr>
          <a:xfrm>
            <a:off x="757555" y="3990975"/>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椭圆 30"/>
          <p:cNvSpPr/>
          <p:nvPr/>
        </p:nvSpPr>
        <p:spPr>
          <a:xfrm>
            <a:off x="757555" y="4744085"/>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椭圆 31"/>
          <p:cNvSpPr/>
          <p:nvPr/>
        </p:nvSpPr>
        <p:spPr>
          <a:xfrm>
            <a:off x="757555" y="5324475"/>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椭圆 32"/>
          <p:cNvSpPr/>
          <p:nvPr/>
        </p:nvSpPr>
        <p:spPr>
          <a:xfrm>
            <a:off x="757555" y="5904865"/>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文本框 33"/>
          <p:cNvSpPr txBox="1"/>
          <p:nvPr/>
        </p:nvSpPr>
        <p:spPr>
          <a:xfrm>
            <a:off x="911860" y="3912235"/>
            <a:ext cx="3998595" cy="796925"/>
          </a:xfrm>
          <a:prstGeom prst="rect">
            <a:avLst/>
          </a:prstGeom>
          <a:noFill/>
        </p:spPr>
        <p:txBody>
          <a:bodyPr wrap="square" rtlCol="0">
            <a:spAutoFit/>
          </a:bodyPr>
          <a:p>
            <a:pPr>
              <a:lnSpc>
                <a:spcPct val="90000"/>
              </a:lnSpc>
              <a:spcBef>
                <a:spcPts val="0"/>
              </a:spcBef>
              <a:spcAft>
                <a:spcPts val="0"/>
              </a:spcAft>
            </a:pPr>
            <a:r>
              <a:rPr lang="zh-CN" altLang="en-US" sz="1700"/>
              <a:t>取后</a:t>
            </a:r>
            <a:r>
              <a:rPr lang="en-US" altLang="zh-CN" sz="1700"/>
              <a:t>600s</a:t>
            </a:r>
            <a:r>
              <a:rPr lang="zh-CN" altLang="en-US" sz="1700"/>
              <a:t>的分析结果计算</a:t>
            </a:r>
            <a:r>
              <a:rPr lang="en-US" altLang="zh-CN" sz="1700"/>
              <a:t>MAPE,</a:t>
            </a:r>
            <a:r>
              <a:rPr lang="zh-CN" altLang="en-US" sz="1700"/>
              <a:t>平均风速</a:t>
            </a:r>
            <a:r>
              <a:rPr lang="en-US" altLang="zh-CN" sz="1700"/>
              <a:t>12m/s</a:t>
            </a:r>
            <a:r>
              <a:rPr lang="zh-CN" altLang="en-US" sz="1700"/>
              <a:t>工况下的计算结果为</a:t>
            </a:r>
            <a:r>
              <a:rPr lang="en-US" altLang="zh-CN" sz="1700">
                <a:solidFill>
                  <a:srgbClr val="31598A"/>
                </a:solidFill>
              </a:rPr>
              <a:t>3.66%</a:t>
            </a:r>
            <a:r>
              <a:rPr lang="zh-CN" altLang="en-US" sz="1700"/>
              <a:t>；</a:t>
            </a:r>
            <a:r>
              <a:rPr lang="en-US" altLang="zh-CN" sz="1700"/>
              <a:t>25m/s</a:t>
            </a:r>
            <a:r>
              <a:rPr lang="zh-CN" altLang="en-US" sz="1700"/>
              <a:t>工况下为</a:t>
            </a:r>
            <a:r>
              <a:rPr lang="en-US" altLang="zh-CN" sz="1700">
                <a:solidFill>
                  <a:srgbClr val="31598A"/>
                </a:solidFill>
              </a:rPr>
              <a:t>4.50%</a:t>
            </a:r>
            <a:r>
              <a:rPr lang="zh-CN" altLang="en-US" sz="1700"/>
              <a:t>。</a:t>
            </a:r>
            <a:endParaRPr lang="zh-CN" altLang="en-US" sz="1700"/>
          </a:p>
        </p:txBody>
      </p:sp>
      <p:sp>
        <p:nvSpPr>
          <p:cNvPr id="35" name="文本框 34"/>
          <p:cNvSpPr txBox="1"/>
          <p:nvPr/>
        </p:nvSpPr>
        <p:spPr>
          <a:xfrm>
            <a:off x="911860" y="4624705"/>
            <a:ext cx="4229100" cy="614045"/>
          </a:xfrm>
          <a:prstGeom prst="rect">
            <a:avLst/>
          </a:prstGeom>
          <a:noFill/>
        </p:spPr>
        <p:txBody>
          <a:bodyPr wrap="square" rtlCol="0">
            <a:spAutoFit/>
          </a:bodyPr>
          <a:p>
            <a:r>
              <a:rPr lang="zh-CN" altLang="en-US" sz="1700"/>
              <a:t>与</a:t>
            </a:r>
            <a:r>
              <a:rPr lang="en-US" altLang="zh-CN" sz="1700"/>
              <a:t>OpenFAST</a:t>
            </a:r>
            <a:r>
              <a:rPr lang="zh-CN" altLang="en-US" sz="1700"/>
              <a:t>相比，</a:t>
            </a:r>
            <a:r>
              <a:rPr lang="en-US" altLang="zh-CN" sz="1700"/>
              <a:t>SSO</a:t>
            </a:r>
            <a:r>
              <a:rPr lang="zh-CN" altLang="en-US" sz="1700"/>
              <a:t>在初始响应阶段的波动更小。</a:t>
            </a:r>
            <a:endParaRPr lang="zh-CN" altLang="en-US" sz="1700"/>
          </a:p>
        </p:txBody>
      </p:sp>
      <p:sp>
        <p:nvSpPr>
          <p:cNvPr id="36" name="文本框 35"/>
          <p:cNvSpPr txBox="1"/>
          <p:nvPr/>
        </p:nvSpPr>
        <p:spPr>
          <a:xfrm>
            <a:off x="911860" y="5229225"/>
            <a:ext cx="4153535" cy="583565"/>
          </a:xfrm>
          <a:prstGeom prst="rect">
            <a:avLst/>
          </a:prstGeom>
          <a:noFill/>
        </p:spPr>
        <p:txBody>
          <a:bodyPr wrap="square" rtlCol="0">
            <a:spAutoFit/>
          </a:bodyPr>
          <a:p>
            <a:r>
              <a:rPr lang="zh-CN" altLang="en-US" sz="1600" b="1">
                <a:solidFill>
                  <a:srgbClr val="C00000"/>
                </a:solidFill>
              </a:rPr>
              <a:t>基于</a:t>
            </a:r>
            <a:r>
              <a:rPr lang="en-US" altLang="zh-CN" sz="1600" b="1">
                <a:solidFill>
                  <a:srgbClr val="C00000"/>
                </a:solidFill>
              </a:rPr>
              <a:t>SSO</a:t>
            </a:r>
            <a:r>
              <a:rPr lang="zh-CN" altLang="en-US" sz="1600" b="1">
                <a:solidFill>
                  <a:srgbClr val="C00000"/>
                </a:solidFill>
              </a:rPr>
              <a:t>所建模型的动力响应与</a:t>
            </a:r>
            <a:r>
              <a:rPr lang="en-US" altLang="zh-CN" sz="1600" b="1">
                <a:solidFill>
                  <a:srgbClr val="C00000"/>
                </a:solidFill>
              </a:rPr>
              <a:t>OpenFAST</a:t>
            </a:r>
            <a:r>
              <a:rPr lang="zh-CN" altLang="en-US" sz="1600" b="1">
                <a:solidFill>
                  <a:srgbClr val="C00000"/>
                </a:solidFill>
              </a:rPr>
              <a:t>模型结果基本一致。</a:t>
            </a:r>
            <a:endParaRPr lang="zh-CN" altLang="en-US" sz="1600" b="1">
              <a:solidFill>
                <a:srgbClr val="C00000"/>
              </a:solidFill>
            </a:endParaRPr>
          </a:p>
        </p:txBody>
      </p:sp>
      <p:sp>
        <p:nvSpPr>
          <p:cNvPr id="37" name="文本框 36"/>
          <p:cNvSpPr txBox="1"/>
          <p:nvPr/>
        </p:nvSpPr>
        <p:spPr>
          <a:xfrm>
            <a:off x="929640" y="5767705"/>
            <a:ext cx="4251960" cy="583565"/>
          </a:xfrm>
          <a:prstGeom prst="rect">
            <a:avLst/>
          </a:prstGeom>
          <a:noFill/>
        </p:spPr>
        <p:txBody>
          <a:bodyPr wrap="square" rtlCol="0">
            <a:spAutoFit/>
          </a:bodyPr>
          <a:p>
            <a:r>
              <a:rPr lang="en-US" altLang="zh-CN" sz="1600"/>
              <a:t>SSO</a:t>
            </a:r>
            <a:r>
              <a:rPr lang="zh-CN" altLang="en-US" sz="1600"/>
              <a:t>模型在模拟大型风电机组动力学行为方面具有良好的</a:t>
            </a:r>
            <a:r>
              <a:rPr lang="zh-CN" altLang="en-US" sz="1600">
                <a:solidFill>
                  <a:srgbClr val="023A8B"/>
                </a:solidFill>
              </a:rPr>
              <a:t>准确性和可靠性</a:t>
            </a:r>
            <a:r>
              <a:rPr lang="zh-CN" altLang="en-US" sz="1600"/>
              <a:t>。</a:t>
            </a:r>
            <a:endParaRPr lang="zh-CN" altLang="en-US" sz="1600"/>
          </a:p>
        </p:txBody>
      </p:sp>
      <p:sp>
        <p:nvSpPr>
          <p:cNvPr id="38" name="矩形 37"/>
          <p:cNvSpPr/>
          <p:nvPr/>
        </p:nvSpPr>
        <p:spPr>
          <a:xfrm>
            <a:off x="6631940" y="2080260"/>
            <a:ext cx="526415" cy="44450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9" name="矩形 38"/>
          <p:cNvSpPr/>
          <p:nvPr/>
        </p:nvSpPr>
        <p:spPr>
          <a:xfrm>
            <a:off x="6624955" y="3539490"/>
            <a:ext cx="548005" cy="44450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0" name="任意多边形 39"/>
          <p:cNvSpPr/>
          <p:nvPr/>
        </p:nvSpPr>
        <p:spPr>
          <a:xfrm>
            <a:off x="5254625" y="1532255"/>
            <a:ext cx="6421755" cy="3073400"/>
          </a:xfrm>
          <a:custGeom>
            <a:avLst/>
            <a:gdLst>
              <a:gd name="connsiteX0" fmla="*/ 0 w 10113"/>
              <a:gd name="connsiteY0" fmla="*/ 723 h 4840"/>
              <a:gd name="connsiteX1" fmla="*/ 618 w 10113"/>
              <a:gd name="connsiteY1" fmla="*/ 0 h 4840"/>
              <a:gd name="connsiteX2" fmla="*/ 9541 w 10113"/>
              <a:gd name="connsiteY2" fmla="*/ 11 h 4840"/>
              <a:gd name="connsiteX3" fmla="*/ 10113 w 10113"/>
              <a:gd name="connsiteY3" fmla="*/ 828 h 4840"/>
              <a:gd name="connsiteX4" fmla="*/ 10113 w 10113"/>
              <a:gd name="connsiteY4" fmla="*/ 4082 h 4840"/>
              <a:gd name="connsiteX5" fmla="*/ 9471 w 10113"/>
              <a:gd name="connsiteY5" fmla="*/ 4829 h 4840"/>
              <a:gd name="connsiteX6" fmla="*/ 735 w 10113"/>
              <a:gd name="connsiteY6" fmla="*/ 4840 h 4840"/>
              <a:gd name="connsiteX7" fmla="*/ 0 w 10113"/>
              <a:gd name="connsiteY7" fmla="*/ 4187 h 4840"/>
              <a:gd name="connsiteX8" fmla="*/ 0 w 10113"/>
              <a:gd name="connsiteY8" fmla="*/ 723 h 4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13" h="4840">
                <a:moveTo>
                  <a:pt x="0" y="723"/>
                </a:moveTo>
                <a:cubicBezTo>
                  <a:pt x="0" y="280"/>
                  <a:pt x="175" y="0"/>
                  <a:pt x="618" y="0"/>
                </a:cubicBezTo>
                <a:lnTo>
                  <a:pt x="9541" y="11"/>
                </a:lnTo>
                <a:cubicBezTo>
                  <a:pt x="9984" y="11"/>
                  <a:pt x="10113" y="385"/>
                  <a:pt x="10113" y="828"/>
                </a:cubicBezTo>
                <a:lnTo>
                  <a:pt x="10113" y="4082"/>
                </a:lnTo>
                <a:cubicBezTo>
                  <a:pt x="10113" y="4525"/>
                  <a:pt x="9914" y="4829"/>
                  <a:pt x="9471" y="4829"/>
                </a:cubicBezTo>
                <a:lnTo>
                  <a:pt x="735" y="4840"/>
                </a:lnTo>
                <a:cubicBezTo>
                  <a:pt x="292" y="4840"/>
                  <a:pt x="0" y="4630"/>
                  <a:pt x="0" y="4187"/>
                </a:cubicBezTo>
                <a:lnTo>
                  <a:pt x="0" y="723"/>
                </a:lnTo>
                <a:close/>
              </a:path>
            </a:pathLst>
          </a:custGeom>
          <a:ln>
            <a:solidFill>
              <a:schemeClr val="bg2">
                <a:lumMod val="5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1" name="圆角矩形 40"/>
          <p:cNvSpPr/>
          <p:nvPr/>
        </p:nvSpPr>
        <p:spPr>
          <a:xfrm>
            <a:off x="5255260" y="4744085"/>
            <a:ext cx="6428740" cy="1661795"/>
          </a:xfrm>
          <a:prstGeom prst="roundRect">
            <a:avLst/>
          </a:prstGeom>
          <a:ln>
            <a:solidFill>
              <a:schemeClr val="bg2">
                <a:lumMod val="5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2" name="文本框 41"/>
          <p:cNvSpPr txBox="1"/>
          <p:nvPr/>
        </p:nvSpPr>
        <p:spPr>
          <a:xfrm>
            <a:off x="6558280" y="2038985"/>
            <a:ext cx="614680" cy="533400"/>
          </a:xfrm>
          <a:prstGeom prst="rect">
            <a:avLst/>
          </a:prstGeom>
          <a:noFill/>
        </p:spPr>
        <p:txBody>
          <a:bodyPr wrap="square" rtlCol="0">
            <a:spAutoFit/>
          </a:bodyPr>
          <a:p>
            <a:pPr algn="ctr">
              <a:lnSpc>
                <a:spcPct val="80000"/>
              </a:lnSpc>
              <a:spcBef>
                <a:spcPts val="0"/>
              </a:spcBef>
              <a:spcAft>
                <a:spcPts val="0"/>
              </a:spcAft>
            </a:pPr>
            <a:r>
              <a:rPr lang="en-US" altLang="zh-CN" b="1"/>
              <a:t>12</a:t>
            </a:r>
            <a:endParaRPr lang="en-US" altLang="zh-CN" b="1"/>
          </a:p>
          <a:p>
            <a:pPr algn="ctr">
              <a:lnSpc>
                <a:spcPct val="80000"/>
              </a:lnSpc>
              <a:spcBef>
                <a:spcPts val="0"/>
              </a:spcBef>
              <a:spcAft>
                <a:spcPts val="0"/>
              </a:spcAft>
            </a:pPr>
            <a:r>
              <a:rPr lang="en-US" altLang="zh-CN" b="1"/>
              <a:t>m/s</a:t>
            </a:r>
            <a:endParaRPr lang="en-US" altLang="zh-CN" b="1"/>
          </a:p>
        </p:txBody>
      </p:sp>
      <p:sp>
        <p:nvSpPr>
          <p:cNvPr id="43" name="文本框 42"/>
          <p:cNvSpPr txBox="1"/>
          <p:nvPr/>
        </p:nvSpPr>
        <p:spPr>
          <a:xfrm>
            <a:off x="6624955" y="3500755"/>
            <a:ext cx="614680" cy="533400"/>
          </a:xfrm>
          <a:prstGeom prst="rect">
            <a:avLst/>
          </a:prstGeom>
          <a:noFill/>
        </p:spPr>
        <p:txBody>
          <a:bodyPr wrap="square" rtlCol="0">
            <a:spAutoFit/>
          </a:bodyPr>
          <a:p>
            <a:pPr algn="ctr">
              <a:lnSpc>
                <a:spcPct val="80000"/>
              </a:lnSpc>
              <a:spcBef>
                <a:spcPts val="0"/>
              </a:spcBef>
              <a:spcAft>
                <a:spcPts val="0"/>
              </a:spcAft>
            </a:pPr>
            <a:r>
              <a:rPr lang="en-US" altLang="zh-CN" b="1"/>
              <a:t>25</a:t>
            </a:r>
            <a:endParaRPr lang="en-US" altLang="zh-CN" b="1"/>
          </a:p>
          <a:p>
            <a:pPr algn="ctr">
              <a:lnSpc>
                <a:spcPct val="80000"/>
              </a:lnSpc>
              <a:spcBef>
                <a:spcPts val="0"/>
              </a:spcBef>
              <a:spcAft>
                <a:spcPts val="0"/>
              </a:spcAft>
            </a:pPr>
            <a:r>
              <a:rPr lang="en-US" altLang="zh-CN" b="1"/>
              <a:t>m/s</a:t>
            </a:r>
            <a:endParaRPr lang="en-US" altLang="zh-CN" b="1"/>
          </a:p>
        </p:txBody>
      </p:sp>
      <p:pic>
        <p:nvPicPr>
          <p:cNvPr id="44" name="图片 43"/>
          <p:cNvPicPr>
            <a:picLocks noChangeAspect="1"/>
          </p:cNvPicPr>
          <p:nvPr/>
        </p:nvPicPr>
        <p:blipFill>
          <a:blip r:embed="rId1"/>
          <a:stretch>
            <a:fillRect/>
          </a:stretch>
        </p:blipFill>
        <p:spPr>
          <a:xfrm>
            <a:off x="7239000" y="1675765"/>
            <a:ext cx="4252595" cy="2874010"/>
          </a:xfrm>
          <a:prstGeom prst="rect">
            <a:avLst/>
          </a:prstGeom>
        </p:spPr>
      </p:pic>
      <p:pic>
        <p:nvPicPr>
          <p:cNvPr id="45" name="图片 44" descr="36.2.2"/>
          <p:cNvPicPr>
            <a:picLocks noChangeAspect="1"/>
          </p:cNvPicPr>
          <p:nvPr/>
        </p:nvPicPr>
        <p:blipFill>
          <a:blip r:embed="rId2"/>
          <a:stretch>
            <a:fillRect/>
          </a:stretch>
        </p:blipFill>
        <p:spPr>
          <a:xfrm>
            <a:off x="6558280" y="4954270"/>
            <a:ext cx="5022215" cy="1397000"/>
          </a:xfrm>
          <a:prstGeom prst="rect">
            <a:avLst/>
          </a:prstGeom>
        </p:spPr>
      </p:pic>
      <p:sp>
        <p:nvSpPr>
          <p:cNvPr id="46" name="文本框 4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36/68</a:t>
            </a:r>
            <a:endParaRPr lang="en-US" altLang="zh-CN">
              <a:latin typeface="微软雅黑" panose="020B0503020204020204" charset="-122"/>
              <a:ea typeface="微软雅黑" panose="020B0503020204020204" charset="-122"/>
            </a:endParaRPr>
          </a:p>
        </p:txBody>
      </p:sp>
      <p:sp>
        <p:nvSpPr>
          <p:cNvPr id="4" name="文本框 3"/>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2</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多保真度耦合非线性动力学</a:t>
            </a:r>
            <a:r>
              <a:rPr lang="zh-CN" altLang="en-US" sz="3100" b="1">
                <a:solidFill>
                  <a:srgbClr val="305393"/>
                </a:solidFill>
              </a:rPr>
              <a:t>模型</a:t>
            </a:r>
            <a:endParaRPr lang="zh-CN" altLang="en-US" sz="3100" b="1">
              <a:solidFill>
                <a:srgbClr val="305393"/>
              </a:solidFill>
            </a:endParaRPr>
          </a:p>
        </p:txBody>
      </p:sp>
      <p:sp>
        <p:nvSpPr>
          <p:cNvPr id="10" name="矩形 9"/>
          <p:cNvSpPr/>
          <p:nvPr/>
        </p:nvSpPr>
        <p:spPr>
          <a:xfrm>
            <a:off x="874395" y="1233805"/>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任意多边形 12"/>
          <p:cNvSpPr/>
          <p:nvPr/>
        </p:nvSpPr>
        <p:spPr>
          <a:xfrm>
            <a:off x="752226" y="3586827"/>
            <a:ext cx="5003475" cy="2879621"/>
          </a:xfrm>
          <a:custGeom>
            <a:avLst/>
            <a:gdLst>
              <a:gd name="connsiteX0" fmla="*/ 41 w 7879"/>
              <a:gd name="connsiteY0" fmla="*/ 345 h 4534"/>
              <a:gd name="connsiteX1" fmla="*/ 613 w 7879"/>
              <a:gd name="connsiteY1" fmla="*/ 6 h 4534"/>
              <a:gd name="connsiteX2" fmla="*/ 7435 w 7879"/>
              <a:gd name="connsiteY2" fmla="*/ 18 h 4534"/>
              <a:gd name="connsiteX3" fmla="*/ 7844 w 7879"/>
              <a:gd name="connsiteY3" fmla="*/ 438 h 4534"/>
              <a:gd name="connsiteX4" fmla="*/ 7879 w 7879"/>
              <a:gd name="connsiteY4" fmla="*/ 4171 h 4534"/>
              <a:gd name="connsiteX5" fmla="*/ 7342 w 7879"/>
              <a:gd name="connsiteY5" fmla="*/ 4532 h 4534"/>
              <a:gd name="connsiteX6" fmla="*/ 343 w 7879"/>
              <a:gd name="connsiteY6" fmla="*/ 4532 h 4534"/>
              <a:gd name="connsiteX7" fmla="*/ 6 w 7879"/>
              <a:gd name="connsiteY7" fmla="*/ 4007 h 4534"/>
              <a:gd name="connsiteX8" fmla="*/ 41 w 7879"/>
              <a:gd name="connsiteY8" fmla="*/ 345 h 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79" h="4535">
                <a:moveTo>
                  <a:pt x="41" y="345"/>
                </a:moveTo>
                <a:cubicBezTo>
                  <a:pt x="41" y="-74"/>
                  <a:pt x="194" y="6"/>
                  <a:pt x="613" y="6"/>
                </a:cubicBezTo>
                <a:lnTo>
                  <a:pt x="7435" y="18"/>
                </a:lnTo>
                <a:cubicBezTo>
                  <a:pt x="7854" y="18"/>
                  <a:pt x="7844" y="19"/>
                  <a:pt x="7844" y="438"/>
                </a:cubicBezTo>
                <a:lnTo>
                  <a:pt x="7879" y="4171"/>
                </a:lnTo>
                <a:cubicBezTo>
                  <a:pt x="7879" y="4590"/>
                  <a:pt x="7761" y="4532"/>
                  <a:pt x="7342" y="4532"/>
                </a:cubicBezTo>
                <a:lnTo>
                  <a:pt x="343" y="4532"/>
                </a:lnTo>
                <a:cubicBezTo>
                  <a:pt x="-76" y="4532"/>
                  <a:pt x="6" y="4426"/>
                  <a:pt x="6" y="4007"/>
                </a:cubicBezTo>
                <a:lnTo>
                  <a:pt x="41" y="345"/>
                </a:lnTo>
                <a:close/>
              </a:path>
            </a:pathLst>
          </a:cu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文本框 10"/>
          <p:cNvSpPr txBox="1"/>
          <p:nvPr/>
        </p:nvSpPr>
        <p:spPr>
          <a:xfrm>
            <a:off x="1203325" y="1101090"/>
            <a:ext cx="4599305" cy="445135"/>
          </a:xfrm>
          <a:prstGeom prst="rect">
            <a:avLst/>
          </a:prstGeom>
          <a:noFill/>
        </p:spPr>
        <p:txBody>
          <a:bodyPr wrap="square" rtlCol="0">
            <a:spAutoFit/>
          </a:bodyPr>
          <a:p>
            <a:r>
              <a:rPr lang="zh-CN" altLang="en-US" sz="2300" b="1">
                <a:solidFill>
                  <a:srgbClr val="2E5495"/>
                </a:solidFill>
                <a:latin typeface="微软雅黑" panose="020B0503020204020204" charset="-122"/>
                <a:ea typeface="微软雅黑" panose="020B0503020204020204" charset="-122"/>
                <a:cs typeface="微软雅黑" panose="020B0503020204020204" charset="-122"/>
              </a:rPr>
              <a:t>两种保真度模型的</a:t>
            </a:r>
            <a:r>
              <a:rPr lang="zh-CN" altLang="en-US" sz="2300" b="1">
                <a:solidFill>
                  <a:srgbClr val="C00000"/>
                </a:solidFill>
                <a:latin typeface="微软雅黑" panose="020B0503020204020204" charset="-122"/>
                <a:ea typeface="微软雅黑" panose="020B0503020204020204" charset="-122"/>
                <a:cs typeface="微软雅黑" panose="020B0503020204020204" charset="-122"/>
              </a:rPr>
              <a:t>效率与精度对比</a:t>
            </a:r>
            <a:endParaRPr lang="zh-CN" altLang="en-US" sz="23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2" name="任意多边形 1"/>
          <p:cNvSpPr/>
          <p:nvPr/>
        </p:nvSpPr>
        <p:spPr>
          <a:xfrm>
            <a:off x="765175" y="1652270"/>
            <a:ext cx="4988513" cy="1755140"/>
          </a:xfrm>
          <a:custGeom>
            <a:avLst/>
            <a:gdLst>
              <a:gd name="connsiteX0" fmla="*/ 22 w 7855"/>
              <a:gd name="connsiteY0" fmla="*/ 374 h 2764"/>
              <a:gd name="connsiteX1" fmla="*/ 310 w 7855"/>
              <a:gd name="connsiteY1" fmla="*/ 0 h 2764"/>
              <a:gd name="connsiteX2" fmla="*/ 7631 w 7855"/>
              <a:gd name="connsiteY2" fmla="*/ 11 h 2764"/>
              <a:gd name="connsiteX3" fmla="*/ 7855 w 7855"/>
              <a:gd name="connsiteY3" fmla="*/ 342 h 2764"/>
              <a:gd name="connsiteX4" fmla="*/ 7855 w 7855"/>
              <a:gd name="connsiteY4" fmla="*/ 2487 h 2764"/>
              <a:gd name="connsiteX5" fmla="*/ 7631 w 7855"/>
              <a:gd name="connsiteY5" fmla="*/ 2743 h 2764"/>
              <a:gd name="connsiteX6" fmla="*/ 267 w 7855"/>
              <a:gd name="connsiteY6" fmla="*/ 2764 h 2764"/>
              <a:gd name="connsiteX7" fmla="*/ 0 w 7855"/>
              <a:gd name="connsiteY7" fmla="*/ 2455 h 2764"/>
              <a:gd name="connsiteX8" fmla="*/ 22 w 7855"/>
              <a:gd name="connsiteY8" fmla="*/ 374 h 2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56" h="2764">
                <a:moveTo>
                  <a:pt x="22" y="374"/>
                </a:moveTo>
                <a:cubicBezTo>
                  <a:pt x="22" y="122"/>
                  <a:pt x="58" y="0"/>
                  <a:pt x="310" y="0"/>
                </a:cubicBezTo>
                <a:lnTo>
                  <a:pt x="7631" y="11"/>
                </a:lnTo>
                <a:cubicBezTo>
                  <a:pt x="7883" y="11"/>
                  <a:pt x="7855" y="90"/>
                  <a:pt x="7855" y="342"/>
                </a:cubicBezTo>
                <a:lnTo>
                  <a:pt x="7855" y="2487"/>
                </a:lnTo>
                <a:cubicBezTo>
                  <a:pt x="7855" y="2739"/>
                  <a:pt x="7883" y="2743"/>
                  <a:pt x="7631" y="2743"/>
                </a:cubicBezTo>
                <a:lnTo>
                  <a:pt x="267" y="2764"/>
                </a:lnTo>
                <a:cubicBezTo>
                  <a:pt x="15" y="2764"/>
                  <a:pt x="0" y="2707"/>
                  <a:pt x="0" y="2455"/>
                </a:cubicBezTo>
                <a:lnTo>
                  <a:pt x="22" y="374"/>
                </a:lnTo>
                <a:close/>
              </a:path>
            </a:pathLst>
          </a:cu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 name="圆角矩形 2"/>
          <p:cNvSpPr/>
          <p:nvPr/>
        </p:nvSpPr>
        <p:spPr>
          <a:xfrm>
            <a:off x="765175" y="1572895"/>
            <a:ext cx="1212850" cy="271145"/>
          </a:xfrm>
          <a:prstGeom prst="round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分析条件</a:t>
            </a:r>
            <a:endParaRPr lang="zh-CN" altLang="en-US" sz="1400"/>
          </a:p>
        </p:txBody>
      </p:sp>
      <p:sp>
        <p:nvSpPr>
          <p:cNvPr id="12" name="圆角矩形 11"/>
          <p:cNvSpPr/>
          <p:nvPr/>
        </p:nvSpPr>
        <p:spPr>
          <a:xfrm>
            <a:off x="770890" y="3472180"/>
            <a:ext cx="1668145" cy="271145"/>
          </a:xfrm>
          <a:prstGeom prst="round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计算效率与</a:t>
            </a:r>
            <a:r>
              <a:rPr lang="zh-CN" altLang="en-US" sz="1400"/>
              <a:t>精度</a:t>
            </a:r>
            <a:endParaRPr lang="zh-CN" altLang="en-US" sz="1400"/>
          </a:p>
        </p:txBody>
      </p:sp>
      <p:graphicFrame>
        <p:nvGraphicFramePr>
          <p:cNvPr id="14" name="表格 13"/>
          <p:cNvGraphicFramePr/>
          <p:nvPr>
            <p:custDataLst>
              <p:tags r:id="rId1"/>
            </p:custDataLst>
          </p:nvPr>
        </p:nvGraphicFramePr>
        <p:xfrm>
          <a:off x="874395" y="3808095"/>
          <a:ext cx="4743450" cy="1323975"/>
        </p:xfrm>
        <a:graphic>
          <a:graphicData uri="http://schemas.openxmlformats.org/drawingml/2006/table">
            <a:tbl>
              <a:tblPr firstRow="1" bandRow="1">
                <a:tableStyleId>{5C22544A-7EE6-4342-B048-85BDC9FD1C3A}</a:tableStyleId>
              </a:tblPr>
              <a:tblGrid>
                <a:gridCol w="948690"/>
                <a:gridCol w="948690"/>
                <a:gridCol w="948690"/>
                <a:gridCol w="948690"/>
                <a:gridCol w="948690"/>
              </a:tblGrid>
              <a:tr h="601980">
                <a:tc>
                  <a:txBody>
                    <a:bodyPr/>
                    <a:p>
                      <a:pPr>
                        <a:buNone/>
                      </a:pPr>
                      <a:r>
                        <a:rPr lang="zh-CN" altLang="en-US" sz="1200">
                          <a:solidFill>
                            <a:schemeClr val="bg1"/>
                          </a:solidFill>
                        </a:rPr>
                        <a:t>保真度</a:t>
                      </a:r>
                      <a:endParaRPr lang="zh-CN" altLang="en-US" sz="1200">
                        <a:solidFill>
                          <a:schemeClr val="bg1"/>
                        </a:solidFill>
                      </a:endParaRPr>
                    </a:p>
                  </a:txBody>
                  <a:tcPr>
                    <a:solidFill>
                      <a:srgbClr val="023A8B"/>
                    </a:solidFill>
                  </a:tcPr>
                </a:tc>
                <a:tc>
                  <a:txBody>
                    <a:bodyPr/>
                    <a:p>
                      <a:pPr>
                        <a:buNone/>
                      </a:pPr>
                      <a:r>
                        <a:rPr lang="zh-CN" altLang="en-US" sz="1200">
                          <a:solidFill>
                            <a:schemeClr val="bg1"/>
                          </a:solidFill>
                        </a:rPr>
                        <a:t>计算耗时（</a:t>
                      </a:r>
                      <a:r>
                        <a:rPr lang="en-US" altLang="zh-CN" sz="1200">
                          <a:solidFill>
                            <a:schemeClr val="bg1"/>
                          </a:solidFill>
                        </a:rPr>
                        <a:t>mm)</a:t>
                      </a:r>
                      <a:r>
                        <a:rPr lang="zh-CN" altLang="en-US" sz="1200">
                          <a:solidFill>
                            <a:srgbClr val="023A8B"/>
                          </a:solidFill>
                        </a:rPr>
                        <a:t>）</a:t>
                      </a:r>
                      <a:endParaRPr lang="zh-CN" altLang="en-US" sz="1200">
                        <a:solidFill>
                          <a:srgbClr val="023A8B"/>
                        </a:solidFill>
                      </a:endParaRPr>
                    </a:p>
                  </a:txBody>
                  <a:tcPr>
                    <a:solidFill>
                      <a:srgbClr val="023A8B"/>
                    </a:solidFill>
                  </a:tcPr>
                </a:tc>
                <a:tc>
                  <a:txBody>
                    <a:bodyPr/>
                    <a:p>
                      <a:pPr>
                        <a:buNone/>
                      </a:pPr>
                      <a:r>
                        <a:rPr lang="zh-CN" altLang="en-US" sz="1200">
                          <a:solidFill>
                            <a:schemeClr val="bg1"/>
                          </a:solidFill>
                        </a:rPr>
                        <a:t>塔顶位移</a:t>
                      </a:r>
                      <a:endParaRPr lang="zh-CN" altLang="en-US" sz="1200">
                        <a:solidFill>
                          <a:schemeClr val="bg1"/>
                        </a:solidFill>
                      </a:endParaRPr>
                    </a:p>
                    <a:p>
                      <a:pPr>
                        <a:buNone/>
                      </a:pPr>
                      <a:r>
                        <a:rPr lang="en-US" altLang="zh-CN" sz="1200">
                          <a:solidFill>
                            <a:schemeClr val="bg1"/>
                          </a:solidFill>
                        </a:rPr>
                        <a:t>MAPE</a:t>
                      </a:r>
                      <a:endParaRPr lang="en-US" altLang="zh-CN" sz="1200">
                        <a:solidFill>
                          <a:schemeClr val="bg1"/>
                        </a:solidFill>
                      </a:endParaRPr>
                    </a:p>
                  </a:txBody>
                  <a:tcPr>
                    <a:solidFill>
                      <a:srgbClr val="023A8B"/>
                    </a:solidFill>
                  </a:tcPr>
                </a:tc>
                <a:tc>
                  <a:txBody>
                    <a:bodyPr/>
                    <a:p>
                      <a:pPr>
                        <a:buNone/>
                      </a:pPr>
                      <a:r>
                        <a:rPr lang="zh-CN" altLang="en-US" sz="1200">
                          <a:solidFill>
                            <a:schemeClr val="bg1"/>
                          </a:solidFill>
                        </a:rPr>
                        <a:t>混凝土塔段应力</a:t>
                      </a:r>
                      <a:r>
                        <a:rPr lang="en-US" altLang="zh-CN" sz="1200">
                          <a:solidFill>
                            <a:schemeClr val="bg1"/>
                          </a:solidFill>
                        </a:rPr>
                        <a:t>MAPE</a:t>
                      </a:r>
                      <a:endParaRPr lang="en-US" altLang="zh-CN" sz="1200">
                        <a:solidFill>
                          <a:schemeClr val="bg1"/>
                        </a:solidFill>
                      </a:endParaRPr>
                    </a:p>
                  </a:txBody>
                  <a:tcPr>
                    <a:solidFill>
                      <a:srgbClr val="023A8B"/>
                    </a:solidFill>
                  </a:tcPr>
                </a:tc>
                <a:tc>
                  <a:txBody>
                    <a:bodyPr/>
                    <a:p>
                      <a:pPr>
                        <a:buNone/>
                      </a:pPr>
                      <a:r>
                        <a:rPr lang="zh-CN" altLang="en-US" sz="1200">
                          <a:solidFill>
                            <a:schemeClr val="bg1"/>
                          </a:solidFill>
                        </a:rPr>
                        <a:t>钢塔段应力</a:t>
                      </a:r>
                      <a:r>
                        <a:rPr lang="en-US" altLang="zh-CN" sz="1200">
                          <a:solidFill>
                            <a:schemeClr val="bg1"/>
                          </a:solidFill>
                        </a:rPr>
                        <a:t>MAPE</a:t>
                      </a:r>
                      <a:endParaRPr lang="en-US" altLang="zh-CN" sz="1200">
                        <a:solidFill>
                          <a:schemeClr val="bg1"/>
                        </a:solidFill>
                      </a:endParaRPr>
                    </a:p>
                  </a:txBody>
                  <a:tcPr>
                    <a:solidFill>
                      <a:srgbClr val="023A8B"/>
                    </a:solidFill>
                  </a:tcPr>
                </a:tc>
              </a:tr>
              <a:tr h="360680">
                <a:tc>
                  <a:txBody>
                    <a:bodyPr/>
                    <a:p>
                      <a:pPr>
                        <a:buNone/>
                      </a:pPr>
                      <a:r>
                        <a:rPr lang="zh-CN" altLang="en-US" sz="1200"/>
                        <a:t>高保真度</a:t>
                      </a:r>
                      <a:endParaRPr lang="zh-CN" altLang="en-US" sz="1200"/>
                    </a:p>
                  </a:txBody>
                  <a:tcPr/>
                </a:tc>
                <a:tc>
                  <a:txBody>
                    <a:bodyPr/>
                    <a:p>
                      <a:pPr>
                        <a:buNone/>
                      </a:pPr>
                      <a:r>
                        <a:rPr lang="en-US" altLang="zh-CN" sz="1200"/>
                        <a:t>1182.86</a:t>
                      </a:r>
                      <a:endParaRPr lang="en-US" altLang="zh-CN" sz="1200"/>
                    </a:p>
                  </a:txBody>
                  <a:tcPr/>
                </a:tc>
                <a:tc>
                  <a:txBody>
                    <a:bodyPr/>
                    <a:p>
                      <a:pPr>
                        <a:buNone/>
                      </a:pPr>
                      <a:r>
                        <a:rPr lang="zh-CN" altLang="en-US" sz="1200"/>
                        <a:t>基准值</a:t>
                      </a:r>
                      <a:endParaRPr lang="zh-CN" altLang="en-US" sz="1200"/>
                    </a:p>
                  </a:txBody>
                  <a:tcPr/>
                </a:tc>
                <a:tc>
                  <a:txBody>
                    <a:bodyPr/>
                    <a:p>
                      <a:pPr>
                        <a:buNone/>
                      </a:pPr>
                      <a:r>
                        <a:rPr lang="zh-CN" altLang="en-US" sz="1200"/>
                        <a:t>基准值</a:t>
                      </a:r>
                      <a:endParaRPr lang="zh-CN" altLang="en-US" sz="1200"/>
                    </a:p>
                  </a:txBody>
                  <a:tcPr/>
                </a:tc>
                <a:tc>
                  <a:txBody>
                    <a:bodyPr/>
                    <a:p>
                      <a:pPr>
                        <a:buNone/>
                      </a:pPr>
                      <a:r>
                        <a:rPr lang="zh-CN" altLang="en-US" sz="1200"/>
                        <a:t>基准值</a:t>
                      </a:r>
                      <a:endParaRPr lang="zh-CN" altLang="en-US" sz="1200"/>
                    </a:p>
                  </a:txBody>
                  <a:tcPr/>
                </a:tc>
              </a:tr>
              <a:tr h="361315">
                <a:tc>
                  <a:txBody>
                    <a:bodyPr/>
                    <a:p>
                      <a:pPr>
                        <a:buNone/>
                      </a:pPr>
                      <a:r>
                        <a:rPr lang="zh-CN" altLang="en-US" sz="1200"/>
                        <a:t>中保真度</a:t>
                      </a:r>
                      <a:endParaRPr lang="zh-CN" altLang="en-US" sz="1200"/>
                    </a:p>
                  </a:txBody>
                  <a:tcPr/>
                </a:tc>
                <a:tc>
                  <a:txBody>
                    <a:bodyPr/>
                    <a:p>
                      <a:pPr>
                        <a:buNone/>
                      </a:pPr>
                      <a:r>
                        <a:rPr lang="en-US" altLang="zh-CN" sz="1200"/>
                        <a:t>5.35</a:t>
                      </a:r>
                      <a:endParaRPr lang="en-US" altLang="zh-CN" sz="1200"/>
                    </a:p>
                  </a:txBody>
                  <a:tcPr/>
                </a:tc>
                <a:tc>
                  <a:txBody>
                    <a:bodyPr/>
                    <a:p>
                      <a:pPr>
                        <a:buNone/>
                      </a:pPr>
                      <a:r>
                        <a:rPr lang="en-US" altLang="zh-CN" sz="1200"/>
                        <a:t>1.59%</a:t>
                      </a:r>
                      <a:endParaRPr lang="en-US" altLang="zh-CN" sz="1200"/>
                    </a:p>
                  </a:txBody>
                  <a:tcPr/>
                </a:tc>
                <a:tc>
                  <a:txBody>
                    <a:bodyPr/>
                    <a:p>
                      <a:pPr>
                        <a:buNone/>
                      </a:pPr>
                      <a:r>
                        <a:rPr lang="en-US" altLang="zh-CN" sz="1200"/>
                        <a:t>1.50%</a:t>
                      </a:r>
                      <a:endParaRPr lang="en-US" altLang="zh-CN" sz="1200"/>
                    </a:p>
                  </a:txBody>
                  <a:tcPr/>
                </a:tc>
                <a:tc>
                  <a:txBody>
                    <a:bodyPr/>
                    <a:p>
                      <a:pPr>
                        <a:buNone/>
                      </a:pPr>
                      <a:r>
                        <a:rPr lang="en-US" altLang="zh-CN" sz="1200"/>
                        <a:t>1.64%</a:t>
                      </a:r>
                      <a:endParaRPr lang="en-US" altLang="zh-CN" sz="1200"/>
                    </a:p>
                  </a:txBody>
                  <a:tcPr/>
                </a:tc>
              </a:tr>
            </a:tbl>
          </a:graphicData>
        </a:graphic>
      </p:graphicFrame>
      <p:sp>
        <p:nvSpPr>
          <p:cNvPr id="15" name="圆角矩形 14"/>
          <p:cNvSpPr/>
          <p:nvPr/>
        </p:nvSpPr>
        <p:spPr>
          <a:xfrm>
            <a:off x="874395" y="5291455"/>
            <a:ext cx="4763770" cy="440690"/>
          </a:xfrm>
          <a:prstGeom prst="roundRect">
            <a:avLst/>
          </a:prstGeom>
          <a:solidFill>
            <a:srgbClr val="FEF0CD"/>
          </a:solidFill>
          <a:ln>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文本框 15"/>
          <p:cNvSpPr txBox="1"/>
          <p:nvPr/>
        </p:nvSpPr>
        <p:spPr>
          <a:xfrm>
            <a:off x="874395" y="5332095"/>
            <a:ext cx="5387975" cy="321945"/>
          </a:xfrm>
          <a:prstGeom prst="rect">
            <a:avLst/>
          </a:prstGeom>
          <a:noFill/>
        </p:spPr>
        <p:txBody>
          <a:bodyPr wrap="square" rtlCol="0">
            <a:spAutoFit/>
          </a:bodyPr>
          <a:p>
            <a:r>
              <a:rPr lang="zh-CN" altLang="en-US" sz="1500" b="1"/>
              <a:t>中保真度模型总计算耗时仅为高保真度模型的约</a:t>
            </a:r>
            <a:r>
              <a:rPr lang="en-US" altLang="zh-CN" sz="1500" b="1">
                <a:solidFill>
                  <a:srgbClr val="C00000"/>
                </a:solidFill>
                <a:latin typeface="Times New Roman" panose="02020603050405020304" charset="0"/>
                <a:cs typeface="Times New Roman" panose="02020603050405020304" charset="0"/>
              </a:rPr>
              <a:t>0.45%</a:t>
            </a:r>
            <a:endParaRPr lang="en-US" altLang="zh-CN" sz="1500" b="1">
              <a:solidFill>
                <a:srgbClr val="C00000"/>
              </a:solidFill>
              <a:latin typeface="Times New Roman" panose="02020603050405020304" charset="0"/>
              <a:cs typeface="Times New Roman" panose="02020603050405020304" charset="0"/>
            </a:endParaRPr>
          </a:p>
        </p:txBody>
      </p:sp>
      <p:sp>
        <p:nvSpPr>
          <p:cNvPr id="17" name="文本框 16"/>
          <p:cNvSpPr txBox="1"/>
          <p:nvPr/>
        </p:nvSpPr>
        <p:spPr>
          <a:xfrm>
            <a:off x="935355" y="5891530"/>
            <a:ext cx="4818380" cy="321945"/>
          </a:xfrm>
          <a:prstGeom prst="rect">
            <a:avLst/>
          </a:prstGeom>
          <a:noFill/>
        </p:spPr>
        <p:txBody>
          <a:bodyPr wrap="square" rtlCol="0">
            <a:spAutoFit/>
          </a:bodyPr>
          <a:p>
            <a:r>
              <a:rPr lang="zh-CN" altLang="en-US" sz="1500"/>
              <a:t>计算平台：</a:t>
            </a:r>
            <a:r>
              <a:rPr lang="en-US" altLang="zh-CN" sz="1500"/>
              <a:t>AMD PYZEN 97900</a:t>
            </a:r>
            <a:r>
              <a:rPr lang="zh-CN" altLang="en-US" sz="1500"/>
              <a:t>×</a:t>
            </a:r>
            <a:r>
              <a:rPr lang="en-US" altLang="zh-CN" sz="1500"/>
              <a:t>12-Core</a:t>
            </a:r>
            <a:r>
              <a:rPr lang="zh-CN" altLang="en-US" sz="1500"/>
              <a:t>，主频</a:t>
            </a:r>
            <a:r>
              <a:rPr lang="en-US" altLang="zh-CN" sz="1500"/>
              <a:t>4.7GHz</a:t>
            </a:r>
            <a:endParaRPr lang="en-US" altLang="zh-CN" sz="1500"/>
          </a:p>
        </p:txBody>
      </p:sp>
      <p:sp>
        <p:nvSpPr>
          <p:cNvPr id="18" name="任意多边形 17"/>
          <p:cNvSpPr/>
          <p:nvPr/>
        </p:nvSpPr>
        <p:spPr>
          <a:xfrm>
            <a:off x="6085205" y="1651471"/>
            <a:ext cx="5394325" cy="1833328"/>
          </a:xfrm>
          <a:custGeom>
            <a:avLst/>
            <a:gdLst>
              <a:gd name="connsiteX0" fmla="*/ 21 w 8495"/>
              <a:gd name="connsiteY0" fmla="*/ 279 h 2887"/>
              <a:gd name="connsiteX1" fmla="*/ 496 w 8495"/>
              <a:gd name="connsiteY1" fmla="*/ 0 h 2887"/>
              <a:gd name="connsiteX2" fmla="*/ 8185 w 8495"/>
              <a:gd name="connsiteY2" fmla="*/ 23 h 2887"/>
              <a:gd name="connsiteX3" fmla="*/ 8495 w 8495"/>
              <a:gd name="connsiteY3" fmla="*/ 247 h 2887"/>
              <a:gd name="connsiteX4" fmla="*/ 8452 w 8495"/>
              <a:gd name="connsiteY4" fmla="*/ 2638 h 2887"/>
              <a:gd name="connsiteX5" fmla="*/ 8185 w 8495"/>
              <a:gd name="connsiteY5" fmla="*/ 2883 h 2887"/>
              <a:gd name="connsiteX6" fmla="*/ 373 w 8495"/>
              <a:gd name="connsiteY6" fmla="*/ 2883 h 2887"/>
              <a:gd name="connsiteX7" fmla="*/ 0 w 8495"/>
              <a:gd name="connsiteY7" fmla="*/ 2670 h 2887"/>
              <a:gd name="connsiteX8" fmla="*/ 21 w 8495"/>
              <a:gd name="connsiteY8" fmla="*/ 279 h 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5" h="2887">
                <a:moveTo>
                  <a:pt x="21" y="279"/>
                </a:moveTo>
                <a:cubicBezTo>
                  <a:pt x="21" y="14"/>
                  <a:pt x="231" y="0"/>
                  <a:pt x="496" y="0"/>
                </a:cubicBezTo>
                <a:lnTo>
                  <a:pt x="8185" y="23"/>
                </a:lnTo>
                <a:cubicBezTo>
                  <a:pt x="8450" y="23"/>
                  <a:pt x="8495" y="-18"/>
                  <a:pt x="8495" y="247"/>
                </a:cubicBezTo>
                <a:lnTo>
                  <a:pt x="8452" y="2638"/>
                </a:lnTo>
                <a:cubicBezTo>
                  <a:pt x="8452" y="2903"/>
                  <a:pt x="8450" y="2883"/>
                  <a:pt x="8185" y="2883"/>
                </a:cubicBezTo>
                <a:lnTo>
                  <a:pt x="373" y="2883"/>
                </a:lnTo>
                <a:cubicBezTo>
                  <a:pt x="108" y="2883"/>
                  <a:pt x="0" y="2935"/>
                  <a:pt x="0" y="2670"/>
                </a:cubicBezTo>
                <a:lnTo>
                  <a:pt x="21" y="279"/>
                </a:lnTo>
                <a:close/>
              </a:path>
            </a:pathLst>
          </a:cu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圆角矩形 18"/>
          <p:cNvSpPr/>
          <p:nvPr/>
        </p:nvSpPr>
        <p:spPr>
          <a:xfrm>
            <a:off x="6085205" y="1546225"/>
            <a:ext cx="1668145" cy="238125"/>
          </a:xfrm>
          <a:prstGeom prst="round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塔顶位移</a:t>
            </a:r>
            <a:r>
              <a:rPr lang="zh-CN" altLang="en-US" sz="1400"/>
              <a:t>时程对比</a:t>
            </a:r>
            <a:endParaRPr lang="zh-CN" altLang="en-US" sz="1400"/>
          </a:p>
        </p:txBody>
      </p:sp>
      <p:sp>
        <p:nvSpPr>
          <p:cNvPr id="20" name="任意多边形 19"/>
          <p:cNvSpPr/>
          <p:nvPr/>
        </p:nvSpPr>
        <p:spPr>
          <a:xfrm>
            <a:off x="6098540" y="3587750"/>
            <a:ext cx="5380990" cy="1852930"/>
          </a:xfrm>
          <a:custGeom>
            <a:avLst/>
            <a:gdLst>
              <a:gd name="connsiteX0" fmla="*/ 11 w 8474"/>
              <a:gd name="connsiteY0" fmla="*/ 314 h 2918"/>
              <a:gd name="connsiteX1" fmla="*/ 471 w 8474"/>
              <a:gd name="connsiteY1" fmla="*/ 0 h 2918"/>
              <a:gd name="connsiteX2" fmla="*/ 8196 w 8474"/>
              <a:gd name="connsiteY2" fmla="*/ 5 h 2918"/>
              <a:gd name="connsiteX3" fmla="*/ 8474 w 8474"/>
              <a:gd name="connsiteY3" fmla="*/ 346 h 2918"/>
              <a:gd name="connsiteX4" fmla="*/ 8452 w 8474"/>
              <a:gd name="connsiteY4" fmla="*/ 2609 h 2918"/>
              <a:gd name="connsiteX5" fmla="*/ 8228 w 8474"/>
              <a:gd name="connsiteY5" fmla="*/ 2918 h 2918"/>
              <a:gd name="connsiteX6" fmla="*/ 352 w 8474"/>
              <a:gd name="connsiteY6" fmla="*/ 2908 h 2918"/>
              <a:gd name="connsiteX7" fmla="*/ 0 w 8474"/>
              <a:gd name="connsiteY7" fmla="*/ 2598 h 2918"/>
              <a:gd name="connsiteX8" fmla="*/ 11 w 8474"/>
              <a:gd name="connsiteY8" fmla="*/ 314 h 2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74" h="2918">
                <a:moveTo>
                  <a:pt x="11" y="314"/>
                </a:moveTo>
                <a:cubicBezTo>
                  <a:pt x="11" y="48"/>
                  <a:pt x="205" y="0"/>
                  <a:pt x="471" y="0"/>
                </a:cubicBezTo>
                <a:lnTo>
                  <a:pt x="8196" y="5"/>
                </a:lnTo>
                <a:cubicBezTo>
                  <a:pt x="8462" y="5"/>
                  <a:pt x="8474" y="80"/>
                  <a:pt x="8474" y="346"/>
                </a:cubicBezTo>
                <a:lnTo>
                  <a:pt x="8452" y="2609"/>
                </a:lnTo>
                <a:cubicBezTo>
                  <a:pt x="8452" y="2875"/>
                  <a:pt x="8494" y="2918"/>
                  <a:pt x="8228" y="2918"/>
                </a:cubicBezTo>
                <a:lnTo>
                  <a:pt x="352" y="2908"/>
                </a:lnTo>
                <a:cubicBezTo>
                  <a:pt x="86" y="2908"/>
                  <a:pt x="0" y="2864"/>
                  <a:pt x="0" y="2598"/>
                </a:cubicBezTo>
                <a:lnTo>
                  <a:pt x="11" y="314"/>
                </a:lnTo>
                <a:close/>
              </a:path>
            </a:pathLst>
          </a:cu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圆角矩形 20"/>
          <p:cNvSpPr/>
          <p:nvPr/>
        </p:nvSpPr>
        <p:spPr>
          <a:xfrm>
            <a:off x="6098540" y="3538220"/>
            <a:ext cx="1668145" cy="205740"/>
          </a:xfrm>
          <a:prstGeom prst="round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塔架应力时程</a:t>
            </a:r>
            <a:r>
              <a:rPr lang="zh-CN" altLang="en-US" sz="1400"/>
              <a:t>对比</a:t>
            </a:r>
            <a:endParaRPr lang="zh-CN" altLang="en-US" sz="1400"/>
          </a:p>
        </p:txBody>
      </p:sp>
      <p:sp>
        <p:nvSpPr>
          <p:cNvPr id="22" name="圆角矩形 21"/>
          <p:cNvSpPr/>
          <p:nvPr/>
        </p:nvSpPr>
        <p:spPr>
          <a:xfrm>
            <a:off x="6085205" y="5544185"/>
            <a:ext cx="5374005" cy="920115"/>
          </a:xfrm>
          <a:prstGeom prst="roundRect">
            <a:avLst/>
          </a:pr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圆角矩形 22"/>
          <p:cNvSpPr/>
          <p:nvPr/>
        </p:nvSpPr>
        <p:spPr>
          <a:xfrm>
            <a:off x="6085205" y="5465445"/>
            <a:ext cx="1160780" cy="251460"/>
          </a:xfrm>
          <a:prstGeom prst="round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结果总结</a:t>
            </a:r>
            <a:endParaRPr lang="zh-CN" altLang="en-US" sz="1400"/>
          </a:p>
        </p:txBody>
      </p:sp>
      <p:sp>
        <p:nvSpPr>
          <p:cNvPr id="24" name="椭圆 23"/>
          <p:cNvSpPr/>
          <p:nvPr/>
        </p:nvSpPr>
        <p:spPr>
          <a:xfrm>
            <a:off x="960120" y="2059305"/>
            <a:ext cx="99060" cy="939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nvSpPr>
        <p:spPr>
          <a:xfrm>
            <a:off x="960120" y="2368550"/>
            <a:ext cx="99060" cy="939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nvSpPr>
        <p:spPr>
          <a:xfrm>
            <a:off x="960120" y="2677795"/>
            <a:ext cx="99060" cy="939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nvSpPr>
        <p:spPr>
          <a:xfrm>
            <a:off x="935355" y="2987040"/>
            <a:ext cx="99060" cy="939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椭圆 27"/>
          <p:cNvSpPr/>
          <p:nvPr/>
        </p:nvSpPr>
        <p:spPr>
          <a:xfrm>
            <a:off x="6163310" y="5797550"/>
            <a:ext cx="99060" cy="939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椭圆 28"/>
          <p:cNvSpPr/>
          <p:nvPr/>
        </p:nvSpPr>
        <p:spPr>
          <a:xfrm>
            <a:off x="6163310" y="6001385"/>
            <a:ext cx="99060" cy="939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椭圆 29"/>
          <p:cNvSpPr/>
          <p:nvPr/>
        </p:nvSpPr>
        <p:spPr>
          <a:xfrm>
            <a:off x="6163310" y="6248400"/>
            <a:ext cx="99060" cy="9398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nvSpPr>
        <p:spPr>
          <a:xfrm>
            <a:off x="1104265" y="1960245"/>
            <a:ext cx="3547745" cy="291465"/>
          </a:xfrm>
          <a:prstGeom prst="rect">
            <a:avLst/>
          </a:prstGeom>
          <a:noFill/>
        </p:spPr>
        <p:txBody>
          <a:bodyPr wrap="square" rtlCol="0">
            <a:spAutoFit/>
          </a:bodyPr>
          <a:p>
            <a:r>
              <a:rPr lang="zh-CN" altLang="en-US" sz="1300"/>
              <a:t>输入条件：平约风越为12m6的扫维涡流风场</a:t>
            </a:r>
            <a:endParaRPr lang="zh-CN" altLang="en-US" sz="1300"/>
          </a:p>
        </p:txBody>
      </p:sp>
      <p:sp>
        <p:nvSpPr>
          <p:cNvPr id="32" name="文本框 31"/>
          <p:cNvSpPr txBox="1"/>
          <p:nvPr/>
        </p:nvSpPr>
        <p:spPr>
          <a:xfrm>
            <a:off x="1104265" y="2265680"/>
            <a:ext cx="3547745" cy="291465"/>
          </a:xfrm>
          <a:prstGeom prst="rect">
            <a:avLst/>
          </a:prstGeom>
          <a:noFill/>
        </p:spPr>
        <p:txBody>
          <a:bodyPr wrap="square" rtlCol="0">
            <a:spAutoFit/>
          </a:bodyPr>
          <a:p>
            <a:r>
              <a:rPr lang="zh-CN" altLang="en-US" sz="1300"/>
              <a:t>分析对象：高保陳展楝型持中保真磨模型</a:t>
            </a:r>
            <a:endParaRPr lang="zh-CN" altLang="en-US" sz="1300"/>
          </a:p>
        </p:txBody>
      </p:sp>
      <p:sp>
        <p:nvSpPr>
          <p:cNvPr id="33" name="文本框 32"/>
          <p:cNvSpPr txBox="1"/>
          <p:nvPr/>
        </p:nvSpPr>
        <p:spPr>
          <a:xfrm>
            <a:off x="1104265" y="2606675"/>
            <a:ext cx="3547745" cy="291465"/>
          </a:xfrm>
          <a:prstGeom prst="rect">
            <a:avLst/>
          </a:prstGeom>
          <a:noFill/>
        </p:spPr>
        <p:txBody>
          <a:bodyPr wrap="square" rtlCol="0">
            <a:spAutoFit/>
          </a:bodyPr>
          <a:p>
            <a:r>
              <a:rPr lang="zh-CN" altLang="en-US" sz="1300"/>
              <a:t>分析类型：非线性时程分析</a:t>
            </a:r>
            <a:endParaRPr lang="zh-CN" altLang="en-US" sz="1300"/>
          </a:p>
        </p:txBody>
      </p:sp>
      <p:sp>
        <p:nvSpPr>
          <p:cNvPr id="34" name="文本框 33"/>
          <p:cNvSpPr txBox="1"/>
          <p:nvPr/>
        </p:nvSpPr>
        <p:spPr>
          <a:xfrm>
            <a:off x="1104265" y="2926080"/>
            <a:ext cx="4512945" cy="291465"/>
          </a:xfrm>
          <a:prstGeom prst="rect">
            <a:avLst/>
          </a:prstGeom>
          <a:noFill/>
        </p:spPr>
        <p:txBody>
          <a:bodyPr wrap="square" rtlCol="0">
            <a:spAutoFit/>
          </a:bodyPr>
          <a:p>
            <a:r>
              <a:rPr lang="zh-CN" altLang="en-US" sz="1300"/>
              <a:t>评价为式:</a:t>
            </a:r>
            <a:r>
              <a:rPr lang="en-US" altLang="zh-CN" sz="1300"/>
              <a:t> </a:t>
            </a:r>
            <a:r>
              <a:rPr lang="zh-CN" altLang="en-US" sz="1300"/>
              <a:t>统一分精鲜长120 s，取后100 s稳态响应计算MAPE</a:t>
            </a:r>
            <a:endParaRPr lang="zh-CN" altLang="en-US" sz="1300"/>
          </a:p>
        </p:txBody>
      </p:sp>
      <p:sp>
        <p:nvSpPr>
          <p:cNvPr id="35" name="文本框 34"/>
          <p:cNvSpPr txBox="1"/>
          <p:nvPr/>
        </p:nvSpPr>
        <p:spPr>
          <a:xfrm>
            <a:off x="6262370" y="5714365"/>
            <a:ext cx="5009515" cy="260350"/>
          </a:xfrm>
          <a:prstGeom prst="rect">
            <a:avLst/>
          </a:prstGeom>
          <a:noFill/>
        </p:spPr>
        <p:txBody>
          <a:bodyPr wrap="square" rtlCol="0">
            <a:spAutoFit/>
          </a:bodyPr>
          <a:p>
            <a:r>
              <a:rPr lang="zh-CN" altLang="en-US" sz="1100"/>
              <a:t>中保真度模型与高保真度模型在塔顶位移与塔架应力响应上保持良好一致性。</a:t>
            </a:r>
            <a:endParaRPr lang="zh-CN" altLang="en-US" sz="1100"/>
          </a:p>
        </p:txBody>
      </p:sp>
      <p:sp>
        <p:nvSpPr>
          <p:cNvPr id="36" name="文本框 35"/>
          <p:cNvSpPr txBox="1"/>
          <p:nvPr/>
        </p:nvSpPr>
        <p:spPr>
          <a:xfrm>
            <a:off x="6284595" y="5953125"/>
            <a:ext cx="5009515" cy="260350"/>
          </a:xfrm>
          <a:prstGeom prst="rect">
            <a:avLst/>
          </a:prstGeom>
          <a:noFill/>
        </p:spPr>
        <p:txBody>
          <a:bodyPr wrap="square" rtlCol="0">
            <a:spAutoFit/>
          </a:bodyPr>
          <a:p>
            <a:r>
              <a:rPr lang="zh-CN" altLang="en-US" sz="1100"/>
              <a:t>塔顶位移、混凝土塔段应力与钢塔段应力的MAPE分别为1.59%、1.50%和1.64%</a:t>
            </a:r>
            <a:endParaRPr lang="zh-CN" altLang="en-US" sz="1100"/>
          </a:p>
        </p:txBody>
      </p:sp>
      <p:sp>
        <p:nvSpPr>
          <p:cNvPr id="37" name="文本框 36"/>
          <p:cNvSpPr txBox="1"/>
          <p:nvPr/>
        </p:nvSpPr>
        <p:spPr>
          <a:xfrm>
            <a:off x="6262370" y="6162675"/>
            <a:ext cx="5009515" cy="260350"/>
          </a:xfrm>
          <a:prstGeom prst="rect">
            <a:avLst/>
          </a:prstGeom>
          <a:noFill/>
        </p:spPr>
        <p:txBody>
          <a:bodyPr wrap="square" rtlCol="0">
            <a:spAutoFit/>
          </a:bodyPr>
          <a:p>
            <a:r>
              <a:rPr lang="zh-CN" altLang="en-US" sz="1100"/>
              <a:t>中保真度模型在显</a:t>
            </a:r>
            <a:r>
              <a:rPr lang="zh-CN" altLang="en-US" sz="1100"/>
              <a:t>著提升计算效率的同时，仍保持较高的分析</a:t>
            </a:r>
            <a:r>
              <a:rPr lang="zh-CN" altLang="en-US" sz="1100"/>
              <a:t>精度。</a:t>
            </a:r>
            <a:endParaRPr lang="zh-CN" altLang="en-US" sz="1100"/>
          </a:p>
        </p:txBody>
      </p:sp>
      <p:pic>
        <p:nvPicPr>
          <p:cNvPr id="38" name="图片 37" descr="37.1.1"/>
          <p:cNvPicPr>
            <a:picLocks noChangeAspect="1"/>
          </p:cNvPicPr>
          <p:nvPr/>
        </p:nvPicPr>
        <p:blipFill>
          <a:blip r:embed="rId2"/>
          <a:stretch>
            <a:fillRect/>
          </a:stretch>
        </p:blipFill>
        <p:spPr>
          <a:xfrm>
            <a:off x="6262370" y="1836420"/>
            <a:ext cx="4987290" cy="1635760"/>
          </a:xfrm>
          <a:prstGeom prst="rect">
            <a:avLst/>
          </a:prstGeom>
        </p:spPr>
      </p:pic>
      <p:pic>
        <p:nvPicPr>
          <p:cNvPr id="39" name="图片 38" descr="37.2.2"/>
          <p:cNvPicPr>
            <a:picLocks noChangeAspect="1"/>
          </p:cNvPicPr>
          <p:nvPr/>
        </p:nvPicPr>
        <p:blipFill>
          <a:blip r:embed="rId3"/>
          <a:stretch>
            <a:fillRect/>
          </a:stretch>
        </p:blipFill>
        <p:spPr>
          <a:xfrm>
            <a:off x="6163310" y="3749675"/>
            <a:ext cx="5031105" cy="1635125"/>
          </a:xfrm>
          <a:prstGeom prst="rect">
            <a:avLst/>
          </a:prstGeom>
        </p:spPr>
      </p:pic>
      <p:sp>
        <p:nvSpPr>
          <p:cNvPr id="41" name="文本框 4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37/68</a:t>
            </a:r>
            <a:endParaRPr lang="en-US" altLang="zh-CN">
              <a:latin typeface="微软雅黑" panose="020B0503020204020204" charset="-122"/>
              <a:ea typeface="微软雅黑" panose="020B0503020204020204" charset="-122"/>
            </a:endParaRPr>
          </a:p>
        </p:txBody>
      </p:sp>
      <p:sp>
        <p:nvSpPr>
          <p:cNvPr id="4" name="文本框 3"/>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custDataLst>
              <p:tags r:id="rId1"/>
            </p:custDataLst>
          </p:nvPr>
        </p:nvSpPr>
        <p:spPr>
          <a:xfrm>
            <a:off x="3387090" y="1261745"/>
            <a:ext cx="6446520" cy="53721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209550" y="195580"/>
            <a:ext cx="11777980" cy="121920"/>
          </a:xfrm>
          <a:prstGeom prst="rect">
            <a:avLst/>
          </a:prstGeom>
          <a:solidFill>
            <a:srgbClr val="2E5495"/>
          </a:solidFill>
          <a:ln>
            <a:solidFill>
              <a:srgbClr val="30539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nvSpPr>
        <p:spPr>
          <a:xfrm>
            <a:off x="4425950" y="316230"/>
            <a:ext cx="3276600" cy="493395"/>
          </a:xfrm>
          <a:custGeom>
            <a:avLst/>
            <a:gdLst>
              <a:gd name="connisteX0" fmla="*/ 0 w 3276600"/>
              <a:gd name="connsiteY0" fmla="*/ 4445 h 493395"/>
              <a:gd name="connisteX1" fmla="*/ 52070 w 3276600"/>
              <a:gd name="connsiteY1" fmla="*/ 9525 h 493395"/>
              <a:gd name="connisteX2" fmla="*/ 93345 w 3276600"/>
              <a:gd name="connsiteY2" fmla="*/ 23495 h 493395"/>
              <a:gd name="connisteX3" fmla="*/ 128270 w 3276600"/>
              <a:gd name="connsiteY3" fmla="*/ 36195 h 493395"/>
              <a:gd name="connisteX4" fmla="*/ 168275 w 3276600"/>
              <a:gd name="connsiteY4" fmla="*/ 55245 h 493395"/>
              <a:gd name="connisteX5" fmla="*/ 191770 w 3276600"/>
              <a:gd name="connsiteY5" fmla="*/ 71120 h 493395"/>
              <a:gd name="connisteX6" fmla="*/ 228600 w 3276600"/>
              <a:gd name="connsiteY6" fmla="*/ 98425 h 493395"/>
              <a:gd name="connisteX7" fmla="*/ 258445 w 3276600"/>
              <a:gd name="connsiteY7" fmla="*/ 123825 h 493395"/>
              <a:gd name="connisteX8" fmla="*/ 299720 w 3276600"/>
              <a:gd name="connsiteY8" fmla="*/ 168275 h 493395"/>
              <a:gd name="connisteX9" fmla="*/ 336550 w 3276600"/>
              <a:gd name="connsiteY9" fmla="*/ 217170 h 493395"/>
              <a:gd name="connisteX10" fmla="*/ 375920 w 3276600"/>
              <a:gd name="connsiteY10" fmla="*/ 266700 h 493395"/>
              <a:gd name="connisteX11" fmla="*/ 406400 w 3276600"/>
              <a:gd name="connsiteY11" fmla="*/ 309245 h 493395"/>
              <a:gd name="connisteX12" fmla="*/ 447675 w 3276600"/>
              <a:gd name="connsiteY12" fmla="*/ 355600 h 493395"/>
              <a:gd name="connisteX13" fmla="*/ 483870 w 3276600"/>
              <a:gd name="connsiteY13" fmla="*/ 387350 h 493395"/>
              <a:gd name="connisteX14" fmla="*/ 514350 w 3276600"/>
              <a:gd name="connsiteY14" fmla="*/ 412750 h 493395"/>
              <a:gd name="connisteX15" fmla="*/ 536575 w 3276600"/>
              <a:gd name="connsiteY15" fmla="*/ 426720 h 493395"/>
              <a:gd name="connisteX16" fmla="*/ 574675 w 3276600"/>
              <a:gd name="connsiteY16" fmla="*/ 448945 h 493395"/>
              <a:gd name="connisteX17" fmla="*/ 622300 w 3276600"/>
              <a:gd name="connsiteY17" fmla="*/ 473075 h 493395"/>
              <a:gd name="connisteX18" fmla="*/ 673100 w 3276600"/>
              <a:gd name="connsiteY18" fmla="*/ 488950 h 493395"/>
              <a:gd name="connisteX19" fmla="*/ 809625 w 3276600"/>
              <a:gd name="connsiteY19" fmla="*/ 492125 h 493395"/>
              <a:gd name="connisteX20" fmla="*/ 2455545 w 3276600"/>
              <a:gd name="connsiteY20" fmla="*/ 493395 h 493395"/>
              <a:gd name="connisteX21" fmla="*/ 2560320 w 3276600"/>
              <a:gd name="connsiteY21" fmla="*/ 493395 h 493395"/>
              <a:gd name="connisteX22" fmla="*/ 2644775 w 3276600"/>
              <a:gd name="connsiteY22" fmla="*/ 490220 h 493395"/>
              <a:gd name="connisteX23" fmla="*/ 2695575 w 3276600"/>
              <a:gd name="connsiteY23" fmla="*/ 482600 h 493395"/>
              <a:gd name="connisteX24" fmla="*/ 2747645 w 3276600"/>
              <a:gd name="connsiteY24" fmla="*/ 464820 h 493395"/>
              <a:gd name="connisteX25" fmla="*/ 2797175 w 3276600"/>
              <a:gd name="connsiteY25" fmla="*/ 433070 h 493395"/>
              <a:gd name="connisteX26" fmla="*/ 2835275 w 3276600"/>
              <a:gd name="connsiteY26" fmla="*/ 407670 h 493395"/>
              <a:gd name="connisteX27" fmla="*/ 2858770 w 3276600"/>
              <a:gd name="connsiteY27" fmla="*/ 390525 h 493395"/>
              <a:gd name="connisteX28" fmla="*/ 2884170 w 3276600"/>
              <a:gd name="connsiteY28" fmla="*/ 368300 h 493395"/>
              <a:gd name="connisteX29" fmla="*/ 2917825 w 3276600"/>
              <a:gd name="connsiteY29" fmla="*/ 336550 h 493395"/>
              <a:gd name="connisteX30" fmla="*/ 2936875 w 3276600"/>
              <a:gd name="connsiteY30" fmla="*/ 311150 h 493395"/>
              <a:gd name="connisteX31" fmla="*/ 2963545 w 3276600"/>
              <a:gd name="connsiteY31" fmla="*/ 274320 h 493395"/>
              <a:gd name="connisteX32" fmla="*/ 2992120 w 3276600"/>
              <a:gd name="connsiteY32" fmla="*/ 238125 h 493395"/>
              <a:gd name="connisteX33" fmla="*/ 3006725 w 3276600"/>
              <a:gd name="connsiteY33" fmla="*/ 213995 h 493395"/>
              <a:gd name="connisteX34" fmla="*/ 3036570 w 3276600"/>
              <a:gd name="connsiteY34" fmla="*/ 174625 h 493395"/>
              <a:gd name="connisteX35" fmla="*/ 3068320 w 3276600"/>
              <a:gd name="connsiteY35" fmla="*/ 146050 h 493395"/>
              <a:gd name="connisteX36" fmla="*/ 3100070 w 3276600"/>
              <a:gd name="connsiteY36" fmla="*/ 107950 h 493395"/>
              <a:gd name="connisteX37" fmla="*/ 3155950 w 3276600"/>
              <a:gd name="connsiteY37" fmla="*/ 63500 h 493395"/>
              <a:gd name="connisteX38" fmla="*/ 3217545 w 3276600"/>
              <a:gd name="connsiteY38" fmla="*/ 25400 h 493395"/>
              <a:gd name="connisteX39" fmla="*/ 3276600 w 3276600"/>
              <a:gd name="connsiteY39" fmla="*/ 0 h 493395"/>
              <a:gd name="connisteX40" fmla="*/ 0 w 3276600"/>
              <a:gd name="connsiteY40" fmla="*/ 4445 h 49339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Lst>
            <a:rect l="l" t="t" r="r" b="b"/>
            <a:pathLst>
              <a:path w="3276600" h="493395">
                <a:moveTo>
                  <a:pt x="0" y="4445"/>
                </a:moveTo>
                <a:lnTo>
                  <a:pt x="52070" y="9525"/>
                </a:lnTo>
                <a:lnTo>
                  <a:pt x="93345" y="23495"/>
                </a:lnTo>
                <a:lnTo>
                  <a:pt x="128270" y="36195"/>
                </a:lnTo>
                <a:lnTo>
                  <a:pt x="168275" y="55245"/>
                </a:lnTo>
                <a:lnTo>
                  <a:pt x="191770" y="71120"/>
                </a:lnTo>
                <a:lnTo>
                  <a:pt x="228600" y="98425"/>
                </a:lnTo>
                <a:lnTo>
                  <a:pt x="258445" y="123825"/>
                </a:lnTo>
                <a:lnTo>
                  <a:pt x="299720" y="168275"/>
                </a:lnTo>
                <a:lnTo>
                  <a:pt x="336550" y="217170"/>
                </a:lnTo>
                <a:lnTo>
                  <a:pt x="375920" y="266700"/>
                </a:lnTo>
                <a:lnTo>
                  <a:pt x="406400" y="309245"/>
                </a:lnTo>
                <a:lnTo>
                  <a:pt x="447675" y="355600"/>
                </a:lnTo>
                <a:lnTo>
                  <a:pt x="483870" y="387350"/>
                </a:lnTo>
                <a:lnTo>
                  <a:pt x="514350" y="412750"/>
                </a:lnTo>
                <a:lnTo>
                  <a:pt x="536575" y="426720"/>
                </a:lnTo>
                <a:lnTo>
                  <a:pt x="574675" y="448945"/>
                </a:lnTo>
                <a:lnTo>
                  <a:pt x="622300" y="473075"/>
                </a:lnTo>
                <a:lnTo>
                  <a:pt x="673100" y="488950"/>
                </a:lnTo>
                <a:lnTo>
                  <a:pt x="809625" y="492125"/>
                </a:lnTo>
                <a:lnTo>
                  <a:pt x="2455545" y="493395"/>
                </a:lnTo>
                <a:lnTo>
                  <a:pt x="2560320" y="493395"/>
                </a:lnTo>
                <a:lnTo>
                  <a:pt x="2644775" y="490220"/>
                </a:lnTo>
                <a:lnTo>
                  <a:pt x="2695575" y="482600"/>
                </a:lnTo>
                <a:lnTo>
                  <a:pt x="2747645" y="464820"/>
                </a:lnTo>
                <a:lnTo>
                  <a:pt x="2797175" y="433070"/>
                </a:lnTo>
                <a:lnTo>
                  <a:pt x="2835275" y="407670"/>
                </a:lnTo>
                <a:lnTo>
                  <a:pt x="2858770" y="390525"/>
                </a:lnTo>
                <a:lnTo>
                  <a:pt x="2884170" y="368300"/>
                </a:lnTo>
                <a:lnTo>
                  <a:pt x="2917825" y="336550"/>
                </a:lnTo>
                <a:lnTo>
                  <a:pt x="2936875" y="311150"/>
                </a:lnTo>
                <a:lnTo>
                  <a:pt x="2963545" y="274320"/>
                </a:lnTo>
                <a:lnTo>
                  <a:pt x="2992120" y="238125"/>
                </a:lnTo>
                <a:lnTo>
                  <a:pt x="3006725" y="213995"/>
                </a:lnTo>
                <a:lnTo>
                  <a:pt x="3036570" y="174625"/>
                </a:lnTo>
                <a:lnTo>
                  <a:pt x="3068320" y="146050"/>
                </a:lnTo>
                <a:lnTo>
                  <a:pt x="3100070" y="107950"/>
                </a:lnTo>
                <a:lnTo>
                  <a:pt x="3155950" y="63500"/>
                </a:lnTo>
                <a:lnTo>
                  <a:pt x="3217545" y="25400"/>
                </a:lnTo>
                <a:lnTo>
                  <a:pt x="3276600" y="0"/>
                </a:lnTo>
                <a:lnTo>
                  <a:pt x="0" y="4445"/>
                </a:lnTo>
                <a:close/>
              </a:path>
            </a:pathLst>
          </a:cu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5235575" y="795020"/>
            <a:ext cx="1922145" cy="229870"/>
          </a:xfrm>
          <a:prstGeom prst="rect">
            <a:avLst/>
          </a:prstGeom>
          <a:noFill/>
        </p:spPr>
        <p:txBody>
          <a:bodyPr wrap="square" rtlCol="0">
            <a:spAutoFit/>
          </a:bodyPr>
          <a:p>
            <a:r>
              <a:rPr lang="en-US" altLang="zh-CN" sz="900">
                <a:latin typeface="微软雅黑" panose="020B0503020204020204" charset="-122"/>
                <a:ea typeface="微软雅黑" panose="020B0503020204020204" charset="-122"/>
              </a:rPr>
              <a:t>C    O    N    T    E    N    T    S</a:t>
            </a:r>
            <a:endParaRPr lang="en-US" altLang="zh-CN" sz="900">
              <a:latin typeface="微软雅黑" panose="020B0503020204020204" charset="-122"/>
              <a:ea typeface="微软雅黑" panose="020B0503020204020204" charset="-122"/>
            </a:endParaRPr>
          </a:p>
        </p:txBody>
      </p:sp>
      <p:sp>
        <p:nvSpPr>
          <p:cNvPr id="8" name="椭圆 7"/>
          <p:cNvSpPr/>
          <p:nvPr>
            <p:custDataLst>
              <p:tags r:id="rId2"/>
            </p:custDataLst>
          </p:nvPr>
        </p:nvSpPr>
        <p:spPr>
          <a:xfrm>
            <a:off x="2480310" y="112839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一</a:t>
            </a:r>
            <a:endParaRPr lang="zh-CN" altLang="en-US" sz="3200">
              <a:solidFill>
                <a:srgbClr val="8B8D8A"/>
              </a:solidFill>
            </a:endParaRPr>
          </a:p>
        </p:txBody>
      </p:sp>
      <p:sp>
        <p:nvSpPr>
          <p:cNvPr id="9" name="文本框 8"/>
          <p:cNvSpPr txBox="1"/>
          <p:nvPr>
            <p:custDataLst>
              <p:tags r:id="rId3"/>
            </p:custDataLst>
          </p:nvPr>
        </p:nvSpPr>
        <p:spPr>
          <a:xfrm>
            <a:off x="4895850" y="1215390"/>
            <a:ext cx="3754120" cy="568325"/>
          </a:xfrm>
          <a:prstGeom prst="rect">
            <a:avLst/>
          </a:prstGeom>
          <a:noFill/>
        </p:spPr>
        <p:txBody>
          <a:bodyPr wrap="square" rtlCol="0">
            <a:spAutoFit/>
          </a:bodyPr>
          <a:p>
            <a:r>
              <a:rPr lang="zh-CN" altLang="en-US" sz="3100">
                <a:solidFill>
                  <a:srgbClr val="8B8D8A"/>
                </a:solidFill>
              </a:rPr>
              <a:t>研究背景与意义</a:t>
            </a:r>
            <a:endParaRPr lang="zh-CN" altLang="en-US" sz="3100">
              <a:solidFill>
                <a:srgbClr val="8B8D8A"/>
              </a:solidFill>
            </a:endParaRPr>
          </a:p>
        </p:txBody>
      </p:sp>
      <p:sp>
        <p:nvSpPr>
          <p:cNvPr id="11" name="新月形 10"/>
          <p:cNvSpPr/>
          <p:nvPr>
            <p:custDataLst>
              <p:tags r:id="rId4"/>
            </p:custDataLst>
          </p:nvPr>
        </p:nvSpPr>
        <p:spPr>
          <a:xfrm rot="10800000">
            <a:off x="3242310" y="1261745"/>
            <a:ext cx="172720" cy="537210"/>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直角三角形 12"/>
          <p:cNvSpPr/>
          <p:nvPr>
            <p:custDataLst>
              <p:tags r:id="rId5"/>
            </p:custDataLst>
          </p:nvPr>
        </p:nvSpPr>
        <p:spPr>
          <a:xfrm rot="10800000">
            <a:off x="3272790" y="12617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直角三角形 13"/>
          <p:cNvSpPr/>
          <p:nvPr>
            <p:custDataLst>
              <p:tags r:id="rId6"/>
            </p:custDataLst>
          </p:nvPr>
        </p:nvSpPr>
        <p:spPr>
          <a:xfrm rot="10800000" flipV="1">
            <a:off x="3242310" y="164655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custDataLst>
              <p:tags r:id="rId7"/>
            </p:custDataLst>
          </p:nvPr>
        </p:nvSpPr>
        <p:spPr>
          <a:xfrm>
            <a:off x="2449830" y="2007235"/>
            <a:ext cx="82296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chemeClr val="bg2">
                    <a:lumMod val="50000"/>
                  </a:schemeClr>
                </a:solidFill>
              </a:rPr>
              <a:t>二</a:t>
            </a:r>
            <a:endParaRPr lang="zh-CN" altLang="en-US" sz="3200">
              <a:solidFill>
                <a:schemeClr val="bg2">
                  <a:lumMod val="50000"/>
                </a:schemeClr>
              </a:solidFill>
            </a:endParaRPr>
          </a:p>
        </p:txBody>
      </p:sp>
      <p:sp>
        <p:nvSpPr>
          <p:cNvPr id="16" name="椭圆 15"/>
          <p:cNvSpPr/>
          <p:nvPr>
            <p:custDataLst>
              <p:tags r:id="rId8"/>
            </p:custDataLst>
          </p:nvPr>
        </p:nvSpPr>
        <p:spPr>
          <a:xfrm>
            <a:off x="2480310" y="2886075"/>
            <a:ext cx="792480" cy="756920"/>
          </a:xfrm>
          <a:prstGeom prst="ellipse">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chemeClr val="bg1"/>
                </a:solidFill>
              </a:rPr>
              <a:t>三</a:t>
            </a:r>
            <a:endParaRPr lang="zh-CN" altLang="en-US" sz="3200">
              <a:solidFill>
                <a:schemeClr val="bg1"/>
              </a:solidFill>
            </a:endParaRPr>
          </a:p>
        </p:txBody>
      </p:sp>
      <p:sp>
        <p:nvSpPr>
          <p:cNvPr id="17" name="椭圆 16"/>
          <p:cNvSpPr/>
          <p:nvPr>
            <p:custDataLst>
              <p:tags r:id="rId9"/>
            </p:custDataLst>
          </p:nvPr>
        </p:nvSpPr>
        <p:spPr>
          <a:xfrm>
            <a:off x="2480310" y="376491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四</a:t>
            </a:r>
            <a:endParaRPr lang="zh-CN" altLang="en-US" sz="3200">
              <a:solidFill>
                <a:srgbClr val="8B8D8A"/>
              </a:solidFill>
            </a:endParaRPr>
          </a:p>
        </p:txBody>
      </p:sp>
      <p:sp>
        <p:nvSpPr>
          <p:cNvPr id="18" name="椭圆 17"/>
          <p:cNvSpPr/>
          <p:nvPr>
            <p:custDataLst>
              <p:tags r:id="rId10"/>
            </p:custDataLst>
          </p:nvPr>
        </p:nvSpPr>
        <p:spPr>
          <a:xfrm>
            <a:off x="2480310" y="464375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五</a:t>
            </a:r>
            <a:endParaRPr lang="zh-CN" altLang="en-US" sz="3200">
              <a:solidFill>
                <a:srgbClr val="8B8D8A"/>
              </a:solidFill>
            </a:endParaRPr>
          </a:p>
        </p:txBody>
      </p:sp>
      <p:sp>
        <p:nvSpPr>
          <p:cNvPr id="22" name="直角三角形 21"/>
          <p:cNvSpPr/>
          <p:nvPr>
            <p:custDataLst>
              <p:tags r:id="rId11"/>
            </p:custDataLst>
          </p:nvPr>
        </p:nvSpPr>
        <p:spPr>
          <a:xfrm rot="10800000">
            <a:off x="3215005" y="2122805"/>
            <a:ext cx="202565" cy="188595"/>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直角三角形 22"/>
          <p:cNvSpPr/>
          <p:nvPr>
            <p:custDataLst>
              <p:tags r:id="rId12"/>
            </p:custDataLst>
          </p:nvPr>
        </p:nvSpPr>
        <p:spPr>
          <a:xfrm rot="10800000">
            <a:off x="3387090" y="306006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新月形 23"/>
          <p:cNvSpPr/>
          <p:nvPr>
            <p:custDataLst>
              <p:tags r:id="rId13"/>
            </p:custDataLst>
          </p:nvPr>
        </p:nvSpPr>
        <p:spPr>
          <a:xfrm rot="10800000">
            <a:off x="3242310" y="2146935"/>
            <a:ext cx="172720" cy="488315"/>
          </a:xfrm>
          <a:prstGeom prst="moon">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直角三角形 24"/>
          <p:cNvSpPr/>
          <p:nvPr>
            <p:custDataLst>
              <p:tags r:id="rId14"/>
            </p:custDataLst>
          </p:nvPr>
        </p:nvSpPr>
        <p:spPr>
          <a:xfrm rot="10800000" flipV="1">
            <a:off x="3201035" y="2512695"/>
            <a:ext cx="202565" cy="158750"/>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矩形 37"/>
          <p:cNvSpPr/>
          <p:nvPr>
            <p:custDataLst>
              <p:tags r:id="rId15"/>
            </p:custDataLst>
          </p:nvPr>
        </p:nvSpPr>
        <p:spPr>
          <a:xfrm>
            <a:off x="3352800" y="2132330"/>
            <a:ext cx="6464300" cy="532765"/>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custDataLst>
              <p:tags r:id="rId16"/>
            </p:custDataLst>
          </p:nvPr>
        </p:nvSpPr>
        <p:spPr>
          <a:xfrm>
            <a:off x="3865245" y="2122805"/>
            <a:ext cx="5951855" cy="568325"/>
          </a:xfrm>
          <a:prstGeom prst="rect">
            <a:avLst/>
          </a:prstGeom>
          <a:noFill/>
        </p:spPr>
        <p:txBody>
          <a:bodyPr wrap="square" rtlCol="0">
            <a:spAutoFit/>
          </a:bodyPr>
          <a:p>
            <a:r>
              <a:rPr lang="zh-CN" altLang="en-US" sz="3100">
                <a:solidFill>
                  <a:srgbClr val="8B8D8A"/>
                </a:solidFill>
              </a:rPr>
              <a:t>多保真度耦合非线性动力学模型</a:t>
            </a:r>
            <a:endParaRPr lang="zh-CN" altLang="en-US" sz="3100">
              <a:solidFill>
                <a:srgbClr val="8B8D8A"/>
              </a:solidFill>
            </a:endParaRPr>
          </a:p>
        </p:txBody>
      </p:sp>
      <p:sp>
        <p:nvSpPr>
          <p:cNvPr id="39" name="新月形 38"/>
          <p:cNvSpPr/>
          <p:nvPr>
            <p:custDataLst>
              <p:tags r:id="rId17"/>
            </p:custDataLst>
          </p:nvPr>
        </p:nvSpPr>
        <p:spPr>
          <a:xfrm rot="10800000">
            <a:off x="3242310" y="3903345"/>
            <a:ext cx="17272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新月形 41"/>
          <p:cNvSpPr/>
          <p:nvPr>
            <p:custDataLst>
              <p:tags r:id="rId18"/>
            </p:custDataLst>
          </p:nvPr>
        </p:nvSpPr>
        <p:spPr>
          <a:xfrm rot="10800000">
            <a:off x="3242310" y="4777105"/>
            <a:ext cx="20320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新月形 42"/>
          <p:cNvSpPr/>
          <p:nvPr>
            <p:custDataLst>
              <p:tags r:id="rId19"/>
            </p:custDataLst>
          </p:nvPr>
        </p:nvSpPr>
        <p:spPr>
          <a:xfrm rot="10800000">
            <a:off x="3242310" y="3021965"/>
            <a:ext cx="172720" cy="486410"/>
          </a:xfrm>
          <a:prstGeom prst="moon">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直角三角形 43"/>
          <p:cNvSpPr/>
          <p:nvPr>
            <p:custDataLst>
              <p:tags r:id="rId20"/>
            </p:custDataLst>
          </p:nvPr>
        </p:nvSpPr>
        <p:spPr>
          <a:xfrm rot="10800000">
            <a:off x="3242310" y="3027045"/>
            <a:ext cx="202565" cy="152400"/>
          </a:xfrm>
          <a:prstGeom prst="rtTriangle">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直角三角形 44"/>
          <p:cNvSpPr/>
          <p:nvPr>
            <p:custDataLst>
              <p:tags r:id="rId21"/>
            </p:custDataLst>
          </p:nvPr>
        </p:nvSpPr>
        <p:spPr>
          <a:xfrm rot="10800000">
            <a:off x="3242310" y="3896360"/>
            <a:ext cx="202565" cy="159385"/>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2"/>
            </p:custDataLst>
          </p:nvPr>
        </p:nvSpPr>
        <p:spPr>
          <a:xfrm rot="10800000">
            <a:off x="3242310" y="47796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直角三角形 46"/>
          <p:cNvSpPr/>
          <p:nvPr>
            <p:custDataLst>
              <p:tags r:id="rId23"/>
            </p:custDataLst>
          </p:nvPr>
        </p:nvSpPr>
        <p:spPr>
          <a:xfrm rot="10800000" flipV="1">
            <a:off x="3227705" y="5115560"/>
            <a:ext cx="202565" cy="160655"/>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直角三角形 47"/>
          <p:cNvSpPr/>
          <p:nvPr>
            <p:custDataLst>
              <p:tags r:id="rId24"/>
            </p:custDataLst>
          </p:nvPr>
        </p:nvSpPr>
        <p:spPr>
          <a:xfrm rot="10800000" flipV="1">
            <a:off x="3242310" y="423989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直角三角形 48"/>
          <p:cNvSpPr/>
          <p:nvPr>
            <p:custDataLst>
              <p:tags r:id="rId25"/>
            </p:custDataLst>
          </p:nvPr>
        </p:nvSpPr>
        <p:spPr>
          <a:xfrm rot="10800000" flipV="1">
            <a:off x="3242310" y="3357245"/>
            <a:ext cx="202565" cy="152400"/>
          </a:xfrm>
          <a:prstGeom prst="rtTriangle">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矩形 50"/>
          <p:cNvSpPr/>
          <p:nvPr>
            <p:custDataLst>
              <p:tags r:id="rId26"/>
            </p:custDataLst>
          </p:nvPr>
        </p:nvSpPr>
        <p:spPr>
          <a:xfrm>
            <a:off x="3331845" y="3029585"/>
            <a:ext cx="6502400" cy="480695"/>
          </a:xfrm>
          <a:prstGeom prst="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文本框 49"/>
          <p:cNvSpPr txBox="1"/>
          <p:nvPr>
            <p:custDataLst>
              <p:tags r:id="rId27"/>
            </p:custDataLst>
          </p:nvPr>
        </p:nvSpPr>
        <p:spPr>
          <a:xfrm>
            <a:off x="3703955" y="2980690"/>
            <a:ext cx="5397500" cy="529590"/>
          </a:xfrm>
          <a:prstGeom prst="rect">
            <a:avLst/>
          </a:prstGeom>
          <a:noFill/>
        </p:spPr>
        <p:txBody>
          <a:bodyPr wrap="square" rtlCol="0">
            <a:noAutofit/>
          </a:bodyPr>
          <a:p>
            <a:r>
              <a:rPr lang="zh-CN" altLang="en-US" sz="3100" b="1">
                <a:solidFill>
                  <a:schemeClr val="bg1"/>
                </a:solidFill>
              </a:rPr>
              <a:t>动力响应性能与疲劳寿命评估</a:t>
            </a:r>
            <a:endParaRPr lang="zh-CN" altLang="en-US" sz="3100" b="1">
              <a:solidFill>
                <a:schemeClr val="bg1"/>
              </a:solidFill>
            </a:endParaRPr>
          </a:p>
        </p:txBody>
      </p:sp>
      <p:sp>
        <p:nvSpPr>
          <p:cNvPr id="54" name="矩形 53"/>
          <p:cNvSpPr/>
          <p:nvPr/>
        </p:nvSpPr>
        <p:spPr>
          <a:xfrm>
            <a:off x="3352800" y="3905250"/>
            <a:ext cx="6523355" cy="48641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文本框 51"/>
          <p:cNvSpPr txBox="1"/>
          <p:nvPr>
            <p:custDataLst>
              <p:tags r:id="rId28"/>
            </p:custDataLst>
          </p:nvPr>
        </p:nvSpPr>
        <p:spPr>
          <a:xfrm>
            <a:off x="3919855" y="3867150"/>
            <a:ext cx="5617210" cy="568325"/>
          </a:xfrm>
          <a:prstGeom prst="rect">
            <a:avLst/>
          </a:prstGeom>
          <a:noFill/>
        </p:spPr>
        <p:txBody>
          <a:bodyPr wrap="square" rtlCol="0">
            <a:spAutoFit/>
          </a:bodyPr>
          <a:p>
            <a:r>
              <a:rPr lang="zh-CN" altLang="en-US" sz="3100">
                <a:solidFill>
                  <a:srgbClr val="8B8D8A"/>
                </a:solidFill>
              </a:rPr>
              <a:t>极端工况下动力可靠度评估</a:t>
            </a:r>
            <a:endParaRPr lang="zh-CN" altLang="en-US" sz="3100">
              <a:solidFill>
                <a:srgbClr val="8B8D8A"/>
              </a:solidFill>
            </a:endParaRPr>
          </a:p>
        </p:txBody>
      </p:sp>
      <p:sp>
        <p:nvSpPr>
          <p:cNvPr id="55" name="矩形 54"/>
          <p:cNvSpPr/>
          <p:nvPr/>
        </p:nvSpPr>
        <p:spPr>
          <a:xfrm>
            <a:off x="3417570" y="4778375"/>
            <a:ext cx="6413500" cy="49530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文本框 52"/>
          <p:cNvSpPr txBox="1"/>
          <p:nvPr>
            <p:custDataLst>
              <p:tags r:id="rId29"/>
            </p:custDataLst>
          </p:nvPr>
        </p:nvSpPr>
        <p:spPr>
          <a:xfrm>
            <a:off x="4707255" y="4734560"/>
            <a:ext cx="3576955" cy="568325"/>
          </a:xfrm>
          <a:prstGeom prst="rect">
            <a:avLst/>
          </a:prstGeom>
          <a:noFill/>
        </p:spPr>
        <p:txBody>
          <a:bodyPr wrap="square" rtlCol="0">
            <a:spAutoFit/>
          </a:bodyPr>
          <a:p>
            <a:r>
              <a:rPr lang="zh-CN" altLang="en-US" sz="3100">
                <a:solidFill>
                  <a:srgbClr val="8B8D8A"/>
                </a:solidFill>
              </a:rPr>
              <a:t>动力响应性能提升</a:t>
            </a:r>
            <a:endParaRPr lang="zh-CN" altLang="en-US" sz="3100">
              <a:solidFill>
                <a:srgbClr val="8B8D8A"/>
              </a:solidFill>
            </a:endParaRPr>
          </a:p>
        </p:txBody>
      </p:sp>
      <p:sp>
        <p:nvSpPr>
          <p:cNvPr id="56" name="椭圆 55"/>
          <p:cNvSpPr/>
          <p:nvPr>
            <p:custDataLst>
              <p:tags r:id="rId30"/>
            </p:custDataLst>
          </p:nvPr>
        </p:nvSpPr>
        <p:spPr>
          <a:xfrm>
            <a:off x="2480310" y="5520690"/>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六</a:t>
            </a:r>
            <a:endParaRPr lang="zh-CN" altLang="en-US" sz="3200">
              <a:solidFill>
                <a:srgbClr val="8B8D8A"/>
              </a:solidFill>
            </a:endParaRPr>
          </a:p>
        </p:txBody>
      </p:sp>
      <p:sp>
        <p:nvSpPr>
          <p:cNvPr id="57" name="直角三角形 56"/>
          <p:cNvSpPr/>
          <p:nvPr>
            <p:custDataLst>
              <p:tags r:id="rId31"/>
            </p:custDataLst>
          </p:nvPr>
        </p:nvSpPr>
        <p:spPr>
          <a:xfrm rot="10800000">
            <a:off x="3272790" y="5661660"/>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新月形 57"/>
          <p:cNvSpPr/>
          <p:nvPr>
            <p:custDataLst>
              <p:tags r:id="rId32"/>
            </p:custDataLst>
          </p:nvPr>
        </p:nvSpPr>
        <p:spPr>
          <a:xfrm rot="10800000">
            <a:off x="3272155" y="5661660"/>
            <a:ext cx="17272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直角三角形 58"/>
          <p:cNvSpPr/>
          <p:nvPr>
            <p:custDataLst>
              <p:tags r:id="rId33"/>
            </p:custDataLst>
          </p:nvPr>
        </p:nvSpPr>
        <p:spPr>
          <a:xfrm rot="10800000" flipV="1">
            <a:off x="3272155" y="5996940"/>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矩形 60"/>
          <p:cNvSpPr/>
          <p:nvPr/>
        </p:nvSpPr>
        <p:spPr>
          <a:xfrm>
            <a:off x="3357880" y="5660390"/>
            <a:ext cx="6477000" cy="47879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文本框 59"/>
          <p:cNvSpPr txBox="1"/>
          <p:nvPr/>
        </p:nvSpPr>
        <p:spPr>
          <a:xfrm>
            <a:off x="5307330" y="5601970"/>
            <a:ext cx="2764790" cy="568325"/>
          </a:xfrm>
          <a:prstGeom prst="rect">
            <a:avLst/>
          </a:prstGeom>
          <a:noFill/>
        </p:spPr>
        <p:txBody>
          <a:bodyPr wrap="square" rtlCol="0">
            <a:spAutoFit/>
          </a:bodyPr>
          <a:p>
            <a:r>
              <a:rPr lang="zh-CN" altLang="en-US" sz="3100">
                <a:solidFill>
                  <a:srgbClr val="8B8D8A"/>
                </a:solidFill>
              </a:rPr>
              <a:t>结论与展望</a:t>
            </a:r>
            <a:endParaRPr lang="zh-CN" altLang="en-US" sz="3100">
              <a:solidFill>
                <a:srgbClr val="8B8D8A"/>
              </a:solidFill>
            </a:endParaRPr>
          </a:p>
        </p:txBody>
      </p:sp>
      <p:sp>
        <p:nvSpPr>
          <p:cNvPr id="10" name="文本框 9"/>
          <p:cNvSpPr txBox="1"/>
          <p:nvPr/>
        </p:nvSpPr>
        <p:spPr>
          <a:xfrm>
            <a:off x="5541010" y="226060"/>
            <a:ext cx="1109980" cy="583565"/>
          </a:xfrm>
          <a:prstGeom prst="rect">
            <a:avLst/>
          </a:prstGeom>
          <a:noFill/>
        </p:spPr>
        <p:txBody>
          <a:bodyPr wrap="square" rtlCol="0">
            <a:spAutoFit/>
          </a:bodyPr>
          <a:p>
            <a:r>
              <a:rPr lang="zh-CN" altLang="en-US" sz="3200" b="1">
                <a:solidFill>
                  <a:schemeClr val="bg1"/>
                </a:solidFill>
              </a:rPr>
              <a:t>目</a:t>
            </a:r>
            <a:r>
              <a:rPr lang="en-US" altLang="zh-CN" sz="3200" b="1">
                <a:solidFill>
                  <a:schemeClr val="bg1"/>
                </a:solidFill>
              </a:rPr>
              <a:t> </a:t>
            </a:r>
            <a:r>
              <a:rPr lang="zh-CN" altLang="en-US" sz="3200" b="1">
                <a:solidFill>
                  <a:schemeClr val="bg1"/>
                </a:solidFill>
              </a:rPr>
              <a:t>录</a:t>
            </a:r>
            <a:endParaRPr lang="zh-CN" altLang="en-US" sz="3200" b="1">
              <a:solidFill>
                <a:schemeClr val="bg1"/>
              </a:solidFill>
            </a:endParaRPr>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38/68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6" name="直接连接符 5"/>
          <p:cNvCxnSpPr/>
          <p:nvPr/>
        </p:nvCxnSpPr>
        <p:spPr>
          <a:xfrm flipV="1">
            <a:off x="1126490" y="998855"/>
            <a:ext cx="10490200" cy="8890"/>
          </a:xfrm>
          <a:prstGeom prst="line">
            <a:avLst/>
          </a:prstGeom>
        </p:spPr>
        <p:style>
          <a:lnRef idx="2">
            <a:schemeClr val="accent1"/>
          </a:lnRef>
          <a:fillRef idx="0">
            <a:srgbClr val="FFFFFF"/>
          </a:fillRef>
          <a:effectRef idx="0">
            <a:srgbClr val="FFFFFF"/>
          </a:effectRef>
          <a:fontRef idx="minor">
            <a:schemeClr val="tx1"/>
          </a:fontRef>
        </p:style>
      </p:cxnSp>
      <p:sp>
        <p:nvSpPr>
          <p:cNvPr id="7" name="椭圆 6"/>
          <p:cNvSpPr/>
          <p:nvPr/>
        </p:nvSpPr>
        <p:spPr>
          <a:xfrm>
            <a:off x="532765" y="431165"/>
            <a:ext cx="540385" cy="521970"/>
          </a:xfrm>
          <a:prstGeom prst="ellipse">
            <a:avLst/>
          </a:prstGeom>
          <a:solidFill>
            <a:srgbClr val="3052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b="1">
                <a:latin typeface="黑体" panose="02010609060101010101" charset="-122"/>
                <a:ea typeface="黑体" panose="02010609060101010101" charset="-122"/>
                <a:cs typeface="Arial" panose="020B0604020202020204" pitchFamily="34" charset="0"/>
              </a:rPr>
              <a:t>3</a:t>
            </a:r>
            <a:endParaRPr lang="en-US" altLang="zh-CN" sz="3600" b="1">
              <a:latin typeface="黑体" panose="02010609060101010101" charset="-122"/>
              <a:ea typeface="黑体" panose="02010609060101010101" charset="-122"/>
              <a:cs typeface="Arial" panose="020B0604020202020204" pitchFamily="34" charset="0"/>
            </a:endParaRPr>
          </a:p>
        </p:txBody>
      </p:sp>
      <p:sp>
        <p:nvSpPr>
          <p:cNvPr id="8" name="文本框 7"/>
          <p:cNvSpPr txBox="1"/>
          <p:nvPr/>
        </p:nvSpPr>
        <p:spPr>
          <a:xfrm>
            <a:off x="1073150" y="431165"/>
            <a:ext cx="7393305" cy="568325"/>
          </a:xfrm>
          <a:prstGeom prst="rect">
            <a:avLst/>
          </a:prstGeom>
          <a:noFill/>
        </p:spPr>
        <p:txBody>
          <a:bodyPr wrap="square" rtlCol="0">
            <a:spAutoFit/>
          </a:bodyPr>
          <a:p>
            <a:r>
              <a:rPr lang="zh-CN" altLang="en-US" sz="3100" b="1">
                <a:solidFill>
                  <a:srgbClr val="305296"/>
                </a:solidFill>
                <a:latin typeface="微软雅黑" panose="020B0503020204020204" charset="-122"/>
                <a:ea typeface="微软雅黑" panose="020B0503020204020204" charset="-122"/>
              </a:rPr>
              <a:t>动力响应性能与疲劳寿命评估</a:t>
            </a:r>
            <a:endParaRPr lang="zh-CN" altLang="en-US" sz="3100" b="1">
              <a:solidFill>
                <a:srgbClr val="305296"/>
              </a:solidFill>
              <a:latin typeface="微软雅黑" panose="020B0503020204020204" charset="-122"/>
              <a:ea typeface="微软雅黑" panose="020B0503020204020204" charset="-122"/>
            </a:endParaRPr>
          </a:p>
        </p:txBody>
      </p:sp>
      <p:sp>
        <p:nvSpPr>
          <p:cNvPr id="11" name="文本框 10"/>
          <p:cNvSpPr txBox="1"/>
          <p:nvPr/>
        </p:nvSpPr>
        <p:spPr>
          <a:xfrm>
            <a:off x="777240" y="1219200"/>
            <a:ext cx="2644140" cy="398780"/>
          </a:xfrm>
          <a:prstGeom prst="rect">
            <a:avLst/>
          </a:prstGeom>
          <a:noFill/>
        </p:spPr>
        <p:txBody>
          <a:bodyPr wrap="square" rtlCol="0">
            <a:spAutoFit/>
          </a:bodyPr>
          <a:p>
            <a:pPr marL="342900" indent="-342900" algn="l">
              <a:buFont typeface="Wingdings" panose="05000000000000000000" charset="0"/>
              <a:buChar char="n"/>
            </a:pPr>
            <a:r>
              <a:rPr lang="zh-CN" altLang="en-US" sz="2000" b="1">
                <a:solidFill>
                  <a:schemeClr val="accent1">
                    <a:lumMod val="75000"/>
                  </a:schemeClr>
                </a:solidFill>
                <a:latin typeface="微软雅黑" panose="020B0503020204020204" charset="-122"/>
                <a:ea typeface="微软雅黑" panose="020B0503020204020204" charset="-122"/>
              </a:rPr>
              <a:t>研究背景</a:t>
            </a:r>
            <a:endParaRPr lang="zh-CN" altLang="en-US" sz="2000" b="1">
              <a:solidFill>
                <a:schemeClr val="accent1">
                  <a:lumMod val="75000"/>
                </a:schemeClr>
              </a:solidFill>
              <a:latin typeface="微软雅黑" panose="020B0503020204020204" charset="-122"/>
              <a:ea typeface="微软雅黑" panose="020B0503020204020204" charset="-122"/>
            </a:endParaRPr>
          </a:p>
        </p:txBody>
      </p:sp>
      <p:sp>
        <p:nvSpPr>
          <p:cNvPr id="5" name="文本框 4"/>
          <p:cNvSpPr txBox="1"/>
          <p:nvPr/>
        </p:nvSpPr>
        <p:spPr>
          <a:xfrm>
            <a:off x="777240" y="1747520"/>
            <a:ext cx="5765800" cy="583565"/>
          </a:xfrm>
          <a:prstGeom prst="rect">
            <a:avLst/>
          </a:prstGeom>
          <a:noFill/>
        </p:spPr>
        <p:txBody>
          <a:bodyPr wrap="square" rtlCol="0" anchor="t">
            <a:spAutoFit/>
          </a:bodyPr>
          <a:p>
            <a:pPr marL="285750" indent="-285750">
              <a:buFont typeface="Wingdings" panose="05000000000000000000" charset="0"/>
              <a:buChar char="l"/>
            </a:pPr>
            <a:r>
              <a:rPr lang="zh-CN" altLang="en-US" sz="1600">
                <a:latin typeface="微软雅黑" panose="020B0503020204020204" charset="-122"/>
                <a:ea typeface="微软雅黑" panose="020B0503020204020204" charset="-122"/>
                <a:cs typeface="微软雅黑" panose="020B0503020204020204" charset="-122"/>
              </a:rPr>
              <a:t>工程实践中的</a:t>
            </a:r>
            <a:r>
              <a:rPr lang="zh-CN" altLang="en-US" sz="1600" b="1">
                <a:solidFill>
                  <a:srgbClr val="C00000"/>
                </a:solidFill>
                <a:latin typeface="微软雅黑" panose="020B0503020204020204" charset="-122"/>
                <a:ea typeface="微软雅黑" panose="020B0503020204020204" charset="-122"/>
                <a:cs typeface="微软雅黑" panose="020B0503020204020204" charset="-122"/>
              </a:rPr>
              <a:t>疲劳评估多采用线性有限元模型：</a:t>
            </a:r>
            <a:r>
              <a:rPr lang="zh-CN" altLang="en-US" sz="1600">
                <a:latin typeface="微软雅黑" panose="020B0503020204020204" charset="-122"/>
                <a:ea typeface="微软雅黑" panose="020B0503020204020204" charset="-122"/>
                <a:cs typeface="微软雅黑" panose="020B0503020204020204" charset="-122"/>
              </a:rPr>
              <a:t>便于计算但忽略预应力、材料与几何非线性。</a:t>
            </a:r>
            <a:endParaRPr lang="zh-CN" altLang="en-US" sz="1600">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
          <a:stretch>
            <a:fillRect/>
          </a:stretch>
        </p:blipFill>
        <p:spPr>
          <a:xfrm>
            <a:off x="7463155" y="1049655"/>
            <a:ext cx="3399155" cy="5020945"/>
          </a:xfrm>
          <a:prstGeom prst="rect">
            <a:avLst/>
          </a:prstGeom>
        </p:spPr>
      </p:pic>
      <p:sp>
        <p:nvSpPr>
          <p:cNvPr id="9" name="文本框 8"/>
          <p:cNvSpPr txBox="1"/>
          <p:nvPr/>
        </p:nvSpPr>
        <p:spPr>
          <a:xfrm>
            <a:off x="777240" y="2460625"/>
            <a:ext cx="5765800" cy="337185"/>
          </a:xfrm>
          <a:prstGeom prst="rect">
            <a:avLst/>
          </a:prstGeom>
          <a:noFill/>
        </p:spPr>
        <p:txBody>
          <a:bodyPr wrap="square" rtlCol="0" anchor="t">
            <a:spAutoFit/>
          </a:bodyPr>
          <a:p>
            <a:pPr marL="285750" indent="-285750">
              <a:buFont typeface="Wingdings" panose="05000000000000000000" charset="0"/>
              <a:buChar char="l"/>
            </a:pPr>
            <a:r>
              <a:rPr lang="zh-CN" altLang="en-US" sz="1600">
                <a:latin typeface="微软雅黑" panose="020B0503020204020204" charset="-122"/>
                <a:ea typeface="微软雅黑" panose="020B0503020204020204" charset="-122"/>
                <a:cs typeface="微软雅黑" panose="020B0503020204020204" charset="-122"/>
              </a:rPr>
              <a:t>在极端风况下，线弹性假定与实际疲劳行为偏差更大。</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777240" y="2927350"/>
            <a:ext cx="5765800" cy="583565"/>
          </a:xfrm>
          <a:prstGeom prst="rect">
            <a:avLst/>
          </a:prstGeom>
          <a:noFill/>
        </p:spPr>
        <p:txBody>
          <a:bodyPr wrap="square" rtlCol="0" anchor="t">
            <a:spAutoFit/>
          </a:bodyPr>
          <a:p>
            <a:pPr marL="285750" indent="-285750">
              <a:buFont typeface="Wingdings" panose="05000000000000000000" charset="0"/>
              <a:buChar char="l"/>
            </a:pPr>
            <a:r>
              <a:rPr lang="zh-CN" altLang="en-US" sz="1600">
                <a:latin typeface="微软雅黑" panose="020B0503020204020204" charset="-122"/>
                <a:ea typeface="微软雅黑" panose="020B0503020204020204" charset="-122"/>
                <a:cs typeface="微软雅黑" panose="020B0503020204020204" charset="-122"/>
              </a:rPr>
              <a:t>既有研究表明</a:t>
            </a:r>
            <a:r>
              <a:rPr lang="zh-CN" altLang="en-US" sz="1600" b="1">
                <a:solidFill>
                  <a:srgbClr val="C00000"/>
                </a:solidFill>
                <a:latin typeface="微软雅黑" panose="020B0503020204020204" charset="-122"/>
                <a:ea typeface="微软雅黑" panose="020B0503020204020204" charset="-122"/>
                <a:cs typeface="微软雅黑" panose="020B0503020204020204" charset="-122"/>
              </a:rPr>
              <a:t>：忽略风向变化或低应力幅循环可能导致疲劳寿命偏保守或失真。</a:t>
            </a:r>
            <a:endParaRPr lang="zh-CN" altLang="en-US" sz="16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777240" y="3640455"/>
            <a:ext cx="5765800" cy="583565"/>
          </a:xfrm>
          <a:prstGeom prst="rect">
            <a:avLst/>
          </a:prstGeom>
          <a:noFill/>
        </p:spPr>
        <p:txBody>
          <a:bodyPr wrap="square" rtlCol="0" anchor="t">
            <a:spAutoFit/>
          </a:bodyPr>
          <a:p>
            <a:pPr marL="285750" indent="-285750">
              <a:buFont typeface="Wingdings" panose="05000000000000000000" charset="0"/>
              <a:buChar char="l"/>
            </a:pPr>
            <a:r>
              <a:rPr lang="zh-CN" altLang="en-US" sz="1600">
                <a:latin typeface="微软雅黑" panose="020B0503020204020204" charset="-122"/>
                <a:ea typeface="微软雅黑" panose="020B0503020204020204" charset="-122"/>
                <a:cs typeface="微软雅黑" panose="020B0503020204020204" charset="-122"/>
              </a:rPr>
              <a:t>风况具有联合不确定性(风速、风向相关)，简化为独立或粗糙处理会降低疲劳评估的可靠性。</a:t>
            </a:r>
            <a:endParaRPr lang="en-US" altLang="zh-CN" sz="1600">
              <a:latin typeface="微软雅黑" panose="020B0503020204020204" charset="-122"/>
              <a:ea typeface="微软雅黑" panose="020B0503020204020204" charset="-122"/>
              <a:cs typeface="微软雅黑" panose="020B0503020204020204" charset="-122"/>
            </a:endParaRPr>
          </a:p>
        </p:txBody>
      </p:sp>
      <p:sp>
        <p:nvSpPr>
          <p:cNvPr id="23" name="流程图: 过程 22"/>
          <p:cNvSpPr/>
          <p:nvPr>
            <p:custDataLst>
              <p:tags r:id="rId2"/>
            </p:custDataLst>
          </p:nvPr>
        </p:nvSpPr>
        <p:spPr>
          <a:xfrm>
            <a:off x="668655" y="4820920"/>
            <a:ext cx="5966460" cy="701040"/>
          </a:xfrm>
          <a:prstGeom prst="flowChartProcess">
            <a:avLst/>
          </a:prstGeom>
          <a:noFill/>
          <a:ln w="19050" cap="rnd">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nvSpPr>
        <p:spPr>
          <a:xfrm>
            <a:off x="668655" y="4820285"/>
            <a:ext cx="5966460" cy="701675"/>
          </a:xfrm>
          <a:prstGeom prst="rect">
            <a:avLst/>
          </a:prstGeom>
          <a:noFill/>
        </p:spPr>
        <p:txBody>
          <a:bodyPr wrap="square" rtlCol="0">
            <a:noAutofit/>
          </a:bodyPr>
          <a:p>
            <a:pPr algn="ctr"/>
            <a:r>
              <a:rPr lang="zh-CN" altLang="en-US" b="1"/>
              <a:t>如何在考虑</a:t>
            </a:r>
            <a:r>
              <a:rPr lang="zh-CN" altLang="en-US" b="1">
                <a:solidFill>
                  <a:srgbClr val="C00000"/>
                </a:solidFill>
              </a:rPr>
              <a:t>非线性耦合动力学</a:t>
            </a:r>
            <a:r>
              <a:rPr lang="zh-CN" altLang="en-US" b="1"/>
              <a:t>及</a:t>
            </a:r>
            <a:r>
              <a:rPr lang="zh-CN" altLang="en-US" b="1">
                <a:solidFill>
                  <a:srgbClr val="C00000"/>
                </a:solidFill>
              </a:rPr>
              <a:t>风速-风向联合分布</a:t>
            </a:r>
            <a:r>
              <a:rPr lang="zh-CN" altLang="en-US" b="1"/>
              <a:t>的前提下，得到更准确、可信的混塔疲劳寿命预测?</a:t>
            </a:r>
            <a:endParaRPr lang="zh-CN" altLang="en-US" b="1"/>
          </a:p>
        </p:txBody>
      </p:sp>
      <p:sp>
        <p:nvSpPr>
          <p:cNvPr id="12" name="文本框 1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39/68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 name="流程图: 可选过程 65"/>
          <p:cNvSpPr/>
          <p:nvPr/>
        </p:nvSpPr>
        <p:spPr>
          <a:xfrm>
            <a:off x="9262745" y="2940050"/>
            <a:ext cx="1816735" cy="2662555"/>
          </a:xfrm>
          <a:prstGeom prst="flowChartAlternateProcess">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5" name="流程图: 可选过程 64"/>
          <p:cNvSpPr/>
          <p:nvPr/>
        </p:nvSpPr>
        <p:spPr>
          <a:xfrm>
            <a:off x="7115810" y="2928620"/>
            <a:ext cx="1816735" cy="2662555"/>
          </a:xfrm>
          <a:prstGeom prst="flowChartAlternateProcess">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4" name="流程图: 可选过程 63"/>
          <p:cNvSpPr/>
          <p:nvPr/>
        </p:nvSpPr>
        <p:spPr>
          <a:xfrm>
            <a:off x="4968875" y="2954020"/>
            <a:ext cx="1816735" cy="2662555"/>
          </a:xfrm>
          <a:prstGeom prst="flowChartAlternateProcess">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 name="直接连接符 5"/>
          <p:cNvCxnSpPr/>
          <p:nvPr/>
        </p:nvCxnSpPr>
        <p:spPr>
          <a:xfrm flipV="1">
            <a:off x="1126490" y="998855"/>
            <a:ext cx="10490200" cy="8890"/>
          </a:xfrm>
          <a:prstGeom prst="line">
            <a:avLst/>
          </a:prstGeom>
        </p:spPr>
        <p:style>
          <a:lnRef idx="2">
            <a:schemeClr val="accent1"/>
          </a:lnRef>
          <a:fillRef idx="0">
            <a:srgbClr val="FFFFFF"/>
          </a:fillRef>
          <a:effectRef idx="0">
            <a:srgbClr val="FFFFFF"/>
          </a:effectRef>
          <a:fontRef idx="minor">
            <a:schemeClr val="tx1"/>
          </a:fontRef>
        </p:style>
      </p:cxnSp>
      <p:sp>
        <p:nvSpPr>
          <p:cNvPr id="7" name="椭圆 6"/>
          <p:cNvSpPr/>
          <p:nvPr/>
        </p:nvSpPr>
        <p:spPr>
          <a:xfrm>
            <a:off x="532765" y="431165"/>
            <a:ext cx="540385" cy="521970"/>
          </a:xfrm>
          <a:prstGeom prst="ellipse">
            <a:avLst/>
          </a:prstGeom>
          <a:solidFill>
            <a:srgbClr val="3052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b="1">
                <a:latin typeface="黑体" panose="02010609060101010101" charset="-122"/>
                <a:ea typeface="黑体" panose="02010609060101010101" charset="-122"/>
                <a:cs typeface="Arial" panose="020B0604020202020204" pitchFamily="34" charset="0"/>
              </a:rPr>
              <a:t>3</a:t>
            </a:r>
            <a:endParaRPr lang="en-US" altLang="zh-CN" sz="3600" b="1">
              <a:latin typeface="黑体" panose="02010609060101010101" charset="-122"/>
              <a:ea typeface="黑体" panose="02010609060101010101" charset="-122"/>
              <a:cs typeface="Arial" panose="020B0604020202020204" pitchFamily="34" charset="0"/>
            </a:endParaRPr>
          </a:p>
        </p:txBody>
      </p:sp>
      <p:sp>
        <p:nvSpPr>
          <p:cNvPr id="8" name="文本框 7"/>
          <p:cNvSpPr txBox="1"/>
          <p:nvPr/>
        </p:nvSpPr>
        <p:spPr>
          <a:xfrm>
            <a:off x="1073150" y="431165"/>
            <a:ext cx="7393305" cy="568325"/>
          </a:xfrm>
          <a:prstGeom prst="rect">
            <a:avLst/>
          </a:prstGeom>
          <a:noFill/>
        </p:spPr>
        <p:txBody>
          <a:bodyPr wrap="square" rtlCol="0">
            <a:spAutoFit/>
          </a:bodyPr>
          <a:p>
            <a:r>
              <a:rPr lang="zh-CN" altLang="en-US" sz="3100" b="1">
                <a:solidFill>
                  <a:srgbClr val="305296"/>
                </a:solidFill>
                <a:latin typeface="微软雅黑" panose="020B0503020204020204" charset="-122"/>
                <a:ea typeface="微软雅黑" panose="020B0503020204020204" charset="-122"/>
              </a:rPr>
              <a:t>动力响应性能与疲劳寿命评估</a:t>
            </a:r>
            <a:endParaRPr lang="zh-CN" altLang="en-US" sz="3100" b="1">
              <a:solidFill>
                <a:srgbClr val="305296"/>
              </a:solidFill>
              <a:latin typeface="微软雅黑" panose="020B0503020204020204" charset="-122"/>
              <a:ea typeface="微软雅黑" panose="020B0503020204020204" charset="-122"/>
            </a:endParaRPr>
          </a:p>
        </p:txBody>
      </p:sp>
      <p:sp>
        <p:nvSpPr>
          <p:cNvPr id="11" name="文本框 10"/>
          <p:cNvSpPr txBox="1"/>
          <p:nvPr/>
        </p:nvSpPr>
        <p:spPr>
          <a:xfrm>
            <a:off x="777240" y="1219200"/>
            <a:ext cx="6430645" cy="398780"/>
          </a:xfrm>
          <a:prstGeom prst="rect">
            <a:avLst/>
          </a:prstGeom>
          <a:noFill/>
        </p:spPr>
        <p:txBody>
          <a:bodyPr wrap="square" rtlCol="0">
            <a:spAutoFit/>
          </a:bodyPr>
          <a:p>
            <a:pPr marL="342900" indent="-342900" algn="l">
              <a:buFont typeface="Wingdings" panose="05000000000000000000" charset="0"/>
              <a:buChar char="n"/>
            </a:pPr>
            <a:r>
              <a:rPr lang="zh-CN" altLang="en-US" sz="2000" b="1">
                <a:solidFill>
                  <a:schemeClr val="accent1">
                    <a:lumMod val="75000"/>
                  </a:schemeClr>
                </a:solidFill>
                <a:latin typeface="微软雅黑" panose="020B0503020204020204" charset="-122"/>
                <a:ea typeface="微软雅黑" panose="020B0503020204020204" charset="-122"/>
              </a:rPr>
              <a:t>从风场统计特性出发，评估动力响应性能与疲劳寿命</a:t>
            </a:r>
            <a:endParaRPr lang="zh-CN" altLang="en-US" sz="2000" b="1">
              <a:solidFill>
                <a:schemeClr val="accent1">
                  <a:lumMod val="75000"/>
                </a:schemeClr>
              </a:solidFill>
              <a:latin typeface="微软雅黑" panose="020B0503020204020204" charset="-122"/>
              <a:ea typeface="微软雅黑" panose="020B0503020204020204" charset="-122"/>
            </a:endParaRPr>
          </a:p>
        </p:txBody>
      </p:sp>
      <p:sp>
        <p:nvSpPr>
          <p:cNvPr id="23" name="流程图: 过程 22"/>
          <p:cNvSpPr/>
          <p:nvPr>
            <p:custDataLst>
              <p:tags r:id="rId1"/>
            </p:custDataLst>
          </p:nvPr>
        </p:nvSpPr>
        <p:spPr>
          <a:xfrm>
            <a:off x="532765" y="1965960"/>
            <a:ext cx="3965575" cy="3982085"/>
          </a:xfrm>
          <a:prstGeom prst="flowChartProcess">
            <a:avLst/>
          </a:prstGeom>
          <a:noFill/>
          <a:ln w="19050" cap="rnd">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rect 14"/>
          <p:cNvSpPr/>
          <p:nvPr/>
        </p:nvSpPr>
        <p:spPr>
          <a:xfrm>
            <a:off x="532765" y="1680210"/>
            <a:ext cx="3965575" cy="352425"/>
          </a:xfrm>
          <a:prstGeom prst="rect">
            <a:avLst/>
          </a:prstGeom>
          <a:solidFill>
            <a:srgbClr val="053F83">
              <a:alpha val="100000"/>
            </a:srgbClr>
          </a:solidFill>
          <a:ln w="0" cap="flat">
            <a:noFill/>
            <a:prstDash val="solid"/>
            <a:miter lim="0"/>
          </a:ln>
        </p:spPr>
        <p:txBody>
          <a:bodyPr rtlCol="0"/>
          <a:p>
            <a:pPr algn="l"/>
            <a:r>
              <a:rPr lang="en-US" altLang="zh-CN"/>
              <a:t>  </a:t>
            </a:r>
            <a:r>
              <a:rPr lang="zh-CN" altLang="en-US" b="1">
                <a:solidFill>
                  <a:schemeClr val="bg1"/>
                </a:solidFill>
              </a:rPr>
              <a:t>研究目的</a:t>
            </a:r>
            <a:endParaRPr lang="zh-CN" altLang="en-US" b="1">
              <a:solidFill>
                <a:schemeClr val="bg1"/>
              </a:solidFill>
            </a:endParaRPr>
          </a:p>
        </p:txBody>
      </p:sp>
      <p:sp>
        <p:nvSpPr>
          <p:cNvPr id="29" name="文本框 28"/>
          <p:cNvSpPr txBox="1"/>
          <p:nvPr/>
        </p:nvSpPr>
        <p:spPr>
          <a:xfrm>
            <a:off x="679450" y="2094865"/>
            <a:ext cx="3672205" cy="521970"/>
          </a:xfrm>
          <a:prstGeom prst="rect">
            <a:avLst/>
          </a:prstGeom>
        </p:spPr>
        <p:txBody>
          <a:bodyPr wrap="square">
            <a:spAutoFit/>
          </a:bodyPr>
          <a:p>
            <a:pPr marL="285750" indent="-285750">
              <a:buFont typeface="Wingdings" panose="05000000000000000000" charset="0"/>
              <a:buBlip>
                <a:blip r:embed="rId2"/>
              </a:buBlip>
            </a:pP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准确表征</a:t>
            </a:r>
            <a:r>
              <a:rPr lang="zh-CN" altLang="en-US" sz="1400">
                <a:latin typeface="微软雅黑" panose="020B0503020204020204" charset="-122"/>
                <a:ea typeface="微软雅黑" panose="020B0503020204020204" charset="-122"/>
                <a:cs typeface="微软雅黑" panose="020B0503020204020204" charset="-122"/>
              </a:rPr>
              <a:t> 风速</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风向联合分布及其不确定性</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679450" y="2679065"/>
            <a:ext cx="3672205" cy="521970"/>
          </a:xfrm>
          <a:prstGeom prst="rect">
            <a:avLst/>
          </a:prstGeom>
        </p:spPr>
        <p:txBody>
          <a:bodyPr wrap="square">
            <a:spAutoFit/>
          </a:bodyPr>
          <a:p>
            <a:pPr marL="285750" indent="-285750">
              <a:buFont typeface="Wingdings" panose="05000000000000000000" charset="0"/>
              <a:buBlip>
                <a:blip r:embed="rId2"/>
              </a:buBlip>
            </a:pP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揭示规律</a:t>
            </a:r>
            <a:r>
              <a:rPr lang="en-US" altLang="zh-CN" sz="1400">
                <a:latin typeface="微软雅黑" panose="020B0503020204020204" charset="-122"/>
                <a:ea typeface="微软雅黑" panose="020B0503020204020204" charset="-122"/>
                <a:cs typeface="微软雅黑" panose="020B0503020204020204" charset="-122"/>
              </a:rPr>
              <a:t> </a:t>
            </a:r>
            <a:r>
              <a:rPr lang="zh-CN" altLang="en-US" sz="1400">
                <a:latin typeface="微软雅黑" panose="020B0503020204020204" charset="-122"/>
                <a:ea typeface="微软雅黑" panose="020B0503020204020204" charset="-122"/>
                <a:cs typeface="微软雅黑" panose="020B0503020204020204" charset="-122"/>
              </a:rPr>
              <a:t>风速、风向与非线性效应对动力响应的影响</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679450" y="3263265"/>
            <a:ext cx="3672205" cy="521970"/>
          </a:xfrm>
          <a:prstGeom prst="rect">
            <a:avLst/>
          </a:prstGeom>
        </p:spPr>
        <p:txBody>
          <a:bodyPr wrap="square">
            <a:spAutoFit/>
          </a:bodyPr>
          <a:p>
            <a:pPr marL="285750" indent="-285750">
              <a:buFont typeface="Wingdings" panose="05000000000000000000" charset="0"/>
              <a:buBlip>
                <a:blip r:embed="rId2"/>
              </a:buBlip>
            </a:pP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量化损伤</a:t>
            </a:r>
            <a:r>
              <a:rPr lang="en-US" altLang="zh-CN" sz="1400">
                <a:latin typeface="微软雅黑" panose="020B0503020204020204" charset="-122"/>
                <a:ea typeface="微软雅黑" panose="020B0503020204020204" charset="-122"/>
                <a:cs typeface="微软雅黑" panose="020B0503020204020204" charset="-122"/>
              </a:rPr>
              <a:t> </a:t>
            </a:r>
            <a:r>
              <a:rPr lang="zh-CN" altLang="en-US" sz="1400">
                <a:latin typeface="微软雅黑" panose="020B0503020204020204" charset="-122"/>
                <a:ea typeface="微软雅黑" panose="020B0503020204020204" charset="-122"/>
                <a:cs typeface="微软雅黑" panose="020B0503020204020204" charset="-122"/>
              </a:rPr>
              <a:t>基于概率风场评估疲劳损伤贡献与寿命</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679450" y="3847465"/>
            <a:ext cx="3672205" cy="521970"/>
          </a:xfrm>
          <a:prstGeom prst="rect">
            <a:avLst/>
          </a:prstGeom>
        </p:spPr>
        <p:txBody>
          <a:bodyPr wrap="square">
            <a:spAutoFit/>
          </a:bodyPr>
          <a:p>
            <a:pPr marL="285750" indent="-285750">
              <a:buFont typeface="Wingdings" panose="05000000000000000000" charset="0"/>
              <a:buBlip>
                <a:blip r:embed="rId2"/>
              </a:buBlip>
            </a:pP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服务设计</a:t>
            </a:r>
            <a:r>
              <a:rPr lang="zh-CN" altLang="en-US" sz="1400">
                <a:latin typeface="微软雅黑" panose="020B0503020204020204" charset="-122"/>
                <a:ea typeface="微软雅黑" panose="020B0503020204020204" charset="-122"/>
                <a:cs typeface="微软雅黑" panose="020B0503020204020204" charset="-122"/>
              </a:rPr>
              <a:t> 为混塔运行安全与结构校核提供依据</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35" name="流程图: 可选过程 34"/>
          <p:cNvSpPr/>
          <p:nvPr/>
        </p:nvSpPr>
        <p:spPr>
          <a:xfrm>
            <a:off x="679450" y="4632325"/>
            <a:ext cx="3671570" cy="1126490"/>
          </a:xfrm>
          <a:prstGeom prst="flowChartAlternateProcess">
            <a:avLst/>
          </a:prstGeom>
          <a:gradFill>
            <a:gsLst>
              <a:gs pos="0">
                <a:schemeClr val="accent1">
                  <a:lumMod val="5000"/>
                  <a:lumOff val="95000"/>
                </a:schemeClr>
              </a:gs>
              <a:gs pos="100000">
                <a:schemeClr val="accent1">
                  <a:lumMod val="20000"/>
                  <a:lumOff val="80000"/>
                </a:schemeClr>
              </a:gs>
            </a:gsLst>
            <a:path path="circle">
              <a:fillToRect l="50000" t="50000" r="50000" b="50000"/>
            </a:path>
            <a:tileRect/>
          </a:gra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679450" y="4718050"/>
            <a:ext cx="3613785" cy="1040765"/>
          </a:xfrm>
          <a:prstGeom prst="rect">
            <a:avLst/>
          </a:prstGeom>
          <a:noFill/>
        </p:spPr>
        <p:txBody>
          <a:bodyPr wrap="square" rtlCol="0">
            <a:noAutofit/>
          </a:bodyPr>
          <a:p>
            <a:pPr algn="ctr"/>
            <a:r>
              <a:rPr lang="zh-CN" altLang="en-US" sz="1200" b="1">
                <a:solidFill>
                  <a:schemeClr val="accent1"/>
                </a:solidFill>
                <a:latin typeface="黑体" panose="02010609060101010101" charset="-122"/>
                <a:ea typeface="黑体" panose="02010609060101010101" charset="-122"/>
              </a:rPr>
              <a:t>本章核心目标</a:t>
            </a:r>
            <a:endParaRPr lang="zh-CN" altLang="en-US" sz="1200" b="1">
              <a:solidFill>
                <a:srgbClr val="0070C0"/>
              </a:solidFill>
            </a:endParaRPr>
          </a:p>
          <a:p>
            <a:pPr algn="ctr"/>
            <a:r>
              <a:rPr lang="zh-CN" altLang="en-US" sz="1200" b="1">
                <a:latin typeface="黑体" panose="02010609060101010101" charset="-122"/>
                <a:ea typeface="黑体" panose="02010609060101010101" charset="-122"/>
                <a:cs typeface="黑体" panose="02010609060101010101" charset="-122"/>
              </a:rPr>
              <a:t>构建“风场概率建模一非线性动力响应一疲劳寿命评估”的一体化分析框架，准确评价大型混塔式风电机组在正常运行工况下的性能。</a:t>
            </a:r>
            <a:endParaRPr lang="zh-CN" altLang="en-US" sz="1200" b="1">
              <a:latin typeface="黑体" panose="02010609060101010101" charset="-122"/>
              <a:ea typeface="黑体" panose="02010609060101010101" charset="-122"/>
              <a:cs typeface="黑体" panose="02010609060101010101" charset="-122"/>
            </a:endParaRPr>
          </a:p>
        </p:txBody>
      </p:sp>
      <p:sp>
        <p:nvSpPr>
          <p:cNvPr id="41" name="流程图: 过程 40"/>
          <p:cNvSpPr/>
          <p:nvPr>
            <p:custDataLst>
              <p:tags r:id="rId3"/>
            </p:custDataLst>
          </p:nvPr>
        </p:nvSpPr>
        <p:spPr>
          <a:xfrm>
            <a:off x="4711065" y="1965960"/>
            <a:ext cx="6543040" cy="3982085"/>
          </a:xfrm>
          <a:prstGeom prst="flowChartProcess">
            <a:avLst/>
          </a:prstGeom>
          <a:noFill/>
          <a:ln w="19050" cap="rnd">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rect 14"/>
          <p:cNvSpPr/>
          <p:nvPr/>
        </p:nvSpPr>
        <p:spPr>
          <a:xfrm>
            <a:off x="4711065" y="1680210"/>
            <a:ext cx="6543040" cy="352425"/>
          </a:xfrm>
          <a:prstGeom prst="rect">
            <a:avLst/>
          </a:prstGeom>
          <a:solidFill>
            <a:srgbClr val="053F83">
              <a:alpha val="100000"/>
            </a:srgbClr>
          </a:solidFill>
          <a:ln w="0" cap="flat">
            <a:noFill/>
            <a:prstDash val="solid"/>
            <a:miter lim="0"/>
          </a:ln>
        </p:spPr>
        <p:txBody>
          <a:bodyPr rtlCol="0"/>
          <a:p>
            <a:pPr algn="l"/>
            <a:r>
              <a:rPr lang="en-US" altLang="zh-CN"/>
              <a:t>  </a:t>
            </a:r>
            <a:r>
              <a:rPr lang="zh-CN" altLang="en-US" b="1">
                <a:solidFill>
                  <a:schemeClr val="bg1"/>
                </a:solidFill>
              </a:rPr>
              <a:t>研究内容</a:t>
            </a:r>
            <a:endParaRPr lang="zh-CN" altLang="en-US" b="1">
              <a:solidFill>
                <a:schemeClr val="bg1"/>
              </a:solidFill>
            </a:endParaRPr>
          </a:p>
        </p:txBody>
      </p:sp>
      <p:sp>
        <p:nvSpPr>
          <p:cNvPr id="43" name="流程图: 可选过程 42"/>
          <p:cNvSpPr/>
          <p:nvPr/>
        </p:nvSpPr>
        <p:spPr>
          <a:xfrm>
            <a:off x="5079365" y="2265045"/>
            <a:ext cx="909955" cy="414020"/>
          </a:xfrm>
          <a:prstGeom prst="flowChartAlternateProcess">
            <a:avLst/>
          </a:prstGeom>
          <a:solidFill>
            <a:schemeClr val="accent6">
              <a:lumMod val="7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latin typeface="微软雅黑" panose="020B0503020204020204" charset="-122"/>
                <a:ea typeface="微软雅黑" panose="020B0503020204020204" charset="-122"/>
                <a:cs typeface="微软雅黑" panose="020B0503020204020204" charset="-122"/>
              </a:rPr>
              <a:t>风速-风向联合建模</a:t>
            </a:r>
            <a:endParaRPr lang="zh-CN" altLang="en-US" sz="1200" b="1">
              <a:latin typeface="微软雅黑" panose="020B0503020204020204" charset="-122"/>
              <a:ea typeface="微软雅黑" panose="020B0503020204020204" charset="-122"/>
              <a:cs typeface="微软雅黑" panose="020B0503020204020204" charset="-122"/>
            </a:endParaRPr>
          </a:p>
        </p:txBody>
      </p:sp>
      <p:sp>
        <p:nvSpPr>
          <p:cNvPr id="45" name="流程图: 可选过程 44"/>
          <p:cNvSpPr/>
          <p:nvPr/>
        </p:nvSpPr>
        <p:spPr>
          <a:xfrm>
            <a:off x="10109835" y="2265045"/>
            <a:ext cx="909955" cy="414020"/>
          </a:xfrm>
          <a:prstGeom prst="flowChartAlternateProcess">
            <a:avLst/>
          </a:prstGeom>
          <a:solidFill>
            <a:schemeClr val="accent6">
              <a:lumMod val="7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t>疲劳寿命评估</a:t>
            </a:r>
            <a:endParaRPr lang="zh-CN" altLang="en-US" sz="1200" b="1"/>
          </a:p>
        </p:txBody>
      </p:sp>
      <p:sp>
        <p:nvSpPr>
          <p:cNvPr id="47" name="流程图: 可选过程 46"/>
          <p:cNvSpPr/>
          <p:nvPr/>
        </p:nvSpPr>
        <p:spPr>
          <a:xfrm>
            <a:off x="6346825" y="2265045"/>
            <a:ext cx="909955" cy="414020"/>
          </a:xfrm>
          <a:prstGeom prst="flowChartAlternateProcess">
            <a:avLst/>
          </a:prstGeom>
          <a:solidFill>
            <a:schemeClr val="accent1">
              <a:lumMod val="7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latin typeface="微软雅黑" panose="020B0503020204020204" charset="-122"/>
                <a:ea typeface="微软雅黑" panose="020B0503020204020204" charset="-122"/>
              </a:rPr>
              <a:t>概率风场生成</a:t>
            </a:r>
            <a:endParaRPr lang="zh-CN" altLang="en-US" sz="1200" b="1">
              <a:latin typeface="微软雅黑" panose="020B0503020204020204" charset="-122"/>
              <a:ea typeface="微软雅黑" panose="020B0503020204020204" charset="-122"/>
            </a:endParaRPr>
          </a:p>
        </p:txBody>
      </p:sp>
      <p:sp>
        <p:nvSpPr>
          <p:cNvPr id="49" name="流程图: 可选过程 48"/>
          <p:cNvSpPr/>
          <p:nvPr/>
        </p:nvSpPr>
        <p:spPr>
          <a:xfrm>
            <a:off x="7614285" y="2265045"/>
            <a:ext cx="909955" cy="414020"/>
          </a:xfrm>
          <a:prstGeom prst="flowChartAlternateProcess">
            <a:avLst/>
          </a:prstGeom>
          <a:solidFill>
            <a:schemeClr val="accent1">
              <a:lumMod val="7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rPr>
              <a:t>耦合非线性动力响应</a:t>
            </a:r>
            <a:endParaRPr lang="zh-CN" altLang="en-US" sz="1000" b="1">
              <a:latin typeface="微软雅黑" panose="020B0503020204020204" charset="-122"/>
              <a:ea typeface="微软雅黑" panose="020B0503020204020204" charset="-122"/>
            </a:endParaRPr>
          </a:p>
        </p:txBody>
      </p:sp>
      <p:sp>
        <p:nvSpPr>
          <p:cNvPr id="51" name="流程图: 可选过程 50"/>
          <p:cNvSpPr/>
          <p:nvPr/>
        </p:nvSpPr>
        <p:spPr>
          <a:xfrm>
            <a:off x="8862060" y="2265045"/>
            <a:ext cx="909955" cy="414020"/>
          </a:xfrm>
          <a:prstGeom prst="flowChartAlternateProcess">
            <a:avLst/>
          </a:prstGeom>
          <a:solidFill>
            <a:schemeClr val="accent1">
              <a:lumMod val="75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latin typeface="微软雅黑" panose="020B0503020204020204" charset="-122"/>
                <a:ea typeface="微软雅黑" panose="020B0503020204020204" charset="-122"/>
              </a:rPr>
              <a:t>雨流计数</a:t>
            </a:r>
            <a:r>
              <a:rPr lang="en-US" altLang="zh-CN" sz="1200" b="1">
                <a:latin typeface="微软雅黑" panose="020B0503020204020204" charset="-122"/>
                <a:ea typeface="微软雅黑" panose="020B0503020204020204" charset="-122"/>
              </a:rPr>
              <a:t>S-N</a:t>
            </a:r>
            <a:r>
              <a:rPr lang="zh-CN" altLang="en-US" sz="1200" b="1">
                <a:latin typeface="微软雅黑" panose="020B0503020204020204" charset="-122"/>
                <a:ea typeface="微软雅黑" panose="020B0503020204020204" charset="-122"/>
              </a:rPr>
              <a:t>曲线</a:t>
            </a:r>
            <a:endParaRPr lang="zh-CN" altLang="en-US" sz="1200" b="1">
              <a:latin typeface="微软雅黑" panose="020B0503020204020204" charset="-122"/>
              <a:ea typeface="微软雅黑" panose="020B0503020204020204" charset="-122"/>
            </a:endParaRPr>
          </a:p>
        </p:txBody>
      </p:sp>
      <p:sp>
        <p:nvSpPr>
          <p:cNvPr id="53" name="燕尾形 52"/>
          <p:cNvSpPr/>
          <p:nvPr/>
        </p:nvSpPr>
        <p:spPr>
          <a:xfrm>
            <a:off x="6066155" y="2399030"/>
            <a:ext cx="203200" cy="145415"/>
          </a:xfrm>
          <a:prstGeom prst="chevron">
            <a:avLst/>
          </a:prstGeom>
          <a:solidFill>
            <a:schemeClr val="bg1">
              <a:lumMod val="50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燕尾形 54"/>
          <p:cNvSpPr/>
          <p:nvPr/>
        </p:nvSpPr>
        <p:spPr>
          <a:xfrm>
            <a:off x="9839325" y="2399030"/>
            <a:ext cx="203200" cy="145415"/>
          </a:xfrm>
          <a:prstGeom prst="chevron">
            <a:avLst/>
          </a:prstGeom>
          <a:solidFill>
            <a:schemeClr val="bg1">
              <a:lumMod val="50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燕尾形 56"/>
          <p:cNvSpPr/>
          <p:nvPr/>
        </p:nvSpPr>
        <p:spPr>
          <a:xfrm>
            <a:off x="7333615" y="2399030"/>
            <a:ext cx="203200" cy="145415"/>
          </a:xfrm>
          <a:prstGeom prst="chevron">
            <a:avLst/>
          </a:prstGeom>
          <a:solidFill>
            <a:schemeClr val="bg1">
              <a:lumMod val="50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燕尾形 58"/>
          <p:cNvSpPr/>
          <p:nvPr/>
        </p:nvSpPr>
        <p:spPr>
          <a:xfrm>
            <a:off x="8586470" y="2399030"/>
            <a:ext cx="203200" cy="145415"/>
          </a:xfrm>
          <a:prstGeom prst="chevron">
            <a:avLst/>
          </a:prstGeom>
          <a:solidFill>
            <a:schemeClr val="bg1">
              <a:lumMod val="50000"/>
            </a:schemeClr>
          </a:solid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rect 14"/>
          <p:cNvSpPr/>
          <p:nvPr/>
        </p:nvSpPr>
        <p:spPr>
          <a:xfrm>
            <a:off x="4969510" y="2925445"/>
            <a:ext cx="1816100" cy="277495"/>
          </a:xfrm>
          <a:prstGeom prst="rect">
            <a:avLst/>
          </a:prstGeom>
          <a:solidFill>
            <a:schemeClr val="accent1">
              <a:lumMod val="20000"/>
              <a:lumOff val="80000"/>
            </a:schemeClr>
          </a:solidFill>
          <a:ln w="0" cap="flat">
            <a:noFill/>
            <a:prstDash val="solid"/>
            <a:miter lim="0"/>
          </a:ln>
        </p:spPr>
        <p:txBody>
          <a:bodyPr rtlCol="0"/>
          <a:p>
            <a:pPr algn="ctr">
              <a:lnSpc>
                <a:spcPct val="90000"/>
              </a:lnSpc>
            </a:pPr>
            <a:r>
              <a:rPr lang="en-US" altLang="zh-CN" sz="1200" b="1">
                <a:solidFill>
                  <a:schemeClr val="accent1">
                    <a:lumMod val="75000"/>
                  </a:schemeClr>
                </a:solidFill>
              </a:rPr>
              <a:t>1 </a:t>
            </a:r>
            <a:r>
              <a:rPr lang="zh-CN" altLang="en-US" sz="1200" b="1">
                <a:solidFill>
                  <a:schemeClr val="accent1">
                    <a:lumMod val="75000"/>
                  </a:schemeClr>
                </a:solidFill>
              </a:rPr>
              <a:t>风场概率建模</a:t>
            </a:r>
            <a:endParaRPr lang="zh-CN" altLang="en-US" sz="1200" b="1">
              <a:solidFill>
                <a:schemeClr val="accent1">
                  <a:lumMod val="75000"/>
                </a:schemeClr>
              </a:solidFill>
            </a:endParaRPr>
          </a:p>
        </p:txBody>
      </p:sp>
      <p:sp>
        <p:nvSpPr>
          <p:cNvPr id="62" name="rect 14"/>
          <p:cNvSpPr/>
          <p:nvPr/>
        </p:nvSpPr>
        <p:spPr>
          <a:xfrm>
            <a:off x="7116445" y="2911475"/>
            <a:ext cx="1816100" cy="277495"/>
          </a:xfrm>
          <a:prstGeom prst="rect">
            <a:avLst/>
          </a:prstGeom>
          <a:solidFill>
            <a:schemeClr val="accent1">
              <a:lumMod val="20000"/>
              <a:lumOff val="80000"/>
            </a:schemeClr>
          </a:solidFill>
          <a:ln w="0" cap="flat">
            <a:noFill/>
            <a:prstDash val="solid"/>
            <a:miter lim="0"/>
          </a:ln>
        </p:spPr>
        <p:txBody>
          <a:bodyPr rtlCol="0"/>
          <a:p>
            <a:pPr algn="ctr">
              <a:lnSpc>
                <a:spcPct val="90000"/>
              </a:lnSpc>
            </a:pPr>
            <a:r>
              <a:rPr lang="en-US" altLang="zh-CN" sz="1200" b="1">
                <a:solidFill>
                  <a:schemeClr val="accent1">
                    <a:lumMod val="75000"/>
                  </a:schemeClr>
                </a:solidFill>
              </a:rPr>
              <a:t>2 </a:t>
            </a:r>
            <a:r>
              <a:rPr lang="zh-CN" altLang="en-US" sz="1200" b="1">
                <a:solidFill>
                  <a:schemeClr val="accent1">
                    <a:lumMod val="75000"/>
                  </a:schemeClr>
                </a:solidFill>
              </a:rPr>
              <a:t>动力响应评估</a:t>
            </a:r>
            <a:endParaRPr lang="zh-CN" altLang="en-US" sz="1200" b="1">
              <a:solidFill>
                <a:schemeClr val="accent1">
                  <a:lumMod val="75000"/>
                </a:schemeClr>
              </a:solidFill>
            </a:endParaRPr>
          </a:p>
        </p:txBody>
      </p:sp>
      <p:sp>
        <p:nvSpPr>
          <p:cNvPr id="63" name="rect 14"/>
          <p:cNvSpPr/>
          <p:nvPr/>
        </p:nvSpPr>
        <p:spPr>
          <a:xfrm>
            <a:off x="9263380" y="2911475"/>
            <a:ext cx="1816100" cy="277495"/>
          </a:xfrm>
          <a:prstGeom prst="rect">
            <a:avLst/>
          </a:prstGeom>
          <a:solidFill>
            <a:schemeClr val="accent1">
              <a:lumMod val="20000"/>
              <a:lumOff val="80000"/>
            </a:schemeClr>
          </a:solidFill>
          <a:ln w="0" cap="flat">
            <a:noFill/>
            <a:prstDash val="solid"/>
            <a:miter lim="0"/>
          </a:ln>
        </p:spPr>
        <p:txBody>
          <a:bodyPr rtlCol="0"/>
          <a:p>
            <a:pPr algn="ctr">
              <a:lnSpc>
                <a:spcPct val="90000"/>
              </a:lnSpc>
            </a:pPr>
            <a:r>
              <a:rPr lang="en-US" altLang="zh-CN" sz="1200" b="1">
                <a:solidFill>
                  <a:schemeClr val="accent1">
                    <a:lumMod val="75000"/>
                  </a:schemeClr>
                </a:solidFill>
              </a:rPr>
              <a:t>3 </a:t>
            </a:r>
            <a:r>
              <a:rPr lang="zh-CN" altLang="en-US" sz="1200" b="1">
                <a:solidFill>
                  <a:schemeClr val="accent1">
                    <a:lumMod val="75000"/>
                  </a:schemeClr>
                </a:solidFill>
              </a:rPr>
              <a:t>疲劳寿命评估</a:t>
            </a:r>
            <a:endParaRPr lang="zh-CN" altLang="en-US" sz="1200" b="1">
              <a:solidFill>
                <a:schemeClr val="accent1">
                  <a:lumMod val="75000"/>
                </a:schemeClr>
              </a:solidFill>
            </a:endParaRPr>
          </a:p>
        </p:txBody>
      </p:sp>
      <p:pic>
        <p:nvPicPr>
          <p:cNvPr id="67" name="图片 66"/>
          <p:cNvPicPr>
            <a:picLocks noChangeAspect="1"/>
          </p:cNvPicPr>
          <p:nvPr/>
        </p:nvPicPr>
        <p:blipFill>
          <a:blip r:embed="rId4"/>
          <a:stretch>
            <a:fillRect/>
          </a:stretch>
        </p:blipFill>
        <p:spPr>
          <a:xfrm>
            <a:off x="5079365" y="3325495"/>
            <a:ext cx="1597025" cy="1480185"/>
          </a:xfrm>
          <a:prstGeom prst="rect">
            <a:avLst/>
          </a:prstGeom>
        </p:spPr>
      </p:pic>
      <p:pic>
        <p:nvPicPr>
          <p:cNvPr id="68" name="图片 67"/>
          <p:cNvPicPr>
            <a:picLocks noChangeAspect="1"/>
          </p:cNvPicPr>
          <p:nvPr/>
        </p:nvPicPr>
        <p:blipFill>
          <a:blip r:embed="rId5"/>
          <a:stretch>
            <a:fillRect/>
          </a:stretch>
        </p:blipFill>
        <p:spPr>
          <a:xfrm>
            <a:off x="7188200" y="3326130"/>
            <a:ext cx="1562100" cy="1562100"/>
          </a:xfrm>
          <a:prstGeom prst="rect">
            <a:avLst/>
          </a:prstGeom>
        </p:spPr>
      </p:pic>
      <p:pic>
        <p:nvPicPr>
          <p:cNvPr id="69" name="图片 68"/>
          <p:cNvPicPr>
            <a:picLocks noChangeAspect="1"/>
          </p:cNvPicPr>
          <p:nvPr/>
        </p:nvPicPr>
        <p:blipFill>
          <a:blip r:embed="rId6"/>
          <a:stretch>
            <a:fillRect/>
          </a:stretch>
        </p:blipFill>
        <p:spPr>
          <a:xfrm>
            <a:off x="9305290" y="3325495"/>
            <a:ext cx="1714500" cy="1352550"/>
          </a:xfrm>
          <a:prstGeom prst="rect">
            <a:avLst/>
          </a:prstGeom>
        </p:spPr>
      </p:pic>
      <p:sp>
        <p:nvSpPr>
          <p:cNvPr id="70" name="文本框 69"/>
          <p:cNvSpPr txBox="1"/>
          <p:nvPr/>
        </p:nvSpPr>
        <p:spPr>
          <a:xfrm>
            <a:off x="5143500" y="4890770"/>
            <a:ext cx="1504950" cy="275590"/>
          </a:xfrm>
          <a:prstGeom prst="rect">
            <a:avLst/>
          </a:prstGeom>
          <a:noFill/>
        </p:spPr>
        <p:txBody>
          <a:bodyPr wrap="square" rtlCol="0">
            <a:spAutoFit/>
          </a:bodyPr>
          <a:p>
            <a:endParaRPr lang="zh-CN" altLang="en-US" sz="1200"/>
          </a:p>
        </p:txBody>
      </p:sp>
      <p:sp>
        <p:nvSpPr>
          <p:cNvPr id="72" name="文本框 71"/>
          <p:cNvSpPr txBox="1"/>
          <p:nvPr/>
        </p:nvSpPr>
        <p:spPr>
          <a:xfrm>
            <a:off x="5053965" y="4928235"/>
            <a:ext cx="1594485" cy="706755"/>
          </a:xfrm>
          <a:prstGeom prst="rect">
            <a:avLst/>
          </a:prstGeom>
          <a:noFill/>
        </p:spPr>
        <p:txBody>
          <a:bodyPr wrap="square" rtlCol="0">
            <a:spAutoFit/>
          </a:bodyPr>
          <a:p>
            <a:pPr marL="171450" indent="-171450">
              <a:buFont typeface="Wingdings" panose="05000000000000000000" charset="0"/>
              <a:buChar char="l"/>
            </a:pPr>
            <a:r>
              <a:rPr lang="zh-CN" altLang="en-US" sz="1000"/>
              <a:t>改进2</a:t>
            </a:r>
            <a:r>
              <a:rPr lang="en-US" altLang="zh-CN" sz="1000"/>
              <a:t>D-KDE</a:t>
            </a:r>
            <a:endParaRPr lang="en-US" altLang="zh-CN" sz="1000"/>
          </a:p>
          <a:p>
            <a:pPr marL="171450" indent="-171450">
              <a:buFont typeface="Wingdings" panose="05000000000000000000" charset="0"/>
              <a:buChar char="l"/>
            </a:pPr>
            <a:r>
              <a:rPr lang="zh-CN" altLang="en-US" sz="1000"/>
              <a:t>联合特征函数约束</a:t>
            </a:r>
            <a:endParaRPr lang="zh-CN" altLang="en-US" sz="1000"/>
          </a:p>
          <a:p>
            <a:pPr marL="171450" indent="-171450">
              <a:buFont typeface="Wingdings" panose="05000000000000000000" charset="0"/>
              <a:buChar char="l"/>
            </a:pPr>
            <a:r>
              <a:rPr lang="en-US" altLang="zh-CN" sz="1000"/>
              <a:t>Frobenius</a:t>
            </a:r>
            <a:r>
              <a:rPr lang="zh-CN" altLang="en-US" sz="1000"/>
              <a:t>范数优化带宽</a:t>
            </a:r>
            <a:endParaRPr lang="zh-CN" altLang="en-US" sz="1000"/>
          </a:p>
        </p:txBody>
      </p:sp>
      <p:sp>
        <p:nvSpPr>
          <p:cNvPr id="73" name="文本框 72"/>
          <p:cNvSpPr txBox="1"/>
          <p:nvPr/>
        </p:nvSpPr>
        <p:spPr>
          <a:xfrm>
            <a:off x="7226935" y="4928235"/>
            <a:ext cx="1594485" cy="553085"/>
          </a:xfrm>
          <a:prstGeom prst="rect">
            <a:avLst/>
          </a:prstGeom>
          <a:noFill/>
        </p:spPr>
        <p:txBody>
          <a:bodyPr wrap="square" rtlCol="0">
            <a:spAutoFit/>
          </a:bodyPr>
          <a:p>
            <a:pPr marL="171450" indent="-171450">
              <a:buFont typeface="Wingdings" panose="05000000000000000000" charset="0"/>
              <a:buChar char="l"/>
            </a:pPr>
            <a:r>
              <a:rPr lang="zh-CN" altLang="en-US" sz="1000"/>
              <a:t>额定/极端风况</a:t>
            </a:r>
            <a:endParaRPr lang="zh-CN" altLang="en-US" sz="1000"/>
          </a:p>
          <a:p>
            <a:pPr marL="171450" indent="-171450">
              <a:buFont typeface="Wingdings" panose="05000000000000000000" charset="0"/>
              <a:buChar char="l"/>
            </a:pPr>
            <a:r>
              <a:rPr lang="zh-CN" altLang="en-US" sz="1000"/>
              <a:t>材料与几何非线性</a:t>
            </a:r>
            <a:endParaRPr lang="zh-CN" altLang="en-US" sz="1000"/>
          </a:p>
          <a:p>
            <a:pPr marL="171450" indent="-171450">
              <a:buFont typeface="Wingdings" panose="05000000000000000000" charset="0"/>
              <a:buChar char="l"/>
            </a:pPr>
            <a:r>
              <a:rPr lang="zh-CN" altLang="en-US" sz="1000"/>
              <a:t>塔门方位影响</a:t>
            </a:r>
            <a:endParaRPr lang="zh-CN" altLang="en-US" sz="1000"/>
          </a:p>
        </p:txBody>
      </p:sp>
      <p:sp>
        <p:nvSpPr>
          <p:cNvPr id="74" name="文本框 73"/>
          <p:cNvSpPr txBox="1"/>
          <p:nvPr/>
        </p:nvSpPr>
        <p:spPr>
          <a:xfrm>
            <a:off x="9399905" y="4928235"/>
            <a:ext cx="1594485" cy="553085"/>
          </a:xfrm>
          <a:prstGeom prst="rect">
            <a:avLst/>
          </a:prstGeom>
          <a:noFill/>
        </p:spPr>
        <p:txBody>
          <a:bodyPr wrap="square" rtlCol="0">
            <a:spAutoFit/>
          </a:bodyPr>
          <a:p>
            <a:pPr marL="171450" indent="-171450">
              <a:buFont typeface="Wingdings" panose="05000000000000000000" charset="0"/>
              <a:buChar char="l"/>
            </a:pPr>
            <a:r>
              <a:rPr lang="zh-CN" altLang="en-US" sz="1000"/>
              <a:t>概率风场输入</a:t>
            </a:r>
            <a:endParaRPr lang="zh-CN" altLang="en-US" sz="1000"/>
          </a:p>
          <a:p>
            <a:pPr marL="171450" indent="-171450">
              <a:buFont typeface="Wingdings" panose="05000000000000000000" charset="0"/>
              <a:buChar char="l"/>
            </a:pPr>
            <a:r>
              <a:rPr lang="zh-CN" altLang="en-US" sz="1000"/>
              <a:t>雨流计数+</a:t>
            </a:r>
            <a:r>
              <a:rPr lang="en-US" altLang="zh-CN" sz="1000"/>
              <a:t>S-N</a:t>
            </a:r>
            <a:r>
              <a:rPr lang="zh-CN" altLang="en-US" sz="1000"/>
              <a:t>曲线</a:t>
            </a:r>
            <a:endParaRPr lang="zh-CN" altLang="en-US" sz="1000"/>
          </a:p>
          <a:p>
            <a:pPr marL="171450" indent="-171450">
              <a:buFont typeface="Wingdings" panose="05000000000000000000" charset="0"/>
              <a:buChar char="l"/>
            </a:pPr>
            <a:r>
              <a:rPr lang="zh-CN" altLang="en-US" sz="1000"/>
              <a:t>期望损伤与寿命预测</a:t>
            </a:r>
            <a:endParaRPr lang="zh-CN" altLang="en-US" sz="1000"/>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40/68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6" name="直接连接符 5"/>
          <p:cNvCxnSpPr/>
          <p:nvPr/>
        </p:nvCxnSpPr>
        <p:spPr>
          <a:xfrm flipV="1">
            <a:off x="1126490" y="998855"/>
            <a:ext cx="10490200" cy="8890"/>
          </a:xfrm>
          <a:prstGeom prst="line">
            <a:avLst/>
          </a:prstGeom>
        </p:spPr>
        <p:style>
          <a:lnRef idx="2">
            <a:schemeClr val="accent1"/>
          </a:lnRef>
          <a:fillRef idx="0">
            <a:srgbClr val="FFFFFF"/>
          </a:fillRef>
          <a:effectRef idx="0">
            <a:srgbClr val="FFFFFF"/>
          </a:effectRef>
          <a:fontRef idx="minor">
            <a:schemeClr val="tx1"/>
          </a:fontRef>
        </p:style>
      </p:cxnSp>
      <p:sp>
        <p:nvSpPr>
          <p:cNvPr id="7" name="椭圆 6"/>
          <p:cNvSpPr/>
          <p:nvPr/>
        </p:nvSpPr>
        <p:spPr>
          <a:xfrm>
            <a:off x="532765" y="431165"/>
            <a:ext cx="540385" cy="521970"/>
          </a:xfrm>
          <a:prstGeom prst="ellipse">
            <a:avLst/>
          </a:prstGeom>
          <a:solidFill>
            <a:srgbClr val="3052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b="1">
                <a:latin typeface="黑体" panose="02010609060101010101" charset="-122"/>
                <a:ea typeface="黑体" panose="02010609060101010101" charset="-122"/>
                <a:cs typeface="Arial" panose="020B0604020202020204" pitchFamily="34" charset="0"/>
              </a:rPr>
              <a:t>3</a:t>
            </a:r>
            <a:endParaRPr lang="en-US" altLang="zh-CN" sz="3600" b="1">
              <a:latin typeface="黑体" panose="02010609060101010101" charset="-122"/>
              <a:ea typeface="黑体" panose="02010609060101010101" charset="-122"/>
              <a:cs typeface="Arial" panose="020B0604020202020204" pitchFamily="34" charset="0"/>
            </a:endParaRPr>
          </a:p>
        </p:txBody>
      </p:sp>
      <p:sp>
        <p:nvSpPr>
          <p:cNvPr id="8" name="文本框 7"/>
          <p:cNvSpPr txBox="1"/>
          <p:nvPr/>
        </p:nvSpPr>
        <p:spPr>
          <a:xfrm>
            <a:off x="1073150" y="431165"/>
            <a:ext cx="7393305" cy="568325"/>
          </a:xfrm>
          <a:prstGeom prst="rect">
            <a:avLst/>
          </a:prstGeom>
          <a:noFill/>
        </p:spPr>
        <p:txBody>
          <a:bodyPr wrap="square" rtlCol="0">
            <a:spAutoFit/>
          </a:bodyPr>
          <a:p>
            <a:r>
              <a:rPr lang="zh-CN" altLang="en-US" sz="3100" b="1">
                <a:solidFill>
                  <a:srgbClr val="305296"/>
                </a:solidFill>
                <a:latin typeface="微软雅黑" panose="020B0503020204020204" charset="-122"/>
                <a:ea typeface="微软雅黑" panose="020B0503020204020204" charset="-122"/>
              </a:rPr>
              <a:t>动力响应性能与疲劳寿命评估</a:t>
            </a:r>
            <a:endParaRPr lang="zh-CN" altLang="en-US" sz="3100" b="1">
              <a:solidFill>
                <a:srgbClr val="305296"/>
              </a:solidFill>
              <a:latin typeface="微软雅黑" panose="020B0503020204020204" charset="-122"/>
              <a:ea typeface="微软雅黑" panose="020B0503020204020204" charset="-122"/>
            </a:endParaRPr>
          </a:p>
        </p:txBody>
      </p:sp>
      <p:sp>
        <p:nvSpPr>
          <p:cNvPr id="11" name="文本框 10"/>
          <p:cNvSpPr txBox="1"/>
          <p:nvPr/>
        </p:nvSpPr>
        <p:spPr>
          <a:xfrm>
            <a:off x="777240" y="1219200"/>
            <a:ext cx="7034530" cy="398780"/>
          </a:xfrm>
          <a:prstGeom prst="rect">
            <a:avLst/>
          </a:prstGeom>
          <a:noFill/>
        </p:spPr>
        <p:txBody>
          <a:bodyPr wrap="square" rtlCol="0">
            <a:spAutoFit/>
          </a:bodyPr>
          <a:p>
            <a:pPr marL="342900" indent="-342900" algn="l">
              <a:buFont typeface="Wingdings" panose="05000000000000000000" charset="0"/>
              <a:buChar char="n"/>
            </a:pPr>
            <a:r>
              <a:rPr lang="zh-CN" altLang="en-US" sz="2000" b="1">
                <a:solidFill>
                  <a:schemeClr val="accent1">
                    <a:lumMod val="75000"/>
                  </a:schemeClr>
                </a:solidFill>
                <a:latin typeface="微软雅黑" panose="020B0503020204020204" charset="-122"/>
                <a:ea typeface="微软雅黑" panose="020B0503020204020204" charset="-122"/>
              </a:rPr>
              <a:t>从风场统计特性出发，评估动力响应性能与疲劳寿命</a:t>
            </a:r>
            <a:endParaRPr lang="zh-CN" altLang="en-US" sz="2000" b="1">
              <a:solidFill>
                <a:schemeClr val="accent1">
                  <a:lumMod val="75000"/>
                </a:schemeClr>
              </a:solidFill>
              <a:latin typeface="微软雅黑" panose="020B0503020204020204" charset="-122"/>
              <a:ea typeface="微软雅黑" panose="020B0503020204020204" charset="-122"/>
            </a:endParaRPr>
          </a:p>
        </p:txBody>
      </p:sp>
      <p:sp>
        <p:nvSpPr>
          <p:cNvPr id="5" name="文本框 4"/>
          <p:cNvSpPr txBox="1"/>
          <p:nvPr/>
        </p:nvSpPr>
        <p:spPr>
          <a:xfrm>
            <a:off x="777240" y="2127250"/>
            <a:ext cx="3850005" cy="645160"/>
          </a:xfrm>
          <a:prstGeom prst="rect">
            <a:avLst/>
          </a:prstGeom>
          <a:noFill/>
        </p:spPr>
        <p:txBody>
          <a:bodyPr wrap="square" rtlCol="0" anchor="t">
            <a:spAutoFit/>
          </a:bodyPr>
          <a:p>
            <a:pPr marL="285750" indent="-285750">
              <a:buFont typeface="Wingdings" panose="05000000000000000000" charset="0"/>
              <a:buChar char="l"/>
            </a:pPr>
            <a:r>
              <a:rPr lang="zh-CN" altLang="en-US">
                <a:latin typeface="黑体" panose="02010609060101010101" charset="-122"/>
                <a:ea typeface="黑体" panose="02010609060101010101" charset="-122"/>
                <a:cs typeface="黑体" panose="02010609060101010101" charset="-122"/>
              </a:rPr>
              <a:t>采用</a:t>
            </a:r>
            <a:r>
              <a:rPr lang="zh-CN" altLang="en-US">
                <a:solidFill>
                  <a:schemeClr val="accent1">
                    <a:lumMod val="75000"/>
                  </a:schemeClr>
                </a:solidFill>
                <a:latin typeface="黑体" panose="02010609060101010101" charset="-122"/>
                <a:ea typeface="黑体" panose="02010609060101010101" charset="-122"/>
                <a:cs typeface="黑体" panose="02010609060101010101" charset="-122"/>
              </a:rPr>
              <a:t>改进核密度估计（</a:t>
            </a:r>
            <a:r>
              <a:rPr lang="en-US" altLang="zh-CN">
                <a:solidFill>
                  <a:schemeClr val="accent1">
                    <a:lumMod val="75000"/>
                  </a:schemeClr>
                </a:solidFill>
                <a:latin typeface="黑体" panose="02010609060101010101" charset="-122"/>
                <a:ea typeface="黑体" panose="02010609060101010101" charset="-122"/>
                <a:cs typeface="黑体" panose="02010609060101010101" charset="-122"/>
              </a:rPr>
              <a:t>KDE</a:t>
            </a:r>
            <a:r>
              <a:rPr lang="zh-CN" altLang="en-US">
                <a:solidFill>
                  <a:schemeClr val="accent1">
                    <a:lumMod val="75000"/>
                  </a:schemeClr>
                </a:solidFill>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重构“风速-风向”联合分布。</a:t>
            </a:r>
            <a:endParaRPr lang="zh-CN" altLang="en-US">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776605" y="2851150"/>
            <a:ext cx="3754120" cy="368300"/>
          </a:xfrm>
          <a:prstGeom prst="rect">
            <a:avLst/>
          </a:prstGeom>
          <a:noFill/>
        </p:spPr>
        <p:txBody>
          <a:bodyPr wrap="square" rtlCol="0" anchor="t">
            <a:spAutoFit/>
          </a:bodyPr>
          <a:p>
            <a:pPr marL="285750" indent="-285750">
              <a:buFont typeface="Wingdings" panose="05000000000000000000" charset="0"/>
              <a:buChar char="l"/>
            </a:pPr>
            <a:r>
              <a:rPr lang="zh-CN" altLang="en-US" sz="1800">
                <a:latin typeface="黑体" panose="02010609060101010101" charset="-122"/>
                <a:ea typeface="黑体" panose="02010609060101010101" charset="-122"/>
                <a:cs typeface="黑体" panose="02010609060101010101" charset="-122"/>
              </a:rPr>
              <a:t>建立</a:t>
            </a:r>
            <a:r>
              <a:rPr lang="zh-CN" altLang="en-US" sz="1800">
                <a:solidFill>
                  <a:schemeClr val="accent1">
                    <a:lumMod val="75000"/>
                  </a:schemeClr>
                </a:solidFill>
                <a:latin typeface="黑体" panose="02010609060101010101" charset="-122"/>
                <a:ea typeface="黑体" panose="02010609060101010101" charset="-122"/>
                <a:cs typeface="黑体" panose="02010609060101010101" charset="-122"/>
              </a:rPr>
              <a:t>一体化非线性联合仿真模型</a:t>
            </a:r>
            <a:r>
              <a:rPr lang="zh-CN" altLang="en-US" sz="1800" b="1">
                <a:latin typeface="黑体" panose="02010609060101010101" charset="-122"/>
                <a:ea typeface="黑体" panose="02010609060101010101" charset="-122"/>
                <a:cs typeface="黑体" panose="02010609060101010101" charset="-122"/>
              </a:rPr>
              <a:t>。</a:t>
            </a:r>
            <a:endParaRPr lang="zh-CN" altLang="en-US" sz="1800">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77240" y="3298190"/>
            <a:ext cx="3753485" cy="645160"/>
          </a:xfrm>
          <a:prstGeom prst="rect">
            <a:avLst/>
          </a:prstGeom>
          <a:noFill/>
        </p:spPr>
        <p:txBody>
          <a:bodyPr wrap="square" rtlCol="0" anchor="t">
            <a:spAutoFit/>
          </a:bodyPr>
          <a:p>
            <a:pPr marL="285750" indent="-285750">
              <a:buFont typeface="Wingdings" panose="05000000000000000000" charset="0"/>
              <a:buChar char="l"/>
            </a:pPr>
            <a:r>
              <a:rPr lang="zh-CN" altLang="en-US" sz="1800">
                <a:latin typeface="黑体" panose="02010609060101010101" charset="-122"/>
                <a:ea typeface="黑体" panose="02010609060101010101" charset="-122"/>
                <a:cs typeface="黑体" panose="02010609060101010101" charset="-122"/>
              </a:rPr>
              <a:t>基于重构风况样本进行时域仿真，并</a:t>
            </a:r>
            <a:r>
              <a:rPr lang="zh-CN" altLang="en-US" sz="1800">
                <a:solidFill>
                  <a:schemeClr val="accent1">
                    <a:lumMod val="75000"/>
                  </a:schemeClr>
                </a:solidFill>
                <a:latin typeface="黑体" panose="02010609060101010101" charset="-122"/>
                <a:ea typeface="黑体" panose="02010609060101010101" charset="-122"/>
                <a:cs typeface="黑体" panose="02010609060101010101" charset="-122"/>
              </a:rPr>
              <a:t>提取混塔应力时程。</a:t>
            </a:r>
            <a:endParaRPr lang="zh-CN" altLang="en-US" sz="1800">
              <a:solidFill>
                <a:schemeClr val="accent1">
                  <a:lumMod val="75000"/>
                </a:schemeClr>
              </a:solidFill>
              <a:latin typeface="黑体" panose="02010609060101010101" charset="-122"/>
              <a:ea typeface="黑体" panose="02010609060101010101" charset="-122"/>
              <a:cs typeface="黑体" panose="02010609060101010101" charset="-122"/>
            </a:endParaRPr>
          </a:p>
        </p:txBody>
      </p:sp>
      <p:sp>
        <p:nvSpPr>
          <p:cNvPr id="18" name="文本框 17"/>
          <p:cNvSpPr txBox="1"/>
          <p:nvPr/>
        </p:nvSpPr>
        <p:spPr>
          <a:xfrm>
            <a:off x="668655" y="4097655"/>
            <a:ext cx="3861435" cy="922020"/>
          </a:xfrm>
          <a:prstGeom prst="rect">
            <a:avLst/>
          </a:prstGeom>
          <a:noFill/>
        </p:spPr>
        <p:txBody>
          <a:bodyPr wrap="square" rtlCol="0" anchor="t">
            <a:spAutoFit/>
          </a:bodyPr>
          <a:p>
            <a:pPr marL="285750" indent="-285750">
              <a:buFont typeface="Wingdings" panose="05000000000000000000" charset="0"/>
              <a:buChar char="l"/>
            </a:pPr>
            <a:r>
              <a:rPr lang="zh-CN" altLang="en-US" sz="1800">
                <a:latin typeface="黑体" panose="02010609060101010101" charset="-122"/>
                <a:ea typeface="黑体" panose="02010609060101010101" charset="-122"/>
                <a:cs typeface="黑体" panose="02010609060101010101" charset="-122"/>
              </a:rPr>
              <a:t>基于</a:t>
            </a:r>
            <a:r>
              <a:rPr lang="zh-CN" altLang="en-US" sz="1800">
                <a:solidFill>
                  <a:schemeClr val="accent1">
                    <a:lumMod val="75000"/>
                  </a:schemeClr>
                </a:solidFill>
                <a:latin typeface="黑体" panose="02010609060101010101" charset="-122"/>
                <a:ea typeface="黑体" panose="02010609060101010101" charset="-122"/>
                <a:cs typeface="黑体" panose="02010609060101010101" charset="-122"/>
              </a:rPr>
              <a:t>雨流计数法与Miner线性累计损伤准则</a:t>
            </a:r>
            <a:r>
              <a:rPr lang="zh-CN" altLang="en-US" sz="1800">
                <a:latin typeface="黑体" panose="02010609060101010101" charset="-122"/>
                <a:ea typeface="黑体" panose="02010609060101010101" charset="-122"/>
                <a:cs typeface="黑体" panose="02010609060101010101" charset="-122"/>
              </a:rPr>
              <a:t>，计算混塔全局损伤与疲劳寿命分布。</a:t>
            </a:r>
            <a:endParaRPr lang="zh-CN" altLang="en-US" sz="1800">
              <a:latin typeface="黑体" panose="02010609060101010101" charset="-122"/>
              <a:ea typeface="黑体" panose="02010609060101010101" charset="-122"/>
              <a:cs typeface="黑体" panose="02010609060101010101" charset="-122"/>
            </a:endParaRPr>
          </a:p>
        </p:txBody>
      </p:sp>
      <p:sp>
        <p:nvSpPr>
          <p:cNvPr id="23" name="流程图: 过程 22"/>
          <p:cNvSpPr/>
          <p:nvPr>
            <p:custDataLst>
              <p:tags r:id="rId1"/>
            </p:custDataLst>
          </p:nvPr>
        </p:nvSpPr>
        <p:spPr>
          <a:xfrm>
            <a:off x="668655" y="1884045"/>
            <a:ext cx="3958590" cy="3387090"/>
          </a:xfrm>
          <a:prstGeom prst="flowChartProcess">
            <a:avLst/>
          </a:prstGeom>
          <a:noFill/>
          <a:ln w="12700" cap="rnd" cmpd="sng">
            <a:solidFill>
              <a:schemeClr val="tx1">
                <a:lumMod val="95000"/>
                <a:lumOff val="5000"/>
              </a:schemeClr>
            </a:solidFill>
            <a:prstDash val="lg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nvPicPr>
        <p:blipFill>
          <a:blip r:embed="rId2"/>
          <a:stretch>
            <a:fillRect/>
          </a:stretch>
        </p:blipFill>
        <p:spPr>
          <a:xfrm>
            <a:off x="5194935" y="1617980"/>
            <a:ext cx="5899150" cy="4054475"/>
          </a:xfrm>
          <a:prstGeom prst="rect">
            <a:avLst/>
          </a:prstGeom>
        </p:spPr>
      </p:pic>
      <p:sp>
        <p:nvSpPr>
          <p:cNvPr id="12" name="文本框 11"/>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41/68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E657119C-6982-421D-8BA7-E74DEB70A7D9-1" descr="C:/Users/戴琼/AppData/Local/Temp/wpp.tQCAIYwpp"/>
          <p:cNvPicPr>
            <a:picLocks noChangeAspect="1"/>
          </p:cNvPicPr>
          <p:nvPr/>
        </p:nvPicPr>
        <p:blipFill>
          <a:blip r:embed="rId1"/>
          <a:stretch>
            <a:fillRect/>
          </a:stretch>
        </p:blipFill>
        <p:spPr>
          <a:xfrm>
            <a:off x="5850255" y="1677988"/>
            <a:ext cx="4486275" cy="3235960"/>
          </a:xfrm>
          <a:prstGeom prst="rect">
            <a:avLst/>
          </a:prstGeom>
        </p:spPr>
      </p:pic>
      <p:sp>
        <p:nvSpPr>
          <p:cNvPr id="17" name="圆角矩形 16"/>
          <p:cNvSpPr/>
          <p:nvPr/>
        </p:nvSpPr>
        <p:spPr>
          <a:xfrm>
            <a:off x="5849620" y="4857750"/>
            <a:ext cx="2808605" cy="1085850"/>
          </a:xfrm>
          <a:prstGeom prst="roundRect">
            <a:avLst/>
          </a:prstGeom>
          <a:noFill/>
          <a:ln>
            <a:solidFill>
              <a:srgbClr val="9B9CA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12"/>
          <p:cNvSpPr/>
          <p:nvPr/>
        </p:nvSpPr>
        <p:spPr>
          <a:xfrm>
            <a:off x="971550" y="1152525"/>
            <a:ext cx="9696450" cy="333375"/>
          </a:xfrm>
          <a:prstGeom prst="rect">
            <a:avLst/>
          </a:prstGeom>
          <a:noFill/>
          <a:ln w="0" cap="flat">
            <a:noFill/>
            <a:prstDash val="solid"/>
            <a:miter lim="0"/>
          </a:ln>
        </p:spPr>
        <p:txBody>
          <a:bodyPr vert="horz" wrap="none" lIns="0" tIns="0" rIns="0" bIns="0"/>
          <a:p>
            <a:pPr marL="428625" indent="-400050" algn="l" rtl="0" eaLnBrk="0">
              <a:buChar char="■"/>
            </a:pPr>
            <a:r>
              <a:rPr sz="2200" b="1" kern="0" spc="0" dirty="0">
                <a:solidFill>
                  <a:srgbClr val="3D5773">
                    <a:alpha val="100000"/>
                  </a:srgbClr>
                </a:solidFill>
                <a:latin typeface="微软雅黑" panose="020B0503020204020204" charset="-122"/>
                <a:ea typeface="微软雅黑" panose="020B0503020204020204" charset="-122"/>
                <a:cs typeface="微软雅黑" panose="020B0503020204020204" charset="-122"/>
              </a:rPr>
              <a:t>常规核密度估计（</a:t>
            </a:r>
            <a:r>
              <a:rPr sz="2200" b="1" kern="0" spc="0" dirty="0">
                <a:solidFill>
                  <a:srgbClr val="3D5773">
                    <a:alpha val="100000"/>
                  </a:srgbClr>
                </a:solidFill>
                <a:latin typeface="Times New Roman" panose="02020603050405020304"/>
                <a:ea typeface="Times New Roman" panose="02020603050405020304"/>
                <a:cs typeface="Times New Roman" panose="02020603050405020304"/>
              </a:rPr>
              <a:t>KDE</a:t>
            </a:r>
            <a:r>
              <a:rPr sz="2200" b="1" kern="0" spc="0" dirty="0">
                <a:solidFill>
                  <a:srgbClr val="3D5773">
                    <a:alpha val="100000"/>
                  </a:srgbClr>
                </a:solidFill>
                <a:latin typeface="微软雅黑" panose="020B0503020204020204" charset="-122"/>
                <a:ea typeface="微软雅黑" panose="020B0503020204020204" charset="-122"/>
                <a:cs typeface="微软雅黑" panose="020B0503020204020204" charset="-122"/>
              </a:rPr>
              <a:t>）方法对带宽选择敏感，容易产生欠拟合或过平滑</a:t>
            </a:r>
            <a:endParaRPr sz="2200" dirty="0"/>
          </a:p>
        </p:txBody>
      </p:sp>
      <p:sp>
        <p:nvSpPr>
          <p:cNvPr id="14" name="textbox 14"/>
          <p:cNvSpPr/>
          <p:nvPr/>
        </p:nvSpPr>
        <p:spPr>
          <a:xfrm>
            <a:off x="2933700" y="1562100"/>
            <a:ext cx="733425" cy="200025"/>
          </a:xfrm>
          <a:prstGeom prst="rect">
            <a:avLst/>
          </a:prstGeom>
          <a:noFill/>
          <a:ln w="0" cap="flat">
            <a:noFill/>
            <a:prstDash val="solid"/>
            <a:miter lim="0"/>
          </a:ln>
        </p:spPr>
        <p:txBody>
          <a:bodyPr vert="horz" wrap="none" lIns="0" tIns="0" rIns="0" bIns="0"/>
          <a:p>
            <a:pPr algn="l" rtl="0" eaLnBrk="0"/>
            <a:r>
              <a:rPr sz="1300" b="1" kern="0" spc="0" dirty="0">
                <a:solidFill>
                  <a:srgbClr val="FFFFFF">
                    <a:alpha val="100000"/>
                  </a:srgbClr>
                </a:solidFill>
                <a:latin typeface="微软雅黑" panose="020B0503020204020204" charset="-122"/>
                <a:ea typeface="微软雅黑" panose="020B0503020204020204" charset="-122"/>
                <a:cs typeface="黑体" panose="02010609060101010101" charset="-122"/>
              </a:rPr>
              <a:t>理论基础</a:t>
            </a:r>
            <a:endParaRPr sz="1300" dirty="0">
              <a:latin typeface="微软雅黑" panose="020B0503020204020204" charset="-122"/>
              <a:ea typeface="微软雅黑" panose="020B0503020204020204" charset="-122"/>
            </a:endParaRPr>
          </a:p>
        </p:txBody>
      </p:sp>
      <p:sp>
        <p:nvSpPr>
          <p:cNvPr id="16" name="textbox 16"/>
          <p:cNvSpPr/>
          <p:nvPr/>
        </p:nvSpPr>
        <p:spPr>
          <a:xfrm>
            <a:off x="7953375" y="1562100"/>
            <a:ext cx="1066800" cy="209550"/>
          </a:xfrm>
          <a:prstGeom prst="rect">
            <a:avLst/>
          </a:prstGeom>
          <a:noFill/>
          <a:ln w="0" cap="flat">
            <a:noFill/>
            <a:prstDash val="solid"/>
            <a:miter lim="0"/>
          </a:ln>
        </p:spPr>
        <p:txBody>
          <a:bodyPr vert="horz" wrap="none" lIns="0" tIns="0" rIns="0" bIns="0"/>
          <a:p>
            <a:pPr algn="l" rtl="0" eaLnBrk="0"/>
            <a:r>
              <a:rPr sz="1300" b="1" kern="0" spc="0" dirty="0">
                <a:solidFill>
                  <a:srgbClr val="FFFFFF">
                    <a:alpha val="100000"/>
                  </a:srgbClr>
                </a:solidFill>
                <a:latin typeface="微软雅黑" panose="020B0503020204020204" charset="-122"/>
                <a:ea typeface="微软雅黑" panose="020B0503020204020204" charset="-122"/>
                <a:cs typeface="黑体" panose="02010609060101010101" charset="-122"/>
              </a:rPr>
              <a:t>带宽优化思路</a:t>
            </a:r>
            <a:endParaRPr sz="1300" dirty="0">
              <a:latin typeface="微软雅黑" panose="020B0503020204020204" charset="-122"/>
              <a:ea typeface="微软雅黑" panose="020B0503020204020204" charset="-122"/>
            </a:endParaRPr>
          </a:p>
        </p:txBody>
      </p:sp>
      <p:sp>
        <p:nvSpPr>
          <p:cNvPr id="18" name="textbox 18"/>
          <p:cNvSpPr/>
          <p:nvPr/>
        </p:nvSpPr>
        <p:spPr>
          <a:xfrm>
            <a:off x="971550" y="1866900"/>
            <a:ext cx="4657725" cy="409575"/>
          </a:xfrm>
          <a:prstGeom prst="rect">
            <a:avLst/>
          </a:prstGeom>
          <a:noFill/>
          <a:ln w="0" cap="flat">
            <a:noFill/>
            <a:prstDash val="solid"/>
            <a:miter lim="0"/>
          </a:ln>
        </p:spPr>
        <p:txBody>
          <a:bodyPr vert="horz" wrap="none" lIns="0" tIns="0" rIns="0" bIns="0"/>
          <a:p>
            <a:pPr marL="209550" indent="-180975" algn="l" rtl="0" eaLnBrk="0">
              <a:buChar char="•"/>
            </a:pPr>
            <a:r>
              <a:rPr lang="en-US" altLang="zh-CN" sz="1100" b="1" dirty="0">
                <a:latin typeface="微软雅黑" panose="020B0503020204020204" charset="-122"/>
                <a:ea typeface="微软雅黑" panose="020B0503020204020204" charset="-122"/>
                <a:cs typeface="微软雅黑" panose="020B0503020204020204" charset="-122"/>
              </a:rPr>
              <a:t>2D-KDE</a:t>
            </a:r>
            <a:r>
              <a:rPr lang="zh-CN" altLang="en-US" sz="1100" b="1" dirty="0">
                <a:latin typeface="微软雅黑" panose="020B0503020204020204" charset="-122"/>
                <a:ea typeface="微软雅黑" panose="020B0503020204020204" charset="-122"/>
                <a:cs typeface="微软雅黑" panose="020B0503020204020204" charset="-122"/>
              </a:rPr>
              <a:t>用于对风速-风向双变量随机向量进行</a:t>
            </a:r>
            <a:r>
              <a:rPr lang="zh-CN" altLang="en-US" sz="1100" b="1" dirty="0">
                <a:solidFill>
                  <a:srgbClr val="FF0000"/>
                </a:solidFill>
                <a:latin typeface="微软雅黑" panose="020B0503020204020204" charset="-122"/>
                <a:ea typeface="微软雅黑" panose="020B0503020204020204" charset="-122"/>
                <a:cs typeface="微软雅黑" panose="020B0503020204020204" charset="-122"/>
              </a:rPr>
              <a:t>概率建模</a:t>
            </a:r>
            <a:r>
              <a:rPr lang="zh-CN" altLang="en-US" sz="1100" b="1" dirty="0">
                <a:latin typeface="微软雅黑" panose="020B0503020204020204" charset="-122"/>
                <a:ea typeface="微软雅黑" panose="020B0503020204020204" charset="-122"/>
                <a:cs typeface="微软雅黑" panose="020B0503020204020204" charset="-122"/>
              </a:rPr>
              <a:t>，可描述复杂</a:t>
            </a:r>
            <a:endParaRPr lang="zh-CN" altLang="en-US" sz="1100" b="1" dirty="0">
              <a:latin typeface="微软雅黑" panose="020B0503020204020204" charset="-122"/>
              <a:ea typeface="微软雅黑" panose="020B0503020204020204" charset="-122"/>
              <a:cs typeface="微软雅黑" panose="020B0503020204020204" charset="-122"/>
            </a:endParaRPr>
          </a:p>
          <a:p>
            <a:pPr marL="28575" indent="0" algn="l" rtl="0" eaLnBrk="0">
              <a:buNone/>
            </a:pPr>
            <a:r>
              <a:rPr lang="en-US" altLang="zh-CN" sz="1100" b="1" dirty="0">
                <a:latin typeface="微软雅黑" panose="020B0503020204020204" charset="-122"/>
                <a:ea typeface="微软雅黑" panose="020B0503020204020204" charset="-122"/>
                <a:cs typeface="微软雅黑" panose="020B0503020204020204" charset="-122"/>
              </a:rPr>
              <a:t>    </a:t>
            </a:r>
            <a:r>
              <a:rPr lang="zh-CN" altLang="en-US" sz="1100" b="1" dirty="0">
                <a:latin typeface="微软雅黑" panose="020B0503020204020204" charset="-122"/>
                <a:ea typeface="微软雅黑" panose="020B0503020204020204" charset="-122"/>
                <a:cs typeface="微软雅黑" panose="020B0503020204020204" charset="-122"/>
              </a:rPr>
              <a:t>联合分布特征</a:t>
            </a:r>
            <a:r>
              <a:rPr lang="zh-CN" altLang="en-US" sz="1100" dirty="0">
                <a:latin typeface="微软雅黑" panose="020B0503020204020204" charset="-122"/>
                <a:ea typeface="微软雅黑" panose="020B0503020204020204" charset="-122"/>
                <a:cs typeface="微软雅黑" panose="020B0503020204020204" charset="-122"/>
              </a:rPr>
              <a:t>。</a:t>
            </a:r>
            <a:endParaRPr sz="1100" dirty="0">
              <a:latin typeface="微软雅黑" panose="020B0503020204020204" charset="-122"/>
              <a:ea typeface="微软雅黑" panose="020B0503020204020204" charset="-122"/>
              <a:cs typeface="微软雅黑" panose="020B0503020204020204" charset="-122"/>
            </a:endParaRPr>
          </a:p>
        </p:txBody>
      </p:sp>
      <p:sp>
        <p:nvSpPr>
          <p:cNvPr id="20" name="textbox 20"/>
          <p:cNvSpPr/>
          <p:nvPr/>
        </p:nvSpPr>
        <p:spPr>
          <a:xfrm>
            <a:off x="971550" y="2324100"/>
            <a:ext cx="4657725" cy="419100"/>
          </a:xfrm>
          <a:prstGeom prst="rect">
            <a:avLst/>
          </a:prstGeom>
          <a:noFill/>
          <a:ln w="0" cap="flat">
            <a:noFill/>
            <a:prstDash val="solid"/>
            <a:miter lim="0"/>
          </a:ln>
        </p:spPr>
        <p:txBody>
          <a:bodyPr vert="horz" wrap="none" lIns="0" tIns="0" rIns="0" bIns="0"/>
          <a:p>
            <a:pPr marL="209550" indent="-180975" algn="l" rtl="0" eaLnBrk="0">
              <a:buChar char="•"/>
            </a:pPr>
            <a:r>
              <a:rPr lang="en-US" altLang="zh-CN" sz="1100" b="1" dirty="0">
                <a:latin typeface="微软雅黑" panose="020B0503020204020204" charset="-122"/>
                <a:ea typeface="微软雅黑" panose="020B0503020204020204" charset="-122"/>
                <a:cs typeface="微软雅黑" panose="020B0503020204020204" charset="-122"/>
              </a:rPr>
              <a:t>采用二维、非相关、</a:t>
            </a:r>
            <a:r>
              <a:rPr lang="en-US" altLang="zh-CN" sz="1100" b="1" dirty="0">
                <a:solidFill>
                  <a:srgbClr val="FF0000"/>
                </a:solidFill>
                <a:latin typeface="微软雅黑" panose="020B0503020204020204" charset="-122"/>
                <a:ea typeface="微软雅黑" panose="020B0503020204020204" charset="-122"/>
                <a:cs typeface="微软雅黑" panose="020B0503020204020204" charset="-122"/>
              </a:rPr>
              <a:t>各向异性高斯核函数</a:t>
            </a:r>
            <a:r>
              <a:rPr lang="en-US" altLang="zh-CN" sz="1100" b="1" dirty="0">
                <a:latin typeface="微软雅黑" panose="020B0503020204020204" charset="-122"/>
                <a:ea typeface="微软雅黑" panose="020B0503020204020204" charset="-122"/>
                <a:cs typeface="微软雅黑" panose="020B0503020204020204" charset="-122"/>
              </a:rPr>
              <a:t>，分别以 hx 与 hy 控制两个</a:t>
            </a:r>
            <a:endParaRPr lang="en-US" altLang="zh-CN" sz="1100" b="1" dirty="0">
              <a:latin typeface="微软雅黑" panose="020B0503020204020204" charset="-122"/>
              <a:ea typeface="微软雅黑" panose="020B0503020204020204" charset="-122"/>
              <a:cs typeface="微软雅黑" panose="020B0503020204020204" charset="-122"/>
            </a:endParaRPr>
          </a:p>
          <a:p>
            <a:pPr marL="28575" indent="0" algn="l" rtl="0" eaLnBrk="0">
              <a:buNone/>
            </a:pPr>
            <a:r>
              <a:rPr lang="en-US" altLang="zh-CN" sz="1100" b="1" dirty="0">
                <a:latin typeface="微软雅黑" panose="020B0503020204020204" charset="-122"/>
                <a:ea typeface="微软雅黑" panose="020B0503020204020204" charset="-122"/>
                <a:cs typeface="微软雅黑" panose="020B0503020204020204" charset="-122"/>
              </a:rPr>
              <a:t>    方向上的平滑尺度。</a:t>
            </a:r>
            <a:endParaRPr lang="en-US" altLang="zh-CN" sz="1200" b="1" dirty="0">
              <a:latin typeface="微软雅黑" panose="020B0503020204020204" charset="-122"/>
              <a:ea typeface="微软雅黑" panose="020B0503020204020204" charset="-122"/>
              <a:cs typeface="微软雅黑" panose="020B0503020204020204" charset="-122"/>
            </a:endParaRPr>
          </a:p>
          <a:p>
            <a:pPr marL="209550" indent="-180975" algn="l" rtl="0" eaLnBrk="0">
              <a:buChar char="•"/>
            </a:pPr>
            <a:endParaRPr lang="zh-CN" altLang="en-US" sz="1200" b="1" dirty="0"/>
          </a:p>
        </p:txBody>
      </p:sp>
      <p:sp>
        <p:nvSpPr>
          <p:cNvPr id="22" name="textbox 22"/>
          <p:cNvSpPr/>
          <p:nvPr/>
        </p:nvSpPr>
        <p:spPr>
          <a:xfrm>
            <a:off x="971550" y="2781300"/>
            <a:ext cx="4657725" cy="419100"/>
          </a:xfrm>
          <a:prstGeom prst="rect">
            <a:avLst/>
          </a:prstGeom>
          <a:noFill/>
          <a:ln w="0" cap="flat">
            <a:noFill/>
            <a:prstDash val="solid"/>
            <a:miter lim="0"/>
          </a:ln>
        </p:spPr>
        <p:txBody>
          <a:bodyPr vert="horz" wrap="none" lIns="0" tIns="0" rIns="0" bIns="0"/>
          <a:p>
            <a:pPr marL="209550" indent="-180975" algn="l" rtl="0" eaLnBrk="0">
              <a:buChar char="•"/>
            </a:pPr>
            <a:r>
              <a:rPr lang="en-US" altLang="zh-CN" sz="1100" b="1" dirty="0">
                <a:latin typeface="微软雅黑" panose="020B0503020204020204" charset="-122"/>
                <a:ea typeface="微软雅黑" panose="020B0503020204020204" charset="-122"/>
                <a:cs typeface="微软雅黑" panose="020B0503020204020204" charset="-122"/>
              </a:rPr>
              <a:t>联合特征函数可将联合概率密度映射到</a:t>
            </a:r>
            <a:r>
              <a:rPr lang="en-US" altLang="zh-CN" sz="1100" b="1" dirty="0">
                <a:solidFill>
                  <a:srgbClr val="FF0000"/>
                </a:solidFill>
                <a:latin typeface="微软雅黑" panose="020B0503020204020204" charset="-122"/>
                <a:ea typeface="微软雅黑" panose="020B0503020204020204" charset="-122"/>
                <a:cs typeface="微软雅黑" panose="020B0503020204020204" charset="-122"/>
              </a:rPr>
              <a:t>频域</a:t>
            </a:r>
            <a:r>
              <a:rPr lang="en-US" altLang="zh-CN" sz="1100" b="1" dirty="0">
                <a:latin typeface="微软雅黑" panose="020B0503020204020204" charset="-122"/>
                <a:ea typeface="微软雅黑" panose="020B0503020204020204" charset="-122"/>
                <a:cs typeface="微软雅黑" panose="020B0503020204020204" charset="-122"/>
              </a:rPr>
              <a:t>，为带宽优化提供统一的</a:t>
            </a:r>
            <a:endParaRPr lang="en-US" altLang="zh-CN" sz="1100" b="1" dirty="0">
              <a:latin typeface="微软雅黑" panose="020B0503020204020204" charset="-122"/>
              <a:ea typeface="微软雅黑" panose="020B0503020204020204" charset="-122"/>
              <a:cs typeface="微软雅黑" panose="020B0503020204020204" charset="-122"/>
            </a:endParaRPr>
          </a:p>
          <a:p>
            <a:pPr marL="28575" indent="0" algn="l" rtl="0" eaLnBrk="0">
              <a:buNone/>
            </a:pPr>
            <a:r>
              <a:rPr lang="en-US" altLang="zh-CN" sz="1100" b="1" dirty="0">
                <a:latin typeface="微软雅黑" panose="020B0503020204020204" charset="-122"/>
                <a:ea typeface="微软雅黑" panose="020B0503020204020204" charset="-122"/>
                <a:cs typeface="微软雅黑" panose="020B0503020204020204" charset="-122"/>
              </a:rPr>
              <a:t>    误差度量基础。</a:t>
            </a:r>
            <a:endParaRPr lang="en-US" altLang="zh-CN" sz="1100" b="1" dirty="0">
              <a:latin typeface="微软雅黑" panose="020B0503020204020204" charset="-122"/>
              <a:ea typeface="微软雅黑" panose="020B0503020204020204" charset="-122"/>
              <a:cs typeface="微软雅黑" panose="020B0503020204020204" charset="-122"/>
            </a:endParaRPr>
          </a:p>
          <a:p>
            <a:pPr marL="209550" indent="-180975" algn="l" rtl="0" eaLnBrk="0">
              <a:buChar char="•"/>
            </a:pPr>
            <a:endParaRPr lang="zh-CN" altLang="en-US" sz="1100" dirty="0"/>
          </a:p>
        </p:txBody>
      </p:sp>
      <p:sp>
        <p:nvSpPr>
          <p:cNvPr id="24" name="textbox 24"/>
          <p:cNvSpPr/>
          <p:nvPr/>
        </p:nvSpPr>
        <p:spPr>
          <a:xfrm>
            <a:off x="971550" y="3238500"/>
            <a:ext cx="4657725" cy="409575"/>
          </a:xfrm>
          <a:prstGeom prst="rect">
            <a:avLst/>
          </a:prstGeom>
          <a:noFill/>
          <a:ln w="0" cap="flat">
            <a:noFill/>
            <a:prstDash val="solid"/>
            <a:miter lim="0"/>
          </a:ln>
        </p:spPr>
        <p:txBody>
          <a:bodyPr vert="horz" wrap="none" lIns="0" tIns="0" rIns="0" bIns="0"/>
          <a:p>
            <a:pPr marL="209550" indent="-190500" algn="l" rtl="0" eaLnBrk="0">
              <a:buChar char="•"/>
            </a:pPr>
            <a:r>
              <a:rPr lang="en-US" altLang="zh-CN" sz="1100" b="1" spc="0" dirty="0">
                <a:latin typeface="微软雅黑" panose="020B0503020204020204" charset="-122"/>
                <a:ea typeface="微软雅黑" panose="020B0503020204020204" charset="-122"/>
                <a:cs typeface="微软雅黑" panose="020B0503020204020204" charset="-122"/>
              </a:rPr>
              <a:t>通过</a:t>
            </a:r>
            <a:r>
              <a:rPr lang="en-US" altLang="zh-CN" sz="1100" b="1" spc="0" dirty="0">
                <a:solidFill>
                  <a:srgbClr val="FF0000"/>
                </a:solidFill>
                <a:latin typeface="微软雅黑" panose="020B0503020204020204" charset="-122"/>
                <a:ea typeface="微软雅黑" panose="020B0503020204020204" charset="-122"/>
                <a:cs typeface="微软雅黑" panose="020B0503020204020204" charset="-122"/>
              </a:rPr>
              <a:t>最小化</a:t>
            </a:r>
            <a:r>
              <a:rPr lang="en-US" altLang="zh-CN" sz="1100" b="1" spc="0" dirty="0">
                <a:latin typeface="微软雅黑" panose="020B0503020204020204" charset="-122"/>
                <a:ea typeface="微软雅黑" panose="020B0503020204020204" charset="-122"/>
                <a:cs typeface="微软雅黑" panose="020B0503020204020204" charset="-122"/>
              </a:rPr>
              <a:t>解析联合特征函数与经验联合特征函数之间的</a:t>
            </a:r>
            <a:r>
              <a:rPr lang="en-US" altLang="zh-CN" sz="1100" b="1" spc="0" dirty="0">
                <a:solidFill>
                  <a:srgbClr val="FF0000"/>
                </a:solidFill>
                <a:latin typeface="微软雅黑" panose="020B0503020204020204" charset="-122"/>
                <a:ea typeface="微软雅黑" panose="020B0503020204020204" charset="-122"/>
                <a:cs typeface="微软雅黑" panose="020B0503020204020204" charset="-122"/>
              </a:rPr>
              <a:t>Frobenius</a:t>
            </a:r>
            <a:endParaRPr lang="en-US" altLang="zh-CN" sz="1100" b="1" dirty="0">
              <a:latin typeface="微软雅黑" panose="020B0503020204020204" charset="-122"/>
              <a:ea typeface="微软雅黑" panose="020B0503020204020204" charset="-122"/>
              <a:cs typeface="微软雅黑" panose="020B0503020204020204" charset="-122"/>
            </a:endParaRPr>
          </a:p>
          <a:p>
            <a:pPr marL="171450" algn="l" rtl="0" eaLnBrk="0">
              <a:spcBef>
                <a:spcPts val="375"/>
              </a:spcBef>
            </a:pPr>
            <a:r>
              <a:rPr lang="en-US" altLang="zh-CN" sz="1100" b="1" spc="0" dirty="0">
                <a:solidFill>
                  <a:srgbClr val="FF0000"/>
                </a:solidFill>
                <a:latin typeface="微软雅黑" panose="020B0503020204020204" charset="-122"/>
                <a:ea typeface="微软雅黑" panose="020B0503020204020204" charset="-122"/>
                <a:cs typeface="微软雅黑" panose="020B0503020204020204" charset="-122"/>
              </a:rPr>
              <a:t> 范数误差</a:t>
            </a:r>
            <a:r>
              <a:rPr lang="en-US" altLang="zh-CN" sz="1100" b="1" spc="0" dirty="0">
                <a:latin typeface="微软雅黑" panose="020B0503020204020204" charset="-122"/>
                <a:ea typeface="微软雅黑" panose="020B0503020204020204" charset="-122"/>
                <a:cs typeface="微软雅黑" panose="020B0503020204020204" charset="-122"/>
              </a:rPr>
              <a:t>，获得最优带宽。</a:t>
            </a:r>
            <a:endParaRPr lang="en-US" altLang="zh-CN" sz="1100" b="1" dirty="0">
              <a:latin typeface="微软雅黑" panose="020B0503020204020204" charset="-122"/>
              <a:ea typeface="微软雅黑" panose="020B0503020204020204" charset="-122"/>
              <a:cs typeface="微软雅黑" panose="020B0503020204020204" charset="-122"/>
            </a:endParaRPr>
          </a:p>
        </p:txBody>
      </p:sp>
      <p:sp>
        <p:nvSpPr>
          <p:cNvPr id="26" name="textbox 26"/>
          <p:cNvSpPr/>
          <p:nvPr/>
        </p:nvSpPr>
        <p:spPr>
          <a:xfrm>
            <a:off x="2790825" y="3714750"/>
            <a:ext cx="657225" cy="180975"/>
          </a:xfrm>
          <a:prstGeom prst="rect">
            <a:avLst/>
          </a:prstGeom>
          <a:noFill/>
          <a:ln w="0" cap="flat">
            <a:noFill/>
            <a:prstDash val="solid"/>
            <a:miter lim="0"/>
          </a:ln>
        </p:spPr>
        <p:txBody>
          <a:bodyPr vert="horz" wrap="none" lIns="0" tIns="0" rIns="0" bIns="0"/>
          <a:p>
            <a:pPr algn="l" rtl="0" eaLnBrk="0"/>
            <a:endParaRPr sz="1200" b="1" kern="0" dirty="0">
              <a:solidFill>
                <a:srgbClr val="FFFFFF">
                  <a:alpha val="100000"/>
                </a:srgbClr>
              </a:solidFill>
              <a:latin typeface="微软雅黑" panose="020B0503020204020204" charset="-122"/>
              <a:ea typeface="微软雅黑" panose="020B0503020204020204" charset="-122"/>
              <a:cs typeface="黑体" panose="02010609060101010101" charset="-122"/>
            </a:endParaRPr>
          </a:p>
        </p:txBody>
      </p:sp>
      <mc:AlternateContent xmlns:mc="http://schemas.openxmlformats.org/markup-compatibility/2006">
        <mc:Choice xmlns:a14="http://schemas.microsoft.com/office/drawing/2010/main" Requires="a14">
          <p:sp>
            <p:nvSpPr>
              <p:cNvPr id="28" name="textbox 28"/>
              <p:cNvSpPr/>
              <p:nvPr/>
            </p:nvSpPr>
            <p:spPr>
              <a:xfrm>
                <a:off x="1466850" y="3943350"/>
                <a:ext cx="3762375" cy="419100"/>
              </a:xfrm>
              <a:prstGeom prst="rect">
                <a:avLst/>
              </a:prstGeom>
              <a:noFill/>
              <a:ln w="0" cap="flat">
                <a:noFill/>
                <a:prstDash val="solid"/>
                <a:miter lim="0"/>
              </a:ln>
            </p:spPr>
            <p:txBody>
              <a:bodyPr vert="horz" wrap="none" lIns="0" tIns="0" rIns="0" bIns="0"/>
              <a:p>
                <a:pPr algn="l" rtl="0" eaLnBrk="0"/>
                <a14:m>
                  <m:oMathPara xmlns:m="http://schemas.openxmlformats.org/officeDocument/2006/math">
                    <m:oMathParaPr>
                      <m:jc m:val="centerGroup"/>
                    </m:oMathParaPr>
                    <m:oMath xmlns:m="http://schemas.openxmlformats.org/officeDocument/2006/math">
                      <m:sSub>
                        <m:sSubPr>
                          <m:ctrlPr>
                            <a:rPr sz="1200">
                              <a:latin typeface="Cambria Math" panose="02040503050406030204" charset="0"/>
                              <a:cs typeface="Cambria Math" panose="02040503050406030204" charset="0"/>
                            </a:rPr>
                          </m:ctrlPr>
                        </m:sSubPr>
                        <m:e>
                          <m:r>
                            <m:rPr>
                              <m:sty m:val="p"/>
                            </m:rPr>
                            <a:rPr lang="en-US" sz="1200" dirty="0">
                              <a:latin typeface="Cambria Math" panose="02040503050406030204" charset="0"/>
                              <a:ea typeface="Cambria Math" panose="02040503050406030204"/>
                              <a:cs typeface="Cambria Math" panose="02040503050406030204" charset="0"/>
                            </a:rPr>
                            <m:t>K</m:t>
                          </m:r>
                        </m:e>
                        <m:sub>
                          <m:r>
                            <m:rPr>
                              <m:sty m:val="p"/>
                            </m:rPr>
                            <a:rPr lang="en-US" sz="1200" dirty="0">
                              <a:latin typeface="Cambria Math" panose="02040503050406030204" charset="0"/>
                              <a:ea typeface="Cambria Math" panose="02040503050406030204"/>
                              <a:cs typeface="Cambria Math" panose="02040503050406030204" charset="0"/>
                            </a:rPr>
                            <m:t>x</m:t>
                          </m:r>
                          <m:r>
                            <a:rPr lang="en-US" sz="1200" dirty="0">
                              <a:latin typeface="Cambria Math" panose="02040503050406030204" charset="0"/>
                              <a:ea typeface="MS Mincho" charset="0"/>
                              <a:cs typeface="Cambria Math" panose="02040503050406030204" charset="0"/>
                            </a:rPr>
                            <m:t>,</m:t>
                          </m:r>
                          <m:r>
                            <m:rPr>
                              <m:sty m:val="p"/>
                            </m:rPr>
                            <a:rPr lang="en-US" sz="1200" dirty="0">
                              <a:latin typeface="Cambria Math" panose="02040503050406030204" charset="0"/>
                              <a:ea typeface="Cambria Math" panose="02040503050406030204"/>
                              <a:cs typeface="Cambria Math" panose="02040503050406030204" charset="0"/>
                            </a:rPr>
                            <m:t>y</m:t>
                          </m:r>
                        </m:sub>
                      </m:sSub>
                      <m:r>
                        <a:rPr lang="en-US" sz="1200" dirty="0">
                          <a:latin typeface="Cambria Math" panose="02040503050406030204" charset="0"/>
                          <a:ea typeface="MS Mincho" charset="0"/>
                          <a:cs typeface="Cambria Math" panose="02040503050406030204" charset="0"/>
                        </a:rPr>
                        <m:t>(</m:t>
                      </m:r>
                      <m:r>
                        <m:rPr>
                          <m:sty m:val="p"/>
                        </m:rPr>
                        <a:rPr lang="en-US" sz="1200" dirty="0">
                          <a:latin typeface="Cambria Math" panose="02040503050406030204" charset="0"/>
                          <a:ea typeface="Cambria Math" panose="02040503050406030204"/>
                          <a:cs typeface="Cambria Math" panose="02040503050406030204" charset="0"/>
                        </a:rPr>
                        <m:t>x</m:t>
                      </m:r>
                      <m:r>
                        <a:rPr lang="en-US" sz="1200" dirty="0">
                          <a:latin typeface="Cambria Math" panose="02040503050406030204" charset="0"/>
                          <a:ea typeface="MS Mincho" charset="0"/>
                          <a:cs typeface="Cambria Math" panose="02040503050406030204" charset="0"/>
                        </a:rPr>
                        <m:t>,</m:t>
                      </m:r>
                      <m:r>
                        <m:rPr>
                          <m:sty m:val="p"/>
                        </m:rPr>
                        <a:rPr lang="en-US" sz="1200" dirty="0">
                          <a:latin typeface="Cambria Math" panose="02040503050406030204" charset="0"/>
                          <a:ea typeface="Cambria Math" panose="02040503050406030204"/>
                          <a:cs typeface="Cambria Math" panose="02040503050406030204" charset="0"/>
                        </a:rPr>
                        <m:t>y</m:t>
                      </m:r>
                      <m:r>
                        <a:rPr lang="en-US" sz="1200" dirty="0">
                          <a:latin typeface="Cambria Math" panose="02040503050406030204" charset="0"/>
                          <a:ea typeface="MS Mincho" charset="0"/>
                          <a:cs typeface="Cambria Math" panose="02040503050406030204" charset="0"/>
                        </a:rPr>
                        <m:t>)=</m:t>
                      </m:r>
                      <m:f>
                        <m:fPr>
                          <m:ctrlPr>
                            <a:rPr sz="1200">
                              <a:latin typeface="Cambria Math" panose="02040503050406030204" charset="0"/>
                              <a:cs typeface="Cambria Math" panose="02040503050406030204" charset="0"/>
                            </a:rPr>
                          </m:ctrlPr>
                        </m:fPr>
                        <m:num>
                          <m:r>
                            <a:rPr lang="en-US" sz="1200" dirty="0">
                              <a:latin typeface="Cambria Math" panose="02040503050406030204" charset="0"/>
                              <a:ea typeface="MS Mincho" charset="0"/>
                              <a:cs typeface="Cambria Math" panose="02040503050406030204" charset="0"/>
                            </a:rPr>
                            <m:t>1</m:t>
                          </m:r>
                        </m:num>
                        <m:den>
                          <m:r>
                            <a:rPr lang="en-US" sz="1200" dirty="0">
                              <a:latin typeface="Cambria Math" panose="02040503050406030204" charset="0"/>
                              <a:ea typeface="MS Mincho" charset="0"/>
                              <a:cs typeface="Cambria Math" panose="02040503050406030204" charset="0"/>
                            </a:rPr>
                            <m:t>2</m:t>
                          </m:r>
                          <m:r>
                            <a:rPr lang="en-US" sz="1200" dirty="0">
                              <a:latin typeface="Cambria Math" panose="02040503050406030204" charset="0"/>
                              <a:ea typeface="MS Mincho" charset="0"/>
                              <a:cs typeface="Cambria Math" panose="02040503050406030204" charset="0"/>
                            </a:rPr>
                            <m:t>𝜋</m:t>
                          </m:r>
                          <m:sSub>
                            <m:sSubPr>
                              <m:ctrlPr>
                                <a:rPr sz="1200">
                                  <a:latin typeface="Cambria Math" panose="02040503050406030204" charset="0"/>
                                  <a:cs typeface="Cambria Math" panose="02040503050406030204" charset="0"/>
                                </a:rPr>
                              </m:ctrlPr>
                            </m:sSubPr>
                            <m:e>
                              <m:r>
                                <m:rPr>
                                  <m:sty m:val="p"/>
                                </m:rPr>
                                <a:rPr lang="en-US" sz="1200" dirty="0">
                                  <a:latin typeface="Cambria Math" panose="02040503050406030204" charset="0"/>
                                  <a:ea typeface="Cambria Math" panose="02040503050406030204"/>
                                  <a:cs typeface="Cambria Math" panose="02040503050406030204" charset="0"/>
                                </a:rPr>
                                <m:t>h</m:t>
                              </m:r>
                            </m:e>
                            <m:sub>
                              <m:r>
                                <m:rPr>
                                  <m:sty m:val="p"/>
                                </m:rPr>
                                <a:rPr lang="en-US" sz="1200" dirty="0">
                                  <a:latin typeface="Cambria Math" panose="02040503050406030204" charset="0"/>
                                  <a:ea typeface="Cambria Math" panose="02040503050406030204"/>
                                  <a:cs typeface="Cambria Math" panose="02040503050406030204" charset="0"/>
                                </a:rPr>
                                <m:t>x</m:t>
                              </m:r>
                            </m:sub>
                          </m:sSub>
                          <m:sSub>
                            <m:sSubPr>
                              <m:ctrlPr>
                                <a:rPr sz="1200">
                                  <a:latin typeface="Cambria Math" panose="02040503050406030204" charset="0"/>
                                  <a:cs typeface="Cambria Math" panose="02040503050406030204" charset="0"/>
                                </a:rPr>
                              </m:ctrlPr>
                            </m:sSubPr>
                            <m:e>
                              <m:r>
                                <m:rPr>
                                  <m:sty m:val="p"/>
                                </m:rPr>
                                <a:rPr lang="en-US" sz="1200" dirty="0">
                                  <a:latin typeface="Cambria Math" panose="02040503050406030204" charset="0"/>
                                  <a:ea typeface="Cambria Math" panose="02040503050406030204"/>
                                  <a:cs typeface="Cambria Math" panose="02040503050406030204" charset="0"/>
                                </a:rPr>
                                <m:t>h</m:t>
                              </m:r>
                            </m:e>
                            <m:sub>
                              <m:r>
                                <m:rPr>
                                  <m:sty m:val="p"/>
                                </m:rPr>
                                <a:rPr lang="en-US" sz="1200" dirty="0">
                                  <a:latin typeface="Cambria Math" panose="02040503050406030204" charset="0"/>
                                  <a:ea typeface="Cambria Math" panose="02040503050406030204"/>
                                  <a:cs typeface="Cambria Math" panose="02040503050406030204" charset="0"/>
                                </a:rPr>
                                <m:t>y</m:t>
                              </m:r>
                            </m:sub>
                          </m:sSub>
                        </m:den>
                      </m:f>
                      <m:r>
                        <a:rPr lang="en-US" sz="1200" dirty="0">
                          <a:latin typeface="Cambria Math" panose="02040503050406030204" charset="0"/>
                          <a:ea typeface="Cambria Math" panose="02040503050406030204"/>
                          <a:cs typeface="Cambria Math" panose="02040503050406030204" charset="0"/>
                        </a:rPr>
                        <m:t>𝑒𝑥𝑝</m:t>
                      </m:r>
                      <m:d>
                        <m:dPr>
                          <m:begChr m:val="["/>
                          <m:endChr m:val="]"/>
                          <m:ctrlPr>
                            <a:rPr sz="1200">
                              <a:latin typeface="Cambria Math" panose="02040503050406030204" charset="0"/>
                              <a:cs typeface="Cambria Math" panose="02040503050406030204" charset="0"/>
                            </a:rPr>
                          </m:ctrlPr>
                        </m:dPr>
                        <m:e>
                          <m:r>
                            <a:rPr lang="en-US" sz="1200" dirty="0">
                              <a:latin typeface="Cambria Math" panose="02040503050406030204" charset="0"/>
                              <a:ea typeface="MS Mincho" charset="0"/>
                              <a:cs typeface="Cambria Math" panose="02040503050406030204" charset="0"/>
                            </a:rPr>
                            <m:t>−</m:t>
                          </m:r>
                          <m:f>
                            <m:fPr>
                              <m:ctrlPr>
                                <a:rPr sz="1200">
                                  <a:latin typeface="Cambria Math" panose="02040503050406030204" charset="0"/>
                                  <a:cs typeface="Cambria Math" panose="02040503050406030204" charset="0"/>
                                </a:rPr>
                              </m:ctrlPr>
                            </m:fPr>
                            <m:num>
                              <m:r>
                                <a:rPr lang="en-US" sz="1200" dirty="0">
                                  <a:latin typeface="Cambria Math" panose="02040503050406030204" charset="0"/>
                                  <a:ea typeface="MS Mincho" charset="0"/>
                                  <a:cs typeface="Cambria Math" panose="02040503050406030204" charset="0"/>
                                </a:rPr>
                                <m:t>1</m:t>
                              </m:r>
                            </m:num>
                            <m:den>
                              <m:r>
                                <a:rPr lang="en-US" sz="1200" dirty="0">
                                  <a:latin typeface="Cambria Math" panose="02040503050406030204" charset="0"/>
                                  <a:ea typeface="MS Mincho" charset="0"/>
                                  <a:cs typeface="Cambria Math" panose="02040503050406030204" charset="0"/>
                                </a:rPr>
                                <m:t>2</m:t>
                              </m:r>
                            </m:den>
                          </m:f>
                          <m:d>
                            <m:dPr>
                              <m:ctrlPr>
                                <a:rPr sz="1200">
                                  <a:latin typeface="Cambria Math" panose="02040503050406030204" charset="0"/>
                                  <a:cs typeface="Cambria Math" panose="02040503050406030204" charset="0"/>
                                </a:rPr>
                              </m:ctrlPr>
                            </m:dPr>
                            <m:e>
                              <m:sSup>
                                <m:sSupPr>
                                  <m:ctrlPr>
                                    <a:rPr sz="1200">
                                      <a:latin typeface="Cambria Math" panose="02040503050406030204" charset="0"/>
                                      <a:cs typeface="Cambria Math" panose="02040503050406030204" charset="0"/>
                                    </a:rPr>
                                  </m:ctrlPr>
                                </m:sSupPr>
                                <m:e>
                                  <m:d>
                                    <m:dPr>
                                      <m:ctrlPr>
                                        <a:rPr sz="1200">
                                          <a:latin typeface="Cambria Math" panose="02040503050406030204" charset="0"/>
                                          <a:cs typeface="Cambria Math" panose="02040503050406030204" charset="0"/>
                                        </a:rPr>
                                      </m:ctrlPr>
                                    </m:dPr>
                                    <m:e>
                                      <m:f>
                                        <m:fPr>
                                          <m:ctrlPr>
                                            <a:rPr sz="1200">
                                              <a:latin typeface="Cambria Math" panose="02040503050406030204" charset="0"/>
                                              <a:cs typeface="Cambria Math" panose="02040503050406030204" charset="0"/>
                                            </a:rPr>
                                          </m:ctrlPr>
                                        </m:fPr>
                                        <m:num>
                                          <m:r>
                                            <m:rPr>
                                              <m:sty m:val="p"/>
                                            </m:rPr>
                                            <a:rPr lang="en-US" sz="1200" dirty="0">
                                              <a:latin typeface="Cambria Math" panose="02040503050406030204" charset="0"/>
                                              <a:ea typeface="Cambria Math" panose="02040503050406030204"/>
                                              <a:cs typeface="Cambria Math" panose="02040503050406030204" charset="0"/>
                                            </a:rPr>
                                            <m:t>x</m:t>
                                          </m:r>
                                          <m:r>
                                            <a:rPr lang="en-US" sz="1200" dirty="0">
                                              <a:latin typeface="Cambria Math" panose="02040503050406030204" charset="0"/>
                                              <a:ea typeface="MS Mincho" charset="0"/>
                                              <a:cs typeface="Cambria Math" panose="02040503050406030204" charset="0"/>
                                            </a:rPr>
                                            <m:t>−</m:t>
                                          </m:r>
                                          <m:sSub>
                                            <m:sSubPr>
                                              <m:ctrlPr>
                                                <a:rPr sz="1200">
                                                  <a:latin typeface="Cambria Math" panose="02040503050406030204" charset="0"/>
                                                  <a:cs typeface="Cambria Math" panose="02040503050406030204" charset="0"/>
                                                </a:rPr>
                                              </m:ctrlPr>
                                            </m:sSubPr>
                                            <m:e>
                                              <m:r>
                                                <m:rPr>
                                                  <m:sty m:val="p"/>
                                                </m:rPr>
                                                <a:rPr lang="en-US" sz="1200" dirty="0">
                                                  <a:latin typeface="Cambria Math" panose="02040503050406030204" charset="0"/>
                                                  <a:ea typeface="Cambria Math" panose="02040503050406030204"/>
                                                  <a:cs typeface="Cambria Math" panose="02040503050406030204" charset="0"/>
                                                </a:rPr>
                                                <m:t>x</m:t>
                                              </m:r>
                                            </m:e>
                                            <m:sub>
                                              <m:r>
                                                <m:rPr>
                                                  <m:sty m:val="p"/>
                                                </m:rPr>
                                                <a:rPr lang="en-US" sz="1200" dirty="0">
                                                  <a:latin typeface="Cambria Math" panose="02040503050406030204" charset="0"/>
                                                  <a:ea typeface="Cambria Math" panose="02040503050406030204"/>
                                                  <a:cs typeface="Cambria Math" panose="02040503050406030204" charset="0"/>
                                                </a:rPr>
                                                <m:t>p</m:t>
                                              </m:r>
                                            </m:sub>
                                          </m:sSub>
                                        </m:num>
                                        <m:den>
                                          <m:sSub>
                                            <m:sSubPr>
                                              <m:ctrlPr>
                                                <a:rPr sz="1200">
                                                  <a:latin typeface="Cambria Math" panose="02040503050406030204" charset="0"/>
                                                  <a:cs typeface="Cambria Math" panose="02040503050406030204" charset="0"/>
                                                </a:rPr>
                                              </m:ctrlPr>
                                            </m:sSubPr>
                                            <m:e>
                                              <m:r>
                                                <m:rPr>
                                                  <m:sty m:val="p"/>
                                                </m:rPr>
                                                <a:rPr lang="en-US" sz="1200" dirty="0">
                                                  <a:latin typeface="Cambria Math" panose="02040503050406030204" charset="0"/>
                                                  <a:ea typeface="Cambria Math" panose="02040503050406030204"/>
                                                  <a:cs typeface="Cambria Math" panose="02040503050406030204" charset="0"/>
                                                </a:rPr>
                                                <m:t>h</m:t>
                                              </m:r>
                                            </m:e>
                                            <m:sub>
                                              <m:r>
                                                <m:rPr>
                                                  <m:sty m:val="p"/>
                                                </m:rPr>
                                                <a:rPr lang="en-US" sz="1200" dirty="0">
                                                  <a:latin typeface="Cambria Math" panose="02040503050406030204" charset="0"/>
                                                  <a:ea typeface="Cambria Math" panose="02040503050406030204"/>
                                                  <a:cs typeface="Cambria Math" panose="02040503050406030204" charset="0"/>
                                                </a:rPr>
                                                <m:t>x</m:t>
                                              </m:r>
                                            </m:sub>
                                          </m:sSub>
                                        </m:den>
                                      </m:f>
                                    </m:e>
                                  </m:d>
                                </m:e>
                                <m:sup>
                                  <m:r>
                                    <a:rPr lang="en-US" sz="1200" dirty="0">
                                      <a:latin typeface="Cambria Math" panose="02040503050406030204" charset="0"/>
                                      <a:ea typeface="MS Mincho" charset="0"/>
                                      <a:cs typeface="Cambria Math" panose="02040503050406030204" charset="0"/>
                                    </a:rPr>
                                    <m:t>2</m:t>
                                  </m:r>
                                </m:sup>
                              </m:sSup>
                              <m:r>
                                <a:rPr lang="en-US" sz="1200" dirty="0">
                                  <a:latin typeface="Cambria Math" panose="02040503050406030204" charset="0"/>
                                  <a:ea typeface="MS Mincho" charset="0"/>
                                  <a:cs typeface="Cambria Math" panose="02040503050406030204" charset="0"/>
                                </a:rPr>
                                <m:t>+</m:t>
                              </m:r>
                              <m:sSup>
                                <m:sSupPr>
                                  <m:ctrlPr>
                                    <a:rPr sz="1200">
                                      <a:latin typeface="Cambria Math" panose="02040503050406030204" charset="0"/>
                                      <a:cs typeface="Cambria Math" panose="02040503050406030204" charset="0"/>
                                    </a:rPr>
                                  </m:ctrlPr>
                                </m:sSupPr>
                                <m:e>
                                  <m:d>
                                    <m:dPr>
                                      <m:ctrlPr>
                                        <a:rPr sz="1200">
                                          <a:latin typeface="Cambria Math" panose="02040503050406030204" charset="0"/>
                                          <a:cs typeface="Cambria Math" panose="02040503050406030204" charset="0"/>
                                        </a:rPr>
                                      </m:ctrlPr>
                                    </m:dPr>
                                    <m:e>
                                      <m:f>
                                        <m:fPr>
                                          <m:ctrlPr>
                                            <a:rPr sz="1200">
                                              <a:latin typeface="Cambria Math" panose="02040503050406030204" charset="0"/>
                                              <a:cs typeface="Cambria Math" panose="02040503050406030204" charset="0"/>
                                            </a:rPr>
                                          </m:ctrlPr>
                                        </m:fPr>
                                        <m:num>
                                          <m:r>
                                            <m:rPr>
                                              <m:sty m:val="p"/>
                                            </m:rPr>
                                            <a:rPr lang="en-US" sz="1200" dirty="0">
                                              <a:latin typeface="Cambria Math" panose="02040503050406030204" charset="0"/>
                                              <a:ea typeface="Cambria Math" panose="02040503050406030204"/>
                                              <a:cs typeface="Cambria Math" panose="02040503050406030204" charset="0"/>
                                            </a:rPr>
                                            <m:t>y</m:t>
                                          </m:r>
                                          <m:r>
                                            <a:rPr lang="en-US" sz="1200" dirty="0">
                                              <a:latin typeface="Cambria Math" panose="02040503050406030204" charset="0"/>
                                              <a:ea typeface="MS Mincho" charset="0"/>
                                              <a:cs typeface="Cambria Math" panose="02040503050406030204" charset="0"/>
                                            </a:rPr>
                                            <m:t>−</m:t>
                                          </m:r>
                                          <m:sSub>
                                            <m:sSubPr>
                                              <m:ctrlPr>
                                                <a:rPr sz="1200">
                                                  <a:latin typeface="Cambria Math" panose="02040503050406030204" charset="0"/>
                                                  <a:cs typeface="Cambria Math" panose="02040503050406030204" charset="0"/>
                                                </a:rPr>
                                              </m:ctrlPr>
                                            </m:sSubPr>
                                            <m:e>
                                              <m:r>
                                                <m:rPr>
                                                  <m:sty m:val="p"/>
                                                </m:rPr>
                                                <a:rPr lang="en-US" sz="1200" dirty="0">
                                                  <a:latin typeface="Cambria Math" panose="02040503050406030204" charset="0"/>
                                                  <a:ea typeface="Cambria Math" panose="02040503050406030204"/>
                                                  <a:cs typeface="Cambria Math" panose="02040503050406030204" charset="0"/>
                                                </a:rPr>
                                                <m:t>y</m:t>
                                              </m:r>
                                            </m:e>
                                            <m:sub>
                                              <m:r>
                                                <m:rPr>
                                                  <m:sty m:val="p"/>
                                                </m:rPr>
                                                <a:rPr lang="en-US" sz="1200" dirty="0">
                                                  <a:latin typeface="Cambria Math" panose="02040503050406030204" charset="0"/>
                                                  <a:ea typeface="Cambria Math" panose="02040503050406030204"/>
                                                  <a:cs typeface="Cambria Math" panose="02040503050406030204" charset="0"/>
                                                </a:rPr>
                                                <m:t>p</m:t>
                                              </m:r>
                                            </m:sub>
                                          </m:sSub>
                                        </m:num>
                                        <m:den>
                                          <m:sSub>
                                            <m:sSubPr>
                                              <m:ctrlPr>
                                                <a:rPr sz="1200">
                                                  <a:latin typeface="Cambria Math" panose="02040503050406030204" charset="0"/>
                                                  <a:cs typeface="Cambria Math" panose="02040503050406030204" charset="0"/>
                                                </a:rPr>
                                              </m:ctrlPr>
                                            </m:sSubPr>
                                            <m:e>
                                              <m:r>
                                                <m:rPr>
                                                  <m:sty m:val="p"/>
                                                </m:rPr>
                                                <a:rPr lang="en-US" sz="1200" dirty="0">
                                                  <a:latin typeface="Cambria Math" panose="02040503050406030204" charset="0"/>
                                                  <a:ea typeface="Cambria Math" panose="02040503050406030204"/>
                                                  <a:cs typeface="Cambria Math" panose="02040503050406030204" charset="0"/>
                                                </a:rPr>
                                                <m:t>h</m:t>
                                              </m:r>
                                            </m:e>
                                            <m:sub>
                                              <m:r>
                                                <m:rPr>
                                                  <m:sty m:val="p"/>
                                                </m:rPr>
                                                <a:rPr lang="en-US" sz="1200" dirty="0">
                                                  <a:latin typeface="Cambria Math" panose="02040503050406030204" charset="0"/>
                                                  <a:ea typeface="Cambria Math" panose="02040503050406030204"/>
                                                  <a:cs typeface="Cambria Math" panose="02040503050406030204" charset="0"/>
                                                </a:rPr>
                                                <m:t>y</m:t>
                                              </m:r>
                                            </m:sub>
                                          </m:sSub>
                                        </m:den>
                                      </m:f>
                                    </m:e>
                                  </m:d>
                                </m:e>
                                <m:sup>
                                  <m:r>
                                    <a:rPr lang="en-US" sz="1200" dirty="0">
                                      <a:latin typeface="Cambria Math" panose="02040503050406030204" charset="0"/>
                                      <a:ea typeface="MS Mincho" charset="0"/>
                                      <a:cs typeface="Cambria Math" panose="02040503050406030204" charset="0"/>
                                    </a:rPr>
                                    <m:t>2</m:t>
                                  </m:r>
                                </m:sup>
                              </m:sSup>
                            </m:e>
                          </m:d>
                        </m:e>
                      </m:d>
                    </m:oMath>
                  </m:oMathPara>
                </a14:m>
                <a:endParaRPr sz="1200" dirty="0">
                  <a:latin typeface="Times New Roman" panose="02020603050405020304" charset="0"/>
                  <a:cs typeface="Times New Roman" panose="02020603050405020304" charset="0"/>
                </a:endParaRPr>
              </a:p>
            </p:txBody>
          </p:sp>
        </mc:Choice>
        <mc:Fallback>
          <p:sp>
            <p:nvSpPr>
              <p:cNvPr id="28" name="textbox 28"/>
              <p:cNvSpPr>
                <a:spLocks noRot="1" noChangeAspect="1" noMove="1" noResize="1" noEditPoints="1" noAdjustHandles="1" noChangeArrowheads="1" noChangeShapeType="1" noTextEdit="1"/>
              </p:cNvSpPr>
              <p:nvPr/>
            </p:nvSpPr>
            <p:spPr>
              <a:xfrm>
                <a:off x="1466850" y="3943350"/>
                <a:ext cx="3762375" cy="419100"/>
              </a:xfrm>
              <a:prstGeom prst="rect">
                <a:avLst/>
              </a:prstGeom>
              <a:blipFill rotWithShape="1">
                <a:blip r:embed="rId2"/>
                <a:stretch>
                  <a:fillRect b="-12879"/>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textbox 30"/>
              <p:cNvSpPr/>
              <p:nvPr/>
            </p:nvSpPr>
            <p:spPr>
              <a:xfrm>
                <a:off x="1466850" y="4362450"/>
                <a:ext cx="2714625" cy="438150"/>
              </a:xfrm>
              <a:prstGeom prst="rect">
                <a:avLst/>
              </a:prstGeom>
              <a:noFill/>
              <a:ln w="0" cap="flat">
                <a:noFill/>
                <a:prstDash val="solid"/>
                <a:miter lim="0"/>
              </a:ln>
            </p:spPr>
            <p:txBody>
              <a:bodyPr vert="horz" wrap="none" lIns="0" tIns="0" rIns="0" bIns="0"/>
              <a:p>
                <a:pPr algn="l" rtl="0" eaLnBrk="0"/>
                <a14:m>
                  <m:oMathPara xmlns:m="http://schemas.openxmlformats.org/officeDocument/2006/math">
                    <m:oMathParaPr>
                      <m:jc m:val="centerGroup"/>
                    </m:oMathParaPr>
                    <m:oMath xmlns:m="http://schemas.openxmlformats.org/officeDocument/2006/math">
                      <m:sSub>
                        <m:sSubPr>
                          <m:ctrlPr>
                            <a:rPr sz="1200">
                              <a:latin typeface="Cambria Math" panose="02040503050406030204" charset="0"/>
                              <a:cs typeface="Cambria Math" panose="02040503050406030204" charset="0"/>
                            </a:rPr>
                          </m:ctrlPr>
                        </m:sSubPr>
                        <m:e>
                          <m:r>
                            <m:rPr>
                              <m:sty m:val="p"/>
                            </m:rPr>
                            <a:rPr sz="1200">
                              <a:latin typeface="Cambria Math" panose="02040503050406030204" charset="0"/>
                              <a:cs typeface="Cambria Math" panose="02040503050406030204" charset="0"/>
                            </a:rPr>
                            <m:t>f</m:t>
                          </m:r>
                        </m:e>
                        <m:sub>
                          <m:r>
                            <m:rPr>
                              <m:sty m:val="p"/>
                            </m:rPr>
                            <a:rPr sz="1200">
                              <a:latin typeface="Cambria Math" panose="02040503050406030204" charset="0"/>
                              <a:cs typeface="Cambria Math" panose="02040503050406030204" charset="0"/>
                            </a:rPr>
                            <m:t>X</m:t>
                          </m:r>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Y</m:t>
                          </m:r>
                        </m:sub>
                      </m:sSub>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x</m:t>
                      </m:r>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y</m:t>
                      </m:r>
                      <m:r>
                        <a:rPr sz="1200">
                          <a:latin typeface="Cambria Math" panose="02040503050406030204" charset="0"/>
                          <a:cs typeface="Cambria Math" panose="02040503050406030204" charset="0"/>
                        </a:rPr>
                        <m:t>)=</m:t>
                      </m:r>
                      <m:f>
                        <m:fPr>
                          <m:ctrlPr>
                            <a:rPr sz="1200">
                              <a:latin typeface="Cambria Math" panose="02040503050406030204" charset="0"/>
                              <a:cs typeface="Cambria Math" panose="02040503050406030204" charset="0"/>
                            </a:rPr>
                          </m:ctrlPr>
                        </m:fPr>
                        <m:num>
                          <m:r>
                            <a:rPr sz="1200">
                              <a:latin typeface="Cambria Math" panose="02040503050406030204" charset="0"/>
                              <a:cs typeface="Cambria Math" panose="02040503050406030204" charset="0"/>
                            </a:rPr>
                            <m:t>1</m:t>
                          </m:r>
                        </m:num>
                        <m:den>
                          <m:r>
                            <m:rPr>
                              <m:sty m:val="p"/>
                            </m:rPr>
                            <a:rPr sz="1200">
                              <a:latin typeface="Cambria Math" panose="02040503050406030204" charset="0"/>
                              <a:cs typeface="Cambria Math" panose="02040503050406030204" charset="0"/>
                            </a:rPr>
                            <m:t>N</m:t>
                          </m:r>
                        </m:den>
                      </m:f>
                      <m:nary>
                        <m:naryPr>
                          <m:chr m:val="∑"/>
                          <m:limLoc m:val="subSup"/>
                          <m:ctrlPr>
                            <a:rPr sz="1200">
                              <a:latin typeface="Cambria Math" panose="02040503050406030204" charset="0"/>
                              <a:cs typeface="Cambria Math" panose="02040503050406030204" charset="0"/>
                            </a:rPr>
                          </m:ctrlPr>
                        </m:naryPr>
                        <m:sub>
                          <m:r>
                            <m:rPr>
                              <m:sty m:val="p"/>
                            </m:rPr>
                            <a:rPr sz="1200">
                              <a:latin typeface="Cambria Math" panose="02040503050406030204" charset="0"/>
                              <a:cs typeface="Cambria Math" panose="02040503050406030204" charset="0"/>
                            </a:rPr>
                            <m:t>i</m:t>
                          </m:r>
                          <m:r>
                            <a:rPr sz="1200">
                              <a:latin typeface="Cambria Math" panose="02040503050406030204" charset="0"/>
                              <a:cs typeface="Cambria Math" panose="02040503050406030204" charset="0"/>
                            </a:rPr>
                            <m:t>=</m:t>
                          </m:r>
                          <m:r>
                            <a:rPr sz="1200">
                              <a:latin typeface="Cambria Math" panose="02040503050406030204" charset="0"/>
                              <a:cs typeface="Cambria Math" panose="02040503050406030204" charset="0"/>
                            </a:rPr>
                            <m:t>1</m:t>
                          </m:r>
                        </m:sub>
                        <m:sup>
                          <m:r>
                            <m:rPr>
                              <m:sty m:val="p"/>
                            </m:rPr>
                            <a:rPr sz="1200">
                              <a:latin typeface="Cambria Math" panose="02040503050406030204" charset="0"/>
                              <a:cs typeface="Cambria Math" panose="02040503050406030204" charset="0"/>
                            </a:rPr>
                            <m:t>N</m:t>
                          </m:r>
                        </m:sup>
                        <m:e>
                          <m:sSub>
                            <m:sSubPr>
                              <m:ctrlPr>
                                <a:rPr sz="1200">
                                  <a:latin typeface="Cambria Math" panose="02040503050406030204" charset="0"/>
                                  <a:cs typeface="Cambria Math" panose="02040503050406030204" charset="0"/>
                                </a:rPr>
                              </m:ctrlPr>
                            </m:sSubPr>
                            <m:e>
                              <m:r>
                                <m:rPr>
                                  <m:sty m:val="p"/>
                                </m:rPr>
                                <a:rPr sz="1200">
                                  <a:latin typeface="Cambria Math" panose="02040503050406030204" charset="0"/>
                                  <a:cs typeface="Cambria Math" panose="02040503050406030204" charset="0"/>
                                </a:rPr>
                                <m:t>K</m:t>
                              </m:r>
                            </m:e>
                            <m:sub>
                              <m:r>
                                <m:rPr>
                                  <m:sty m:val="p"/>
                                </m:rPr>
                                <a:rPr sz="1200">
                                  <a:latin typeface="Cambria Math" panose="02040503050406030204" charset="0"/>
                                  <a:cs typeface="Cambria Math" panose="02040503050406030204" charset="0"/>
                                </a:rPr>
                                <m:t>X</m:t>
                              </m:r>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Y</m:t>
                              </m:r>
                            </m:sub>
                          </m:sSub>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x</m:t>
                          </m:r>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m:rPr>
                                  <m:sty m:val="p"/>
                                </m:rPr>
                                <a:rPr sz="1200">
                                  <a:latin typeface="Cambria Math" panose="02040503050406030204" charset="0"/>
                                  <a:cs typeface="Cambria Math" panose="02040503050406030204" charset="0"/>
                                </a:rPr>
                                <m:t>x</m:t>
                              </m:r>
                            </m:e>
                            <m:sub>
                              <m:r>
                                <m:rPr>
                                  <m:sty m:val="p"/>
                                </m:rPr>
                                <a:rPr sz="1200">
                                  <a:latin typeface="Cambria Math" panose="02040503050406030204" charset="0"/>
                                  <a:cs typeface="Cambria Math" panose="02040503050406030204" charset="0"/>
                                </a:rPr>
                                <m:t>i</m:t>
                              </m:r>
                            </m:sub>
                          </m:sSub>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y</m:t>
                          </m:r>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m:rPr>
                                  <m:sty m:val="p"/>
                                </m:rPr>
                                <a:rPr sz="1200">
                                  <a:latin typeface="Cambria Math" panose="02040503050406030204" charset="0"/>
                                  <a:cs typeface="Cambria Math" panose="02040503050406030204" charset="0"/>
                                </a:rPr>
                                <m:t>y</m:t>
                              </m:r>
                            </m:e>
                            <m:sub>
                              <m:r>
                                <m:rPr>
                                  <m:sty m:val="p"/>
                                </m:rPr>
                                <a:rPr sz="1200">
                                  <a:latin typeface="Cambria Math" panose="02040503050406030204" charset="0"/>
                                  <a:cs typeface="Cambria Math" panose="02040503050406030204" charset="0"/>
                                </a:rPr>
                                <m:t>i</m:t>
                              </m:r>
                            </m:sub>
                          </m:sSub>
                          <m:r>
                            <a:rPr sz="1200">
                              <a:latin typeface="Cambria Math" panose="02040503050406030204" charset="0"/>
                              <a:cs typeface="Cambria Math" panose="02040503050406030204" charset="0"/>
                            </a:rPr>
                            <m:t>)</m:t>
                          </m:r>
                        </m:e>
                      </m:nary>
                    </m:oMath>
                  </m:oMathPara>
                </a14:m>
                <a:endParaRPr sz="600" dirty="0"/>
              </a:p>
            </p:txBody>
          </p:sp>
        </mc:Choice>
        <mc:Fallback>
          <p:sp>
            <p:nvSpPr>
              <p:cNvPr id="30" name="textbox 30"/>
              <p:cNvSpPr>
                <a:spLocks noRot="1" noChangeAspect="1" noMove="1" noResize="1" noEditPoints="1" noAdjustHandles="1" noChangeArrowheads="1" noChangeShapeType="1" noTextEdit="1"/>
              </p:cNvSpPr>
              <p:nvPr/>
            </p:nvSpPr>
            <p:spPr>
              <a:xfrm>
                <a:off x="1466850" y="4362450"/>
                <a:ext cx="2714625" cy="438150"/>
              </a:xfrm>
              <a:prstGeom prst="rect">
                <a:avLst/>
              </a:prstGeom>
              <a:blipFill rotWithShape="1">
                <a:blip r:embed="rId3"/>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textbox 32"/>
              <p:cNvSpPr/>
              <p:nvPr/>
            </p:nvSpPr>
            <p:spPr>
              <a:xfrm>
                <a:off x="1466850" y="4800600"/>
                <a:ext cx="2143125" cy="228600"/>
              </a:xfrm>
              <a:prstGeom prst="rect">
                <a:avLst/>
              </a:prstGeom>
              <a:noFill/>
              <a:ln w="0" cap="flat">
                <a:noFill/>
                <a:prstDash val="solid"/>
                <a:miter lim="0"/>
              </a:ln>
            </p:spPr>
            <p:txBody>
              <a:bodyPr vert="horz" wrap="none" lIns="0" tIns="0" rIns="0" bIns="0"/>
              <a:p>
                <a:pPr algn="l" rtl="0" eaLnBrk="0"/>
                <a14:m>
                  <m:oMathPara xmlns:m="http://schemas.openxmlformats.org/officeDocument/2006/math">
                    <m:oMathParaPr>
                      <m:jc m:val="centerGroup"/>
                    </m:oMathParaPr>
                    <m:oMath xmlns:m="http://schemas.openxmlformats.org/officeDocument/2006/math">
                      <m:sSub>
                        <m:sSubPr>
                          <m:ctrlPr>
                            <a:rPr sz="1200">
                              <a:latin typeface="Cambria Math" panose="02040503050406030204" charset="0"/>
                              <a:cs typeface="Cambria Math" panose="02040503050406030204" charset="0"/>
                            </a:rPr>
                          </m:ctrlPr>
                        </m:sSubPr>
                        <m:e>
                          <m:r>
                            <a:rPr sz="1200">
                              <a:latin typeface="Cambria Math" panose="02040503050406030204" charset="0"/>
                              <a:cs typeface="Cambria Math" panose="02040503050406030204" charset="0"/>
                            </a:rPr>
                            <m:t>𝜙</m:t>
                          </m:r>
                        </m:e>
                        <m:sub>
                          <m:r>
                            <m:rPr>
                              <m:sty m:val="p"/>
                            </m:rPr>
                            <a:rPr sz="1200">
                              <a:latin typeface="Cambria Math" panose="02040503050406030204" charset="0"/>
                              <a:cs typeface="Cambria Math" panose="02040503050406030204" charset="0"/>
                            </a:rPr>
                            <m:t>X</m:t>
                          </m:r>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Y</m:t>
                          </m:r>
                        </m:sub>
                      </m:sSub>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ea typeface="MS Mincho" charset="0"/>
                              <a:cs typeface="Cambria Math" panose="02040503050406030204" charset="0"/>
                            </a:rPr>
                            <m:t>𝜔</m:t>
                          </m:r>
                        </m:e>
                        <m:sub>
                          <m:r>
                            <a:rPr sz="1200">
                              <a:latin typeface="Cambria Math" panose="02040503050406030204" charset="0"/>
                              <a:ea typeface="MS Mincho" charset="0"/>
                              <a:cs typeface="Cambria Math" panose="02040503050406030204" charset="0"/>
                            </a:rPr>
                            <m:t>1</m:t>
                          </m:r>
                        </m:sub>
                      </m:sSub>
                      <m:r>
                        <a:rPr sz="1200">
                          <a:latin typeface="Cambria Math" panose="02040503050406030204" charset="0"/>
                          <a:ea typeface="MS Mincho"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ea typeface="MS Mincho" charset="0"/>
                              <a:cs typeface="Cambria Math" panose="02040503050406030204" charset="0"/>
                            </a:rPr>
                            <m:t>𝜔</m:t>
                          </m:r>
                        </m:e>
                        <m:sub>
                          <m:r>
                            <a:rPr sz="1200">
                              <a:latin typeface="Cambria Math" panose="02040503050406030204" charset="0"/>
                              <a:ea typeface="MS Mincho" charset="0"/>
                              <a:cs typeface="Cambria Math" panose="02040503050406030204" charset="0"/>
                            </a:rPr>
                            <m:t>2</m:t>
                          </m:r>
                        </m:sub>
                      </m:sSub>
                      <m:r>
                        <a:rPr sz="1200">
                          <a:latin typeface="Cambria Math" panose="02040503050406030204" charset="0"/>
                          <a:ea typeface="MS Mincho" charset="0"/>
                          <a:cs typeface="Cambria Math" panose="02040503050406030204" charset="0"/>
                        </a:rPr>
                        <m:t>)=</m:t>
                      </m:r>
                      <m:r>
                        <m:rPr>
                          <m:sty m:val="p"/>
                        </m:rPr>
                        <a:rPr sz="1200">
                          <a:latin typeface="Cambria Math" panose="02040503050406030204" charset="0"/>
                          <a:cs typeface="Cambria Math" panose="02040503050406030204" charset="0"/>
                        </a:rPr>
                        <m:t>E</m:t>
                      </m:r>
                      <m:d>
                        <m:dPr>
                          <m:begChr m:val="["/>
                          <m:endChr m:val="]"/>
                          <m:ctrlPr>
                            <a:rPr sz="1200">
                              <a:latin typeface="Cambria Math" panose="02040503050406030204" charset="0"/>
                              <a:cs typeface="Cambria Math" panose="02040503050406030204" charset="0"/>
                            </a:rPr>
                          </m:ctrlPr>
                        </m:dPr>
                        <m:e>
                          <m:sSup>
                            <m:sSupPr>
                              <m:ctrlPr>
                                <a:rPr sz="1200">
                                  <a:latin typeface="Cambria Math" panose="02040503050406030204" charset="0"/>
                                  <a:cs typeface="Cambria Math" panose="02040503050406030204" charset="0"/>
                                </a:rPr>
                              </m:ctrlPr>
                            </m:sSupPr>
                            <m:e>
                              <m:r>
                                <m:rPr>
                                  <m:sty m:val="p"/>
                                </m:rPr>
                                <a:rPr sz="1200">
                                  <a:latin typeface="Cambria Math" panose="02040503050406030204" charset="0"/>
                                  <a:cs typeface="Cambria Math" panose="02040503050406030204" charset="0"/>
                                </a:rPr>
                                <m:t>e</m:t>
                              </m:r>
                            </m:e>
                            <m:sup>
                              <m:r>
                                <m:rPr>
                                  <m:sty m:val="p"/>
                                </m:rPr>
                                <a:rPr sz="1200">
                                  <a:latin typeface="Cambria Math" panose="02040503050406030204" charset="0"/>
                                  <a:cs typeface="Cambria Math" panose="02040503050406030204" charset="0"/>
                                </a:rPr>
                                <m:t>i</m:t>
                              </m:r>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cs typeface="Cambria Math" panose="02040503050406030204" charset="0"/>
                                    </a:rPr>
                                    <m:t>𝜔</m:t>
                                  </m:r>
                                </m:e>
                                <m:sub>
                                  <m:r>
                                    <a:rPr sz="1200">
                                      <a:latin typeface="Cambria Math" panose="02040503050406030204" charset="0"/>
                                      <a:cs typeface="Cambria Math" panose="02040503050406030204" charset="0"/>
                                    </a:rPr>
                                    <m:t>1</m:t>
                                  </m:r>
                                </m:sub>
                              </m:sSub>
                              <m:r>
                                <m:rPr>
                                  <m:sty m:val="p"/>
                                </m:rPr>
                                <a:rPr sz="1200">
                                  <a:latin typeface="Cambria Math" panose="02040503050406030204" charset="0"/>
                                  <a:cs typeface="Cambria Math" panose="02040503050406030204" charset="0"/>
                                </a:rPr>
                                <m:t>X</m:t>
                              </m:r>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cs typeface="Cambria Math" panose="02040503050406030204" charset="0"/>
                                    </a:rPr>
                                    <m:t>𝜔</m:t>
                                  </m:r>
                                </m:e>
                                <m:sub>
                                  <m:r>
                                    <a:rPr sz="1200">
                                      <a:latin typeface="Cambria Math" panose="02040503050406030204" charset="0"/>
                                      <a:cs typeface="Cambria Math" panose="02040503050406030204" charset="0"/>
                                    </a:rPr>
                                    <m:t>2</m:t>
                                  </m:r>
                                </m:sub>
                              </m:sSub>
                              <m:r>
                                <m:rPr>
                                  <m:sty m:val="p"/>
                                </m:rPr>
                                <a:rPr sz="1200">
                                  <a:latin typeface="Cambria Math" panose="02040503050406030204" charset="0"/>
                                  <a:cs typeface="Cambria Math" panose="02040503050406030204" charset="0"/>
                                </a:rPr>
                                <m:t>Y</m:t>
                              </m:r>
                              <m:r>
                                <a:rPr sz="1200">
                                  <a:latin typeface="Cambria Math" panose="02040503050406030204" charset="0"/>
                                  <a:cs typeface="Cambria Math" panose="02040503050406030204" charset="0"/>
                                </a:rPr>
                                <m:t>)</m:t>
                              </m:r>
                            </m:sup>
                          </m:sSup>
                        </m:e>
                      </m:d>
                    </m:oMath>
                  </m:oMathPara>
                </a14:m>
                <a:endParaRPr sz="1200">
                  <a:latin typeface="Cambria Math" panose="02040503050406030204" charset="0"/>
                  <a:cs typeface="Cambria Math" panose="02040503050406030204" charset="0"/>
                </a:endParaRPr>
              </a:p>
            </p:txBody>
          </p:sp>
        </mc:Choice>
        <mc:Fallback>
          <p:sp>
            <p:nvSpPr>
              <p:cNvPr id="32" name="textbox 32"/>
              <p:cNvSpPr>
                <a:spLocks noRot="1" noChangeAspect="1" noMove="1" noResize="1" noEditPoints="1" noAdjustHandles="1" noChangeArrowheads="1" noChangeShapeType="1" noTextEdit="1"/>
              </p:cNvSpPr>
              <p:nvPr/>
            </p:nvSpPr>
            <p:spPr>
              <a:xfrm>
                <a:off x="1466850" y="4800600"/>
                <a:ext cx="2143125" cy="228600"/>
              </a:xfrm>
              <a:prstGeom prst="rect">
                <a:avLst/>
              </a:prstGeom>
              <a:blipFill rotWithShape="1">
                <a:blip r:embed="rId4"/>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textbox 34"/>
              <p:cNvSpPr/>
              <p:nvPr/>
            </p:nvSpPr>
            <p:spPr>
              <a:xfrm>
                <a:off x="1466850" y="5067300"/>
                <a:ext cx="3009900" cy="466725"/>
              </a:xfrm>
              <a:prstGeom prst="rect">
                <a:avLst/>
              </a:prstGeom>
              <a:noFill/>
              <a:ln w="0" cap="flat">
                <a:noFill/>
                <a:prstDash val="solid"/>
                <a:miter lim="0"/>
              </a:ln>
            </p:spPr>
            <p:txBody>
              <a:bodyPr vert="horz" wrap="none" lIns="0" tIns="0" rIns="0" bIns="0"/>
              <a:p>
                <a:pPr algn="l" rtl="0" eaLnBrk="0"/>
                <a14:m>
                  <m:oMathPara xmlns:m="http://schemas.openxmlformats.org/officeDocument/2006/math">
                    <m:oMathParaPr>
                      <m:jc m:val="centerGroup"/>
                    </m:oMathParaPr>
                    <m:oMath xmlns:m="http://schemas.openxmlformats.org/officeDocument/2006/math">
                      <m:sSub>
                        <m:sSubPr>
                          <m:ctrlPr>
                            <a:rPr sz="1200">
                              <a:latin typeface="Cambria Math" panose="02040503050406030204" charset="0"/>
                              <a:cs typeface="Cambria Math" panose="02040503050406030204" charset="0"/>
                            </a:rPr>
                          </m:ctrlPr>
                        </m:sSubPr>
                        <m:e>
                          <m:acc>
                            <m:accPr>
                              <m:ctrlPr>
                                <a:rPr sz="1200">
                                  <a:latin typeface="Cambria Math" panose="02040503050406030204" charset="0"/>
                                  <a:cs typeface="Cambria Math" panose="02040503050406030204" charset="0"/>
                                </a:rPr>
                              </m:ctrlPr>
                            </m:accPr>
                            <m:e>
                              <m:r>
                                <a:rPr sz="1200">
                                  <a:latin typeface="Cambria Math" panose="02040503050406030204" charset="0"/>
                                  <a:cs typeface="Cambria Math" panose="02040503050406030204" charset="0"/>
                                </a:rPr>
                                <m:t>𝜙</m:t>
                              </m:r>
                            </m:e>
                          </m:acc>
                        </m:e>
                        <m:sub>
                          <m:r>
                            <m:rPr>
                              <m:sty m:val="p"/>
                            </m:rPr>
                            <a:rPr sz="1200">
                              <a:latin typeface="Cambria Math" panose="02040503050406030204" charset="0"/>
                              <a:cs typeface="Cambria Math" panose="02040503050406030204" charset="0"/>
                            </a:rPr>
                            <m:t>X</m:t>
                          </m:r>
                          <m:r>
                            <a:rPr sz="1200">
                              <a:latin typeface="Cambria Math" panose="02040503050406030204" charset="0"/>
                              <a:cs typeface="Cambria Math" panose="02040503050406030204" charset="0"/>
                            </a:rPr>
                            <m:t>,</m:t>
                          </m:r>
                          <m:r>
                            <m:rPr>
                              <m:sty m:val="p"/>
                            </m:rPr>
                            <a:rPr sz="1200">
                              <a:latin typeface="Cambria Math" panose="02040503050406030204" charset="0"/>
                              <a:cs typeface="Cambria Math" panose="02040503050406030204" charset="0"/>
                            </a:rPr>
                            <m:t>Y</m:t>
                          </m:r>
                        </m:sub>
                      </m:sSub>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cs typeface="Cambria Math" panose="02040503050406030204" charset="0"/>
                            </a:rPr>
                            <m:t>𝜔</m:t>
                          </m:r>
                        </m:e>
                        <m:sub>
                          <m:r>
                            <a:rPr sz="1200">
                              <a:latin typeface="Cambria Math" panose="02040503050406030204" charset="0"/>
                              <a:cs typeface="Cambria Math" panose="02040503050406030204" charset="0"/>
                            </a:rPr>
                            <m:t>1</m:t>
                          </m:r>
                        </m:sub>
                      </m:sSub>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cs typeface="Cambria Math" panose="02040503050406030204" charset="0"/>
                            </a:rPr>
                            <m:t>𝜔</m:t>
                          </m:r>
                        </m:e>
                        <m:sub>
                          <m:r>
                            <a:rPr sz="1200">
                              <a:latin typeface="Cambria Math" panose="02040503050406030204" charset="0"/>
                              <a:cs typeface="Cambria Math" panose="02040503050406030204" charset="0"/>
                            </a:rPr>
                            <m:t>2</m:t>
                          </m:r>
                        </m:sub>
                      </m:sSub>
                      <m:r>
                        <a:rPr sz="1200">
                          <a:latin typeface="Cambria Math" panose="02040503050406030204" charset="0"/>
                          <a:cs typeface="Cambria Math" panose="02040503050406030204" charset="0"/>
                        </a:rPr>
                        <m:t>)=</m:t>
                      </m:r>
                      <m:f>
                        <m:fPr>
                          <m:ctrlPr>
                            <a:rPr sz="1200">
                              <a:latin typeface="Cambria Math" panose="02040503050406030204" charset="0"/>
                              <a:cs typeface="Cambria Math" panose="02040503050406030204" charset="0"/>
                            </a:rPr>
                          </m:ctrlPr>
                        </m:fPr>
                        <m:num>
                          <m:r>
                            <a:rPr sz="1200">
                              <a:latin typeface="Cambria Math" panose="02040503050406030204" charset="0"/>
                              <a:cs typeface="Cambria Math" panose="02040503050406030204" charset="0"/>
                            </a:rPr>
                            <m:t>1</m:t>
                          </m:r>
                        </m:num>
                        <m:den>
                          <m:r>
                            <m:rPr>
                              <m:sty m:val="p"/>
                            </m:rPr>
                            <a:rPr sz="1200">
                              <a:latin typeface="Cambria Math" panose="02040503050406030204" charset="0"/>
                              <a:cs typeface="Cambria Math" panose="02040503050406030204" charset="0"/>
                            </a:rPr>
                            <m:t>N</m:t>
                          </m:r>
                        </m:den>
                      </m:f>
                      <m:nary>
                        <m:naryPr>
                          <m:chr m:val="∑"/>
                          <m:limLoc m:val="subSup"/>
                          <m:ctrlPr>
                            <a:rPr sz="1200">
                              <a:latin typeface="Cambria Math" panose="02040503050406030204" charset="0"/>
                              <a:cs typeface="Cambria Math" panose="02040503050406030204" charset="0"/>
                            </a:rPr>
                          </m:ctrlPr>
                        </m:naryPr>
                        <m:sub>
                          <m:r>
                            <m:rPr>
                              <m:sty m:val="p"/>
                            </m:rPr>
                            <a:rPr sz="1200">
                              <a:latin typeface="Cambria Math" panose="02040503050406030204" charset="0"/>
                              <a:cs typeface="Cambria Math" panose="02040503050406030204" charset="0"/>
                            </a:rPr>
                            <m:t>i</m:t>
                          </m:r>
                          <m:r>
                            <a:rPr sz="1200">
                              <a:latin typeface="Cambria Math" panose="02040503050406030204" charset="0"/>
                              <a:cs typeface="Cambria Math" panose="02040503050406030204" charset="0"/>
                            </a:rPr>
                            <m:t>=</m:t>
                          </m:r>
                          <m:r>
                            <a:rPr sz="1200">
                              <a:latin typeface="Cambria Math" panose="02040503050406030204" charset="0"/>
                              <a:cs typeface="Cambria Math" panose="02040503050406030204" charset="0"/>
                            </a:rPr>
                            <m:t>1</m:t>
                          </m:r>
                        </m:sub>
                        <m:sup>
                          <m:r>
                            <m:rPr>
                              <m:sty m:val="p"/>
                            </m:rPr>
                            <a:rPr sz="1200">
                              <a:latin typeface="Cambria Math" panose="02040503050406030204" charset="0"/>
                              <a:cs typeface="Cambria Math" panose="02040503050406030204" charset="0"/>
                            </a:rPr>
                            <m:t>N</m:t>
                          </m:r>
                        </m:sup>
                        <m:e>
                          <m:r>
                            <a:rPr sz="1200">
                              <a:latin typeface="Cambria Math" panose="02040503050406030204" charset="0"/>
                              <a:cs typeface="Cambria Math" panose="02040503050406030204" charset="0"/>
                            </a:rPr>
                            <m:t>𝑒𝑥𝑝</m:t>
                          </m:r>
                          <m:d>
                            <m:dPr>
                              <m:begChr m:val="["/>
                              <m:endChr m:val="]"/>
                              <m:ctrlPr>
                                <a:rPr sz="1200">
                                  <a:latin typeface="Cambria Math" panose="02040503050406030204" charset="0"/>
                                  <a:cs typeface="Cambria Math" panose="02040503050406030204" charset="0"/>
                                </a:rPr>
                              </m:ctrlPr>
                            </m:dPr>
                            <m:e>
                              <m:r>
                                <m:rPr>
                                  <m:sty m:val="p"/>
                                </m:rPr>
                                <a:rPr sz="1200">
                                  <a:latin typeface="Cambria Math" panose="02040503050406030204" charset="0"/>
                                  <a:cs typeface="Cambria Math" panose="02040503050406030204" charset="0"/>
                                </a:rPr>
                                <m:t>i</m:t>
                              </m:r>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cs typeface="Cambria Math" panose="02040503050406030204" charset="0"/>
                                    </a:rPr>
                                    <m:t>𝜔</m:t>
                                  </m:r>
                                </m:e>
                                <m:sub>
                                  <m:r>
                                    <a:rPr sz="1200">
                                      <a:latin typeface="Cambria Math" panose="02040503050406030204" charset="0"/>
                                      <a:cs typeface="Cambria Math" panose="02040503050406030204" charset="0"/>
                                    </a:rPr>
                                    <m:t>1</m:t>
                                  </m:r>
                                </m:sub>
                              </m:sSub>
                              <m:sSub>
                                <m:sSubPr>
                                  <m:ctrlPr>
                                    <a:rPr sz="1200">
                                      <a:latin typeface="Cambria Math" panose="02040503050406030204" charset="0"/>
                                      <a:cs typeface="Cambria Math" panose="02040503050406030204" charset="0"/>
                                    </a:rPr>
                                  </m:ctrlPr>
                                </m:sSubPr>
                                <m:e>
                                  <m:r>
                                    <m:rPr>
                                      <m:sty m:val="p"/>
                                    </m:rPr>
                                    <a:rPr sz="1200">
                                      <a:latin typeface="Cambria Math" panose="02040503050406030204" charset="0"/>
                                      <a:cs typeface="Cambria Math" panose="02040503050406030204" charset="0"/>
                                    </a:rPr>
                                    <m:t>x</m:t>
                                  </m:r>
                                </m:e>
                                <m:sub>
                                  <m:r>
                                    <m:rPr>
                                      <m:sty m:val="p"/>
                                    </m:rPr>
                                    <a:rPr sz="1200">
                                      <a:latin typeface="Cambria Math" panose="02040503050406030204" charset="0"/>
                                      <a:cs typeface="Cambria Math" panose="02040503050406030204" charset="0"/>
                                    </a:rPr>
                                    <m:t>i</m:t>
                                  </m:r>
                                </m:sub>
                              </m:sSub>
                              <m:r>
                                <a:rPr sz="1200">
                                  <a:latin typeface="Cambria Math" panose="02040503050406030204" charset="0"/>
                                  <a:cs typeface="Cambria Math" panose="02040503050406030204" charset="0"/>
                                </a:rPr>
                                <m:t>+</m:t>
                              </m:r>
                              <m:sSub>
                                <m:sSubPr>
                                  <m:ctrlPr>
                                    <a:rPr sz="1200">
                                      <a:latin typeface="Cambria Math" panose="02040503050406030204" charset="0"/>
                                      <a:cs typeface="Cambria Math" panose="02040503050406030204" charset="0"/>
                                    </a:rPr>
                                  </m:ctrlPr>
                                </m:sSubPr>
                                <m:e>
                                  <m:r>
                                    <a:rPr sz="1200">
                                      <a:latin typeface="Cambria Math" panose="02040503050406030204" charset="0"/>
                                      <a:cs typeface="Cambria Math" panose="02040503050406030204" charset="0"/>
                                    </a:rPr>
                                    <m:t>𝜔</m:t>
                                  </m:r>
                                </m:e>
                                <m:sub>
                                  <m:r>
                                    <a:rPr sz="1200">
                                      <a:latin typeface="Cambria Math" panose="02040503050406030204" charset="0"/>
                                      <a:cs typeface="Cambria Math" panose="02040503050406030204" charset="0"/>
                                    </a:rPr>
                                    <m:t>2</m:t>
                                  </m:r>
                                </m:sub>
                              </m:sSub>
                              <m:sSub>
                                <m:sSubPr>
                                  <m:ctrlPr>
                                    <a:rPr sz="1200">
                                      <a:latin typeface="Cambria Math" panose="02040503050406030204" charset="0"/>
                                      <a:cs typeface="Cambria Math" panose="02040503050406030204" charset="0"/>
                                    </a:rPr>
                                  </m:ctrlPr>
                                </m:sSubPr>
                                <m:e>
                                  <m:r>
                                    <m:rPr>
                                      <m:sty m:val="p"/>
                                    </m:rPr>
                                    <a:rPr sz="1200">
                                      <a:latin typeface="Cambria Math" panose="02040503050406030204" charset="0"/>
                                      <a:cs typeface="Cambria Math" panose="02040503050406030204" charset="0"/>
                                    </a:rPr>
                                    <m:t>y</m:t>
                                  </m:r>
                                </m:e>
                                <m:sub>
                                  <m:r>
                                    <m:rPr>
                                      <m:sty m:val="p"/>
                                    </m:rPr>
                                    <a:rPr sz="1200">
                                      <a:latin typeface="Cambria Math" panose="02040503050406030204" charset="0"/>
                                      <a:cs typeface="Cambria Math" panose="02040503050406030204" charset="0"/>
                                    </a:rPr>
                                    <m:t>i</m:t>
                                  </m:r>
                                </m:sub>
                              </m:sSub>
                              <m:r>
                                <a:rPr sz="1200">
                                  <a:latin typeface="Cambria Math" panose="02040503050406030204" charset="0"/>
                                  <a:cs typeface="Cambria Math" panose="02040503050406030204" charset="0"/>
                                </a:rPr>
                                <m:t>)</m:t>
                              </m:r>
                            </m:e>
                          </m:d>
                        </m:e>
                      </m:nary>
                    </m:oMath>
                  </m:oMathPara>
                </a14:m>
                <a:endParaRPr sz="600" dirty="0"/>
              </a:p>
            </p:txBody>
          </p:sp>
        </mc:Choice>
        <mc:Fallback>
          <p:sp>
            <p:nvSpPr>
              <p:cNvPr id="34" name="textbox 34"/>
              <p:cNvSpPr>
                <a:spLocks noRot="1" noChangeAspect="1" noMove="1" noResize="1" noEditPoints="1" noAdjustHandles="1" noChangeArrowheads="1" noChangeShapeType="1" noTextEdit="1"/>
              </p:cNvSpPr>
              <p:nvPr/>
            </p:nvSpPr>
            <p:spPr>
              <a:xfrm>
                <a:off x="1466850" y="5067300"/>
                <a:ext cx="3009900" cy="466725"/>
              </a:xfrm>
              <a:prstGeom prst="rect">
                <a:avLst/>
              </a:prstGeom>
              <a:blipFill rotWithShape="1">
                <a:blip r:embed="rId5"/>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textbox 36"/>
              <p:cNvSpPr/>
              <p:nvPr/>
            </p:nvSpPr>
            <p:spPr>
              <a:xfrm>
                <a:off x="1181100" y="5619750"/>
                <a:ext cx="2562225" cy="190500"/>
              </a:xfrm>
              <a:prstGeom prst="rect">
                <a:avLst/>
              </a:prstGeom>
              <a:noFill/>
              <a:ln w="0" cap="flat">
                <a:noFill/>
                <a:prstDash val="solid"/>
                <a:miter lim="0"/>
              </a:ln>
            </p:spPr>
            <p:txBody>
              <a:bodyPr vert="horz" wrap="none" lIns="0" tIns="0" rIns="0" bIns="0"/>
              <a:p>
                <a:pPr algn="l" rtl="0" eaLnBrk="0"/>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其中，</a:t>
                </a:r>
                <a14:m>
                  <m:oMath xmlns:m="http://schemas.openxmlformats.org/officeDocument/2006/math">
                    <m:sSub>
                      <m:sSubPr>
                        <m:ctrlPr>
                          <a:rPr>
                            <a:latin typeface="Cambria Math" panose="02040503050406030204" charset="0"/>
                            <a:ea typeface="微软雅黑" panose="020B0503020204020204" charset="-122"/>
                            <a:cs typeface="Cambria Math" panose="02040503050406030204" charset="0"/>
                          </a:rPr>
                        </m:ctrlPr>
                      </m:sSubPr>
                      <m:e>
                        <m:r>
                          <m:rPr>
                            <m:sty m:val="p"/>
                          </m:rPr>
                          <a:rPr lang="en-US" sz="1000" dirty="0">
                            <a:latin typeface="Cambria Math" panose="02040503050406030204" charset="0"/>
                            <a:ea typeface="微软雅黑" panose="020B0503020204020204" charset="-122"/>
                            <a:cs typeface="Cambria Math" panose="02040503050406030204" charset="0"/>
                          </a:rPr>
                          <m:t>h</m:t>
                        </m:r>
                      </m:e>
                      <m:sub>
                        <m:r>
                          <m:rPr>
                            <m:sty m:val="p"/>
                          </m:rPr>
                          <a:rPr lang="en-US" sz="1000" dirty="0">
                            <a:latin typeface="Cambria Math" panose="02040503050406030204" charset="0"/>
                            <a:ea typeface="微软雅黑" panose="020B0503020204020204" charset="-122"/>
                            <a:cs typeface="Cambria Math" panose="02040503050406030204" charset="0"/>
                          </a:rPr>
                          <m:t>x</m:t>
                        </m:r>
                      </m:sub>
                    </m:sSub>
                  </m:oMath>
                </a14:m>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与 </a:t>
                </a:r>
                <a14:m>
                  <m:oMath xmlns:m="http://schemas.openxmlformats.org/officeDocument/2006/math">
                    <m:sSub>
                      <m:sSubPr>
                        <m:ctrlPr>
                          <a:rPr>
                            <a:latin typeface="Cambria Math" panose="02040503050406030204" charset="0"/>
                            <a:ea typeface="微软雅黑" panose="020B0503020204020204" charset="-122"/>
                            <a:cs typeface="Cambria Math" panose="02040503050406030204" charset="0"/>
                          </a:rPr>
                        </m:ctrlPr>
                      </m:sSubPr>
                      <m:e>
                        <m:r>
                          <m:rPr>
                            <m:sty m:val="p"/>
                          </m:rPr>
                          <a:rPr lang="en-US" sz="1000" dirty="0">
                            <a:latin typeface="Cambria Math" panose="02040503050406030204" charset="0"/>
                            <a:ea typeface="微软雅黑" panose="020B0503020204020204" charset="-122"/>
                            <a:cs typeface="Cambria Math" panose="02040503050406030204" charset="0"/>
                          </a:rPr>
                          <m:t>h</m:t>
                        </m:r>
                      </m:e>
                      <m:sub>
                        <m:r>
                          <m:rPr>
                            <m:sty m:val="p"/>
                          </m:rPr>
                          <a:rPr lang="en-US" sz="1000" dirty="0">
                            <a:latin typeface="Cambria Math" panose="02040503050406030204" charset="0"/>
                            <a:ea typeface="微软雅黑" panose="020B0503020204020204" charset="-122"/>
                            <a:cs typeface="Cambria Math" panose="02040503050406030204" charset="0"/>
                          </a:rPr>
                          <m:t>y</m:t>
                        </m:r>
                      </m:sub>
                    </m:sSub>
                  </m:oMath>
                </a14:m>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分别为 x 与 y 方向带宽参数。</a:t>
                </a:r>
                <a:endParaRPr sz="1000" dirty="0">
                  <a:latin typeface="微软雅黑" panose="020B0503020204020204" charset="-122"/>
                  <a:ea typeface="微软雅黑" panose="020B0503020204020204" charset="-122"/>
                  <a:cs typeface="微软雅黑" panose="020B0503020204020204" charset="-122"/>
                </a:endParaRPr>
              </a:p>
            </p:txBody>
          </p:sp>
        </mc:Choice>
        <mc:Fallback>
          <p:sp>
            <p:nvSpPr>
              <p:cNvPr id="36" name="textbox 36"/>
              <p:cNvSpPr>
                <a:spLocks noRot="1" noChangeAspect="1" noMove="1" noResize="1" noEditPoints="1" noAdjustHandles="1" noChangeArrowheads="1" noChangeShapeType="1" noTextEdit="1"/>
              </p:cNvSpPr>
              <p:nvPr/>
            </p:nvSpPr>
            <p:spPr>
              <a:xfrm>
                <a:off x="1181100" y="5619750"/>
                <a:ext cx="2562225" cy="190500"/>
              </a:xfrm>
              <a:prstGeom prst="rect">
                <a:avLst/>
              </a:prstGeom>
              <a:blipFill rotWithShape="1">
                <a:blip r:embed="rId6"/>
                <a:stretch>
                  <a:fillRect r="-2280" b="-42667"/>
                </a:stretch>
              </a:blipFill>
              <a:ln w="0" cap="flat">
                <a:noFill/>
                <a:prstDash val="solid"/>
                <a:miter lim="0"/>
              </a:ln>
            </p:spPr>
            <p:txBody>
              <a:bodyPr/>
              <a:lstStyle/>
              <a:p>
                <a:r>
                  <a:rPr lang="zh-CN" altLang="en-US">
                    <a:noFill/>
                  </a:rPr>
                  <a:t> </a:t>
                </a:r>
              </a:p>
            </p:txBody>
          </p:sp>
        </mc:Fallback>
      </mc:AlternateContent>
      <p:sp>
        <p:nvSpPr>
          <p:cNvPr id="44" name="textbox 44"/>
          <p:cNvSpPr/>
          <p:nvPr/>
        </p:nvSpPr>
        <p:spPr>
          <a:xfrm>
            <a:off x="9544050" y="1914525"/>
            <a:ext cx="1371600" cy="161925"/>
          </a:xfrm>
          <a:prstGeom prst="rect">
            <a:avLst/>
          </a:prstGeom>
          <a:noFill/>
          <a:ln w="0" cap="flat">
            <a:noFill/>
            <a:prstDash val="solid"/>
            <a:miter lim="0"/>
          </a:ln>
        </p:spPr>
        <p:txBody>
          <a:bodyPr vert="horz" wrap="none" lIns="0" tIns="0" rIns="0" bIns="0"/>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a:t>
            </a:r>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SciPy库（</a:t>
            </a:r>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Python）或</a:t>
            </a:r>
            <a:endParaRPr sz="900" dirty="0">
              <a:latin typeface="微软雅黑" panose="020B0503020204020204" charset="-122"/>
              <a:ea typeface="微软雅黑" panose="020B0503020204020204" charset="-122"/>
              <a:cs typeface="微软雅黑" panose="020B0503020204020204" charset="-122"/>
            </a:endParaRPr>
          </a:p>
        </p:txBody>
      </p:sp>
      <p:sp>
        <p:nvSpPr>
          <p:cNvPr id="46" name="textbox 46"/>
          <p:cNvSpPr/>
          <p:nvPr/>
        </p:nvSpPr>
        <p:spPr>
          <a:xfrm>
            <a:off x="9525000" y="2047875"/>
            <a:ext cx="1276350" cy="190500"/>
          </a:xfrm>
          <a:prstGeom prst="rect">
            <a:avLst/>
          </a:prstGeom>
          <a:noFill/>
          <a:ln w="0" cap="flat">
            <a:noFill/>
            <a:prstDash val="solid"/>
            <a:miter lim="0"/>
          </a:ln>
        </p:spPr>
        <p:txBody>
          <a:bodyPr vert="horz" wrap="none" lIns="0" tIns="0" rIns="0" bIns="0"/>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ksdensity函数（Matlab）</a:t>
            </a:r>
            <a:endPar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50" name="textbox 50"/>
          <p:cNvSpPr/>
          <p:nvPr/>
        </p:nvSpPr>
        <p:spPr>
          <a:xfrm>
            <a:off x="9444355" y="2493010"/>
            <a:ext cx="759460" cy="190500"/>
          </a:xfrm>
          <a:prstGeom prst="rect">
            <a:avLst/>
          </a:prstGeom>
          <a:noFill/>
          <a:ln w="0" cap="flat">
            <a:noFill/>
            <a:prstDash val="solid"/>
            <a:miter lim="0"/>
          </a:ln>
        </p:spPr>
        <p:txBody>
          <a:bodyPr vert="horz" wrap="none" lIns="0" tIns="0" rIns="0" bIns="0"/>
          <a:p>
            <a:pPr algn="l" rtl="0" eaLnBrk="0"/>
            <a:r>
              <a:rPr lang="en-US" sz="900" kern="0" spc="0" dirty="0">
                <a:solidFill>
                  <a:srgbClr val="843F0B">
                    <a:alpha val="100000"/>
                  </a:srgbClr>
                </a:solidFill>
                <a:latin typeface="Times New Roman" panose="02020603050405020304"/>
                <a:ea typeface="Times New Roman" panose="02020603050405020304"/>
                <a:cs typeface="Times New Roman" panose="02020603050405020304"/>
              </a:rPr>
              <a:t> </a:t>
            </a:r>
            <a:r>
              <a:rPr sz="9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参考公式</a:t>
            </a:r>
            <a:r>
              <a:rPr sz="900" kern="0" spc="0" dirty="0">
                <a:solidFill>
                  <a:schemeClr val="tx1">
                    <a:alpha val="100000"/>
                  </a:schemeClr>
                </a:solidFill>
                <a:latin typeface="Times New Roman" panose="02020603050405020304"/>
                <a:ea typeface="Times New Roman" panose="02020603050405020304"/>
                <a:cs typeface="Times New Roman" panose="02020603050405020304"/>
              </a:rPr>
              <a:t>(5.6)</a:t>
            </a:r>
            <a:endParaRPr sz="900" kern="0" spc="0" dirty="0">
              <a:solidFill>
                <a:schemeClr val="tx1">
                  <a:alpha val="100000"/>
                </a:schemeClr>
              </a:solidFill>
              <a:latin typeface="Times New Roman" panose="02020603050405020304"/>
              <a:ea typeface="Times New Roman" panose="02020603050405020304"/>
              <a:cs typeface="Times New Roman" panose="02020603050405020304"/>
            </a:endParaRPr>
          </a:p>
        </p:txBody>
      </p:sp>
      <p:sp>
        <p:nvSpPr>
          <p:cNvPr id="52" name="textbox 52"/>
          <p:cNvSpPr/>
          <p:nvPr/>
        </p:nvSpPr>
        <p:spPr>
          <a:xfrm>
            <a:off x="6705600" y="2628900"/>
            <a:ext cx="809625" cy="200025"/>
          </a:xfrm>
          <a:prstGeom prst="rect">
            <a:avLst/>
          </a:prstGeom>
          <a:noFill/>
          <a:ln w="0" cap="flat">
            <a:noFill/>
            <a:prstDash val="solid"/>
            <a:miter lim="0"/>
          </a:ln>
        </p:spPr>
        <p:txBody>
          <a:bodyPr vert="horz" wrap="none" lIns="0" tIns="0" rIns="0" bIns="0"/>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参考公式(5.4)</a:t>
            </a:r>
            <a:endParaRPr sz="900" dirty="0">
              <a:latin typeface="微软雅黑" panose="020B0503020204020204" charset="-122"/>
              <a:ea typeface="微软雅黑" panose="020B0503020204020204" charset="-122"/>
              <a:cs typeface="微软雅黑" panose="020B0503020204020204" charset="-122"/>
            </a:endParaRPr>
          </a:p>
        </p:txBody>
      </p:sp>
      <p:sp>
        <p:nvSpPr>
          <p:cNvPr id="56" name="textbox 56"/>
          <p:cNvSpPr/>
          <p:nvPr/>
        </p:nvSpPr>
        <p:spPr>
          <a:xfrm>
            <a:off x="9391650" y="2895600"/>
            <a:ext cx="812165" cy="200025"/>
          </a:xfrm>
          <a:prstGeom prst="rect">
            <a:avLst/>
          </a:prstGeom>
          <a:noFill/>
          <a:ln w="0" cap="flat">
            <a:noFill/>
            <a:prstDash val="solid"/>
            <a:miter lim="0"/>
          </a:ln>
        </p:spPr>
        <p:txBody>
          <a:bodyPr vert="horz" wrap="none" lIns="0" tIns="0" rIns="0" bIns="0"/>
          <a:p>
            <a:pPr algn="l" rtl="0" eaLnBrk="0"/>
            <a:r>
              <a:rPr lang="en-US" sz="900" kern="0" spc="0" dirty="0">
                <a:solidFill>
                  <a:srgbClr val="843F0B">
                    <a:alpha val="100000"/>
                  </a:srgbClr>
                </a:solidFill>
                <a:latin typeface="Times New Roman" panose="02020603050405020304"/>
                <a:ea typeface="Times New Roman" panose="02020603050405020304"/>
                <a:cs typeface="Times New Roman" panose="02020603050405020304"/>
              </a:rPr>
              <a:t> </a:t>
            </a:r>
            <a:r>
              <a:rPr sz="900" kern="0" spc="0" dirty="0">
                <a:solidFill>
                  <a:srgbClr val="843F0B">
                    <a:alpha val="100000"/>
                  </a:srgbClr>
                </a:solidFill>
                <a:latin typeface="Times New Roman" panose="02020603050405020304"/>
                <a:ea typeface="Times New Roman" panose="02020603050405020304"/>
                <a:cs typeface="Times New Roman" panose="02020603050405020304"/>
              </a:rPr>
              <a:t> </a:t>
            </a:r>
            <a:r>
              <a:rPr sz="9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参考公式</a:t>
            </a:r>
            <a:r>
              <a:rPr sz="900" kern="0" spc="0" dirty="0">
                <a:solidFill>
                  <a:schemeClr val="tx1">
                    <a:alpha val="100000"/>
                  </a:schemeClr>
                </a:solidFill>
                <a:latin typeface="Times New Roman" panose="02020603050405020304"/>
                <a:ea typeface="Times New Roman" panose="02020603050405020304"/>
                <a:cs typeface="Times New Roman" panose="02020603050405020304"/>
              </a:rPr>
              <a:t>(5.5)</a:t>
            </a:r>
            <a:endParaRPr sz="900" kern="0" spc="0" dirty="0">
              <a:solidFill>
                <a:schemeClr val="tx1">
                  <a:alpha val="100000"/>
                </a:schemeClr>
              </a:solidFill>
              <a:latin typeface="Times New Roman" panose="02020603050405020304"/>
              <a:ea typeface="Times New Roman" panose="02020603050405020304"/>
              <a:cs typeface="Times New Roman" panose="02020603050405020304"/>
            </a:endParaRPr>
          </a:p>
        </p:txBody>
      </p:sp>
      <p:sp>
        <p:nvSpPr>
          <p:cNvPr id="62" name="textbox 62"/>
          <p:cNvSpPr/>
          <p:nvPr/>
        </p:nvSpPr>
        <p:spPr>
          <a:xfrm>
            <a:off x="9391650" y="3429000"/>
            <a:ext cx="800100" cy="200025"/>
          </a:xfrm>
          <a:prstGeom prst="rect">
            <a:avLst/>
          </a:prstGeom>
          <a:noFill/>
          <a:ln w="0" cap="flat">
            <a:noFill/>
            <a:prstDash val="solid"/>
            <a:miter lim="0"/>
          </a:ln>
        </p:spPr>
        <p:txBody>
          <a:bodyPr vert="horz" wrap="none" lIns="0" tIns="0" rIns="0" bIns="0"/>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参考公式(5.7)</a:t>
            </a:r>
            <a:endParaRPr sz="900" dirty="0">
              <a:latin typeface="微软雅黑" panose="020B0503020204020204" charset="-122"/>
              <a:ea typeface="微软雅黑" panose="020B0503020204020204" charset="-122"/>
              <a:cs typeface="微软雅黑" panose="020B0503020204020204" charset="-122"/>
            </a:endParaRPr>
          </a:p>
        </p:txBody>
      </p:sp>
      <p:sp>
        <p:nvSpPr>
          <p:cNvPr id="68" name="textbox 68"/>
          <p:cNvSpPr/>
          <p:nvPr/>
        </p:nvSpPr>
        <p:spPr>
          <a:xfrm>
            <a:off x="6667500" y="3838575"/>
            <a:ext cx="838200" cy="200025"/>
          </a:xfrm>
          <a:prstGeom prst="rect">
            <a:avLst/>
          </a:prstGeom>
          <a:noFill/>
          <a:ln w="0" cap="flat">
            <a:noFill/>
            <a:prstDash val="solid"/>
            <a:miter lim="0"/>
          </a:ln>
        </p:spPr>
        <p:txBody>
          <a:bodyPr vert="horz" wrap="none" lIns="0" tIns="0" rIns="0" bIns="0"/>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参考公式(5.7)</a:t>
            </a:r>
            <a:endParaRPr sz="900" dirty="0">
              <a:latin typeface="微软雅黑" panose="020B0503020204020204" charset="-122"/>
              <a:ea typeface="微软雅黑" panose="020B0503020204020204" charset="-122"/>
              <a:cs typeface="微软雅黑" panose="020B0503020204020204" charset="-122"/>
            </a:endParaRPr>
          </a:p>
        </p:txBody>
      </p:sp>
      <p:sp>
        <p:nvSpPr>
          <p:cNvPr id="72" name="textbox 72"/>
          <p:cNvSpPr/>
          <p:nvPr/>
        </p:nvSpPr>
        <p:spPr>
          <a:xfrm>
            <a:off x="8401050" y="3952875"/>
            <a:ext cx="704850" cy="238125"/>
          </a:xfrm>
          <a:prstGeom prst="rect">
            <a:avLst/>
          </a:prstGeom>
          <a:noFill/>
          <a:ln w="0" cap="flat">
            <a:noFill/>
            <a:prstDash val="solid"/>
            <a:miter lim="0"/>
          </a:ln>
        </p:spPr>
        <p:txBody>
          <a:bodyPr vert="horz" wrap="none" lIns="0" tIns="0" rIns="0" bIns="0"/>
          <a:p>
            <a:pPr algn="l" rtl="0" eaLnBrk="0"/>
            <a:r>
              <a:rPr lang="en-US" sz="1000" kern="0" spc="0" dirty="0">
                <a:solidFill>
                  <a:srgbClr val="843F0B">
                    <a:alpha val="100000"/>
                  </a:srgbClr>
                </a:solidFill>
                <a:latin typeface="Arial" panose="020B0604020202020204"/>
                <a:ea typeface="Arial" panose="020B0604020202020204"/>
                <a:cs typeface="Arial" panose="020B0604020202020204"/>
              </a:rPr>
              <a:t> </a:t>
            </a:r>
            <a:r>
              <a:rPr sz="1000" kern="0" spc="0" dirty="0">
                <a:solidFill>
                  <a:srgbClr val="843F0B">
                    <a:alpha val="100000"/>
                  </a:srgbClr>
                </a:solidFill>
                <a:latin typeface="Arial" panose="020B0604020202020204"/>
                <a:ea typeface="Arial" panose="020B0604020202020204"/>
                <a:cs typeface="Arial" panose="020B0604020202020204"/>
              </a:rPr>
              <a:t> </a:t>
            </a:r>
            <a:r>
              <a:rPr sz="1000" kern="0" spc="0" dirty="0">
                <a:solidFill>
                  <a:schemeClr val="tx1">
                    <a:alpha val="100000"/>
                  </a:schemeClr>
                </a:solidFill>
                <a:latin typeface="微软雅黑" panose="020B0503020204020204" charset="-122"/>
                <a:ea typeface="微软雅黑" panose="020B0503020204020204" charset="-122"/>
                <a:cs typeface="华文中宋" panose="02010600040101010101" charset="-122"/>
              </a:rPr>
              <a:t>误差评估</a:t>
            </a:r>
            <a:endParaRPr sz="1000" kern="0" spc="0" dirty="0">
              <a:solidFill>
                <a:schemeClr val="tx1">
                  <a:alpha val="100000"/>
                </a:schemeClr>
              </a:solidFill>
              <a:latin typeface="微软雅黑" panose="020B0503020204020204" charset="-122"/>
              <a:ea typeface="微软雅黑" panose="020B0503020204020204" charset="-122"/>
              <a:cs typeface="华文中宋" panose="02010600040101010101" charset="-122"/>
            </a:endParaRPr>
          </a:p>
        </p:txBody>
      </p:sp>
      <p:sp>
        <p:nvSpPr>
          <p:cNvPr id="76" name="textbox 76"/>
          <p:cNvSpPr/>
          <p:nvPr/>
        </p:nvSpPr>
        <p:spPr>
          <a:xfrm>
            <a:off x="9372600" y="4171950"/>
            <a:ext cx="800100" cy="200025"/>
          </a:xfrm>
          <a:prstGeom prst="rect">
            <a:avLst/>
          </a:prstGeom>
          <a:noFill/>
          <a:ln w="0" cap="flat">
            <a:noFill/>
            <a:prstDash val="solid"/>
            <a:miter lim="0"/>
          </a:ln>
        </p:spPr>
        <p:txBody>
          <a:bodyPr vert="horz" wrap="none" lIns="0" tIns="0" rIns="0" bIns="0"/>
          <a:p>
            <a:pPr algn="l" rtl="0" eaLnBrk="0"/>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参考公式(5.8)</a:t>
            </a:r>
            <a:endParaRPr sz="900" dirty="0">
              <a:latin typeface="微软雅黑" panose="020B0503020204020204" charset="-122"/>
              <a:ea typeface="微软雅黑" panose="020B0503020204020204" charset="-122"/>
              <a:cs typeface="微软雅黑" panose="020B0503020204020204" charset="-122"/>
            </a:endParaRPr>
          </a:p>
        </p:txBody>
      </p:sp>
      <p:sp>
        <p:nvSpPr>
          <p:cNvPr id="80" name="textbox 80"/>
          <p:cNvSpPr/>
          <p:nvPr/>
        </p:nvSpPr>
        <p:spPr>
          <a:xfrm>
            <a:off x="5915025" y="4791075"/>
            <a:ext cx="647700" cy="171450"/>
          </a:xfrm>
          <a:prstGeom prst="rect">
            <a:avLst/>
          </a:prstGeom>
          <a:noFill/>
          <a:ln w="0" cap="flat">
            <a:noFill/>
            <a:prstDash val="solid"/>
            <a:miter lim="0"/>
          </a:ln>
        </p:spPr>
        <p:txBody>
          <a:bodyPr vert="horz" wrap="none" lIns="0" tIns="0" rIns="0" bIns="0"/>
          <a:p>
            <a:pPr algn="l" rtl="0" eaLnBrk="0"/>
            <a:endParaRPr sz="1200" dirty="0">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82" name="textbox 82"/>
              <p:cNvSpPr/>
              <p:nvPr/>
            </p:nvSpPr>
            <p:spPr>
              <a:xfrm>
                <a:off x="6010275" y="5029200"/>
                <a:ext cx="2514600" cy="247650"/>
              </a:xfrm>
              <a:prstGeom prst="rect">
                <a:avLst/>
              </a:prstGeom>
              <a:noFill/>
              <a:ln w="0" cap="flat">
                <a:noFill/>
                <a:prstDash val="solid"/>
                <a:miter lim="0"/>
              </a:ln>
            </p:spPr>
            <p:txBody>
              <a:bodyPr vert="horz" wrap="none" lIns="0" tIns="0" rIns="0" bIns="0"/>
              <a:p>
                <a:pPr algn="l" rtl="0" eaLnBrk="0"/>
                <a14:m>
                  <m:oMathPara xmlns:m="http://schemas.openxmlformats.org/officeDocument/2006/math">
                    <m:oMathParaPr>
                      <m:jc m:val="centerGroup"/>
                    </m:oMathParaPr>
                    <m:oMath xmlns:m="http://schemas.openxmlformats.org/officeDocument/2006/math">
                      <m:sSub>
                        <m:sSubPr>
                          <m:ctrlPr>
                            <a:rPr/>
                          </m:ctrlPr>
                        </m:sSubPr>
                        <m:e>
                          <m:acc>
                            <m:accPr>
                              <m:chr m:val="̃"/>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x</m:t>
                          </m:r>
                        </m:sub>
                      </m:sSub>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0</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5</m:t>
                      </m:r>
                      <m:sSub>
                        <m:sSubPr>
                          <m:ctrlPr>
                            <a:rPr/>
                          </m:ctrlPr>
                        </m:sSubPr>
                        <m:e>
                          <m:acc>
                            <m:accPr>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x</m:t>
                          </m:r>
                        </m:sub>
                      </m:sSub>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1</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5</m:t>
                      </m:r>
                      <m:sSub>
                        <m:sSubPr>
                          <m:ctrlPr>
                            <a:rPr/>
                          </m:ctrlPr>
                        </m:sSubPr>
                        <m:e>
                          <m:acc>
                            <m:accPr>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x</m:t>
                          </m:r>
                        </m:sub>
                      </m:sSub>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 </m:t>
                      </m:r>
                      <m:sSub>
                        <m:sSubPr>
                          <m:ctrlPr>
                            <a:rPr/>
                          </m:ctrlPr>
                        </m:sSubPr>
                        <m:e>
                          <m:acc>
                            <m:accPr>
                              <m:chr m:val="̃"/>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y</m:t>
                          </m:r>
                        </m:sub>
                      </m:sSub>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0</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5</m:t>
                      </m:r>
                      <m:sSub>
                        <m:sSubPr>
                          <m:ctrlPr>
                            <a:rPr/>
                          </m:ctrlPr>
                        </m:sSubPr>
                        <m:e>
                          <m:acc>
                            <m:accPr>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y</m:t>
                          </m:r>
                        </m:sub>
                      </m:sSub>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1</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5</m:t>
                      </m:r>
                      <m:sSub>
                        <m:sSubPr>
                          <m:ctrlPr>
                            <a:rPr/>
                          </m:ctrlPr>
                        </m:sSubPr>
                        <m:e>
                          <m:acc>
                            <m:accPr>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y</m:t>
                          </m:r>
                        </m:sub>
                      </m:sSub>
                      <m:r>
                        <a:rPr lang="en-US" sz="1200" dirty="0">
                          <a:latin typeface="Cambria Math" panose="02040503050406030204"/>
                          <a:ea typeface="Cambria Math" panose="02040503050406030204"/>
                        </a:rPr>
                        <m:t>]</m:t>
                      </m:r>
                    </m:oMath>
                  </m:oMathPara>
                </a14:m>
                <a:endParaRPr sz="600" dirty="0"/>
              </a:p>
            </p:txBody>
          </p:sp>
        </mc:Choice>
        <mc:Fallback>
          <p:sp>
            <p:nvSpPr>
              <p:cNvPr id="82" name="textbox 82"/>
              <p:cNvSpPr>
                <a:spLocks noRot="1" noChangeAspect="1" noMove="1" noResize="1" noEditPoints="1" noAdjustHandles="1" noChangeArrowheads="1" noChangeShapeType="1" noTextEdit="1"/>
              </p:cNvSpPr>
              <p:nvPr/>
            </p:nvSpPr>
            <p:spPr>
              <a:xfrm>
                <a:off x="6010275" y="5029200"/>
                <a:ext cx="2514600" cy="247650"/>
              </a:xfrm>
              <a:prstGeom prst="rect">
                <a:avLst/>
              </a:prstGeom>
              <a:blipFill rotWithShape="1">
                <a:blip r:embed="rId7"/>
                <a:stretch>
                  <a:fillRect r="-3409" b="-38974"/>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4" name="textbox 84"/>
              <p:cNvSpPr/>
              <p:nvPr/>
            </p:nvSpPr>
            <p:spPr>
              <a:xfrm>
                <a:off x="6010275" y="5314950"/>
                <a:ext cx="1866900" cy="247650"/>
              </a:xfrm>
              <a:prstGeom prst="rect">
                <a:avLst/>
              </a:prstGeom>
              <a:noFill/>
              <a:ln w="0" cap="flat">
                <a:noFill/>
                <a:prstDash val="solid"/>
                <a:miter lim="0"/>
              </a:ln>
            </p:spPr>
            <p:txBody>
              <a:bodyPr vert="horz" wrap="none" lIns="0" tIns="0" rIns="0" bIns="0"/>
              <a:p>
                <a:pPr algn="l" rtl="0" eaLnBrk="0"/>
                <a14:m>
                  <m:oMathPara xmlns:m="http://schemas.openxmlformats.org/officeDocument/2006/math">
                    <m:oMathParaPr>
                      <m:jc m:val="centerGroup"/>
                    </m:oMathParaPr>
                    <m:oMath xmlns:m="http://schemas.openxmlformats.org/officeDocument/2006/math">
                      <m:r>
                        <a:rPr lang="en-US" sz="1200" dirty="0">
                          <a:latin typeface="Cambria Math" panose="02040503050406030204"/>
                          <a:ea typeface="Cambria Math" panose="02040503050406030204"/>
                        </a:rPr>
                        <m:t>𝜀</m:t>
                      </m:r>
                      <m:r>
                        <a:rPr lang="en-US" sz="1200" dirty="0">
                          <a:latin typeface="Cambria Math" panose="02040503050406030204"/>
                          <a:ea typeface="Cambria Math" panose="02040503050406030204"/>
                        </a:rPr>
                        <m:t>(</m:t>
                      </m:r>
                      <m:sSub>
                        <m:sSubPr>
                          <m:ctrlPr>
                            <a:rPr/>
                          </m:ctrlPr>
                        </m:sSubPr>
                        <m:e>
                          <m:acc>
                            <m:accPr>
                              <m:chr m:val="̃"/>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x</m:t>
                          </m:r>
                        </m:sub>
                      </m:sSub>
                      <m:r>
                        <a:rPr lang="en-US" sz="1200" dirty="0">
                          <a:latin typeface="Cambria Math" panose="02040503050406030204"/>
                          <a:ea typeface="Cambria Math" panose="02040503050406030204"/>
                        </a:rPr>
                        <m:t>,</m:t>
                      </m:r>
                      <m:sSub>
                        <m:sSubPr>
                          <m:ctrlPr>
                            <a:rPr/>
                          </m:ctrlPr>
                        </m:sSubPr>
                        <m:e>
                          <m:acc>
                            <m:accPr>
                              <m:chr m:val="̃"/>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y</m:t>
                          </m:r>
                        </m:sub>
                      </m:sSub>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m:t>
                      </m:r>
                      <m:sSub>
                        <m:sSubPr>
                          <m:ctrlPr>
                            <a:rPr/>
                          </m:ctrlPr>
                        </m:sSubPr>
                        <m:e>
                          <m:acc>
                            <m:accPr>
                              <m:ctrlPr>
                                <a:rPr/>
                              </m:ctrlPr>
                            </m:accPr>
                            <m:e>
                              <m:r>
                                <a:rPr lang="en-US" sz="1200" dirty="0">
                                  <a:latin typeface="Cambria Math" panose="02040503050406030204"/>
                                  <a:ea typeface="Cambria Math" panose="02040503050406030204"/>
                                </a:rPr>
                                <m:t>𝜙</m:t>
                              </m:r>
                            </m:e>
                          </m:acc>
                        </m:e>
                        <m:sub>
                          <m:r>
                            <m:rPr>
                              <m:sty m:val="p"/>
                            </m:rPr>
                            <a:rPr lang="en-US" sz="1200" dirty="0">
                              <a:latin typeface="Cambria Math" panose="02040503050406030204"/>
                              <a:ea typeface="Cambria Math" panose="02040503050406030204"/>
                            </a:rPr>
                            <m:t>X</m:t>
                          </m:r>
                          <m:r>
                            <a:rPr lang="en-US" sz="1200" dirty="0">
                              <a:latin typeface="Cambria Math" panose="02040503050406030204"/>
                              <a:ea typeface="Cambria Math" panose="02040503050406030204"/>
                            </a:rPr>
                            <m:t>,</m:t>
                          </m:r>
                          <m:r>
                            <m:rPr>
                              <m:sty m:val="p"/>
                            </m:rPr>
                            <a:rPr lang="en-US" sz="1200" dirty="0">
                              <a:latin typeface="Cambria Math" panose="02040503050406030204"/>
                              <a:ea typeface="Cambria Math" panose="02040503050406030204"/>
                            </a:rPr>
                            <m:t>Y</m:t>
                          </m:r>
                        </m:sub>
                      </m:sSub>
                      <m:r>
                        <a:rPr lang="en-US" sz="1200" dirty="0">
                          <a:latin typeface="Cambria Math" panose="02040503050406030204"/>
                          <a:ea typeface="Cambria Math" panose="02040503050406030204"/>
                        </a:rPr>
                        <m:t>−</m:t>
                      </m:r>
                      <m:sSub>
                        <m:sSubPr>
                          <m:ctrlPr>
                            <a:rPr/>
                          </m:ctrlPr>
                        </m:sSubPr>
                        <m:e>
                          <m:r>
                            <a:rPr lang="en-US" sz="1200" dirty="0">
                              <a:latin typeface="Cambria Math" panose="02040503050406030204"/>
                              <a:ea typeface="Cambria Math" panose="02040503050406030204"/>
                            </a:rPr>
                            <m:t>𝜙</m:t>
                          </m:r>
                        </m:e>
                        <m:sub>
                          <m:r>
                            <m:rPr>
                              <m:sty m:val="p"/>
                            </m:rPr>
                            <a:rPr lang="en-US" sz="1200" dirty="0">
                              <a:latin typeface="Cambria Math" panose="02040503050406030204"/>
                              <a:ea typeface="Cambria Math" panose="02040503050406030204"/>
                            </a:rPr>
                            <m:t>X</m:t>
                          </m:r>
                          <m:r>
                            <a:rPr lang="en-US" sz="1200" dirty="0">
                              <a:latin typeface="Cambria Math" panose="02040503050406030204"/>
                              <a:ea typeface="Cambria Math" panose="02040503050406030204"/>
                            </a:rPr>
                            <m:t>,</m:t>
                          </m:r>
                          <m:r>
                            <m:rPr>
                              <m:sty m:val="p"/>
                            </m:rPr>
                            <a:rPr lang="en-US" sz="1200" dirty="0">
                              <a:latin typeface="Cambria Math" panose="02040503050406030204"/>
                              <a:ea typeface="Cambria Math" panose="02040503050406030204"/>
                            </a:rPr>
                            <m:t>Y</m:t>
                          </m:r>
                        </m:sub>
                      </m:sSub>
                      <m:sSub>
                        <m:sSubPr>
                          <m:ctrlPr>
                            <a:rPr/>
                          </m:ctrlPr>
                        </m:sSubPr>
                        <m:e>
                          <m:r>
                            <a:rPr lang="en-US" sz="1200" dirty="0">
                              <a:latin typeface="Cambria Math" panose="02040503050406030204"/>
                              <a:ea typeface="Cambria Math" panose="02040503050406030204"/>
                            </a:rPr>
                            <m:t>|</m:t>
                          </m:r>
                        </m:e>
                        <m:sub>
                          <m:r>
                            <m:rPr>
                              <m:sty m:val="p"/>
                            </m:rPr>
                            <a:rPr lang="en-US" sz="1200" dirty="0">
                              <a:latin typeface="Cambria Math" panose="02040503050406030204"/>
                              <a:ea typeface="Cambria Math" panose="02040503050406030204"/>
                            </a:rPr>
                            <m:t>F</m:t>
                          </m:r>
                        </m:sub>
                      </m:sSub>
                    </m:oMath>
                  </m:oMathPara>
                </a14:m>
                <a:endParaRPr sz="600" dirty="0"/>
              </a:p>
            </p:txBody>
          </p:sp>
        </mc:Choice>
        <mc:Fallback>
          <p:sp>
            <p:nvSpPr>
              <p:cNvPr id="84" name="textbox 84"/>
              <p:cNvSpPr>
                <a:spLocks noRot="1" noChangeAspect="1" noMove="1" noResize="1" noEditPoints="1" noAdjustHandles="1" noChangeArrowheads="1" noChangeShapeType="1" noTextEdit="1"/>
              </p:cNvSpPr>
              <p:nvPr/>
            </p:nvSpPr>
            <p:spPr>
              <a:xfrm>
                <a:off x="6010275" y="5314950"/>
                <a:ext cx="1866900" cy="247650"/>
              </a:xfrm>
              <a:prstGeom prst="rect">
                <a:avLst/>
              </a:prstGeom>
              <a:blipFill rotWithShape="1">
                <a:blip r:embed="rId8"/>
                <a:stretch>
                  <a:fillRect/>
                </a:stretch>
              </a:blipFill>
              <a:ln w="0" cap="flat">
                <a:noFill/>
                <a:prstDash val="solid"/>
                <a:miter lim="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textbox 86"/>
              <p:cNvSpPr/>
              <p:nvPr/>
            </p:nvSpPr>
            <p:spPr>
              <a:xfrm>
                <a:off x="6010275" y="5619750"/>
                <a:ext cx="1885950" cy="228600"/>
              </a:xfrm>
              <a:prstGeom prst="rect">
                <a:avLst/>
              </a:prstGeom>
              <a:noFill/>
              <a:ln w="0" cap="flat">
                <a:noFill/>
                <a:prstDash val="solid"/>
                <a:miter lim="0"/>
              </a:ln>
            </p:spPr>
            <p:txBody>
              <a:bodyPr vert="horz" wrap="none" lIns="0" tIns="0" rIns="0" bIns="0"/>
              <a:p>
                <a:pPr algn="l" rtl="0" eaLnBrk="0"/>
                <a14:m>
                  <m:oMathPara xmlns:m="http://schemas.openxmlformats.org/officeDocument/2006/math">
                    <m:oMathParaPr>
                      <m:jc m:val="centerGroup"/>
                    </m:oMathParaPr>
                    <m:oMath xmlns:m="http://schemas.openxmlformats.org/officeDocument/2006/math">
                      <m:r>
                        <a:rPr lang="en-US" sz="1200" dirty="0">
                          <a:latin typeface="Cambria Math" panose="02040503050406030204"/>
                          <a:ea typeface="Cambria Math" panose="02040503050406030204"/>
                        </a:rPr>
                        <m:t>(</m:t>
                      </m:r>
                      <m:sSubSup>
                        <m:sSubSupPr>
                          <m:ctrlPr>
                            <a:rPr/>
                          </m:ctrlPr>
                        </m:sSubSupPr>
                        <m:e>
                          <m:r>
                            <m:rPr>
                              <m:sty m:val="p"/>
                            </m:rPr>
                            <a:rPr lang="en-US" sz="1200" dirty="0">
                              <a:latin typeface="Cambria Math" panose="02040503050406030204"/>
                              <a:ea typeface="Cambria Math" panose="02040503050406030204"/>
                            </a:rPr>
                            <m:t>h</m:t>
                          </m:r>
                        </m:e>
                        <m:sub>
                          <m:r>
                            <m:rPr>
                              <m:sty m:val="p"/>
                            </m:rPr>
                            <a:rPr lang="en-US" sz="1200" dirty="0">
                              <a:latin typeface="Cambria Math" panose="02040503050406030204"/>
                              <a:ea typeface="Cambria Math" panose="02040503050406030204"/>
                            </a:rPr>
                            <m:t>x</m:t>
                          </m:r>
                        </m:sub>
                        <m:sup>
                          <m:r>
                            <a:rPr lang="en-US" sz="1200" dirty="0">
                              <a:latin typeface="Cambria Math" panose="02040503050406030204"/>
                              <a:ea typeface="Cambria Math" panose="02040503050406030204"/>
                            </a:rPr>
                            <m:t>∗</m:t>
                          </m:r>
                        </m:sup>
                      </m:sSubSup>
                      <m:r>
                        <a:rPr lang="en-US" sz="1200" dirty="0">
                          <a:latin typeface="Cambria Math" panose="02040503050406030204"/>
                          <a:ea typeface="Cambria Math" panose="02040503050406030204"/>
                        </a:rPr>
                        <m:t>,</m:t>
                      </m:r>
                      <m:sSubSup>
                        <m:sSubSupPr>
                          <m:ctrlPr>
                            <a:rPr/>
                          </m:ctrlPr>
                        </m:sSubSupPr>
                        <m:e>
                          <m:r>
                            <m:rPr>
                              <m:sty m:val="p"/>
                            </m:rPr>
                            <a:rPr lang="en-US" sz="1200" dirty="0">
                              <a:latin typeface="Cambria Math" panose="02040503050406030204"/>
                              <a:ea typeface="Cambria Math" panose="02040503050406030204"/>
                            </a:rPr>
                            <m:t>h</m:t>
                          </m:r>
                        </m:e>
                        <m:sub>
                          <m:r>
                            <m:rPr>
                              <m:sty m:val="p"/>
                            </m:rPr>
                            <a:rPr lang="en-US" sz="1200" dirty="0">
                              <a:latin typeface="Cambria Math" panose="02040503050406030204"/>
                              <a:ea typeface="Cambria Math" panose="02040503050406030204"/>
                            </a:rPr>
                            <m:t>y</m:t>
                          </m:r>
                        </m:sub>
                        <m:sup>
                          <m:r>
                            <a:rPr lang="en-US" sz="1200" dirty="0">
                              <a:latin typeface="Cambria Math" panose="02040503050406030204"/>
                              <a:ea typeface="Cambria Math" panose="02040503050406030204"/>
                            </a:rPr>
                            <m:t>∗</m:t>
                          </m:r>
                        </m:sup>
                      </m:sSubSup>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m:t>
                      </m:r>
                      <m:r>
                        <a:rPr lang="en-US" sz="1200" dirty="0">
                          <a:latin typeface="Cambria Math" panose="02040503050406030204"/>
                          <a:ea typeface="Cambria Math" panose="02040503050406030204"/>
                        </a:rPr>
                        <m:t>𝑎𝑟𝑔</m:t>
                      </m:r>
                      <m:r>
                        <a:rPr lang="en-US" sz="1200" dirty="0">
                          <a:latin typeface="Cambria Math" panose="02040503050406030204"/>
                          <a:ea typeface="Cambria Math" panose="02040503050406030204"/>
                        </a:rPr>
                        <m:t>𝑚𝑖𝑛</m:t>
                      </m:r>
                      <m:r>
                        <a:rPr lang="en-US" sz="1200" dirty="0">
                          <a:latin typeface="Cambria Math" panose="02040503050406030204"/>
                          <a:ea typeface="Cambria Math" panose="02040503050406030204"/>
                        </a:rPr>
                        <m:t>𝜀</m:t>
                      </m:r>
                      <m:r>
                        <a:rPr lang="en-US" sz="1200" dirty="0">
                          <a:latin typeface="Cambria Math" panose="02040503050406030204"/>
                          <a:ea typeface="Cambria Math" panose="02040503050406030204"/>
                        </a:rPr>
                        <m:t>(</m:t>
                      </m:r>
                      <m:sSub>
                        <m:sSubPr>
                          <m:ctrlPr>
                            <a:rPr/>
                          </m:ctrlPr>
                        </m:sSubPr>
                        <m:e>
                          <m:acc>
                            <m:accPr>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x</m:t>
                          </m:r>
                        </m:sub>
                      </m:sSub>
                      <m:r>
                        <a:rPr lang="en-US" sz="1200" dirty="0">
                          <a:latin typeface="Cambria Math" panose="02040503050406030204"/>
                          <a:ea typeface="Cambria Math" panose="02040503050406030204"/>
                        </a:rPr>
                        <m:t>,</m:t>
                      </m:r>
                      <m:sSub>
                        <m:sSubPr>
                          <m:ctrlPr>
                            <a:rPr/>
                          </m:ctrlPr>
                        </m:sSubPr>
                        <m:e>
                          <m:acc>
                            <m:accPr>
                              <m:ctrlPr>
                                <a:rPr/>
                              </m:ctrlPr>
                            </m:accPr>
                            <m:e>
                              <m:r>
                                <m:rPr>
                                  <m:sty m:val="p"/>
                                </m:rPr>
                                <a:rPr lang="en-US" sz="1200" dirty="0">
                                  <a:latin typeface="Cambria Math" panose="02040503050406030204"/>
                                  <a:ea typeface="Cambria Math" panose="02040503050406030204"/>
                                </a:rPr>
                                <m:t>h</m:t>
                              </m:r>
                            </m:e>
                          </m:acc>
                        </m:e>
                        <m:sub>
                          <m:r>
                            <m:rPr>
                              <m:sty m:val="p"/>
                            </m:rPr>
                            <a:rPr lang="en-US" sz="1200" dirty="0">
                              <a:latin typeface="Cambria Math" panose="02040503050406030204"/>
                              <a:ea typeface="Cambria Math" panose="02040503050406030204"/>
                            </a:rPr>
                            <m:t>y</m:t>
                          </m:r>
                        </m:sub>
                      </m:sSub>
                      <m:r>
                        <a:rPr lang="en-US" sz="1200" dirty="0">
                          <a:latin typeface="Cambria Math" panose="02040503050406030204"/>
                          <a:ea typeface="Cambria Math" panose="02040503050406030204"/>
                        </a:rPr>
                        <m:t>)</m:t>
                      </m:r>
                    </m:oMath>
                  </m:oMathPara>
                </a14:m>
                <a:endParaRPr sz="600" dirty="0"/>
              </a:p>
            </p:txBody>
          </p:sp>
        </mc:Choice>
        <mc:Fallback>
          <p:sp>
            <p:nvSpPr>
              <p:cNvPr id="86" name="textbox 86"/>
              <p:cNvSpPr>
                <a:spLocks noRot="1" noChangeAspect="1" noMove="1" noResize="1" noEditPoints="1" noAdjustHandles="1" noChangeArrowheads="1" noChangeShapeType="1" noTextEdit="1"/>
              </p:cNvSpPr>
              <p:nvPr/>
            </p:nvSpPr>
            <p:spPr>
              <a:xfrm>
                <a:off x="6010275" y="5619750"/>
                <a:ext cx="1885950" cy="228600"/>
              </a:xfrm>
              <a:prstGeom prst="rect">
                <a:avLst/>
              </a:prstGeom>
              <a:blipFill rotWithShape="1">
                <a:blip r:embed="rId9"/>
                <a:stretch>
                  <a:fillRect/>
                </a:stretch>
              </a:blipFill>
              <a:ln w="0" cap="flat">
                <a:noFill/>
                <a:prstDash val="solid"/>
                <a:miter lim="0"/>
              </a:ln>
            </p:spPr>
            <p:txBody>
              <a:bodyPr/>
              <a:lstStyle/>
              <a:p>
                <a:r>
                  <a:rPr lang="zh-CN" altLang="en-US">
                    <a:noFill/>
                  </a:rPr>
                  <a:t> </a:t>
                </a:r>
              </a:p>
            </p:txBody>
          </p:sp>
        </mc:Fallback>
      </mc:AlternateContent>
      <p:sp>
        <p:nvSpPr>
          <p:cNvPr id="88" name="textbox 88"/>
          <p:cNvSpPr/>
          <p:nvPr/>
        </p:nvSpPr>
        <p:spPr>
          <a:xfrm>
            <a:off x="8715375" y="4857750"/>
            <a:ext cx="2447925" cy="381000"/>
          </a:xfrm>
          <a:prstGeom prst="rect">
            <a:avLst/>
          </a:prstGeom>
          <a:noFill/>
          <a:ln w="0" cap="flat">
            <a:noFill/>
            <a:prstDash val="solid"/>
            <a:miter lim="0"/>
          </a:ln>
        </p:spPr>
        <p:txBody>
          <a:bodyPr vert="horz" wrap="none" lIns="0" tIns="0" rIns="0" bIns="0"/>
          <a:p>
            <a:pPr marL="190500" indent="-171450" algn="l" rtl="0" eaLnBrk="0">
              <a:buChar char="•"/>
            </a:pPr>
            <a:r>
              <a:rPr sz="1000" b="1" kern="0" spc="0" dirty="0">
                <a:solidFill>
                  <a:srgbClr val="002060">
                    <a:alpha val="100000"/>
                  </a:srgbClr>
                </a:solidFill>
                <a:latin typeface="微软雅黑" panose="020B0503020204020204" charset="-122"/>
                <a:ea typeface="微软雅黑" panose="020B0503020204020204" charset="-122"/>
                <a:cs typeface="微软雅黑" panose="020B0503020204020204" charset="-122"/>
              </a:rPr>
              <a:t>带</a:t>
            </a:r>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宽控制估计偏差与方差之间的平衡，</a:t>
            </a:r>
            <a:endParaRPr sz="1000" b="1" dirty="0">
              <a:latin typeface="微软雅黑" panose="020B0503020204020204" charset="-122"/>
              <a:ea typeface="微软雅黑" panose="020B0503020204020204" charset="-122"/>
              <a:cs typeface="微软雅黑" panose="020B0503020204020204" charset="-122"/>
            </a:endParaRPr>
          </a:p>
          <a:p>
            <a:pPr marL="161925" algn="l" rtl="0" eaLnBrk="0">
              <a:spcBef>
                <a:spcPts val="450"/>
              </a:spcBef>
            </a:pPr>
            <a:r>
              <a:rPr lang="en-US"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是影响联合PDF重构精度的</a:t>
            </a:r>
            <a:r>
              <a:rPr sz="1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关键参数。</a:t>
            </a:r>
            <a:endParaRPr sz="1000" b="1" dirty="0">
              <a:latin typeface="微软雅黑" panose="020B0503020204020204" charset="-122"/>
              <a:ea typeface="微软雅黑" panose="020B0503020204020204" charset="-122"/>
              <a:cs typeface="微软雅黑" panose="020B0503020204020204" charset="-122"/>
            </a:endParaRPr>
          </a:p>
        </p:txBody>
      </p:sp>
      <p:sp>
        <p:nvSpPr>
          <p:cNvPr id="90" name="textbox 90"/>
          <p:cNvSpPr/>
          <p:nvPr/>
        </p:nvSpPr>
        <p:spPr>
          <a:xfrm>
            <a:off x="8715375" y="5314950"/>
            <a:ext cx="2428875" cy="581025"/>
          </a:xfrm>
          <a:prstGeom prst="rect">
            <a:avLst/>
          </a:prstGeom>
          <a:noFill/>
          <a:ln w="0" cap="flat">
            <a:noFill/>
            <a:prstDash val="solid"/>
            <a:miter lim="0"/>
          </a:ln>
        </p:spPr>
        <p:txBody>
          <a:bodyPr vert="horz" wrap="none" lIns="0" tIns="0" rIns="0" bIns="0"/>
          <a:p>
            <a:pPr marL="200025" indent="-180975" algn="l" rtl="0" eaLnBrk="0">
              <a:buChar char="•"/>
            </a:pPr>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所提方法以</a:t>
            </a:r>
            <a:r>
              <a:rPr sz="1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频域误差最小化</a:t>
            </a:r>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为目标，</a:t>
            </a:r>
            <a:endParaRPr sz="1000" b="1" dirty="0">
              <a:latin typeface="微软雅黑" panose="020B0503020204020204" charset="-122"/>
              <a:ea typeface="微软雅黑" panose="020B0503020204020204" charset="-122"/>
              <a:cs typeface="微软雅黑" panose="020B0503020204020204" charset="-122"/>
            </a:endParaRPr>
          </a:p>
          <a:p>
            <a:pPr marL="161925" algn="l" rtl="0" eaLnBrk="0">
              <a:spcBef>
                <a:spcPts val="375"/>
              </a:spcBef>
            </a:pPr>
            <a:r>
              <a:rPr lang="en-US"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提高了复杂风速-风向联合分布重构</a:t>
            </a:r>
            <a:endParaRPr sz="1000" b="1" dirty="0">
              <a:latin typeface="微软雅黑" panose="020B0503020204020204" charset="-122"/>
              <a:ea typeface="微软雅黑" panose="020B0503020204020204" charset="-122"/>
              <a:cs typeface="微软雅黑" panose="020B0503020204020204" charset="-122"/>
            </a:endParaRPr>
          </a:p>
          <a:p>
            <a:pPr marL="142875" algn="l" rtl="0" eaLnBrk="0">
              <a:spcBef>
                <a:spcPts val="375"/>
              </a:spcBef>
            </a:pPr>
            <a:r>
              <a:rPr lang="en-US"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的准确性与鲁棒性。</a:t>
            </a:r>
            <a:endParaRPr sz="1000" b="1" dirty="0">
              <a:latin typeface="微软雅黑" panose="020B0503020204020204" charset="-122"/>
              <a:ea typeface="微软雅黑" panose="020B0503020204020204" charset="-122"/>
              <a:cs typeface="微软雅黑" panose="020B0503020204020204" charset="-122"/>
            </a:endParaRPr>
          </a:p>
        </p:txBody>
      </p:sp>
      <p:sp>
        <p:nvSpPr>
          <p:cNvPr id="92" name="textbox 92"/>
          <p:cNvSpPr/>
          <p:nvPr/>
        </p:nvSpPr>
        <p:spPr>
          <a:xfrm>
            <a:off x="1571625" y="6134100"/>
            <a:ext cx="8848725" cy="238125"/>
          </a:xfrm>
          <a:prstGeom prst="rect">
            <a:avLst/>
          </a:prstGeom>
          <a:noFill/>
          <a:ln w="0" cap="flat">
            <a:noFill/>
            <a:prstDash val="solid"/>
            <a:miter lim="0"/>
          </a:ln>
        </p:spPr>
        <p:txBody>
          <a:bodyPr vert="horz" wrap="none" lIns="0" tIns="0" rIns="0" bIns="0"/>
          <a:p>
            <a:pPr algn="l" rtl="0" eaLnBrk="0"/>
            <a:r>
              <a:rPr sz="1600" b="1" kern="0" spc="0" dirty="0">
                <a:solidFill>
                  <a:srgbClr val="1F497D">
                    <a:alpha val="100000"/>
                  </a:srgbClr>
                </a:solidFill>
                <a:latin typeface="微软雅黑" panose="020B0503020204020204" charset="-122"/>
                <a:ea typeface="微软雅黑" panose="020B0503020204020204" charset="-122"/>
                <a:cs typeface="微软雅黑" panose="020B0503020204020204" charset="-122"/>
              </a:rPr>
              <a:t>核心思想：以</a:t>
            </a:r>
            <a:r>
              <a:rPr sz="16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联合特征函数</a:t>
            </a:r>
            <a:r>
              <a:rPr sz="1600" b="1" kern="0" spc="0" dirty="0">
                <a:solidFill>
                  <a:srgbClr val="1F497D">
                    <a:alpha val="100000"/>
                  </a:srgbClr>
                </a:solidFill>
                <a:latin typeface="微软雅黑" panose="020B0503020204020204" charset="-122"/>
                <a:ea typeface="微软雅黑" panose="020B0503020204020204" charset="-122"/>
                <a:cs typeface="微软雅黑" panose="020B0503020204020204" charset="-122"/>
              </a:rPr>
              <a:t>为桥梁，将二维核密度估计的带宽选择问题转化为</a:t>
            </a:r>
            <a:r>
              <a:rPr sz="16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频域误差最小化</a:t>
            </a:r>
            <a:r>
              <a:rPr sz="1600" b="1" kern="0" spc="0" dirty="0">
                <a:solidFill>
                  <a:srgbClr val="1F497D">
                    <a:alpha val="100000"/>
                  </a:srgbClr>
                </a:solidFill>
                <a:latin typeface="微软雅黑" panose="020B0503020204020204" charset="-122"/>
                <a:ea typeface="微软雅黑" panose="020B0503020204020204" charset="-122"/>
                <a:cs typeface="微软雅黑" panose="020B0503020204020204" charset="-122"/>
              </a:rPr>
              <a:t>问题。</a:t>
            </a:r>
            <a:endParaRPr sz="1600" dirty="0"/>
          </a:p>
        </p:txBody>
      </p:sp>
      <p:sp>
        <p:nvSpPr>
          <p:cNvPr id="5" name="椭圆 4"/>
          <p:cNvSpPr/>
          <p:nvPr/>
        </p:nvSpPr>
        <p:spPr>
          <a:xfrm>
            <a:off x="711200" y="480695"/>
            <a:ext cx="539750" cy="519430"/>
          </a:xfrm>
          <a:prstGeom prst="ellipse">
            <a:avLst/>
          </a:prstGeom>
          <a:solidFill>
            <a:srgbClr val="2F5597"/>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200" b="1">
                <a:latin typeface="微软雅黑" panose="020B0503020204020204" charset="-122"/>
                <a:ea typeface="微软雅黑" panose="020B0503020204020204" charset="-122"/>
                <a:cs typeface="Times New Roman" panose="02020603050405020304" charset="0"/>
              </a:rPr>
              <a:t>3</a:t>
            </a:r>
            <a:endParaRPr lang="en-US" altLang="zh-CN" sz="3200" b="1">
              <a:latin typeface="微软雅黑" panose="020B0503020204020204" charset="-122"/>
              <a:ea typeface="微软雅黑" panose="020B0503020204020204" charset="-122"/>
              <a:cs typeface="Times New Roman" panose="02020603050405020304" charset="0"/>
            </a:endParaRPr>
          </a:p>
        </p:txBody>
      </p:sp>
      <p:sp>
        <p:nvSpPr>
          <p:cNvPr id="100" name="textbox 100"/>
          <p:cNvSpPr/>
          <p:nvPr/>
        </p:nvSpPr>
        <p:spPr>
          <a:xfrm>
            <a:off x="1076325" y="485775"/>
            <a:ext cx="5299075" cy="438150"/>
          </a:xfrm>
          <a:prstGeom prst="rect">
            <a:avLst/>
          </a:prstGeom>
          <a:noFill/>
          <a:ln w="0" cap="flat">
            <a:noFill/>
            <a:prstDash val="solid"/>
            <a:miter lim="0"/>
          </a:ln>
        </p:spPr>
        <p:txBody>
          <a:bodyPr vert="horz" wrap="none" lIns="0" tIns="0" rIns="0" bIns="0"/>
          <a:p>
            <a:pPr algn="l" rtl="0" eaLnBrk="0"/>
            <a:r>
              <a:rPr sz="3200" b="1" kern="0" spc="0" dirty="0">
                <a:solidFill>
                  <a:schemeClr val="bg1">
                    <a:alpha val="100000"/>
                  </a:schemeClr>
                </a:solidFill>
                <a:latin typeface="微软雅黑" panose="020B0503020204020204" charset="-122"/>
                <a:ea typeface="微软雅黑" panose="020B0503020204020204" charset="-122"/>
                <a:cs typeface="微软雅黑" panose="020B0503020204020204" charset="-122"/>
              </a:rPr>
              <a:t> </a:t>
            </a:r>
            <a:r>
              <a:rPr lang="en-US" sz="3200" b="1" kern="0" spc="0" dirty="0">
                <a:solidFill>
                  <a:schemeClr val="bg1">
                    <a:alpha val="100000"/>
                  </a:schemeClr>
                </a:solidFill>
                <a:latin typeface="微软雅黑" panose="020B0503020204020204" charset="-122"/>
                <a:ea typeface="微软雅黑" panose="020B0503020204020204" charset="-122"/>
                <a:cs typeface="微软雅黑" panose="020B0503020204020204" charset="-122"/>
              </a:rPr>
              <a:t> </a:t>
            </a:r>
            <a:r>
              <a:rPr sz="3200" b="1" kern="0" spc="0" dirty="0">
                <a:solidFill>
                  <a:srgbClr val="2F5597">
                    <a:alpha val="100000"/>
                  </a:srgbClr>
                </a:solidFill>
                <a:latin typeface="微软雅黑" panose="020B0503020204020204" charset="-122"/>
                <a:ea typeface="微软雅黑" panose="020B0503020204020204" charset="-122"/>
                <a:cs typeface="微软雅黑" panose="020B0503020204020204" charset="-122"/>
              </a:rPr>
              <a:t>动力响应性能与疲劳寿命评估</a:t>
            </a:r>
            <a:endParaRPr sz="3200" dirty="0"/>
          </a:p>
        </p:txBody>
      </p:sp>
      <p:sp>
        <p:nvSpPr>
          <p:cNvPr id="6" name="圆角矩形 5"/>
          <p:cNvSpPr/>
          <p:nvPr/>
        </p:nvSpPr>
        <p:spPr>
          <a:xfrm>
            <a:off x="892175" y="1538605"/>
            <a:ext cx="4815840" cy="4446905"/>
          </a:xfrm>
          <a:prstGeom prst="roundRect">
            <a:avLst>
              <a:gd name="adj" fmla="val 2356"/>
            </a:avLst>
          </a:prstGeom>
          <a:noFill/>
          <a:ln>
            <a:solidFill>
              <a:srgbClr val="59697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同侧圆角矩形 6"/>
          <p:cNvSpPr/>
          <p:nvPr/>
        </p:nvSpPr>
        <p:spPr>
          <a:xfrm>
            <a:off x="892175" y="1513840"/>
            <a:ext cx="4819650" cy="275590"/>
          </a:xfrm>
          <a:prstGeom prst="round2SameRect">
            <a:avLst>
              <a:gd name="adj1" fmla="val 31566"/>
              <a:gd name="adj2" fmla="val 0"/>
            </a:avLst>
          </a:prstGeom>
          <a:solidFill>
            <a:srgbClr val="00399C"/>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rPr>
              <a:t>理论基础</a:t>
            </a:r>
            <a:endParaRPr lang="zh-CN" altLang="en-US" b="1">
              <a:latin typeface="微软雅黑" panose="020B0503020204020204" charset="-122"/>
              <a:ea typeface="微软雅黑" panose="020B0503020204020204" charset="-122"/>
            </a:endParaRPr>
          </a:p>
        </p:txBody>
      </p:sp>
      <p:sp>
        <p:nvSpPr>
          <p:cNvPr id="8" name="圆角矩形 7"/>
          <p:cNvSpPr/>
          <p:nvPr/>
        </p:nvSpPr>
        <p:spPr>
          <a:xfrm>
            <a:off x="5796915" y="1562100"/>
            <a:ext cx="5507355" cy="4446905"/>
          </a:xfrm>
          <a:prstGeom prst="roundRect">
            <a:avLst>
              <a:gd name="adj" fmla="val 2356"/>
            </a:avLst>
          </a:prstGeom>
          <a:noFill/>
          <a:ln>
            <a:solidFill>
              <a:srgbClr val="59697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同侧圆角矩形 10"/>
          <p:cNvSpPr/>
          <p:nvPr/>
        </p:nvSpPr>
        <p:spPr>
          <a:xfrm>
            <a:off x="5796915" y="1537335"/>
            <a:ext cx="5511165" cy="275590"/>
          </a:xfrm>
          <a:prstGeom prst="round2SameRect">
            <a:avLst>
              <a:gd name="adj1" fmla="val 31566"/>
              <a:gd name="adj2" fmla="val 0"/>
            </a:avLst>
          </a:prstGeom>
          <a:solidFill>
            <a:srgbClr val="00399C"/>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微软雅黑" panose="020B0503020204020204" charset="-122"/>
                <a:ea typeface="微软雅黑" panose="020B0503020204020204" charset="-122"/>
              </a:rPr>
              <a:t>带宽优化思路</a:t>
            </a:r>
            <a:endParaRPr lang="zh-CN" altLang="en-US" b="1">
              <a:latin typeface="微软雅黑" panose="020B0503020204020204" charset="-122"/>
              <a:ea typeface="微软雅黑" panose="020B0503020204020204" charset="-122"/>
            </a:endParaRPr>
          </a:p>
        </p:txBody>
      </p:sp>
      <p:sp>
        <p:nvSpPr>
          <p:cNvPr id="13" name="圆角矩形 12"/>
          <p:cNvSpPr/>
          <p:nvPr/>
        </p:nvSpPr>
        <p:spPr>
          <a:xfrm>
            <a:off x="1075690" y="3740785"/>
            <a:ext cx="4356735" cy="2155190"/>
          </a:xfrm>
          <a:prstGeom prst="roundRect">
            <a:avLst>
              <a:gd name="adj" fmla="val 6275"/>
            </a:avLst>
          </a:prstGeom>
          <a:noFill/>
          <a:ln>
            <a:solidFill>
              <a:srgbClr val="9B9CA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圆角矩形 14"/>
          <p:cNvSpPr/>
          <p:nvPr/>
        </p:nvSpPr>
        <p:spPr>
          <a:xfrm>
            <a:off x="2694940" y="3669030"/>
            <a:ext cx="865505" cy="226695"/>
          </a:xfrm>
          <a:prstGeom prst="roundRect">
            <a:avLst>
              <a:gd name="adj" fmla="val 31932"/>
            </a:avLst>
          </a:prstGeom>
          <a:solidFill>
            <a:srgbClr val="00399C"/>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eaLnBrk="0"/>
            <a:r>
              <a:rPr sz="1200" b="1" kern="0" dirty="0">
                <a:solidFill>
                  <a:srgbClr val="FFFFFF">
                    <a:alpha val="100000"/>
                  </a:srgbClr>
                </a:solidFill>
                <a:latin typeface="微软雅黑" panose="020B0503020204020204" charset="-122"/>
                <a:ea typeface="微软雅黑" panose="020B0503020204020204" charset="-122"/>
                <a:cs typeface="黑体" panose="02010609060101010101" charset="-122"/>
                <a:sym typeface="+mn-ea"/>
              </a:rPr>
              <a:t>关键公式</a:t>
            </a:r>
            <a:endParaRPr lang="zh-CN" altLang="en-US"/>
          </a:p>
        </p:txBody>
      </p:sp>
      <p:sp>
        <p:nvSpPr>
          <p:cNvPr id="19" name="圆角矩形 18"/>
          <p:cNvSpPr/>
          <p:nvPr/>
        </p:nvSpPr>
        <p:spPr>
          <a:xfrm>
            <a:off x="5796915" y="4743450"/>
            <a:ext cx="836295" cy="226060"/>
          </a:xfrm>
          <a:prstGeom prst="roundRect">
            <a:avLst>
              <a:gd name="adj" fmla="val 31932"/>
            </a:avLst>
          </a:prstGeom>
          <a:solidFill>
            <a:srgbClr val="00399C"/>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1200" b="1" kern="0" dirty="0">
                <a:solidFill>
                  <a:srgbClr val="FFFFFF">
                    <a:alpha val="100000"/>
                  </a:srgbClr>
                </a:solidFill>
                <a:latin typeface="微软雅黑" panose="020B0503020204020204" charset="-122"/>
                <a:ea typeface="微软雅黑" panose="020B0503020204020204" charset="-122"/>
                <a:cs typeface="黑体" panose="02010609060101010101" charset="-122"/>
                <a:sym typeface="+mn-ea"/>
              </a:rPr>
              <a:t>优化准则</a:t>
            </a:r>
            <a:endParaRPr lang="zh-CN" altLang="en-US"/>
          </a:p>
        </p:txBody>
      </p:sp>
      <p:sp>
        <p:nvSpPr>
          <p:cNvPr id="23" name="圆角矩形 22"/>
          <p:cNvSpPr/>
          <p:nvPr/>
        </p:nvSpPr>
        <p:spPr>
          <a:xfrm>
            <a:off x="892175" y="6076950"/>
            <a:ext cx="10429875" cy="361950"/>
          </a:xfrm>
          <a:prstGeom prst="roundRect">
            <a:avLst>
              <a:gd name="adj" fmla="val 20175"/>
            </a:avLst>
          </a:prstGeom>
          <a:noFill/>
          <a:ln>
            <a:solidFill>
              <a:srgbClr val="9B9CA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5" name="直接连接符 24"/>
          <p:cNvCxnSpPr/>
          <p:nvPr/>
        </p:nvCxnSpPr>
        <p:spPr>
          <a:xfrm>
            <a:off x="1314450" y="996950"/>
            <a:ext cx="10204450" cy="0"/>
          </a:xfrm>
          <a:prstGeom prst="line">
            <a:avLst/>
          </a:prstGeom>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71" name="文本框 7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42/68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 name="textbox 104"/>
          <p:cNvSpPr/>
          <p:nvPr/>
        </p:nvSpPr>
        <p:spPr>
          <a:xfrm>
            <a:off x="990600" y="1162050"/>
            <a:ext cx="4733925" cy="304800"/>
          </a:xfrm>
          <a:prstGeom prst="rect">
            <a:avLst/>
          </a:prstGeom>
          <a:noFill/>
          <a:ln w="0" cap="flat">
            <a:noFill/>
            <a:prstDash val="solid"/>
            <a:miter lim="0"/>
          </a:ln>
        </p:spPr>
        <p:txBody>
          <a:bodyPr vert="horz" wrap="none" lIns="0" tIns="0" rIns="0" bIns="0"/>
          <a:p>
            <a:pPr marL="419100" indent="-390525" algn="l" rtl="0" eaLnBrk="0">
              <a:buChar char="■"/>
            </a:pPr>
            <a:r>
              <a:rPr sz="2200" b="1" kern="0" spc="0" dirty="0">
                <a:solidFill>
                  <a:srgbClr val="44596C">
                    <a:alpha val="100000"/>
                  </a:srgbClr>
                </a:solidFill>
                <a:latin typeface="微软雅黑" panose="020B0503020204020204" charset="-122"/>
                <a:ea typeface="微软雅黑" panose="020B0503020204020204" charset="-122"/>
                <a:cs typeface="微软雅黑" panose="020B0503020204020204" charset="-122"/>
              </a:rPr>
              <a:t>风速风向联合概率密度函数的重构</a:t>
            </a:r>
            <a:endParaRPr sz="2200" dirty="0"/>
          </a:p>
        </p:txBody>
      </p:sp>
      <p:pic>
        <p:nvPicPr>
          <p:cNvPr id="108" name="picture 108"/>
          <p:cNvPicPr>
            <a:picLocks noChangeAspect="1"/>
          </p:cNvPicPr>
          <p:nvPr/>
        </p:nvPicPr>
        <p:blipFill>
          <a:blip r:embed="rId1"/>
          <a:stretch>
            <a:fillRect/>
          </a:stretch>
        </p:blipFill>
        <p:spPr>
          <a:xfrm>
            <a:off x="1428750" y="1628775"/>
            <a:ext cx="3886200" cy="3114675"/>
          </a:xfrm>
          <a:prstGeom prst="rect">
            <a:avLst/>
          </a:prstGeom>
        </p:spPr>
      </p:pic>
      <p:sp>
        <p:nvSpPr>
          <p:cNvPr id="110" name="textbox 110"/>
          <p:cNvSpPr/>
          <p:nvPr/>
        </p:nvSpPr>
        <p:spPr>
          <a:xfrm>
            <a:off x="3590925" y="1647825"/>
            <a:ext cx="219075" cy="85725"/>
          </a:xfrm>
          <a:prstGeom prst="rect">
            <a:avLst/>
          </a:prstGeom>
          <a:noFill/>
          <a:ln w="0" cap="flat">
            <a:noFill/>
            <a:prstDash val="solid"/>
            <a:miter lim="0"/>
          </a:ln>
        </p:spPr>
        <p:txBody>
          <a:bodyPr vert="horz" wrap="none" lIns="0" tIns="0" rIns="0" bIns="0"/>
          <a:p>
            <a:pPr algn="l" rtl="0" eaLnBrk="0"/>
            <a:r>
              <a:rPr sz="600" b="1" kern="0" spc="0" dirty="0">
                <a:solidFill>
                  <a:srgbClr val="000000">
                    <a:alpha val="100000"/>
                  </a:srgbClr>
                </a:solidFill>
                <a:latin typeface="Arial" panose="020B0604020202020204"/>
                <a:ea typeface="Arial" panose="020B0604020202020204"/>
                <a:cs typeface="Arial" panose="020B0604020202020204"/>
              </a:rPr>
              <a:t>N (0')</a:t>
            </a:r>
            <a:endParaRPr sz="600" dirty="0"/>
          </a:p>
        </p:txBody>
      </p:sp>
      <p:sp>
        <p:nvSpPr>
          <p:cNvPr id="112" name="textbox 112"/>
          <p:cNvSpPr/>
          <p:nvPr/>
        </p:nvSpPr>
        <p:spPr>
          <a:xfrm>
            <a:off x="2895600" y="1743075"/>
            <a:ext cx="466725" cy="114300"/>
          </a:xfrm>
          <a:prstGeom prst="rect">
            <a:avLst/>
          </a:prstGeom>
          <a:noFill/>
          <a:ln w="0" cap="flat">
            <a:noFill/>
            <a:prstDash val="solid"/>
            <a:miter lim="0"/>
          </a:ln>
        </p:spPr>
        <p:txBody>
          <a:bodyPr vert="horz" wrap="none" lIns="0" tIns="0" rIns="0" bIns="0"/>
          <a:p>
            <a:pPr algn="l" rtl="0" eaLnBrk="0"/>
            <a:r>
              <a:rPr sz="500" kern="0" spc="75" dirty="0">
                <a:solidFill>
                  <a:srgbClr val="000000">
                    <a:alpha val="100000"/>
                  </a:srgbClr>
                </a:solidFill>
                <a:latin typeface="微软雅黑" panose="020B0503020204020204" charset="-122"/>
                <a:ea typeface="微软雅黑" panose="020B0503020204020204" charset="-122"/>
                <a:cs typeface="微软雅黑" panose="020B0503020204020204" charset="-122"/>
              </a:rPr>
              <a:t>NNW(337.5')</a:t>
            </a:r>
            <a:endParaRPr sz="500" dirty="0"/>
          </a:p>
        </p:txBody>
      </p:sp>
      <p:sp>
        <p:nvSpPr>
          <p:cNvPr id="114" name="textbox 114"/>
          <p:cNvSpPr/>
          <p:nvPr/>
        </p:nvSpPr>
        <p:spPr>
          <a:xfrm>
            <a:off x="4057650" y="1743075"/>
            <a:ext cx="409575" cy="114300"/>
          </a:xfrm>
          <a:prstGeom prst="rect">
            <a:avLst/>
          </a:prstGeom>
          <a:noFill/>
          <a:ln w="0" cap="flat">
            <a:noFill/>
            <a:prstDash val="solid"/>
            <a:miter lim="0"/>
          </a:ln>
        </p:spPr>
        <p:txBody>
          <a:bodyPr vert="horz" wrap="none" lIns="0" tIns="0" rIns="0" bIns="0"/>
          <a:p>
            <a:pPr algn="l" rtl="0" eaLnBrk="0"/>
            <a:r>
              <a:rPr sz="500" b="1" kern="0" spc="0" dirty="0">
                <a:solidFill>
                  <a:srgbClr val="000000">
                    <a:alpha val="100000"/>
                  </a:srgbClr>
                </a:solidFill>
                <a:latin typeface="Arial" panose="020B0604020202020204"/>
                <a:ea typeface="Arial" panose="020B0604020202020204"/>
                <a:cs typeface="Arial" panose="020B0604020202020204"/>
              </a:rPr>
              <a:t>NNE (22.5')</a:t>
            </a:r>
            <a:endParaRPr sz="500" dirty="0"/>
          </a:p>
        </p:txBody>
      </p:sp>
      <p:sp>
        <p:nvSpPr>
          <p:cNvPr id="116" name="textbox 116"/>
          <p:cNvSpPr/>
          <p:nvPr/>
        </p:nvSpPr>
        <p:spPr>
          <a:xfrm>
            <a:off x="2457450" y="2066925"/>
            <a:ext cx="371475" cy="123825"/>
          </a:xfrm>
          <a:prstGeom prst="rect">
            <a:avLst/>
          </a:prstGeom>
          <a:noFill/>
          <a:ln w="0" cap="flat">
            <a:noFill/>
            <a:prstDash val="solid"/>
            <a:miter lim="0"/>
          </a:ln>
        </p:spPr>
        <p:txBody>
          <a:bodyPr vert="horz" wrap="none" lIns="0" tIns="0" rIns="0" bIns="0"/>
          <a:p>
            <a:pPr algn="l" rtl="0" eaLnBrk="0"/>
            <a:r>
              <a:rPr sz="500" b="1" kern="0" spc="75" dirty="0">
                <a:solidFill>
                  <a:srgbClr val="000000">
                    <a:alpha val="100000"/>
                  </a:srgbClr>
                </a:solidFill>
                <a:latin typeface="Arial" panose="020B0604020202020204"/>
                <a:ea typeface="Arial" panose="020B0604020202020204"/>
                <a:cs typeface="Arial" panose="020B0604020202020204"/>
              </a:rPr>
              <a:t>NW (315")</a:t>
            </a:r>
            <a:endParaRPr sz="500" dirty="0"/>
          </a:p>
        </p:txBody>
      </p:sp>
      <p:sp>
        <p:nvSpPr>
          <p:cNvPr id="118" name="textbox 118"/>
          <p:cNvSpPr/>
          <p:nvPr/>
        </p:nvSpPr>
        <p:spPr>
          <a:xfrm>
            <a:off x="4591050" y="2066925"/>
            <a:ext cx="304800" cy="133350"/>
          </a:xfrm>
          <a:prstGeom prst="rect">
            <a:avLst/>
          </a:prstGeom>
          <a:noFill/>
          <a:ln w="0" cap="flat">
            <a:noFill/>
            <a:prstDash val="solid"/>
            <a:miter lim="0"/>
          </a:ln>
        </p:spPr>
        <p:txBody>
          <a:bodyPr vert="horz" wrap="none" lIns="0" tIns="0" rIns="0" bIns="0"/>
          <a:p>
            <a:pPr algn="l" rtl="0" eaLnBrk="0"/>
            <a:r>
              <a:rPr sz="600" kern="0" spc="0" dirty="0">
                <a:solidFill>
                  <a:srgbClr val="000000">
                    <a:alpha val="100000"/>
                  </a:srgbClr>
                </a:solidFill>
                <a:latin typeface="Arial" panose="020B0604020202020204"/>
                <a:ea typeface="Arial" panose="020B0604020202020204"/>
                <a:cs typeface="Arial" panose="020B0604020202020204"/>
              </a:rPr>
              <a:t>NE (46')</a:t>
            </a:r>
            <a:endParaRPr sz="600" dirty="0"/>
          </a:p>
        </p:txBody>
      </p:sp>
      <p:sp>
        <p:nvSpPr>
          <p:cNvPr id="120" name="textbox 120"/>
          <p:cNvSpPr/>
          <p:nvPr/>
        </p:nvSpPr>
        <p:spPr>
          <a:xfrm>
            <a:off x="4857750" y="2533650"/>
            <a:ext cx="438150" cy="142875"/>
          </a:xfrm>
          <a:prstGeom prst="rect">
            <a:avLst/>
          </a:prstGeom>
          <a:noFill/>
          <a:ln w="0" cap="flat">
            <a:noFill/>
            <a:prstDash val="solid"/>
            <a:miter lim="0"/>
          </a:ln>
        </p:spPr>
        <p:txBody>
          <a:bodyPr vert="horz" wrap="none" lIns="0" tIns="0" rIns="0" bIns="0"/>
          <a:p>
            <a:pPr algn="l" rtl="0" eaLnBrk="0"/>
            <a:r>
              <a:rPr sz="600" b="1" kern="0" spc="0" dirty="0">
                <a:solidFill>
                  <a:srgbClr val="000000">
                    <a:alpha val="100000"/>
                  </a:srgbClr>
                </a:solidFill>
                <a:latin typeface="Arial" panose="020B0604020202020204"/>
                <a:ea typeface="Arial" panose="020B0604020202020204"/>
                <a:cs typeface="Arial" panose="020B0604020202020204"/>
              </a:rPr>
              <a:t>ENE (67.5')</a:t>
            </a:r>
            <a:endParaRPr sz="600" dirty="0"/>
          </a:p>
        </p:txBody>
      </p:sp>
      <p:sp>
        <p:nvSpPr>
          <p:cNvPr id="122" name="textbox 122"/>
          <p:cNvSpPr/>
          <p:nvPr/>
        </p:nvSpPr>
        <p:spPr>
          <a:xfrm>
            <a:off x="2076450" y="2571750"/>
            <a:ext cx="457200" cy="57150"/>
          </a:xfrm>
          <a:prstGeom prst="rect">
            <a:avLst/>
          </a:prstGeom>
          <a:noFill/>
          <a:ln w="0" cap="flat">
            <a:noFill/>
            <a:prstDash val="solid"/>
            <a:miter lim="0"/>
          </a:ln>
        </p:spPr>
        <p:txBody>
          <a:bodyPr vert="horz" wrap="none" lIns="0" tIns="0" rIns="0" bIns="0"/>
          <a:p>
            <a:pPr algn="l" rtl="0" eaLnBrk="0"/>
            <a:endParaRPr sz="600" dirty="0"/>
          </a:p>
        </p:txBody>
      </p:sp>
      <p:sp>
        <p:nvSpPr>
          <p:cNvPr id="124" name="textbox 124"/>
          <p:cNvSpPr/>
          <p:nvPr/>
        </p:nvSpPr>
        <p:spPr>
          <a:xfrm rot="5400000">
            <a:off x="1428750" y="2828925"/>
            <a:ext cx="152400" cy="685800"/>
          </a:xfrm>
          <a:prstGeom prst="rect">
            <a:avLst/>
          </a:prstGeom>
          <a:noFill/>
          <a:ln w="0" cap="flat">
            <a:noFill/>
            <a:prstDash val="solid"/>
            <a:miter lim="0"/>
          </a:ln>
        </p:spPr>
        <p:txBody>
          <a:bodyPr vert="horz" wrap="none" lIns="0" tIns="0" rIns="0" bIns="0"/>
          <a:p>
            <a:pPr algn="l" rtl="0" eaLnBrk="0"/>
            <a:r>
              <a:rPr sz="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Wind Speed (m/s)</a:t>
            </a:r>
            <a:endParaRPr sz="500" dirty="0"/>
          </a:p>
        </p:txBody>
      </p:sp>
      <p:sp>
        <p:nvSpPr>
          <p:cNvPr id="126" name="textbox 126"/>
          <p:cNvSpPr/>
          <p:nvPr/>
        </p:nvSpPr>
        <p:spPr>
          <a:xfrm>
            <a:off x="2038350" y="3124200"/>
            <a:ext cx="304800" cy="123825"/>
          </a:xfrm>
          <a:prstGeom prst="rect">
            <a:avLst/>
          </a:prstGeom>
          <a:noFill/>
          <a:ln w="0" cap="flat">
            <a:noFill/>
            <a:prstDash val="solid"/>
            <a:miter lim="0"/>
          </a:ln>
        </p:spPr>
        <p:txBody>
          <a:bodyPr vert="horz" wrap="none" lIns="0" tIns="0" rIns="0" bIns="0"/>
          <a:p>
            <a:pPr algn="l" rtl="0" eaLnBrk="0"/>
            <a:r>
              <a:rPr sz="500" b="1" kern="0" spc="0" dirty="0">
                <a:solidFill>
                  <a:srgbClr val="000000">
                    <a:alpha val="100000"/>
                  </a:srgbClr>
                </a:solidFill>
                <a:latin typeface="Arial" panose="020B0604020202020204"/>
                <a:ea typeface="Arial" panose="020B0604020202020204"/>
                <a:cs typeface="Arial" panose="020B0604020202020204"/>
              </a:rPr>
              <a:t>W (270')</a:t>
            </a:r>
            <a:endParaRPr sz="500" dirty="0"/>
          </a:p>
        </p:txBody>
      </p:sp>
      <p:sp>
        <p:nvSpPr>
          <p:cNvPr id="128" name="textbox 128"/>
          <p:cNvSpPr/>
          <p:nvPr/>
        </p:nvSpPr>
        <p:spPr>
          <a:xfrm>
            <a:off x="5048250" y="3124200"/>
            <a:ext cx="266700" cy="123825"/>
          </a:xfrm>
          <a:prstGeom prst="rect">
            <a:avLst/>
          </a:prstGeom>
          <a:noFill/>
          <a:ln w="0" cap="flat">
            <a:noFill/>
            <a:prstDash val="solid"/>
            <a:miter lim="0"/>
          </a:ln>
        </p:spPr>
        <p:txBody>
          <a:bodyPr vert="horz" wrap="none" lIns="0" tIns="0" rIns="0" bIns="0"/>
          <a:p>
            <a:pPr algn="l" rtl="0" eaLnBrk="0"/>
            <a:r>
              <a:rPr sz="500" b="1" kern="0" spc="0" dirty="0">
                <a:solidFill>
                  <a:srgbClr val="000000">
                    <a:alpha val="100000"/>
                  </a:srgbClr>
                </a:solidFill>
                <a:latin typeface="黑体" panose="02010609060101010101" charset="-122"/>
                <a:ea typeface="黑体" panose="02010609060101010101" charset="-122"/>
                <a:cs typeface="黑体" panose="02010609060101010101" charset="-122"/>
              </a:rPr>
              <a:t>E (90°)</a:t>
            </a:r>
            <a:endParaRPr sz="500" dirty="0"/>
          </a:p>
        </p:txBody>
      </p:sp>
      <p:sp>
        <p:nvSpPr>
          <p:cNvPr id="130" name="textbox 130"/>
          <p:cNvSpPr/>
          <p:nvPr/>
        </p:nvSpPr>
        <p:spPr>
          <a:xfrm>
            <a:off x="2066925" y="3648075"/>
            <a:ext cx="495300" cy="190500"/>
          </a:xfrm>
          <a:prstGeom prst="rect">
            <a:avLst/>
          </a:prstGeom>
          <a:noFill/>
          <a:ln w="0" cap="flat">
            <a:noFill/>
            <a:prstDash val="solid"/>
            <a:miter lim="0"/>
          </a:ln>
        </p:spPr>
        <p:txBody>
          <a:bodyPr vert="horz" wrap="none" lIns="0" tIns="0" rIns="0" bIns="0"/>
          <a:p>
            <a:pPr algn="l" rtl="0" eaLnBrk="0"/>
            <a:r>
              <a:rPr sz="500" b="1" kern="0" spc="0" dirty="0">
                <a:solidFill>
                  <a:srgbClr val="000000">
                    <a:alpha val="100000"/>
                  </a:srgbClr>
                </a:solidFill>
                <a:latin typeface="Arial" panose="020B0604020202020204"/>
                <a:ea typeface="Arial" panose="020B0604020202020204"/>
                <a:cs typeface="Arial" panose="020B0604020202020204"/>
              </a:rPr>
              <a:t>WSW (247.8°)</a:t>
            </a:r>
            <a:endParaRPr sz="500" dirty="0"/>
          </a:p>
        </p:txBody>
      </p:sp>
      <p:sp>
        <p:nvSpPr>
          <p:cNvPr id="132" name="textbox 132"/>
          <p:cNvSpPr/>
          <p:nvPr/>
        </p:nvSpPr>
        <p:spPr>
          <a:xfrm>
            <a:off x="4848225" y="3676650"/>
            <a:ext cx="457200" cy="152400"/>
          </a:xfrm>
          <a:prstGeom prst="rect">
            <a:avLst/>
          </a:prstGeom>
          <a:noFill/>
          <a:ln w="0" cap="flat">
            <a:noFill/>
            <a:prstDash val="solid"/>
            <a:miter lim="0"/>
          </a:ln>
        </p:spPr>
        <p:txBody>
          <a:bodyPr vert="horz" wrap="none" lIns="0" tIns="0" rIns="0" bIns="0"/>
          <a:p>
            <a:pPr algn="l" rtl="0" eaLnBrk="0"/>
            <a:r>
              <a:rPr sz="600" kern="0" spc="0" dirty="0">
                <a:solidFill>
                  <a:srgbClr val="000000">
                    <a:alpha val="100000"/>
                  </a:srgbClr>
                </a:solidFill>
                <a:latin typeface="Arial" panose="020B0604020202020204"/>
                <a:ea typeface="Arial" panose="020B0604020202020204"/>
                <a:cs typeface="Arial" panose="020B0604020202020204"/>
              </a:rPr>
              <a:t>ESE (112.5')</a:t>
            </a:r>
            <a:endParaRPr sz="600" dirty="0"/>
          </a:p>
        </p:txBody>
      </p:sp>
      <p:sp>
        <p:nvSpPr>
          <p:cNvPr id="134" name="textbox 134"/>
          <p:cNvSpPr/>
          <p:nvPr/>
        </p:nvSpPr>
        <p:spPr>
          <a:xfrm>
            <a:off x="2447925" y="4171950"/>
            <a:ext cx="371475" cy="123825"/>
          </a:xfrm>
          <a:prstGeom prst="rect">
            <a:avLst/>
          </a:prstGeom>
          <a:noFill/>
          <a:ln w="0" cap="flat">
            <a:noFill/>
            <a:prstDash val="solid"/>
            <a:miter lim="0"/>
          </a:ln>
        </p:spPr>
        <p:txBody>
          <a:bodyPr vert="horz" wrap="none" lIns="0" tIns="0" rIns="0" bIns="0"/>
          <a:p>
            <a:pPr algn="l" rtl="0" eaLnBrk="0"/>
            <a:r>
              <a:rPr sz="500" b="1" kern="0" spc="0" dirty="0">
                <a:solidFill>
                  <a:srgbClr val="000000">
                    <a:alpha val="100000"/>
                  </a:srgbClr>
                </a:solidFill>
                <a:latin typeface="Arial" panose="020B0604020202020204"/>
                <a:ea typeface="Arial" panose="020B0604020202020204"/>
                <a:cs typeface="Arial" panose="020B0604020202020204"/>
              </a:rPr>
              <a:t>SW (225°)</a:t>
            </a:r>
            <a:endParaRPr sz="500" dirty="0"/>
          </a:p>
        </p:txBody>
      </p:sp>
      <p:sp>
        <p:nvSpPr>
          <p:cNvPr id="136" name="textbox 136"/>
          <p:cNvSpPr/>
          <p:nvPr/>
        </p:nvSpPr>
        <p:spPr>
          <a:xfrm>
            <a:off x="4572000" y="4171950"/>
            <a:ext cx="352425" cy="133350"/>
          </a:xfrm>
          <a:prstGeom prst="rect">
            <a:avLst/>
          </a:prstGeom>
          <a:noFill/>
          <a:ln w="0" cap="flat">
            <a:noFill/>
            <a:prstDash val="solid"/>
            <a:miter lim="0"/>
          </a:ln>
        </p:spPr>
        <p:txBody>
          <a:bodyPr vert="horz" wrap="none" lIns="0" tIns="0" rIns="0" bIns="0"/>
          <a:p>
            <a:pPr algn="l" rtl="0" eaLnBrk="0"/>
            <a:r>
              <a:rPr sz="600" b="1" kern="0" spc="0" dirty="0">
                <a:solidFill>
                  <a:srgbClr val="000000">
                    <a:alpha val="100000"/>
                  </a:srgbClr>
                </a:solidFill>
                <a:latin typeface="Calibri" panose="020F0502020204030204"/>
                <a:ea typeface="Calibri" panose="020F0502020204030204"/>
                <a:cs typeface="Calibri" panose="020F0502020204030204"/>
              </a:rPr>
              <a:t>SE (136')</a:t>
            </a:r>
            <a:endParaRPr sz="600" dirty="0"/>
          </a:p>
        </p:txBody>
      </p:sp>
      <p:sp>
        <p:nvSpPr>
          <p:cNvPr id="138" name="textbox 138"/>
          <p:cNvSpPr/>
          <p:nvPr/>
        </p:nvSpPr>
        <p:spPr>
          <a:xfrm>
            <a:off x="4038600" y="4486275"/>
            <a:ext cx="457200" cy="152400"/>
          </a:xfrm>
          <a:prstGeom prst="rect">
            <a:avLst/>
          </a:prstGeom>
          <a:noFill/>
          <a:ln w="0" cap="flat">
            <a:noFill/>
            <a:prstDash val="solid"/>
            <a:miter lim="0"/>
          </a:ln>
        </p:spPr>
        <p:txBody>
          <a:bodyPr vert="horz" wrap="none" lIns="0" tIns="0" rIns="0" bIns="0"/>
          <a:p>
            <a:pPr algn="l" rtl="0" eaLnBrk="0"/>
            <a:r>
              <a:rPr sz="600" kern="0" spc="0" dirty="0">
                <a:solidFill>
                  <a:srgbClr val="000000">
                    <a:alpha val="100000"/>
                  </a:srgbClr>
                </a:solidFill>
                <a:latin typeface="Arial" panose="020B0604020202020204"/>
                <a:ea typeface="Arial" panose="020B0604020202020204"/>
                <a:cs typeface="Arial" panose="020B0604020202020204"/>
              </a:rPr>
              <a:t>SSE (167.5')</a:t>
            </a:r>
            <a:endParaRPr sz="600" dirty="0"/>
          </a:p>
        </p:txBody>
      </p:sp>
      <p:sp>
        <p:nvSpPr>
          <p:cNvPr id="140" name="textbox 140"/>
          <p:cNvSpPr/>
          <p:nvPr/>
        </p:nvSpPr>
        <p:spPr>
          <a:xfrm>
            <a:off x="2895600" y="4495800"/>
            <a:ext cx="457200" cy="123825"/>
          </a:xfrm>
          <a:prstGeom prst="rect">
            <a:avLst/>
          </a:prstGeom>
          <a:noFill/>
          <a:ln w="0" cap="flat">
            <a:noFill/>
            <a:prstDash val="solid"/>
            <a:miter lim="0"/>
          </a:ln>
        </p:spPr>
        <p:txBody>
          <a:bodyPr vert="horz" wrap="none" lIns="0" tIns="0" rIns="0" bIns="0"/>
          <a:p>
            <a:pPr algn="l" rtl="0" eaLnBrk="0"/>
            <a:r>
              <a:rPr sz="500" kern="0" spc="0" dirty="0">
                <a:solidFill>
                  <a:srgbClr val="000000">
                    <a:alpha val="100000"/>
                  </a:srgbClr>
                </a:solidFill>
                <a:latin typeface="Arial Black" panose="020B0A04020102020204"/>
                <a:ea typeface="Arial Black" panose="020B0A04020102020204"/>
                <a:cs typeface="Arial Black" panose="020B0A04020102020204"/>
              </a:rPr>
              <a:t>SSW (201.5')</a:t>
            </a:r>
            <a:endParaRPr sz="500" dirty="0"/>
          </a:p>
        </p:txBody>
      </p:sp>
      <p:sp>
        <p:nvSpPr>
          <p:cNvPr id="142" name="textbox 142"/>
          <p:cNvSpPr/>
          <p:nvPr/>
        </p:nvSpPr>
        <p:spPr>
          <a:xfrm>
            <a:off x="3552825" y="4600575"/>
            <a:ext cx="304800" cy="161925"/>
          </a:xfrm>
          <a:prstGeom prst="rect">
            <a:avLst/>
          </a:prstGeom>
          <a:noFill/>
          <a:ln w="0" cap="flat">
            <a:noFill/>
            <a:prstDash val="solid"/>
            <a:miter lim="0"/>
          </a:ln>
        </p:spPr>
        <p:txBody>
          <a:bodyPr vert="horz" wrap="none" lIns="0" tIns="0" rIns="0" bIns="0"/>
          <a:p>
            <a:pPr algn="l" rtl="0" eaLnBrk="0"/>
            <a:r>
              <a:rPr sz="500" kern="0" spc="0" dirty="0">
                <a:solidFill>
                  <a:srgbClr val="000000">
                    <a:alpha val="100000"/>
                  </a:srgbClr>
                </a:solidFill>
                <a:latin typeface="Arial" panose="020B0604020202020204"/>
                <a:ea typeface="Arial" panose="020B0604020202020204"/>
                <a:cs typeface="Arial" panose="020B0604020202020204"/>
              </a:rPr>
              <a:t>S (180°)</a:t>
            </a:r>
            <a:endParaRPr sz="500" dirty="0"/>
          </a:p>
        </p:txBody>
      </p:sp>
      <p:sp>
        <p:nvSpPr>
          <p:cNvPr id="144" name="textbox 144"/>
          <p:cNvSpPr/>
          <p:nvPr/>
        </p:nvSpPr>
        <p:spPr>
          <a:xfrm>
            <a:off x="1076325" y="5029200"/>
            <a:ext cx="6019800" cy="1143000"/>
          </a:xfrm>
          <a:prstGeom prst="rect">
            <a:avLst/>
          </a:prstGeom>
          <a:noFill/>
          <a:ln w="0" cap="flat">
            <a:noFill/>
            <a:prstDash val="solid"/>
            <a:miter lim="0"/>
          </a:ln>
        </p:spPr>
        <p:txBody>
          <a:bodyPr vert="horz" wrap="none" lIns="0" tIns="0" rIns="0" bIns="0"/>
          <a:p>
            <a:pPr marL="247650" indent="-247650" algn="l" rtl="0" eaLnBrk="0">
              <a:buChar char="•"/>
            </a:pPr>
            <a:r>
              <a:rPr sz="1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观测数据来源于欧洲中期天气预报中心（ECMWF）的</a:t>
            </a:r>
            <a:endParaRPr sz="1900" dirty="0"/>
          </a:p>
          <a:p>
            <a:pPr marL="257175" algn="l" rtl="0" eaLnBrk="0">
              <a:spcBef>
                <a:spcPts val="1275"/>
              </a:spcBef>
            </a:pPr>
            <a:r>
              <a:rPr sz="1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ERA5数据集，统计吉林通榆地区过去20年逐小时平均</a:t>
            </a:r>
            <a:endParaRPr sz="1900" dirty="0"/>
          </a:p>
          <a:p>
            <a:pPr marL="238125" algn="l" rtl="0" eaLnBrk="0">
              <a:spcBef>
                <a:spcPts val="1275"/>
              </a:spcBef>
            </a:pPr>
            <a:r>
              <a:rPr sz="1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风速数据，共收集</a:t>
            </a:r>
            <a:r>
              <a:rPr sz="1900" b="1" kern="0" spc="0" dirty="0">
                <a:solidFill>
                  <a:srgbClr val="376092">
                    <a:alpha val="100000"/>
                  </a:srgbClr>
                </a:solidFill>
                <a:latin typeface="微软雅黑" panose="020B0503020204020204" charset="-122"/>
                <a:ea typeface="微软雅黑" panose="020B0503020204020204" charset="-122"/>
                <a:cs typeface="微软雅黑" panose="020B0503020204020204" charset="-122"/>
              </a:rPr>
              <a:t>175320组风速-风向观测数据</a:t>
            </a:r>
            <a:r>
              <a:rPr sz="1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900" dirty="0"/>
          </a:p>
        </p:txBody>
      </p:sp>
      <p:sp>
        <p:nvSpPr>
          <p:cNvPr id="146" name="textbox 146"/>
          <p:cNvSpPr/>
          <p:nvPr/>
        </p:nvSpPr>
        <p:spPr>
          <a:xfrm>
            <a:off x="5524500" y="2476500"/>
            <a:ext cx="1457325" cy="266700"/>
          </a:xfrm>
          <a:prstGeom prst="rect">
            <a:avLst/>
          </a:prstGeom>
          <a:noFill/>
          <a:ln w="0" cap="flat">
            <a:noFill/>
            <a:prstDash val="solid"/>
            <a:miter lim="0"/>
          </a:ln>
        </p:spPr>
        <p:txBody>
          <a:bodyPr vert="horz" wrap="none" lIns="0" tIns="0" rIns="0" bIns="0"/>
          <a:p>
            <a:pPr algn="l" rtl="0" eaLnBrk="0"/>
            <a:endParaRPr sz="1700" dirty="0"/>
          </a:p>
        </p:txBody>
      </p:sp>
      <p:pic>
        <p:nvPicPr>
          <p:cNvPr id="150" name="picture 150"/>
          <p:cNvPicPr>
            <a:picLocks noChangeAspect="1"/>
          </p:cNvPicPr>
          <p:nvPr/>
        </p:nvPicPr>
        <p:blipFill>
          <a:blip r:embed="rId2"/>
          <a:stretch>
            <a:fillRect/>
          </a:stretch>
        </p:blipFill>
        <p:spPr>
          <a:xfrm>
            <a:off x="5581650" y="3162300"/>
            <a:ext cx="2047875" cy="1457325"/>
          </a:xfrm>
          <a:prstGeom prst="rect">
            <a:avLst/>
          </a:prstGeom>
        </p:spPr>
      </p:pic>
      <p:sp>
        <p:nvSpPr>
          <p:cNvPr id="152" name="textbox 152"/>
          <p:cNvSpPr/>
          <p:nvPr/>
        </p:nvSpPr>
        <p:spPr>
          <a:xfrm>
            <a:off x="5791200" y="4486275"/>
            <a:ext cx="533400" cy="123825"/>
          </a:xfrm>
          <a:prstGeom prst="rect">
            <a:avLst/>
          </a:prstGeom>
          <a:noFill/>
          <a:ln w="0" cap="flat">
            <a:noFill/>
            <a:prstDash val="solid"/>
            <a:miter lim="0"/>
          </a:ln>
        </p:spPr>
        <p:txBody>
          <a:bodyPr vert="horz" wrap="none" lIns="0" tIns="0" rIns="0" bIns="0"/>
          <a:p>
            <a:pPr algn="l" rtl="0" eaLnBrk="0"/>
            <a:r>
              <a:rPr sz="500" kern="0" spc="0" dirty="0">
                <a:solidFill>
                  <a:srgbClr val="7F7F7F">
                    <a:alpha val="100000"/>
                  </a:srgbClr>
                </a:solidFill>
                <a:latin typeface="Arial" panose="020B0604020202020204"/>
                <a:ea typeface="Arial" panose="020B0604020202020204"/>
                <a:cs typeface="Arial" panose="020B0604020202020204"/>
              </a:rPr>
              <a:t>Wind Speed (m/s)</a:t>
            </a:r>
            <a:endParaRPr sz="500" dirty="0"/>
          </a:p>
        </p:txBody>
      </p:sp>
      <p:sp>
        <p:nvSpPr>
          <p:cNvPr id="154" name="textbox 154"/>
          <p:cNvSpPr/>
          <p:nvPr/>
        </p:nvSpPr>
        <p:spPr>
          <a:xfrm>
            <a:off x="7029450" y="4495800"/>
            <a:ext cx="533400" cy="114300"/>
          </a:xfrm>
          <a:prstGeom prst="rect">
            <a:avLst/>
          </a:prstGeom>
          <a:noFill/>
          <a:ln w="0" cap="flat">
            <a:noFill/>
            <a:prstDash val="solid"/>
            <a:miter lim="0"/>
          </a:ln>
        </p:spPr>
        <p:txBody>
          <a:bodyPr vert="horz" wrap="none" lIns="0" tIns="0" rIns="0" bIns="0"/>
          <a:p>
            <a:pPr algn="l" rtl="0" eaLnBrk="0"/>
            <a:r>
              <a:rPr sz="500" kern="0" spc="0" dirty="0">
                <a:solidFill>
                  <a:srgbClr val="7F7F7F">
                    <a:alpha val="100000"/>
                  </a:srgbClr>
                </a:solidFill>
                <a:latin typeface="Arial" panose="020B0604020202020204"/>
                <a:ea typeface="Arial" panose="020B0604020202020204"/>
                <a:cs typeface="Arial" panose="020B0604020202020204"/>
              </a:rPr>
              <a:t>Wind Direction (°)</a:t>
            </a:r>
            <a:endParaRPr sz="500" dirty="0"/>
          </a:p>
        </p:txBody>
      </p:sp>
      <p:pic>
        <p:nvPicPr>
          <p:cNvPr id="158" name="picture 158"/>
          <p:cNvPicPr>
            <a:picLocks noChangeAspect="1"/>
          </p:cNvPicPr>
          <p:nvPr/>
        </p:nvPicPr>
        <p:blipFill>
          <a:blip r:embed="rId3"/>
          <a:stretch>
            <a:fillRect/>
          </a:stretch>
        </p:blipFill>
        <p:spPr>
          <a:xfrm>
            <a:off x="7791450" y="1285875"/>
            <a:ext cx="2971800" cy="2105025"/>
          </a:xfrm>
          <a:prstGeom prst="rect">
            <a:avLst/>
          </a:prstGeom>
        </p:spPr>
      </p:pic>
      <p:sp>
        <p:nvSpPr>
          <p:cNvPr id="160" name="textbox 160"/>
          <p:cNvSpPr/>
          <p:nvPr/>
        </p:nvSpPr>
        <p:spPr>
          <a:xfrm>
            <a:off x="8743950" y="3590925"/>
            <a:ext cx="1343025" cy="266700"/>
          </a:xfrm>
          <a:prstGeom prst="rect">
            <a:avLst/>
          </a:prstGeom>
          <a:noFill/>
          <a:ln w="0" cap="flat">
            <a:noFill/>
            <a:prstDash val="solid"/>
            <a:miter lim="0"/>
          </a:ln>
        </p:spPr>
        <p:txBody>
          <a:bodyPr vert="horz" wrap="none" lIns="0" tIns="0" rIns="0" bIns="0"/>
          <a:p>
            <a:pPr algn="l" rtl="0" eaLnBrk="0"/>
            <a:endParaRPr sz="1700" dirty="0"/>
          </a:p>
        </p:txBody>
      </p:sp>
      <p:pic>
        <p:nvPicPr>
          <p:cNvPr id="164" name="picture 164"/>
          <p:cNvPicPr>
            <a:picLocks noChangeAspect="1"/>
          </p:cNvPicPr>
          <p:nvPr/>
        </p:nvPicPr>
        <p:blipFill>
          <a:blip r:embed="rId4"/>
          <a:stretch>
            <a:fillRect/>
          </a:stretch>
        </p:blipFill>
        <p:spPr>
          <a:xfrm>
            <a:off x="7781925" y="3933825"/>
            <a:ext cx="2962275" cy="2009775"/>
          </a:xfrm>
          <a:prstGeom prst="rect">
            <a:avLst/>
          </a:prstGeom>
        </p:spPr>
      </p:pic>
      <p:sp>
        <p:nvSpPr>
          <p:cNvPr id="166" name="textbox 166"/>
          <p:cNvSpPr/>
          <p:nvPr/>
        </p:nvSpPr>
        <p:spPr>
          <a:xfrm>
            <a:off x="8743950" y="6134100"/>
            <a:ext cx="1323975" cy="266700"/>
          </a:xfrm>
          <a:prstGeom prst="rect">
            <a:avLst/>
          </a:prstGeom>
          <a:noFill/>
          <a:ln w="0" cap="flat">
            <a:noFill/>
            <a:prstDash val="solid"/>
            <a:miter lim="0"/>
          </a:ln>
        </p:spPr>
        <p:txBody>
          <a:bodyPr vert="horz" wrap="none" lIns="0" tIns="0" rIns="0" bIns="0"/>
          <a:p>
            <a:pPr algn="l" rtl="0" eaLnBrk="0"/>
            <a:r>
              <a:rPr sz="1700" kern="0" spc="0" dirty="0">
                <a:solidFill>
                  <a:srgbClr val="F2F2F2">
                    <a:alpha val="100000"/>
                  </a:srgbClr>
                </a:solidFill>
                <a:latin typeface="微软雅黑" panose="020B0503020204020204" charset="-122"/>
                <a:ea typeface="微软雅黑" panose="020B0503020204020204" charset="-122"/>
                <a:cs typeface="微软雅黑" panose="020B0503020204020204" charset="-122"/>
              </a:rPr>
              <a:t>改进KED方法</a:t>
            </a:r>
            <a:endParaRPr sz="1700" dirty="0"/>
          </a:p>
        </p:txBody>
      </p:sp>
      <p:sp>
        <p:nvSpPr>
          <p:cNvPr id="4" name="椭圆 3"/>
          <p:cNvSpPr/>
          <p:nvPr/>
        </p:nvSpPr>
        <p:spPr>
          <a:xfrm>
            <a:off x="711200" y="480695"/>
            <a:ext cx="539750" cy="519430"/>
          </a:xfrm>
          <a:prstGeom prst="ellipse">
            <a:avLst/>
          </a:prstGeom>
          <a:solidFill>
            <a:srgbClr val="2F5597"/>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200" b="1">
                <a:latin typeface="微软雅黑" panose="020B0503020204020204" charset="-122"/>
                <a:ea typeface="微软雅黑" panose="020B0503020204020204" charset="-122"/>
                <a:cs typeface="Times New Roman" panose="02020603050405020304" charset="0"/>
              </a:rPr>
              <a:t>3</a:t>
            </a:r>
            <a:endParaRPr lang="en-US" altLang="zh-CN" sz="3200" b="1">
              <a:latin typeface="微软雅黑" panose="020B0503020204020204" charset="-122"/>
              <a:ea typeface="微软雅黑" panose="020B0503020204020204" charset="-122"/>
              <a:cs typeface="Times New Roman" panose="02020603050405020304" charset="0"/>
            </a:endParaRPr>
          </a:p>
        </p:txBody>
      </p:sp>
      <p:sp>
        <p:nvSpPr>
          <p:cNvPr id="100" name="textbox 100"/>
          <p:cNvSpPr/>
          <p:nvPr/>
        </p:nvSpPr>
        <p:spPr>
          <a:xfrm>
            <a:off x="1076325" y="485775"/>
            <a:ext cx="5299075" cy="438150"/>
          </a:xfrm>
          <a:prstGeom prst="rect">
            <a:avLst/>
          </a:prstGeom>
          <a:noFill/>
          <a:ln w="0" cap="flat">
            <a:noFill/>
            <a:prstDash val="solid"/>
            <a:miter lim="0"/>
          </a:ln>
        </p:spPr>
        <p:txBody>
          <a:bodyPr vert="horz" wrap="none" lIns="0" tIns="0" rIns="0" bIns="0"/>
          <a:p>
            <a:pPr algn="l" rtl="0" eaLnBrk="0"/>
            <a:r>
              <a:rPr sz="3200" b="1" kern="0" spc="0" dirty="0">
                <a:solidFill>
                  <a:schemeClr val="bg1">
                    <a:alpha val="100000"/>
                  </a:schemeClr>
                </a:solidFill>
                <a:latin typeface="微软雅黑" panose="020B0503020204020204" charset="-122"/>
                <a:ea typeface="微软雅黑" panose="020B0503020204020204" charset="-122"/>
                <a:cs typeface="微软雅黑" panose="020B0503020204020204" charset="-122"/>
              </a:rPr>
              <a:t> </a:t>
            </a:r>
            <a:r>
              <a:rPr lang="en-US" sz="3200" b="1" kern="0" spc="0" dirty="0">
                <a:solidFill>
                  <a:schemeClr val="bg1">
                    <a:alpha val="100000"/>
                  </a:schemeClr>
                </a:solidFill>
                <a:latin typeface="微软雅黑" panose="020B0503020204020204" charset="-122"/>
                <a:ea typeface="微软雅黑" panose="020B0503020204020204" charset="-122"/>
                <a:cs typeface="微软雅黑" panose="020B0503020204020204" charset="-122"/>
              </a:rPr>
              <a:t> </a:t>
            </a:r>
            <a:r>
              <a:rPr sz="3200" b="1" kern="0" spc="0" dirty="0">
                <a:solidFill>
                  <a:srgbClr val="2F5597">
                    <a:alpha val="100000"/>
                  </a:srgbClr>
                </a:solidFill>
                <a:latin typeface="微软雅黑" panose="020B0503020204020204" charset="-122"/>
                <a:ea typeface="微软雅黑" panose="020B0503020204020204" charset="-122"/>
                <a:cs typeface="微软雅黑" panose="020B0503020204020204" charset="-122"/>
              </a:rPr>
              <a:t>动力响应性能与疲劳寿命评估</a:t>
            </a:r>
            <a:endParaRPr sz="3200" dirty="0"/>
          </a:p>
        </p:txBody>
      </p:sp>
      <p:sp>
        <p:nvSpPr>
          <p:cNvPr id="5" name="上箭头标注 4"/>
          <p:cNvSpPr/>
          <p:nvPr/>
        </p:nvSpPr>
        <p:spPr>
          <a:xfrm>
            <a:off x="8483600" y="3390900"/>
            <a:ext cx="1846580" cy="506095"/>
          </a:xfrm>
          <a:prstGeom prst="upArrowCallout">
            <a:avLst/>
          </a:prstGeom>
          <a:solidFill>
            <a:srgbClr val="2C529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1700" kern="0" dirty="0">
                <a:solidFill>
                  <a:srgbClr val="F8F8F8">
                    <a:alpha val="100000"/>
                  </a:srgbClr>
                </a:solidFill>
                <a:latin typeface="微软雅黑" panose="020B0503020204020204" charset="-122"/>
                <a:ea typeface="微软雅黑" panose="020B0503020204020204" charset="-122"/>
                <a:cs typeface="微软雅黑" panose="020B0503020204020204" charset="-122"/>
                <a:sym typeface="+mn-ea"/>
              </a:rPr>
              <a:t>传统KDE方法</a:t>
            </a:r>
            <a:endParaRPr lang="zh-CN" altLang="en-US"/>
          </a:p>
        </p:txBody>
      </p:sp>
      <p:sp>
        <p:nvSpPr>
          <p:cNvPr id="6" name="上箭头标注 5"/>
          <p:cNvSpPr/>
          <p:nvPr/>
        </p:nvSpPr>
        <p:spPr>
          <a:xfrm>
            <a:off x="8483600" y="5932805"/>
            <a:ext cx="1846580" cy="506095"/>
          </a:xfrm>
          <a:prstGeom prst="upArrowCallout">
            <a:avLst/>
          </a:prstGeom>
          <a:solidFill>
            <a:srgbClr val="2C529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lang="zh-CN" sz="1700" kern="0" dirty="0">
                <a:solidFill>
                  <a:srgbClr val="F8F8F8">
                    <a:alpha val="100000"/>
                  </a:srgbClr>
                </a:solidFill>
                <a:latin typeface="微软雅黑" panose="020B0503020204020204" charset="-122"/>
                <a:ea typeface="微软雅黑" panose="020B0503020204020204" charset="-122"/>
                <a:cs typeface="微软雅黑" panose="020B0503020204020204" charset="-122"/>
                <a:sym typeface="+mn-ea"/>
              </a:rPr>
              <a:t>改进</a:t>
            </a:r>
            <a:r>
              <a:rPr sz="1700" kern="0" dirty="0">
                <a:solidFill>
                  <a:srgbClr val="F8F8F8">
                    <a:alpha val="100000"/>
                  </a:srgbClr>
                </a:solidFill>
                <a:latin typeface="微软雅黑" panose="020B0503020204020204" charset="-122"/>
                <a:ea typeface="微软雅黑" panose="020B0503020204020204" charset="-122"/>
                <a:cs typeface="微软雅黑" panose="020B0503020204020204" charset="-122"/>
                <a:sym typeface="+mn-ea"/>
              </a:rPr>
              <a:t>KDE方法</a:t>
            </a:r>
            <a:endParaRPr lang="zh-CN" altLang="en-US"/>
          </a:p>
        </p:txBody>
      </p:sp>
      <p:sp>
        <p:nvSpPr>
          <p:cNvPr id="7" name="右箭头 6"/>
          <p:cNvSpPr/>
          <p:nvPr/>
        </p:nvSpPr>
        <p:spPr>
          <a:xfrm>
            <a:off x="5467985" y="2200275"/>
            <a:ext cx="2047875" cy="784225"/>
          </a:xfrm>
          <a:prstGeom prst="rightArrow">
            <a:avLst/>
          </a:prstGeom>
          <a:solidFill>
            <a:srgbClr val="A2B3D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eaLnBrk="0"/>
            <a:r>
              <a:rPr sz="17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风速-风向重构</a:t>
            </a:r>
            <a:endParaRPr lang="zh-CN" altLang="en-US"/>
          </a:p>
        </p:txBody>
      </p:sp>
      <p:cxnSp>
        <p:nvCxnSpPr>
          <p:cNvPr id="8" name="直接连接符 7"/>
          <p:cNvCxnSpPr/>
          <p:nvPr/>
        </p:nvCxnSpPr>
        <p:spPr>
          <a:xfrm>
            <a:off x="1314450" y="996950"/>
            <a:ext cx="10204450" cy="0"/>
          </a:xfrm>
          <a:prstGeom prst="line">
            <a:avLst/>
          </a:prstGeom>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71" name="文本框 7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43/68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 name="textbox 178"/>
          <p:cNvSpPr/>
          <p:nvPr/>
        </p:nvSpPr>
        <p:spPr>
          <a:xfrm>
            <a:off x="990600" y="1162050"/>
            <a:ext cx="3371850" cy="323850"/>
          </a:xfrm>
          <a:prstGeom prst="rect">
            <a:avLst/>
          </a:prstGeom>
          <a:noFill/>
          <a:ln w="0" cap="flat">
            <a:noFill/>
            <a:prstDash val="solid"/>
            <a:miter lim="0"/>
          </a:ln>
        </p:spPr>
        <p:txBody>
          <a:bodyPr vert="horz" wrap="none" lIns="0" tIns="0" rIns="0" bIns="0"/>
          <a:p>
            <a:pPr marL="428625" indent="-390525" algn="l" rtl="0" eaLnBrk="0">
              <a:buChar char="■"/>
            </a:pPr>
            <a:r>
              <a:rPr sz="2200" b="1" kern="0" spc="0" dirty="0">
                <a:solidFill>
                  <a:srgbClr val="376092">
                    <a:alpha val="100000"/>
                  </a:srgbClr>
                </a:solidFill>
                <a:latin typeface="微软雅黑" panose="020B0503020204020204" charset="-122"/>
                <a:ea typeface="微软雅黑" panose="020B0503020204020204" charset="-122"/>
                <a:cs typeface="微软雅黑" panose="020B0503020204020204" charset="-122"/>
              </a:rPr>
              <a:t>改进</a:t>
            </a:r>
            <a:r>
              <a:rPr sz="2200" b="1" kern="0" spc="0" dirty="0">
                <a:solidFill>
                  <a:srgbClr val="376092">
                    <a:alpha val="100000"/>
                  </a:srgbClr>
                </a:solidFill>
                <a:latin typeface="Times New Roman" panose="02020603050405020304"/>
                <a:ea typeface="Times New Roman" panose="02020603050405020304"/>
                <a:cs typeface="Times New Roman" panose="02020603050405020304"/>
              </a:rPr>
              <a:t>KDE</a:t>
            </a:r>
            <a:r>
              <a:rPr sz="2200" b="1" kern="0" spc="0" dirty="0">
                <a:solidFill>
                  <a:srgbClr val="376092">
                    <a:alpha val="100000"/>
                  </a:srgbClr>
                </a:solidFill>
                <a:latin typeface="微软雅黑" panose="020B0503020204020204" charset="-122"/>
                <a:ea typeface="微软雅黑" panose="020B0503020204020204" charset="-122"/>
                <a:cs typeface="微软雅黑" panose="020B0503020204020204" charset="-122"/>
              </a:rPr>
              <a:t>方法优化效果</a:t>
            </a:r>
            <a:endParaRPr sz="2200" dirty="0"/>
          </a:p>
        </p:txBody>
      </p:sp>
      <p:sp>
        <p:nvSpPr>
          <p:cNvPr id="180" name="textbox 180"/>
          <p:cNvSpPr/>
          <p:nvPr/>
        </p:nvSpPr>
        <p:spPr>
          <a:xfrm>
            <a:off x="723900" y="1704975"/>
            <a:ext cx="5086350" cy="485775"/>
          </a:xfrm>
          <a:prstGeom prst="rect">
            <a:avLst/>
          </a:prstGeom>
          <a:noFill/>
          <a:ln w="0" cap="flat">
            <a:noFill/>
            <a:prstDash val="solid"/>
            <a:miter lim="0"/>
          </a:ln>
        </p:spPr>
        <p:txBody>
          <a:bodyPr vert="horz" wrap="none" lIns="0" tIns="0" rIns="0" bIns="0"/>
          <a:p>
            <a:pPr marL="295275" indent="-266700" algn="l" rtl="0" eaLnBrk="0">
              <a:buChar char="•"/>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所提方法的Frobenius范数误差为 </a:t>
            </a:r>
            <a:r>
              <a:rPr sz="1500" b="1" kern="0" spc="0" dirty="0">
                <a:solidFill>
                  <a:srgbClr val="99191E">
                    <a:alpha val="100000"/>
                  </a:srgbClr>
                </a:solidFill>
                <a:latin typeface="微软雅黑" panose="020B0503020204020204" charset="-122"/>
                <a:ea typeface="微软雅黑" panose="020B0503020204020204" charset="-122"/>
                <a:cs typeface="微软雅黑" panose="020B0503020204020204" charset="-122"/>
              </a:rPr>
              <a:t>0.0902</a:t>
            </a: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，相较于初始</a:t>
            </a:r>
            <a:endParaRPr sz="1500" dirty="0"/>
          </a:p>
          <a:p>
            <a:pPr marL="161925" algn="l" rtl="0" eaLnBrk="0">
              <a:spcBef>
                <a:spcPts val="450"/>
              </a:spcBef>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带宽方法的误差0.4556，误差降低约</a:t>
            </a:r>
            <a:r>
              <a:rPr sz="1500" b="1" kern="0" spc="0" dirty="0">
                <a:solidFill>
                  <a:srgbClr val="99191E">
                    <a:alpha val="100000"/>
                  </a:srgbClr>
                </a:solidFill>
                <a:latin typeface="微软雅黑" panose="020B0503020204020204" charset="-122"/>
                <a:ea typeface="微软雅黑" panose="020B0503020204020204" charset="-122"/>
                <a:cs typeface="微软雅黑" panose="020B0503020204020204" charset="-122"/>
              </a:rPr>
              <a:t>80%</a:t>
            </a: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500" dirty="0"/>
          </a:p>
        </p:txBody>
      </p:sp>
      <p:sp>
        <p:nvSpPr>
          <p:cNvPr id="182" name="textbox 182"/>
          <p:cNvSpPr/>
          <p:nvPr/>
        </p:nvSpPr>
        <p:spPr>
          <a:xfrm>
            <a:off x="723900" y="2324100"/>
            <a:ext cx="5086350" cy="504825"/>
          </a:xfrm>
          <a:prstGeom prst="rect">
            <a:avLst/>
          </a:prstGeom>
          <a:noFill/>
          <a:ln w="0" cap="flat">
            <a:noFill/>
            <a:prstDash val="solid"/>
            <a:miter lim="0"/>
          </a:ln>
        </p:spPr>
        <p:txBody>
          <a:bodyPr vert="horz" wrap="none" lIns="0" tIns="0" rIns="0" bIns="0"/>
          <a:p>
            <a:pPr marL="285750" indent="-257175" algn="l" rtl="0" eaLnBrk="0">
              <a:buChar char="•"/>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常规2D-KDE在风向边缘概率密度函数（PDF）重构中存</a:t>
            </a:r>
            <a:endParaRPr sz="1500" dirty="0"/>
          </a:p>
          <a:p>
            <a:pPr marL="247650" algn="l" rtl="0" eaLnBrk="0">
              <a:spcBef>
                <a:spcPts val="525"/>
              </a:spcBef>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在明显欠拟合；所提方法对峰值与谷值的捕捉更准确。</a:t>
            </a:r>
            <a:endParaRPr sz="1500" dirty="0"/>
          </a:p>
        </p:txBody>
      </p:sp>
      <p:pic>
        <p:nvPicPr>
          <p:cNvPr id="186" name="picture 186"/>
          <p:cNvPicPr>
            <a:picLocks noChangeAspect="1"/>
          </p:cNvPicPr>
          <p:nvPr/>
        </p:nvPicPr>
        <p:blipFill>
          <a:blip r:embed="rId1"/>
          <a:stretch>
            <a:fillRect/>
          </a:stretch>
        </p:blipFill>
        <p:spPr>
          <a:xfrm>
            <a:off x="6353175" y="1238250"/>
            <a:ext cx="2295525" cy="1838325"/>
          </a:xfrm>
          <a:prstGeom prst="rect">
            <a:avLst/>
          </a:prstGeom>
        </p:spPr>
      </p:pic>
      <p:pic>
        <p:nvPicPr>
          <p:cNvPr id="190" name="picture 190"/>
          <p:cNvPicPr>
            <a:picLocks noChangeAspect="1"/>
          </p:cNvPicPr>
          <p:nvPr/>
        </p:nvPicPr>
        <p:blipFill>
          <a:blip r:embed="rId2"/>
          <a:stretch>
            <a:fillRect/>
          </a:stretch>
        </p:blipFill>
        <p:spPr>
          <a:xfrm>
            <a:off x="8763000" y="1238250"/>
            <a:ext cx="2286000" cy="1838325"/>
          </a:xfrm>
          <a:prstGeom prst="rect">
            <a:avLst/>
          </a:prstGeom>
        </p:spPr>
      </p:pic>
      <p:pic>
        <p:nvPicPr>
          <p:cNvPr id="194" name="picture 194"/>
          <p:cNvPicPr>
            <a:picLocks noChangeAspect="1"/>
          </p:cNvPicPr>
          <p:nvPr/>
        </p:nvPicPr>
        <p:blipFill>
          <a:blip r:embed="rId3"/>
          <a:stretch>
            <a:fillRect/>
          </a:stretch>
        </p:blipFill>
        <p:spPr>
          <a:xfrm>
            <a:off x="723900" y="3124200"/>
            <a:ext cx="2514600" cy="2133600"/>
          </a:xfrm>
          <a:prstGeom prst="rect">
            <a:avLst/>
          </a:prstGeom>
        </p:spPr>
      </p:pic>
      <p:pic>
        <p:nvPicPr>
          <p:cNvPr id="198" name="picture 198"/>
          <p:cNvPicPr>
            <a:picLocks noChangeAspect="1"/>
          </p:cNvPicPr>
          <p:nvPr/>
        </p:nvPicPr>
        <p:blipFill>
          <a:blip r:embed="rId4"/>
          <a:stretch>
            <a:fillRect/>
          </a:stretch>
        </p:blipFill>
        <p:spPr>
          <a:xfrm>
            <a:off x="3295650" y="3190875"/>
            <a:ext cx="2581275" cy="2066925"/>
          </a:xfrm>
          <a:prstGeom prst="rect">
            <a:avLst/>
          </a:prstGeom>
        </p:spPr>
      </p:pic>
      <p:sp>
        <p:nvSpPr>
          <p:cNvPr id="200" name="textbox 200"/>
          <p:cNvSpPr/>
          <p:nvPr/>
        </p:nvSpPr>
        <p:spPr>
          <a:xfrm>
            <a:off x="7143750" y="3209925"/>
            <a:ext cx="638175" cy="152400"/>
          </a:xfrm>
          <a:prstGeom prst="rect">
            <a:avLst/>
          </a:prstGeom>
          <a:noFill/>
          <a:ln w="0" cap="flat">
            <a:noFill/>
            <a:prstDash val="solid"/>
            <a:miter lim="0"/>
          </a:ln>
        </p:spPr>
        <p:txBody>
          <a:bodyPr vert="horz" wrap="none" lIns="0" tIns="0" rIns="0" bIns="0"/>
          <a:p>
            <a:pPr marL="171450" indent="-142875" algn="l" rtl="0" eaLnBrk="0">
              <a:buAutoNum type="alphaLcParenR"/>
            </a:pPr>
            <a:r>
              <a:rPr sz="900" kern="0" spc="0" dirty="0">
                <a:solidFill>
                  <a:srgbClr val="ABABAB">
                    <a:alpha val="100000"/>
                  </a:srgbClr>
                </a:solidFill>
                <a:latin typeface="华文中宋" panose="02010600040101010101" charset="-122"/>
                <a:ea typeface="华文中宋" panose="02010600040101010101" charset="-122"/>
                <a:cs typeface="华文中宋" panose="02010600040101010101" charset="-122"/>
              </a:rPr>
              <a:t>观测样本</a:t>
            </a:r>
            <a:endParaRPr sz="900" dirty="0"/>
          </a:p>
        </p:txBody>
      </p:sp>
      <p:sp>
        <p:nvSpPr>
          <p:cNvPr id="202" name="textbox 202"/>
          <p:cNvSpPr/>
          <p:nvPr/>
        </p:nvSpPr>
        <p:spPr>
          <a:xfrm>
            <a:off x="9258300" y="3209925"/>
            <a:ext cx="1133475" cy="152400"/>
          </a:xfrm>
          <a:prstGeom prst="rect">
            <a:avLst/>
          </a:prstGeom>
          <a:noFill/>
          <a:ln w="0" cap="flat">
            <a:noFill/>
            <a:prstDash val="solid"/>
            <a:miter lim="0"/>
          </a:ln>
        </p:spPr>
        <p:txBody>
          <a:bodyPr vert="horz" wrap="none" lIns="0" tIns="0" rIns="0" bIns="0"/>
          <a:p>
            <a:pPr marL="171450" indent="-152400" algn="l" rtl="0" eaLnBrk="0">
              <a:buAutoNum type="alphaLcParenR" startAt="2"/>
            </a:pPr>
            <a:r>
              <a:rPr sz="900" kern="0" spc="0" dirty="0">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常规 </a:t>
            </a:r>
            <a:r>
              <a:rPr sz="900" kern="0" spc="0" dirty="0">
                <a:solidFill>
                  <a:srgbClr val="404040">
                    <a:alpha val="100000"/>
                  </a:srgbClr>
                </a:solidFill>
                <a:latin typeface="Times New Roman" panose="02020603050405020304"/>
                <a:ea typeface="Times New Roman" panose="02020603050405020304"/>
                <a:cs typeface="Times New Roman" panose="02020603050405020304"/>
              </a:rPr>
              <a:t>2D-KDE </a:t>
            </a:r>
            <a:r>
              <a:rPr sz="900" kern="0" spc="0" dirty="0">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方法</a:t>
            </a:r>
            <a:endParaRPr sz="900" dirty="0"/>
          </a:p>
        </p:txBody>
      </p:sp>
      <p:pic>
        <p:nvPicPr>
          <p:cNvPr id="208" name="picture 208"/>
          <p:cNvPicPr>
            <a:picLocks noChangeAspect="1"/>
          </p:cNvPicPr>
          <p:nvPr/>
        </p:nvPicPr>
        <p:blipFill>
          <a:blip r:embed="rId5"/>
          <a:stretch>
            <a:fillRect/>
          </a:stretch>
        </p:blipFill>
        <p:spPr>
          <a:xfrm>
            <a:off x="7572375" y="3448050"/>
            <a:ext cx="2276475" cy="1828800"/>
          </a:xfrm>
          <a:prstGeom prst="rect">
            <a:avLst/>
          </a:prstGeom>
        </p:spPr>
      </p:pic>
      <p:sp>
        <p:nvSpPr>
          <p:cNvPr id="210" name="textbox 210"/>
          <p:cNvSpPr/>
          <p:nvPr/>
        </p:nvSpPr>
        <p:spPr>
          <a:xfrm>
            <a:off x="1771650" y="5372100"/>
            <a:ext cx="447675" cy="161925"/>
          </a:xfrm>
          <a:prstGeom prst="rect">
            <a:avLst/>
          </a:prstGeom>
          <a:noFill/>
          <a:ln w="0" cap="flat">
            <a:noFill/>
            <a:prstDash val="solid"/>
            <a:miter lim="0"/>
          </a:ln>
        </p:spPr>
        <p:txBody>
          <a:bodyPr vert="horz" wrap="none" lIns="0" tIns="0" rIns="0" bIns="0"/>
          <a:p>
            <a:pPr marL="190500" indent="-161925" algn="l" rtl="0" eaLnBrk="0">
              <a:buAutoNum type="alphaLcParenR"/>
            </a:pPr>
            <a:r>
              <a:rPr sz="1000" kern="0" spc="0" dirty="0">
                <a:solidFill>
                  <a:srgbClr val="595959">
                    <a:alpha val="100000"/>
                  </a:srgbClr>
                </a:solidFill>
                <a:latin typeface="宋体" panose="02010600030101010101" pitchFamily="2" charset="-122"/>
                <a:ea typeface="宋体" panose="02010600030101010101" pitchFamily="2" charset="-122"/>
                <a:cs typeface="宋体" panose="02010600030101010101" pitchFamily="2" charset="-122"/>
              </a:rPr>
              <a:t>风向</a:t>
            </a:r>
            <a:endParaRPr sz="1000" dirty="0"/>
          </a:p>
        </p:txBody>
      </p:sp>
      <p:sp>
        <p:nvSpPr>
          <p:cNvPr id="212" name="textbox 212"/>
          <p:cNvSpPr/>
          <p:nvPr/>
        </p:nvSpPr>
        <p:spPr>
          <a:xfrm>
            <a:off x="4410075" y="5372100"/>
            <a:ext cx="476250" cy="161925"/>
          </a:xfrm>
          <a:prstGeom prst="rect">
            <a:avLst/>
          </a:prstGeom>
          <a:noFill/>
          <a:ln w="0" cap="flat">
            <a:noFill/>
            <a:prstDash val="solid"/>
            <a:miter lim="0"/>
          </a:ln>
        </p:spPr>
        <p:txBody>
          <a:bodyPr vert="horz" wrap="none" lIns="0" tIns="0" rIns="0" bIns="0"/>
          <a:p>
            <a:pPr marL="209550" indent="-180975" algn="l" rtl="0" eaLnBrk="0">
              <a:buAutoNum type="alphaLcParenR" startAt="2"/>
            </a:pPr>
            <a:r>
              <a:rPr sz="1000" kern="0" spc="0" dirty="0">
                <a:solidFill>
                  <a:srgbClr val="0D0D0D">
                    <a:alpha val="100000"/>
                  </a:srgbClr>
                </a:solidFill>
                <a:latin typeface="宋体" panose="02010600030101010101" pitchFamily="2" charset="-122"/>
                <a:ea typeface="宋体" panose="02010600030101010101" pitchFamily="2" charset="-122"/>
                <a:cs typeface="宋体" panose="02010600030101010101" pitchFamily="2" charset="-122"/>
              </a:rPr>
              <a:t>风速</a:t>
            </a:r>
            <a:endParaRPr sz="1000" dirty="0"/>
          </a:p>
        </p:txBody>
      </p:sp>
      <p:sp>
        <p:nvSpPr>
          <p:cNvPr id="214" name="textbox 214"/>
          <p:cNvSpPr/>
          <p:nvPr/>
        </p:nvSpPr>
        <p:spPr>
          <a:xfrm>
            <a:off x="7791450" y="5400675"/>
            <a:ext cx="1752600" cy="161925"/>
          </a:xfrm>
          <a:prstGeom prst="rect">
            <a:avLst/>
          </a:prstGeom>
          <a:noFill/>
          <a:ln w="0" cap="flat">
            <a:noFill/>
            <a:prstDash val="solid"/>
            <a:miter lim="0"/>
          </a:ln>
        </p:spPr>
        <p:txBody>
          <a:bodyPr vert="horz" wrap="none" lIns="0" tIns="0" rIns="0" bIns="0"/>
          <a:p>
            <a:pPr marL="142875" indent="-123825" algn="l" rtl="0" eaLnBrk="0">
              <a:buAutoNum type="alphaLcParenR" startAt="3"/>
            </a:pPr>
            <a:r>
              <a:rPr sz="900" kern="0" spc="0" dirty="0">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改进</a:t>
            </a:r>
            <a:r>
              <a:rPr sz="900" kern="0" spc="0" dirty="0">
                <a:solidFill>
                  <a:srgbClr val="404040">
                    <a:alpha val="100000"/>
                  </a:srgbClr>
                </a:solidFill>
                <a:latin typeface="Times New Roman" panose="02020603050405020304"/>
                <a:ea typeface="Times New Roman" panose="02020603050405020304"/>
                <a:cs typeface="Times New Roman" panose="02020603050405020304"/>
              </a:rPr>
              <a:t> 2D-KDE </a:t>
            </a:r>
            <a:r>
              <a:rPr sz="900" kern="0" spc="0" dirty="0">
                <a:solidFill>
                  <a:srgbClr val="404040">
                    <a:alpha val="100000"/>
                  </a:srgbClr>
                </a:solidFill>
                <a:latin typeface="宋体" panose="02010600030101010101" pitchFamily="2" charset="-122"/>
                <a:ea typeface="宋体" panose="02010600030101010101" pitchFamily="2" charset="-122"/>
                <a:cs typeface="宋体" panose="02010600030101010101" pitchFamily="2" charset="-122"/>
              </a:rPr>
              <a:t>方法（所提方法）</a:t>
            </a:r>
            <a:endParaRPr sz="900" dirty="0"/>
          </a:p>
        </p:txBody>
      </p:sp>
      <p:sp>
        <p:nvSpPr>
          <p:cNvPr id="216" name="textbox 216"/>
          <p:cNvSpPr/>
          <p:nvPr/>
        </p:nvSpPr>
        <p:spPr>
          <a:xfrm>
            <a:off x="2609850" y="5648325"/>
            <a:ext cx="1847850" cy="161925"/>
          </a:xfrm>
          <a:prstGeom prst="rect">
            <a:avLst/>
          </a:prstGeom>
          <a:noFill/>
          <a:ln w="0" cap="flat">
            <a:noFill/>
            <a:prstDash val="solid"/>
            <a:miter lim="0"/>
          </a:ln>
        </p:spPr>
        <p:txBody>
          <a:bodyPr vert="horz" wrap="none" lIns="0" tIns="0" rIns="0" bIns="0"/>
          <a:p>
            <a:pPr algn="l" rtl="0" eaLnBrk="0"/>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风速和风向数据的边缘 PDF 比较</a:t>
            </a:r>
            <a:endParaRPr sz="1000" dirty="0">
              <a:latin typeface="微软雅黑" panose="020B0503020204020204" charset="-122"/>
              <a:ea typeface="微软雅黑" panose="020B0503020204020204" charset="-122"/>
              <a:cs typeface="微软雅黑" panose="020B0503020204020204" charset="-122"/>
            </a:endParaRPr>
          </a:p>
        </p:txBody>
      </p:sp>
      <p:sp>
        <p:nvSpPr>
          <p:cNvPr id="218" name="textbox 218"/>
          <p:cNvSpPr/>
          <p:nvPr/>
        </p:nvSpPr>
        <p:spPr>
          <a:xfrm>
            <a:off x="8134350" y="5648325"/>
            <a:ext cx="1524000" cy="142875"/>
          </a:xfrm>
          <a:prstGeom prst="rect">
            <a:avLst/>
          </a:prstGeom>
          <a:noFill/>
          <a:ln w="0" cap="flat">
            <a:noFill/>
            <a:prstDash val="solid"/>
            <a:miter lim="0"/>
          </a:ln>
        </p:spPr>
        <p:txBody>
          <a:bodyPr vert="horz" wrap="none" lIns="0" tIns="0" rIns="0" bIns="0"/>
          <a:p>
            <a:pPr algn="l" rtl="0" eaLnBrk="0"/>
            <a:r>
              <a:rPr sz="900" kern="0" spc="0" dirty="0">
                <a:solidFill>
                  <a:srgbClr val="000000">
                    <a:alpha val="100000"/>
                  </a:srgbClr>
                </a:solidFill>
                <a:latin typeface="微软雅黑" panose="020B0503020204020204" charset="-122"/>
                <a:ea typeface="微软雅黑" panose="020B0503020204020204" charset="-122"/>
                <a:cs typeface="黑体" panose="02010609060101010101" charset="-122"/>
              </a:rPr>
              <a:t>不同方法的联合特征函数比较</a:t>
            </a:r>
            <a:endParaRPr sz="900" dirty="0">
              <a:latin typeface="微软雅黑" panose="020B0503020204020204" charset="-122"/>
              <a:ea typeface="微软雅黑" panose="020B0503020204020204" charset="-122"/>
            </a:endParaRPr>
          </a:p>
        </p:txBody>
      </p:sp>
      <p:sp>
        <p:nvSpPr>
          <p:cNvPr id="4" name="椭圆 3"/>
          <p:cNvSpPr/>
          <p:nvPr/>
        </p:nvSpPr>
        <p:spPr>
          <a:xfrm>
            <a:off x="711200" y="480695"/>
            <a:ext cx="539750" cy="519430"/>
          </a:xfrm>
          <a:prstGeom prst="ellipse">
            <a:avLst/>
          </a:prstGeom>
          <a:solidFill>
            <a:srgbClr val="2F5597"/>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200" b="1">
                <a:latin typeface="微软雅黑" panose="020B0503020204020204" charset="-122"/>
                <a:ea typeface="微软雅黑" panose="020B0503020204020204" charset="-122"/>
                <a:cs typeface="Times New Roman" panose="02020603050405020304" charset="0"/>
              </a:rPr>
              <a:t>3</a:t>
            </a:r>
            <a:endParaRPr lang="en-US" altLang="zh-CN" sz="3200" b="1">
              <a:latin typeface="微软雅黑" panose="020B0503020204020204" charset="-122"/>
              <a:ea typeface="微软雅黑" panose="020B0503020204020204" charset="-122"/>
              <a:cs typeface="Times New Roman" panose="02020603050405020304" charset="0"/>
            </a:endParaRPr>
          </a:p>
        </p:txBody>
      </p:sp>
      <p:sp>
        <p:nvSpPr>
          <p:cNvPr id="100" name="textbox 100"/>
          <p:cNvSpPr/>
          <p:nvPr/>
        </p:nvSpPr>
        <p:spPr>
          <a:xfrm>
            <a:off x="1076325" y="485775"/>
            <a:ext cx="5299075" cy="438150"/>
          </a:xfrm>
          <a:prstGeom prst="rect">
            <a:avLst/>
          </a:prstGeom>
          <a:noFill/>
          <a:ln w="0" cap="flat">
            <a:noFill/>
            <a:prstDash val="solid"/>
            <a:miter lim="0"/>
          </a:ln>
        </p:spPr>
        <p:txBody>
          <a:bodyPr vert="horz" wrap="none" lIns="0" tIns="0" rIns="0" bIns="0"/>
          <a:p>
            <a:pPr algn="l" rtl="0" eaLnBrk="0"/>
            <a:r>
              <a:rPr sz="3200" b="1" kern="0" spc="0" dirty="0">
                <a:solidFill>
                  <a:schemeClr val="bg1">
                    <a:alpha val="100000"/>
                  </a:schemeClr>
                </a:solidFill>
                <a:latin typeface="微软雅黑" panose="020B0503020204020204" charset="-122"/>
                <a:ea typeface="微软雅黑" panose="020B0503020204020204" charset="-122"/>
                <a:cs typeface="微软雅黑" panose="020B0503020204020204" charset="-122"/>
              </a:rPr>
              <a:t> </a:t>
            </a:r>
            <a:r>
              <a:rPr lang="en-US" sz="3200" b="1" kern="0" spc="0" dirty="0">
                <a:solidFill>
                  <a:schemeClr val="bg1">
                    <a:alpha val="100000"/>
                  </a:schemeClr>
                </a:solidFill>
                <a:latin typeface="微软雅黑" panose="020B0503020204020204" charset="-122"/>
                <a:ea typeface="微软雅黑" panose="020B0503020204020204" charset="-122"/>
                <a:cs typeface="微软雅黑" panose="020B0503020204020204" charset="-122"/>
              </a:rPr>
              <a:t> </a:t>
            </a:r>
            <a:r>
              <a:rPr sz="3200" b="1" kern="0" spc="0" dirty="0">
                <a:solidFill>
                  <a:srgbClr val="2F5597">
                    <a:alpha val="100000"/>
                  </a:srgbClr>
                </a:solidFill>
                <a:latin typeface="微软雅黑" panose="020B0503020204020204" charset="-122"/>
                <a:ea typeface="微软雅黑" panose="020B0503020204020204" charset="-122"/>
                <a:cs typeface="微软雅黑" panose="020B0503020204020204" charset="-122"/>
              </a:rPr>
              <a:t>动力响应性能与疲劳寿命评估</a:t>
            </a:r>
            <a:endParaRPr sz="3200" dirty="0"/>
          </a:p>
        </p:txBody>
      </p:sp>
      <p:sp>
        <p:nvSpPr>
          <p:cNvPr id="5" name="圆角矩形 4"/>
          <p:cNvSpPr/>
          <p:nvPr/>
        </p:nvSpPr>
        <p:spPr>
          <a:xfrm>
            <a:off x="679450" y="5999480"/>
            <a:ext cx="10807700" cy="488950"/>
          </a:xfrm>
          <a:prstGeom prst="roundRect">
            <a:avLst/>
          </a:prstGeom>
          <a:solidFill>
            <a:srgbClr val="DDE2F5"/>
          </a:solidFill>
          <a:ln w="19050">
            <a:solidFill>
              <a:srgbClr val="7CA5A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1600" b="1"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联合特征函数约束下的</a:t>
            </a:r>
            <a:r>
              <a:rPr sz="1600" b="1" kern="0" dirty="0">
                <a:solidFill>
                  <a:srgbClr val="AB1213">
                    <a:alpha val="100000"/>
                  </a:srgbClr>
                </a:solidFill>
                <a:latin typeface="微软雅黑" panose="020B0503020204020204" charset="-122"/>
                <a:ea typeface="微软雅黑" panose="020B0503020204020204" charset="-122"/>
                <a:cs typeface="微软雅黑" panose="020B0503020204020204" charset="-122"/>
                <a:sym typeface="+mn-ea"/>
              </a:rPr>
              <a:t>带宽优化</a:t>
            </a:r>
            <a:r>
              <a:rPr sz="1600" b="1"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可有效抑制欠拟合，</a:t>
            </a:r>
            <a:r>
              <a:rPr sz="1600" b="1" kern="0" dirty="0">
                <a:solidFill>
                  <a:srgbClr val="AB1213">
                    <a:alpha val="100000"/>
                  </a:srgbClr>
                </a:solidFill>
                <a:latin typeface="微软雅黑" panose="020B0503020204020204" charset="-122"/>
                <a:ea typeface="微软雅黑" panose="020B0503020204020204" charset="-122"/>
                <a:cs typeface="微软雅黑" panose="020B0503020204020204" charset="-122"/>
                <a:sym typeface="+mn-ea"/>
              </a:rPr>
              <a:t>显著提升</a:t>
            </a:r>
            <a:r>
              <a:rPr sz="1600" b="1"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风速-风向联合分布及边缘分布重构精度。</a:t>
            </a:r>
            <a:endParaRPr lang="zh-CN" altLang="en-US" sz="1600"/>
          </a:p>
        </p:txBody>
      </p:sp>
      <p:sp>
        <p:nvSpPr>
          <p:cNvPr id="6" name="圆角矩形 5"/>
          <p:cNvSpPr/>
          <p:nvPr/>
        </p:nvSpPr>
        <p:spPr>
          <a:xfrm>
            <a:off x="679450" y="3032125"/>
            <a:ext cx="5308600" cy="2870200"/>
          </a:xfrm>
          <a:prstGeom prst="roundRect">
            <a:avLst>
              <a:gd name="adj" fmla="val 2500"/>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圆角矩形 6"/>
          <p:cNvSpPr/>
          <p:nvPr/>
        </p:nvSpPr>
        <p:spPr>
          <a:xfrm>
            <a:off x="6178550" y="1161415"/>
            <a:ext cx="5308600" cy="4785360"/>
          </a:xfrm>
          <a:prstGeom prst="roundRect">
            <a:avLst>
              <a:gd name="adj" fmla="val 2500"/>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 name="直接连接符 7"/>
          <p:cNvCxnSpPr/>
          <p:nvPr/>
        </p:nvCxnSpPr>
        <p:spPr>
          <a:xfrm>
            <a:off x="1314450" y="996950"/>
            <a:ext cx="10204450" cy="0"/>
          </a:xfrm>
          <a:prstGeom prst="line">
            <a:avLst/>
          </a:prstGeom>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71" name="文本框 7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44/68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3</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动力响应性能与疲劳寿命</a:t>
            </a:r>
            <a:r>
              <a:rPr lang="zh-CN" altLang="en-US" sz="3100" b="1">
                <a:solidFill>
                  <a:srgbClr val="305393"/>
                </a:solidFill>
              </a:rPr>
              <a:t>评估</a:t>
            </a:r>
            <a:endParaRPr lang="zh-CN" altLang="en-US" sz="3100" b="1">
              <a:solidFill>
                <a:srgbClr val="305393"/>
              </a:solidFill>
            </a:endParaRPr>
          </a:p>
        </p:txBody>
      </p:sp>
      <p:sp>
        <p:nvSpPr>
          <p:cNvPr id="10" name="矩形 9"/>
          <p:cNvSpPr/>
          <p:nvPr/>
        </p:nvSpPr>
        <p:spPr>
          <a:xfrm>
            <a:off x="917575" y="1189990"/>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057275"/>
            <a:ext cx="10535285" cy="445135"/>
          </a:xfrm>
          <a:prstGeom prst="rect">
            <a:avLst/>
          </a:prstGeom>
          <a:noFill/>
        </p:spPr>
        <p:txBody>
          <a:bodyPr wrap="square" rtlCol="0">
            <a:spAutoFit/>
          </a:bodyPr>
          <a:p>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将概率风场输入动力学模型，结合雨流计数法和</a:t>
            </a:r>
            <a:r>
              <a:rPr lang="en-US" altLang="zh-CN" sz="2300" b="1">
                <a:solidFill>
                  <a:srgbClr val="023A8B"/>
                </a:solidFill>
                <a:latin typeface="微软雅黑" panose="020B0503020204020204" charset="-122"/>
                <a:ea typeface="微软雅黑" panose="020B0503020204020204" charset="-122"/>
                <a:cs typeface="微软雅黑" panose="020B0503020204020204" charset="-122"/>
              </a:rPr>
              <a:t>S-N</a:t>
            </a:r>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曲线进行疲劳寿命评估</a:t>
            </a:r>
            <a:endParaRPr lang="zh-CN" altLang="en-US" sz="2300" b="1">
              <a:solidFill>
                <a:srgbClr val="023A8B"/>
              </a:solidFill>
              <a:latin typeface="微软雅黑" panose="020B0503020204020204" charset="-122"/>
              <a:ea typeface="微软雅黑" panose="020B0503020204020204" charset="-122"/>
              <a:cs typeface="微软雅黑" panose="020B0503020204020204" charset="-122"/>
            </a:endParaRPr>
          </a:p>
        </p:txBody>
      </p:sp>
      <p:sp>
        <p:nvSpPr>
          <p:cNvPr id="12" name="矩形 11"/>
          <p:cNvSpPr/>
          <p:nvPr/>
        </p:nvSpPr>
        <p:spPr>
          <a:xfrm>
            <a:off x="867410" y="1517015"/>
            <a:ext cx="5454650" cy="1314450"/>
          </a:xfrm>
          <a:prstGeom prst="rect">
            <a:avLst/>
          </a:prstGeom>
          <a:ln>
            <a:solidFill>
              <a:srgbClr val="023A8B"/>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矩形 12"/>
          <p:cNvSpPr/>
          <p:nvPr/>
        </p:nvSpPr>
        <p:spPr>
          <a:xfrm>
            <a:off x="867410" y="1503680"/>
            <a:ext cx="1673860" cy="297815"/>
          </a:xfrm>
          <a:prstGeom prst="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雨流计数法</a:t>
            </a:r>
            <a:endParaRPr lang="zh-CN" altLang="en-US"/>
          </a:p>
        </p:txBody>
      </p:sp>
      <p:sp>
        <p:nvSpPr>
          <p:cNvPr id="14" name="矩形 13"/>
          <p:cNvSpPr/>
          <p:nvPr/>
        </p:nvSpPr>
        <p:spPr>
          <a:xfrm>
            <a:off x="869315" y="2923540"/>
            <a:ext cx="5466715" cy="2648585"/>
          </a:xfrm>
          <a:prstGeom prst="rect">
            <a:avLst/>
          </a:prstGeom>
          <a:ln>
            <a:solidFill>
              <a:srgbClr val="023A8B"/>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矩形 14"/>
          <p:cNvSpPr/>
          <p:nvPr/>
        </p:nvSpPr>
        <p:spPr>
          <a:xfrm>
            <a:off x="861060" y="2923540"/>
            <a:ext cx="1972945" cy="302895"/>
          </a:xfrm>
          <a:prstGeom prst="rect">
            <a:avLst/>
          </a:prstGeom>
          <a:solidFill>
            <a:srgbClr val="023A8B"/>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材料</a:t>
            </a:r>
            <a:r>
              <a:rPr lang="en-US" altLang="zh-CN"/>
              <a:t>S-N</a:t>
            </a:r>
            <a:r>
              <a:rPr lang="zh-CN" altLang="en-US"/>
              <a:t>曲线</a:t>
            </a:r>
            <a:endParaRPr lang="zh-CN" altLang="en-US"/>
          </a:p>
        </p:txBody>
      </p:sp>
      <p:sp>
        <p:nvSpPr>
          <p:cNvPr id="16" name="矩形 15"/>
          <p:cNvSpPr/>
          <p:nvPr/>
        </p:nvSpPr>
        <p:spPr>
          <a:xfrm>
            <a:off x="4736465" y="1737995"/>
            <a:ext cx="1421130" cy="999490"/>
          </a:xfrm>
          <a:prstGeom prst="rect">
            <a:avLst/>
          </a:prstGeom>
          <a:ln>
            <a:solidFill>
              <a:schemeClr val="bg2">
                <a:lumMod val="50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矩形 16"/>
          <p:cNvSpPr/>
          <p:nvPr/>
        </p:nvSpPr>
        <p:spPr>
          <a:xfrm>
            <a:off x="869315" y="3211195"/>
            <a:ext cx="2391410" cy="2329815"/>
          </a:xfrm>
          <a:prstGeom prst="rect">
            <a:avLst/>
          </a:pr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矩形 17"/>
          <p:cNvSpPr/>
          <p:nvPr/>
        </p:nvSpPr>
        <p:spPr>
          <a:xfrm>
            <a:off x="3291840" y="3203575"/>
            <a:ext cx="2981960" cy="1048385"/>
          </a:xfrm>
          <a:prstGeom prst="rect">
            <a:avLst/>
          </a:pr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矩形 18"/>
          <p:cNvSpPr/>
          <p:nvPr/>
        </p:nvSpPr>
        <p:spPr>
          <a:xfrm>
            <a:off x="3291840" y="4290695"/>
            <a:ext cx="2974340" cy="1226820"/>
          </a:xfrm>
          <a:prstGeom prst="rect">
            <a:avLst/>
          </a:prstGeom>
          <a:ln>
            <a:solidFill>
              <a:schemeClr val="bg2">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矩形 19"/>
          <p:cNvSpPr/>
          <p:nvPr/>
        </p:nvSpPr>
        <p:spPr>
          <a:xfrm>
            <a:off x="977900" y="4818380"/>
            <a:ext cx="2174240" cy="683895"/>
          </a:xfrm>
          <a:prstGeom prst="rect">
            <a:avLst/>
          </a:prstGeom>
          <a:ln>
            <a:solidFill>
              <a:schemeClr val="bg2">
                <a:lumMod val="50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圆角矩形 20"/>
          <p:cNvSpPr/>
          <p:nvPr/>
        </p:nvSpPr>
        <p:spPr>
          <a:xfrm>
            <a:off x="791845" y="5664200"/>
            <a:ext cx="10615295" cy="699770"/>
          </a:xfrm>
          <a:prstGeom prst="roundRect">
            <a:avLst/>
          </a:prstGeom>
          <a:ln>
            <a:solidFill>
              <a:srgbClr val="619EAD"/>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矩形 21"/>
          <p:cNvSpPr/>
          <p:nvPr/>
        </p:nvSpPr>
        <p:spPr>
          <a:xfrm>
            <a:off x="6405880" y="1502410"/>
            <a:ext cx="4907915" cy="4053840"/>
          </a:xfrm>
          <a:prstGeom prst="rect">
            <a:avLst/>
          </a:prstGeom>
          <a:ln>
            <a:solidFill>
              <a:srgbClr val="023A8B"/>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矩形 22"/>
          <p:cNvSpPr/>
          <p:nvPr/>
        </p:nvSpPr>
        <p:spPr>
          <a:xfrm>
            <a:off x="6421755" y="1510665"/>
            <a:ext cx="4892040" cy="294640"/>
          </a:xfrm>
          <a:prstGeom prst="rect">
            <a:avLst/>
          </a:prstGeom>
          <a:solidFill>
            <a:srgbClr val="023A8B"/>
          </a:solidFill>
          <a:ln>
            <a:solidFill>
              <a:srgbClr val="023A8B"/>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疲劳</a:t>
            </a:r>
            <a:r>
              <a:rPr lang="zh-CN" altLang="en-US"/>
              <a:t>损伤期望与寿命</a:t>
            </a:r>
            <a:r>
              <a:rPr lang="zh-CN" altLang="en-US"/>
              <a:t>外推</a:t>
            </a:r>
            <a:endParaRPr lang="zh-CN" altLang="en-US"/>
          </a:p>
        </p:txBody>
      </p:sp>
      <p:sp>
        <p:nvSpPr>
          <p:cNvPr id="24" name="矩形 23"/>
          <p:cNvSpPr/>
          <p:nvPr/>
        </p:nvSpPr>
        <p:spPr>
          <a:xfrm>
            <a:off x="6584315" y="2791460"/>
            <a:ext cx="4566285" cy="1429385"/>
          </a:xfrm>
          <a:prstGeom prst="rect">
            <a:avLst/>
          </a:prstGeom>
          <a:ln>
            <a:solidFill>
              <a:schemeClr val="bg2">
                <a:lumMod val="50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矩形 24"/>
          <p:cNvSpPr/>
          <p:nvPr/>
        </p:nvSpPr>
        <p:spPr>
          <a:xfrm>
            <a:off x="6576695" y="4337050"/>
            <a:ext cx="4582160" cy="520065"/>
          </a:xfrm>
          <a:prstGeom prst="rect">
            <a:avLst/>
          </a:prstGeom>
          <a:ln>
            <a:solidFill>
              <a:schemeClr val="bg2">
                <a:lumMod val="50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椭圆 25"/>
          <p:cNvSpPr/>
          <p:nvPr/>
        </p:nvSpPr>
        <p:spPr>
          <a:xfrm>
            <a:off x="977900" y="196088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nvSpPr>
        <p:spPr>
          <a:xfrm>
            <a:off x="983615" y="2163445"/>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椭圆 27"/>
          <p:cNvSpPr/>
          <p:nvPr/>
        </p:nvSpPr>
        <p:spPr>
          <a:xfrm>
            <a:off x="983615" y="236601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椭圆 28"/>
          <p:cNvSpPr/>
          <p:nvPr/>
        </p:nvSpPr>
        <p:spPr>
          <a:xfrm>
            <a:off x="983615" y="2568575"/>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文本框 29"/>
          <p:cNvSpPr txBox="1"/>
          <p:nvPr/>
        </p:nvSpPr>
        <p:spPr>
          <a:xfrm>
            <a:off x="1053465" y="1852295"/>
            <a:ext cx="2794000" cy="260350"/>
          </a:xfrm>
          <a:prstGeom prst="rect">
            <a:avLst/>
          </a:prstGeom>
          <a:noFill/>
        </p:spPr>
        <p:txBody>
          <a:bodyPr wrap="square" rtlCol="0">
            <a:spAutoFit/>
          </a:bodyPr>
          <a:p>
            <a:r>
              <a:rPr lang="zh-CN" altLang="en-US" sz="1100"/>
              <a:t>从复杂应力时程中识别完整闭合循环；</a:t>
            </a:r>
            <a:endParaRPr lang="zh-CN" altLang="en-US" sz="1100"/>
          </a:p>
        </p:txBody>
      </p:sp>
      <p:sp>
        <p:nvSpPr>
          <p:cNvPr id="31" name="文本框 30"/>
          <p:cNvSpPr txBox="1"/>
          <p:nvPr/>
        </p:nvSpPr>
        <p:spPr>
          <a:xfrm>
            <a:off x="1053465" y="2070735"/>
            <a:ext cx="2794000" cy="260350"/>
          </a:xfrm>
          <a:prstGeom prst="rect">
            <a:avLst/>
          </a:prstGeom>
          <a:noFill/>
        </p:spPr>
        <p:txBody>
          <a:bodyPr wrap="square" rtlCol="0">
            <a:spAutoFit/>
          </a:bodyPr>
          <a:p>
            <a:r>
              <a:rPr lang="zh-CN" altLang="en-US" sz="1100"/>
              <a:t>每个循环由应力幅值与平均应力值表征；</a:t>
            </a:r>
            <a:endParaRPr lang="zh-CN" altLang="en-US" sz="1100"/>
          </a:p>
        </p:txBody>
      </p:sp>
      <p:sp>
        <p:nvSpPr>
          <p:cNvPr id="32" name="文本框 31"/>
          <p:cNvSpPr txBox="1"/>
          <p:nvPr/>
        </p:nvSpPr>
        <p:spPr>
          <a:xfrm>
            <a:off x="1053465" y="2273300"/>
            <a:ext cx="3606165" cy="260350"/>
          </a:xfrm>
          <a:prstGeom prst="rect">
            <a:avLst/>
          </a:prstGeom>
          <a:noFill/>
        </p:spPr>
        <p:txBody>
          <a:bodyPr wrap="square" rtlCol="0">
            <a:spAutoFit/>
          </a:bodyPr>
          <a:p>
            <a:r>
              <a:rPr lang="zh-CN" altLang="en-US" sz="1100"/>
              <a:t>对混凝土与钢材在不同荷载水平下的循环次数进行统计；</a:t>
            </a:r>
            <a:endParaRPr lang="zh-CN" altLang="en-US" sz="1100"/>
          </a:p>
        </p:txBody>
      </p:sp>
      <p:sp>
        <p:nvSpPr>
          <p:cNvPr id="33" name="文本框 32"/>
          <p:cNvSpPr txBox="1"/>
          <p:nvPr/>
        </p:nvSpPr>
        <p:spPr>
          <a:xfrm>
            <a:off x="1053465" y="2476500"/>
            <a:ext cx="2794000" cy="260350"/>
          </a:xfrm>
          <a:prstGeom prst="rect">
            <a:avLst/>
          </a:prstGeom>
          <a:noFill/>
        </p:spPr>
        <p:txBody>
          <a:bodyPr wrap="square" rtlCol="0">
            <a:spAutoFit/>
          </a:bodyPr>
          <a:p>
            <a:r>
              <a:rPr lang="zh-CN" altLang="en-US" sz="1100"/>
              <a:t>计数结果作为疲劳损伤评估的直接输入。</a:t>
            </a:r>
            <a:endParaRPr lang="zh-CN" altLang="en-US" sz="1100"/>
          </a:p>
        </p:txBody>
      </p:sp>
      <p:sp>
        <p:nvSpPr>
          <p:cNvPr id="34" name="文本框 33"/>
          <p:cNvSpPr txBox="1"/>
          <p:nvPr/>
        </p:nvSpPr>
        <p:spPr>
          <a:xfrm>
            <a:off x="1102360" y="3216910"/>
            <a:ext cx="2042160" cy="245110"/>
          </a:xfrm>
          <a:prstGeom prst="rect">
            <a:avLst/>
          </a:prstGeom>
          <a:noFill/>
        </p:spPr>
        <p:txBody>
          <a:bodyPr wrap="square" rtlCol="0">
            <a:spAutoFit/>
          </a:bodyPr>
          <a:p>
            <a:r>
              <a:rPr lang="zh-CN" altLang="en-US" sz="1000" b="1">
                <a:solidFill>
                  <a:srgbClr val="023A8B"/>
                </a:solidFill>
              </a:rPr>
              <a:t>典型混凝土/钢材S-N曲线（参考）</a:t>
            </a:r>
            <a:endParaRPr lang="zh-CN" altLang="en-US" sz="1000" b="1">
              <a:solidFill>
                <a:srgbClr val="023A8B"/>
              </a:solidFill>
            </a:endParaRPr>
          </a:p>
        </p:txBody>
      </p:sp>
      <p:sp>
        <p:nvSpPr>
          <p:cNvPr id="35" name="文本框 34"/>
          <p:cNvSpPr txBox="1"/>
          <p:nvPr/>
        </p:nvSpPr>
        <p:spPr>
          <a:xfrm>
            <a:off x="4735195" y="1770380"/>
            <a:ext cx="1422400" cy="929640"/>
          </a:xfrm>
          <a:prstGeom prst="rect">
            <a:avLst/>
          </a:prstGeom>
          <a:noFill/>
        </p:spPr>
        <p:txBody>
          <a:bodyPr wrap="square" rtlCol="0">
            <a:noAutofit/>
          </a:bodyPr>
          <a:p>
            <a:pPr algn="ctr"/>
            <a:r>
              <a:rPr lang="en-US" altLang="zh-CN" i="1">
                <a:latin typeface="Times New Roman" panose="02020603050405020304" charset="0"/>
                <a:cs typeface="Times New Roman" panose="02020603050405020304" charset="0"/>
              </a:rPr>
              <a:t>n</a:t>
            </a:r>
            <a:r>
              <a:rPr lang="en-US" altLang="zh-CN" i="1" baseline="-25000">
                <a:latin typeface="Times New Roman" panose="02020603050405020304" charset="0"/>
                <a:cs typeface="Times New Roman" panose="02020603050405020304" charset="0"/>
              </a:rPr>
              <a:t>c,j</a:t>
            </a:r>
            <a:r>
              <a:rPr lang="zh-CN" altLang="en-US" i="1">
                <a:latin typeface="Times New Roman" panose="02020603050405020304" charset="0"/>
                <a:cs typeface="Times New Roman" panose="02020603050405020304" charset="0"/>
              </a:rPr>
              <a:t>，</a:t>
            </a:r>
            <a:r>
              <a:rPr lang="en-US" altLang="zh-CN" i="1">
                <a:latin typeface="Times New Roman" panose="02020603050405020304" charset="0"/>
                <a:cs typeface="Times New Roman" panose="02020603050405020304" charset="0"/>
              </a:rPr>
              <a:t>n</a:t>
            </a:r>
            <a:r>
              <a:rPr lang="en-US" altLang="zh-CN" i="1" baseline="-25000">
                <a:latin typeface="Times New Roman" panose="02020603050405020304" charset="0"/>
                <a:cs typeface="Times New Roman" panose="02020603050405020304" charset="0"/>
              </a:rPr>
              <a:t>s,j</a:t>
            </a:r>
            <a:endParaRPr lang="en-US" altLang="zh-CN" i="1" baseline="-25000">
              <a:latin typeface="Times New Roman" panose="02020603050405020304" charset="0"/>
              <a:cs typeface="Times New Roman" panose="02020603050405020304" charset="0"/>
            </a:endParaRPr>
          </a:p>
          <a:p>
            <a:pPr algn="ctr"/>
            <a:r>
              <a:rPr lang="en-US" altLang="zh-CN" baseline="-25000">
                <a:latin typeface="微软雅黑" panose="020B0503020204020204" charset="-122"/>
                <a:ea typeface="微软雅黑" panose="020B0503020204020204" charset="-122"/>
                <a:cs typeface="微软雅黑" panose="020B0503020204020204" charset="-122"/>
              </a:rPr>
              <a:t>分别表示混凝土与钢材在荷载水平j下的实际循环次数</a:t>
            </a:r>
            <a:endParaRPr lang="en-US" altLang="zh-CN" baseline="-25000">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36" name="文本框 35"/>
              <p:cNvSpPr txBox="1"/>
              <p:nvPr/>
            </p:nvSpPr>
            <p:spPr>
              <a:xfrm>
                <a:off x="961390" y="4850765"/>
                <a:ext cx="2230120" cy="645160"/>
              </a:xfrm>
              <a:prstGeom prst="rect">
                <a:avLst/>
              </a:prstGeom>
              <a:noFill/>
            </p:spPr>
            <p:txBody>
              <a:bodyPr wrap="square" rtlCol="0">
                <a:spAutoFit/>
              </a:bodyPr>
              <a:p>
                <a:pPr>
                  <a:lnSpc>
                    <a:spcPct val="12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CN" sz="1000" i="1">
                              <a:latin typeface="Cambria Math" panose="02040503050406030204" charset="0"/>
                              <a:cs typeface="Cambria Math" panose="02040503050406030204" charset="0"/>
                            </a:rPr>
                          </m:ctrlPr>
                        </m:sSupPr>
                        <m:e>
                          <m:r>
                            <a:rPr lang="en-US" altLang="zh-CN" sz="1000" i="1">
                              <a:latin typeface="Cambria Math" panose="02040503050406030204" charset="0"/>
                              <a:cs typeface="Cambria Math" panose="02040503050406030204" charset="0"/>
                            </a:rPr>
                            <m:t>(</m:t>
                          </m:r>
                          <m:r>
                            <a:rPr lang="en-US" altLang="zh-CN" sz="1000" i="1">
                              <a:latin typeface="Cambria Math" panose="02040503050406030204" charset="0"/>
                              <a:cs typeface="Cambria Math" panose="02040503050406030204" charset="0"/>
                            </a:rPr>
                            <m:t>∆</m:t>
                          </m:r>
                          <m:sSub>
                            <m:sSubPr>
                              <m:ctrlPr>
                                <a:rPr lang="en-US" altLang="zh-CN" sz="1000" i="1">
                                  <a:latin typeface="Cambria Math" panose="02040503050406030204" charset="0"/>
                                  <a:cs typeface="Cambria Math" panose="02040503050406030204" charset="0"/>
                                </a:rPr>
                              </m:ctrlPr>
                            </m:sSubPr>
                            <m:e>
                              <m:r>
                                <a:rPr lang="en-US" altLang="zh-CN" sz="1000" i="1">
                                  <a:latin typeface="Cambria Math" panose="02040503050406030204" charset="0"/>
                                  <a:cs typeface="Cambria Math" panose="02040503050406030204" charset="0"/>
                                </a:rPr>
                                <m:t>𝜎</m:t>
                              </m:r>
                            </m:e>
                            <m:sub>
                              <m:r>
                                <a:rPr lang="en-US" altLang="zh-CN" sz="1000" i="1">
                                  <a:latin typeface="Cambria Math" panose="02040503050406030204" charset="0"/>
                                  <a:cs typeface="Cambria Math" panose="02040503050406030204" charset="0"/>
                                </a:rPr>
                                <m:t>𝑅𝑆𝐾</m:t>
                              </m:r>
                            </m:sub>
                          </m:sSub>
                          <m:r>
                            <a:rPr lang="en-US" altLang="zh-CN" sz="1000" i="1">
                              <a:latin typeface="Cambria Math" panose="02040503050406030204" charset="0"/>
                              <a:cs typeface="Cambria Math" panose="02040503050406030204" charset="0"/>
                            </a:rPr>
                            <m:t>)</m:t>
                          </m:r>
                        </m:e>
                        <m:sup>
                          <m:r>
                            <a:rPr lang="en-US" altLang="zh-CN" sz="1000" i="1">
                              <a:latin typeface="Cambria Math" panose="02040503050406030204" charset="0"/>
                              <a:cs typeface="Cambria Math" panose="02040503050406030204" charset="0"/>
                            </a:rPr>
                            <m:t>𝑚</m:t>
                          </m:r>
                        </m:sup>
                      </m:sSup>
                      <m:r>
                        <a:rPr lang="en-US" altLang="zh-CN" sz="1000" i="1">
                          <a:latin typeface="Cambria Math" panose="02040503050406030204" charset="0"/>
                          <a:cs typeface="Cambria Math" panose="02040503050406030204" charset="0"/>
                        </a:rPr>
                        <m:t>∙</m:t>
                      </m:r>
                      <m:r>
                        <a:rPr lang="en-US" altLang="zh-CN" sz="1000" i="1">
                          <a:latin typeface="Cambria Math" panose="02040503050406030204" charset="0"/>
                          <a:cs typeface="Cambria Math" panose="02040503050406030204" charset="0"/>
                        </a:rPr>
                        <m:t>𝑁</m:t>
                      </m:r>
                      <m:r>
                        <a:rPr lang="en-US" altLang="zh-CN" sz="1000" i="1">
                          <a:latin typeface="Cambria Math" panose="02040503050406030204" charset="0"/>
                          <a:cs typeface="Cambria Math" panose="02040503050406030204" charset="0"/>
                        </a:rPr>
                        <m:t>=</m:t>
                      </m:r>
                      <m:r>
                        <a:rPr lang="en-US" altLang="zh-CN" sz="1000" i="1">
                          <a:latin typeface="Cambria Math" panose="02040503050406030204" charset="0"/>
                          <a:cs typeface="Cambria Math" panose="02040503050406030204" charset="0"/>
                        </a:rPr>
                        <m:t>𝑐𝑜𝑛𝑠𝑡</m:t>
                      </m:r>
                    </m:oMath>
                  </m:oMathPara>
                </a14:m>
                <a:endParaRPr lang="zh-CN" altLang="en-US" sz="1000"/>
              </a:p>
              <a:p>
                <a:pPr>
                  <a:lnSpc>
                    <a:spcPct val="120000"/>
                  </a:lnSpc>
                  <a:spcBef>
                    <a:spcPts val="0"/>
                  </a:spcBef>
                  <a:spcAft>
                    <a:spcPts val="0"/>
                  </a:spcAft>
                </a:pPr>
                <a:r>
                  <a:rPr lang="zh-CN" altLang="en-US" sz="1000"/>
                  <a:t>双对数坐标下呈分段折线，高应力区</a:t>
                </a:r>
                <a:endParaRPr lang="zh-CN" altLang="en-US" sz="1000"/>
              </a:p>
              <a:p>
                <a:pPr>
                  <a:lnSpc>
                    <a:spcPct val="120000"/>
                  </a:lnSpc>
                  <a:spcBef>
                    <a:spcPts val="0"/>
                  </a:spcBef>
                  <a:spcAft>
                    <a:spcPts val="0"/>
                  </a:spcAft>
                </a:pPr>
                <a:r>
                  <a:rPr lang="zh-CN" altLang="en-US" sz="1000"/>
                  <a:t>斜率为m=k1,低应力区斜率为m=k2</a:t>
                </a:r>
                <a:endParaRPr lang="zh-CN" altLang="en-US" sz="1000"/>
              </a:p>
            </p:txBody>
          </p:sp>
        </mc:Choice>
        <mc:Fallback>
          <p:sp>
            <p:nvSpPr>
              <p:cNvPr id="36" name="文本框 35"/>
              <p:cNvSpPr txBox="1">
                <a:spLocks noRot="1" noChangeAspect="1" noMove="1" noResize="1" noEditPoints="1" noAdjustHandles="1" noChangeArrowheads="1" noChangeShapeType="1" noTextEdit="1"/>
              </p:cNvSpPr>
              <p:nvPr/>
            </p:nvSpPr>
            <p:spPr>
              <a:xfrm>
                <a:off x="961390" y="4850765"/>
                <a:ext cx="2230120" cy="645160"/>
              </a:xfrm>
              <a:prstGeom prst="rect">
                <a:avLst/>
              </a:prstGeom>
              <a:blipFill rotWithShape="1">
                <a:blip r:embed="rId1"/>
                <a:stretch>
                  <a:fillRect/>
                </a:stretch>
              </a:blipFill>
            </p:spPr>
            <p:txBody>
              <a:bodyPr/>
              <a:lstStyle/>
              <a:p>
                <a:r>
                  <a:rPr lang="zh-CN" altLang="en-US">
                    <a:noFill/>
                  </a:rPr>
                  <a:t> </a:t>
                </a:r>
              </a:p>
            </p:txBody>
          </p:sp>
        </mc:Fallback>
      </mc:AlternateContent>
      <p:sp>
        <p:nvSpPr>
          <p:cNvPr id="37" name="文本框 36"/>
          <p:cNvSpPr txBox="1"/>
          <p:nvPr/>
        </p:nvSpPr>
        <p:spPr>
          <a:xfrm>
            <a:off x="3708400" y="3209925"/>
            <a:ext cx="2428240" cy="245110"/>
          </a:xfrm>
          <a:prstGeom prst="rect">
            <a:avLst/>
          </a:prstGeom>
          <a:noFill/>
        </p:spPr>
        <p:txBody>
          <a:bodyPr wrap="square" rtlCol="0">
            <a:spAutoFit/>
          </a:bodyPr>
          <a:p>
            <a:r>
              <a:rPr lang="zh-CN" altLang="en-US" sz="1000" b="1">
                <a:solidFill>
                  <a:srgbClr val="023A8B"/>
                </a:solidFill>
              </a:rPr>
              <a:t>钢材（EN1993-1-9、细节类别160)</a:t>
            </a:r>
            <a:endParaRPr lang="zh-CN" altLang="en-US" sz="1000" b="1">
              <a:solidFill>
                <a:srgbClr val="023A8B"/>
              </a:solidFill>
            </a:endParaRPr>
          </a:p>
        </p:txBody>
      </p:sp>
      <mc:AlternateContent xmlns:mc="http://schemas.openxmlformats.org/markup-compatibility/2006">
        <mc:Choice xmlns:a14="http://schemas.microsoft.com/office/drawing/2010/main" Requires="a14">
          <p:sp>
            <p:nvSpPr>
              <p:cNvPr id="39" name="文本框 38"/>
              <p:cNvSpPr txBox="1"/>
              <p:nvPr/>
            </p:nvSpPr>
            <p:spPr>
              <a:xfrm>
                <a:off x="3291776" y="3353689"/>
                <a:ext cx="1958975" cy="43434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func>
                        <m:funcPr>
                          <m:ctrlPr>
                            <a:rPr lang="en-US" altLang="zh-CN" sz="1200">
                              <a:latin typeface="Cambria Math" panose="02040503050406030204" charset="0"/>
                              <a:cs typeface="Cambria Math" panose="02040503050406030204" charset="0"/>
                            </a:rPr>
                          </m:ctrlPr>
                        </m:funcPr>
                        <m:fName>
                          <m:r>
                            <m:rPr>
                              <m:sty m:val="p"/>
                            </m:rPr>
                            <a:rPr lang="en-US" altLang="zh-CN" sz="1200">
                              <a:latin typeface="Cambria Math" panose="02040503050406030204" charset="0"/>
                              <a:cs typeface="Cambria Math" panose="02040503050406030204" charset="0"/>
                            </a:rPr>
                            <m:t>log</m:t>
                          </m:r>
                        </m:fName>
                        <m:e>
                          <m:r>
                            <a:rPr lang="en-US" altLang="zh-CN" sz="1200" i="1">
                              <a:latin typeface="Cambria Math" panose="02040503050406030204" charset="0"/>
                              <a:cs typeface="Cambria Math" panose="02040503050406030204" charset="0"/>
                            </a:rPr>
                            <m:t>𝑆</m:t>
                          </m:r>
                        </m:e>
                      </m:func>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m:t>
                      </m:r>
                      <m:f>
                        <m:fPr>
                          <m:ctrlPr>
                            <a:rPr lang="en-US" altLang="zh-CN" sz="1200" i="1">
                              <a:latin typeface="Cambria Math" panose="02040503050406030204" charset="0"/>
                              <a:cs typeface="Cambria Math" panose="02040503050406030204" charset="0"/>
                            </a:rPr>
                          </m:ctrlPr>
                        </m:fPr>
                        <m:num>
                          <m:r>
                            <a:rPr lang="en-US" altLang="zh-CN" sz="1200" i="1">
                              <a:latin typeface="Cambria Math" panose="02040503050406030204" charset="0"/>
                              <a:cs typeface="Cambria Math" panose="02040503050406030204" charset="0"/>
                            </a:rPr>
                            <m:t>1</m:t>
                          </m:r>
                        </m:num>
                        <m:den>
                          <m:r>
                            <a:rPr lang="en-US" altLang="zh-CN" sz="1200" i="1">
                              <a:latin typeface="Cambria Math" panose="02040503050406030204" charset="0"/>
                              <a:cs typeface="Cambria Math" panose="02040503050406030204" charset="0"/>
                            </a:rPr>
                            <m:t>𝑚</m:t>
                          </m:r>
                        </m:den>
                      </m:f>
                      <m:func>
                        <m:funcPr>
                          <m:ctrlPr>
                            <a:rPr lang="en-US" altLang="zh-CN" sz="1200">
                              <a:latin typeface="Cambria Math" panose="02040503050406030204" charset="0"/>
                              <a:cs typeface="Cambria Math" panose="02040503050406030204" charset="0"/>
                            </a:rPr>
                          </m:ctrlPr>
                        </m:funcPr>
                        <m:fName>
                          <m:r>
                            <m:rPr>
                              <m:sty m:val="p"/>
                            </m:rPr>
                            <a:rPr lang="en-US" altLang="zh-CN" sz="1200">
                              <a:latin typeface="Cambria Math" panose="02040503050406030204" charset="0"/>
                              <a:cs typeface="Cambria Math" panose="02040503050406030204" charset="0"/>
                            </a:rPr>
                            <m:t>log</m:t>
                          </m:r>
                        </m:fName>
                        <m:e>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𝑁</m:t>
                              </m:r>
                            </m:e>
                            <m:sub>
                              <m:r>
                                <a:rPr lang="en-US" altLang="zh-CN" sz="1200" i="1">
                                  <a:latin typeface="Cambria Math" panose="02040503050406030204" charset="0"/>
                                  <a:cs typeface="Cambria Math" panose="02040503050406030204" charset="0"/>
                                </a:rPr>
                                <m:t>𝑠</m:t>
                              </m:r>
                            </m:sub>
                          </m:sSub>
                          <m:r>
                            <a:rPr lang="en-US" altLang="zh-CN" sz="1200" i="1">
                              <a:latin typeface="Cambria Math" panose="02040503050406030204" charset="0"/>
                              <a:cs typeface="Cambria Math" panose="02040503050406030204" charset="0"/>
                            </a:rPr>
                            <m:t>+</m:t>
                          </m:r>
                          <m:f>
                            <m:fPr>
                              <m:ctrlPr>
                                <a:rPr lang="en-US" altLang="zh-CN" sz="1200" i="1">
                                  <a:latin typeface="Cambria Math" panose="02040503050406030204" charset="0"/>
                                  <a:cs typeface="Cambria Math" panose="02040503050406030204" charset="0"/>
                                </a:rPr>
                              </m:ctrlPr>
                            </m:fPr>
                            <m:num>
                              <m:r>
                                <a:rPr lang="en-US" altLang="zh-CN" sz="1200" i="1">
                                  <a:latin typeface="Cambria Math" panose="02040503050406030204" charset="0"/>
                                  <a:cs typeface="Cambria Math" panose="02040503050406030204" charset="0"/>
                                </a:rPr>
                                <m:t>1</m:t>
                              </m:r>
                            </m:num>
                            <m:den>
                              <m:r>
                                <a:rPr lang="en-US" altLang="zh-CN" sz="1200" i="1">
                                  <a:latin typeface="Cambria Math" panose="02040503050406030204" charset="0"/>
                                  <a:cs typeface="Cambria Math" panose="02040503050406030204" charset="0"/>
                                </a:rPr>
                                <m:t>𝑚</m:t>
                              </m:r>
                            </m:den>
                          </m:f>
                          <m:func>
                            <m:funcPr>
                              <m:ctrlPr>
                                <a:rPr lang="en-US" altLang="zh-CN" sz="1200">
                                  <a:latin typeface="Cambria Math" panose="02040503050406030204" charset="0"/>
                                  <a:cs typeface="Cambria Math" panose="02040503050406030204" charset="0"/>
                                </a:rPr>
                              </m:ctrlPr>
                            </m:funcPr>
                            <m:fName>
                              <m:r>
                                <m:rPr>
                                  <m:sty m:val="p"/>
                                </m:rPr>
                                <a:rPr lang="en-US" altLang="zh-CN" sz="1200">
                                  <a:latin typeface="Cambria Math" panose="02040503050406030204" charset="0"/>
                                  <a:cs typeface="Cambria Math" panose="02040503050406030204" charset="0"/>
                                </a:rPr>
                                <m:t>log</m:t>
                              </m:r>
                            </m:fName>
                            <m:e>
                              <m:r>
                                <a:rPr lang="en-US" altLang="zh-CN" sz="1200" i="1">
                                  <a:latin typeface="Cambria Math" panose="02040503050406030204" charset="0"/>
                                  <a:cs typeface="Cambria Math" panose="02040503050406030204" charset="0"/>
                                </a:rPr>
                                <m:t>𝐶</m:t>
                              </m:r>
                            </m:e>
                          </m:func>
                        </m:e>
                      </m:func>
                    </m:oMath>
                  </m:oMathPara>
                </a14:m>
                <a:endParaRPr lang="zh-CN" altLang="en-US" sz="1200"/>
              </a:p>
            </p:txBody>
          </p:sp>
        </mc:Choice>
        <mc:Fallback>
          <p:sp>
            <p:nvSpPr>
              <p:cNvPr id="39" name="文本框 38"/>
              <p:cNvSpPr txBox="1">
                <a:spLocks noRot="1" noChangeAspect="1" noMove="1" noResize="1" noEditPoints="1" noAdjustHandles="1" noChangeArrowheads="1" noChangeShapeType="1" noTextEdit="1"/>
              </p:cNvSpPr>
              <p:nvPr/>
            </p:nvSpPr>
            <p:spPr>
              <a:xfrm>
                <a:off x="3291776" y="3353689"/>
                <a:ext cx="1958975" cy="434340"/>
              </a:xfrm>
              <a:prstGeom prst="rect">
                <a:avLst/>
              </a:prstGeom>
              <a:blipFill rotWithShape="1">
                <a:blip r:embed="rId2"/>
                <a:stretch>
                  <a:fillRect l="-29" t="-58" r="29"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文本框 39"/>
              <p:cNvSpPr txBox="1"/>
              <p:nvPr/>
            </p:nvSpPr>
            <p:spPr>
              <a:xfrm>
                <a:off x="3260661" y="3735324"/>
                <a:ext cx="1241425" cy="27559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1200" i="1">
                          <a:latin typeface="Cambria Math" panose="02040503050406030204" charset="0"/>
                          <a:cs typeface="Cambria Math" panose="02040503050406030204" charset="0"/>
                        </a:rPr>
                        <m:t>𝐶</m:t>
                      </m:r>
                      <m:r>
                        <a:rPr lang="en-US" altLang="zh-CN" sz="1200" i="1">
                          <a:latin typeface="Cambria Math" panose="02040503050406030204" charset="0"/>
                          <a:cs typeface="Cambria Math" panose="02040503050406030204" charset="0"/>
                        </a:rPr>
                        <m:t>=</m:t>
                      </m:r>
                      <m:sSup>
                        <m:sSupPr>
                          <m:ctrlPr>
                            <a:rPr lang="en-US" altLang="zh-CN" sz="1200" i="1">
                              <a:latin typeface="Cambria Math" panose="02040503050406030204" charset="0"/>
                              <a:cs typeface="Cambria Math" panose="02040503050406030204" charset="0"/>
                            </a:rPr>
                          </m:ctrlPr>
                        </m:sSupPr>
                        <m:e>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𝜎</m:t>
                              </m:r>
                            </m:e>
                            <m:sub>
                              <m:r>
                                <a:rPr lang="en-US" altLang="zh-CN" sz="1200" i="1">
                                  <a:latin typeface="Cambria Math" panose="02040503050406030204" charset="0"/>
                                  <a:cs typeface="Cambria Math" panose="02040503050406030204" charset="0"/>
                                </a:rPr>
                                <m:t>𝑠</m:t>
                              </m:r>
                            </m:sub>
                          </m:sSub>
                          <m:r>
                            <a:rPr lang="en-US" altLang="zh-CN" sz="1200" i="1">
                              <a:latin typeface="Cambria Math" panose="02040503050406030204" charset="0"/>
                              <a:cs typeface="Cambria Math" panose="02040503050406030204" charset="0"/>
                            </a:rPr>
                            <m:t>)</m:t>
                          </m:r>
                        </m:e>
                        <m:sup>
                          <m:r>
                            <a:rPr lang="en-US" altLang="zh-CN" sz="1200" i="1">
                              <a:latin typeface="Cambria Math" panose="02040503050406030204" charset="0"/>
                              <a:cs typeface="Cambria Math" panose="02040503050406030204" charset="0"/>
                            </a:rPr>
                            <m:t>𝑚</m:t>
                          </m:r>
                        </m:sup>
                      </m:sSup>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𝑁</m:t>
                          </m:r>
                        </m:e>
                        <m:sub>
                          <m:r>
                            <a:rPr lang="en-US" altLang="zh-CN" sz="1200" i="1">
                              <a:latin typeface="Cambria Math" panose="02040503050406030204" charset="0"/>
                              <a:cs typeface="Cambria Math" panose="02040503050406030204" charset="0"/>
                            </a:rPr>
                            <m:t>𝑠</m:t>
                          </m:r>
                        </m:sub>
                      </m:sSub>
                    </m:oMath>
                  </m:oMathPara>
                </a14:m>
                <a:endParaRPr lang="zh-CN" altLang="en-US" sz="1200"/>
              </a:p>
            </p:txBody>
          </p:sp>
        </mc:Choice>
        <mc:Fallback>
          <p:sp>
            <p:nvSpPr>
              <p:cNvPr id="40" name="文本框 39"/>
              <p:cNvSpPr txBox="1">
                <a:spLocks noRot="1" noChangeAspect="1" noMove="1" noResize="1" noEditPoints="1" noAdjustHandles="1" noChangeArrowheads="1" noChangeShapeType="1" noTextEdit="1"/>
              </p:cNvSpPr>
              <p:nvPr/>
            </p:nvSpPr>
            <p:spPr>
              <a:xfrm>
                <a:off x="3260661" y="3735324"/>
                <a:ext cx="1241425" cy="275590"/>
              </a:xfrm>
              <a:prstGeom prst="rect">
                <a:avLst/>
              </a:prstGeom>
              <a:blipFill rotWithShape="1">
                <a:blip r:embed="rId3"/>
                <a:stretch>
                  <a:fillRect l="-46" t="-92" r="46" b="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文本框 40"/>
              <p:cNvSpPr txBox="1"/>
              <p:nvPr/>
            </p:nvSpPr>
            <p:spPr>
              <a:xfrm>
                <a:off x="5022151" y="3551174"/>
                <a:ext cx="1243965" cy="49022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f>
                        <m:fPr>
                          <m:ctrlPr>
                            <a:rPr lang="en-US" altLang="zh-CN" sz="1200" i="1">
                              <a:latin typeface="Cambria Math" panose="02040503050406030204" charset="0"/>
                              <a:cs typeface="Cambria Math" panose="02040503050406030204" charset="0"/>
                            </a:rPr>
                          </m:ctrlPr>
                        </m:fPr>
                        <m:num>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𝑆</m:t>
                              </m:r>
                            </m:e>
                            <m:sub>
                              <m:r>
                                <a:rPr lang="en-US" altLang="zh-CN" sz="1200" i="1">
                                  <a:latin typeface="Cambria Math" panose="02040503050406030204" charset="0"/>
                                  <a:cs typeface="Cambria Math" panose="02040503050406030204" charset="0"/>
                                </a:rPr>
                                <m:t>𝑟</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𝑗</m:t>
                              </m:r>
                            </m:sub>
                          </m:sSub>
                        </m:num>
                        <m:den>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𝑆</m:t>
                              </m:r>
                            </m:e>
                            <m:sub>
                              <m:r>
                                <a:rPr lang="en-US" altLang="zh-CN" sz="1200" i="1">
                                  <a:latin typeface="Cambria Math" panose="02040503050406030204" charset="0"/>
                                  <a:cs typeface="Cambria Math" panose="02040503050406030204" charset="0"/>
                                </a:rPr>
                                <m:t>𝑗</m:t>
                              </m:r>
                            </m:sub>
                          </m:sSub>
                        </m:den>
                      </m:f>
                      <m:r>
                        <a:rPr lang="en-US" altLang="zh-CN" sz="1200" i="1">
                          <a:latin typeface="Cambria Math" panose="02040503050406030204" charset="0"/>
                          <a:cs typeface="Cambria Math" panose="02040503050406030204" charset="0"/>
                        </a:rPr>
                        <m:t>+</m:t>
                      </m:r>
                      <m:f>
                        <m:fPr>
                          <m:ctrlPr>
                            <a:rPr lang="en-US" altLang="zh-CN" sz="1200" i="1">
                              <a:latin typeface="Cambria Math" panose="02040503050406030204" charset="0"/>
                              <a:cs typeface="Cambria Math" panose="02040503050406030204" charset="0"/>
                            </a:rPr>
                          </m:ctrlPr>
                        </m:fPr>
                        <m:num>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𝑆</m:t>
                              </m:r>
                            </m:e>
                            <m:sub>
                              <m:r>
                                <a:rPr lang="en-US" altLang="zh-CN" sz="1200" i="1">
                                  <a:latin typeface="Cambria Math" panose="02040503050406030204" charset="0"/>
                                  <a:cs typeface="Cambria Math" panose="02040503050406030204" charset="0"/>
                                </a:rPr>
                                <m:t>𝑚</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𝑗</m:t>
                              </m:r>
                            </m:sub>
                          </m:sSub>
                        </m:num>
                        <m:den>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𝜎</m:t>
                              </m:r>
                            </m:e>
                            <m:sub>
                              <m:r>
                                <a:rPr lang="zh-CN" altLang="en-US" sz="1200" i="1">
                                  <a:latin typeface="Cambria Math" panose="02040503050406030204" charset="0"/>
                                  <a:cs typeface="Cambria Math" panose="02040503050406030204" charset="0"/>
                                </a:rPr>
                                <m:t>材</m:t>
                              </m:r>
                            </m:sub>
                          </m:sSub>
                        </m:den>
                      </m:f>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oMath>
                  </m:oMathPara>
                </a14:m>
                <a:endParaRPr lang="zh-CN" altLang="en-US" sz="1200"/>
              </a:p>
            </p:txBody>
          </p:sp>
        </mc:Choice>
        <mc:Fallback>
          <p:sp>
            <p:nvSpPr>
              <p:cNvPr id="41" name="文本框 40"/>
              <p:cNvSpPr txBox="1">
                <a:spLocks noRot="1" noChangeAspect="1" noMove="1" noResize="1" noEditPoints="1" noAdjustHandles="1" noChangeArrowheads="1" noChangeShapeType="1" noTextEdit="1"/>
              </p:cNvSpPr>
              <p:nvPr/>
            </p:nvSpPr>
            <p:spPr>
              <a:xfrm>
                <a:off x="5022151" y="3551174"/>
                <a:ext cx="1243965" cy="490220"/>
              </a:xfrm>
              <a:prstGeom prst="rect">
                <a:avLst/>
              </a:prstGeom>
              <a:blipFill rotWithShape="1">
                <a:blip r:embed="rId4"/>
                <a:stretch>
                  <a:fillRect l="-46" t="-52" r="46"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3260725" y="4024630"/>
                <a:ext cx="3249295" cy="221615"/>
              </a:xfrm>
              <a:prstGeom prst="rect">
                <a:avLst/>
              </a:prstGeom>
              <a:noFill/>
            </p:spPr>
            <p:txBody>
              <a:bodyPr wrap="square" rtlCol="0">
                <a:spAutoFit/>
              </a:bodyPr>
              <a:p>
                <a:r>
                  <a:rPr lang="zh-CN" altLang="en-US" sz="850"/>
                  <a:t>采用Goodman 修正考虑乎均应力影响，Q355取</a:t>
                </a:r>
                <a14:m>
                  <m:oMath xmlns:m="http://schemas.openxmlformats.org/officeDocument/2006/math">
                    <m:r>
                      <a:rPr lang="en-US" altLang="zh-CN" sz="850" i="1">
                        <a:latin typeface="Cambria Math" panose="02040503050406030204" charset="0"/>
                        <a:cs typeface="Cambria Math" panose="02040503050406030204" charset="0"/>
                      </a:rPr>
                      <m:t>𝜎</m:t>
                    </m:r>
                    <m:r>
                      <a:rPr lang="en-US" altLang="zh-CN" sz="850" i="1">
                        <a:latin typeface="Cambria Math" panose="02040503050406030204" charset="0"/>
                        <a:cs typeface="Cambria Math" panose="02040503050406030204" charset="0"/>
                      </a:rPr>
                      <m:t>=</m:t>
                    </m:r>
                  </m:oMath>
                </a14:m>
                <a:r>
                  <a:rPr lang="zh-CN" altLang="en-US" sz="850"/>
                  <a:t>470 MPa</a:t>
                </a:r>
                <a:endParaRPr lang="zh-CN" altLang="en-US" sz="850"/>
              </a:p>
            </p:txBody>
          </p:sp>
        </mc:Choice>
        <mc:Fallback>
          <p:sp>
            <p:nvSpPr>
              <p:cNvPr id="42" name="文本框 41"/>
              <p:cNvSpPr txBox="1">
                <a:spLocks noRot="1" noChangeAspect="1" noMove="1" noResize="1" noEditPoints="1" noAdjustHandles="1" noChangeArrowheads="1" noChangeShapeType="1" noTextEdit="1"/>
              </p:cNvSpPr>
              <p:nvPr/>
            </p:nvSpPr>
            <p:spPr>
              <a:xfrm>
                <a:off x="3260725" y="4024630"/>
                <a:ext cx="3249295" cy="221615"/>
              </a:xfrm>
              <a:prstGeom prst="rect">
                <a:avLst/>
              </a:prstGeom>
              <a:blipFill rotWithShape="1">
                <a:blip r:embed="rId5"/>
                <a:stretch>
                  <a:fillRect/>
                </a:stretch>
              </a:blipFill>
            </p:spPr>
            <p:txBody>
              <a:bodyPr/>
              <a:lstStyle/>
              <a:p>
                <a:r>
                  <a:rPr lang="zh-CN" altLang="en-US">
                    <a:noFill/>
                  </a:rPr>
                  <a:t> </a:t>
                </a:r>
              </a:p>
            </p:txBody>
          </p:sp>
        </mc:Fallback>
      </mc:AlternateContent>
      <p:sp>
        <p:nvSpPr>
          <p:cNvPr id="43" name="文本框 42"/>
          <p:cNvSpPr txBox="1"/>
          <p:nvPr/>
        </p:nvSpPr>
        <p:spPr>
          <a:xfrm>
            <a:off x="3847465" y="4260215"/>
            <a:ext cx="2143760" cy="245110"/>
          </a:xfrm>
          <a:prstGeom prst="rect">
            <a:avLst/>
          </a:prstGeom>
          <a:noFill/>
        </p:spPr>
        <p:txBody>
          <a:bodyPr wrap="square" rtlCol="0">
            <a:spAutoFit/>
          </a:bodyPr>
          <a:p>
            <a:r>
              <a:rPr lang="zh-CN" altLang="en-US" sz="1000" b="1">
                <a:solidFill>
                  <a:srgbClr val="023A8B"/>
                </a:solidFill>
              </a:rPr>
              <a:t>混凝土（b Model Code 2010）</a:t>
            </a:r>
            <a:endParaRPr lang="zh-CN" altLang="en-US" sz="1000" b="1">
              <a:solidFill>
                <a:srgbClr val="023A8B"/>
              </a:solidFill>
            </a:endParaRPr>
          </a:p>
        </p:txBody>
      </p:sp>
      <mc:AlternateContent xmlns:mc="http://schemas.openxmlformats.org/markup-compatibility/2006">
        <mc:Choice xmlns:a14="http://schemas.microsoft.com/office/drawing/2010/main" Requires="a14">
          <p:sp>
            <p:nvSpPr>
              <p:cNvPr id="44" name="文本框 43"/>
              <p:cNvSpPr txBox="1"/>
              <p:nvPr/>
            </p:nvSpPr>
            <p:spPr>
              <a:xfrm>
                <a:off x="3553396" y="4441444"/>
                <a:ext cx="2279015" cy="43434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func>
                        <m:funcPr>
                          <m:ctrlPr>
                            <a:rPr lang="en-US" altLang="zh-CN" sz="1200">
                              <a:latin typeface="Cambria Math" panose="02040503050406030204" charset="0"/>
                              <a:cs typeface="Cambria Math" panose="02040503050406030204" charset="0"/>
                            </a:rPr>
                          </m:ctrlPr>
                        </m:funcPr>
                        <m:fName>
                          <m:r>
                            <m:rPr>
                              <m:sty m:val="p"/>
                            </m:rPr>
                            <a:rPr lang="en-US" altLang="zh-CN" sz="1200">
                              <a:latin typeface="Cambria Math" panose="02040503050406030204" charset="0"/>
                              <a:cs typeface="Cambria Math" panose="02040503050406030204" charset="0"/>
                            </a:rPr>
                            <m:t>log</m:t>
                          </m:r>
                        </m:fName>
                        <m:e>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𝑁</m:t>
                              </m:r>
                            </m:e>
                            <m:sub>
                              <m:r>
                                <a:rPr lang="en-US" altLang="zh-CN" sz="1200" i="1">
                                  <a:latin typeface="Cambria Math" panose="02040503050406030204" charset="0"/>
                                  <a:cs typeface="Cambria Math" panose="02040503050406030204" charset="0"/>
                                </a:rPr>
                                <m:t>𝑐</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sub>
                          </m:sSub>
                        </m:e>
                      </m:func>
                      <m:r>
                        <a:rPr lang="en-US" altLang="zh-CN" sz="1200" i="1">
                          <a:latin typeface="Cambria Math" panose="02040503050406030204" charset="0"/>
                          <a:cs typeface="Cambria Math" panose="02040503050406030204" charset="0"/>
                        </a:rPr>
                        <m:t>=</m:t>
                      </m:r>
                      <m:f>
                        <m:fPr>
                          <m:ctrlPr>
                            <a:rPr lang="en-US" altLang="zh-CN" sz="1200" i="1">
                              <a:latin typeface="Cambria Math" panose="02040503050406030204" charset="0"/>
                              <a:cs typeface="Cambria Math" panose="02040503050406030204" charset="0"/>
                            </a:rPr>
                          </m:ctrlPr>
                        </m:fPr>
                        <m:num>
                          <m:r>
                            <a:rPr lang="en-US" altLang="zh-CN" sz="1200" i="1">
                              <a:latin typeface="Cambria Math" panose="02040503050406030204" charset="0"/>
                              <a:cs typeface="Cambria Math" panose="02040503050406030204" charset="0"/>
                            </a:rPr>
                            <m:t>8</m:t>
                          </m:r>
                        </m:num>
                        <m:den>
                          <m:r>
                            <a:rPr lang="en-US" altLang="zh-CN" sz="1200" i="1">
                              <a:latin typeface="Cambria Math" panose="02040503050406030204" charset="0"/>
                              <a:cs typeface="Cambria Math" panose="02040503050406030204" charset="0"/>
                            </a:rPr>
                            <m:t>𝑌</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den>
                      </m:f>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𝑆</m:t>
                          </m:r>
                        </m:e>
                        <m:sub>
                          <m:r>
                            <a:rPr lang="en-US" altLang="zh-CN" sz="1200" i="1">
                              <a:latin typeface="Cambria Math" panose="02040503050406030204" charset="0"/>
                              <a:cs typeface="Cambria Math" panose="02040503050406030204" charset="0"/>
                            </a:rPr>
                            <m:t>𝑐𝑑</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𝑚𝑎𝑥</m:t>
                          </m:r>
                        </m:sub>
                      </m:sSub>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r>
                        <a:rPr lang="en-US" altLang="zh-CN" sz="1200" i="1">
                          <a:latin typeface="Cambria Math" panose="02040503050406030204" charset="0"/>
                          <a:cs typeface="Cambria Math" panose="02040503050406030204" charset="0"/>
                        </a:rPr>
                        <m:t>）</m:t>
                      </m:r>
                    </m:oMath>
                  </m:oMathPara>
                </a14:m>
                <a:endParaRPr lang="zh-CN" altLang="en-US" sz="1200"/>
              </a:p>
            </p:txBody>
          </p:sp>
        </mc:Choice>
        <mc:Fallback>
          <p:sp>
            <p:nvSpPr>
              <p:cNvPr id="44" name="文本框 43"/>
              <p:cNvSpPr txBox="1">
                <a:spLocks noRot="1" noChangeAspect="1" noMove="1" noResize="1" noEditPoints="1" noAdjustHandles="1" noChangeArrowheads="1" noChangeShapeType="1" noTextEdit="1"/>
              </p:cNvSpPr>
              <p:nvPr/>
            </p:nvSpPr>
            <p:spPr>
              <a:xfrm>
                <a:off x="3553396" y="4441444"/>
                <a:ext cx="2279015" cy="434340"/>
              </a:xfrm>
              <a:prstGeom prst="rect">
                <a:avLst/>
              </a:prstGeom>
              <a:blipFill rotWithShape="1">
                <a:blip r:embed="rId6"/>
                <a:stretch>
                  <a:fillRect l="-25" t="-58" r="25"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文本框 44"/>
              <p:cNvSpPr txBox="1"/>
              <p:nvPr/>
            </p:nvSpPr>
            <p:spPr>
              <a:xfrm>
                <a:off x="3936936" y="4818634"/>
                <a:ext cx="1136015" cy="50165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𝐷</m:t>
                          </m:r>
                        </m:e>
                        <m:sub>
                          <m:r>
                            <a:rPr lang="en-US" altLang="zh-CN" sz="1200" i="1">
                              <a:latin typeface="Cambria Math" panose="02040503050406030204" charset="0"/>
                              <a:cs typeface="Cambria Math" panose="02040503050406030204" charset="0"/>
                            </a:rPr>
                            <m:t>𝑐</m:t>
                          </m:r>
                        </m:sub>
                      </m:sSub>
                      <m:r>
                        <a:rPr lang="en-US" altLang="zh-CN" sz="1200" i="1">
                          <a:latin typeface="Cambria Math" panose="02040503050406030204" charset="0"/>
                          <a:cs typeface="Cambria Math" panose="02040503050406030204" charset="0"/>
                        </a:rPr>
                        <m:t>=</m:t>
                      </m:r>
                      <m:nary>
                        <m:naryPr>
                          <m:chr m:val="∑"/>
                          <m:limLoc m:val="undOvr"/>
                          <m:supHide m:val="on"/>
                          <m:ctrlPr>
                            <a:rPr lang="en-US" altLang="zh-CN" sz="1200" i="1">
                              <a:latin typeface="Cambria Math" panose="02040503050406030204" charset="0"/>
                              <a:cs typeface="Cambria Math" panose="02040503050406030204" charset="0"/>
                            </a:rPr>
                          </m:ctrlPr>
                        </m:naryPr>
                        <m:sub>
                          <m:r>
                            <a:rPr lang="en-US" altLang="zh-CN" sz="1200" i="1">
                              <a:latin typeface="Cambria Math" panose="02040503050406030204" charset="0"/>
                              <a:cs typeface="Cambria Math" panose="02040503050406030204" charset="0"/>
                            </a:rPr>
                            <m:t>𝑖</m:t>
                          </m:r>
                        </m:sub>
                        <m:sup/>
                        <m:e>
                          <m:f>
                            <m:fPr>
                              <m:ctrlPr>
                                <a:rPr lang="en-US" altLang="zh-CN" sz="1200" i="1">
                                  <a:latin typeface="Cambria Math" panose="02040503050406030204" charset="0"/>
                                  <a:cs typeface="Cambria Math" panose="02040503050406030204" charset="0"/>
                                </a:rPr>
                              </m:ctrlPr>
                            </m:fPr>
                            <m:num>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𝑛</m:t>
                                  </m:r>
                                </m:e>
                                <m:sub>
                                  <m:r>
                                    <a:rPr lang="en-US" altLang="zh-CN" sz="1200" i="1">
                                      <a:latin typeface="Cambria Math" panose="02040503050406030204" charset="0"/>
                                      <a:cs typeface="Cambria Math" panose="02040503050406030204" charset="0"/>
                                    </a:rPr>
                                    <m:t>𝑐</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𝑗</m:t>
                                  </m:r>
                                </m:sub>
                              </m:sSub>
                            </m:num>
                            <m:den>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𝑁</m:t>
                                  </m:r>
                                </m:e>
                                <m:sub>
                                  <m:r>
                                    <a:rPr lang="en-US" altLang="zh-CN" sz="1200" i="1">
                                      <a:latin typeface="Cambria Math" panose="02040503050406030204" charset="0"/>
                                      <a:cs typeface="Cambria Math" panose="02040503050406030204" charset="0"/>
                                    </a:rPr>
                                    <m:t>𝑐</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𝑗</m:t>
                                  </m:r>
                                </m:sub>
                              </m:sSub>
                            </m:den>
                          </m:f>
                        </m:e>
                      </m:nary>
                    </m:oMath>
                  </m:oMathPara>
                </a14:m>
                <a:endParaRPr lang="zh-CN" altLang="en-US" sz="1200"/>
              </a:p>
            </p:txBody>
          </p:sp>
        </mc:Choice>
        <mc:Fallback>
          <p:sp>
            <p:nvSpPr>
              <p:cNvPr id="45" name="文本框 44"/>
              <p:cNvSpPr txBox="1">
                <a:spLocks noRot="1" noChangeAspect="1" noMove="1" noResize="1" noEditPoints="1" noAdjustHandles="1" noChangeArrowheads="1" noChangeShapeType="1" noTextEdit="1"/>
              </p:cNvSpPr>
              <p:nvPr/>
            </p:nvSpPr>
            <p:spPr>
              <a:xfrm>
                <a:off x="3936936" y="4818634"/>
                <a:ext cx="1136015" cy="501650"/>
              </a:xfrm>
              <a:prstGeom prst="rect">
                <a:avLst/>
              </a:prstGeom>
              <a:blipFill rotWithShape="1">
                <a:blip r:embed="rId7"/>
                <a:stretch>
                  <a:fillRect l="-50" t="-51" r="50" b="51"/>
                </a:stretch>
              </a:blipFill>
            </p:spPr>
            <p:txBody>
              <a:bodyPr/>
              <a:lstStyle/>
              <a:p>
                <a:r>
                  <a:rPr lang="zh-CN" altLang="en-US">
                    <a:noFill/>
                  </a:rPr>
                  <a:t> </a:t>
                </a:r>
              </a:p>
            </p:txBody>
          </p:sp>
        </mc:Fallback>
      </mc:AlternateContent>
      <p:sp>
        <p:nvSpPr>
          <p:cNvPr id="46" name="文本框 45"/>
          <p:cNvSpPr txBox="1"/>
          <p:nvPr/>
        </p:nvSpPr>
        <p:spPr>
          <a:xfrm>
            <a:off x="3937000" y="5250815"/>
            <a:ext cx="1767840" cy="245110"/>
          </a:xfrm>
          <a:prstGeom prst="rect">
            <a:avLst/>
          </a:prstGeom>
          <a:noFill/>
        </p:spPr>
        <p:txBody>
          <a:bodyPr wrap="square" rtlCol="0">
            <a:spAutoFit/>
          </a:bodyPr>
          <a:p>
            <a:r>
              <a:rPr lang="zh-CN" altLang="en-US" sz="1000"/>
              <a:t>疲劳验算以压应力为主</a:t>
            </a:r>
            <a:endParaRPr lang="zh-CN" altLang="en-US" sz="1000"/>
          </a:p>
        </p:txBody>
      </p:sp>
      <p:sp>
        <p:nvSpPr>
          <p:cNvPr id="47" name="椭圆 46"/>
          <p:cNvSpPr/>
          <p:nvPr/>
        </p:nvSpPr>
        <p:spPr>
          <a:xfrm>
            <a:off x="6510020" y="196088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椭圆 47"/>
          <p:cNvSpPr/>
          <p:nvPr/>
        </p:nvSpPr>
        <p:spPr>
          <a:xfrm>
            <a:off x="6510020" y="223901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椭圆 48"/>
          <p:cNvSpPr/>
          <p:nvPr/>
        </p:nvSpPr>
        <p:spPr>
          <a:xfrm>
            <a:off x="6510020" y="2493010"/>
            <a:ext cx="75565" cy="7556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50" name="文本框 49"/>
              <p:cNvSpPr txBox="1"/>
              <p:nvPr/>
            </p:nvSpPr>
            <p:spPr>
              <a:xfrm>
                <a:off x="6682041" y="2791714"/>
                <a:ext cx="1644015" cy="67246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1300" i="1">
                          <a:latin typeface="Cambria Math" panose="02040503050406030204" charset="0"/>
                          <a:cs typeface="Cambria Math" panose="02040503050406030204" charset="0"/>
                        </a:rPr>
                        <m:t>𝐸</m:t>
                      </m:r>
                      <m:r>
                        <a:rPr lang="en-US" altLang="zh-CN" sz="1300" i="1">
                          <a:latin typeface="Cambria Math" panose="02040503050406030204" charset="0"/>
                          <a:cs typeface="Cambria Math" panose="02040503050406030204" charset="0"/>
                        </a:rPr>
                        <m:t>(</m:t>
                      </m:r>
                      <m:sSup>
                        <m:sSupPr>
                          <m:ctrlPr>
                            <a:rPr lang="en-US" altLang="zh-CN" sz="1300" i="1">
                              <a:latin typeface="Cambria Math" panose="02040503050406030204" charset="0"/>
                              <a:cs typeface="Cambria Math" panose="02040503050406030204" charset="0"/>
                            </a:rPr>
                          </m:ctrlPr>
                        </m:sSupPr>
                        <m:e>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𝐷</m:t>
                              </m:r>
                            </m:e>
                            <m:sub>
                              <m:r>
                                <a:rPr lang="en-US" altLang="zh-CN" sz="1300" i="1">
                                  <a:latin typeface="Cambria Math" panose="02040503050406030204" charset="0"/>
                                  <a:cs typeface="Cambria Math" panose="02040503050406030204" charset="0"/>
                                </a:rPr>
                                <m:t>𝑐</m:t>
                              </m:r>
                            </m:sub>
                          </m:sSub>
                        </m:e>
                        <m:sup>
                          <m:r>
                            <a:rPr lang="en-US" altLang="zh-CN" sz="1300" i="1">
                              <a:latin typeface="Cambria Math" panose="02040503050406030204" charset="0"/>
                              <a:cs typeface="Cambria Math" panose="02040503050406030204" charset="0"/>
                            </a:rPr>
                            <m:t>𝑡</m:t>
                          </m:r>
                        </m:sup>
                      </m:sSup>
                      <m:r>
                        <a:rPr lang="en-US" altLang="zh-CN" sz="1300" i="1">
                          <a:latin typeface="Cambria Math" panose="02040503050406030204" charset="0"/>
                          <a:cs typeface="Cambria Math" panose="02040503050406030204" charset="0"/>
                        </a:rPr>
                        <m:t>)=</m:t>
                      </m:r>
                      <m:nary>
                        <m:naryPr>
                          <m:chr m:val="∑"/>
                          <m:limLoc m:val="undOvr"/>
                          <m:ctrlPr>
                            <a:rPr lang="en-US" altLang="zh-CN" sz="1300" i="1">
                              <a:latin typeface="Cambria Math" panose="02040503050406030204" charset="0"/>
                              <a:cs typeface="Cambria Math" panose="02040503050406030204" charset="0"/>
                            </a:rPr>
                          </m:ctrlPr>
                        </m:naryPr>
                        <m:sub>
                          <m:r>
                            <a:rPr lang="en-US" altLang="zh-CN" sz="1300" i="1">
                              <a:latin typeface="Cambria Math" panose="02040503050406030204" charset="0"/>
                              <a:cs typeface="Cambria Math" panose="02040503050406030204" charset="0"/>
                            </a:rPr>
                            <m:t>𝑘</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1</m:t>
                          </m:r>
                        </m:sub>
                        <m:sup>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𝑁</m:t>
                              </m:r>
                            </m:e>
                            <m:sub>
                              <m:r>
                                <a:rPr lang="en-US" altLang="zh-CN" sz="1300" i="1">
                                  <a:latin typeface="Cambria Math" panose="02040503050406030204" charset="0"/>
                                  <a:cs typeface="Cambria Math" panose="02040503050406030204" charset="0"/>
                                </a:rPr>
                                <m:t>𝑤</m:t>
                              </m:r>
                            </m:sub>
                          </m:sSub>
                        </m:sup>
                        <m:e>
                          <m:sSup>
                            <m:sSupPr>
                              <m:ctrlPr>
                                <a:rPr lang="en-US" altLang="zh-CN" sz="1300" i="1">
                                  <a:latin typeface="Cambria Math" panose="02040503050406030204" charset="0"/>
                                  <a:cs typeface="Cambria Math" panose="02040503050406030204" charset="0"/>
                                </a:rPr>
                              </m:ctrlPr>
                            </m:sSupPr>
                            <m:e>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𝐷</m:t>
                                  </m:r>
                                </m:e>
                                <m:sub>
                                  <m:r>
                                    <a:rPr lang="en-US" altLang="zh-CN" sz="1300" i="1">
                                      <a:latin typeface="Cambria Math" panose="02040503050406030204" charset="0"/>
                                      <a:cs typeface="Cambria Math" panose="02040503050406030204" charset="0"/>
                                    </a:rPr>
                                    <m:t>𝑐</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𝑘</m:t>
                                  </m:r>
                                </m:sub>
                              </m:sSub>
                            </m:e>
                            <m:sup>
                              <m:r>
                                <a:rPr lang="en-US" altLang="zh-CN" sz="1300" i="1">
                                  <a:latin typeface="Cambria Math" panose="02040503050406030204" charset="0"/>
                                  <a:cs typeface="Cambria Math" panose="02040503050406030204" charset="0"/>
                                </a:rPr>
                                <m:t>𝑡</m:t>
                              </m:r>
                            </m:sup>
                          </m:sSup>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𝑃</m:t>
                              </m:r>
                            </m:e>
                            <m:sub>
                              <m:r>
                                <a:rPr lang="en-US" altLang="zh-CN" sz="1300" i="1">
                                  <a:latin typeface="Cambria Math" panose="02040503050406030204" charset="0"/>
                                  <a:cs typeface="Cambria Math" panose="02040503050406030204" charset="0"/>
                                </a:rPr>
                                <m:t>𝑘</m:t>
                              </m:r>
                            </m:sub>
                          </m:sSub>
                        </m:e>
                      </m:nary>
                    </m:oMath>
                  </m:oMathPara>
                </a14:m>
                <a:endParaRPr lang="zh-CN" altLang="en-US" sz="1300"/>
              </a:p>
            </p:txBody>
          </p:sp>
        </mc:Choice>
        <mc:Fallback>
          <p:sp>
            <p:nvSpPr>
              <p:cNvPr id="50" name="文本框 49"/>
              <p:cNvSpPr txBox="1">
                <a:spLocks noRot="1" noChangeAspect="1" noMove="1" noResize="1" noEditPoints="1" noAdjustHandles="1" noChangeArrowheads="1" noChangeShapeType="1" noTextEdit="1"/>
              </p:cNvSpPr>
              <p:nvPr/>
            </p:nvSpPr>
            <p:spPr>
              <a:xfrm>
                <a:off x="6682041" y="2791714"/>
                <a:ext cx="1644015" cy="672465"/>
              </a:xfrm>
              <a:prstGeom prst="rect">
                <a:avLst/>
              </a:prstGeom>
              <a:blipFill rotWithShape="1">
                <a:blip r:embed="rId8"/>
                <a:stretch>
                  <a:fillRect l="-35" t="-38" r="35"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1" name="文本框 50"/>
              <p:cNvSpPr txBox="1"/>
              <p:nvPr/>
            </p:nvSpPr>
            <p:spPr>
              <a:xfrm>
                <a:off x="6682676" y="3429254"/>
                <a:ext cx="1643380" cy="67246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1300" i="1">
                          <a:latin typeface="Cambria Math" panose="02040503050406030204" charset="0"/>
                          <a:cs typeface="Cambria Math" panose="02040503050406030204" charset="0"/>
                        </a:rPr>
                        <m:t>𝐸</m:t>
                      </m:r>
                      <m:r>
                        <a:rPr lang="en-US" altLang="zh-CN" sz="1300" i="1">
                          <a:latin typeface="Cambria Math" panose="02040503050406030204" charset="0"/>
                          <a:cs typeface="Cambria Math" panose="02040503050406030204" charset="0"/>
                        </a:rPr>
                        <m:t>(</m:t>
                      </m:r>
                      <m:sSup>
                        <m:sSupPr>
                          <m:ctrlPr>
                            <a:rPr lang="en-US" altLang="zh-CN" sz="1300" i="1">
                              <a:latin typeface="Cambria Math" panose="02040503050406030204" charset="0"/>
                              <a:cs typeface="Cambria Math" panose="02040503050406030204" charset="0"/>
                            </a:rPr>
                          </m:ctrlPr>
                        </m:sSupPr>
                        <m:e>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𝐷</m:t>
                              </m:r>
                            </m:e>
                            <m:sub>
                              <m:r>
                                <a:rPr lang="en-US" altLang="zh-CN" sz="1300" i="1">
                                  <a:latin typeface="Cambria Math" panose="02040503050406030204" charset="0"/>
                                  <a:cs typeface="Cambria Math" panose="02040503050406030204" charset="0"/>
                                </a:rPr>
                                <m:t>𝑠</m:t>
                              </m:r>
                            </m:sub>
                          </m:sSub>
                        </m:e>
                        <m:sup>
                          <m:r>
                            <a:rPr lang="en-US" altLang="zh-CN" sz="1300" i="1">
                              <a:latin typeface="Cambria Math" panose="02040503050406030204" charset="0"/>
                              <a:cs typeface="Cambria Math" panose="02040503050406030204" charset="0"/>
                            </a:rPr>
                            <m:t>𝑡</m:t>
                          </m:r>
                        </m:sup>
                      </m:sSup>
                      <m:r>
                        <a:rPr lang="en-US" altLang="zh-CN" sz="1300" i="1">
                          <a:latin typeface="Cambria Math" panose="02040503050406030204" charset="0"/>
                          <a:cs typeface="Cambria Math" panose="02040503050406030204" charset="0"/>
                        </a:rPr>
                        <m:t>)=</m:t>
                      </m:r>
                      <m:nary>
                        <m:naryPr>
                          <m:chr m:val="∑"/>
                          <m:limLoc m:val="undOvr"/>
                          <m:ctrlPr>
                            <a:rPr lang="en-US" altLang="zh-CN" sz="1300" i="1">
                              <a:latin typeface="Cambria Math" panose="02040503050406030204" charset="0"/>
                              <a:cs typeface="Cambria Math" panose="02040503050406030204" charset="0"/>
                            </a:rPr>
                          </m:ctrlPr>
                        </m:naryPr>
                        <m:sub>
                          <m:r>
                            <a:rPr lang="en-US" altLang="zh-CN" sz="1300" i="1">
                              <a:latin typeface="Cambria Math" panose="02040503050406030204" charset="0"/>
                              <a:cs typeface="Cambria Math" panose="02040503050406030204" charset="0"/>
                            </a:rPr>
                            <m:t>𝑘</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1</m:t>
                          </m:r>
                        </m:sub>
                        <m:sup>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𝑁</m:t>
                              </m:r>
                            </m:e>
                            <m:sub>
                              <m:r>
                                <a:rPr lang="en-US" altLang="zh-CN" sz="1300" i="1">
                                  <a:latin typeface="Cambria Math" panose="02040503050406030204" charset="0"/>
                                  <a:cs typeface="Cambria Math" panose="02040503050406030204" charset="0"/>
                                </a:rPr>
                                <m:t>𝑤</m:t>
                              </m:r>
                            </m:sub>
                          </m:sSub>
                        </m:sup>
                        <m:e>
                          <m:sSup>
                            <m:sSupPr>
                              <m:ctrlPr>
                                <a:rPr lang="en-US" altLang="zh-CN" sz="1300" i="1">
                                  <a:latin typeface="Cambria Math" panose="02040503050406030204" charset="0"/>
                                  <a:cs typeface="Cambria Math" panose="02040503050406030204" charset="0"/>
                                </a:rPr>
                              </m:ctrlPr>
                            </m:sSupPr>
                            <m:e>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𝐷</m:t>
                                  </m:r>
                                </m:e>
                                <m:sub>
                                  <m:r>
                                    <a:rPr lang="en-US" altLang="zh-CN" sz="1300" i="1">
                                      <a:latin typeface="Cambria Math" panose="02040503050406030204" charset="0"/>
                                      <a:cs typeface="Cambria Math" panose="02040503050406030204" charset="0"/>
                                    </a:rPr>
                                    <m:t>𝑠</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𝑘</m:t>
                                  </m:r>
                                </m:sub>
                              </m:sSub>
                            </m:e>
                            <m:sup>
                              <m:r>
                                <a:rPr lang="en-US" altLang="zh-CN" sz="1300" i="1">
                                  <a:latin typeface="Cambria Math" panose="02040503050406030204" charset="0"/>
                                  <a:cs typeface="Cambria Math" panose="02040503050406030204" charset="0"/>
                                </a:rPr>
                                <m:t>𝑡</m:t>
                              </m:r>
                            </m:sup>
                          </m:sSup>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𝑃</m:t>
                              </m:r>
                            </m:e>
                            <m:sub>
                              <m:r>
                                <a:rPr lang="en-US" altLang="zh-CN" sz="1300" i="1">
                                  <a:latin typeface="Cambria Math" panose="02040503050406030204" charset="0"/>
                                  <a:cs typeface="Cambria Math" panose="02040503050406030204" charset="0"/>
                                </a:rPr>
                                <m:t>𝑘</m:t>
                              </m:r>
                            </m:sub>
                          </m:sSub>
                        </m:e>
                      </m:nary>
                    </m:oMath>
                  </m:oMathPara>
                </a14:m>
                <a:endParaRPr lang="zh-CN" altLang="en-US" sz="1300"/>
              </a:p>
            </p:txBody>
          </p:sp>
        </mc:Choice>
        <mc:Fallback>
          <p:sp>
            <p:nvSpPr>
              <p:cNvPr id="51" name="文本框 50"/>
              <p:cNvSpPr txBox="1">
                <a:spLocks noRot="1" noChangeAspect="1" noMove="1" noResize="1" noEditPoints="1" noAdjustHandles="1" noChangeArrowheads="1" noChangeShapeType="1" noTextEdit="1"/>
              </p:cNvSpPr>
              <p:nvPr/>
            </p:nvSpPr>
            <p:spPr>
              <a:xfrm>
                <a:off x="6682676" y="3429254"/>
                <a:ext cx="1643380" cy="672465"/>
              </a:xfrm>
              <a:prstGeom prst="rect">
                <a:avLst/>
              </a:prstGeom>
              <a:blipFill rotWithShape="1">
                <a:blip r:embed="rId9"/>
                <a:stretch>
                  <a:fillRect l="-35" t="-38" r="35" b="38"/>
                </a:stretch>
              </a:blipFill>
            </p:spPr>
            <p:txBody>
              <a:bodyPr/>
              <a:lstStyle/>
              <a:p>
                <a:r>
                  <a:rPr lang="zh-CN" altLang="en-US">
                    <a:noFill/>
                  </a:rPr>
                  <a:t> </a:t>
                </a:r>
              </a:p>
            </p:txBody>
          </p:sp>
        </mc:Fallback>
      </mc:AlternateContent>
      <p:cxnSp>
        <p:nvCxnSpPr>
          <p:cNvPr id="52" name="直接连接符 51"/>
          <p:cNvCxnSpPr/>
          <p:nvPr/>
        </p:nvCxnSpPr>
        <p:spPr>
          <a:xfrm flipH="1">
            <a:off x="8493760" y="2919730"/>
            <a:ext cx="5080" cy="1193800"/>
          </a:xfrm>
          <a:prstGeom prst="line">
            <a:avLst/>
          </a:prstGeom>
          <a:ln>
            <a:solidFill>
              <a:schemeClr val="bg2">
                <a:lumMod val="75000"/>
              </a:schemeClr>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53" name="文本框 52"/>
              <p:cNvSpPr txBox="1"/>
              <p:nvPr/>
            </p:nvSpPr>
            <p:spPr>
              <a:xfrm>
                <a:off x="8559736" y="2919349"/>
                <a:ext cx="2682240" cy="50990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𝑇</m:t>
                          </m:r>
                        </m:e>
                        <m:sub>
                          <m:r>
                            <a:rPr lang="en-US" altLang="zh-CN" sz="1300" i="1">
                              <a:latin typeface="Cambria Math" panose="02040503050406030204" charset="0"/>
                              <a:cs typeface="Cambria Math" panose="02040503050406030204" charset="0"/>
                            </a:rPr>
                            <m:t>𝑐</m:t>
                          </m:r>
                        </m:sub>
                      </m:sSub>
                      <m:r>
                        <a:rPr lang="en-US" altLang="zh-CN" sz="1300" i="1">
                          <a:latin typeface="Cambria Math" panose="02040503050406030204" charset="0"/>
                          <a:cs typeface="Cambria Math" panose="02040503050406030204" charset="0"/>
                        </a:rPr>
                        <m:t>=</m:t>
                      </m:r>
                      <m:f>
                        <m:fPr>
                          <m:ctrlPr>
                            <a:rPr lang="en-US" altLang="zh-CN" sz="1300" i="1">
                              <a:latin typeface="Cambria Math" panose="02040503050406030204" charset="0"/>
                              <a:cs typeface="Cambria Math" panose="02040503050406030204" charset="0"/>
                            </a:rPr>
                          </m:ctrlPr>
                        </m:fPr>
                        <m:num>
                          <m:r>
                            <a:rPr lang="en-US" altLang="zh-CN" sz="1300" i="1">
                              <a:latin typeface="Cambria Math" panose="02040503050406030204" charset="0"/>
                              <a:cs typeface="Cambria Math" panose="02040503050406030204" charset="0"/>
                            </a:rPr>
                            <m:t>1</m:t>
                          </m:r>
                        </m:num>
                        <m:den>
                          <m:r>
                            <a:rPr lang="en-US" altLang="zh-CN" sz="1300" i="1">
                              <a:latin typeface="Cambria Math" panose="02040503050406030204" charset="0"/>
                              <a:cs typeface="Cambria Math" panose="02040503050406030204" charset="0"/>
                            </a:rPr>
                            <m:t>𝐸</m:t>
                          </m:r>
                          <m:r>
                            <a:rPr lang="en-US" altLang="zh-CN" sz="1300" i="1">
                              <a:latin typeface="Cambria Math" panose="02040503050406030204" charset="0"/>
                              <a:cs typeface="Cambria Math" panose="02040503050406030204" charset="0"/>
                            </a:rPr>
                            <m:t>(</m:t>
                          </m:r>
                          <m:sSup>
                            <m:sSupPr>
                              <m:ctrlPr>
                                <a:rPr lang="en-US" altLang="zh-CN" sz="1300" i="1">
                                  <a:latin typeface="Cambria Math" panose="02040503050406030204" charset="0"/>
                                  <a:cs typeface="Cambria Math" panose="02040503050406030204" charset="0"/>
                                </a:rPr>
                              </m:ctrlPr>
                            </m:sSupPr>
                            <m:e>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𝐷</m:t>
                                  </m:r>
                                </m:e>
                                <m:sub>
                                  <m:r>
                                    <a:rPr lang="en-US" altLang="zh-CN" sz="1300" i="1">
                                      <a:latin typeface="Cambria Math" panose="02040503050406030204" charset="0"/>
                                      <a:cs typeface="Cambria Math" panose="02040503050406030204" charset="0"/>
                                    </a:rPr>
                                    <m:t>𝑐</m:t>
                                  </m:r>
                                </m:sub>
                              </m:sSub>
                            </m:e>
                            <m:sup>
                              <m:r>
                                <a:rPr lang="en-US" altLang="zh-CN" sz="1300" i="1">
                                  <a:latin typeface="Cambria Math" panose="02040503050406030204" charset="0"/>
                                  <a:cs typeface="Cambria Math" panose="02040503050406030204" charset="0"/>
                                </a:rPr>
                                <m:t>𝑡</m:t>
                              </m:r>
                            </m:sup>
                          </m:sSup>
                          <m:r>
                            <a:rPr lang="en-US" altLang="zh-CN" sz="1300" i="1">
                              <a:latin typeface="Cambria Math" panose="02040503050406030204" charset="0"/>
                              <a:cs typeface="Cambria Math" panose="02040503050406030204" charset="0"/>
                            </a:rPr>
                            <m:t>)</m:t>
                          </m:r>
                        </m:den>
                      </m:f>
                      <m:r>
                        <a:rPr lang="en-US" altLang="zh-CN" sz="1300" i="1">
                          <a:latin typeface="Cambria Math" panose="02040503050406030204" charset="0"/>
                          <a:cs typeface="Cambria Math" panose="02040503050406030204" charset="0"/>
                        </a:rPr>
                        <m:t>×</m:t>
                      </m:r>
                      <m:f>
                        <m:fPr>
                          <m:ctrlPr>
                            <a:rPr lang="en-US" altLang="zh-CN" sz="1300" i="1">
                              <a:latin typeface="Cambria Math" panose="02040503050406030204" charset="0"/>
                              <a:cs typeface="Cambria Math" panose="02040503050406030204" charset="0"/>
                            </a:rPr>
                          </m:ctrlPr>
                        </m:fPr>
                        <m:num>
                          <m:r>
                            <a:rPr lang="en-US" altLang="zh-CN" sz="1300" i="1">
                              <a:latin typeface="Cambria Math" panose="02040503050406030204" charset="0"/>
                              <a:cs typeface="Cambria Math" panose="02040503050406030204" charset="0"/>
                            </a:rPr>
                            <m:t>𝑡</m:t>
                          </m:r>
                        </m:num>
                        <m:den>
                          <m:r>
                            <a:rPr lang="en-US" altLang="zh-CN" sz="1300" i="1">
                              <a:latin typeface="Cambria Math" panose="02040503050406030204" charset="0"/>
                              <a:cs typeface="Cambria Math" panose="02040503050406030204" charset="0"/>
                            </a:rPr>
                            <m:t>365</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24</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3600</m:t>
                          </m:r>
                        </m:den>
                      </m:f>
                    </m:oMath>
                  </m:oMathPara>
                </a14:m>
                <a:endParaRPr lang="zh-CN" altLang="en-US" sz="1300"/>
              </a:p>
            </p:txBody>
          </p:sp>
        </mc:Choice>
        <mc:Fallback>
          <p:sp>
            <p:nvSpPr>
              <p:cNvPr id="53" name="文本框 52"/>
              <p:cNvSpPr txBox="1">
                <a:spLocks noRot="1" noChangeAspect="1" noMove="1" noResize="1" noEditPoints="1" noAdjustHandles="1" noChangeArrowheads="1" noChangeShapeType="1" noTextEdit="1"/>
              </p:cNvSpPr>
              <p:nvPr/>
            </p:nvSpPr>
            <p:spPr>
              <a:xfrm>
                <a:off x="8559736" y="2919349"/>
                <a:ext cx="2682240" cy="509905"/>
              </a:xfrm>
              <a:prstGeom prst="rect">
                <a:avLst/>
              </a:prstGeom>
              <a:blipFill rotWithShape="1">
                <a:blip r:embed="rId10"/>
                <a:stretch>
                  <a:fillRect l="-21" t="-50" r="21"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文本框 53"/>
              <p:cNvSpPr txBox="1"/>
              <p:nvPr/>
            </p:nvSpPr>
            <p:spPr>
              <a:xfrm>
                <a:off x="8678481" y="3531489"/>
                <a:ext cx="2472055" cy="50990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𝑇</m:t>
                          </m:r>
                        </m:e>
                        <m:sub>
                          <m:r>
                            <a:rPr lang="en-US" altLang="zh-CN" sz="1300" i="1">
                              <a:latin typeface="Cambria Math" panose="02040503050406030204" charset="0"/>
                              <a:cs typeface="Cambria Math" panose="02040503050406030204" charset="0"/>
                            </a:rPr>
                            <m:t>𝑠</m:t>
                          </m:r>
                        </m:sub>
                      </m:sSub>
                      <m:r>
                        <a:rPr lang="en-US" altLang="zh-CN" sz="1300" i="1">
                          <a:latin typeface="Cambria Math" panose="02040503050406030204" charset="0"/>
                          <a:cs typeface="Cambria Math" panose="02040503050406030204" charset="0"/>
                        </a:rPr>
                        <m:t>=</m:t>
                      </m:r>
                      <m:f>
                        <m:fPr>
                          <m:ctrlPr>
                            <a:rPr lang="en-US" altLang="zh-CN" sz="1300" i="1">
                              <a:latin typeface="Cambria Math" panose="02040503050406030204" charset="0"/>
                              <a:cs typeface="Cambria Math" panose="02040503050406030204" charset="0"/>
                            </a:rPr>
                          </m:ctrlPr>
                        </m:fPr>
                        <m:num>
                          <m:r>
                            <a:rPr lang="en-US" altLang="zh-CN" sz="1300" i="1">
                              <a:latin typeface="Cambria Math" panose="02040503050406030204" charset="0"/>
                              <a:cs typeface="Cambria Math" panose="02040503050406030204" charset="0"/>
                            </a:rPr>
                            <m:t>1</m:t>
                          </m:r>
                        </m:num>
                        <m:den>
                          <m:r>
                            <a:rPr lang="en-US" altLang="zh-CN" sz="1300" i="1">
                              <a:latin typeface="Cambria Math" panose="02040503050406030204" charset="0"/>
                              <a:cs typeface="Cambria Math" panose="02040503050406030204" charset="0"/>
                            </a:rPr>
                            <m:t>𝐸</m:t>
                          </m:r>
                          <m:r>
                            <a:rPr lang="en-US" altLang="zh-CN" sz="1300" i="1">
                              <a:latin typeface="Cambria Math" panose="02040503050406030204" charset="0"/>
                              <a:cs typeface="Cambria Math" panose="02040503050406030204" charset="0"/>
                            </a:rPr>
                            <m:t>(</m:t>
                          </m:r>
                          <m:sSup>
                            <m:sSupPr>
                              <m:ctrlPr>
                                <a:rPr lang="en-US" altLang="zh-CN" sz="1300" i="1">
                                  <a:latin typeface="Cambria Math" panose="02040503050406030204" charset="0"/>
                                  <a:cs typeface="Cambria Math" panose="02040503050406030204" charset="0"/>
                                </a:rPr>
                              </m:ctrlPr>
                            </m:sSupPr>
                            <m:e>
                              <m:sSub>
                                <m:sSubPr>
                                  <m:ctrlPr>
                                    <a:rPr lang="en-US" altLang="zh-CN" sz="1300" i="1">
                                      <a:latin typeface="Cambria Math" panose="02040503050406030204" charset="0"/>
                                      <a:cs typeface="Cambria Math" panose="02040503050406030204" charset="0"/>
                                    </a:rPr>
                                  </m:ctrlPr>
                                </m:sSubPr>
                                <m:e>
                                  <m:r>
                                    <a:rPr lang="en-US" altLang="zh-CN" sz="1300" i="1">
                                      <a:latin typeface="Cambria Math" panose="02040503050406030204" charset="0"/>
                                      <a:cs typeface="Cambria Math" panose="02040503050406030204" charset="0"/>
                                    </a:rPr>
                                    <m:t>𝐷</m:t>
                                  </m:r>
                                </m:e>
                                <m:sub>
                                  <m:r>
                                    <a:rPr lang="en-US" altLang="zh-CN" sz="1300" i="1">
                                      <a:latin typeface="Cambria Math" panose="02040503050406030204" charset="0"/>
                                      <a:cs typeface="Cambria Math" panose="02040503050406030204" charset="0"/>
                                    </a:rPr>
                                    <m:t>𝑠</m:t>
                                  </m:r>
                                </m:sub>
                              </m:sSub>
                            </m:e>
                            <m:sup>
                              <m:r>
                                <a:rPr lang="en-US" altLang="zh-CN" sz="1300" i="1">
                                  <a:latin typeface="Cambria Math" panose="02040503050406030204" charset="0"/>
                                  <a:cs typeface="Cambria Math" panose="02040503050406030204" charset="0"/>
                                </a:rPr>
                                <m:t>𝑡</m:t>
                              </m:r>
                            </m:sup>
                          </m:sSup>
                          <m:r>
                            <a:rPr lang="en-US" altLang="zh-CN" sz="1300" i="1">
                              <a:latin typeface="Cambria Math" panose="02040503050406030204" charset="0"/>
                              <a:cs typeface="Cambria Math" panose="02040503050406030204" charset="0"/>
                            </a:rPr>
                            <m:t>)</m:t>
                          </m:r>
                        </m:den>
                      </m:f>
                      <m:r>
                        <a:rPr lang="en-US" altLang="zh-CN" sz="1300" i="1">
                          <a:latin typeface="Cambria Math" panose="02040503050406030204" charset="0"/>
                          <a:cs typeface="Cambria Math" panose="02040503050406030204" charset="0"/>
                        </a:rPr>
                        <m:t>×</m:t>
                      </m:r>
                      <m:f>
                        <m:fPr>
                          <m:ctrlPr>
                            <a:rPr lang="en-US" altLang="zh-CN" sz="1300" i="1">
                              <a:latin typeface="Cambria Math" panose="02040503050406030204" charset="0"/>
                              <a:cs typeface="Cambria Math" panose="02040503050406030204" charset="0"/>
                            </a:rPr>
                          </m:ctrlPr>
                        </m:fPr>
                        <m:num>
                          <m:r>
                            <a:rPr lang="en-US" altLang="zh-CN" sz="1300" i="1">
                              <a:latin typeface="Cambria Math" panose="02040503050406030204" charset="0"/>
                              <a:cs typeface="Cambria Math" panose="02040503050406030204" charset="0"/>
                            </a:rPr>
                            <m:t>𝑡</m:t>
                          </m:r>
                        </m:num>
                        <m:den>
                          <m:r>
                            <a:rPr lang="en-US" altLang="zh-CN" sz="1300" i="1">
                              <a:latin typeface="Cambria Math" panose="02040503050406030204" charset="0"/>
                              <a:cs typeface="Cambria Math" panose="02040503050406030204" charset="0"/>
                            </a:rPr>
                            <m:t>365</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24</m:t>
                          </m:r>
                          <m:r>
                            <a:rPr lang="en-US" altLang="zh-CN" sz="1300" i="1">
                              <a:latin typeface="Cambria Math" panose="02040503050406030204" charset="0"/>
                              <a:cs typeface="Cambria Math" panose="02040503050406030204" charset="0"/>
                            </a:rPr>
                            <m:t>×</m:t>
                          </m:r>
                          <m:r>
                            <a:rPr lang="en-US" altLang="zh-CN" sz="1300" i="1">
                              <a:latin typeface="Cambria Math" panose="02040503050406030204" charset="0"/>
                              <a:cs typeface="Cambria Math" panose="02040503050406030204" charset="0"/>
                            </a:rPr>
                            <m:t>3600</m:t>
                          </m:r>
                        </m:den>
                      </m:f>
                    </m:oMath>
                  </m:oMathPara>
                </a14:m>
                <a:endParaRPr lang="zh-CN" altLang="en-US" sz="1300"/>
              </a:p>
            </p:txBody>
          </p:sp>
        </mc:Choice>
        <mc:Fallback>
          <p:sp>
            <p:nvSpPr>
              <p:cNvPr id="54" name="文本框 53"/>
              <p:cNvSpPr txBox="1">
                <a:spLocks noRot="1" noChangeAspect="1" noMove="1" noResize="1" noEditPoints="1" noAdjustHandles="1" noChangeArrowheads="1" noChangeShapeType="1" noTextEdit="1"/>
              </p:cNvSpPr>
              <p:nvPr/>
            </p:nvSpPr>
            <p:spPr>
              <a:xfrm>
                <a:off x="8678481" y="3531489"/>
                <a:ext cx="2472055" cy="509905"/>
              </a:xfrm>
              <a:prstGeom prst="rect">
                <a:avLst/>
              </a:prstGeom>
              <a:blipFill rotWithShape="1">
                <a:blip r:embed="rId11"/>
                <a:stretch>
                  <a:fillRect l="-23" t="-50" r="23" b="50"/>
                </a:stretch>
              </a:blipFill>
            </p:spPr>
            <p:txBody>
              <a:bodyPr/>
              <a:lstStyle/>
              <a:p>
                <a:r>
                  <a:rPr lang="zh-CN" altLang="en-US">
                    <a:noFill/>
                  </a:rPr>
                  <a:t> </a:t>
                </a:r>
              </a:p>
            </p:txBody>
          </p:sp>
        </mc:Fallback>
      </mc:AlternateContent>
      <p:sp>
        <p:nvSpPr>
          <p:cNvPr id="55" name="文本框 54"/>
          <p:cNvSpPr txBox="1"/>
          <p:nvPr/>
        </p:nvSpPr>
        <p:spPr>
          <a:xfrm>
            <a:off x="6585585" y="1852295"/>
            <a:ext cx="3525520" cy="275590"/>
          </a:xfrm>
          <a:prstGeom prst="rect">
            <a:avLst/>
          </a:prstGeom>
          <a:noFill/>
        </p:spPr>
        <p:txBody>
          <a:bodyPr wrap="square" rtlCol="0">
            <a:spAutoFit/>
          </a:bodyPr>
          <a:p>
            <a:r>
              <a:rPr lang="zh-CN" altLang="en-US" sz="1200"/>
              <a:t>以代表性短时段（通常：=600s)计算疲劳损伤；</a:t>
            </a:r>
            <a:endParaRPr lang="zh-CN" altLang="en-US" sz="1200"/>
          </a:p>
        </p:txBody>
      </p:sp>
      <p:sp>
        <p:nvSpPr>
          <p:cNvPr id="56" name="文本框 55"/>
          <p:cNvSpPr txBox="1"/>
          <p:nvPr/>
        </p:nvSpPr>
        <p:spPr>
          <a:xfrm>
            <a:off x="6576695" y="2127885"/>
            <a:ext cx="4013200" cy="275590"/>
          </a:xfrm>
          <a:prstGeom prst="rect">
            <a:avLst/>
          </a:prstGeom>
          <a:noFill/>
        </p:spPr>
        <p:txBody>
          <a:bodyPr wrap="square" rtlCol="0">
            <a:spAutoFit/>
          </a:bodyPr>
          <a:p>
            <a:r>
              <a:rPr lang="zh-CN" altLang="en-US" sz="1200"/>
              <a:t>结合风速风向联合概率分布，对不同风况损伤进行加权；</a:t>
            </a:r>
            <a:endParaRPr lang="zh-CN" altLang="en-US" sz="1200"/>
          </a:p>
        </p:txBody>
      </p:sp>
      <p:sp>
        <p:nvSpPr>
          <p:cNvPr id="57" name="文本框 56"/>
          <p:cNvSpPr txBox="1"/>
          <p:nvPr/>
        </p:nvSpPr>
        <p:spPr>
          <a:xfrm>
            <a:off x="6584315" y="2403475"/>
            <a:ext cx="4657725" cy="275590"/>
          </a:xfrm>
          <a:prstGeom prst="rect">
            <a:avLst/>
          </a:prstGeom>
          <a:noFill/>
        </p:spPr>
        <p:txBody>
          <a:bodyPr wrap="square" rtlCol="0">
            <a:spAutoFit/>
          </a:bodyPr>
          <a:p>
            <a:r>
              <a:rPr lang="zh-CN" altLang="en-US" sz="1200"/>
              <a:t>联合概率分布决定不同风况权重，影响全寿命周期内损伤累积趋势。</a:t>
            </a:r>
            <a:endParaRPr lang="zh-CN" altLang="en-US" sz="1200"/>
          </a:p>
        </p:txBody>
      </p:sp>
      <p:sp>
        <p:nvSpPr>
          <p:cNvPr id="58" name="文本框 57"/>
          <p:cNvSpPr txBox="1"/>
          <p:nvPr/>
        </p:nvSpPr>
        <p:spPr>
          <a:xfrm>
            <a:off x="6541135" y="4850765"/>
            <a:ext cx="4445000" cy="614045"/>
          </a:xfrm>
          <a:prstGeom prst="rect">
            <a:avLst/>
          </a:prstGeom>
          <a:noFill/>
        </p:spPr>
        <p:txBody>
          <a:bodyPr wrap="square" rtlCol="0">
            <a:spAutoFit/>
          </a:bodyPr>
          <a:p>
            <a:pPr>
              <a:lnSpc>
                <a:spcPct val="170000"/>
              </a:lnSpc>
              <a:spcBef>
                <a:spcPts val="0"/>
              </a:spcBef>
              <a:spcAft>
                <a:spcPts val="0"/>
              </a:spcAft>
            </a:pPr>
            <a:r>
              <a:rPr lang="zh-CN" altLang="en-US" sz="1000"/>
              <a:t>其中，</a:t>
            </a:r>
            <a:r>
              <a:rPr lang="en-US" altLang="zh-CN" sz="1000"/>
              <a:t>D</a:t>
            </a:r>
            <a:r>
              <a:rPr lang="en-US" altLang="zh-CN" sz="1000" baseline="-25000"/>
              <a:t>c,k</a:t>
            </a:r>
            <a:r>
              <a:rPr lang="en-US" altLang="zh-CN" sz="1000" baseline="30000"/>
              <a:t>t</a:t>
            </a:r>
            <a:r>
              <a:rPr lang="zh-CN" altLang="en-US" sz="1000"/>
              <a:t>、</a:t>
            </a:r>
            <a:r>
              <a:rPr lang="en-US" altLang="zh-CN" sz="1000"/>
              <a:t>D</a:t>
            </a:r>
            <a:r>
              <a:rPr lang="en-US" altLang="zh-CN" sz="1000" baseline="-25000"/>
              <a:t>s,k</a:t>
            </a:r>
            <a:r>
              <a:rPr lang="en-US" altLang="zh-CN" sz="1000" baseline="30000"/>
              <a:t>t</a:t>
            </a:r>
            <a:r>
              <a:rPr lang="zh-CN" altLang="en-US" sz="1000"/>
              <a:t>，分别为风况</a:t>
            </a:r>
            <a:r>
              <a:rPr lang="en-US" altLang="zh-CN" sz="1000"/>
              <a:t>k</a:t>
            </a:r>
            <a:r>
              <a:rPr lang="zh-CN" altLang="en-US" sz="1000"/>
              <a:t>下代表性时段内混凝土与钢材的疲劳损伤；</a:t>
            </a:r>
            <a:endParaRPr lang="zh-CN" altLang="en-US" sz="1000"/>
          </a:p>
          <a:p>
            <a:pPr>
              <a:lnSpc>
                <a:spcPct val="170000"/>
              </a:lnSpc>
              <a:spcBef>
                <a:spcPts val="0"/>
              </a:spcBef>
              <a:spcAft>
                <a:spcPts val="0"/>
              </a:spcAft>
            </a:pPr>
            <a:r>
              <a:rPr lang="en-US" altLang="zh-CN" sz="1000"/>
              <a:t>P</a:t>
            </a:r>
            <a:r>
              <a:rPr lang="en-US" altLang="zh-CN" sz="1000" baseline="-25000"/>
              <a:t>k </a:t>
            </a:r>
            <a:r>
              <a:rPr lang="zh-CN" altLang="en-US" sz="1000"/>
              <a:t>为风况</a:t>
            </a:r>
            <a:r>
              <a:rPr lang="en-US" altLang="zh-CN" sz="1000"/>
              <a:t> K </a:t>
            </a:r>
            <a:r>
              <a:rPr lang="zh-CN" altLang="en-US" sz="1000"/>
              <a:t>的联合概率；</a:t>
            </a:r>
            <a:r>
              <a:rPr lang="en-US" altLang="zh-CN" sz="1000"/>
              <a:t>N</a:t>
            </a:r>
            <a:r>
              <a:rPr lang="en-US" altLang="zh-CN" sz="1000" baseline="-25000"/>
              <a:t>w </a:t>
            </a:r>
            <a:r>
              <a:rPr lang="zh-CN" altLang="en-US" sz="1000"/>
              <a:t>为风况离散数；</a:t>
            </a:r>
            <a:r>
              <a:rPr lang="en-US" altLang="zh-CN" sz="1000"/>
              <a:t>t </a:t>
            </a:r>
            <a:r>
              <a:rPr lang="zh-CN" altLang="en-US" sz="1000"/>
              <a:t>为代表性时段长度（s)。</a:t>
            </a:r>
            <a:endParaRPr lang="zh-CN" altLang="en-US" sz="1000"/>
          </a:p>
        </p:txBody>
      </p:sp>
      <p:sp>
        <p:nvSpPr>
          <p:cNvPr id="59" name="文本框 58"/>
          <p:cNvSpPr txBox="1"/>
          <p:nvPr/>
        </p:nvSpPr>
        <p:spPr>
          <a:xfrm>
            <a:off x="6746875" y="4441190"/>
            <a:ext cx="1967230" cy="275590"/>
          </a:xfrm>
          <a:prstGeom prst="rect">
            <a:avLst/>
          </a:prstGeom>
          <a:noFill/>
        </p:spPr>
        <p:txBody>
          <a:bodyPr wrap="square" rtlCol="0">
            <a:spAutoFit/>
          </a:bodyPr>
          <a:p>
            <a:r>
              <a:rPr lang="zh-CN" altLang="en-US" sz="1200" b="1">
                <a:solidFill>
                  <a:srgbClr val="023A8B"/>
                </a:solidFill>
              </a:rPr>
              <a:t>钢材损伤累积(Miner准则）</a:t>
            </a:r>
            <a:endParaRPr lang="zh-CN" altLang="en-US" sz="1200" b="1">
              <a:solidFill>
                <a:srgbClr val="023A8B"/>
              </a:solidFill>
            </a:endParaRPr>
          </a:p>
        </p:txBody>
      </p:sp>
      <mc:AlternateContent xmlns:mc="http://schemas.openxmlformats.org/markup-compatibility/2006">
        <mc:Choice xmlns:a14="http://schemas.microsoft.com/office/drawing/2010/main" Requires="a14">
          <p:sp>
            <p:nvSpPr>
              <p:cNvPr id="60" name="文本框 59"/>
              <p:cNvSpPr txBox="1"/>
              <p:nvPr/>
            </p:nvSpPr>
            <p:spPr>
              <a:xfrm>
                <a:off x="8762936" y="4327144"/>
                <a:ext cx="1141730" cy="52387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𝐷</m:t>
                          </m:r>
                        </m:e>
                        <m:sub>
                          <m:r>
                            <a:rPr lang="en-US" altLang="zh-CN" sz="1200" i="1">
                              <a:latin typeface="Cambria Math" panose="02040503050406030204" charset="0"/>
                              <a:cs typeface="Cambria Math" panose="02040503050406030204" charset="0"/>
                            </a:rPr>
                            <m:t>𝑥</m:t>
                          </m:r>
                        </m:sub>
                      </m:sSub>
                      <m:r>
                        <a:rPr lang="en-US" altLang="zh-CN" sz="1200" i="1">
                          <a:latin typeface="Cambria Math" panose="02040503050406030204" charset="0"/>
                          <a:cs typeface="Cambria Math" panose="02040503050406030204" charset="0"/>
                        </a:rPr>
                        <m:t>=</m:t>
                      </m:r>
                      <m:nary>
                        <m:naryPr>
                          <m:chr m:val="∑"/>
                          <m:limLoc m:val="undOvr"/>
                          <m:supHide m:val="on"/>
                          <m:ctrlPr>
                            <a:rPr lang="en-US" altLang="zh-CN" sz="1200" i="1">
                              <a:latin typeface="Cambria Math" panose="02040503050406030204" charset="0"/>
                              <a:cs typeface="Cambria Math" panose="02040503050406030204" charset="0"/>
                            </a:rPr>
                          </m:ctrlPr>
                        </m:naryPr>
                        <m:sub>
                          <m:r>
                            <a:rPr lang="en-US" altLang="zh-CN" sz="1200" i="1">
                              <a:latin typeface="Cambria Math" panose="02040503050406030204" charset="0"/>
                              <a:cs typeface="Cambria Math" panose="02040503050406030204" charset="0"/>
                            </a:rPr>
                            <m:t>𝑗</m:t>
                          </m:r>
                        </m:sub>
                        <m:sup/>
                        <m:e>
                          <m:f>
                            <m:fPr>
                              <m:ctrlPr>
                                <a:rPr lang="en-US" altLang="zh-CN" sz="1200" i="1">
                                  <a:latin typeface="Cambria Math" panose="02040503050406030204" charset="0"/>
                                  <a:cs typeface="Cambria Math" panose="02040503050406030204" charset="0"/>
                                </a:rPr>
                              </m:ctrlPr>
                            </m:fPr>
                            <m:num>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𝑛</m:t>
                                  </m:r>
                                </m:e>
                                <m:sub>
                                  <m:r>
                                    <a:rPr lang="en-US" altLang="zh-CN" sz="1200" i="1">
                                      <a:latin typeface="Cambria Math" panose="02040503050406030204" charset="0"/>
                                      <a:cs typeface="Cambria Math" panose="02040503050406030204" charset="0"/>
                                    </a:rPr>
                                    <m:t>𝑠</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𝑗</m:t>
                                  </m:r>
                                </m:sub>
                              </m:sSub>
                            </m:num>
                            <m:den>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𝑁</m:t>
                                  </m:r>
                                </m:e>
                                <m:sub>
                                  <m:r>
                                    <a:rPr lang="en-US" altLang="zh-CN" sz="1200" i="1">
                                      <a:latin typeface="Cambria Math" panose="02040503050406030204" charset="0"/>
                                      <a:cs typeface="Cambria Math" panose="02040503050406030204" charset="0"/>
                                    </a:rPr>
                                    <m:t>𝑠</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𝑗</m:t>
                                  </m:r>
                                </m:sub>
                              </m:sSub>
                            </m:den>
                          </m:f>
                        </m:e>
                      </m:nary>
                    </m:oMath>
                  </m:oMathPara>
                </a14:m>
                <a:endParaRPr lang="zh-CN" altLang="en-US" sz="1200"/>
              </a:p>
            </p:txBody>
          </p:sp>
        </mc:Choice>
        <mc:Fallback>
          <p:sp>
            <p:nvSpPr>
              <p:cNvPr id="60" name="文本框 59"/>
              <p:cNvSpPr txBox="1">
                <a:spLocks noRot="1" noChangeAspect="1" noMove="1" noResize="1" noEditPoints="1" noAdjustHandles="1" noChangeArrowheads="1" noChangeShapeType="1" noTextEdit="1"/>
              </p:cNvSpPr>
              <p:nvPr/>
            </p:nvSpPr>
            <p:spPr>
              <a:xfrm>
                <a:off x="8762936" y="4327144"/>
                <a:ext cx="1141730" cy="523875"/>
              </a:xfrm>
              <a:prstGeom prst="rect">
                <a:avLst/>
              </a:prstGeom>
              <a:blipFill rotWithShape="1">
                <a:blip r:embed="rId12"/>
                <a:stretch>
                  <a:fillRect l="-50" t="-48" r="50" b="48"/>
                </a:stretch>
              </a:blipFill>
            </p:spPr>
            <p:txBody>
              <a:bodyPr/>
              <a:lstStyle/>
              <a:p>
                <a:r>
                  <a:rPr lang="zh-CN" altLang="en-US">
                    <a:noFill/>
                  </a:rPr>
                  <a:t> </a:t>
                </a:r>
              </a:p>
            </p:txBody>
          </p:sp>
        </mc:Fallback>
      </mc:AlternateContent>
      <p:sp>
        <p:nvSpPr>
          <p:cNvPr id="61" name="文本框 60"/>
          <p:cNvSpPr txBox="1"/>
          <p:nvPr/>
        </p:nvSpPr>
        <p:spPr>
          <a:xfrm>
            <a:off x="889000" y="5721350"/>
            <a:ext cx="10388600" cy="614045"/>
          </a:xfrm>
          <a:prstGeom prst="rect">
            <a:avLst/>
          </a:prstGeom>
          <a:noFill/>
        </p:spPr>
        <p:txBody>
          <a:bodyPr wrap="square" rtlCol="0">
            <a:spAutoFit/>
          </a:bodyPr>
          <a:p>
            <a:r>
              <a:rPr lang="zh-CN" altLang="en-US" sz="1700" b="1">
                <a:solidFill>
                  <a:srgbClr val="023A8B"/>
                </a:solidFill>
              </a:rPr>
              <a:t>核心思想：基于雨流计数识别应力循环，结合混凝土/钢材S-N曲线与风速-风向联合概率分布，对混塔式风电机组疲劳损伤进行</a:t>
            </a:r>
            <a:r>
              <a:rPr lang="zh-CN" altLang="en-US" sz="1700" b="1">
                <a:solidFill>
                  <a:srgbClr val="C00000"/>
                </a:solidFill>
              </a:rPr>
              <a:t>加权累积</a:t>
            </a:r>
            <a:r>
              <a:rPr lang="zh-CN" altLang="en-US" sz="1700" b="1">
                <a:solidFill>
                  <a:srgbClr val="023A8B"/>
                </a:solidFill>
              </a:rPr>
              <a:t>，并实现</a:t>
            </a:r>
            <a:r>
              <a:rPr lang="zh-CN" altLang="en-US" sz="1700" b="1">
                <a:solidFill>
                  <a:srgbClr val="C00000"/>
                </a:solidFill>
              </a:rPr>
              <a:t>寿命预测。</a:t>
            </a:r>
            <a:endParaRPr lang="en-US" altLang="zh-CN" sz="1700" b="1">
              <a:solidFill>
                <a:srgbClr val="C00000"/>
              </a:solidFill>
            </a:endParaRPr>
          </a:p>
        </p:txBody>
      </p:sp>
      <p:pic>
        <p:nvPicPr>
          <p:cNvPr id="62" name="图片 61" descr="45.1"/>
          <p:cNvPicPr>
            <a:picLocks noChangeAspect="1"/>
          </p:cNvPicPr>
          <p:nvPr/>
        </p:nvPicPr>
        <p:blipFill>
          <a:blip r:embed="rId13"/>
          <a:stretch>
            <a:fillRect/>
          </a:stretch>
        </p:blipFill>
        <p:spPr>
          <a:xfrm>
            <a:off x="1384300" y="3533775"/>
            <a:ext cx="1707515" cy="1145540"/>
          </a:xfrm>
          <a:prstGeom prst="rect">
            <a:avLst/>
          </a:prstGeom>
        </p:spPr>
      </p:pic>
      <mc:AlternateContent xmlns:mc="http://schemas.openxmlformats.org/markup-compatibility/2006">
        <mc:Choice xmlns:a14="http://schemas.microsoft.com/office/drawing/2010/main" Requires="a14">
          <p:sp>
            <p:nvSpPr>
              <p:cNvPr id="63" name="文本框 62"/>
              <p:cNvSpPr txBox="1"/>
              <p:nvPr/>
            </p:nvSpPr>
            <p:spPr>
              <a:xfrm>
                <a:off x="936625" y="3482340"/>
                <a:ext cx="515620" cy="17716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func>
                        <m:funcPr>
                          <m:ctrlPr>
                            <a:rPr lang="en-US" altLang="zh-CN" sz="700">
                              <a:latin typeface="Cambria Math" panose="02040503050406030204" charset="0"/>
                              <a:cs typeface="Cambria Math" panose="02040503050406030204" charset="0"/>
                            </a:rPr>
                          </m:ctrlPr>
                        </m:funcPr>
                        <m:fName>
                          <m:r>
                            <m:rPr>
                              <m:sty m:val="p"/>
                            </m:rPr>
                            <a:rPr lang="en-US" altLang="zh-CN" sz="700">
                              <a:latin typeface="Cambria Math" panose="02040503050406030204" charset="0"/>
                              <a:cs typeface="Cambria Math" panose="02040503050406030204" charset="0"/>
                            </a:rPr>
                            <m:t>log</m:t>
                          </m:r>
                        </m:fName>
                        <m:e>
                          <m:sSub>
                            <m:sSubPr>
                              <m:ctrlPr>
                                <a:rPr lang="en-US" altLang="zh-CN" sz="700" i="1">
                                  <a:latin typeface="Cambria Math" panose="02040503050406030204" charset="0"/>
                                  <a:cs typeface="Cambria Math" panose="02040503050406030204" charset="0"/>
                                </a:rPr>
                              </m:ctrlPr>
                            </m:sSubPr>
                            <m:e>
                              <m:r>
                                <a:rPr lang="en-US" altLang="zh-CN" sz="700" i="1">
                                  <a:latin typeface="Cambria Math" panose="02040503050406030204" charset="0"/>
                                  <a:cs typeface="Cambria Math" panose="02040503050406030204" charset="0"/>
                                </a:rPr>
                                <m:t>∆</m:t>
                              </m:r>
                              <m:r>
                                <a:rPr lang="en-US" altLang="zh-CN" sz="700" i="1">
                                  <a:latin typeface="Cambria Math" panose="02040503050406030204" charset="0"/>
                                  <a:cs typeface="Cambria Math" panose="02040503050406030204" charset="0"/>
                                </a:rPr>
                                <m:t>𝜎</m:t>
                              </m:r>
                            </m:e>
                            <m:sub>
                              <m:r>
                                <a:rPr lang="zh-CN" altLang="en-US" sz="700" i="1">
                                  <a:latin typeface="Cambria Math" panose="02040503050406030204" charset="0"/>
                                  <a:cs typeface="Cambria Math" panose="02040503050406030204" charset="0"/>
                                </a:rPr>
                                <m:t>钢</m:t>
                              </m:r>
                              <m:r>
                                <a:rPr lang="en-US" altLang="zh-CN" sz="700" i="1">
                                  <a:latin typeface="Cambria Math" panose="02040503050406030204" charset="0"/>
                                  <a:cs typeface="Cambria Math" panose="02040503050406030204" charset="0"/>
                                </a:rPr>
                                <m:t>𝑠𝑘</m:t>
                              </m:r>
                            </m:sub>
                          </m:sSub>
                        </m:e>
                      </m:func>
                    </m:oMath>
                  </m:oMathPara>
                </a14:m>
                <a:endParaRPr lang="zh-CN" altLang="en-US" sz="700"/>
              </a:p>
            </p:txBody>
          </p:sp>
        </mc:Choice>
        <mc:Fallback>
          <p:sp>
            <p:nvSpPr>
              <p:cNvPr id="63" name="文本框 62"/>
              <p:cNvSpPr txBox="1">
                <a:spLocks noRot="1" noChangeAspect="1" noMove="1" noResize="1" noEditPoints="1" noAdjustHandles="1" noChangeArrowheads="1" noChangeShapeType="1" noTextEdit="1"/>
              </p:cNvSpPr>
              <p:nvPr/>
            </p:nvSpPr>
            <p:spPr>
              <a:xfrm>
                <a:off x="936625" y="3482340"/>
                <a:ext cx="515620" cy="177165"/>
              </a:xfrm>
              <a:prstGeom prst="rect">
                <a:avLst/>
              </a:prstGeom>
              <a:blipFill rotWithShape="1">
                <a:blip r:embed="rId1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4" name="文本框 63"/>
              <p:cNvSpPr txBox="1"/>
              <p:nvPr/>
            </p:nvSpPr>
            <p:spPr>
              <a:xfrm>
                <a:off x="1059180" y="4267200"/>
                <a:ext cx="351155" cy="173990"/>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sSub>
                        <m:sSubPr>
                          <m:ctrlPr>
                            <a:rPr lang="en-US" altLang="zh-CN" sz="700" i="1">
                              <a:latin typeface="Cambria Math" panose="02040503050406030204" charset="0"/>
                              <a:cs typeface="Cambria Math" panose="02040503050406030204" charset="0"/>
                            </a:rPr>
                          </m:ctrlPr>
                        </m:sSubPr>
                        <m:e>
                          <m:r>
                            <a:rPr lang="en-US" altLang="zh-CN" sz="700" i="1">
                              <a:latin typeface="Cambria Math" panose="02040503050406030204" charset="0"/>
                              <a:cs typeface="Cambria Math" panose="02040503050406030204" charset="0"/>
                            </a:rPr>
                            <m:t>∆</m:t>
                          </m:r>
                          <m:r>
                            <a:rPr lang="en-US" altLang="zh-CN" sz="700" i="1">
                              <a:latin typeface="Cambria Math" panose="02040503050406030204" charset="0"/>
                              <a:cs typeface="Cambria Math" panose="02040503050406030204" charset="0"/>
                            </a:rPr>
                            <m:t>𝜎</m:t>
                          </m:r>
                        </m:e>
                        <m:sub>
                          <m:r>
                            <a:rPr lang="zh-CN" altLang="en-US" sz="700" i="1">
                              <a:latin typeface="Cambria Math" panose="02040503050406030204" charset="0"/>
                              <a:cs typeface="Cambria Math" panose="02040503050406030204" charset="0"/>
                            </a:rPr>
                            <m:t>钢</m:t>
                          </m:r>
                          <m:r>
                            <a:rPr lang="en-US" altLang="zh-CN" sz="700" i="1">
                              <a:latin typeface="Cambria Math" panose="02040503050406030204" charset="0"/>
                              <a:cs typeface="Cambria Math" panose="02040503050406030204" charset="0"/>
                            </a:rPr>
                            <m:t>𝑠𝑘</m:t>
                          </m:r>
                        </m:sub>
                      </m:sSub>
                    </m:oMath>
                  </m:oMathPara>
                </a14:m>
                <a:endParaRPr lang="zh-CN" altLang="en-US" sz="700"/>
              </a:p>
            </p:txBody>
          </p:sp>
        </mc:Choice>
        <mc:Fallback>
          <p:sp>
            <p:nvSpPr>
              <p:cNvPr id="64" name="文本框 63"/>
              <p:cNvSpPr txBox="1">
                <a:spLocks noRot="1" noChangeAspect="1" noMove="1" noResize="1" noEditPoints="1" noAdjustHandles="1" noChangeArrowheads="1" noChangeShapeType="1" noTextEdit="1"/>
              </p:cNvSpPr>
              <p:nvPr/>
            </p:nvSpPr>
            <p:spPr>
              <a:xfrm>
                <a:off x="1059180" y="4267200"/>
                <a:ext cx="351155" cy="173990"/>
              </a:xfrm>
              <a:prstGeom prst="rect">
                <a:avLst/>
              </a:prstGeom>
              <a:blipFill rotWithShape="1">
                <a:blip r:embed="rId15"/>
                <a:stretch>
                  <a:fillRect r="-181"/>
                </a:stretch>
              </a:blipFill>
            </p:spPr>
            <p:txBody>
              <a:bodyPr/>
              <a:lstStyle/>
              <a:p>
                <a:r>
                  <a:rPr lang="zh-CN" altLang="en-US">
                    <a:noFill/>
                  </a:rPr>
                  <a:t> </a:t>
                </a:r>
              </a:p>
            </p:txBody>
          </p:sp>
        </mc:Fallback>
      </mc:AlternateContent>
      <p:sp>
        <p:nvSpPr>
          <p:cNvPr id="65" name="文本框 64"/>
          <p:cNvSpPr txBox="1"/>
          <p:nvPr/>
        </p:nvSpPr>
        <p:spPr>
          <a:xfrm>
            <a:off x="1920875" y="3978910"/>
            <a:ext cx="76200" cy="122555"/>
          </a:xfrm>
          <a:prstGeom prst="rect">
            <a:avLst/>
          </a:prstGeom>
          <a:noFill/>
        </p:spPr>
        <p:txBody>
          <a:bodyPr wrap="square" rtlCol="0">
            <a:noAutofit/>
          </a:bodyPr>
          <a:p>
            <a:r>
              <a:rPr lang="en-US" altLang="zh-CN" sz="700"/>
              <a:t>1</a:t>
            </a:r>
            <a:endParaRPr lang="en-US" altLang="zh-CN" sz="700"/>
          </a:p>
        </p:txBody>
      </p:sp>
      <p:sp>
        <p:nvSpPr>
          <p:cNvPr id="66" name="文本框 65"/>
          <p:cNvSpPr txBox="1"/>
          <p:nvPr/>
        </p:nvSpPr>
        <p:spPr>
          <a:xfrm>
            <a:off x="1628140" y="3735070"/>
            <a:ext cx="368935" cy="135255"/>
          </a:xfrm>
          <a:prstGeom prst="rect">
            <a:avLst/>
          </a:prstGeom>
          <a:noFill/>
        </p:spPr>
        <p:txBody>
          <a:bodyPr wrap="square" rtlCol="0">
            <a:noAutofit/>
          </a:bodyPr>
          <a:p>
            <a:r>
              <a:rPr lang="en-US" altLang="zh-CN" sz="700"/>
              <a:t>m=k</a:t>
            </a:r>
            <a:r>
              <a:rPr lang="en-US" altLang="zh-CN" sz="700" baseline="-25000"/>
              <a:t>1</a:t>
            </a:r>
            <a:endParaRPr lang="en-US" altLang="zh-CN" sz="700" baseline="-25000"/>
          </a:p>
        </p:txBody>
      </p:sp>
      <p:sp>
        <p:nvSpPr>
          <p:cNvPr id="67" name="文本框 66"/>
          <p:cNvSpPr txBox="1"/>
          <p:nvPr/>
        </p:nvSpPr>
        <p:spPr>
          <a:xfrm>
            <a:off x="2348865" y="4246245"/>
            <a:ext cx="368935" cy="135255"/>
          </a:xfrm>
          <a:prstGeom prst="rect">
            <a:avLst/>
          </a:prstGeom>
          <a:noFill/>
        </p:spPr>
        <p:txBody>
          <a:bodyPr wrap="square" rtlCol="0">
            <a:noAutofit/>
          </a:bodyPr>
          <a:p>
            <a:r>
              <a:rPr lang="en-US" altLang="zh-CN" sz="700"/>
              <a:t>m=k</a:t>
            </a:r>
            <a:r>
              <a:rPr lang="en-US" altLang="zh-CN" sz="700" baseline="-25000"/>
              <a:t>2</a:t>
            </a:r>
            <a:endParaRPr lang="en-US" altLang="zh-CN" sz="700" baseline="-25000"/>
          </a:p>
        </p:txBody>
      </p:sp>
      <mc:AlternateContent xmlns:mc="http://schemas.openxmlformats.org/markup-compatibility/2006">
        <mc:Choice xmlns:a14="http://schemas.microsoft.com/office/drawing/2010/main" Requires="a14">
          <p:sp>
            <p:nvSpPr>
              <p:cNvPr id="68" name="文本框 67"/>
              <p:cNvSpPr txBox="1"/>
              <p:nvPr/>
            </p:nvSpPr>
            <p:spPr>
              <a:xfrm>
                <a:off x="1784350" y="4640580"/>
                <a:ext cx="349250" cy="147320"/>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func>
                        <m:funcPr>
                          <m:ctrlPr>
                            <a:rPr lang="en-US" altLang="zh-CN" sz="700">
                              <a:latin typeface="Cambria Math" panose="02040503050406030204" charset="0"/>
                              <a:cs typeface="Cambria Math" panose="02040503050406030204" charset="0"/>
                            </a:rPr>
                          </m:ctrlPr>
                        </m:funcPr>
                        <m:fName>
                          <m:r>
                            <m:rPr>
                              <m:sty m:val="p"/>
                            </m:rPr>
                            <a:rPr lang="en-US" altLang="zh-CN" sz="700">
                              <a:latin typeface="Cambria Math" panose="02040503050406030204" charset="0"/>
                              <a:cs typeface="Cambria Math" panose="02040503050406030204" charset="0"/>
                            </a:rPr>
                            <m:t>log</m:t>
                          </m:r>
                        </m:fName>
                        <m:e>
                          <m:sSup>
                            <m:sSupPr>
                              <m:ctrlPr>
                                <a:rPr lang="en-US" altLang="zh-CN" sz="700" i="1">
                                  <a:latin typeface="Cambria Math" panose="02040503050406030204" charset="0"/>
                                  <a:cs typeface="Cambria Math" panose="02040503050406030204" charset="0"/>
                                </a:rPr>
                              </m:ctrlPr>
                            </m:sSupPr>
                            <m:e>
                              <m:r>
                                <a:rPr lang="en-US" altLang="zh-CN" sz="700" i="1">
                                  <a:latin typeface="Cambria Math" panose="02040503050406030204" charset="0"/>
                                  <a:cs typeface="Cambria Math" panose="02040503050406030204" charset="0"/>
                                </a:rPr>
                                <m:t>𝑁</m:t>
                              </m:r>
                            </m:e>
                            <m:sup>
                              <m:r>
                                <a:rPr lang="en-US" altLang="zh-CN" sz="700" i="1">
                                  <a:latin typeface="Cambria Math" panose="02040503050406030204" charset="0"/>
                                  <a:cs typeface="Cambria Math" panose="02040503050406030204" charset="0"/>
                                </a:rPr>
                                <m:t>∗</m:t>
                              </m:r>
                            </m:sup>
                          </m:sSup>
                        </m:e>
                      </m:func>
                    </m:oMath>
                  </m:oMathPara>
                </a14:m>
                <a:endParaRPr lang="zh-CN" altLang="en-US" sz="700"/>
              </a:p>
            </p:txBody>
          </p:sp>
        </mc:Choice>
        <mc:Fallback>
          <p:sp>
            <p:nvSpPr>
              <p:cNvPr id="68" name="文本框 67"/>
              <p:cNvSpPr txBox="1">
                <a:spLocks noRot="1" noChangeAspect="1" noMove="1" noResize="1" noEditPoints="1" noAdjustHandles="1" noChangeArrowheads="1" noChangeShapeType="1" noTextEdit="1"/>
              </p:cNvSpPr>
              <p:nvPr/>
            </p:nvSpPr>
            <p:spPr>
              <a:xfrm>
                <a:off x="1784350" y="4640580"/>
                <a:ext cx="349250" cy="147320"/>
              </a:xfrm>
              <a:prstGeom prst="rect">
                <a:avLst/>
              </a:prstGeom>
              <a:blipFill rotWithShape="1">
                <a:blip r:embed="rId16"/>
                <a:stretch>
                  <a:fillRect b="-34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 name="文本框 68"/>
              <p:cNvSpPr txBox="1"/>
              <p:nvPr/>
            </p:nvSpPr>
            <p:spPr>
              <a:xfrm>
                <a:off x="2802890" y="4640580"/>
                <a:ext cx="349250" cy="147320"/>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func>
                        <m:funcPr>
                          <m:ctrlPr>
                            <a:rPr lang="en-US" altLang="zh-CN" sz="700">
                              <a:latin typeface="Cambria Math" panose="02040503050406030204" charset="0"/>
                              <a:cs typeface="Cambria Math" panose="02040503050406030204" charset="0"/>
                            </a:rPr>
                          </m:ctrlPr>
                        </m:funcPr>
                        <m:fName>
                          <m:r>
                            <m:rPr>
                              <m:sty m:val="p"/>
                            </m:rPr>
                            <a:rPr lang="en-US" altLang="zh-CN" sz="700">
                              <a:latin typeface="Cambria Math" panose="02040503050406030204" charset="0"/>
                              <a:cs typeface="Cambria Math" panose="02040503050406030204" charset="0"/>
                            </a:rPr>
                            <m:t>log</m:t>
                          </m:r>
                        </m:fName>
                        <m:e>
                          <m:r>
                            <m:rPr>
                              <m:sty m:val="p"/>
                            </m:rPr>
                            <a:rPr lang="en-US" altLang="zh-CN" sz="700">
                              <a:latin typeface="Cambria Math" panose="02040503050406030204" charset="0"/>
                              <a:cs typeface="Cambria Math" panose="02040503050406030204" charset="0"/>
                            </a:rPr>
                            <m:t>N</m:t>
                          </m:r>
                        </m:e>
                      </m:func>
                    </m:oMath>
                  </m:oMathPara>
                </a14:m>
                <a:endParaRPr lang="zh-CN" altLang="en-US" sz="700"/>
              </a:p>
            </p:txBody>
          </p:sp>
        </mc:Choice>
        <mc:Fallback>
          <p:sp>
            <p:nvSpPr>
              <p:cNvPr id="69" name="文本框 68"/>
              <p:cNvSpPr txBox="1">
                <a:spLocks noRot="1" noChangeAspect="1" noMove="1" noResize="1" noEditPoints="1" noAdjustHandles="1" noChangeArrowheads="1" noChangeShapeType="1" noTextEdit="1"/>
              </p:cNvSpPr>
              <p:nvPr/>
            </p:nvSpPr>
            <p:spPr>
              <a:xfrm>
                <a:off x="2802890" y="4640580"/>
                <a:ext cx="349250" cy="147320"/>
              </a:xfrm>
              <a:prstGeom prst="rect">
                <a:avLst/>
              </a:prstGeom>
              <a:blipFill rotWithShape="1">
                <a:blip r:embed="rId17"/>
                <a:stretch>
                  <a:fillRect b="-34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0" name="文本框 69"/>
              <p:cNvSpPr txBox="1"/>
              <p:nvPr/>
            </p:nvSpPr>
            <p:spPr>
              <a:xfrm>
                <a:off x="2043430" y="3531235"/>
                <a:ext cx="1048385" cy="143510"/>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sSup>
                        <m:sSupPr>
                          <m:ctrlPr>
                            <a:rPr lang="en-US" altLang="zh-CN" sz="700" i="1">
                              <a:latin typeface="Cambria Math" panose="02040503050406030204" charset="0"/>
                              <a:cs typeface="Cambria Math" panose="02040503050406030204" charset="0"/>
                            </a:rPr>
                          </m:ctrlPr>
                        </m:sSupPr>
                        <m:e>
                          <m:r>
                            <a:rPr lang="en-US" altLang="zh-CN" sz="700" i="1">
                              <a:latin typeface="Cambria Math" panose="02040503050406030204" charset="0"/>
                              <a:cs typeface="Cambria Math" panose="02040503050406030204" charset="0"/>
                            </a:rPr>
                            <m:t>(</m:t>
                          </m:r>
                          <m:sSub>
                            <m:sSubPr>
                              <m:ctrlPr>
                                <a:rPr lang="en-US" altLang="zh-CN" sz="700" i="1">
                                  <a:latin typeface="Cambria Math" panose="02040503050406030204" charset="0"/>
                                  <a:cs typeface="Cambria Math" panose="02040503050406030204" charset="0"/>
                                </a:rPr>
                              </m:ctrlPr>
                            </m:sSubPr>
                            <m:e>
                              <m:r>
                                <a:rPr lang="en-US" altLang="zh-CN" sz="700" i="1">
                                  <a:latin typeface="Cambria Math" panose="02040503050406030204" charset="0"/>
                                  <a:cs typeface="Cambria Math" panose="02040503050406030204" charset="0"/>
                                </a:rPr>
                                <m:t>∆</m:t>
                              </m:r>
                              <m:r>
                                <a:rPr lang="en-US" altLang="zh-CN" sz="700" i="1">
                                  <a:latin typeface="Cambria Math" panose="02040503050406030204" charset="0"/>
                                  <a:cs typeface="Cambria Math" panose="02040503050406030204" charset="0"/>
                                </a:rPr>
                                <m:t>𝜎</m:t>
                              </m:r>
                            </m:e>
                            <m:sub>
                              <m:r>
                                <a:rPr lang="zh-CN" altLang="en-US" sz="700" i="1">
                                  <a:latin typeface="Cambria Math" panose="02040503050406030204" charset="0"/>
                                  <a:cs typeface="Cambria Math" panose="02040503050406030204" charset="0"/>
                                </a:rPr>
                                <m:t>钢</m:t>
                              </m:r>
                              <m:r>
                                <a:rPr lang="en-US" altLang="zh-CN" sz="700" i="1">
                                  <a:latin typeface="Cambria Math" panose="02040503050406030204" charset="0"/>
                                  <a:cs typeface="Cambria Math" panose="02040503050406030204" charset="0"/>
                                </a:rPr>
                                <m:t>𝑠𝑘</m:t>
                              </m:r>
                            </m:sub>
                          </m:sSub>
                          <m:r>
                            <a:rPr lang="en-US" altLang="zh-CN" sz="700" i="1">
                              <a:latin typeface="Cambria Math" panose="02040503050406030204" charset="0"/>
                              <a:cs typeface="Cambria Math" panose="02040503050406030204" charset="0"/>
                            </a:rPr>
                            <m:t>)</m:t>
                          </m:r>
                        </m:e>
                        <m:sup>
                          <m:r>
                            <a:rPr lang="en-US" altLang="zh-CN" sz="700" i="1">
                              <a:latin typeface="Cambria Math" panose="02040503050406030204" charset="0"/>
                              <a:cs typeface="Cambria Math" panose="02040503050406030204" charset="0"/>
                            </a:rPr>
                            <m:t>𝑚</m:t>
                          </m:r>
                        </m:sup>
                      </m:sSup>
                      <m:r>
                        <a:rPr lang="en-US" altLang="zh-CN" sz="700" i="1">
                          <a:latin typeface="Cambria Math" panose="02040503050406030204" charset="0"/>
                          <a:cs typeface="Cambria Math" panose="02040503050406030204" charset="0"/>
                        </a:rPr>
                        <m:t>∙</m:t>
                      </m:r>
                      <m:r>
                        <a:rPr lang="en-US" altLang="zh-CN" sz="700" i="1">
                          <a:latin typeface="Cambria Math" panose="02040503050406030204" charset="0"/>
                          <a:cs typeface="Cambria Math" panose="02040503050406030204" charset="0"/>
                        </a:rPr>
                        <m:t>𝑁</m:t>
                      </m:r>
                      <m:r>
                        <a:rPr lang="en-US" altLang="zh-CN" sz="700" i="1">
                          <a:latin typeface="Cambria Math" panose="02040503050406030204" charset="0"/>
                          <a:cs typeface="Cambria Math" panose="02040503050406030204" charset="0"/>
                        </a:rPr>
                        <m:t>=</m:t>
                      </m:r>
                      <m:r>
                        <a:rPr lang="en-US" altLang="zh-CN" sz="700" i="1">
                          <a:latin typeface="Cambria Math" panose="02040503050406030204" charset="0"/>
                          <a:cs typeface="Cambria Math" panose="02040503050406030204" charset="0"/>
                        </a:rPr>
                        <m:t>𝑐𝑜𝑛𝑠𝑡</m:t>
                      </m:r>
                    </m:oMath>
                  </m:oMathPara>
                </a14:m>
                <a:endParaRPr lang="zh-CN" altLang="en-US" sz="700"/>
              </a:p>
            </p:txBody>
          </p:sp>
        </mc:Choice>
        <mc:Fallback>
          <p:sp>
            <p:nvSpPr>
              <p:cNvPr id="70" name="文本框 69"/>
              <p:cNvSpPr txBox="1">
                <a:spLocks noRot="1" noChangeAspect="1" noMove="1" noResize="1" noEditPoints="1" noAdjustHandles="1" noChangeArrowheads="1" noChangeShapeType="1" noTextEdit="1"/>
              </p:cNvSpPr>
              <p:nvPr/>
            </p:nvSpPr>
            <p:spPr>
              <a:xfrm>
                <a:off x="2043430" y="3531235"/>
                <a:ext cx="1048385" cy="143510"/>
              </a:xfrm>
              <a:prstGeom prst="rect">
                <a:avLst/>
              </a:prstGeom>
              <a:blipFill rotWithShape="1">
                <a:blip r:embed="rId18"/>
                <a:stretch>
                  <a:fillRect b="-3097"/>
                </a:stretch>
              </a:blipFill>
            </p:spPr>
            <p:txBody>
              <a:bodyPr/>
              <a:lstStyle/>
              <a:p>
                <a:r>
                  <a:rPr lang="zh-CN" altLang="en-US">
                    <a:noFill/>
                  </a:rPr>
                  <a:t> </a:t>
                </a:r>
              </a:p>
            </p:txBody>
          </p:sp>
        </mc:Fallback>
      </mc:AlternateContent>
      <p:sp>
        <p:nvSpPr>
          <p:cNvPr id="71" name="文本框 7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45/68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descr="46.3"/>
          <p:cNvPicPr>
            <a:picLocks noChangeAspect="1"/>
          </p:cNvPicPr>
          <p:nvPr/>
        </p:nvPicPr>
        <p:blipFill>
          <a:blip r:embed="rId1"/>
          <a:stretch>
            <a:fillRect/>
          </a:stretch>
        </p:blipFill>
        <p:spPr>
          <a:xfrm>
            <a:off x="654050" y="3328035"/>
            <a:ext cx="6418580" cy="2555875"/>
          </a:xfrm>
          <a:prstGeom prst="rect">
            <a:avLst/>
          </a:prstGeom>
        </p:spPr>
      </p:pic>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3</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动力响应性能与疲劳寿命</a:t>
            </a:r>
            <a:r>
              <a:rPr lang="zh-CN" altLang="en-US" sz="3100" b="1">
                <a:solidFill>
                  <a:srgbClr val="305393"/>
                </a:solidFill>
              </a:rPr>
              <a:t>评估</a:t>
            </a:r>
            <a:endParaRPr lang="zh-CN" altLang="en-US" sz="3100" b="1">
              <a:solidFill>
                <a:srgbClr val="305393"/>
              </a:solidFill>
            </a:endParaRPr>
          </a:p>
        </p:txBody>
      </p:sp>
      <p:sp>
        <p:nvSpPr>
          <p:cNvPr id="10" name="矩形 9"/>
          <p:cNvSpPr/>
          <p:nvPr/>
        </p:nvSpPr>
        <p:spPr>
          <a:xfrm>
            <a:off x="879475" y="1228090"/>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203325" y="1095375"/>
            <a:ext cx="3144520" cy="445135"/>
          </a:xfrm>
          <a:prstGeom prst="rect">
            <a:avLst/>
          </a:prstGeom>
          <a:noFill/>
        </p:spPr>
        <p:txBody>
          <a:bodyPr wrap="square" rtlCol="0">
            <a:spAutoFit/>
          </a:bodyPr>
          <a:p>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非线性动力</a:t>
            </a:r>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响应分析</a:t>
            </a:r>
            <a:endParaRPr lang="zh-CN" altLang="en-US" sz="2300" b="1">
              <a:solidFill>
                <a:srgbClr val="023A8B"/>
              </a:solidFill>
              <a:latin typeface="微软雅黑" panose="020B0503020204020204" charset="-122"/>
              <a:ea typeface="微软雅黑" panose="020B0503020204020204" charset="-122"/>
              <a:cs typeface="微软雅黑" panose="020B0503020204020204" charset="-122"/>
            </a:endParaRPr>
          </a:p>
        </p:txBody>
      </p:sp>
      <p:sp>
        <p:nvSpPr>
          <p:cNvPr id="3" name="椭圆 2"/>
          <p:cNvSpPr/>
          <p:nvPr/>
        </p:nvSpPr>
        <p:spPr>
          <a:xfrm>
            <a:off x="654050" y="1644650"/>
            <a:ext cx="133350" cy="13335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nvSpPr>
        <p:spPr>
          <a:xfrm>
            <a:off x="654050" y="2407920"/>
            <a:ext cx="133350" cy="13335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椭圆 12"/>
          <p:cNvSpPr/>
          <p:nvPr/>
        </p:nvSpPr>
        <p:spPr>
          <a:xfrm>
            <a:off x="654050" y="2800350"/>
            <a:ext cx="133350" cy="133350"/>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850900" y="1407795"/>
            <a:ext cx="6330950" cy="922020"/>
          </a:xfrm>
          <a:prstGeom prst="rect">
            <a:avLst/>
          </a:prstGeom>
          <a:noFill/>
        </p:spPr>
        <p:txBody>
          <a:bodyPr wrap="square" rtlCol="0">
            <a:spAutoFit/>
          </a:bodyPr>
          <a:p>
            <a:pPr>
              <a:lnSpc>
                <a:spcPct val="150000"/>
              </a:lnSpc>
            </a:pPr>
            <a:r>
              <a:rPr lang="zh-CN" altLang="en-US" b="1"/>
              <a:t>每个塔段沿周向布设16个单元作为应力输出，合计576个应力提取位置，用于评估整塔的疲劳性能.</a:t>
            </a:r>
            <a:endParaRPr lang="zh-CN" altLang="en-US" b="1"/>
          </a:p>
        </p:txBody>
      </p:sp>
      <p:sp>
        <p:nvSpPr>
          <p:cNvPr id="15" name="文本框 14"/>
          <p:cNvSpPr txBox="1"/>
          <p:nvPr/>
        </p:nvSpPr>
        <p:spPr>
          <a:xfrm>
            <a:off x="850900" y="2290445"/>
            <a:ext cx="5035550" cy="368300"/>
          </a:xfrm>
          <a:prstGeom prst="rect">
            <a:avLst/>
          </a:prstGeom>
          <a:noFill/>
        </p:spPr>
        <p:txBody>
          <a:bodyPr wrap="square" rtlCol="0">
            <a:spAutoFit/>
          </a:bodyPr>
          <a:p>
            <a:r>
              <a:rPr lang="zh-CN" altLang="en-US" b="1"/>
              <a:t>提取方位与玫瑰图方向定义一致，0°为北方向。</a:t>
            </a:r>
            <a:endParaRPr lang="zh-CN" altLang="en-US" b="1"/>
          </a:p>
        </p:txBody>
      </p:sp>
      <p:sp>
        <p:nvSpPr>
          <p:cNvPr id="16" name="文本框 15"/>
          <p:cNvSpPr txBox="1"/>
          <p:nvPr/>
        </p:nvSpPr>
        <p:spPr>
          <a:xfrm>
            <a:off x="850900" y="2698750"/>
            <a:ext cx="6311265" cy="360680"/>
          </a:xfrm>
          <a:prstGeom prst="rect">
            <a:avLst/>
          </a:prstGeom>
          <a:noFill/>
        </p:spPr>
        <p:txBody>
          <a:bodyPr wrap="square" rtlCol="0">
            <a:spAutoFit/>
          </a:bodyPr>
          <a:p>
            <a:r>
              <a:rPr lang="zh-CN" altLang="en-US" sz="1750" b="1">
                <a:solidFill>
                  <a:srgbClr val="C00000"/>
                </a:solidFill>
              </a:rPr>
              <a:t>非线性显著增大应力峰值与幅值，需在疲劳评估中重点关注。</a:t>
            </a:r>
            <a:endParaRPr lang="zh-CN" altLang="en-US" sz="1750" b="1">
              <a:solidFill>
                <a:srgbClr val="C00000"/>
              </a:solidFill>
            </a:endParaRPr>
          </a:p>
        </p:txBody>
      </p:sp>
      <p:sp>
        <p:nvSpPr>
          <p:cNvPr id="17" name="圆角矩形 16"/>
          <p:cNvSpPr/>
          <p:nvPr/>
        </p:nvSpPr>
        <p:spPr>
          <a:xfrm>
            <a:off x="1093470" y="3118485"/>
            <a:ext cx="1854200" cy="297815"/>
          </a:xfrm>
          <a:prstGeom prst="roundRect">
            <a:avLst/>
          </a:prstGeom>
          <a:solidFill>
            <a:srgbClr val="1842A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典型应力时程</a:t>
            </a:r>
            <a:endParaRPr lang="zh-CN" altLang="en-US" sz="1600" b="1"/>
          </a:p>
        </p:txBody>
      </p:sp>
      <p:sp>
        <p:nvSpPr>
          <p:cNvPr id="18" name="圆角矩形 17"/>
          <p:cNvSpPr/>
          <p:nvPr/>
        </p:nvSpPr>
        <p:spPr>
          <a:xfrm>
            <a:off x="4293870" y="3118485"/>
            <a:ext cx="1854200" cy="297815"/>
          </a:xfrm>
          <a:prstGeom prst="roundRect">
            <a:avLst/>
          </a:prstGeom>
          <a:solidFill>
            <a:srgbClr val="1842A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典型</a:t>
            </a:r>
            <a:r>
              <a:rPr lang="zh-CN" altLang="en-US" sz="1600" b="1"/>
              <a:t>位移时程</a:t>
            </a:r>
            <a:endParaRPr lang="zh-CN" altLang="en-US" sz="1600" b="1"/>
          </a:p>
        </p:txBody>
      </p:sp>
      <p:sp>
        <p:nvSpPr>
          <p:cNvPr id="19" name="圆角矩形 18"/>
          <p:cNvSpPr/>
          <p:nvPr/>
        </p:nvSpPr>
        <p:spPr>
          <a:xfrm>
            <a:off x="4384040" y="4566285"/>
            <a:ext cx="1764030" cy="233680"/>
          </a:xfrm>
          <a:prstGeom prst="roundRect">
            <a:avLst/>
          </a:prstGeom>
          <a:solidFill>
            <a:srgbClr val="1842A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雨流</a:t>
            </a:r>
            <a:r>
              <a:rPr lang="zh-CN" altLang="en-US" sz="1600" b="1"/>
              <a:t>矩阵</a:t>
            </a:r>
            <a:endParaRPr lang="zh-CN" altLang="en-US" sz="1600" b="1"/>
          </a:p>
        </p:txBody>
      </p:sp>
      <p:cxnSp>
        <p:nvCxnSpPr>
          <p:cNvPr id="20" name="直接连接符 19"/>
          <p:cNvCxnSpPr/>
          <p:nvPr/>
        </p:nvCxnSpPr>
        <p:spPr>
          <a:xfrm flipH="1">
            <a:off x="7112000" y="1651000"/>
            <a:ext cx="6350" cy="4152900"/>
          </a:xfrm>
          <a:prstGeom prst="line">
            <a:avLst/>
          </a:prstGeom>
          <a:ln>
            <a:solidFill>
              <a:schemeClr val="bg2">
                <a:lumMod val="75000"/>
              </a:schemeClr>
            </a:solidFill>
          </a:ln>
        </p:spPr>
        <p:style>
          <a:lnRef idx="2">
            <a:schemeClr val="accent1"/>
          </a:lnRef>
          <a:fillRef idx="0">
            <a:srgbClr val="FFFFFF"/>
          </a:fillRef>
          <a:effectRef idx="0">
            <a:srgbClr val="FFFFFF"/>
          </a:effectRef>
          <a:fontRef idx="minor">
            <a:schemeClr val="tx1"/>
          </a:fontRef>
        </p:style>
      </p:cxnSp>
      <p:sp>
        <p:nvSpPr>
          <p:cNvPr id="21" name="圆角矩形 20"/>
          <p:cNvSpPr/>
          <p:nvPr/>
        </p:nvSpPr>
        <p:spPr>
          <a:xfrm>
            <a:off x="8644255" y="1289050"/>
            <a:ext cx="1917065" cy="297815"/>
          </a:xfrm>
          <a:prstGeom prst="roundRect">
            <a:avLst/>
          </a:prstGeom>
          <a:solidFill>
            <a:srgbClr val="1842A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t>应力提取位置</a:t>
            </a:r>
            <a:r>
              <a:rPr lang="zh-CN" altLang="en-US" sz="1600" b="1"/>
              <a:t>示意</a:t>
            </a:r>
            <a:endParaRPr lang="zh-CN" altLang="en-US" sz="1600" b="1"/>
          </a:p>
        </p:txBody>
      </p:sp>
      <p:sp>
        <p:nvSpPr>
          <p:cNvPr id="22" name="圆角矩形 21"/>
          <p:cNvSpPr/>
          <p:nvPr/>
        </p:nvSpPr>
        <p:spPr>
          <a:xfrm>
            <a:off x="786765" y="5949950"/>
            <a:ext cx="10605135" cy="463550"/>
          </a:xfrm>
          <a:prstGeom prst="roundRect">
            <a:avLst/>
          </a:prstGeom>
          <a:ln>
            <a:solidFill>
              <a:srgbClr val="619EAD"/>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nvSpPr>
        <p:spPr>
          <a:xfrm>
            <a:off x="958850" y="6009005"/>
            <a:ext cx="10584815" cy="344805"/>
          </a:xfrm>
          <a:prstGeom prst="rect">
            <a:avLst/>
          </a:prstGeom>
          <a:noFill/>
        </p:spPr>
        <p:txBody>
          <a:bodyPr wrap="square" rtlCol="0">
            <a:spAutoFit/>
          </a:bodyPr>
          <a:p>
            <a:r>
              <a:rPr lang="zh-CN" altLang="en-US" sz="1650" b="1">
                <a:solidFill>
                  <a:srgbClr val="023A8B"/>
                </a:solidFill>
              </a:rPr>
              <a:t>相较于线性分析，非线性效应</a:t>
            </a:r>
            <a:r>
              <a:rPr lang="zh-CN" altLang="en-US" sz="1650" b="1">
                <a:solidFill>
                  <a:srgbClr val="C00000"/>
                </a:solidFill>
              </a:rPr>
              <a:t>显著增大应力的幅值与均值</a:t>
            </a:r>
            <a:r>
              <a:rPr lang="zh-CN" altLang="en-US" sz="1650" b="1">
                <a:solidFill>
                  <a:srgbClr val="023A8B"/>
                </a:solidFill>
              </a:rPr>
              <a:t>，导致更多高幅值循环出现，进而加速疲劳损伤积累。</a:t>
            </a:r>
            <a:endParaRPr lang="en-US" altLang="zh-CN" sz="1650" b="1">
              <a:solidFill>
                <a:srgbClr val="023A8B"/>
              </a:solidFill>
            </a:endParaRPr>
          </a:p>
        </p:txBody>
      </p:sp>
      <p:pic>
        <p:nvPicPr>
          <p:cNvPr id="25" name="图片 24" descr="46.4"/>
          <p:cNvPicPr>
            <a:picLocks noChangeAspect="1"/>
          </p:cNvPicPr>
          <p:nvPr/>
        </p:nvPicPr>
        <p:blipFill>
          <a:blip r:embed="rId2"/>
          <a:stretch>
            <a:fillRect/>
          </a:stretch>
        </p:blipFill>
        <p:spPr>
          <a:xfrm>
            <a:off x="7225665" y="1651000"/>
            <a:ext cx="4335145" cy="4174490"/>
          </a:xfrm>
          <a:prstGeom prst="rect">
            <a:avLst/>
          </a:prstGeom>
        </p:spPr>
      </p:pic>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46/68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3</a:t>
            </a:r>
            <a:endParaRPr lang="en-US" altLang="zh-CN" sz="2800" b="1">
              <a:latin typeface="微软雅黑" panose="020B0503020204020204" charset="-122"/>
              <a:ea typeface="微软雅黑" panose="020B0503020204020204" charset="-122"/>
            </a:endParaRPr>
          </a:p>
        </p:txBody>
      </p:sp>
      <p:sp>
        <p:nvSpPr>
          <p:cNvPr id="6" name="椭圆 5"/>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7" name="直接连接符 6"/>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动力响应性能与疲劳寿命</a:t>
            </a:r>
            <a:r>
              <a:rPr lang="zh-CN" altLang="en-US" sz="3100" b="1">
                <a:solidFill>
                  <a:srgbClr val="305393"/>
                </a:solidFill>
              </a:rPr>
              <a:t>评估</a:t>
            </a:r>
            <a:endParaRPr lang="zh-CN" altLang="en-US" sz="3100" b="1">
              <a:solidFill>
                <a:srgbClr val="305393"/>
              </a:solidFill>
            </a:endParaRPr>
          </a:p>
        </p:txBody>
      </p:sp>
      <p:sp>
        <p:nvSpPr>
          <p:cNvPr id="10" name="矩形 9"/>
          <p:cNvSpPr/>
          <p:nvPr/>
        </p:nvSpPr>
        <p:spPr>
          <a:xfrm>
            <a:off x="854075" y="1240790"/>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193800" y="1108075"/>
            <a:ext cx="4515485" cy="445135"/>
          </a:xfrm>
          <a:prstGeom prst="rect">
            <a:avLst/>
          </a:prstGeom>
          <a:noFill/>
        </p:spPr>
        <p:txBody>
          <a:bodyPr wrap="square" rtlCol="0">
            <a:spAutoFit/>
          </a:bodyPr>
          <a:p>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疲劳寿命影响分析：非线性</a:t>
            </a:r>
            <a:r>
              <a:rPr lang="zh-CN" altLang="en-US" sz="2300" b="1">
                <a:solidFill>
                  <a:srgbClr val="023A8B"/>
                </a:solidFill>
                <a:latin typeface="微软雅黑" panose="020B0503020204020204" charset="-122"/>
                <a:ea typeface="微软雅黑" panose="020B0503020204020204" charset="-122"/>
                <a:cs typeface="微软雅黑" panose="020B0503020204020204" charset="-122"/>
              </a:rPr>
              <a:t>影响</a:t>
            </a:r>
            <a:endParaRPr lang="zh-CN" altLang="en-US" sz="2300" b="1">
              <a:solidFill>
                <a:srgbClr val="023A8B"/>
              </a:solidFill>
              <a:latin typeface="微软雅黑" panose="020B0503020204020204" charset="-122"/>
              <a:ea typeface="微软雅黑" panose="020B0503020204020204" charset="-122"/>
              <a:cs typeface="微软雅黑" panose="020B0503020204020204" charset="-122"/>
            </a:endParaRPr>
          </a:p>
        </p:txBody>
      </p:sp>
      <p:sp>
        <p:nvSpPr>
          <p:cNvPr id="12" name="矩形 11"/>
          <p:cNvSpPr/>
          <p:nvPr/>
        </p:nvSpPr>
        <p:spPr>
          <a:xfrm>
            <a:off x="748665" y="1713230"/>
            <a:ext cx="4617085" cy="4038600"/>
          </a:xfrm>
          <a:prstGeom prst="rect">
            <a:avLst/>
          </a:prstGeom>
          <a:ln w="19050">
            <a:solidFill>
              <a:schemeClr val="tx1"/>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6438900" y="5662930"/>
            <a:ext cx="1460500" cy="275590"/>
          </a:xfrm>
          <a:prstGeom prst="rect">
            <a:avLst/>
          </a:prstGeom>
          <a:noFill/>
        </p:spPr>
        <p:txBody>
          <a:bodyPr wrap="square" rtlCol="0">
            <a:spAutoFit/>
          </a:bodyPr>
          <a:p>
            <a:r>
              <a:rPr lang="en-US" altLang="zh-CN" sz="1200"/>
              <a:t>a</a:t>
            </a:r>
            <a:r>
              <a:rPr lang="zh-CN" altLang="en-US" sz="1200"/>
              <a:t>）线性模型</a:t>
            </a:r>
            <a:endParaRPr lang="zh-CN" altLang="en-US" sz="1200"/>
          </a:p>
        </p:txBody>
      </p:sp>
      <p:sp>
        <p:nvSpPr>
          <p:cNvPr id="14" name="文本框 13"/>
          <p:cNvSpPr txBox="1"/>
          <p:nvPr/>
        </p:nvSpPr>
        <p:spPr>
          <a:xfrm>
            <a:off x="9398000" y="5662930"/>
            <a:ext cx="1460500" cy="275590"/>
          </a:xfrm>
          <a:prstGeom prst="rect">
            <a:avLst/>
          </a:prstGeom>
          <a:noFill/>
        </p:spPr>
        <p:txBody>
          <a:bodyPr wrap="square" rtlCol="0">
            <a:spAutoFit/>
          </a:bodyPr>
          <a:p>
            <a:r>
              <a:rPr lang="en-US" altLang="zh-CN" sz="1200"/>
              <a:t>b</a:t>
            </a:r>
            <a:r>
              <a:rPr lang="zh-CN" altLang="en-US" sz="1200"/>
              <a:t>）</a:t>
            </a:r>
            <a:r>
              <a:rPr lang="zh-CN" altLang="en-US" sz="1200"/>
              <a:t>非线性模型</a:t>
            </a:r>
            <a:endParaRPr lang="zh-CN" altLang="en-US" sz="1200"/>
          </a:p>
        </p:txBody>
      </p:sp>
      <p:sp>
        <p:nvSpPr>
          <p:cNvPr id="15" name="文本框 14"/>
          <p:cNvSpPr txBox="1"/>
          <p:nvPr/>
        </p:nvSpPr>
        <p:spPr>
          <a:xfrm>
            <a:off x="8197850" y="5982970"/>
            <a:ext cx="1879600" cy="275590"/>
          </a:xfrm>
          <a:prstGeom prst="rect">
            <a:avLst/>
          </a:prstGeom>
          <a:noFill/>
        </p:spPr>
        <p:txBody>
          <a:bodyPr wrap="square" rtlCol="0">
            <a:spAutoFit/>
          </a:bodyPr>
          <a:p>
            <a:r>
              <a:rPr lang="zh-CN" altLang="en-US" sz="1200"/>
              <a:t>预期疲劳寿命对比</a:t>
            </a:r>
            <a:endParaRPr lang="zh-CN" altLang="en-US" sz="1200"/>
          </a:p>
        </p:txBody>
      </p:sp>
      <p:sp>
        <p:nvSpPr>
          <p:cNvPr id="16" name="椭圆 15"/>
          <p:cNvSpPr/>
          <p:nvPr/>
        </p:nvSpPr>
        <p:spPr>
          <a:xfrm>
            <a:off x="854075" y="1897380"/>
            <a:ext cx="120650" cy="107950"/>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854075" y="3046730"/>
            <a:ext cx="120650" cy="107950"/>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854075" y="4196080"/>
            <a:ext cx="120650" cy="107950"/>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椭圆 18"/>
          <p:cNvSpPr/>
          <p:nvPr/>
        </p:nvSpPr>
        <p:spPr>
          <a:xfrm>
            <a:off x="854075" y="5027930"/>
            <a:ext cx="120650" cy="107950"/>
          </a:xfrm>
          <a:prstGeom prst="ellipse">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974725" y="1640840"/>
            <a:ext cx="4329430" cy="1285875"/>
          </a:xfrm>
          <a:prstGeom prst="rect">
            <a:avLst/>
          </a:prstGeom>
          <a:noFill/>
        </p:spPr>
        <p:txBody>
          <a:bodyPr wrap="square" rtlCol="0">
            <a:spAutoFit/>
          </a:bodyPr>
          <a:p>
            <a:pPr>
              <a:lnSpc>
                <a:spcPct val="140000"/>
              </a:lnSpc>
              <a:spcBef>
                <a:spcPts val="0"/>
              </a:spcBef>
              <a:spcAft>
                <a:spcPts val="0"/>
              </a:spcAft>
            </a:pPr>
            <a:r>
              <a:rPr lang="zh-CN" altLang="en-US" sz="1850" b="1">
                <a:solidFill>
                  <a:srgbClr val="C00000"/>
                </a:solidFill>
              </a:rPr>
              <a:t>空间分布差异</a:t>
            </a:r>
            <a:r>
              <a:rPr lang="zh-CN" altLang="en-US" sz="1850" b="1"/>
              <a:t>：线性模型损伤主要集中</a:t>
            </a:r>
            <a:endParaRPr lang="zh-CN" altLang="en-US" sz="1850" b="1"/>
          </a:p>
          <a:p>
            <a:pPr>
              <a:lnSpc>
                <a:spcPct val="140000"/>
              </a:lnSpc>
              <a:spcBef>
                <a:spcPts val="0"/>
              </a:spcBef>
              <a:spcAft>
                <a:spcPts val="0"/>
              </a:spcAft>
            </a:pPr>
            <a:r>
              <a:rPr lang="zh-CN" altLang="en-US" sz="1850" b="1"/>
              <a:t>在第26节段；非线性模型在二阶弯矩作</a:t>
            </a:r>
            <a:endParaRPr lang="zh-CN" altLang="en-US" sz="1850" b="1"/>
          </a:p>
          <a:p>
            <a:pPr>
              <a:lnSpc>
                <a:spcPct val="140000"/>
              </a:lnSpc>
              <a:spcBef>
                <a:spcPts val="0"/>
              </a:spcBef>
              <a:spcAft>
                <a:spcPts val="0"/>
              </a:spcAft>
            </a:pPr>
            <a:r>
              <a:rPr lang="zh-CN" altLang="en-US" sz="1850" b="1"/>
              <a:t>用下，高损伤区向下扩展至第16节段。</a:t>
            </a:r>
            <a:endParaRPr lang="en-US" altLang="zh-CN" sz="1850" b="1"/>
          </a:p>
        </p:txBody>
      </p:sp>
      <p:sp>
        <p:nvSpPr>
          <p:cNvPr id="21" name="文本框 20"/>
          <p:cNvSpPr txBox="1"/>
          <p:nvPr/>
        </p:nvSpPr>
        <p:spPr>
          <a:xfrm>
            <a:off x="1038860" y="2830830"/>
            <a:ext cx="4235450" cy="1285875"/>
          </a:xfrm>
          <a:prstGeom prst="rect">
            <a:avLst/>
          </a:prstGeom>
          <a:noFill/>
        </p:spPr>
        <p:txBody>
          <a:bodyPr wrap="square" rtlCol="0">
            <a:spAutoFit/>
          </a:bodyPr>
          <a:p>
            <a:pPr>
              <a:lnSpc>
                <a:spcPct val="140000"/>
              </a:lnSpc>
              <a:spcBef>
                <a:spcPts val="0"/>
              </a:spcBef>
              <a:spcAft>
                <a:spcPts val="0"/>
              </a:spcAft>
            </a:pPr>
            <a:r>
              <a:rPr lang="zh-CN" altLang="en-US" sz="1850" b="1">
                <a:solidFill>
                  <a:srgbClr val="C00000"/>
                </a:solidFill>
              </a:rPr>
              <a:t>寿命对比：</a:t>
            </a:r>
            <a:r>
              <a:rPr lang="zh-CN" altLang="en-US" sz="1850" b="1"/>
              <a:t>非线性模型最小疲劳寿命</a:t>
            </a:r>
            <a:endParaRPr lang="zh-CN" altLang="en-US" sz="1850" b="1"/>
          </a:p>
          <a:p>
            <a:pPr>
              <a:lnSpc>
                <a:spcPct val="140000"/>
              </a:lnSpc>
              <a:spcBef>
                <a:spcPts val="0"/>
              </a:spcBef>
              <a:spcAft>
                <a:spcPts val="0"/>
              </a:spcAft>
            </a:pPr>
            <a:r>
              <a:rPr lang="zh-CN" altLang="en-US" sz="1850" b="1">
                <a:cs typeface="+mn-lt"/>
              </a:rPr>
              <a:t>32.0</a:t>
            </a:r>
            <a:r>
              <a:rPr lang="zh-CN" altLang="en-US" sz="1850" b="1"/>
              <a:t>年，显著短于线性模型的</a:t>
            </a:r>
            <a:r>
              <a:rPr lang="zh-CN" altLang="en-US" sz="1850" b="1">
                <a:latin typeface="Times New Roman" panose="02020603050405020304" charset="0"/>
                <a:cs typeface="Times New Roman" panose="02020603050405020304" charset="0"/>
              </a:rPr>
              <a:t>63.0</a:t>
            </a:r>
            <a:r>
              <a:rPr lang="zh-CN" altLang="en-US" sz="1850" b="1"/>
              <a:t>年</a:t>
            </a:r>
            <a:endParaRPr lang="zh-CN" altLang="en-US" sz="1850" b="1"/>
          </a:p>
          <a:p>
            <a:pPr>
              <a:lnSpc>
                <a:spcPct val="140000"/>
              </a:lnSpc>
              <a:spcBef>
                <a:spcPts val="0"/>
              </a:spcBef>
              <a:spcAft>
                <a:spcPts val="0"/>
              </a:spcAft>
            </a:pPr>
            <a:r>
              <a:rPr lang="zh-CN" altLang="en-US" sz="1850" b="1"/>
              <a:t>→非线性效应放大应力循环。</a:t>
            </a:r>
            <a:endParaRPr lang="zh-CN" altLang="en-US" sz="1850" b="1"/>
          </a:p>
        </p:txBody>
      </p:sp>
      <p:sp>
        <p:nvSpPr>
          <p:cNvPr id="22" name="文本框 21"/>
          <p:cNvSpPr txBox="1"/>
          <p:nvPr/>
        </p:nvSpPr>
        <p:spPr>
          <a:xfrm>
            <a:off x="974725" y="4011930"/>
            <a:ext cx="4070350" cy="865505"/>
          </a:xfrm>
          <a:prstGeom prst="rect">
            <a:avLst/>
          </a:prstGeom>
          <a:noFill/>
        </p:spPr>
        <p:txBody>
          <a:bodyPr wrap="square" rtlCol="0">
            <a:spAutoFit/>
          </a:bodyPr>
          <a:p>
            <a:pPr>
              <a:lnSpc>
                <a:spcPct val="140000"/>
              </a:lnSpc>
              <a:spcBef>
                <a:spcPts val="0"/>
              </a:spcBef>
              <a:spcAft>
                <a:spcPts val="0"/>
              </a:spcAft>
            </a:pPr>
            <a:r>
              <a:rPr lang="zh-CN" altLang="en-US" b="1">
                <a:solidFill>
                  <a:srgbClr val="C00000"/>
                </a:solidFill>
                <a:latin typeface="+mn-ea"/>
              </a:rPr>
              <a:t>临界部位：</a:t>
            </a:r>
            <a:r>
              <a:rPr lang="zh-CN" altLang="en-US" b="1">
                <a:latin typeface="+mn-ea"/>
              </a:rPr>
              <a:t>疲劳临界区位于背风侧，与</a:t>
            </a:r>
            <a:endParaRPr lang="zh-CN" altLang="en-US" b="1">
              <a:latin typeface="+mn-ea"/>
            </a:endParaRPr>
          </a:p>
          <a:p>
            <a:pPr>
              <a:lnSpc>
                <a:spcPct val="140000"/>
              </a:lnSpc>
              <a:spcBef>
                <a:spcPts val="0"/>
              </a:spcBef>
              <a:spcAft>
                <a:spcPts val="0"/>
              </a:spcAft>
            </a:pPr>
            <a:r>
              <a:rPr lang="zh-CN" altLang="en-US" b="1">
                <a:latin typeface="+mn-ea"/>
              </a:rPr>
              <a:t>主导风向一致</a:t>
            </a:r>
            <a:r>
              <a:rPr lang="zh-CN" altLang="en-US">
                <a:latin typeface="+mn-ea"/>
              </a:rPr>
              <a:t>。</a:t>
            </a:r>
            <a:endParaRPr lang="zh-CN" altLang="en-US">
              <a:latin typeface="+mn-ea"/>
            </a:endParaRPr>
          </a:p>
        </p:txBody>
      </p:sp>
      <p:sp>
        <p:nvSpPr>
          <p:cNvPr id="23" name="文本框 22"/>
          <p:cNvSpPr txBox="1"/>
          <p:nvPr/>
        </p:nvSpPr>
        <p:spPr>
          <a:xfrm>
            <a:off x="974725" y="4780915"/>
            <a:ext cx="4146550" cy="865505"/>
          </a:xfrm>
          <a:prstGeom prst="rect">
            <a:avLst/>
          </a:prstGeom>
          <a:noFill/>
        </p:spPr>
        <p:txBody>
          <a:bodyPr wrap="square" rtlCol="0">
            <a:spAutoFit/>
          </a:bodyPr>
          <a:p>
            <a:pPr>
              <a:lnSpc>
                <a:spcPct val="140000"/>
              </a:lnSpc>
              <a:spcBef>
                <a:spcPts val="0"/>
              </a:spcBef>
              <a:spcAft>
                <a:spcPts val="0"/>
              </a:spcAft>
            </a:pPr>
            <a:r>
              <a:rPr lang="zh-CN" altLang="en-US" b="1">
                <a:solidFill>
                  <a:srgbClr val="C00000"/>
                </a:solidFill>
              </a:rPr>
              <a:t>几何与材料非线性不可忽略，</a:t>
            </a:r>
            <a:r>
              <a:rPr lang="zh-CN" altLang="en-US" b="1"/>
              <a:t>非线性疲</a:t>
            </a:r>
            <a:endParaRPr lang="zh-CN" altLang="en-US" b="1"/>
          </a:p>
          <a:p>
            <a:pPr>
              <a:lnSpc>
                <a:spcPct val="140000"/>
              </a:lnSpc>
              <a:spcBef>
                <a:spcPts val="0"/>
              </a:spcBef>
              <a:spcAft>
                <a:spcPts val="0"/>
              </a:spcAft>
            </a:pPr>
            <a:r>
              <a:rPr lang="zh-CN" altLang="en-US" b="1"/>
              <a:t>劳评估是必要的。</a:t>
            </a:r>
            <a:endParaRPr lang="zh-CN" altLang="en-US" b="1"/>
          </a:p>
        </p:txBody>
      </p:sp>
      <p:pic>
        <p:nvPicPr>
          <p:cNvPr id="25" name="图片 24" descr="47.2"/>
          <p:cNvPicPr>
            <a:picLocks noChangeAspect="1"/>
          </p:cNvPicPr>
          <p:nvPr/>
        </p:nvPicPr>
        <p:blipFill>
          <a:blip r:embed="rId1"/>
          <a:stretch>
            <a:fillRect/>
          </a:stretch>
        </p:blipFill>
        <p:spPr>
          <a:xfrm>
            <a:off x="5397500" y="1666240"/>
            <a:ext cx="6464935" cy="4022725"/>
          </a:xfrm>
          <a:prstGeom prst="rect">
            <a:avLst/>
          </a:prstGeom>
        </p:spPr>
      </p:pic>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47/68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descr="image.png"/>
          <p:cNvPicPr>
            <a:picLocks noChangeAspect="1"/>
          </p:cNvPicPr>
          <p:nvPr/>
        </p:nvPicPr>
        <p:blipFill>
          <a:blip r:embed="rId1"/>
          <a:stretch>
            <a:fillRect/>
          </a:stretch>
        </p:blipFill>
        <p:spPr>
          <a:xfrm>
            <a:off x="255338" y="1597819"/>
            <a:ext cx="5012698" cy="2093115"/>
          </a:xfrm>
          <a:prstGeom prst="rect">
            <a:avLst/>
          </a:prstGeom>
        </p:spPr>
      </p:pic>
      <p:pic>
        <p:nvPicPr>
          <p:cNvPr id="6" name="Picture 4" descr="image.png"/>
          <p:cNvPicPr>
            <a:picLocks noChangeAspect="1"/>
          </p:cNvPicPr>
          <p:nvPr/>
        </p:nvPicPr>
        <p:blipFill>
          <a:blip r:embed="rId2"/>
          <a:stretch>
            <a:fillRect/>
          </a:stretch>
        </p:blipFill>
        <p:spPr>
          <a:xfrm>
            <a:off x="255337" y="4032765"/>
            <a:ext cx="5034249" cy="2194933"/>
          </a:xfrm>
          <a:prstGeom prst="rect">
            <a:avLst/>
          </a:prstGeom>
        </p:spPr>
      </p:pic>
      <p:sp>
        <p:nvSpPr>
          <p:cNvPr id="13" name="TextBox 12"/>
          <p:cNvSpPr txBox="1"/>
          <p:nvPr/>
        </p:nvSpPr>
        <p:spPr>
          <a:xfrm>
            <a:off x="857249" y="1728434"/>
            <a:ext cx="4263085" cy="469103"/>
          </a:xfrm>
          <a:prstGeom prst="rect">
            <a:avLst/>
          </a:prstGeom>
          <a:noFill/>
        </p:spPr>
        <p:txBody>
          <a:bodyPr wrap="square" lIns="0" tIns="0" rIns="0" bIns="0" anchor="t">
            <a:spAutoFit/>
          </a:bodyPr>
          <a:p>
            <a:pPr algn="l">
              <a:lnSpc>
                <a:spcPts val="1860"/>
              </a:lnSpc>
            </a:pPr>
            <a:r>
              <a:rPr sz="1400" b="1" i="0" u="none" dirty="0">
                <a:solidFill>
                  <a:srgbClr val="0F172A"/>
                </a:solidFill>
                <a:latin typeface="微软雅黑" panose="020B0503020204020204" charset="-122"/>
                <a:ea typeface="微软雅黑" panose="020B0503020204020204" charset="-122"/>
              </a:rPr>
              <a:t>空间分布一致：</a:t>
            </a:r>
            <a:r>
              <a:rPr sz="1400" b="0" i="0" u="none" dirty="0">
                <a:solidFill>
                  <a:srgbClr val="0F172A"/>
                </a:solidFill>
                <a:latin typeface="微软雅黑" panose="020B0503020204020204" charset="-122"/>
                <a:ea typeface="微软雅黑" panose="020B0503020204020204" charset="-122"/>
              </a:rPr>
              <a:t>两法均识别到</a:t>
            </a:r>
            <a:r>
              <a:rPr sz="1400" b="1" i="0" u="none" dirty="0">
                <a:solidFill>
                  <a:srgbClr val="0F172A"/>
                </a:solidFill>
                <a:latin typeface="微软雅黑" panose="020B0503020204020204" charset="-122"/>
                <a:ea typeface="微软雅黑" panose="020B0503020204020204" charset="-122"/>
              </a:rPr>
              <a:t>第16节点 /22.5°</a:t>
            </a:r>
            <a:r>
              <a:rPr sz="1400" b="0" i="0" u="none" dirty="0">
                <a:solidFill>
                  <a:srgbClr val="0F172A"/>
                </a:solidFill>
                <a:latin typeface="微软雅黑" panose="020B0503020204020204" charset="-122"/>
                <a:ea typeface="微软雅黑" panose="020B0503020204020204" charset="-122"/>
              </a:rPr>
              <a:t>为疲劳临界区。</a:t>
            </a:r>
            <a:endParaRPr sz="1400" b="0" i="0" u="none" dirty="0">
              <a:solidFill>
                <a:srgbClr val="0F172A"/>
              </a:solidFill>
              <a:latin typeface="微软雅黑" panose="020B0503020204020204" charset="-122"/>
              <a:ea typeface="微软雅黑" panose="020B0503020204020204" charset="-122"/>
            </a:endParaRPr>
          </a:p>
        </p:txBody>
      </p:sp>
      <p:sp>
        <p:nvSpPr>
          <p:cNvPr id="14" name="TextBox 13"/>
          <p:cNvSpPr txBox="1"/>
          <p:nvPr/>
        </p:nvSpPr>
        <p:spPr>
          <a:xfrm>
            <a:off x="857250" y="2312286"/>
            <a:ext cx="4152900" cy="708570"/>
          </a:xfrm>
          <a:prstGeom prst="rect">
            <a:avLst/>
          </a:prstGeom>
          <a:noFill/>
        </p:spPr>
        <p:txBody>
          <a:bodyPr wrap="square" lIns="0" tIns="0" rIns="0" bIns="0" anchor="t">
            <a:spAutoFit/>
          </a:bodyPr>
          <a:p>
            <a:pPr algn="l">
              <a:lnSpc>
                <a:spcPts val="1860"/>
              </a:lnSpc>
            </a:pPr>
            <a:r>
              <a:rPr sz="1400" b="1" i="0" u="none" dirty="0" err="1">
                <a:solidFill>
                  <a:srgbClr val="B91C1C"/>
                </a:solidFill>
                <a:latin typeface="微软雅黑" panose="020B0503020204020204" charset="-122"/>
                <a:ea typeface="微软雅黑" panose="020B0503020204020204" charset="-122"/>
              </a:rPr>
              <a:t>寿命对比：</a:t>
            </a:r>
            <a:r>
              <a:rPr sz="1400" b="0" i="0" u="none" dirty="0" err="1">
                <a:solidFill>
                  <a:srgbClr val="0F172A"/>
                </a:solidFill>
                <a:latin typeface="微软雅黑" panose="020B0503020204020204" charset="-122"/>
                <a:ea typeface="微软雅黑" panose="020B0503020204020204" charset="-122"/>
              </a:rPr>
              <a:t>观测数据</a:t>
            </a:r>
            <a:r>
              <a:rPr sz="1400" b="0" i="0" u="none" dirty="0">
                <a:solidFill>
                  <a:srgbClr val="0F172A"/>
                </a:solidFill>
                <a:latin typeface="微软雅黑" panose="020B0503020204020204" charset="-122"/>
                <a:ea typeface="微软雅黑" panose="020B0503020204020204" charset="-122"/>
              </a:rPr>
              <a:t>——</a:t>
            </a:r>
            <a:r>
              <a:rPr sz="1400" b="1" i="0" u="none" dirty="0">
                <a:solidFill>
                  <a:srgbClr val="0F172A"/>
                </a:solidFill>
                <a:latin typeface="微软雅黑" panose="020B0503020204020204" charset="-122"/>
                <a:ea typeface="微软雅黑" panose="020B0503020204020204" charset="-122"/>
              </a:rPr>
              <a:t>32.0年（基准值）</a:t>
            </a:r>
            <a:r>
              <a:rPr sz="1400" b="0" i="0" u="none" dirty="0">
                <a:solidFill>
                  <a:srgbClr val="0F172A"/>
                </a:solidFill>
                <a:latin typeface="微软雅黑" panose="020B0503020204020204" charset="-122"/>
                <a:ea typeface="微软雅黑" panose="020B0503020204020204" charset="-122"/>
              </a:rPr>
              <a:t>；</a:t>
            </a:r>
            <a:r>
              <a:rPr sz="1400" b="0" i="0" u="none" dirty="0" err="1">
                <a:solidFill>
                  <a:srgbClr val="0F172A"/>
                </a:solidFill>
                <a:latin typeface="微软雅黑" panose="020B0503020204020204" charset="-122"/>
                <a:ea typeface="微软雅黑" panose="020B0503020204020204" charset="-122"/>
              </a:rPr>
              <a:t>传统</a:t>
            </a:r>
            <a:r>
              <a:rPr sz="1400" b="0" i="0" u="none" dirty="0">
                <a:solidFill>
                  <a:srgbClr val="0F172A"/>
                </a:solidFill>
                <a:latin typeface="微软雅黑" panose="020B0503020204020204" charset="-122"/>
                <a:ea typeface="微软雅黑" panose="020B0503020204020204" charset="-122"/>
              </a:rPr>
              <a:t> KDE </a:t>
            </a:r>
            <a:r>
              <a:rPr sz="1400" b="0" i="0" u="none" dirty="0" err="1">
                <a:solidFill>
                  <a:srgbClr val="0F172A"/>
                </a:solidFill>
                <a:latin typeface="微软雅黑" panose="020B0503020204020204" charset="-122"/>
                <a:ea typeface="微软雅黑" panose="020B0503020204020204" charset="-122"/>
              </a:rPr>
              <a:t>方法</a:t>
            </a:r>
            <a:r>
              <a:rPr sz="1400" b="0" i="0" u="none" dirty="0">
                <a:solidFill>
                  <a:srgbClr val="0F172A"/>
                </a:solidFill>
                <a:latin typeface="微软雅黑" panose="020B0503020204020204" charset="-122"/>
                <a:ea typeface="微软雅黑" panose="020B0503020204020204" charset="-122"/>
              </a:rPr>
              <a:t>——</a:t>
            </a:r>
            <a:r>
              <a:rPr sz="1400" b="1" i="0" u="none" dirty="0">
                <a:solidFill>
                  <a:srgbClr val="0F172A"/>
                </a:solidFill>
                <a:latin typeface="微软雅黑" panose="020B0503020204020204" charset="-122"/>
                <a:ea typeface="微软雅黑" panose="020B0503020204020204" charset="-122"/>
              </a:rPr>
              <a:t>38.3 年（+19.7%）</a:t>
            </a:r>
            <a:r>
              <a:rPr sz="1400" b="0" i="0" u="none" dirty="0">
                <a:solidFill>
                  <a:srgbClr val="0F172A"/>
                </a:solidFill>
                <a:latin typeface="微软雅黑" panose="020B0503020204020204" charset="-122"/>
                <a:ea typeface="微软雅黑" panose="020B0503020204020204" charset="-122"/>
              </a:rPr>
              <a:t>；</a:t>
            </a:r>
            <a:r>
              <a:rPr sz="1400" b="0" i="0" u="none" dirty="0" err="1">
                <a:solidFill>
                  <a:srgbClr val="0F172A"/>
                </a:solidFill>
                <a:latin typeface="微软雅黑" panose="020B0503020204020204" charset="-122"/>
                <a:ea typeface="微软雅黑" panose="020B0503020204020204" charset="-122"/>
              </a:rPr>
              <a:t>所提改进KDE方法</a:t>
            </a:r>
            <a:r>
              <a:rPr sz="1400" b="0" i="0" u="none" dirty="0">
                <a:solidFill>
                  <a:srgbClr val="0F172A"/>
                </a:solidFill>
                <a:latin typeface="微软雅黑" panose="020B0503020204020204" charset="-122"/>
                <a:ea typeface="微软雅黑" panose="020B0503020204020204" charset="-122"/>
              </a:rPr>
              <a:t>——</a:t>
            </a:r>
            <a:r>
              <a:rPr sz="1400" b="1" i="0" u="none" dirty="0">
                <a:solidFill>
                  <a:srgbClr val="0F172A"/>
                </a:solidFill>
                <a:latin typeface="微软雅黑" panose="020B0503020204020204" charset="-122"/>
                <a:ea typeface="微软雅黑" panose="020B0503020204020204" charset="-122"/>
              </a:rPr>
              <a:t>33.4年（+4.4%）</a:t>
            </a:r>
            <a:r>
              <a:rPr sz="1400" b="0" i="0" u="none" dirty="0">
                <a:solidFill>
                  <a:srgbClr val="0F172A"/>
                </a:solidFill>
                <a:latin typeface="微软雅黑" panose="020B0503020204020204" charset="-122"/>
                <a:ea typeface="微软雅黑" panose="020B0503020204020204" charset="-122"/>
              </a:rPr>
              <a:t>。</a:t>
            </a:r>
            <a:endParaRPr sz="1400" b="0" i="0" u="none" dirty="0">
              <a:solidFill>
                <a:srgbClr val="0F172A"/>
              </a:solidFill>
              <a:latin typeface="微软雅黑" panose="020B0503020204020204" charset="-122"/>
              <a:ea typeface="微软雅黑" panose="020B0503020204020204" charset="-122"/>
            </a:endParaRPr>
          </a:p>
        </p:txBody>
      </p:sp>
      <p:sp>
        <p:nvSpPr>
          <p:cNvPr id="15" name="TextBox 14"/>
          <p:cNvSpPr txBox="1"/>
          <p:nvPr/>
        </p:nvSpPr>
        <p:spPr>
          <a:xfrm>
            <a:off x="857250" y="3120162"/>
            <a:ext cx="4358878" cy="469103"/>
          </a:xfrm>
          <a:prstGeom prst="rect">
            <a:avLst/>
          </a:prstGeom>
          <a:noFill/>
        </p:spPr>
        <p:txBody>
          <a:bodyPr wrap="square" lIns="0" tIns="0" rIns="0" bIns="0" anchor="t">
            <a:spAutoFit/>
          </a:bodyPr>
          <a:p>
            <a:pPr algn="l">
              <a:lnSpc>
                <a:spcPts val="1860"/>
              </a:lnSpc>
            </a:pPr>
            <a:r>
              <a:rPr sz="1400" b="1" i="0" u="none" dirty="0" err="1">
                <a:solidFill>
                  <a:srgbClr val="B91C1C"/>
                </a:solidFill>
                <a:latin typeface="微软雅黑" panose="020B0503020204020204" charset="-122"/>
                <a:ea typeface="微软雅黑" panose="020B0503020204020204" charset="-122"/>
              </a:rPr>
              <a:t>改进KDE方法经与传统KDE方法对比，能更好地重构风速-风向的联合概率密度；并提高疲劳寿命预测的精度</a:t>
            </a:r>
            <a:r>
              <a:rPr sz="1400" b="1" i="0" u="none" dirty="0">
                <a:solidFill>
                  <a:srgbClr val="B91C1C"/>
                </a:solidFill>
                <a:latin typeface="微软雅黑" panose="020B0503020204020204" charset="-122"/>
                <a:ea typeface="微软雅黑" panose="020B0503020204020204" charset="-122"/>
              </a:rPr>
              <a:t>。</a:t>
            </a:r>
            <a:endParaRPr sz="1400" b="1" i="0" u="none" dirty="0">
              <a:solidFill>
                <a:srgbClr val="B91C1C"/>
              </a:solidFill>
              <a:latin typeface="微软雅黑" panose="020B0503020204020204" charset="-122"/>
              <a:ea typeface="微软雅黑" panose="020B0503020204020204" charset="-122"/>
            </a:endParaRPr>
          </a:p>
        </p:txBody>
      </p:sp>
      <p:sp>
        <p:nvSpPr>
          <p:cNvPr id="16" name="TextBox 15"/>
          <p:cNvSpPr txBox="1"/>
          <p:nvPr/>
        </p:nvSpPr>
        <p:spPr>
          <a:xfrm>
            <a:off x="441325" y="4168446"/>
            <a:ext cx="4438650" cy="215444"/>
          </a:xfrm>
          <a:prstGeom prst="rect">
            <a:avLst/>
          </a:prstGeom>
          <a:noFill/>
        </p:spPr>
        <p:txBody>
          <a:bodyPr wrap="square" lIns="0" tIns="0" rIns="0" bIns="0" anchor="t">
            <a:spAutoFit/>
          </a:bodyPr>
          <a:p>
            <a:pPr algn="ctr"/>
            <a:r>
              <a:rPr sz="1400" b="1" i="0" u="none">
                <a:solidFill>
                  <a:srgbClr val="334155"/>
                </a:solidFill>
                <a:latin typeface="微软雅黑" panose="020B0503020204020204" charset="-122"/>
                <a:ea typeface="微软雅黑" panose="020B0503020204020204" charset="-122"/>
              </a:rPr>
              <a:t>表 5.4 不同分析方法下的疲劳寿命对比</a:t>
            </a:r>
            <a:endParaRPr sz="1400" b="1" i="0" u="none">
              <a:solidFill>
                <a:srgbClr val="334155"/>
              </a:solidFill>
              <a:latin typeface="微软雅黑" panose="020B0503020204020204" charset="-122"/>
              <a:ea typeface="微软雅黑" panose="020B0503020204020204" charset="-122"/>
            </a:endParaRPr>
          </a:p>
        </p:txBody>
      </p:sp>
      <p:graphicFrame>
        <p:nvGraphicFramePr>
          <p:cNvPr id="17" name="Table 16"/>
          <p:cNvGraphicFramePr>
            <a:graphicFrameLocks noGrp="1"/>
          </p:cNvGraphicFramePr>
          <p:nvPr/>
        </p:nvGraphicFramePr>
        <p:xfrm>
          <a:off x="441325" y="4435146"/>
          <a:ext cx="4438648" cy="1524000"/>
        </p:xfrm>
        <a:graphic>
          <a:graphicData uri="http://schemas.openxmlformats.org/drawingml/2006/table">
            <a:tbl>
              <a:tblPr firstRow="1" bandRow="1">
                <a:tableStyleId>{5C22544A-7EE6-4342-B048-85BDC9FD1C3A}</a:tableStyleId>
              </a:tblPr>
              <a:tblGrid>
                <a:gridCol w="556170"/>
                <a:gridCol w="982414"/>
                <a:gridCol w="1325612"/>
                <a:gridCol w="1017835"/>
                <a:gridCol w="556617"/>
              </a:tblGrid>
              <a:tr h="304800">
                <a:tc>
                  <a:txBody>
                    <a:bodyPr/>
                    <a:p>
                      <a:pPr algn="ctr"/>
                      <a:r>
                        <a:rPr sz="975" b="1" i="0" u="none">
                          <a:solidFill>
                            <a:srgbClr val="1E293B"/>
                          </a:solidFill>
                          <a:latin typeface="Noto Sans SC" panose="020B0200000000000000" charset="-122"/>
                        </a:rPr>
                        <a:t>模型</a:t>
                      </a:r>
                      <a:endParaRPr sz="975" b="1" i="0" u="none">
                        <a:solidFill>
                          <a:srgbClr val="1E293B"/>
                        </a:solidFill>
                        <a:latin typeface="Noto Sans SC" panose="020B0200000000000000" charset="-122"/>
                      </a:endParaRPr>
                    </a:p>
                  </a:txBody>
                  <a:tcPr marL="63500" marR="63500" marT="25400" marB="25400" anchor="ctr">
                    <a:lnL>
                      <a:noFill/>
                    </a:lnL>
                    <a:lnR>
                      <a:noFill/>
                    </a:lnR>
                    <a:lnT>
                      <a:noFill/>
                    </a:lnT>
                    <a:lnB>
                      <a:noFill/>
                    </a:lnB>
                    <a:solidFill>
                      <a:srgbClr val="F1F5F9"/>
                    </a:solidFill>
                  </a:tcPr>
                </a:tc>
                <a:tc>
                  <a:txBody>
                    <a:bodyPr/>
                    <a:p>
                      <a:pPr algn="ctr"/>
                      <a:r>
                        <a:rPr sz="975" b="1" i="0" u="none">
                          <a:solidFill>
                            <a:srgbClr val="1E293B"/>
                          </a:solidFill>
                          <a:latin typeface="Noto Sans SC" panose="020B0200000000000000" charset="-122"/>
                        </a:rPr>
                        <a:t>风场数据</a:t>
                      </a:r>
                      <a:endParaRPr sz="975" b="1" i="0" u="none">
                        <a:solidFill>
                          <a:srgbClr val="1E293B"/>
                        </a:solidFill>
                        <a:latin typeface="Noto Sans SC" panose="020B0200000000000000" charset="-122"/>
                      </a:endParaRPr>
                    </a:p>
                  </a:txBody>
                  <a:tcPr marL="63500" marR="63500" marT="25400" marB="25400" anchor="ctr">
                    <a:lnL>
                      <a:noFill/>
                    </a:lnL>
                    <a:lnR>
                      <a:noFill/>
                    </a:lnR>
                    <a:lnT>
                      <a:noFill/>
                    </a:lnT>
                    <a:lnB>
                      <a:noFill/>
                    </a:lnB>
                    <a:solidFill>
                      <a:srgbClr val="F1F5F9"/>
                    </a:solidFill>
                  </a:tcPr>
                </a:tc>
                <a:tc>
                  <a:txBody>
                    <a:bodyPr/>
                    <a:p>
                      <a:pPr algn="ctr"/>
                      <a:r>
                        <a:rPr sz="975" b="1" i="0" u="none">
                          <a:solidFill>
                            <a:srgbClr val="1E293B"/>
                          </a:solidFill>
                          <a:latin typeface="Noto Sans SC" panose="020B0200000000000000" charset="-122"/>
                        </a:rPr>
                        <a:t>最小疲劳寿命位置</a:t>
                      </a:r>
                      <a:endParaRPr sz="975" b="1" i="0" u="none">
                        <a:solidFill>
                          <a:srgbClr val="1E293B"/>
                        </a:solidFill>
                        <a:latin typeface="Noto Sans SC" panose="020B0200000000000000" charset="-122"/>
                      </a:endParaRPr>
                    </a:p>
                  </a:txBody>
                  <a:tcPr marL="63500" marR="63500" marT="25400" marB="25400" anchor="ctr">
                    <a:lnL>
                      <a:noFill/>
                    </a:lnL>
                    <a:lnR>
                      <a:noFill/>
                    </a:lnR>
                    <a:lnT>
                      <a:noFill/>
                    </a:lnT>
                    <a:lnB>
                      <a:noFill/>
                    </a:lnB>
                    <a:solidFill>
                      <a:srgbClr val="F1F5F9"/>
                    </a:solidFill>
                  </a:tcPr>
                </a:tc>
                <a:tc>
                  <a:txBody>
                    <a:bodyPr/>
                    <a:p>
                      <a:pPr algn="ctr"/>
                      <a:r>
                        <a:rPr sz="975" b="1" i="0" u="none">
                          <a:solidFill>
                            <a:srgbClr val="1E293B"/>
                          </a:solidFill>
                          <a:latin typeface="Noto Sans SC" panose="020B0200000000000000" charset="-122"/>
                        </a:rPr>
                        <a:t>预测寿命 (年)</a:t>
                      </a:r>
                      <a:endParaRPr sz="975" b="1" i="0" u="none">
                        <a:solidFill>
                          <a:srgbClr val="1E293B"/>
                        </a:solidFill>
                        <a:latin typeface="Noto Sans SC" panose="020B0200000000000000" charset="-122"/>
                      </a:endParaRPr>
                    </a:p>
                  </a:txBody>
                  <a:tcPr marL="63500" marR="63500" marT="25400" marB="25400" anchor="ctr">
                    <a:lnL>
                      <a:noFill/>
                    </a:lnL>
                    <a:lnR>
                      <a:noFill/>
                    </a:lnR>
                    <a:lnT>
                      <a:noFill/>
                    </a:lnT>
                    <a:lnB>
                      <a:noFill/>
                    </a:lnB>
                    <a:solidFill>
                      <a:srgbClr val="F1F5F9"/>
                    </a:solidFill>
                  </a:tcPr>
                </a:tc>
                <a:tc>
                  <a:txBody>
                    <a:bodyPr/>
                    <a:p>
                      <a:pPr algn="ctr"/>
                      <a:r>
                        <a:rPr sz="975" b="1" i="0" u="none">
                          <a:solidFill>
                            <a:srgbClr val="1E293B"/>
                          </a:solidFill>
                          <a:latin typeface="Noto Sans SC" panose="020B0200000000000000" charset="-122"/>
                        </a:rPr>
                        <a:t>差异率</a:t>
                      </a:r>
                      <a:endParaRPr sz="975" b="1" i="0" u="none">
                        <a:solidFill>
                          <a:srgbClr val="1E293B"/>
                        </a:solidFill>
                        <a:latin typeface="Noto Sans SC" panose="020B0200000000000000" charset="-122"/>
                      </a:endParaRPr>
                    </a:p>
                  </a:txBody>
                  <a:tcPr marL="63500" marR="63500" marT="25400" marB="25400" anchor="ctr">
                    <a:lnL>
                      <a:noFill/>
                    </a:lnL>
                    <a:lnR>
                      <a:noFill/>
                    </a:lnR>
                    <a:lnT>
                      <a:noFill/>
                    </a:lnT>
                    <a:lnB>
                      <a:noFill/>
                    </a:lnB>
                    <a:solidFill>
                      <a:srgbClr val="F1F5F9"/>
                    </a:solidFill>
                  </a:tcPr>
                </a:tc>
              </a:tr>
              <a:tr h="304800">
                <a:tc>
                  <a:txBody>
                    <a:bodyPr/>
                    <a:p>
                      <a:pPr algn="ctr"/>
                      <a:r>
                        <a:rPr sz="975" b="0" i="0" u="none">
                          <a:solidFill>
                            <a:srgbClr val="1E293B"/>
                          </a:solidFill>
                          <a:latin typeface="Noto Sans SC" panose="020B0200000000000000" charset="-122"/>
                        </a:rPr>
                        <a:t>线性</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统计数据</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第 26 节</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63.0</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96.9%</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r>
              <a:tr h="304800">
                <a:tc>
                  <a:txBody>
                    <a:bodyPr/>
                    <a:p>
                      <a:pPr algn="ctr"/>
                      <a:r>
                        <a:rPr sz="975" b="0" i="0" u="none">
                          <a:solidFill>
                            <a:srgbClr val="1E293B"/>
                          </a:solidFill>
                          <a:latin typeface="Noto Sans SC" panose="020B0200000000000000" charset="-122"/>
                        </a:rPr>
                        <a:t>非线性</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统计数据</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第 16 节</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32.0</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基准值</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r>
              <a:tr h="304800">
                <a:tc>
                  <a:txBody>
                    <a:bodyPr/>
                    <a:p>
                      <a:pPr algn="ctr"/>
                      <a:r>
                        <a:rPr sz="975" b="0" i="0" u="none">
                          <a:solidFill>
                            <a:srgbClr val="1E293B"/>
                          </a:solidFill>
                          <a:latin typeface="Noto Sans SC" panose="020B0200000000000000" charset="-122"/>
                        </a:rPr>
                        <a:t>非线性</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常规 2D-KDE</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第 16 节</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38.3</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19.7%</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r>
              <a:tr h="304800">
                <a:tc>
                  <a:txBody>
                    <a:bodyPr/>
                    <a:p>
                      <a:pPr algn="ctr"/>
                      <a:r>
                        <a:rPr sz="975" b="0" i="0" u="none">
                          <a:solidFill>
                            <a:srgbClr val="1E293B"/>
                          </a:solidFill>
                          <a:latin typeface="Noto Sans SC" panose="020B0200000000000000" charset="-122"/>
                        </a:rPr>
                        <a:t>非线性</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dirty="0" err="1">
                          <a:solidFill>
                            <a:srgbClr val="1E293B"/>
                          </a:solidFill>
                          <a:latin typeface="Noto Sans SC" panose="020B0200000000000000" charset="-122"/>
                        </a:rPr>
                        <a:t>改进</a:t>
                      </a:r>
                      <a:r>
                        <a:rPr sz="975" b="0" i="0" u="none" dirty="0">
                          <a:solidFill>
                            <a:srgbClr val="1E293B"/>
                          </a:solidFill>
                          <a:latin typeface="Noto Sans SC" panose="020B0200000000000000" charset="-122"/>
                        </a:rPr>
                        <a:t> 2D-KDE</a:t>
                      </a:r>
                      <a:endParaRPr sz="975" b="0" i="0" u="none" dirty="0">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a:solidFill>
                            <a:srgbClr val="1E293B"/>
                          </a:solidFill>
                          <a:latin typeface="Noto Sans SC" panose="020B0200000000000000" charset="-122"/>
                        </a:rPr>
                        <a:t>第 16 节</a:t>
                      </a:r>
                      <a:endParaRPr sz="975" b="0" i="0" u="none">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dirty="0">
                          <a:solidFill>
                            <a:srgbClr val="1E293B"/>
                          </a:solidFill>
                          <a:latin typeface="Noto Sans SC" panose="020B0200000000000000" charset="-122"/>
                        </a:rPr>
                        <a:t>33.4</a:t>
                      </a:r>
                      <a:endParaRPr sz="975" b="0" i="0" u="none" dirty="0">
                        <a:solidFill>
                          <a:srgbClr val="1E293B"/>
                        </a:solidFill>
                        <a:latin typeface="Noto Sans SC" panose="020B0200000000000000" charset="-122"/>
                      </a:endParaRPr>
                    </a:p>
                  </a:txBody>
                  <a:tcPr marL="63500" marR="63500" marT="25400" marB="25400" anchor="ctr">
                    <a:lnL>
                      <a:noFill/>
                    </a:lnL>
                    <a:lnR>
                      <a:noFill/>
                    </a:lnR>
                    <a:lnT>
                      <a:noFill/>
                    </a:lnT>
                    <a:lnB>
                      <a:noFill/>
                    </a:lnB>
                    <a:noFill/>
                  </a:tcPr>
                </a:tc>
                <a:tc>
                  <a:txBody>
                    <a:bodyPr/>
                    <a:p>
                      <a:pPr algn="ctr"/>
                      <a:r>
                        <a:rPr sz="975" b="0" i="0" u="none" dirty="0">
                          <a:solidFill>
                            <a:srgbClr val="1E293B"/>
                          </a:solidFill>
                          <a:latin typeface="Noto Sans SC" panose="020B0200000000000000" charset="-122"/>
                        </a:rPr>
                        <a:t>4.4%</a:t>
                      </a:r>
                      <a:endParaRPr sz="975" b="0" i="0" u="none" dirty="0">
                        <a:solidFill>
                          <a:srgbClr val="1E293B"/>
                        </a:solidFill>
                        <a:latin typeface="Noto Sans SC" panose="020B0200000000000000" charset="-122"/>
                      </a:endParaRPr>
                    </a:p>
                  </a:txBody>
                  <a:tcPr marL="63500" marR="63500" marT="25400" marB="25400" anchor="ctr">
                    <a:lnL>
                      <a:noFill/>
                    </a:lnL>
                    <a:lnR>
                      <a:noFill/>
                    </a:lnR>
                    <a:lnT>
                      <a:noFill/>
                    </a:lnT>
                    <a:lnB>
                      <a:noFill/>
                    </a:lnB>
                    <a:noFill/>
                  </a:tcPr>
                </a:tc>
              </a:tr>
            </a:tbl>
          </a:graphicData>
        </a:graphic>
      </p:graphicFrame>
      <p:sp>
        <p:nvSpPr>
          <p:cNvPr id="19" name="TextBox 18"/>
          <p:cNvSpPr txBox="1"/>
          <p:nvPr/>
        </p:nvSpPr>
        <p:spPr>
          <a:xfrm>
            <a:off x="666750" y="1728434"/>
            <a:ext cx="133350" cy="190500"/>
          </a:xfrm>
          <a:prstGeom prst="rect">
            <a:avLst/>
          </a:prstGeom>
          <a:noFill/>
        </p:spPr>
        <p:txBody>
          <a:bodyPr wrap="square" lIns="0" tIns="0" rIns="0" bIns="0" anchor="t">
            <a:spAutoFit/>
          </a:bodyPr>
          <a:p>
            <a:pPr algn="l">
              <a:lnSpc>
                <a:spcPts val="1625"/>
              </a:lnSpc>
            </a:pPr>
            <a:r>
              <a:rPr sz="1050" b="0" i="0" u="none">
                <a:solidFill>
                  <a:srgbClr val="B91C1C"/>
                </a:solidFill>
                <a:latin typeface="Noto Sans SC" panose="020B0200000000000000" charset="-122"/>
              </a:rPr>
              <a:t>●</a:t>
            </a:r>
            <a:endParaRPr sz="1050" b="0" i="0" u="none">
              <a:solidFill>
                <a:srgbClr val="B91C1C"/>
              </a:solidFill>
              <a:latin typeface="Noto Sans SC" panose="020B0200000000000000" charset="-122"/>
            </a:endParaRPr>
          </a:p>
        </p:txBody>
      </p:sp>
      <p:sp>
        <p:nvSpPr>
          <p:cNvPr id="20" name="TextBox 19"/>
          <p:cNvSpPr txBox="1"/>
          <p:nvPr/>
        </p:nvSpPr>
        <p:spPr>
          <a:xfrm>
            <a:off x="666750" y="2312286"/>
            <a:ext cx="133350" cy="190500"/>
          </a:xfrm>
          <a:prstGeom prst="rect">
            <a:avLst/>
          </a:prstGeom>
          <a:noFill/>
        </p:spPr>
        <p:txBody>
          <a:bodyPr wrap="square" lIns="0" tIns="0" rIns="0" bIns="0" anchor="t">
            <a:spAutoFit/>
          </a:bodyPr>
          <a:p>
            <a:pPr algn="l">
              <a:lnSpc>
                <a:spcPts val="1625"/>
              </a:lnSpc>
            </a:pPr>
            <a:r>
              <a:rPr sz="1050" b="0" i="0" u="none" dirty="0">
                <a:solidFill>
                  <a:srgbClr val="B91C1C"/>
                </a:solidFill>
                <a:latin typeface="Noto Sans SC" panose="020B0200000000000000" charset="-122"/>
              </a:rPr>
              <a:t>●</a:t>
            </a:r>
            <a:endParaRPr sz="1050" b="0" i="0" u="none" dirty="0">
              <a:solidFill>
                <a:srgbClr val="B91C1C"/>
              </a:solidFill>
              <a:latin typeface="Noto Sans SC" panose="020B0200000000000000" charset="-122"/>
            </a:endParaRPr>
          </a:p>
        </p:txBody>
      </p:sp>
      <p:sp>
        <p:nvSpPr>
          <p:cNvPr id="21" name="TextBox 20"/>
          <p:cNvSpPr txBox="1"/>
          <p:nvPr/>
        </p:nvSpPr>
        <p:spPr>
          <a:xfrm>
            <a:off x="666750" y="3120162"/>
            <a:ext cx="133350" cy="190500"/>
          </a:xfrm>
          <a:prstGeom prst="rect">
            <a:avLst/>
          </a:prstGeom>
          <a:noFill/>
        </p:spPr>
        <p:txBody>
          <a:bodyPr wrap="square" lIns="0" tIns="0" rIns="0" bIns="0" anchor="t">
            <a:spAutoFit/>
          </a:bodyPr>
          <a:p>
            <a:pPr algn="l">
              <a:lnSpc>
                <a:spcPts val="1625"/>
              </a:lnSpc>
            </a:pPr>
            <a:r>
              <a:rPr sz="1050" b="1" i="0" u="none">
                <a:solidFill>
                  <a:srgbClr val="B91C1C"/>
                </a:solidFill>
                <a:latin typeface="Noto Sans SC" panose="020B0200000000000000" charset="-122"/>
              </a:rPr>
              <a:t>●</a:t>
            </a:r>
            <a:endParaRPr sz="1050" b="1" i="0" u="none">
              <a:solidFill>
                <a:srgbClr val="B91C1C"/>
              </a:solidFill>
              <a:latin typeface="Noto Sans SC" panose="020B0200000000000000" charset="-122"/>
            </a:endParaRPr>
          </a:p>
        </p:txBody>
      </p:sp>
      <p:sp>
        <p:nvSpPr>
          <p:cNvPr id="22" name="Rectangle 21"/>
          <p:cNvSpPr/>
          <p:nvPr/>
        </p:nvSpPr>
        <p:spPr>
          <a:xfrm>
            <a:off x="441325" y="4720896"/>
            <a:ext cx="556170" cy="190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Rectangle 22"/>
          <p:cNvSpPr/>
          <p:nvPr/>
        </p:nvSpPr>
        <p:spPr>
          <a:xfrm>
            <a:off x="997495" y="4720896"/>
            <a:ext cx="982414" cy="190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4" name="Rectangle 23"/>
          <p:cNvSpPr/>
          <p:nvPr/>
        </p:nvSpPr>
        <p:spPr>
          <a:xfrm>
            <a:off x="1979910" y="4720896"/>
            <a:ext cx="1325612" cy="190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Rectangle 24"/>
          <p:cNvSpPr/>
          <p:nvPr/>
        </p:nvSpPr>
        <p:spPr>
          <a:xfrm>
            <a:off x="3305522" y="4720896"/>
            <a:ext cx="1017835" cy="190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6" name="Rectangle 25"/>
          <p:cNvSpPr/>
          <p:nvPr/>
        </p:nvSpPr>
        <p:spPr>
          <a:xfrm>
            <a:off x="4336057" y="4720896"/>
            <a:ext cx="556617" cy="190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7" name="Rectangle 26"/>
          <p:cNvSpPr/>
          <p:nvPr/>
        </p:nvSpPr>
        <p:spPr>
          <a:xfrm>
            <a:off x="619125" y="5039983"/>
            <a:ext cx="5561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Rectangle 27"/>
          <p:cNvSpPr/>
          <p:nvPr/>
        </p:nvSpPr>
        <p:spPr>
          <a:xfrm>
            <a:off x="1175295" y="5039983"/>
            <a:ext cx="9824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9" name="Rectangle 28"/>
          <p:cNvSpPr/>
          <p:nvPr/>
        </p:nvSpPr>
        <p:spPr>
          <a:xfrm>
            <a:off x="2157710" y="5039983"/>
            <a:ext cx="13256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0" name="Rectangle 29"/>
          <p:cNvSpPr/>
          <p:nvPr/>
        </p:nvSpPr>
        <p:spPr>
          <a:xfrm>
            <a:off x="3483322" y="5039983"/>
            <a:ext cx="10178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1" name="Rectangle 30"/>
          <p:cNvSpPr/>
          <p:nvPr/>
        </p:nvSpPr>
        <p:spPr>
          <a:xfrm>
            <a:off x="4501157" y="5039983"/>
            <a:ext cx="556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2" name="Rectangle 31"/>
          <p:cNvSpPr/>
          <p:nvPr/>
        </p:nvSpPr>
        <p:spPr>
          <a:xfrm>
            <a:off x="619125" y="5344783"/>
            <a:ext cx="5561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3" name="Rectangle 32"/>
          <p:cNvSpPr/>
          <p:nvPr/>
        </p:nvSpPr>
        <p:spPr>
          <a:xfrm>
            <a:off x="1175295" y="5344783"/>
            <a:ext cx="9824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4" name="Rectangle 33"/>
          <p:cNvSpPr/>
          <p:nvPr/>
        </p:nvSpPr>
        <p:spPr>
          <a:xfrm>
            <a:off x="2157710" y="5344783"/>
            <a:ext cx="13256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5" name="Rectangle 34"/>
          <p:cNvSpPr/>
          <p:nvPr/>
        </p:nvSpPr>
        <p:spPr>
          <a:xfrm>
            <a:off x="3483322" y="5344783"/>
            <a:ext cx="10178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6" name="Rectangle 35"/>
          <p:cNvSpPr/>
          <p:nvPr/>
        </p:nvSpPr>
        <p:spPr>
          <a:xfrm>
            <a:off x="4501157" y="5344783"/>
            <a:ext cx="556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7" name="Rectangle 36"/>
          <p:cNvSpPr/>
          <p:nvPr/>
        </p:nvSpPr>
        <p:spPr>
          <a:xfrm>
            <a:off x="619125" y="5649583"/>
            <a:ext cx="5561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8" name="Rectangle 37"/>
          <p:cNvSpPr/>
          <p:nvPr/>
        </p:nvSpPr>
        <p:spPr>
          <a:xfrm>
            <a:off x="1175295" y="5649583"/>
            <a:ext cx="9824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9" name="Rectangle 38"/>
          <p:cNvSpPr/>
          <p:nvPr/>
        </p:nvSpPr>
        <p:spPr>
          <a:xfrm>
            <a:off x="2157710" y="5649583"/>
            <a:ext cx="132561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0" name="Rectangle 39"/>
          <p:cNvSpPr/>
          <p:nvPr/>
        </p:nvSpPr>
        <p:spPr>
          <a:xfrm>
            <a:off x="3483322" y="5649583"/>
            <a:ext cx="101783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1" name="Rectangle 40"/>
          <p:cNvSpPr/>
          <p:nvPr/>
        </p:nvSpPr>
        <p:spPr>
          <a:xfrm>
            <a:off x="4501157" y="5649583"/>
            <a:ext cx="55661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pic>
        <p:nvPicPr>
          <p:cNvPr id="46" name="图片 45"/>
          <p:cNvPicPr>
            <a:picLocks noChangeAspect="1"/>
          </p:cNvPicPr>
          <p:nvPr/>
        </p:nvPicPr>
        <p:blipFill>
          <a:blip r:embed="rId3"/>
          <a:stretch>
            <a:fillRect/>
          </a:stretch>
        </p:blipFill>
        <p:spPr>
          <a:xfrm>
            <a:off x="8743932" y="1447800"/>
            <a:ext cx="2944072" cy="3677394"/>
          </a:xfrm>
          <a:prstGeom prst="rect">
            <a:avLst/>
          </a:prstGeom>
        </p:spPr>
      </p:pic>
      <p:pic>
        <p:nvPicPr>
          <p:cNvPr id="48" name="图片 47"/>
          <p:cNvPicPr>
            <a:picLocks noChangeAspect="1"/>
          </p:cNvPicPr>
          <p:nvPr/>
        </p:nvPicPr>
        <p:blipFill>
          <a:blip r:embed="rId4"/>
          <a:stretch>
            <a:fillRect/>
          </a:stretch>
        </p:blipFill>
        <p:spPr>
          <a:xfrm>
            <a:off x="5681941" y="1447800"/>
            <a:ext cx="2827937" cy="3677394"/>
          </a:xfrm>
          <a:prstGeom prst="rect">
            <a:avLst/>
          </a:prstGeom>
        </p:spPr>
      </p:pic>
      <p:sp>
        <p:nvSpPr>
          <p:cNvPr id="54" name="文本框 53"/>
          <p:cNvSpPr txBox="1"/>
          <p:nvPr/>
        </p:nvSpPr>
        <p:spPr>
          <a:xfrm>
            <a:off x="6326325" y="5212853"/>
            <a:ext cx="1659028" cy="307777"/>
          </a:xfrm>
          <a:prstGeom prst="rect">
            <a:avLst/>
          </a:prstGeom>
          <a:noFill/>
        </p:spPr>
        <p:txBody>
          <a:bodyPr wrap="square">
            <a:spAutoFit/>
          </a:bodyPr>
          <a:p>
            <a:r>
              <a:rPr lang="zh-CN" altLang="zh-CN" sz="1400" dirty="0">
                <a:latin typeface="微软雅黑" panose="020B0503020204020204" charset="-122"/>
                <a:ea typeface="微软雅黑" panose="020B0503020204020204" charset="-122"/>
              </a:rPr>
              <a:t>a) 常规 2D‑KDE</a:t>
            </a:r>
            <a:endParaRPr lang="zh-CN" altLang="en-US" sz="1400" dirty="0">
              <a:latin typeface="微软雅黑" panose="020B0503020204020204" charset="-122"/>
              <a:ea typeface="微软雅黑" panose="020B0503020204020204" charset="-122"/>
            </a:endParaRPr>
          </a:p>
        </p:txBody>
      </p:sp>
      <p:sp>
        <p:nvSpPr>
          <p:cNvPr id="56" name="文本框 55"/>
          <p:cNvSpPr txBox="1"/>
          <p:nvPr/>
        </p:nvSpPr>
        <p:spPr>
          <a:xfrm>
            <a:off x="9009422" y="5212853"/>
            <a:ext cx="2413091" cy="307777"/>
          </a:xfrm>
          <a:prstGeom prst="rect">
            <a:avLst/>
          </a:prstGeom>
          <a:noFill/>
        </p:spPr>
        <p:txBody>
          <a:bodyPr wrap="square">
            <a:spAutoFit/>
          </a:bodyPr>
          <a:p>
            <a:r>
              <a:rPr lang="zh-CN" altLang="zh-CN" sz="1400" dirty="0">
                <a:latin typeface="微软雅黑" panose="020B0503020204020204" charset="-122"/>
                <a:ea typeface="微软雅黑" panose="020B0503020204020204" charset="-122"/>
              </a:rPr>
              <a:t>b) 改进 2D‑KDE（所提方法）</a:t>
            </a:r>
            <a:endParaRPr lang="zh-CN" altLang="en-US" sz="1400" dirty="0">
              <a:latin typeface="微软雅黑" panose="020B0503020204020204" charset="-122"/>
              <a:ea typeface="微软雅黑" panose="020B0503020204020204" charset="-122"/>
            </a:endParaRPr>
          </a:p>
        </p:txBody>
      </p:sp>
      <p:sp>
        <p:nvSpPr>
          <p:cNvPr id="58" name="文本框 57"/>
          <p:cNvSpPr txBox="1"/>
          <p:nvPr/>
        </p:nvSpPr>
        <p:spPr>
          <a:xfrm>
            <a:off x="6854225" y="5745219"/>
            <a:ext cx="3638858" cy="307777"/>
          </a:xfrm>
          <a:prstGeom prst="rect">
            <a:avLst/>
          </a:prstGeom>
          <a:noFill/>
        </p:spPr>
        <p:txBody>
          <a:bodyPr wrap="square">
            <a:spAutoFit/>
          </a:bodyPr>
          <a:p>
            <a:r>
              <a:rPr lang="zh-CN" altLang="zh-CN" sz="1400" dirty="0">
                <a:latin typeface="微软雅黑" panose="020B0503020204020204" charset="-122"/>
                <a:ea typeface="微软雅黑" panose="020B0503020204020204" charset="-122"/>
              </a:rPr>
              <a:t>不同风速和风向重构方法下的疲劳寿命对比</a:t>
            </a:r>
            <a:endParaRPr lang="zh-CN" altLang="en-US" sz="1400" dirty="0">
              <a:latin typeface="微软雅黑" panose="020B0503020204020204" charset="-122"/>
              <a:ea typeface="微软雅黑" panose="020B0503020204020204" charset="-122"/>
            </a:endParaRPr>
          </a:p>
        </p:txBody>
      </p:sp>
      <p:sp>
        <p:nvSpPr>
          <p:cNvPr id="7" name="椭圆 6"/>
          <p:cNvSpPr/>
          <p:nvPr/>
        </p:nvSpPr>
        <p:spPr>
          <a:xfrm>
            <a:off x="595630" y="478790"/>
            <a:ext cx="535940" cy="535940"/>
          </a:xfrm>
          <a:prstGeom prst="ellipse">
            <a:avLst/>
          </a:prstGeom>
          <a:solidFill>
            <a:srgbClr val="305393"/>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b="1">
                <a:latin typeface="微软雅黑" panose="020B0503020204020204" charset="-122"/>
                <a:ea typeface="微软雅黑" panose="020B0503020204020204" charset="-122"/>
              </a:rPr>
              <a:t>3</a:t>
            </a:r>
            <a:endParaRPr lang="en-US" altLang="zh-CN" sz="2800" b="1">
              <a:latin typeface="微软雅黑" panose="020B0503020204020204" charset="-122"/>
              <a:ea typeface="微软雅黑" panose="020B0503020204020204" charset="-122"/>
            </a:endParaRPr>
          </a:p>
        </p:txBody>
      </p:sp>
      <p:sp>
        <p:nvSpPr>
          <p:cNvPr id="18" name="椭圆 17"/>
          <p:cNvSpPr/>
          <p:nvPr/>
        </p:nvSpPr>
        <p:spPr>
          <a:xfrm>
            <a:off x="405130" y="464820"/>
            <a:ext cx="99060" cy="98425"/>
          </a:xfrm>
          <a:prstGeom prst="ellipse">
            <a:avLst/>
          </a:prstGeom>
          <a:solidFill>
            <a:schemeClr val="accent1">
              <a:lumMod val="60000"/>
              <a:lumOff val="40000"/>
            </a:schemeClr>
          </a:solidFill>
          <a:ln w="1905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2" name="直接连接符 41"/>
          <p:cNvCxnSpPr/>
          <p:nvPr/>
        </p:nvCxnSpPr>
        <p:spPr>
          <a:xfrm>
            <a:off x="1125220" y="995045"/>
            <a:ext cx="10523855" cy="5715"/>
          </a:xfrm>
          <a:prstGeom prst="line">
            <a:avLst/>
          </a:prstGeom>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1149350" y="426720"/>
            <a:ext cx="6339205" cy="568325"/>
          </a:xfrm>
          <a:prstGeom prst="rect">
            <a:avLst/>
          </a:prstGeom>
          <a:noFill/>
        </p:spPr>
        <p:txBody>
          <a:bodyPr wrap="square" rtlCol="0">
            <a:spAutoFit/>
          </a:bodyPr>
          <a:p>
            <a:r>
              <a:rPr lang="zh-CN" altLang="en-US" sz="3100" b="1">
                <a:solidFill>
                  <a:srgbClr val="305393"/>
                </a:solidFill>
              </a:rPr>
              <a:t>动力响应性能与疲劳寿命</a:t>
            </a:r>
            <a:r>
              <a:rPr lang="zh-CN" altLang="en-US" sz="3100" b="1">
                <a:solidFill>
                  <a:srgbClr val="305393"/>
                </a:solidFill>
              </a:rPr>
              <a:t>评估</a:t>
            </a:r>
            <a:endParaRPr lang="zh-CN" altLang="en-US" sz="3100" b="1">
              <a:solidFill>
                <a:srgbClr val="305393"/>
              </a:solidFill>
            </a:endParaRPr>
          </a:p>
        </p:txBody>
      </p:sp>
      <p:sp>
        <p:nvSpPr>
          <p:cNvPr id="44" name="文本框 43"/>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45" name="矩形 44"/>
          <p:cNvSpPr/>
          <p:nvPr/>
        </p:nvSpPr>
        <p:spPr>
          <a:xfrm>
            <a:off x="854075" y="1240790"/>
            <a:ext cx="184785" cy="179705"/>
          </a:xfrm>
          <a:prstGeom prst="rect">
            <a:avLst/>
          </a:prstGeom>
          <a:solidFill>
            <a:srgbClr val="2E5495"/>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文本框 46"/>
          <p:cNvSpPr txBox="1"/>
          <p:nvPr/>
        </p:nvSpPr>
        <p:spPr>
          <a:xfrm>
            <a:off x="1193800" y="1108075"/>
            <a:ext cx="5359400" cy="445135"/>
          </a:xfrm>
          <a:prstGeom prst="rect">
            <a:avLst/>
          </a:prstGeom>
          <a:noFill/>
        </p:spPr>
        <p:txBody>
          <a:bodyPr wrap="square" rtlCol="0">
            <a:spAutoFit/>
          </a:bodyPr>
          <a:p>
            <a:pPr algn="l"/>
            <a:r>
              <a:rPr sz="2300" b="1" dirty="0" err="1">
                <a:solidFill>
                  <a:srgbClr val="1E3A8A"/>
                </a:solidFill>
                <a:latin typeface="微软雅黑" panose="020B0503020204020204" charset="-122"/>
                <a:ea typeface="微软雅黑" panose="020B0503020204020204" charset="-122"/>
                <a:sym typeface="+mn-ea"/>
              </a:rPr>
              <a:t>疲劳寿命影响分析：风速-风向重构影响</a:t>
            </a:r>
            <a:endParaRPr lang="zh-CN" altLang="en-US" sz="2300" b="1">
              <a:solidFill>
                <a:srgbClr val="023A8B"/>
              </a:solidFill>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48/68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 name="文本框 48"/>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49/68</a:t>
            </a:r>
            <a:endParaRPr lang="en-US" altLang="zh-CN">
              <a:latin typeface="微软雅黑" panose="020B0503020204020204" charset="-122"/>
              <a:ea typeface="微软雅黑" panose="020B0503020204020204" charset="-122"/>
            </a:endParaRPr>
          </a:p>
        </p:txBody>
      </p:sp>
      <p:sp>
        <p:nvSpPr>
          <p:cNvPr id="31" name="矩形 30"/>
          <p:cNvSpPr/>
          <p:nvPr>
            <p:custDataLst>
              <p:tags r:id="rId1"/>
            </p:custDataLst>
          </p:nvPr>
        </p:nvSpPr>
        <p:spPr>
          <a:xfrm>
            <a:off x="3387090" y="1261745"/>
            <a:ext cx="6446520" cy="53721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矩形 31"/>
          <p:cNvSpPr/>
          <p:nvPr/>
        </p:nvSpPr>
        <p:spPr>
          <a:xfrm>
            <a:off x="209550" y="195580"/>
            <a:ext cx="11777980" cy="121920"/>
          </a:xfrm>
          <a:prstGeom prst="rect">
            <a:avLst/>
          </a:prstGeom>
          <a:solidFill>
            <a:srgbClr val="2E5495"/>
          </a:solidFill>
          <a:ln>
            <a:solidFill>
              <a:srgbClr val="30539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任意多边形 32"/>
          <p:cNvSpPr/>
          <p:nvPr/>
        </p:nvSpPr>
        <p:spPr>
          <a:xfrm>
            <a:off x="4425950" y="316230"/>
            <a:ext cx="3276600" cy="493395"/>
          </a:xfrm>
          <a:custGeom>
            <a:avLst/>
            <a:gdLst>
              <a:gd name="connisteX0" fmla="*/ 0 w 3276600"/>
              <a:gd name="connsiteY0" fmla="*/ 4445 h 493395"/>
              <a:gd name="connisteX1" fmla="*/ 52070 w 3276600"/>
              <a:gd name="connsiteY1" fmla="*/ 9525 h 493395"/>
              <a:gd name="connisteX2" fmla="*/ 93345 w 3276600"/>
              <a:gd name="connsiteY2" fmla="*/ 23495 h 493395"/>
              <a:gd name="connisteX3" fmla="*/ 128270 w 3276600"/>
              <a:gd name="connsiteY3" fmla="*/ 36195 h 493395"/>
              <a:gd name="connisteX4" fmla="*/ 168275 w 3276600"/>
              <a:gd name="connsiteY4" fmla="*/ 55245 h 493395"/>
              <a:gd name="connisteX5" fmla="*/ 191770 w 3276600"/>
              <a:gd name="connsiteY5" fmla="*/ 71120 h 493395"/>
              <a:gd name="connisteX6" fmla="*/ 228600 w 3276600"/>
              <a:gd name="connsiteY6" fmla="*/ 98425 h 493395"/>
              <a:gd name="connisteX7" fmla="*/ 258445 w 3276600"/>
              <a:gd name="connsiteY7" fmla="*/ 123825 h 493395"/>
              <a:gd name="connisteX8" fmla="*/ 299720 w 3276600"/>
              <a:gd name="connsiteY8" fmla="*/ 168275 h 493395"/>
              <a:gd name="connisteX9" fmla="*/ 336550 w 3276600"/>
              <a:gd name="connsiteY9" fmla="*/ 217170 h 493395"/>
              <a:gd name="connisteX10" fmla="*/ 375920 w 3276600"/>
              <a:gd name="connsiteY10" fmla="*/ 266700 h 493395"/>
              <a:gd name="connisteX11" fmla="*/ 406400 w 3276600"/>
              <a:gd name="connsiteY11" fmla="*/ 309245 h 493395"/>
              <a:gd name="connisteX12" fmla="*/ 447675 w 3276600"/>
              <a:gd name="connsiteY12" fmla="*/ 355600 h 493395"/>
              <a:gd name="connisteX13" fmla="*/ 483870 w 3276600"/>
              <a:gd name="connsiteY13" fmla="*/ 387350 h 493395"/>
              <a:gd name="connisteX14" fmla="*/ 514350 w 3276600"/>
              <a:gd name="connsiteY14" fmla="*/ 412750 h 493395"/>
              <a:gd name="connisteX15" fmla="*/ 536575 w 3276600"/>
              <a:gd name="connsiteY15" fmla="*/ 426720 h 493395"/>
              <a:gd name="connisteX16" fmla="*/ 574675 w 3276600"/>
              <a:gd name="connsiteY16" fmla="*/ 448945 h 493395"/>
              <a:gd name="connisteX17" fmla="*/ 622300 w 3276600"/>
              <a:gd name="connsiteY17" fmla="*/ 473075 h 493395"/>
              <a:gd name="connisteX18" fmla="*/ 673100 w 3276600"/>
              <a:gd name="connsiteY18" fmla="*/ 488950 h 493395"/>
              <a:gd name="connisteX19" fmla="*/ 809625 w 3276600"/>
              <a:gd name="connsiteY19" fmla="*/ 492125 h 493395"/>
              <a:gd name="connisteX20" fmla="*/ 2455545 w 3276600"/>
              <a:gd name="connsiteY20" fmla="*/ 493395 h 493395"/>
              <a:gd name="connisteX21" fmla="*/ 2560320 w 3276600"/>
              <a:gd name="connsiteY21" fmla="*/ 493395 h 493395"/>
              <a:gd name="connisteX22" fmla="*/ 2644775 w 3276600"/>
              <a:gd name="connsiteY22" fmla="*/ 490220 h 493395"/>
              <a:gd name="connisteX23" fmla="*/ 2695575 w 3276600"/>
              <a:gd name="connsiteY23" fmla="*/ 482600 h 493395"/>
              <a:gd name="connisteX24" fmla="*/ 2747645 w 3276600"/>
              <a:gd name="connsiteY24" fmla="*/ 464820 h 493395"/>
              <a:gd name="connisteX25" fmla="*/ 2797175 w 3276600"/>
              <a:gd name="connsiteY25" fmla="*/ 433070 h 493395"/>
              <a:gd name="connisteX26" fmla="*/ 2835275 w 3276600"/>
              <a:gd name="connsiteY26" fmla="*/ 407670 h 493395"/>
              <a:gd name="connisteX27" fmla="*/ 2858770 w 3276600"/>
              <a:gd name="connsiteY27" fmla="*/ 390525 h 493395"/>
              <a:gd name="connisteX28" fmla="*/ 2884170 w 3276600"/>
              <a:gd name="connsiteY28" fmla="*/ 368300 h 493395"/>
              <a:gd name="connisteX29" fmla="*/ 2917825 w 3276600"/>
              <a:gd name="connsiteY29" fmla="*/ 336550 h 493395"/>
              <a:gd name="connisteX30" fmla="*/ 2936875 w 3276600"/>
              <a:gd name="connsiteY30" fmla="*/ 311150 h 493395"/>
              <a:gd name="connisteX31" fmla="*/ 2963545 w 3276600"/>
              <a:gd name="connsiteY31" fmla="*/ 274320 h 493395"/>
              <a:gd name="connisteX32" fmla="*/ 2992120 w 3276600"/>
              <a:gd name="connsiteY32" fmla="*/ 238125 h 493395"/>
              <a:gd name="connisteX33" fmla="*/ 3006725 w 3276600"/>
              <a:gd name="connsiteY33" fmla="*/ 213995 h 493395"/>
              <a:gd name="connisteX34" fmla="*/ 3036570 w 3276600"/>
              <a:gd name="connsiteY34" fmla="*/ 174625 h 493395"/>
              <a:gd name="connisteX35" fmla="*/ 3068320 w 3276600"/>
              <a:gd name="connsiteY35" fmla="*/ 146050 h 493395"/>
              <a:gd name="connisteX36" fmla="*/ 3100070 w 3276600"/>
              <a:gd name="connsiteY36" fmla="*/ 107950 h 493395"/>
              <a:gd name="connisteX37" fmla="*/ 3155950 w 3276600"/>
              <a:gd name="connsiteY37" fmla="*/ 63500 h 493395"/>
              <a:gd name="connisteX38" fmla="*/ 3217545 w 3276600"/>
              <a:gd name="connsiteY38" fmla="*/ 25400 h 493395"/>
              <a:gd name="connisteX39" fmla="*/ 3276600 w 3276600"/>
              <a:gd name="connsiteY39" fmla="*/ 0 h 493395"/>
              <a:gd name="connisteX40" fmla="*/ 0 w 3276600"/>
              <a:gd name="connsiteY40" fmla="*/ 4445 h 49339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Lst>
            <a:rect l="l" t="t" r="r" b="b"/>
            <a:pathLst>
              <a:path w="3276600" h="493395">
                <a:moveTo>
                  <a:pt x="0" y="4445"/>
                </a:moveTo>
                <a:lnTo>
                  <a:pt x="52070" y="9525"/>
                </a:lnTo>
                <a:lnTo>
                  <a:pt x="93345" y="23495"/>
                </a:lnTo>
                <a:lnTo>
                  <a:pt x="128270" y="36195"/>
                </a:lnTo>
                <a:lnTo>
                  <a:pt x="168275" y="55245"/>
                </a:lnTo>
                <a:lnTo>
                  <a:pt x="191770" y="71120"/>
                </a:lnTo>
                <a:lnTo>
                  <a:pt x="228600" y="98425"/>
                </a:lnTo>
                <a:lnTo>
                  <a:pt x="258445" y="123825"/>
                </a:lnTo>
                <a:lnTo>
                  <a:pt x="299720" y="168275"/>
                </a:lnTo>
                <a:lnTo>
                  <a:pt x="336550" y="217170"/>
                </a:lnTo>
                <a:lnTo>
                  <a:pt x="375920" y="266700"/>
                </a:lnTo>
                <a:lnTo>
                  <a:pt x="406400" y="309245"/>
                </a:lnTo>
                <a:lnTo>
                  <a:pt x="447675" y="355600"/>
                </a:lnTo>
                <a:lnTo>
                  <a:pt x="483870" y="387350"/>
                </a:lnTo>
                <a:lnTo>
                  <a:pt x="514350" y="412750"/>
                </a:lnTo>
                <a:lnTo>
                  <a:pt x="536575" y="426720"/>
                </a:lnTo>
                <a:lnTo>
                  <a:pt x="574675" y="448945"/>
                </a:lnTo>
                <a:lnTo>
                  <a:pt x="622300" y="473075"/>
                </a:lnTo>
                <a:lnTo>
                  <a:pt x="673100" y="488950"/>
                </a:lnTo>
                <a:lnTo>
                  <a:pt x="809625" y="492125"/>
                </a:lnTo>
                <a:lnTo>
                  <a:pt x="2455545" y="493395"/>
                </a:lnTo>
                <a:lnTo>
                  <a:pt x="2560320" y="493395"/>
                </a:lnTo>
                <a:lnTo>
                  <a:pt x="2644775" y="490220"/>
                </a:lnTo>
                <a:lnTo>
                  <a:pt x="2695575" y="482600"/>
                </a:lnTo>
                <a:lnTo>
                  <a:pt x="2747645" y="464820"/>
                </a:lnTo>
                <a:lnTo>
                  <a:pt x="2797175" y="433070"/>
                </a:lnTo>
                <a:lnTo>
                  <a:pt x="2835275" y="407670"/>
                </a:lnTo>
                <a:lnTo>
                  <a:pt x="2858770" y="390525"/>
                </a:lnTo>
                <a:lnTo>
                  <a:pt x="2884170" y="368300"/>
                </a:lnTo>
                <a:lnTo>
                  <a:pt x="2917825" y="336550"/>
                </a:lnTo>
                <a:lnTo>
                  <a:pt x="2936875" y="311150"/>
                </a:lnTo>
                <a:lnTo>
                  <a:pt x="2963545" y="274320"/>
                </a:lnTo>
                <a:lnTo>
                  <a:pt x="2992120" y="238125"/>
                </a:lnTo>
                <a:lnTo>
                  <a:pt x="3006725" y="213995"/>
                </a:lnTo>
                <a:lnTo>
                  <a:pt x="3036570" y="174625"/>
                </a:lnTo>
                <a:lnTo>
                  <a:pt x="3068320" y="146050"/>
                </a:lnTo>
                <a:lnTo>
                  <a:pt x="3100070" y="107950"/>
                </a:lnTo>
                <a:lnTo>
                  <a:pt x="3155950" y="63500"/>
                </a:lnTo>
                <a:lnTo>
                  <a:pt x="3217545" y="25400"/>
                </a:lnTo>
                <a:lnTo>
                  <a:pt x="3276600" y="0"/>
                </a:lnTo>
                <a:lnTo>
                  <a:pt x="0" y="4445"/>
                </a:lnTo>
                <a:close/>
              </a:path>
            </a:pathLst>
          </a:custGeom>
          <a:solidFill>
            <a:srgbClr val="2E5495"/>
          </a:solidFill>
          <a:ln>
            <a:solidFill>
              <a:srgbClr val="2E549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文本框 33"/>
          <p:cNvSpPr txBox="1"/>
          <p:nvPr/>
        </p:nvSpPr>
        <p:spPr>
          <a:xfrm>
            <a:off x="5235575" y="795020"/>
            <a:ext cx="1922145" cy="229870"/>
          </a:xfrm>
          <a:prstGeom prst="rect">
            <a:avLst/>
          </a:prstGeom>
          <a:noFill/>
        </p:spPr>
        <p:txBody>
          <a:bodyPr wrap="square" rtlCol="0">
            <a:spAutoFit/>
          </a:bodyPr>
          <a:p>
            <a:r>
              <a:rPr lang="en-US" altLang="zh-CN" sz="900">
                <a:latin typeface="微软雅黑" panose="020B0503020204020204" charset="-122"/>
                <a:ea typeface="微软雅黑" panose="020B0503020204020204" charset="-122"/>
              </a:rPr>
              <a:t>C    O    N    T    E    N    T    S</a:t>
            </a:r>
            <a:endParaRPr lang="en-US" altLang="zh-CN" sz="900">
              <a:latin typeface="微软雅黑" panose="020B0503020204020204" charset="-122"/>
              <a:ea typeface="微软雅黑" panose="020B0503020204020204" charset="-122"/>
            </a:endParaRPr>
          </a:p>
        </p:txBody>
      </p:sp>
      <p:sp>
        <p:nvSpPr>
          <p:cNvPr id="35" name="椭圆 34"/>
          <p:cNvSpPr/>
          <p:nvPr>
            <p:custDataLst>
              <p:tags r:id="rId2"/>
            </p:custDataLst>
          </p:nvPr>
        </p:nvSpPr>
        <p:spPr>
          <a:xfrm>
            <a:off x="2480310" y="112839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一</a:t>
            </a:r>
            <a:endParaRPr lang="zh-CN" altLang="en-US" sz="3200">
              <a:solidFill>
                <a:srgbClr val="8B8D8A"/>
              </a:solidFill>
            </a:endParaRPr>
          </a:p>
        </p:txBody>
      </p:sp>
      <p:sp>
        <p:nvSpPr>
          <p:cNvPr id="36" name="文本框 35"/>
          <p:cNvSpPr txBox="1"/>
          <p:nvPr>
            <p:custDataLst>
              <p:tags r:id="rId3"/>
            </p:custDataLst>
          </p:nvPr>
        </p:nvSpPr>
        <p:spPr>
          <a:xfrm>
            <a:off x="4895850" y="1215390"/>
            <a:ext cx="3754120" cy="568325"/>
          </a:xfrm>
          <a:prstGeom prst="rect">
            <a:avLst/>
          </a:prstGeom>
          <a:noFill/>
        </p:spPr>
        <p:txBody>
          <a:bodyPr wrap="square" rtlCol="0">
            <a:spAutoFit/>
          </a:bodyPr>
          <a:p>
            <a:r>
              <a:rPr lang="zh-CN" altLang="en-US" sz="3100">
                <a:solidFill>
                  <a:srgbClr val="8B8D8A"/>
                </a:solidFill>
              </a:rPr>
              <a:t>研究背景与意义</a:t>
            </a:r>
            <a:endParaRPr lang="zh-CN" altLang="en-US" sz="3100">
              <a:solidFill>
                <a:srgbClr val="8B8D8A"/>
              </a:solidFill>
            </a:endParaRPr>
          </a:p>
        </p:txBody>
      </p:sp>
      <p:sp>
        <p:nvSpPr>
          <p:cNvPr id="37" name="新月形 36"/>
          <p:cNvSpPr/>
          <p:nvPr>
            <p:custDataLst>
              <p:tags r:id="rId4"/>
            </p:custDataLst>
          </p:nvPr>
        </p:nvSpPr>
        <p:spPr>
          <a:xfrm rot="10800000">
            <a:off x="3242310" y="1261745"/>
            <a:ext cx="172720" cy="537210"/>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直角三角形 37"/>
          <p:cNvSpPr/>
          <p:nvPr>
            <p:custDataLst>
              <p:tags r:id="rId5"/>
            </p:custDataLst>
          </p:nvPr>
        </p:nvSpPr>
        <p:spPr>
          <a:xfrm rot="10800000">
            <a:off x="3272790" y="12617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直角三角形 38"/>
          <p:cNvSpPr/>
          <p:nvPr>
            <p:custDataLst>
              <p:tags r:id="rId6"/>
            </p:custDataLst>
          </p:nvPr>
        </p:nvSpPr>
        <p:spPr>
          <a:xfrm rot="10800000" flipV="1">
            <a:off x="3242310" y="164655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custDataLst>
              <p:tags r:id="rId7"/>
            </p:custDataLst>
          </p:nvPr>
        </p:nvSpPr>
        <p:spPr>
          <a:xfrm>
            <a:off x="2449830" y="2007235"/>
            <a:ext cx="82296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chemeClr val="bg2">
                    <a:lumMod val="50000"/>
                  </a:schemeClr>
                </a:solidFill>
              </a:rPr>
              <a:t>二</a:t>
            </a:r>
            <a:endParaRPr lang="zh-CN" altLang="en-US" sz="3200">
              <a:solidFill>
                <a:schemeClr val="bg2">
                  <a:lumMod val="50000"/>
                </a:schemeClr>
              </a:solidFill>
            </a:endParaRPr>
          </a:p>
        </p:txBody>
      </p:sp>
      <p:sp>
        <p:nvSpPr>
          <p:cNvPr id="41" name="椭圆 40"/>
          <p:cNvSpPr/>
          <p:nvPr>
            <p:custDataLst>
              <p:tags r:id="rId8"/>
            </p:custDataLst>
          </p:nvPr>
        </p:nvSpPr>
        <p:spPr>
          <a:xfrm>
            <a:off x="2480310" y="2886075"/>
            <a:ext cx="792480" cy="756920"/>
          </a:xfrm>
          <a:prstGeom prst="ellips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三</a:t>
            </a:r>
            <a:endParaRPr lang="zh-CN" altLang="en-US" sz="3200">
              <a:solidFill>
                <a:srgbClr val="8B8D8A"/>
              </a:solidFill>
            </a:endParaRPr>
          </a:p>
        </p:txBody>
      </p:sp>
      <p:sp>
        <p:nvSpPr>
          <p:cNvPr id="42" name="椭圆 41"/>
          <p:cNvSpPr/>
          <p:nvPr>
            <p:custDataLst>
              <p:tags r:id="rId9"/>
            </p:custDataLst>
          </p:nvPr>
        </p:nvSpPr>
        <p:spPr>
          <a:xfrm>
            <a:off x="2480310" y="3764915"/>
            <a:ext cx="792480" cy="756920"/>
          </a:xfrm>
          <a:prstGeom prst="ellipse">
            <a:avLst/>
          </a:prstGeom>
          <a:solidFill>
            <a:srgbClr val="023A8C"/>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chemeClr val="bg1"/>
                </a:solidFill>
              </a:rPr>
              <a:t>四</a:t>
            </a:r>
            <a:endParaRPr lang="zh-CN" altLang="en-US" sz="3200">
              <a:solidFill>
                <a:schemeClr val="bg1"/>
              </a:solidFill>
            </a:endParaRPr>
          </a:p>
        </p:txBody>
      </p:sp>
      <p:sp>
        <p:nvSpPr>
          <p:cNvPr id="43" name="椭圆 42"/>
          <p:cNvSpPr/>
          <p:nvPr>
            <p:custDataLst>
              <p:tags r:id="rId10"/>
            </p:custDataLst>
          </p:nvPr>
        </p:nvSpPr>
        <p:spPr>
          <a:xfrm>
            <a:off x="2480310" y="4643755"/>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五</a:t>
            </a:r>
            <a:endParaRPr lang="zh-CN" altLang="en-US" sz="3200">
              <a:solidFill>
                <a:srgbClr val="8B8D8A"/>
              </a:solidFill>
            </a:endParaRPr>
          </a:p>
        </p:txBody>
      </p:sp>
      <p:sp>
        <p:nvSpPr>
          <p:cNvPr id="44" name="直角三角形 43"/>
          <p:cNvSpPr/>
          <p:nvPr>
            <p:custDataLst>
              <p:tags r:id="rId11"/>
            </p:custDataLst>
          </p:nvPr>
        </p:nvSpPr>
        <p:spPr>
          <a:xfrm rot="10800000">
            <a:off x="3215005" y="2122805"/>
            <a:ext cx="202565" cy="188595"/>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直角三角形 44"/>
          <p:cNvSpPr/>
          <p:nvPr>
            <p:custDataLst>
              <p:tags r:id="rId12"/>
            </p:custDataLst>
          </p:nvPr>
        </p:nvSpPr>
        <p:spPr>
          <a:xfrm rot="10800000">
            <a:off x="3387090" y="306006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新月形 45"/>
          <p:cNvSpPr/>
          <p:nvPr>
            <p:custDataLst>
              <p:tags r:id="rId13"/>
            </p:custDataLst>
          </p:nvPr>
        </p:nvSpPr>
        <p:spPr>
          <a:xfrm rot="10800000">
            <a:off x="3242310" y="2146935"/>
            <a:ext cx="172720" cy="488315"/>
          </a:xfrm>
          <a:prstGeom prst="moon">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直角三角形 46"/>
          <p:cNvSpPr/>
          <p:nvPr>
            <p:custDataLst>
              <p:tags r:id="rId14"/>
            </p:custDataLst>
          </p:nvPr>
        </p:nvSpPr>
        <p:spPr>
          <a:xfrm rot="10800000" flipV="1">
            <a:off x="3201035" y="2512695"/>
            <a:ext cx="202565" cy="158750"/>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矩形 47"/>
          <p:cNvSpPr/>
          <p:nvPr>
            <p:custDataLst>
              <p:tags r:id="rId15"/>
            </p:custDataLst>
          </p:nvPr>
        </p:nvSpPr>
        <p:spPr>
          <a:xfrm>
            <a:off x="3352800" y="2132330"/>
            <a:ext cx="6464300" cy="532765"/>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文本框 49"/>
          <p:cNvSpPr txBox="1"/>
          <p:nvPr>
            <p:custDataLst>
              <p:tags r:id="rId16"/>
            </p:custDataLst>
          </p:nvPr>
        </p:nvSpPr>
        <p:spPr>
          <a:xfrm>
            <a:off x="3865245" y="2122805"/>
            <a:ext cx="5951855" cy="568325"/>
          </a:xfrm>
          <a:prstGeom prst="rect">
            <a:avLst/>
          </a:prstGeom>
          <a:noFill/>
        </p:spPr>
        <p:txBody>
          <a:bodyPr wrap="square" rtlCol="0">
            <a:spAutoFit/>
          </a:bodyPr>
          <a:p>
            <a:r>
              <a:rPr lang="zh-CN" altLang="en-US" sz="3100">
                <a:solidFill>
                  <a:srgbClr val="8B8D8A"/>
                </a:solidFill>
              </a:rPr>
              <a:t>多保真度耦合非线性动力学模型</a:t>
            </a:r>
            <a:endParaRPr lang="zh-CN" altLang="en-US" sz="3100">
              <a:solidFill>
                <a:srgbClr val="8B8D8A"/>
              </a:solidFill>
            </a:endParaRPr>
          </a:p>
        </p:txBody>
      </p:sp>
      <p:sp>
        <p:nvSpPr>
          <p:cNvPr id="51" name="新月形 50"/>
          <p:cNvSpPr/>
          <p:nvPr>
            <p:custDataLst>
              <p:tags r:id="rId17"/>
            </p:custDataLst>
          </p:nvPr>
        </p:nvSpPr>
        <p:spPr>
          <a:xfrm rot="10800000">
            <a:off x="3242310" y="3903345"/>
            <a:ext cx="172720" cy="488315"/>
          </a:xfrm>
          <a:prstGeom prst="moon">
            <a:avLst/>
          </a:prstGeom>
          <a:solidFill>
            <a:srgbClr val="023A8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新月形 51"/>
          <p:cNvSpPr/>
          <p:nvPr>
            <p:custDataLst>
              <p:tags r:id="rId18"/>
            </p:custDataLst>
          </p:nvPr>
        </p:nvSpPr>
        <p:spPr>
          <a:xfrm rot="10800000">
            <a:off x="3242310" y="4777105"/>
            <a:ext cx="20320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新月形 52"/>
          <p:cNvSpPr/>
          <p:nvPr>
            <p:custDataLst>
              <p:tags r:id="rId19"/>
            </p:custDataLst>
          </p:nvPr>
        </p:nvSpPr>
        <p:spPr>
          <a:xfrm rot="10800000">
            <a:off x="3242310" y="3021965"/>
            <a:ext cx="172720" cy="486410"/>
          </a:xfrm>
          <a:prstGeom prst="moon">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直角三角形 53"/>
          <p:cNvSpPr/>
          <p:nvPr>
            <p:custDataLst>
              <p:tags r:id="rId20"/>
            </p:custDataLst>
          </p:nvPr>
        </p:nvSpPr>
        <p:spPr>
          <a:xfrm rot="10800000">
            <a:off x="3242310" y="3027045"/>
            <a:ext cx="202565" cy="152400"/>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直角三角形 54"/>
          <p:cNvSpPr/>
          <p:nvPr>
            <p:custDataLst>
              <p:tags r:id="rId21"/>
            </p:custDataLst>
          </p:nvPr>
        </p:nvSpPr>
        <p:spPr>
          <a:xfrm rot="10800000">
            <a:off x="3242310" y="3896360"/>
            <a:ext cx="202565" cy="159385"/>
          </a:xfrm>
          <a:prstGeom prst="rtTriangle">
            <a:avLst/>
          </a:prstGeom>
          <a:solidFill>
            <a:srgbClr val="023A8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6" name="直角三角形 55"/>
          <p:cNvSpPr/>
          <p:nvPr>
            <p:custDataLst>
              <p:tags r:id="rId22"/>
            </p:custDataLst>
          </p:nvPr>
        </p:nvSpPr>
        <p:spPr>
          <a:xfrm rot="10800000">
            <a:off x="3242310" y="4779645"/>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直角三角形 56"/>
          <p:cNvSpPr/>
          <p:nvPr>
            <p:custDataLst>
              <p:tags r:id="rId23"/>
            </p:custDataLst>
          </p:nvPr>
        </p:nvSpPr>
        <p:spPr>
          <a:xfrm rot="10800000" flipV="1">
            <a:off x="3227705" y="5115560"/>
            <a:ext cx="202565" cy="160655"/>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直角三角形 57"/>
          <p:cNvSpPr/>
          <p:nvPr>
            <p:custDataLst>
              <p:tags r:id="rId24"/>
            </p:custDataLst>
          </p:nvPr>
        </p:nvSpPr>
        <p:spPr>
          <a:xfrm rot="10800000" flipV="1">
            <a:off x="3242310" y="4239895"/>
            <a:ext cx="202565" cy="152400"/>
          </a:xfrm>
          <a:prstGeom prst="rtTriangle">
            <a:avLst/>
          </a:prstGeom>
          <a:solidFill>
            <a:srgbClr val="023A8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直角三角形 58"/>
          <p:cNvSpPr/>
          <p:nvPr>
            <p:custDataLst>
              <p:tags r:id="rId25"/>
            </p:custDataLst>
          </p:nvPr>
        </p:nvSpPr>
        <p:spPr>
          <a:xfrm rot="10800000" flipV="1">
            <a:off x="3242310" y="3357245"/>
            <a:ext cx="202565" cy="152400"/>
          </a:xfrm>
          <a:prstGeom prst="rtTriangle">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矩形 59"/>
          <p:cNvSpPr/>
          <p:nvPr>
            <p:custDataLst>
              <p:tags r:id="rId26"/>
            </p:custDataLst>
          </p:nvPr>
        </p:nvSpPr>
        <p:spPr>
          <a:xfrm>
            <a:off x="3331845" y="3029585"/>
            <a:ext cx="6502400" cy="480695"/>
          </a:xfrm>
          <a:prstGeom prst="rect">
            <a:avLst/>
          </a:prstGeom>
          <a:solidFill>
            <a:srgbClr val="D6DDD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文本框 60"/>
          <p:cNvSpPr txBox="1"/>
          <p:nvPr>
            <p:custDataLst>
              <p:tags r:id="rId27"/>
            </p:custDataLst>
          </p:nvPr>
        </p:nvSpPr>
        <p:spPr>
          <a:xfrm>
            <a:off x="3703955" y="2980690"/>
            <a:ext cx="5397500" cy="529590"/>
          </a:xfrm>
          <a:prstGeom prst="rect">
            <a:avLst/>
          </a:prstGeom>
          <a:noFill/>
        </p:spPr>
        <p:txBody>
          <a:bodyPr wrap="square" rtlCol="0">
            <a:noAutofit/>
          </a:bodyPr>
          <a:p>
            <a:r>
              <a:rPr lang="zh-CN" altLang="en-US" sz="3100">
                <a:solidFill>
                  <a:srgbClr val="8B8D8A"/>
                </a:solidFill>
              </a:rPr>
              <a:t>动力响应性能与疲劳寿命评估</a:t>
            </a:r>
            <a:endParaRPr lang="zh-CN" altLang="en-US" sz="3100">
              <a:solidFill>
                <a:srgbClr val="8B8D8A"/>
              </a:solidFill>
            </a:endParaRPr>
          </a:p>
        </p:txBody>
      </p:sp>
      <p:sp>
        <p:nvSpPr>
          <p:cNvPr id="62" name="矩形 61"/>
          <p:cNvSpPr/>
          <p:nvPr/>
        </p:nvSpPr>
        <p:spPr>
          <a:xfrm>
            <a:off x="3352800" y="3896360"/>
            <a:ext cx="6523355" cy="495300"/>
          </a:xfrm>
          <a:prstGeom prst="rect">
            <a:avLst/>
          </a:prstGeom>
          <a:solidFill>
            <a:srgbClr val="023A8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文本框 62"/>
          <p:cNvSpPr txBox="1"/>
          <p:nvPr>
            <p:custDataLst>
              <p:tags r:id="rId28"/>
            </p:custDataLst>
          </p:nvPr>
        </p:nvSpPr>
        <p:spPr>
          <a:xfrm>
            <a:off x="3919855" y="3867150"/>
            <a:ext cx="5617210" cy="568325"/>
          </a:xfrm>
          <a:prstGeom prst="rect">
            <a:avLst/>
          </a:prstGeom>
          <a:noFill/>
          <a:ln>
            <a:noFill/>
          </a:ln>
        </p:spPr>
        <p:txBody>
          <a:bodyPr wrap="square" rtlCol="0">
            <a:spAutoFit/>
          </a:bodyPr>
          <a:p>
            <a:r>
              <a:rPr lang="zh-CN" altLang="en-US" sz="3100" b="1">
                <a:solidFill>
                  <a:schemeClr val="bg1"/>
                </a:solidFill>
              </a:rPr>
              <a:t>极端工况下动力可靠度评估</a:t>
            </a:r>
            <a:endParaRPr lang="zh-CN" altLang="en-US" sz="3100" b="1">
              <a:solidFill>
                <a:schemeClr val="bg1"/>
              </a:solidFill>
            </a:endParaRPr>
          </a:p>
        </p:txBody>
      </p:sp>
      <p:sp>
        <p:nvSpPr>
          <p:cNvPr id="64" name="矩形 63"/>
          <p:cNvSpPr/>
          <p:nvPr/>
        </p:nvSpPr>
        <p:spPr>
          <a:xfrm>
            <a:off x="3417570" y="4778375"/>
            <a:ext cx="6413500" cy="49530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5" name="文本框 64"/>
          <p:cNvSpPr txBox="1"/>
          <p:nvPr>
            <p:custDataLst>
              <p:tags r:id="rId29"/>
            </p:custDataLst>
          </p:nvPr>
        </p:nvSpPr>
        <p:spPr>
          <a:xfrm>
            <a:off x="4707255" y="4734560"/>
            <a:ext cx="3576955" cy="568325"/>
          </a:xfrm>
          <a:prstGeom prst="rect">
            <a:avLst/>
          </a:prstGeom>
          <a:noFill/>
        </p:spPr>
        <p:txBody>
          <a:bodyPr wrap="square" rtlCol="0">
            <a:spAutoFit/>
          </a:bodyPr>
          <a:p>
            <a:r>
              <a:rPr lang="zh-CN" altLang="en-US" sz="3100">
                <a:solidFill>
                  <a:srgbClr val="8B8D8A"/>
                </a:solidFill>
              </a:rPr>
              <a:t>动力响应性能提升</a:t>
            </a:r>
            <a:endParaRPr lang="zh-CN" altLang="en-US" sz="3100">
              <a:solidFill>
                <a:srgbClr val="8B8D8A"/>
              </a:solidFill>
            </a:endParaRPr>
          </a:p>
        </p:txBody>
      </p:sp>
      <p:sp>
        <p:nvSpPr>
          <p:cNvPr id="66" name="椭圆 65"/>
          <p:cNvSpPr/>
          <p:nvPr>
            <p:custDataLst>
              <p:tags r:id="rId30"/>
            </p:custDataLst>
          </p:nvPr>
        </p:nvSpPr>
        <p:spPr>
          <a:xfrm>
            <a:off x="2480310" y="5520690"/>
            <a:ext cx="792480" cy="756920"/>
          </a:xfrm>
          <a:prstGeom prst="ellips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a:solidFill>
                  <a:srgbClr val="8B8D8A"/>
                </a:solidFill>
              </a:rPr>
              <a:t>六</a:t>
            </a:r>
            <a:endParaRPr lang="zh-CN" altLang="en-US" sz="3200">
              <a:solidFill>
                <a:srgbClr val="8B8D8A"/>
              </a:solidFill>
            </a:endParaRPr>
          </a:p>
        </p:txBody>
      </p:sp>
      <p:sp>
        <p:nvSpPr>
          <p:cNvPr id="67" name="直角三角形 66"/>
          <p:cNvSpPr/>
          <p:nvPr>
            <p:custDataLst>
              <p:tags r:id="rId31"/>
            </p:custDataLst>
          </p:nvPr>
        </p:nvSpPr>
        <p:spPr>
          <a:xfrm rot="10800000">
            <a:off x="3272790" y="5661660"/>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8" name="新月形 67"/>
          <p:cNvSpPr/>
          <p:nvPr>
            <p:custDataLst>
              <p:tags r:id="rId32"/>
            </p:custDataLst>
          </p:nvPr>
        </p:nvSpPr>
        <p:spPr>
          <a:xfrm rot="10800000">
            <a:off x="3272155" y="5661660"/>
            <a:ext cx="172720" cy="488315"/>
          </a:xfrm>
          <a:prstGeom prst="moon">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9" name="直角三角形 68"/>
          <p:cNvSpPr/>
          <p:nvPr>
            <p:custDataLst>
              <p:tags r:id="rId33"/>
            </p:custDataLst>
          </p:nvPr>
        </p:nvSpPr>
        <p:spPr>
          <a:xfrm rot="10800000" flipV="1">
            <a:off x="3272155" y="5996940"/>
            <a:ext cx="202565" cy="152400"/>
          </a:xfrm>
          <a:prstGeom prst="rtTriangle">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0" name="矩形 69"/>
          <p:cNvSpPr/>
          <p:nvPr/>
        </p:nvSpPr>
        <p:spPr>
          <a:xfrm>
            <a:off x="3357880" y="5660390"/>
            <a:ext cx="6477000" cy="478790"/>
          </a:xfrm>
          <a:prstGeom prst="rect">
            <a:avLst/>
          </a:prstGeom>
          <a:solidFill>
            <a:srgbClr val="D6DDD6"/>
          </a:solidFill>
          <a:ln>
            <a:solidFill>
              <a:srgbClr val="D6DDD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 name="文本框 70"/>
          <p:cNvSpPr txBox="1"/>
          <p:nvPr/>
        </p:nvSpPr>
        <p:spPr>
          <a:xfrm>
            <a:off x="5307330" y="5601970"/>
            <a:ext cx="2764790" cy="568325"/>
          </a:xfrm>
          <a:prstGeom prst="rect">
            <a:avLst/>
          </a:prstGeom>
          <a:noFill/>
        </p:spPr>
        <p:txBody>
          <a:bodyPr wrap="square" rtlCol="0">
            <a:spAutoFit/>
          </a:bodyPr>
          <a:p>
            <a:r>
              <a:rPr lang="zh-CN" altLang="en-US" sz="3100">
                <a:solidFill>
                  <a:srgbClr val="8B8D8A"/>
                </a:solidFill>
              </a:rPr>
              <a:t>结论与展望</a:t>
            </a:r>
            <a:endParaRPr lang="zh-CN" altLang="en-US" sz="3100">
              <a:solidFill>
                <a:srgbClr val="8B8D8A"/>
              </a:solidFill>
            </a:endParaRPr>
          </a:p>
        </p:txBody>
      </p:sp>
      <p:sp>
        <p:nvSpPr>
          <p:cNvPr id="72" name="文本框 71"/>
          <p:cNvSpPr txBox="1"/>
          <p:nvPr/>
        </p:nvSpPr>
        <p:spPr>
          <a:xfrm>
            <a:off x="5541010" y="226060"/>
            <a:ext cx="1109980" cy="583565"/>
          </a:xfrm>
          <a:prstGeom prst="rect">
            <a:avLst/>
          </a:prstGeom>
          <a:noFill/>
        </p:spPr>
        <p:txBody>
          <a:bodyPr wrap="square" rtlCol="0">
            <a:spAutoFit/>
          </a:bodyPr>
          <a:p>
            <a:r>
              <a:rPr lang="zh-CN" altLang="en-US" sz="3200" b="1">
                <a:solidFill>
                  <a:schemeClr val="bg1"/>
                </a:solidFill>
              </a:rPr>
              <a:t>目</a:t>
            </a:r>
            <a:r>
              <a:rPr lang="en-US" altLang="zh-CN" sz="3200" b="1">
                <a:solidFill>
                  <a:schemeClr val="bg1"/>
                </a:solidFill>
              </a:rPr>
              <a:t> </a:t>
            </a:r>
            <a:r>
              <a:rPr lang="zh-CN" altLang="en-US" sz="3200" b="1">
                <a:solidFill>
                  <a:schemeClr val="bg1"/>
                </a:solidFill>
              </a:rPr>
              <a:t>录</a:t>
            </a:r>
            <a:endParaRPr lang="zh-CN" altLang="en-US" sz="3200" b="1">
              <a:solidFill>
                <a:schemeClr val="bg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1" descr="image.png"/>
          <p:cNvPicPr>
            <a:picLocks noChangeAspect="1"/>
          </p:cNvPicPr>
          <p:nvPr/>
        </p:nvPicPr>
        <p:blipFill>
          <a:blip r:embed="rId1"/>
          <a:stretch>
            <a:fillRect/>
          </a:stretch>
        </p:blipFill>
        <p:spPr>
          <a:xfrm>
            <a:off x="5462905" y="1521460"/>
            <a:ext cx="6404610" cy="4870450"/>
          </a:xfrm>
          <a:prstGeom prst="rect">
            <a:avLst/>
          </a:prstGeom>
        </p:spPr>
      </p:pic>
      <p:pic>
        <p:nvPicPr>
          <p:cNvPr id="5" name="Picture 2" descr="image.png"/>
          <p:cNvPicPr/>
          <p:nvPr/>
        </p:nvPicPr>
        <p:blipFill>
          <a:blip r:embed="rId2"/>
          <a:srcRect r="9597"/>
          <a:stretch>
            <a:fillRect/>
          </a:stretch>
        </p:blipFill>
        <p:spPr>
          <a:xfrm>
            <a:off x="210185" y="1520825"/>
            <a:ext cx="5153660" cy="3270250"/>
          </a:xfrm>
          <a:prstGeom prst="rect">
            <a:avLst/>
          </a:prstGeom>
        </p:spPr>
      </p:pic>
      <p:pic>
        <p:nvPicPr>
          <p:cNvPr id="6" name="Picture 3" descr="image.png"/>
          <p:cNvPicPr>
            <a:picLocks noChangeAspect="1"/>
          </p:cNvPicPr>
          <p:nvPr/>
        </p:nvPicPr>
        <p:blipFill>
          <a:blip r:embed="rId3"/>
          <a:stretch>
            <a:fillRect/>
          </a:stretch>
        </p:blipFill>
        <p:spPr>
          <a:xfrm>
            <a:off x="210442" y="4812298"/>
            <a:ext cx="5153472" cy="2017031"/>
          </a:xfrm>
          <a:prstGeom prst="rect">
            <a:avLst/>
          </a:prstGeom>
        </p:spPr>
      </p:pic>
      <p:pic>
        <p:nvPicPr>
          <p:cNvPr id="9" name="Picture 8" descr="image.png"/>
          <p:cNvPicPr>
            <a:picLocks noChangeAspect="1"/>
          </p:cNvPicPr>
          <p:nvPr/>
        </p:nvPicPr>
        <p:blipFill>
          <a:blip r:embed="rId4"/>
          <a:stretch>
            <a:fillRect/>
          </a:stretch>
        </p:blipFill>
        <p:spPr>
          <a:xfrm>
            <a:off x="5532755" y="2054225"/>
            <a:ext cx="6281420" cy="1413510"/>
          </a:xfrm>
          <a:prstGeom prst="rect">
            <a:avLst/>
          </a:prstGeom>
        </p:spPr>
      </p:pic>
      <p:pic>
        <p:nvPicPr>
          <p:cNvPr id="10" name="Picture 9" descr="image.png"/>
          <p:cNvPicPr>
            <a:picLocks noChangeAspect="1"/>
          </p:cNvPicPr>
          <p:nvPr/>
        </p:nvPicPr>
        <p:blipFill>
          <a:blip r:embed="rId5"/>
          <a:stretch>
            <a:fillRect/>
          </a:stretch>
        </p:blipFill>
        <p:spPr>
          <a:xfrm>
            <a:off x="5532763" y="3552826"/>
            <a:ext cx="6281142" cy="2565922"/>
          </a:xfrm>
          <a:prstGeom prst="rect">
            <a:avLst/>
          </a:prstGeom>
        </p:spPr>
      </p:pic>
      <p:pic>
        <p:nvPicPr>
          <p:cNvPr id="12" name="Picture 11" descr="image.png"/>
          <p:cNvPicPr/>
          <p:nvPr/>
        </p:nvPicPr>
        <p:blipFill>
          <a:blip r:embed="rId6"/>
          <a:srcRect l="1219"/>
          <a:stretch>
            <a:fillRect/>
          </a:stretch>
        </p:blipFill>
        <p:spPr>
          <a:xfrm>
            <a:off x="7759583" y="2054893"/>
            <a:ext cx="3991346" cy="1413100"/>
          </a:xfrm>
          <a:prstGeom prst="rect">
            <a:avLst/>
          </a:prstGeom>
        </p:spPr>
      </p:pic>
      <p:sp>
        <p:nvSpPr>
          <p:cNvPr id="20" name="Rectangle 19"/>
          <p:cNvSpPr/>
          <p:nvPr/>
        </p:nvSpPr>
        <p:spPr>
          <a:xfrm>
            <a:off x="723900" y="690562"/>
            <a:ext cx="95250" cy="95250"/>
          </a:xfrm>
          <a:prstGeom prst="rect">
            <a:avLst/>
          </a:prstGeom>
          <a:solidFill>
            <a:srgbClr val="133D7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latin typeface="微软雅黑" panose="020B0503020204020204" charset="-122"/>
              <a:ea typeface="微软雅黑" panose="020B0503020204020204" charset="-122"/>
            </a:endParaRPr>
          </a:p>
        </p:txBody>
      </p:sp>
      <p:sp>
        <p:nvSpPr>
          <p:cNvPr id="23" name="TextBox 22"/>
          <p:cNvSpPr txBox="1"/>
          <p:nvPr/>
        </p:nvSpPr>
        <p:spPr>
          <a:xfrm>
            <a:off x="5520183" y="6178493"/>
            <a:ext cx="6281142" cy="184666"/>
          </a:xfrm>
          <a:prstGeom prst="rect">
            <a:avLst/>
          </a:prstGeom>
          <a:noFill/>
        </p:spPr>
        <p:txBody>
          <a:bodyPr wrap="square" lIns="0" tIns="0" rIns="0" bIns="0" anchor="t">
            <a:spAutoFit/>
          </a:bodyPr>
          <a:p>
            <a:pPr algn="ctr"/>
            <a:r>
              <a:rPr sz="1200" i="0" u="none" dirty="0" err="1">
                <a:solidFill>
                  <a:srgbClr val="1E293B"/>
                </a:solidFill>
                <a:latin typeface="微软雅黑" panose="020B0503020204020204" charset="-122"/>
                <a:ea typeface="微软雅黑" panose="020B0503020204020204" charset="-122"/>
              </a:rPr>
              <a:t>水平位移角限值可靠度确定流程</a:t>
            </a:r>
            <a:endParaRPr sz="1200" i="0" u="none" dirty="0">
              <a:solidFill>
                <a:srgbClr val="1E293B"/>
              </a:solidFill>
              <a:latin typeface="微软雅黑" panose="020B0503020204020204" charset="-122"/>
              <a:ea typeface="微软雅黑" panose="020B0503020204020204" charset="-122"/>
            </a:endParaRPr>
          </a:p>
        </p:txBody>
      </p:sp>
      <p:sp>
        <p:nvSpPr>
          <p:cNvPr id="24" name="TextBox 23"/>
          <p:cNvSpPr txBox="1"/>
          <p:nvPr/>
        </p:nvSpPr>
        <p:spPr>
          <a:xfrm>
            <a:off x="524025" y="1939618"/>
            <a:ext cx="2411015" cy="798360"/>
          </a:xfrm>
          <a:prstGeom prst="rect">
            <a:avLst/>
          </a:prstGeom>
          <a:noFill/>
        </p:spPr>
        <p:txBody>
          <a:bodyPr wrap="square" lIns="0" tIns="0" rIns="0" bIns="0" anchor="t">
            <a:spAutoFit/>
          </a:bodyPr>
          <a:p>
            <a:pPr algn="l">
              <a:lnSpc>
                <a:spcPct val="150000"/>
              </a:lnSpc>
            </a:pPr>
            <a:r>
              <a:rPr sz="1200" dirty="0" err="1">
                <a:solidFill>
                  <a:srgbClr val="1F2937"/>
                </a:solidFill>
                <a:latin typeface="微软雅黑" panose="020B0503020204020204" charset="-122"/>
                <a:ea typeface="微软雅黑" panose="020B0503020204020204" charset="-122"/>
              </a:rPr>
              <a:t>极端风速及多灾害作用</a:t>
            </a:r>
            <a:r>
              <a:rPr sz="1200" b="0" i="0" u="none" dirty="0" err="1">
                <a:solidFill>
                  <a:srgbClr val="1F2937"/>
                </a:solidFill>
                <a:latin typeface="微软雅黑" panose="020B0503020204020204" charset="-122"/>
                <a:ea typeface="微软雅黑" panose="020B0503020204020204" charset="-122"/>
              </a:rPr>
              <a:t>会显著放大塔架动力响应，传统确定性分析难以量化失效风险</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25" name="TextBox 24"/>
          <p:cNvSpPr txBox="1"/>
          <p:nvPr/>
        </p:nvSpPr>
        <p:spPr>
          <a:xfrm>
            <a:off x="496570" y="2816225"/>
            <a:ext cx="2410460" cy="845185"/>
          </a:xfrm>
          <a:prstGeom prst="rect">
            <a:avLst/>
          </a:prstGeom>
          <a:noFill/>
        </p:spPr>
        <p:txBody>
          <a:bodyPr wrap="square" lIns="0" tIns="0" rIns="0" bIns="0" anchor="t">
            <a:noAutofit/>
          </a:bodyPr>
          <a:p>
            <a:pPr algn="l">
              <a:lnSpc>
                <a:spcPct val="150000"/>
              </a:lnSpc>
            </a:pPr>
            <a:r>
              <a:rPr sz="1200" b="0" i="0" u="none" dirty="0" err="1">
                <a:solidFill>
                  <a:srgbClr val="1F2937"/>
                </a:solidFill>
                <a:latin typeface="微软雅黑" panose="020B0503020204020204" charset="-122"/>
                <a:ea typeface="微软雅黑" panose="020B0503020204020204" charset="-122"/>
              </a:rPr>
              <a:t>混塔结构存在材料非均质性、刚度突变、</a:t>
            </a:r>
            <a:r>
              <a:rPr sz="1200" dirty="0" err="1">
                <a:solidFill>
                  <a:srgbClr val="1F2937"/>
                </a:solidFill>
                <a:latin typeface="微软雅黑" panose="020B0503020204020204" charset="-122"/>
                <a:ea typeface="微软雅黑" panose="020B0503020204020204" charset="-122"/>
              </a:rPr>
              <a:t>预应力等多源不确定性，可</a:t>
            </a:r>
            <a:r>
              <a:rPr sz="1200" b="0" i="0" u="none" dirty="0" err="1">
                <a:solidFill>
                  <a:srgbClr val="1F2937"/>
                </a:solidFill>
                <a:latin typeface="微软雅黑" panose="020B0503020204020204" charset="-122"/>
                <a:ea typeface="微软雅黑" panose="020B0503020204020204" charset="-122"/>
              </a:rPr>
              <a:t>靠度分析更具挑战</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26" name="TextBox 25"/>
          <p:cNvSpPr txBox="1"/>
          <p:nvPr/>
        </p:nvSpPr>
        <p:spPr>
          <a:xfrm>
            <a:off x="496317" y="3758207"/>
            <a:ext cx="2411015" cy="798360"/>
          </a:xfrm>
          <a:prstGeom prst="rect">
            <a:avLst/>
          </a:prstGeom>
          <a:noFill/>
        </p:spPr>
        <p:txBody>
          <a:bodyPr wrap="square" lIns="0" tIns="0" rIns="0" bIns="0" anchor="t">
            <a:spAutoFit/>
          </a:bodyPr>
          <a:p>
            <a:pPr algn="l">
              <a:lnSpc>
                <a:spcPct val="150000"/>
              </a:lnSpc>
            </a:pPr>
            <a:r>
              <a:rPr sz="1200" b="0" i="0" u="none" dirty="0" err="1">
                <a:solidFill>
                  <a:srgbClr val="1F2937"/>
                </a:solidFill>
                <a:latin typeface="微软雅黑" panose="020B0503020204020204" charset="-122"/>
                <a:ea typeface="微软雅黑" panose="020B0503020204020204" charset="-122"/>
              </a:rPr>
              <a:t>最新IEC</a:t>
            </a:r>
            <a:r>
              <a:rPr sz="1200" b="0" i="0" u="none" dirty="0">
                <a:solidFill>
                  <a:srgbClr val="1F2937"/>
                </a:solidFill>
                <a:latin typeface="微软雅黑" panose="020B0503020204020204" charset="-122"/>
                <a:ea typeface="微软雅黑" panose="020B0503020204020204" charset="-122"/>
              </a:rPr>
              <a:t> 61400-9</a:t>
            </a:r>
            <a:r>
              <a:rPr sz="1200" dirty="0">
                <a:solidFill>
                  <a:srgbClr val="1F2937"/>
                </a:solidFill>
                <a:latin typeface="微软雅黑" panose="020B0503020204020204" charset="-122"/>
                <a:ea typeface="微软雅黑" panose="020B0503020204020204" charset="-122"/>
              </a:rPr>
              <a:t>对关键部件可靠度提出更高要求，现有</a:t>
            </a:r>
            <a:r>
              <a:rPr sz="1200" b="0" i="0" u="none" dirty="0">
                <a:solidFill>
                  <a:srgbClr val="1F2937"/>
                </a:solidFill>
                <a:latin typeface="微软雅黑" panose="020B0503020204020204" charset="-122"/>
                <a:ea typeface="微软雅黑" panose="020B0503020204020204" charset="-122"/>
              </a:rPr>
              <a:t>设计仍有提升空间。</a:t>
            </a:r>
            <a:endParaRPr sz="1200" b="0" i="0" u="none" dirty="0">
              <a:solidFill>
                <a:srgbClr val="1F2937"/>
              </a:solidFill>
              <a:latin typeface="微软雅黑" panose="020B0503020204020204" charset="-122"/>
              <a:ea typeface="微软雅黑" panose="020B0503020204020204" charset="-122"/>
            </a:endParaRPr>
          </a:p>
        </p:txBody>
      </p:sp>
      <p:sp>
        <p:nvSpPr>
          <p:cNvPr id="27" name="TextBox 26"/>
          <p:cNvSpPr txBox="1"/>
          <p:nvPr/>
        </p:nvSpPr>
        <p:spPr>
          <a:xfrm>
            <a:off x="3585210" y="4203065"/>
            <a:ext cx="1474470" cy="184150"/>
          </a:xfrm>
          <a:prstGeom prst="rect">
            <a:avLst/>
          </a:prstGeom>
          <a:noFill/>
        </p:spPr>
        <p:txBody>
          <a:bodyPr wrap="square" lIns="0" tIns="0" rIns="0" bIns="0" anchor="t">
            <a:spAutoFit/>
          </a:bodyPr>
          <a:p>
            <a:pPr algn="ctr"/>
            <a:r>
              <a:rPr sz="1200" b="0" i="0" u="none" dirty="0" err="1">
                <a:solidFill>
                  <a:srgbClr val="1E293B"/>
                </a:solidFill>
                <a:latin typeface="微软雅黑" panose="020B0503020204020204" charset="-122"/>
                <a:ea typeface="微软雅黑" panose="020B0503020204020204" charset="-122"/>
              </a:rPr>
              <a:t>风电机组受风灾破坏</a:t>
            </a:r>
            <a:endParaRPr sz="1200" b="0" i="0" u="none" dirty="0">
              <a:solidFill>
                <a:srgbClr val="1E293B"/>
              </a:solidFill>
              <a:latin typeface="微软雅黑" panose="020B0503020204020204" charset="-122"/>
              <a:ea typeface="微软雅黑" panose="020B0503020204020204" charset="-122"/>
            </a:endParaRPr>
          </a:p>
        </p:txBody>
      </p:sp>
      <p:sp>
        <p:nvSpPr>
          <p:cNvPr id="28" name="TextBox 27"/>
          <p:cNvSpPr txBox="1"/>
          <p:nvPr/>
        </p:nvSpPr>
        <p:spPr>
          <a:xfrm>
            <a:off x="523876" y="5127699"/>
            <a:ext cx="4573786" cy="521361"/>
          </a:xfrm>
          <a:prstGeom prst="rect">
            <a:avLst/>
          </a:prstGeom>
          <a:noFill/>
        </p:spPr>
        <p:txBody>
          <a:bodyPr wrap="square" lIns="0" tIns="0" rIns="0" bIns="0" anchor="t">
            <a:spAutoFit/>
          </a:bodyPr>
          <a:p>
            <a:pPr algn="l">
              <a:lnSpc>
                <a:spcPct val="150000"/>
              </a:lnSpc>
            </a:pPr>
            <a:r>
              <a:rPr sz="1200" dirty="0" err="1">
                <a:solidFill>
                  <a:srgbClr val="1F2937"/>
                </a:solidFill>
                <a:latin typeface="微软雅黑" panose="020B0503020204020204" charset="-122"/>
                <a:ea typeface="微软雅黑" panose="020B0503020204020204" charset="-122"/>
              </a:rPr>
              <a:t>建立基于一体化耦合非线性动力学模型</a:t>
            </a:r>
            <a:r>
              <a:rPr sz="1200" b="0" i="0" u="none" dirty="0" err="1">
                <a:solidFill>
                  <a:srgbClr val="1F2937"/>
                </a:solidFill>
                <a:latin typeface="微软雅黑" panose="020B0503020204020204" charset="-122"/>
                <a:ea typeface="微软雅黑" panose="020B0503020204020204" charset="-122"/>
              </a:rPr>
              <a:t>的极端风况动力可靠度评估方法</a:t>
            </a:r>
            <a:r>
              <a:rPr sz="1200" b="0" i="0" u="none" dirty="0">
                <a:solidFill>
                  <a:srgbClr val="1F2937"/>
                </a:solidFill>
                <a:latin typeface="微软雅黑" panose="020B0503020204020204" charset="-122"/>
                <a:ea typeface="微软雅黑" panose="020B0503020204020204" charset="-122"/>
              </a:rPr>
              <a:t>；</a:t>
            </a:r>
            <a:r>
              <a:rPr lang="en-US" sz="1200" b="0" i="0" u="none" dirty="0">
                <a:solidFill>
                  <a:srgbClr val="1F2937"/>
                </a:solidFill>
                <a:latin typeface="微软雅黑" panose="020B0503020204020204" charset="-122"/>
                <a:ea typeface="微软雅黑" panose="020B0503020204020204" charset="-122"/>
              </a:rPr>
              <a:t>  </a:t>
            </a:r>
            <a:endParaRPr sz="1200" b="0" i="0" u="none" dirty="0">
              <a:solidFill>
                <a:srgbClr val="1F2937"/>
              </a:solidFill>
              <a:latin typeface="微软雅黑" panose="020B0503020204020204" charset="-122"/>
              <a:ea typeface="微软雅黑" panose="020B0503020204020204" charset="-122"/>
            </a:endParaRPr>
          </a:p>
        </p:txBody>
      </p:sp>
      <p:sp>
        <p:nvSpPr>
          <p:cNvPr id="29" name="TextBox 28"/>
          <p:cNvSpPr txBox="1"/>
          <p:nvPr/>
        </p:nvSpPr>
        <p:spPr>
          <a:xfrm>
            <a:off x="523876" y="5736593"/>
            <a:ext cx="4536205" cy="244362"/>
          </a:xfrm>
          <a:prstGeom prst="rect">
            <a:avLst/>
          </a:prstGeom>
          <a:noFill/>
        </p:spPr>
        <p:txBody>
          <a:bodyPr wrap="square" lIns="0" tIns="0" rIns="0" bIns="0" anchor="t">
            <a:spAutoFit/>
          </a:bodyPr>
          <a:p>
            <a:pPr algn="l">
              <a:lnSpc>
                <a:spcPct val="150000"/>
              </a:lnSpc>
            </a:pPr>
            <a:r>
              <a:rPr sz="1200" dirty="0" err="1">
                <a:solidFill>
                  <a:srgbClr val="1F2937"/>
                </a:solidFill>
                <a:latin typeface="微软雅黑" panose="020B0503020204020204" charset="-122"/>
                <a:ea typeface="微软雅黑" panose="020B0503020204020204" charset="-122"/>
              </a:rPr>
              <a:t>准确重构应力与位移极大值分布，量化混塔失效概率与可靠指标</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30" name="TextBox 29"/>
          <p:cNvSpPr txBox="1"/>
          <p:nvPr/>
        </p:nvSpPr>
        <p:spPr>
          <a:xfrm>
            <a:off x="523876" y="6179996"/>
            <a:ext cx="4573785" cy="521361"/>
          </a:xfrm>
          <a:prstGeom prst="rect">
            <a:avLst/>
          </a:prstGeom>
          <a:noFill/>
        </p:spPr>
        <p:txBody>
          <a:bodyPr wrap="square" lIns="0" tIns="0" rIns="0" bIns="0" anchor="t">
            <a:spAutoFit/>
          </a:bodyPr>
          <a:p>
            <a:pPr algn="l">
              <a:lnSpc>
                <a:spcPct val="150000"/>
              </a:lnSpc>
            </a:pPr>
            <a:r>
              <a:rPr sz="1200" dirty="0" err="1">
                <a:solidFill>
                  <a:srgbClr val="1F2937"/>
                </a:solidFill>
                <a:latin typeface="微软雅黑" panose="020B0503020204020204" charset="-122"/>
                <a:ea typeface="微软雅黑" panose="020B0503020204020204" charset="-122"/>
              </a:rPr>
              <a:t>提出塔顶水平位移角限值的可靠度确定方法</a:t>
            </a:r>
            <a:r>
              <a:rPr sz="1200" b="0" i="0" u="none" dirty="0" err="1">
                <a:solidFill>
                  <a:srgbClr val="1F2937"/>
                </a:solidFill>
                <a:latin typeface="微软雅黑" panose="020B0503020204020204" charset="-122"/>
                <a:ea typeface="微软雅黑" panose="020B0503020204020204" charset="-122"/>
              </a:rPr>
              <a:t>，为安全设计与评估提供依据</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31" name="TextBox 30"/>
          <p:cNvSpPr txBox="1"/>
          <p:nvPr/>
        </p:nvSpPr>
        <p:spPr>
          <a:xfrm>
            <a:off x="5551805" y="1893570"/>
            <a:ext cx="2304415" cy="167005"/>
          </a:xfrm>
          <a:prstGeom prst="rect">
            <a:avLst/>
          </a:prstGeom>
          <a:noFill/>
        </p:spPr>
        <p:txBody>
          <a:bodyPr wrap="square" lIns="0" tIns="0" rIns="0" bIns="0" anchor="t">
            <a:spAutoFit/>
          </a:bodyPr>
          <a:p>
            <a:pPr algn="l"/>
            <a:r>
              <a:rPr sz="1085" b="1" i="0" u="none">
                <a:solidFill>
                  <a:srgbClr val="8C1D1D"/>
                </a:solidFill>
                <a:latin typeface="微软雅黑" panose="020B0503020204020204" charset="-122"/>
                <a:ea typeface="微软雅黑" panose="020B0503020204020204" charset="-122"/>
              </a:rPr>
              <a:t>动力可靠度评估</a:t>
            </a:r>
            <a:endParaRPr sz="1085" b="1" i="0" u="none">
              <a:solidFill>
                <a:srgbClr val="8C1D1D"/>
              </a:solidFill>
              <a:latin typeface="微软雅黑" panose="020B0503020204020204" charset="-122"/>
              <a:ea typeface="微软雅黑" panose="020B0503020204020204" charset="-122"/>
            </a:endParaRPr>
          </a:p>
        </p:txBody>
      </p:sp>
      <p:sp>
        <p:nvSpPr>
          <p:cNvPr id="32" name="TextBox 31"/>
          <p:cNvSpPr txBox="1"/>
          <p:nvPr/>
        </p:nvSpPr>
        <p:spPr>
          <a:xfrm>
            <a:off x="5624958" y="3661297"/>
            <a:ext cx="1076176" cy="167290"/>
          </a:xfrm>
          <a:prstGeom prst="rect">
            <a:avLst/>
          </a:prstGeom>
          <a:noFill/>
        </p:spPr>
        <p:txBody>
          <a:bodyPr wrap="square" lIns="0" tIns="0" rIns="0" bIns="0" anchor="t">
            <a:spAutoFit/>
          </a:bodyPr>
          <a:p>
            <a:pPr algn="l"/>
            <a:r>
              <a:rPr sz="1085" b="1" i="0" u="none" dirty="0" err="1">
                <a:solidFill>
                  <a:srgbClr val="8C1D1D"/>
                </a:solidFill>
                <a:latin typeface="微软雅黑" panose="020B0503020204020204" charset="-122"/>
                <a:ea typeface="微软雅黑" panose="020B0503020204020204" charset="-122"/>
              </a:rPr>
              <a:t>水平位移角限值</a:t>
            </a:r>
            <a:endParaRPr sz="1085" b="1" i="0" u="none" dirty="0">
              <a:solidFill>
                <a:srgbClr val="8C1D1D"/>
              </a:solidFill>
              <a:latin typeface="微软雅黑" panose="020B0503020204020204" charset="-122"/>
              <a:ea typeface="微软雅黑" panose="020B0503020204020204" charset="-122"/>
            </a:endParaRPr>
          </a:p>
        </p:txBody>
      </p:sp>
      <p:sp>
        <p:nvSpPr>
          <p:cNvPr id="33" name="TextBox 32"/>
          <p:cNvSpPr txBox="1"/>
          <p:nvPr/>
        </p:nvSpPr>
        <p:spPr>
          <a:xfrm flipH="1">
            <a:off x="310179" y="2072773"/>
            <a:ext cx="111947" cy="141514"/>
          </a:xfrm>
          <a:prstGeom prst="rect">
            <a:avLst/>
          </a:prstGeom>
          <a:noFill/>
        </p:spPr>
        <p:txBody>
          <a:bodyPr wrap="square" lIns="0" tIns="0" rIns="0" bIns="0" anchor="t">
            <a:spAutoFit/>
          </a:bodyPr>
          <a:p>
            <a:pPr algn="l">
              <a:lnSpc>
                <a:spcPts val="945"/>
              </a:lnSpc>
            </a:pPr>
            <a:r>
              <a:rPr b="0" i="0" u="none" dirty="0">
                <a:solidFill>
                  <a:srgbClr val="133D73"/>
                </a:solidFill>
                <a:latin typeface="微软雅黑" panose="020B0503020204020204" charset="-122"/>
                <a:ea typeface="微软雅黑" panose="020B0503020204020204" charset="-122"/>
              </a:rPr>
              <a:t>■</a:t>
            </a:r>
            <a:endParaRPr b="0" i="0" u="none" dirty="0">
              <a:solidFill>
                <a:srgbClr val="133D73"/>
              </a:solidFill>
              <a:latin typeface="微软雅黑" panose="020B0503020204020204" charset="-122"/>
              <a:ea typeface="微软雅黑" panose="020B0503020204020204" charset="-122"/>
            </a:endParaRPr>
          </a:p>
        </p:txBody>
      </p:sp>
      <p:sp>
        <p:nvSpPr>
          <p:cNvPr id="40" name="TextBox 39"/>
          <p:cNvSpPr txBox="1"/>
          <p:nvPr/>
        </p:nvSpPr>
        <p:spPr>
          <a:xfrm>
            <a:off x="2926382" y="3620258"/>
            <a:ext cx="1173149" cy="184666"/>
          </a:xfrm>
          <a:prstGeom prst="rect">
            <a:avLst/>
          </a:prstGeom>
          <a:noFill/>
        </p:spPr>
        <p:txBody>
          <a:bodyPr wrap="square" lIns="0" tIns="0" rIns="0" bIns="0" anchor="t">
            <a:spAutoFit/>
          </a:bodyPr>
          <a:p>
            <a:pPr algn="ctr"/>
            <a:r>
              <a:rPr sz="1200" b="0" i="0" u="none" dirty="0">
                <a:solidFill>
                  <a:srgbClr val="334155"/>
                </a:solidFill>
                <a:latin typeface="微软雅黑" panose="020B0503020204020204" charset="-122"/>
                <a:ea typeface="微软雅黑" panose="020B0503020204020204" charset="-122"/>
              </a:rPr>
              <a:t>a) </a:t>
            </a:r>
            <a:r>
              <a:rPr sz="1200" b="0" i="0" u="none" dirty="0" err="1">
                <a:solidFill>
                  <a:srgbClr val="334155"/>
                </a:solidFill>
                <a:latin typeface="微软雅黑" panose="020B0503020204020204" charset="-122"/>
                <a:ea typeface="微软雅黑" panose="020B0503020204020204" charset="-122"/>
              </a:rPr>
              <a:t>台风“摩羯</a:t>
            </a:r>
            <a:r>
              <a:rPr sz="1200" b="0" i="0" u="none" dirty="0">
                <a:solidFill>
                  <a:srgbClr val="334155"/>
                </a:solidFill>
                <a:latin typeface="微软雅黑" panose="020B0503020204020204" charset="-122"/>
                <a:ea typeface="微软雅黑" panose="020B0503020204020204" charset="-122"/>
              </a:rPr>
              <a:t>”</a:t>
            </a:r>
            <a:endParaRPr sz="1200" b="0" i="0" u="none" dirty="0">
              <a:solidFill>
                <a:srgbClr val="334155"/>
              </a:solidFill>
              <a:latin typeface="微软雅黑" panose="020B0503020204020204" charset="-122"/>
              <a:ea typeface="微软雅黑" panose="020B0503020204020204" charset="-122"/>
            </a:endParaRPr>
          </a:p>
        </p:txBody>
      </p:sp>
      <p:sp>
        <p:nvSpPr>
          <p:cNvPr id="42" name="TextBox 41"/>
          <p:cNvSpPr txBox="1"/>
          <p:nvPr/>
        </p:nvSpPr>
        <p:spPr>
          <a:xfrm>
            <a:off x="4156681" y="3620258"/>
            <a:ext cx="1265196" cy="184666"/>
          </a:xfrm>
          <a:prstGeom prst="rect">
            <a:avLst/>
          </a:prstGeom>
          <a:noFill/>
        </p:spPr>
        <p:txBody>
          <a:bodyPr wrap="square" lIns="0" tIns="0" rIns="0" bIns="0" anchor="t">
            <a:spAutoFit/>
          </a:bodyPr>
          <a:p>
            <a:pPr algn="ctr"/>
            <a:r>
              <a:rPr sz="1200" b="0" i="0" u="none" dirty="0">
                <a:solidFill>
                  <a:srgbClr val="334155"/>
                </a:solidFill>
                <a:latin typeface="微软雅黑" panose="020B0503020204020204" charset="-122"/>
                <a:ea typeface="微软雅黑" panose="020B0503020204020204" charset="-122"/>
              </a:rPr>
              <a:t>b) </a:t>
            </a:r>
            <a:r>
              <a:rPr sz="1200" b="0" i="0" u="none" dirty="0" err="1">
                <a:solidFill>
                  <a:srgbClr val="334155"/>
                </a:solidFill>
                <a:latin typeface="微软雅黑" panose="020B0503020204020204" charset="-122"/>
                <a:ea typeface="微软雅黑" panose="020B0503020204020204" charset="-122"/>
              </a:rPr>
              <a:t>台风“桦加沙</a:t>
            </a:r>
            <a:r>
              <a:rPr sz="1200" b="0" i="0" u="none" dirty="0">
                <a:solidFill>
                  <a:srgbClr val="334155"/>
                </a:solidFill>
                <a:latin typeface="微软雅黑" panose="020B0503020204020204" charset="-122"/>
                <a:ea typeface="微软雅黑" panose="020B0503020204020204" charset="-122"/>
              </a:rPr>
              <a:t>”</a:t>
            </a:r>
            <a:endParaRPr sz="1200" b="0" i="0" u="none" dirty="0">
              <a:solidFill>
                <a:srgbClr val="334155"/>
              </a:solidFill>
              <a:latin typeface="微软雅黑" panose="020B0503020204020204" charset="-122"/>
              <a:ea typeface="微软雅黑" panose="020B0503020204020204" charset="-122"/>
            </a:endParaRPr>
          </a:p>
        </p:txBody>
      </p:sp>
      <p:sp>
        <p:nvSpPr>
          <p:cNvPr id="43" name="TextBox 42"/>
          <p:cNvSpPr txBox="1"/>
          <p:nvPr/>
        </p:nvSpPr>
        <p:spPr>
          <a:xfrm>
            <a:off x="5795773" y="2225356"/>
            <a:ext cx="1964214" cy="521361"/>
          </a:xfrm>
          <a:prstGeom prst="rect">
            <a:avLst/>
          </a:prstGeom>
          <a:noFill/>
        </p:spPr>
        <p:txBody>
          <a:bodyPr wrap="square" lIns="0" tIns="0" rIns="0" bIns="0" anchor="t">
            <a:spAutoFit/>
          </a:bodyPr>
          <a:p>
            <a:pPr algn="l">
              <a:lnSpc>
                <a:spcPct val="150000"/>
              </a:lnSpc>
            </a:pPr>
            <a:r>
              <a:rPr sz="1200" b="0" i="0" u="none" dirty="0" err="1">
                <a:solidFill>
                  <a:srgbClr val="1F2937"/>
                </a:solidFill>
                <a:latin typeface="微软雅黑" panose="020B0503020204020204" charset="-122"/>
                <a:ea typeface="微软雅黑" panose="020B0503020204020204" charset="-122"/>
              </a:rPr>
              <a:t>随机变量识别与Sobol序列抽样</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44" name="TextBox 43"/>
          <p:cNvSpPr txBox="1"/>
          <p:nvPr/>
        </p:nvSpPr>
        <p:spPr>
          <a:xfrm>
            <a:off x="5795773" y="2666364"/>
            <a:ext cx="1704036" cy="244362"/>
          </a:xfrm>
          <a:prstGeom prst="rect">
            <a:avLst/>
          </a:prstGeom>
          <a:noFill/>
        </p:spPr>
        <p:txBody>
          <a:bodyPr wrap="square" lIns="0" tIns="0" rIns="0" bIns="0" anchor="t">
            <a:spAutoFit/>
          </a:bodyPr>
          <a:p>
            <a:pPr algn="l">
              <a:lnSpc>
                <a:spcPct val="150000"/>
              </a:lnSpc>
            </a:pPr>
            <a:r>
              <a:rPr sz="1200" b="0" i="0" u="none" dirty="0" err="1">
                <a:solidFill>
                  <a:srgbClr val="1F2937"/>
                </a:solidFill>
                <a:latin typeface="微软雅黑" panose="020B0503020204020204" charset="-122"/>
                <a:ea typeface="微软雅黑" panose="020B0503020204020204" charset="-122"/>
              </a:rPr>
              <a:t>非线性动力响应分析</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45" name="TextBox 44"/>
          <p:cNvSpPr txBox="1"/>
          <p:nvPr/>
        </p:nvSpPr>
        <p:spPr>
          <a:xfrm>
            <a:off x="5795773" y="2894486"/>
            <a:ext cx="2020409" cy="244362"/>
          </a:xfrm>
          <a:prstGeom prst="rect">
            <a:avLst/>
          </a:prstGeom>
          <a:noFill/>
        </p:spPr>
        <p:txBody>
          <a:bodyPr wrap="square" lIns="0" tIns="0" rIns="0" bIns="0" anchor="t">
            <a:spAutoFit/>
          </a:bodyPr>
          <a:p>
            <a:pPr algn="l">
              <a:lnSpc>
                <a:spcPct val="150000"/>
              </a:lnSpc>
            </a:pPr>
            <a:r>
              <a:rPr sz="1200" b="0" i="0" u="none" dirty="0" err="1">
                <a:solidFill>
                  <a:srgbClr val="1F2937"/>
                </a:solidFill>
                <a:latin typeface="微软雅黑" panose="020B0503020204020204" charset="-122"/>
                <a:ea typeface="微软雅黑" panose="020B0503020204020204" charset="-122"/>
              </a:rPr>
              <a:t>谐波变换法重构极值分布</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46" name="TextBox 45"/>
              <p:cNvSpPr txBox="1"/>
              <p:nvPr/>
            </p:nvSpPr>
            <p:spPr>
              <a:xfrm>
                <a:off x="5795773" y="3199765"/>
                <a:ext cx="2060330" cy="202235"/>
              </a:xfrm>
              <a:prstGeom prst="rect">
                <a:avLst/>
              </a:prstGeom>
              <a:noFill/>
            </p:spPr>
            <p:txBody>
              <a:bodyPr wrap="square" lIns="0" tIns="0" rIns="0" bIns="0" anchor="t">
                <a:spAutoFit/>
              </a:bodyPr>
              <a:p>
                <a:r>
                  <a:rPr sz="1200" b="0" i="0" u="none" dirty="0" err="1">
                    <a:solidFill>
                      <a:srgbClr val="1F2937"/>
                    </a:solidFill>
                    <a:latin typeface="微软雅黑" panose="020B0503020204020204" charset="-122"/>
                    <a:ea typeface="微软雅黑" panose="020B0503020204020204" charset="-122"/>
                  </a:rPr>
                  <a:t>计算失效概率</a:t>
                </a:r>
                <a14:m>
                  <m:oMath xmlns:m="http://schemas.openxmlformats.org/officeDocument/2006/math">
                    <m:sSub>
                      <m:sSubPr>
                        <m:ctrlPr>
                          <a:rPr lang="zh-CN" altLang="en-US" sz="1200">
                            <a:solidFill>
                              <a:srgbClr val="1F2937"/>
                            </a:solidFill>
                            <a:latin typeface="Cambria Math" panose="02040503050406030204" charset="0"/>
                            <a:ea typeface="微软雅黑" panose="020B0503020204020204" charset="-122"/>
                          </a:rPr>
                        </m:ctrlPr>
                      </m:sSubPr>
                      <m:e>
                        <m:r>
                          <a:rPr lang="zh-CN" altLang="en-US" sz="1200">
                            <a:solidFill>
                              <a:srgbClr val="1F2937"/>
                            </a:solidFill>
                            <a:latin typeface="Cambria Math" panose="02040503050406030204" charset="0"/>
                            <a:ea typeface="微软雅黑" panose="020B0503020204020204" charset="-122"/>
                          </a:rPr>
                          <m:t>𝑃</m:t>
                        </m:r>
                      </m:e>
                      <m:sub>
                        <m:r>
                          <a:rPr lang="zh-CN" altLang="en-US" sz="1200">
                            <a:solidFill>
                              <a:srgbClr val="1F2937"/>
                            </a:solidFill>
                            <a:latin typeface="Cambria Math" panose="02040503050406030204" charset="0"/>
                            <a:ea typeface="微软雅黑" panose="020B0503020204020204" charset="-122"/>
                          </a:rPr>
                          <m:t>𝑓</m:t>
                        </m:r>
                      </m:sub>
                    </m:sSub>
                  </m:oMath>
                </a14:m>
                <a:r>
                  <a:rPr sz="1200" b="0" i="0" u="none" dirty="0" err="1">
                    <a:solidFill>
                      <a:srgbClr val="1F2937"/>
                    </a:solidFill>
                    <a:latin typeface="微软雅黑" panose="020B0503020204020204" charset="-122"/>
                    <a:ea typeface="微软雅黑" panose="020B0503020204020204" charset="-122"/>
                  </a:rPr>
                  <a:t>与可靠指标</a:t>
                </a:r>
                <a:r>
                  <a:rPr lang="en-US" altLang="zh-CN" sz="1200" dirty="0">
                    <a:solidFill>
                      <a:srgbClr val="1F2937"/>
                    </a:solidFill>
                    <a:latin typeface="微软雅黑" panose="020B0503020204020204" charset="-122"/>
                    <a:ea typeface="微软雅黑" panose="020B0503020204020204" charset="-122"/>
                  </a:rPr>
                  <a:t>β</a:t>
                </a:r>
                <a:r>
                  <a:rPr sz="1200" dirty="0">
                    <a:solidFill>
                      <a:srgbClr val="1F2937"/>
                    </a:solidFill>
                    <a:latin typeface="微软雅黑" panose="020B0503020204020204" charset="-122"/>
                    <a:ea typeface="微软雅黑" panose="020B0503020204020204" charset="-122"/>
                  </a:rPr>
                  <a:t> </a:t>
                </a:r>
                <a:endParaRPr sz="1200" dirty="0">
                  <a:solidFill>
                    <a:srgbClr val="1F2937"/>
                  </a:solidFill>
                  <a:latin typeface="微软雅黑" panose="020B0503020204020204" charset="-122"/>
                  <a:ea typeface="微软雅黑" panose="020B0503020204020204" charset="-122"/>
                </a:endParaRPr>
              </a:p>
            </p:txBody>
          </p:sp>
        </mc:Choice>
        <mc:Fallback>
          <p:sp>
            <p:nvSpPr>
              <p:cNvPr id="46" name="TextBox 45"/>
              <p:cNvSpPr txBox="1">
                <a:spLocks noRot="1" noChangeAspect="1" noMove="1" noResize="1" noEditPoints="1" noAdjustHandles="1" noChangeArrowheads="1" noChangeShapeType="1" noTextEdit="1"/>
              </p:cNvSpPr>
              <p:nvPr/>
            </p:nvSpPr>
            <p:spPr>
              <a:xfrm>
                <a:off x="5795773" y="3199765"/>
                <a:ext cx="2060330" cy="202235"/>
              </a:xfrm>
              <a:prstGeom prst="rect">
                <a:avLst/>
              </a:prstGeom>
              <a:blipFill rotWithShape="1">
                <a:blip r:embed="rId7"/>
                <a:stretch>
                  <a:fillRect l="-6" t="-2198" r="25" b="-791"/>
                </a:stretch>
              </a:blipFill>
            </p:spPr>
            <p:txBody>
              <a:bodyPr/>
              <a:lstStyle/>
              <a:p>
                <a:r>
                  <a:rPr lang="zh-CN" altLang="en-US">
                    <a:noFill/>
                  </a:rPr>
                  <a:t> </a:t>
                </a:r>
              </a:p>
            </p:txBody>
          </p:sp>
        </mc:Fallback>
      </mc:AlternateContent>
      <p:sp>
        <p:nvSpPr>
          <p:cNvPr id="47" name="TextBox 46"/>
          <p:cNvSpPr txBox="1"/>
          <p:nvPr/>
        </p:nvSpPr>
        <p:spPr>
          <a:xfrm>
            <a:off x="8166719" y="3232172"/>
            <a:ext cx="1020253" cy="184666"/>
          </a:xfrm>
          <a:prstGeom prst="rect">
            <a:avLst/>
          </a:prstGeom>
          <a:noFill/>
        </p:spPr>
        <p:txBody>
          <a:bodyPr wrap="square" lIns="76200" tIns="0" rIns="0" bIns="0" anchor="t">
            <a:spAutoFit/>
          </a:bodyPr>
          <a:p>
            <a:pPr algn="ctr"/>
            <a:r>
              <a:rPr sz="1200" dirty="0" err="1">
                <a:solidFill>
                  <a:srgbClr val="1E293B"/>
                </a:solidFill>
                <a:latin typeface="微软雅黑" panose="020B0503020204020204" charset="-122"/>
                <a:ea typeface="微软雅黑" panose="020B0503020204020204" charset="-122"/>
              </a:rPr>
              <a:t>不确定性传播</a:t>
            </a:r>
            <a:endParaRPr sz="1200" dirty="0">
              <a:solidFill>
                <a:srgbClr val="1E293B"/>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48" name="TextBox 47"/>
              <p:cNvSpPr txBox="1"/>
              <p:nvPr/>
            </p:nvSpPr>
            <p:spPr>
              <a:xfrm>
                <a:off x="5739258" y="4003839"/>
                <a:ext cx="1873294" cy="598305"/>
              </a:xfrm>
              <a:prstGeom prst="rect">
                <a:avLst/>
              </a:prstGeom>
              <a:noFill/>
            </p:spPr>
            <p:txBody>
              <a:bodyPr wrap="square" lIns="0" tIns="0" rIns="0" bIns="0" anchor="t">
                <a:spAutoFit/>
              </a:bodyPr>
              <a:p>
                <a:pPr>
                  <a:lnSpc>
                    <a:spcPct val="150000"/>
                  </a:lnSpc>
                </a:pPr>
                <a:r>
                  <a:rPr sz="1200" dirty="0" err="1">
                    <a:solidFill>
                      <a:srgbClr val="1F2937"/>
                    </a:solidFill>
                    <a:latin typeface="微软雅黑" panose="020B0503020204020204" charset="-122"/>
                    <a:ea typeface="微软雅黑" panose="020B0503020204020204" charset="-122"/>
                  </a:rPr>
                  <a:t>基于</a:t>
                </a:r>
                <a:r>
                  <a:rPr sz="1200" dirty="0">
                    <a:solidFill>
                      <a:srgbClr val="1F2937"/>
                    </a:solidFill>
                    <a:latin typeface="微软雅黑" panose="020B0503020204020204" charset="-122"/>
                    <a:ea typeface="微软雅黑" panose="020B0503020204020204" charset="-122"/>
                  </a:rPr>
                  <a:t> </a:t>
                </a:r>
                <a14:m>
                  <m:oMath xmlns:m="http://schemas.openxmlformats.org/officeDocument/2006/math">
                    <m:r>
                      <m:rPr>
                        <m:nor/>
                      </m:rPr>
                      <a:rPr lang="zh-CN" altLang="en-US" sz="1200" i="0">
                        <a:solidFill>
                          <a:srgbClr val="1F2937"/>
                        </a:solidFill>
                        <a:latin typeface="微软雅黑" panose="020B0503020204020204" charset="-122"/>
                        <a:ea typeface="微软雅黑" panose="020B0503020204020204" charset="-122"/>
                      </a:rPr>
                      <m:t>“</m:t>
                    </m:r>
                    <m:sSub>
                      <m:sSubPr>
                        <m:ctrlPr>
                          <a:rPr lang="zh-CN" altLang="en-US" sz="1200">
                            <a:solidFill>
                              <a:srgbClr val="1F2937"/>
                            </a:solidFill>
                            <a:latin typeface="Cambria Math" panose="02040503050406030204" charset="0"/>
                            <a:ea typeface="微软雅黑" panose="020B0503020204020204" charset="-122"/>
                          </a:rPr>
                        </m:ctrlPr>
                      </m:sSubPr>
                      <m:e>
                        <m:r>
                          <a:rPr lang="zh-CN" altLang="en-US" sz="1200">
                            <a:solidFill>
                              <a:srgbClr val="1F2937"/>
                            </a:solidFill>
                            <a:latin typeface="Cambria Math" panose="02040503050406030204" charset="0"/>
                            <a:ea typeface="微软雅黑" panose="020B0503020204020204" charset="-122"/>
                          </a:rPr>
                          <m:t>𝛽</m:t>
                        </m:r>
                      </m:e>
                      <m:sub>
                        <m:r>
                          <m:rPr>
                            <m:nor/>
                          </m:rPr>
                          <a:rPr lang="zh-CN" altLang="en-US" sz="1200" i="0">
                            <a:solidFill>
                              <a:srgbClr val="1F2937"/>
                            </a:solidFill>
                            <a:latin typeface="微软雅黑" panose="020B0503020204020204" charset="-122"/>
                            <a:ea typeface="微软雅黑" panose="020B0503020204020204" charset="-122"/>
                          </a:rPr>
                          <m:t>curve</m:t>
                        </m:r>
                      </m:sub>
                    </m:sSub>
                    <m:r>
                      <a:rPr lang="zh-CN" altLang="en-US" sz="1200">
                        <a:solidFill>
                          <a:srgbClr val="1F2937"/>
                        </a:solidFill>
                        <a:latin typeface="Cambria Math" panose="02040503050406030204" charset="0"/>
                        <a:ea typeface="微软雅黑" panose="020B0503020204020204" charset="-122"/>
                      </a:rPr>
                      <m:t>=</m:t>
                    </m:r>
                    <m:sSub>
                      <m:sSubPr>
                        <m:ctrlPr>
                          <a:rPr lang="zh-CN" altLang="en-US" sz="1200">
                            <a:solidFill>
                              <a:srgbClr val="1F2937"/>
                            </a:solidFill>
                            <a:latin typeface="Cambria Math" panose="02040503050406030204" charset="0"/>
                            <a:ea typeface="微软雅黑" panose="020B0503020204020204" charset="-122"/>
                          </a:rPr>
                        </m:ctrlPr>
                      </m:sSubPr>
                      <m:e>
                        <m:r>
                          <a:rPr lang="zh-CN" altLang="en-US" sz="1200">
                            <a:solidFill>
                              <a:srgbClr val="1F2937"/>
                            </a:solidFill>
                            <a:latin typeface="Cambria Math" panose="02040503050406030204" charset="0"/>
                            <a:ea typeface="微软雅黑" panose="020B0503020204020204" charset="-122"/>
                          </a:rPr>
                          <m:t>𝛽</m:t>
                        </m:r>
                      </m:e>
                      <m:sub>
                        <m:r>
                          <m:rPr>
                            <m:nor/>
                          </m:rPr>
                          <a:rPr lang="zh-CN" altLang="en-US" sz="1200" i="0">
                            <a:solidFill>
                              <a:srgbClr val="1F2937"/>
                            </a:solidFill>
                            <a:latin typeface="微软雅黑" panose="020B0503020204020204" charset="-122"/>
                            <a:ea typeface="微软雅黑" panose="020B0503020204020204" charset="-122"/>
                          </a:rPr>
                          <m:t>target</m:t>
                        </m:r>
                      </m:sub>
                    </m:sSub>
                    <m:r>
                      <m:rPr>
                        <m:nor/>
                      </m:rPr>
                      <a:rPr lang="zh-CN" altLang="en-US" sz="1200" i="0">
                        <a:solidFill>
                          <a:srgbClr val="1F2937"/>
                        </a:solidFill>
                        <a:latin typeface="微软雅黑" panose="020B0503020204020204" charset="-122"/>
                        <a:ea typeface="微软雅黑" panose="020B0503020204020204" charset="-122"/>
                      </a:rPr>
                      <m:t>”</m:t>
                    </m:r>
                  </m:oMath>
                </a14:m>
                <a:endParaRPr lang="zh-CN" altLang="zh-CN" sz="1200" dirty="0">
                  <a:solidFill>
                    <a:srgbClr val="1F2937"/>
                  </a:solidFill>
                  <a:latin typeface="微软雅黑" panose="020B0503020204020204" charset="-122"/>
                  <a:ea typeface="微软雅黑" panose="020B0503020204020204" charset="-122"/>
                </a:endParaRPr>
              </a:p>
              <a:p>
                <a:pPr algn="l">
                  <a:lnSpc>
                    <a:spcPct val="150000"/>
                  </a:lnSpc>
                </a:pPr>
                <a:r>
                  <a:rPr sz="1200" b="0" i="0" u="none" dirty="0" err="1">
                    <a:solidFill>
                      <a:srgbClr val="1F2937"/>
                    </a:solidFill>
                    <a:latin typeface="微软雅黑" panose="020B0503020204020204" charset="-122"/>
                    <a:ea typeface="微软雅黑" panose="020B0503020204020204" charset="-122"/>
                  </a:rPr>
                  <a:t>等可靠度原则</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mc:Choice>
        <mc:Fallback>
          <p:sp>
            <p:nvSpPr>
              <p:cNvPr id="48" name="TextBox 47"/>
              <p:cNvSpPr txBox="1">
                <a:spLocks noRot="1" noChangeAspect="1" noMove="1" noResize="1" noEditPoints="1" noAdjustHandles="1" noChangeArrowheads="1" noChangeShapeType="1" noTextEdit="1"/>
              </p:cNvSpPr>
              <p:nvPr/>
            </p:nvSpPr>
            <p:spPr>
              <a:xfrm>
                <a:off x="5739258" y="4003839"/>
                <a:ext cx="1873294" cy="598305"/>
              </a:xfrm>
              <a:prstGeom prst="rect">
                <a:avLst/>
              </a:prstGeom>
              <a:blipFill rotWithShape="1">
                <a:blip r:embed="rId8"/>
                <a:stretch>
                  <a:fillRect l="-7" t="-27" r="9" b="-75941"/>
                </a:stretch>
              </a:blipFill>
            </p:spPr>
            <p:txBody>
              <a:bodyPr/>
              <a:lstStyle/>
              <a:p>
                <a:r>
                  <a:rPr lang="zh-CN" altLang="en-US">
                    <a:noFill/>
                  </a:rPr>
                  <a:t> </a:t>
                </a:r>
              </a:p>
            </p:txBody>
          </p:sp>
        </mc:Fallback>
      </mc:AlternateContent>
      <p:sp>
        <p:nvSpPr>
          <p:cNvPr id="49" name="TextBox 48"/>
          <p:cNvSpPr txBox="1"/>
          <p:nvPr/>
        </p:nvSpPr>
        <p:spPr>
          <a:xfrm>
            <a:off x="5739258" y="4643850"/>
            <a:ext cx="1842642" cy="521361"/>
          </a:xfrm>
          <a:prstGeom prst="rect">
            <a:avLst/>
          </a:prstGeom>
          <a:noFill/>
        </p:spPr>
        <p:txBody>
          <a:bodyPr wrap="square" lIns="0" tIns="0" rIns="0" bIns="0" anchor="t">
            <a:spAutoFit/>
          </a:bodyPr>
          <a:p>
            <a:pPr algn="l">
              <a:lnSpc>
                <a:spcPct val="150000"/>
              </a:lnSpc>
            </a:pPr>
            <a:r>
              <a:rPr sz="1200" b="0" i="0" u="none" dirty="0" err="1">
                <a:solidFill>
                  <a:srgbClr val="1F2937"/>
                </a:solidFill>
                <a:latin typeface="微软雅黑" panose="020B0503020204020204" charset="-122"/>
                <a:ea typeface="微软雅黑" panose="020B0503020204020204" charset="-122"/>
              </a:rPr>
              <a:t>由位移超越概率反推位移限值</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50" name="TextBox 49"/>
          <p:cNvSpPr txBox="1"/>
          <p:nvPr/>
        </p:nvSpPr>
        <p:spPr>
          <a:xfrm>
            <a:off x="5739258" y="5256307"/>
            <a:ext cx="1842642" cy="521361"/>
          </a:xfrm>
          <a:prstGeom prst="rect">
            <a:avLst/>
          </a:prstGeom>
          <a:noFill/>
        </p:spPr>
        <p:txBody>
          <a:bodyPr wrap="square" lIns="0" tIns="0" rIns="0" bIns="0" anchor="t">
            <a:spAutoFit/>
          </a:bodyPr>
          <a:p>
            <a:pPr algn="l">
              <a:lnSpc>
                <a:spcPct val="150000"/>
              </a:lnSpc>
            </a:pPr>
            <a:r>
              <a:rPr sz="1200" b="0" i="0" u="none" dirty="0" err="1">
                <a:solidFill>
                  <a:srgbClr val="1F2937"/>
                </a:solidFill>
                <a:latin typeface="微软雅黑" panose="020B0503020204020204" charset="-122"/>
                <a:ea typeface="微软雅黑" panose="020B0503020204020204" charset="-122"/>
              </a:rPr>
              <a:t>并给出混塔水平位移角限值建议</a:t>
            </a:r>
            <a:r>
              <a:rPr sz="1200" b="0" i="0" u="none" dirty="0">
                <a:solidFill>
                  <a:srgbClr val="1F2937"/>
                </a:solidFill>
                <a:latin typeface="微软雅黑" panose="020B0503020204020204" charset="-122"/>
                <a:ea typeface="微软雅黑" panose="020B0503020204020204" charset="-122"/>
              </a:rPr>
              <a:t>。</a:t>
            </a:r>
            <a:endParaRPr sz="1200" b="0" i="0" u="none" dirty="0">
              <a:solidFill>
                <a:srgbClr val="1F2937"/>
              </a:solidFill>
              <a:latin typeface="微软雅黑" panose="020B0503020204020204" charset="-122"/>
              <a:ea typeface="微软雅黑" panose="020B0503020204020204" charset="-122"/>
            </a:endParaRPr>
          </a:p>
        </p:txBody>
      </p:sp>
      <p:sp>
        <p:nvSpPr>
          <p:cNvPr id="53" name="TextBox 52"/>
          <p:cNvSpPr txBox="1"/>
          <p:nvPr/>
        </p:nvSpPr>
        <p:spPr>
          <a:xfrm>
            <a:off x="5658613" y="2290761"/>
            <a:ext cx="81496" cy="152478"/>
          </a:xfrm>
          <a:prstGeom prst="rect">
            <a:avLst/>
          </a:prstGeom>
          <a:noFill/>
        </p:spPr>
        <p:txBody>
          <a:bodyPr wrap="square" lIns="0" tIns="0" rIns="0" bIns="0" anchor="t">
            <a:spAutoFit/>
          </a:bodyPr>
          <a:p>
            <a:pPr algn="l">
              <a:lnSpc>
                <a:spcPct val="150000"/>
              </a:lnSpc>
            </a:pPr>
            <a:r>
              <a:rPr sz="750" b="0" i="0" u="none">
                <a:solidFill>
                  <a:srgbClr val="133D73"/>
                </a:solidFill>
                <a:latin typeface="微软雅黑" panose="020B0503020204020204" charset="-122"/>
                <a:ea typeface="微软雅黑" panose="020B0503020204020204" charset="-122"/>
              </a:rPr>
              <a:t>➢</a:t>
            </a:r>
            <a:endParaRPr sz="750" b="0" i="0" u="none">
              <a:solidFill>
                <a:srgbClr val="133D73"/>
              </a:solidFill>
              <a:latin typeface="微软雅黑" panose="020B0503020204020204" charset="-122"/>
              <a:ea typeface="微软雅黑" panose="020B0503020204020204" charset="-122"/>
            </a:endParaRPr>
          </a:p>
        </p:txBody>
      </p:sp>
      <p:sp>
        <p:nvSpPr>
          <p:cNvPr id="54" name="TextBox 53"/>
          <p:cNvSpPr txBox="1"/>
          <p:nvPr/>
        </p:nvSpPr>
        <p:spPr>
          <a:xfrm>
            <a:off x="5646548" y="2781934"/>
            <a:ext cx="95250" cy="152478"/>
          </a:xfrm>
          <a:prstGeom prst="rect">
            <a:avLst/>
          </a:prstGeom>
          <a:noFill/>
        </p:spPr>
        <p:txBody>
          <a:bodyPr wrap="square" lIns="0" tIns="0" rIns="0" bIns="0" anchor="t">
            <a:spAutoFit/>
          </a:bodyPr>
          <a:p>
            <a:pPr algn="l">
              <a:lnSpc>
                <a:spcPct val="150000"/>
              </a:lnSpc>
            </a:pPr>
            <a:r>
              <a:rPr sz="750" b="0" i="0" u="none" dirty="0">
                <a:solidFill>
                  <a:srgbClr val="133D73"/>
                </a:solidFill>
                <a:latin typeface="微软雅黑" panose="020B0503020204020204" charset="-122"/>
                <a:ea typeface="微软雅黑" panose="020B0503020204020204" charset="-122"/>
              </a:rPr>
              <a:t>➢</a:t>
            </a:r>
            <a:endParaRPr sz="750" b="0" i="0" u="none" dirty="0">
              <a:solidFill>
                <a:srgbClr val="133D73"/>
              </a:solidFill>
              <a:latin typeface="微软雅黑" panose="020B0503020204020204" charset="-122"/>
              <a:ea typeface="微软雅黑" panose="020B0503020204020204" charset="-122"/>
            </a:endParaRPr>
          </a:p>
        </p:txBody>
      </p:sp>
      <p:sp>
        <p:nvSpPr>
          <p:cNvPr id="55" name="TextBox 54"/>
          <p:cNvSpPr txBox="1"/>
          <p:nvPr/>
        </p:nvSpPr>
        <p:spPr>
          <a:xfrm>
            <a:off x="5658613" y="2986562"/>
            <a:ext cx="95250" cy="152478"/>
          </a:xfrm>
          <a:prstGeom prst="rect">
            <a:avLst/>
          </a:prstGeom>
          <a:noFill/>
        </p:spPr>
        <p:txBody>
          <a:bodyPr wrap="square" lIns="0" tIns="0" rIns="0" bIns="0" anchor="t">
            <a:spAutoFit/>
          </a:bodyPr>
          <a:p>
            <a:pPr algn="l">
              <a:lnSpc>
                <a:spcPct val="150000"/>
              </a:lnSpc>
            </a:pPr>
            <a:r>
              <a:rPr sz="750" b="0" i="0" u="none" dirty="0">
                <a:solidFill>
                  <a:srgbClr val="133D73"/>
                </a:solidFill>
                <a:latin typeface="微软雅黑" panose="020B0503020204020204" charset="-122"/>
                <a:ea typeface="微软雅黑" panose="020B0503020204020204" charset="-122"/>
              </a:rPr>
              <a:t>➢</a:t>
            </a:r>
            <a:endParaRPr sz="750" b="0" i="0" u="none" dirty="0">
              <a:solidFill>
                <a:srgbClr val="133D73"/>
              </a:solidFill>
              <a:latin typeface="微软雅黑" panose="020B0503020204020204" charset="-122"/>
              <a:ea typeface="微软雅黑" panose="020B0503020204020204" charset="-122"/>
            </a:endParaRPr>
          </a:p>
        </p:txBody>
      </p:sp>
      <p:sp>
        <p:nvSpPr>
          <p:cNvPr id="56" name="TextBox 55"/>
          <p:cNvSpPr txBox="1"/>
          <p:nvPr/>
        </p:nvSpPr>
        <p:spPr>
          <a:xfrm>
            <a:off x="5646548" y="3199765"/>
            <a:ext cx="95250" cy="152478"/>
          </a:xfrm>
          <a:prstGeom prst="rect">
            <a:avLst/>
          </a:prstGeom>
          <a:noFill/>
        </p:spPr>
        <p:txBody>
          <a:bodyPr wrap="square" lIns="0" tIns="0" rIns="0" bIns="0" anchor="t">
            <a:spAutoFit/>
          </a:bodyPr>
          <a:p>
            <a:pPr algn="l">
              <a:lnSpc>
                <a:spcPct val="150000"/>
              </a:lnSpc>
            </a:pPr>
            <a:r>
              <a:rPr sz="750" b="0" i="0" u="none" dirty="0">
                <a:solidFill>
                  <a:srgbClr val="133D73"/>
                </a:solidFill>
                <a:latin typeface="微软雅黑" panose="020B0503020204020204" charset="-122"/>
                <a:ea typeface="微软雅黑" panose="020B0503020204020204" charset="-122"/>
              </a:rPr>
              <a:t>➢</a:t>
            </a:r>
            <a:endParaRPr sz="750" b="0" i="0" u="none" dirty="0">
              <a:solidFill>
                <a:srgbClr val="133D73"/>
              </a:solidFill>
              <a:latin typeface="微软雅黑" panose="020B0503020204020204" charset="-122"/>
              <a:ea typeface="微软雅黑" panose="020B0503020204020204" charset="-122"/>
            </a:endParaRPr>
          </a:p>
        </p:txBody>
      </p:sp>
      <p:sp>
        <p:nvSpPr>
          <p:cNvPr id="62" name="TextBox 61"/>
          <p:cNvSpPr txBox="1"/>
          <p:nvPr/>
        </p:nvSpPr>
        <p:spPr>
          <a:xfrm>
            <a:off x="5624958" y="4048289"/>
            <a:ext cx="68635" cy="152478"/>
          </a:xfrm>
          <a:prstGeom prst="rect">
            <a:avLst/>
          </a:prstGeom>
          <a:noFill/>
        </p:spPr>
        <p:txBody>
          <a:bodyPr wrap="square" lIns="0" tIns="0" rIns="0" bIns="0" anchor="t">
            <a:spAutoFit/>
          </a:bodyPr>
          <a:p>
            <a:pPr algn="l">
              <a:lnSpc>
                <a:spcPct val="150000"/>
              </a:lnSpc>
            </a:pPr>
            <a:r>
              <a:rPr sz="750" b="0" i="0" u="none" dirty="0">
                <a:solidFill>
                  <a:srgbClr val="133D73"/>
                </a:solidFill>
                <a:latin typeface="微软雅黑" panose="020B0503020204020204" charset="-122"/>
                <a:ea typeface="微软雅黑" panose="020B0503020204020204" charset="-122"/>
              </a:rPr>
              <a:t>➢</a:t>
            </a:r>
            <a:endParaRPr sz="750" b="0" i="0" u="none" dirty="0">
              <a:solidFill>
                <a:srgbClr val="133D73"/>
              </a:solidFill>
              <a:latin typeface="微软雅黑" panose="020B0503020204020204" charset="-122"/>
              <a:ea typeface="微软雅黑" panose="020B0503020204020204" charset="-122"/>
            </a:endParaRPr>
          </a:p>
        </p:txBody>
      </p:sp>
      <p:sp>
        <p:nvSpPr>
          <p:cNvPr id="64" name="TextBox 63"/>
          <p:cNvSpPr txBox="1"/>
          <p:nvPr/>
        </p:nvSpPr>
        <p:spPr>
          <a:xfrm>
            <a:off x="5624958" y="4643850"/>
            <a:ext cx="68635" cy="152478"/>
          </a:xfrm>
          <a:prstGeom prst="rect">
            <a:avLst/>
          </a:prstGeom>
          <a:noFill/>
        </p:spPr>
        <p:txBody>
          <a:bodyPr wrap="square" lIns="0" tIns="0" rIns="0" bIns="0" anchor="t">
            <a:spAutoFit/>
          </a:bodyPr>
          <a:p>
            <a:pPr algn="l">
              <a:lnSpc>
                <a:spcPct val="150000"/>
              </a:lnSpc>
            </a:pPr>
            <a:r>
              <a:rPr sz="750" b="0" i="0" u="none" dirty="0">
                <a:solidFill>
                  <a:srgbClr val="133D73"/>
                </a:solidFill>
                <a:latin typeface="微软雅黑" panose="020B0503020204020204" charset="-122"/>
                <a:ea typeface="微软雅黑" panose="020B0503020204020204" charset="-122"/>
              </a:rPr>
              <a:t>➢</a:t>
            </a:r>
            <a:endParaRPr sz="750" b="0" i="0" u="none" dirty="0">
              <a:solidFill>
                <a:srgbClr val="133D73"/>
              </a:solidFill>
              <a:latin typeface="微软雅黑" panose="020B0503020204020204" charset="-122"/>
              <a:ea typeface="微软雅黑" panose="020B0503020204020204" charset="-122"/>
            </a:endParaRPr>
          </a:p>
        </p:txBody>
      </p:sp>
      <p:sp>
        <p:nvSpPr>
          <p:cNvPr id="65" name="TextBox 64"/>
          <p:cNvSpPr txBox="1"/>
          <p:nvPr/>
        </p:nvSpPr>
        <p:spPr>
          <a:xfrm>
            <a:off x="5624958" y="5256307"/>
            <a:ext cx="68635" cy="152478"/>
          </a:xfrm>
          <a:prstGeom prst="rect">
            <a:avLst/>
          </a:prstGeom>
          <a:noFill/>
        </p:spPr>
        <p:txBody>
          <a:bodyPr wrap="square" lIns="0" tIns="0" rIns="0" bIns="0" anchor="t">
            <a:spAutoFit/>
          </a:bodyPr>
          <a:p>
            <a:pPr algn="l">
              <a:lnSpc>
                <a:spcPct val="150000"/>
              </a:lnSpc>
            </a:pPr>
            <a:r>
              <a:rPr sz="750" b="0" i="0" u="none">
                <a:solidFill>
                  <a:srgbClr val="133D73"/>
                </a:solidFill>
                <a:latin typeface="微软雅黑" panose="020B0503020204020204" charset="-122"/>
                <a:ea typeface="微软雅黑" panose="020B0503020204020204" charset="-122"/>
              </a:rPr>
              <a:t>➢</a:t>
            </a:r>
            <a:endParaRPr sz="750" b="0" i="0" u="none">
              <a:solidFill>
                <a:srgbClr val="133D73"/>
              </a:solidFill>
              <a:latin typeface="微软雅黑" panose="020B0503020204020204" charset="-122"/>
              <a:ea typeface="微软雅黑" panose="020B0503020204020204" charset="-122"/>
            </a:endParaRPr>
          </a:p>
        </p:txBody>
      </p:sp>
      <p:sp>
        <p:nvSpPr>
          <p:cNvPr id="72" name="TextBox 71"/>
          <p:cNvSpPr txBox="1"/>
          <p:nvPr/>
        </p:nvSpPr>
        <p:spPr>
          <a:xfrm>
            <a:off x="8292863" y="2110668"/>
            <a:ext cx="830770" cy="369332"/>
          </a:xfrm>
          <a:prstGeom prst="rect">
            <a:avLst/>
          </a:prstGeom>
          <a:noFill/>
        </p:spPr>
        <p:txBody>
          <a:bodyPr wrap="square" lIns="0" tIns="0" rIns="0" bIns="0" anchor="ctr">
            <a:spAutoFit/>
          </a:bodyPr>
          <a:p>
            <a:pPr algn="ctr"/>
            <a:r>
              <a:rPr sz="1200" b="0" i="0" u="none" dirty="0" err="1">
                <a:solidFill>
                  <a:srgbClr val="1E293B"/>
                </a:solidFill>
                <a:latin typeface="微软雅黑" panose="020B0503020204020204" charset="-122"/>
                <a:ea typeface="微软雅黑" panose="020B0503020204020204" charset="-122"/>
              </a:rPr>
              <a:t>随机变量样本生成</a:t>
            </a:r>
            <a:endParaRPr sz="1200" b="0" i="0" u="none" dirty="0">
              <a:solidFill>
                <a:srgbClr val="1E293B"/>
              </a:solidFill>
              <a:latin typeface="微软雅黑" panose="020B0503020204020204" charset="-122"/>
              <a:ea typeface="微软雅黑" panose="020B0503020204020204" charset="-122"/>
            </a:endParaRPr>
          </a:p>
        </p:txBody>
      </p:sp>
      <p:sp>
        <p:nvSpPr>
          <p:cNvPr id="73" name="TextBox 72"/>
          <p:cNvSpPr txBox="1"/>
          <p:nvPr/>
        </p:nvSpPr>
        <p:spPr>
          <a:xfrm>
            <a:off x="9448753" y="2189375"/>
            <a:ext cx="625475" cy="184666"/>
          </a:xfrm>
          <a:prstGeom prst="rect">
            <a:avLst/>
          </a:prstGeom>
          <a:noFill/>
        </p:spPr>
        <p:txBody>
          <a:bodyPr wrap="square" lIns="0" tIns="0" rIns="0" bIns="0" anchor="ctr">
            <a:spAutoFit/>
          </a:bodyPr>
          <a:p>
            <a:pPr algn="ctr"/>
            <a:r>
              <a:rPr sz="1200" b="0" i="0" u="none" dirty="0" err="1">
                <a:solidFill>
                  <a:srgbClr val="1E293B"/>
                </a:solidFill>
                <a:latin typeface="微软雅黑" panose="020B0503020204020204" charset="-122"/>
                <a:ea typeface="微软雅黑" panose="020B0503020204020204" charset="-122"/>
              </a:rPr>
              <a:t>三维风场</a:t>
            </a:r>
            <a:endParaRPr sz="1200" b="0" i="0" u="none" dirty="0">
              <a:solidFill>
                <a:srgbClr val="1E293B"/>
              </a:solidFill>
              <a:latin typeface="微软雅黑" panose="020B0503020204020204" charset="-122"/>
              <a:ea typeface="微软雅黑" panose="020B0503020204020204" charset="-122"/>
            </a:endParaRPr>
          </a:p>
        </p:txBody>
      </p:sp>
      <p:sp>
        <p:nvSpPr>
          <p:cNvPr id="74" name="TextBox 73"/>
          <p:cNvSpPr txBox="1"/>
          <p:nvPr/>
        </p:nvSpPr>
        <p:spPr>
          <a:xfrm>
            <a:off x="10399348" y="2060704"/>
            <a:ext cx="1402080" cy="369332"/>
          </a:xfrm>
          <a:prstGeom prst="rect">
            <a:avLst/>
          </a:prstGeom>
          <a:noFill/>
        </p:spPr>
        <p:txBody>
          <a:bodyPr wrap="square" lIns="0" tIns="0" rIns="0" bIns="0" anchor="ctr">
            <a:spAutoFit/>
          </a:bodyPr>
          <a:p>
            <a:pPr algn="ctr"/>
            <a:r>
              <a:rPr sz="1200" b="0" i="0" u="none" dirty="0" err="1">
                <a:solidFill>
                  <a:srgbClr val="1E293B"/>
                </a:solidFill>
                <a:latin typeface="微软雅黑" panose="020B0503020204020204" charset="-122"/>
                <a:ea typeface="微软雅黑" panose="020B0503020204020204" charset="-122"/>
              </a:rPr>
              <a:t>非线性耦合一体化</a:t>
            </a:r>
            <a:r>
              <a:rPr sz="1200" dirty="0">
                <a:latin typeface="微软雅黑" panose="020B0503020204020204" charset="-122"/>
                <a:ea typeface="微软雅黑" panose="020B0503020204020204" charset="-122"/>
              </a:rPr>
              <a:t>
</a:t>
            </a:r>
            <a:r>
              <a:rPr sz="1200" b="0" i="0" u="none" dirty="0">
                <a:solidFill>
                  <a:srgbClr val="1E293B"/>
                </a:solidFill>
                <a:latin typeface="微软雅黑" panose="020B0503020204020204" charset="-122"/>
                <a:ea typeface="微软雅黑" panose="020B0503020204020204" charset="-122"/>
              </a:rPr>
              <a:t> </a:t>
            </a:r>
            <a:r>
              <a:rPr sz="1200" b="0" i="0" u="none" dirty="0" err="1">
                <a:solidFill>
                  <a:srgbClr val="1E293B"/>
                </a:solidFill>
                <a:latin typeface="微软雅黑" panose="020B0503020204020204" charset="-122"/>
                <a:ea typeface="微软雅黑" panose="020B0503020204020204" charset="-122"/>
              </a:rPr>
              <a:t>动力学模型</a:t>
            </a:r>
            <a:endParaRPr sz="1200" b="0" i="0" u="none" dirty="0">
              <a:solidFill>
                <a:srgbClr val="1E293B"/>
              </a:solidFill>
              <a:latin typeface="微软雅黑" panose="020B0503020204020204" charset="-122"/>
              <a:ea typeface="微软雅黑" panose="020B0503020204020204" charset="-122"/>
            </a:endParaRPr>
          </a:p>
        </p:txBody>
      </p:sp>
      <p:sp>
        <p:nvSpPr>
          <p:cNvPr id="75" name="TextBox 74"/>
          <p:cNvSpPr txBox="1"/>
          <p:nvPr/>
        </p:nvSpPr>
        <p:spPr>
          <a:xfrm>
            <a:off x="8166661" y="4202430"/>
            <a:ext cx="979043" cy="184666"/>
          </a:xfrm>
          <a:prstGeom prst="rect">
            <a:avLst/>
          </a:prstGeom>
          <a:noFill/>
        </p:spPr>
        <p:txBody>
          <a:bodyPr wrap="square" lIns="0" tIns="0" rIns="0" bIns="0" anchor="t">
            <a:spAutoFit/>
          </a:bodyPr>
          <a:p>
            <a:pPr algn="ctr"/>
            <a:r>
              <a:rPr sz="1200" b="1" i="0" u="none" dirty="0" err="1">
                <a:solidFill>
                  <a:srgbClr val="1E293B"/>
                </a:solidFill>
                <a:latin typeface="微软雅黑" panose="020B0503020204020204" charset="-122"/>
                <a:ea typeface="微软雅黑" panose="020B0503020204020204" charset="-122"/>
              </a:rPr>
              <a:t>概率密度重构</a:t>
            </a:r>
            <a:endParaRPr sz="1200" b="1" i="0" u="none" dirty="0">
              <a:solidFill>
                <a:srgbClr val="1E293B"/>
              </a:solidFill>
              <a:latin typeface="微软雅黑" panose="020B0503020204020204" charset="-122"/>
              <a:ea typeface="微软雅黑" panose="020B0503020204020204" charset="-122"/>
            </a:endParaRPr>
          </a:p>
        </p:txBody>
      </p:sp>
      <p:sp>
        <p:nvSpPr>
          <p:cNvPr id="86" name="矩形: 圆角 85"/>
          <p:cNvSpPr/>
          <p:nvPr/>
        </p:nvSpPr>
        <p:spPr>
          <a:xfrm>
            <a:off x="389096" y="1557475"/>
            <a:ext cx="1376204" cy="232619"/>
          </a:xfrm>
          <a:prstGeom prst="round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p>
            <a:pPr algn="ctr"/>
            <a:r>
              <a:rPr lang="en-US" altLang="zh-CN" sz="1400" dirty="0">
                <a:latin typeface="微软雅黑" panose="020B0503020204020204" charset="-122"/>
                <a:ea typeface="微软雅黑" panose="020B0503020204020204" charset="-122"/>
              </a:rPr>
              <a:t>1 | </a:t>
            </a:r>
            <a:r>
              <a:rPr lang="zh-CN" altLang="en-US" sz="1400" dirty="0">
                <a:latin typeface="微软雅黑" panose="020B0503020204020204" charset="-122"/>
                <a:ea typeface="微软雅黑" panose="020B0503020204020204" charset="-122"/>
              </a:rPr>
              <a:t>研究背景</a:t>
            </a:r>
            <a:endParaRPr lang="zh-CN" altLang="en-US" sz="1400" dirty="0">
              <a:latin typeface="微软雅黑" panose="020B0503020204020204" charset="-122"/>
              <a:ea typeface="微软雅黑" panose="020B0503020204020204" charset="-122"/>
            </a:endParaRPr>
          </a:p>
        </p:txBody>
      </p:sp>
      <p:sp>
        <p:nvSpPr>
          <p:cNvPr id="88" name="矩形: 圆角 87"/>
          <p:cNvSpPr/>
          <p:nvPr/>
        </p:nvSpPr>
        <p:spPr>
          <a:xfrm>
            <a:off x="5520183" y="1557476"/>
            <a:ext cx="1376204" cy="232619"/>
          </a:xfrm>
          <a:prstGeom prst="round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p>
            <a:pPr algn="ctr"/>
            <a:r>
              <a:rPr lang="en-US" altLang="zh-CN" sz="1400" dirty="0">
                <a:latin typeface="微软雅黑" panose="020B0503020204020204" charset="-122"/>
                <a:ea typeface="微软雅黑" panose="020B0503020204020204" charset="-122"/>
              </a:rPr>
              <a:t>3 | </a:t>
            </a:r>
            <a:r>
              <a:rPr lang="zh-CN" altLang="en-US" sz="1400" dirty="0">
                <a:latin typeface="微软雅黑" panose="020B0503020204020204" charset="-122"/>
                <a:ea typeface="微软雅黑" panose="020B0503020204020204" charset="-122"/>
              </a:rPr>
              <a:t>研究内容</a:t>
            </a:r>
            <a:endParaRPr lang="zh-CN" altLang="en-US" sz="1400" dirty="0">
              <a:latin typeface="微软雅黑" panose="020B0503020204020204" charset="-122"/>
              <a:ea typeface="微软雅黑" panose="020B0503020204020204" charset="-122"/>
            </a:endParaRPr>
          </a:p>
        </p:txBody>
      </p:sp>
      <p:sp>
        <p:nvSpPr>
          <p:cNvPr id="90" name="矩形: 圆角 89"/>
          <p:cNvSpPr/>
          <p:nvPr/>
        </p:nvSpPr>
        <p:spPr>
          <a:xfrm>
            <a:off x="389096" y="4877959"/>
            <a:ext cx="1376204" cy="232619"/>
          </a:xfrm>
          <a:prstGeom prst="round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p>
            <a:pPr algn="ctr"/>
            <a:r>
              <a:rPr lang="en-US" altLang="zh-CN" sz="1400" dirty="0">
                <a:latin typeface="微软雅黑" panose="020B0503020204020204" charset="-122"/>
                <a:ea typeface="微软雅黑" panose="020B0503020204020204" charset="-122"/>
              </a:rPr>
              <a:t>2 | </a:t>
            </a:r>
            <a:r>
              <a:rPr lang="zh-CN" altLang="en-US" sz="1400" dirty="0">
                <a:latin typeface="微软雅黑" panose="020B0503020204020204" charset="-122"/>
                <a:ea typeface="微软雅黑" panose="020B0503020204020204" charset="-122"/>
              </a:rPr>
              <a:t>研究目的</a:t>
            </a:r>
            <a:endParaRPr lang="zh-CN" altLang="en-US" sz="1400" dirty="0">
              <a:latin typeface="微软雅黑" panose="020B0503020204020204" charset="-122"/>
              <a:ea typeface="微软雅黑" panose="020B0503020204020204" charset="-122"/>
            </a:endParaRPr>
          </a:p>
        </p:txBody>
      </p:sp>
      <p:sp>
        <p:nvSpPr>
          <p:cNvPr id="96" name="TextBox 32"/>
          <p:cNvSpPr txBox="1"/>
          <p:nvPr/>
        </p:nvSpPr>
        <p:spPr>
          <a:xfrm flipH="1">
            <a:off x="309544" y="2967190"/>
            <a:ext cx="111947" cy="141514"/>
          </a:xfrm>
          <a:prstGeom prst="rect">
            <a:avLst/>
          </a:prstGeom>
          <a:noFill/>
        </p:spPr>
        <p:txBody>
          <a:bodyPr wrap="square" lIns="0" tIns="0" rIns="0" bIns="0" anchor="t">
            <a:spAutoFit/>
          </a:bodyPr>
          <a:p>
            <a:pPr algn="l">
              <a:lnSpc>
                <a:spcPts val="945"/>
              </a:lnSpc>
            </a:pPr>
            <a:r>
              <a:rPr b="0" i="0" u="none" dirty="0">
                <a:solidFill>
                  <a:srgbClr val="133D73"/>
                </a:solidFill>
                <a:latin typeface="微软雅黑" panose="020B0503020204020204" charset="-122"/>
                <a:ea typeface="微软雅黑" panose="020B0503020204020204" charset="-122"/>
              </a:rPr>
              <a:t>■</a:t>
            </a:r>
            <a:endParaRPr b="0" i="0" u="none" dirty="0">
              <a:solidFill>
                <a:srgbClr val="133D73"/>
              </a:solidFill>
              <a:latin typeface="微软雅黑" panose="020B0503020204020204" charset="-122"/>
              <a:ea typeface="微软雅黑" panose="020B0503020204020204" charset="-122"/>
            </a:endParaRPr>
          </a:p>
        </p:txBody>
      </p:sp>
      <p:sp>
        <p:nvSpPr>
          <p:cNvPr id="98" name="TextBox 32"/>
          <p:cNvSpPr txBox="1"/>
          <p:nvPr/>
        </p:nvSpPr>
        <p:spPr>
          <a:xfrm flipH="1">
            <a:off x="309544" y="4118123"/>
            <a:ext cx="111947" cy="141514"/>
          </a:xfrm>
          <a:prstGeom prst="rect">
            <a:avLst/>
          </a:prstGeom>
          <a:noFill/>
        </p:spPr>
        <p:txBody>
          <a:bodyPr wrap="square" lIns="0" tIns="0" rIns="0" bIns="0" anchor="t">
            <a:spAutoFit/>
          </a:bodyPr>
          <a:p>
            <a:pPr algn="l">
              <a:lnSpc>
                <a:spcPts val="945"/>
              </a:lnSpc>
            </a:pPr>
            <a:r>
              <a:rPr b="0" i="0" u="none" dirty="0">
                <a:solidFill>
                  <a:srgbClr val="133D73"/>
                </a:solidFill>
                <a:latin typeface="微软雅黑" panose="020B0503020204020204" charset="-122"/>
                <a:ea typeface="微软雅黑" panose="020B0503020204020204" charset="-122"/>
              </a:rPr>
              <a:t>■</a:t>
            </a:r>
            <a:endParaRPr b="0" i="0" u="none" dirty="0">
              <a:solidFill>
                <a:srgbClr val="133D73"/>
              </a:solidFill>
              <a:latin typeface="微软雅黑" panose="020B0503020204020204" charset="-122"/>
              <a:ea typeface="微软雅黑" panose="020B0503020204020204" charset="-122"/>
            </a:endParaRPr>
          </a:p>
        </p:txBody>
      </p:sp>
      <p:sp>
        <p:nvSpPr>
          <p:cNvPr id="100" name="TextBox 32"/>
          <p:cNvSpPr txBox="1"/>
          <p:nvPr/>
        </p:nvSpPr>
        <p:spPr>
          <a:xfrm flipH="1">
            <a:off x="335735" y="5370674"/>
            <a:ext cx="111947" cy="141514"/>
          </a:xfrm>
          <a:prstGeom prst="rect">
            <a:avLst/>
          </a:prstGeom>
          <a:noFill/>
        </p:spPr>
        <p:txBody>
          <a:bodyPr wrap="square" lIns="0" tIns="0" rIns="0" bIns="0" anchor="t">
            <a:spAutoFit/>
          </a:bodyPr>
          <a:p>
            <a:pPr algn="l">
              <a:lnSpc>
                <a:spcPts val="945"/>
              </a:lnSpc>
            </a:pPr>
            <a:r>
              <a:rPr b="0" i="0" u="none" dirty="0">
                <a:solidFill>
                  <a:srgbClr val="133D73"/>
                </a:solidFill>
                <a:latin typeface="微软雅黑" panose="020B0503020204020204" charset="-122"/>
                <a:ea typeface="微软雅黑" panose="020B0503020204020204" charset="-122"/>
              </a:rPr>
              <a:t>■</a:t>
            </a:r>
            <a:endParaRPr b="0" i="0" u="none" dirty="0">
              <a:solidFill>
                <a:srgbClr val="133D73"/>
              </a:solidFill>
              <a:latin typeface="微软雅黑" panose="020B0503020204020204" charset="-122"/>
              <a:ea typeface="微软雅黑" panose="020B0503020204020204" charset="-122"/>
            </a:endParaRPr>
          </a:p>
        </p:txBody>
      </p:sp>
      <p:sp>
        <p:nvSpPr>
          <p:cNvPr id="102" name="TextBox 32"/>
          <p:cNvSpPr txBox="1"/>
          <p:nvPr/>
        </p:nvSpPr>
        <p:spPr>
          <a:xfrm flipH="1">
            <a:off x="335735" y="5808826"/>
            <a:ext cx="111947" cy="141514"/>
          </a:xfrm>
          <a:prstGeom prst="rect">
            <a:avLst/>
          </a:prstGeom>
          <a:noFill/>
        </p:spPr>
        <p:txBody>
          <a:bodyPr wrap="square" lIns="0" tIns="0" rIns="0" bIns="0" anchor="t">
            <a:spAutoFit/>
          </a:bodyPr>
          <a:p>
            <a:pPr algn="l">
              <a:lnSpc>
                <a:spcPts val="945"/>
              </a:lnSpc>
            </a:pPr>
            <a:r>
              <a:rPr b="0" i="0" u="none" dirty="0">
                <a:solidFill>
                  <a:srgbClr val="133D73"/>
                </a:solidFill>
                <a:latin typeface="微软雅黑" panose="020B0503020204020204" charset="-122"/>
                <a:ea typeface="微软雅黑" panose="020B0503020204020204" charset="-122"/>
              </a:rPr>
              <a:t>■</a:t>
            </a:r>
            <a:endParaRPr b="0" i="0" u="none" dirty="0">
              <a:solidFill>
                <a:srgbClr val="133D73"/>
              </a:solidFill>
              <a:latin typeface="微软雅黑" panose="020B0503020204020204" charset="-122"/>
              <a:ea typeface="微软雅黑" panose="020B0503020204020204" charset="-122"/>
            </a:endParaRPr>
          </a:p>
        </p:txBody>
      </p:sp>
      <p:sp>
        <p:nvSpPr>
          <p:cNvPr id="104" name="TextBox 32"/>
          <p:cNvSpPr txBox="1"/>
          <p:nvPr/>
        </p:nvSpPr>
        <p:spPr>
          <a:xfrm flipH="1">
            <a:off x="335735" y="6394617"/>
            <a:ext cx="111947" cy="141514"/>
          </a:xfrm>
          <a:prstGeom prst="rect">
            <a:avLst/>
          </a:prstGeom>
          <a:noFill/>
        </p:spPr>
        <p:txBody>
          <a:bodyPr wrap="square" lIns="0" tIns="0" rIns="0" bIns="0" anchor="t">
            <a:spAutoFit/>
          </a:bodyPr>
          <a:p>
            <a:pPr algn="l">
              <a:lnSpc>
                <a:spcPts val="945"/>
              </a:lnSpc>
            </a:pPr>
            <a:r>
              <a:rPr b="0" i="0" u="none" dirty="0">
                <a:solidFill>
                  <a:srgbClr val="133D73"/>
                </a:solidFill>
                <a:latin typeface="微软雅黑" panose="020B0503020204020204" charset="-122"/>
                <a:ea typeface="微软雅黑" panose="020B0503020204020204" charset="-122"/>
              </a:rPr>
              <a:t>■</a:t>
            </a:r>
            <a:endParaRPr b="0" i="0" u="none" dirty="0">
              <a:solidFill>
                <a:srgbClr val="133D73"/>
              </a:solidFill>
              <a:latin typeface="微软雅黑" panose="020B0503020204020204" charset="-122"/>
              <a:ea typeface="微软雅黑" panose="020B0503020204020204" charset="-122"/>
            </a:endParaRPr>
          </a:p>
        </p:txBody>
      </p:sp>
      <p:pic>
        <p:nvPicPr>
          <p:cNvPr id="106" name="图片 105"/>
          <p:cNvPicPr>
            <a:picLocks noChangeAspect="1"/>
          </p:cNvPicPr>
          <p:nvPr/>
        </p:nvPicPr>
        <p:blipFill>
          <a:blip r:embed="rId9"/>
          <a:stretch>
            <a:fillRect/>
          </a:stretch>
        </p:blipFill>
        <p:spPr>
          <a:xfrm>
            <a:off x="2836740" y="1716919"/>
            <a:ext cx="1255643" cy="1842248"/>
          </a:xfrm>
          <a:prstGeom prst="rect">
            <a:avLst/>
          </a:prstGeom>
        </p:spPr>
      </p:pic>
      <p:pic>
        <p:nvPicPr>
          <p:cNvPr id="108" name="图片 107"/>
          <p:cNvPicPr>
            <a:picLocks noChangeAspect="1"/>
          </p:cNvPicPr>
          <p:nvPr/>
        </p:nvPicPr>
        <p:blipFill>
          <a:blip r:embed="rId10"/>
          <a:stretch>
            <a:fillRect/>
          </a:stretch>
        </p:blipFill>
        <p:spPr>
          <a:xfrm>
            <a:off x="4141224" y="1714996"/>
            <a:ext cx="1173150" cy="1837829"/>
          </a:xfrm>
          <a:prstGeom prst="rect">
            <a:avLst/>
          </a:prstGeom>
        </p:spPr>
      </p:pic>
      <p:pic>
        <p:nvPicPr>
          <p:cNvPr id="110" name="图片 109"/>
          <p:cNvPicPr>
            <a:picLocks noChangeAspect="1"/>
          </p:cNvPicPr>
          <p:nvPr/>
        </p:nvPicPr>
        <p:blipFill>
          <a:blip r:embed="rId11"/>
          <a:stretch>
            <a:fillRect/>
          </a:stretch>
        </p:blipFill>
        <p:spPr>
          <a:xfrm>
            <a:off x="8197613" y="2489998"/>
            <a:ext cx="830770" cy="709254"/>
          </a:xfrm>
          <a:prstGeom prst="rect">
            <a:avLst/>
          </a:prstGeom>
        </p:spPr>
      </p:pic>
      <p:pic>
        <p:nvPicPr>
          <p:cNvPr id="112" name="图片 111"/>
          <p:cNvPicPr>
            <a:picLocks noChangeAspect="1"/>
          </p:cNvPicPr>
          <p:nvPr/>
        </p:nvPicPr>
        <p:blipFill>
          <a:blip r:embed="rId12"/>
          <a:stretch>
            <a:fillRect/>
          </a:stretch>
        </p:blipFill>
        <p:spPr>
          <a:xfrm>
            <a:off x="9879762" y="2430445"/>
            <a:ext cx="381000" cy="554790"/>
          </a:xfrm>
          <a:prstGeom prst="rect">
            <a:avLst/>
          </a:prstGeom>
        </p:spPr>
      </p:pic>
      <p:pic>
        <p:nvPicPr>
          <p:cNvPr id="114" name="图片 113"/>
          <p:cNvPicPr>
            <a:picLocks noChangeAspect="1"/>
          </p:cNvPicPr>
          <p:nvPr/>
        </p:nvPicPr>
        <p:blipFill>
          <a:blip r:embed="rId13"/>
          <a:stretch>
            <a:fillRect/>
          </a:stretch>
        </p:blipFill>
        <p:spPr>
          <a:xfrm>
            <a:off x="10962842" y="2469696"/>
            <a:ext cx="517223" cy="729417"/>
          </a:xfrm>
          <a:prstGeom prst="rect">
            <a:avLst/>
          </a:prstGeom>
        </p:spPr>
      </p:pic>
      <p:pic>
        <p:nvPicPr>
          <p:cNvPr id="118" name="图片 117"/>
          <p:cNvPicPr>
            <a:picLocks noChangeAspect="1"/>
          </p:cNvPicPr>
          <p:nvPr/>
        </p:nvPicPr>
        <p:blipFill>
          <a:blip r:embed="rId14"/>
          <a:stretch>
            <a:fillRect/>
          </a:stretch>
        </p:blipFill>
        <p:spPr>
          <a:xfrm>
            <a:off x="7905648" y="5501584"/>
            <a:ext cx="1458003" cy="572226"/>
          </a:xfrm>
          <a:prstGeom prst="rect">
            <a:avLst/>
          </a:prstGeom>
        </p:spPr>
      </p:pic>
      <p:pic>
        <p:nvPicPr>
          <p:cNvPr id="122" name="图片 121"/>
          <p:cNvPicPr>
            <a:picLocks noChangeAspect="1"/>
          </p:cNvPicPr>
          <p:nvPr/>
        </p:nvPicPr>
        <p:blipFill>
          <a:blip r:embed="rId15"/>
          <a:stretch>
            <a:fillRect/>
          </a:stretch>
        </p:blipFill>
        <p:spPr>
          <a:xfrm>
            <a:off x="7905648" y="4375054"/>
            <a:ext cx="1449612" cy="570753"/>
          </a:xfrm>
          <a:prstGeom prst="rect">
            <a:avLst/>
          </a:prstGeom>
        </p:spPr>
      </p:pic>
      <p:pic>
        <p:nvPicPr>
          <p:cNvPr id="124" name="图片 123"/>
          <p:cNvPicPr>
            <a:picLocks noChangeAspect="1"/>
          </p:cNvPicPr>
          <p:nvPr/>
        </p:nvPicPr>
        <p:blipFill>
          <a:blip r:embed="rId16"/>
          <a:stretch>
            <a:fillRect/>
          </a:stretch>
        </p:blipFill>
        <p:spPr>
          <a:xfrm>
            <a:off x="10491886" y="4343231"/>
            <a:ext cx="1226533" cy="631992"/>
          </a:xfrm>
          <a:prstGeom prst="rect">
            <a:avLst/>
          </a:prstGeom>
        </p:spPr>
      </p:pic>
      <p:pic>
        <p:nvPicPr>
          <p:cNvPr id="128" name="图片 127"/>
          <p:cNvPicPr>
            <a:picLocks noChangeAspect="1"/>
          </p:cNvPicPr>
          <p:nvPr/>
        </p:nvPicPr>
        <p:blipFill>
          <a:blip r:embed="rId17"/>
          <a:stretch>
            <a:fillRect/>
          </a:stretch>
        </p:blipFill>
        <p:spPr>
          <a:xfrm>
            <a:off x="10497624" y="5310801"/>
            <a:ext cx="531846" cy="774505"/>
          </a:xfrm>
          <a:prstGeom prst="rect">
            <a:avLst/>
          </a:prstGeom>
        </p:spPr>
      </p:pic>
      <mc:AlternateContent xmlns:mc="http://schemas.openxmlformats.org/markup-compatibility/2006">
        <mc:Choice xmlns:a14="http://schemas.microsoft.com/office/drawing/2010/main" Requires="a14">
          <p:sp>
            <p:nvSpPr>
              <p:cNvPr id="130" name="文本框 129"/>
              <p:cNvSpPr txBox="1"/>
              <p:nvPr/>
            </p:nvSpPr>
            <p:spPr>
              <a:xfrm>
                <a:off x="10793931" y="5524464"/>
                <a:ext cx="584551" cy="276999"/>
              </a:xfrm>
              <a:prstGeom prst="rect">
                <a:avLst/>
              </a:prstGeom>
              <a:solidFill>
                <a:srgbClr val="FFFF00"/>
              </a:solidFill>
            </p:spPr>
            <p:txBody>
              <a:bodyPr wrap="square">
                <a:spAutoFit/>
              </a:bodyPr>
              <a:p>
                <a14:m>
                  <m:oMathPara xmlns:m="http://schemas.openxmlformats.org/officeDocument/2006/math">
                    <m:oMathParaPr>
                      <m:jc m:val="centerGroup"/>
                    </m:oMathParaPr>
                    <m:oMath xmlns:m="http://schemas.openxmlformats.org/officeDocument/2006/math">
                      <m:sSub>
                        <m:sSubPr>
                          <m:ctrlPr>
                            <a:rPr lang="zh-CN" altLang="en-US" sz="1200" i="1">
                              <a:highlight>
                                <a:srgbClr val="FFFF00"/>
                              </a:highlight>
                              <a:latin typeface="Cambria Math" panose="02040503050406030204" charset="0"/>
                            </a:rPr>
                          </m:ctrlPr>
                        </m:sSubPr>
                        <m:e>
                          <m:r>
                            <a:rPr lang="zh-CN" altLang="en-US" sz="1200" i="1">
                              <a:highlight>
                                <a:srgbClr val="FFFF00"/>
                              </a:highlight>
                              <a:latin typeface="Cambria Math" panose="02040503050406030204" charset="0"/>
                            </a:rPr>
                            <m:t>𝐴</m:t>
                          </m:r>
                        </m:e>
                        <m:sub>
                          <m:r>
                            <a:rPr lang="zh-CN" altLang="en-US" sz="1200" i="1">
                              <a:highlight>
                                <a:srgbClr val="FFFF00"/>
                              </a:highlight>
                              <a:latin typeface="Cambria Math" panose="02040503050406030204" charset="0"/>
                            </a:rPr>
                            <m:t>𝑛</m:t>
                          </m:r>
                        </m:sub>
                      </m:sSub>
                      <m:r>
                        <a:rPr lang="zh-CN" altLang="en-US" sz="1200" i="0">
                          <a:highlight>
                            <a:srgbClr val="FFFF00"/>
                          </a:highlight>
                          <a:latin typeface="Cambria Math" panose="02040503050406030204" charset="0"/>
                        </a:rPr>
                        <m:t>/</m:t>
                      </m:r>
                      <m:r>
                        <a:rPr lang="zh-CN" altLang="en-US" sz="1200" i="1">
                          <a:highlight>
                            <a:srgbClr val="FFFF00"/>
                          </a:highlight>
                          <a:latin typeface="Cambria Math" panose="02040503050406030204" charset="0"/>
                        </a:rPr>
                        <m:t>𝐻</m:t>
                      </m:r>
                    </m:oMath>
                  </m:oMathPara>
                </a14:m>
                <a:endParaRPr lang="zh-CN" altLang="en-US" sz="1200" dirty="0">
                  <a:highlight>
                    <a:srgbClr val="FFFF00"/>
                  </a:highlight>
                  <a:latin typeface="微软雅黑" panose="020B0503020204020204" charset="-122"/>
                  <a:ea typeface="微软雅黑" panose="020B0503020204020204" charset="-122"/>
                </a:endParaRPr>
              </a:p>
            </p:txBody>
          </p:sp>
        </mc:Choice>
        <mc:Fallback>
          <p:sp>
            <p:nvSpPr>
              <p:cNvPr id="130" name="文本框 129"/>
              <p:cNvSpPr txBox="1">
                <a:spLocks noRot="1" noChangeAspect="1" noMove="1" noResize="1" noEditPoints="1" noAdjustHandles="1" noChangeArrowheads="1" noChangeShapeType="1" noTextEdit="1"/>
              </p:cNvSpPr>
              <p:nvPr/>
            </p:nvSpPr>
            <p:spPr>
              <a:xfrm>
                <a:off x="10793931" y="5524464"/>
                <a:ext cx="584551" cy="276999"/>
              </a:xfrm>
              <a:prstGeom prst="rect">
                <a:avLst/>
              </a:prstGeom>
              <a:blipFill rotWithShape="1">
                <a:blip r:embed="rId18"/>
                <a:stretch>
                  <a:fillRect l="-34" t="-216" r="94"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2" name="文本框 131"/>
              <p:cNvSpPr txBox="1"/>
              <p:nvPr/>
            </p:nvSpPr>
            <p:spPr>
              <a:xfrm>
                <a:off x="8198120" y="4973982"/>
                <a:ext cx="1449595" cy="533800"/>
              </a:xfrm>
              <a:prstGeom prst="rect">
                <a:avLst/>
              </a:prstGeom>
              <a:noFill/>
            </p:spPr>
            <p:txBody>
              <a:bodyPr wrap="square">
                <a:spAutoFit/>
              </a:bodyPr>
              <a:p>
                <a:pPr>
                  <a:buNone/>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charset="0"/>
                            </a:rPr>
                          </m:ctrlPr>
                        </m:sSubPr>
                        <m:e>
                          <m:r>
                            <a:rPr lang="zh-CN" altLang="en-US" sz="1000" i="1">
                              <a:latin typeface="Cambria Math" panose="02040503050406030204" charset="0"/>
                            </a:rPr>
                            <m:t>𝑝</m:t>
                          </m:r>
                        </m:e>
                        <m:sub>
                          <m:r>
                            <m:rPr>
                              <m:nor/>
                            </m:rPr>
                            <a:rPr lang="zh-CN" altLang="en-US" sz="1000" i="0">
                              <a:latin typeface="微软雅黑" panose="020B0503020204020204" charset="-122"/>
                              <a:ea typeface="微软雅黑" panose="020B0503020204020204" charset="-122"/>
                            </a:rPr>
                            <m:t>orig</m:t>
                          </m:r>
                        </m:sub>
                      </m:sSub>
                      <m:r>
                        <a:rPr lang="zh-CN" altLang="en-US" sz="1000" i="0">
                          <a:latin typeface="Cambria Math" panose="02040503050406030204" charset="0"/>
                        </a:rPr>
                        <m:t>=</m:t>
                      </m:r>
                      <m:sSub>
                        <m:sSubPr>
                          <m:ctrlPr>
                            <a:rPr lang="zh-CN" altLang="en-US" sz="1000" i="1">
                              <a:latin typeface="Cambria Math" panose="02040503050406030204" charset="0"/>
                            </a:rPr>
                          </m:ctrlPr>
                        </m:sSubPr>
                        <m:e>
                          <m:r>
                            <a:rPr lang="zh-CN" altLang="en-US" sz="1000" i="1">
                              <a:latin typeface="Cambria Math" panose="02040503050406030204" charset="0"/>
                            </a:rPr>
                            <m:t>𝑝</m:t>
                          </m:r>
                        </m:e>
                        <m:sub>
                          <m:r>
                            <m:rPr>
                              <m:nor/>
                            </m:rPr>
                            <a:rPr lang="zh-CN" altLang="en-US" sz="1000" i="0">
                              <a:latin typeface="微软雅黑" panose="020B0503020204020204" charset="-122"/>
                              <a:ea typeface="微软雅黑" panose="020B0503020204020204" charset="-122"/>
                            </a:rPr>
                            <m:t>curve</m:t>
                          </m:r>
                        </m:sub>
                      </m:sSub>
                    </m:oMath>
                  </m:oMathPara>
                </a14:m>
                <a:endParaRPr lang="zh-CN" altLang="zh-CN" sz="1000" dirty="0">
                  <a:effectLst/>
                  <a:latin typeface="微软雅黑" panose="020B0503020204020204" charset="-122"/>
                  <a:ea typeface="微软雅黑" panose="020B0503020204020204" charset="-122"/>
                </a:endParaRPr>
              </a:p>
              <a:p>
                <a:pPr>
                  <a:buNone/>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charset="0"/>
                            </a:rPr>
                          </m:ctrlPr>
                        </m:sSubPr>
                        <m:e>
                          <m:r>
                            <a:rPr lang="zh-CN" altLang="en-US" sz="1000" i="1">
                              <a:latin typeface="Cambria Math" panose="02040503050406030204" charset="0"/>
                            </a:rPr>
                            <m:t>𝑝</m:t>
                          </m:r>
                        </m:e>
                        <m:sub>
                          <m:r>
                            <m:rPr>
                              <m:nor/>
                            </m:rPr>
                            <a:rPr lang="zh-CN" altLang="en-US" sz="1000" i="0">
                              <a:latin typeface="微软雅黑" panose="020B0503020204020204" charset="-122"/>
                              <a:ea typeface="微软雅黑" panose="020B0503020204020204" charset="-122"/>
                            </a:rPr>
                            <m:t>curve</m:t>
                          </m:r>
                        </m:sub>
                      </m:sSub>
                      <m:r>
                        <a:rPr lang="zh-CN" altLang="en-US" sz="1000" i="0">
                          <a:latin typeface="Cambria Math" panose="02040503050406030204" charset="0"/>
                        </a:rPr>
                        <m:t>=</m:t>
                      </m:r>
                      <m:r>
                        <m:rPr>
                          <m:sty m:val="p"/>
                        </m:rPr>
                        <a:rPr lang="zh-CN" altLang="en-US" sz="1000" i="0">
                          <a:latin typeface="Cambria Math" panose="02040503050406030204" charset="0"/>
                        </a:rPr>
                        <m:t>Φ</m:t>
                      </m:r>
                      <m:d>
                        <m:dPr>
                          <m:ctrlPr>
                            <a:rPr lang="zh-CN" altLang="en-US" sz="1000" i="0">
                              <a:latin typeface="Cambria Math" panose="02040503050406030204" charset="0"/>
                            </a:rPr>
                          </m:ctrlPr>
                        </m:dPr>
                        <m:e>
                          <m:r>
                            <a:rPr lang="zh-CN" altLang="en-US" sz="1000" i="0">
                              <a:latin typeface="Cambria Math" panose="02040503050406030204" charset="0"/>
                            </a:rPr>
                            <m:t>−</m:t>
                          </m:r>
                          <m:sSub>
                            <m:sSubPr>
                              <m:ctrlPr>
                                <a:rPr lang="zh-CN" altLang="en-US" sz="1000" i="1">
                                  <a:latin typeface="Cambria Math" panose="02040503050406030204" charset="0"/>
                                </a:rPr>
                              </m:ctrlPr>
                            </m:sSubPr>
                            <m:e>
                              <m:r>
                                <a:rPr lang="zh-CN" altLang="en-US" sz="1000" i="1">
                                  <a:latin typeface="Cambria Math" panose="02040503050406030204" charset="0"/>
                                </a:rPr>
                                <m:t>𝛽</m:t>
                              </m:r>
                            </m:e>
                            <m:sub>
                              <m:r>
                                <m:rPr>
                                  <m:nor/>
                                </m:rPr>
                                <a:rPr lang="zh-CN" altLang="en-US" sz="1000" i="0">
                                  <a:latin typeface="微软雅黑" panose="020B0503020204020204" charset="-122"/>
                                  <a:ea typeface="微软雅黑" panose="020B0503020204020204" charset="-122"/>
                                </a:rPr>
                                <m:t>orig</m:t>
                              </m:r>
                            </m:sub>
                          </m:sSub>
                        </m:e>
                      </m:d>
                    </m:oMath>
                  </m:oMathPara>
                </a14:m>
                <a:endParaRPr lang="zh-CN" altLang="zh-CN" sz="1000" dirty="0">
                  <a:effectLst/>
                  <a:latin typeface="微软雅黑" panose="020B0503020204020204" charset="-122"/>
                  <a:ea typeface="微软雅黑" panose="020B0503020204020204" charset="-122"/>
                </a:endParaRPr>
              </a:p>
            </p:txBody>
          </p:sp>
        </mc:Choice>
        <mc:Fallback>
          <p:sp>
            <p:nvSpPr>
              <p:cNvPr id="132" name="文本框 131"/>
              <p:cNvSpPr txBox="1">
                <a:spLocks noRot="1" noChangeAspect="1" noMove="1" noResize="1" noEditPoints="1" noAdjustHandles="1" noChangeArrowheads="1" noChangeShapeType="1" noTextEdit="1"/>
              </p:cNvSpPr>
              <p:nvPr/>
            </p:nvSpPr>
            <p:spPr>
              <a:xfrm>
                <a:off x="8198120" y="4973982"/>
                <a:ext cx="1449595" cy="533800"/>
              </a:xfrm>
              <a:prstGeom prst="rect">
                <a:avLst/>
              </a:prstGeom>
              <a:blipFill rotWithShape="1">
                <a:blip r:embed="rId19"/>
                <a:stretch>
                  <a:fillRect l="-19" t="-5" r="11" b="80"/>
                </a:stretch>
              </a:blipFill>
            </p:spPr>
            <p:txBody>
              <a:bodyPr/>
              <a:lstStyle/>
              <a:p>
                <a:r>
                  <a:rPr lang="zh-CN" altLang="en-US">
                    <a:noFill/>
                  </a:rPr>
                  <a:t> </a:t>
                </a:r>
              </a:p>
            </p:txBody>
          </p:sp>
        </mc:Fallback>
      </mc:AlternateContent>
      <p:cxnSp>
        <p:nvCxnSpPr>
          <p:cNvPr id="134" name="直接箭头连接符 133"/>
          <p:cNvCxnSpPr/>
          <p:nvPr/>
        </p:nvCxnSpPr>
        <p:spPr>
          <a:xfrm>
            <a:off x="8083550" y="4952529"/>
            <a:ext cx="0" cy="56539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6" name="直接箭头连接符 135"/>
          <p:cNvCxnSpPr>
            <a:endCxn id="112" idx="1"/>
          </p:cNvCxnSpPr>
          <p:nvPr/>
        </p:nvCxnSpPr>
        <p:spPr>
          <a:xfrm>
            <a:off x="9114108" y="2707840"/>
            <a:ext cx="765654"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44" name="直接箭头连接符 143"/>
          <p:cNvCxnSpPr>
            <a:endCxn id="75" idx="0"/>
          </p:cNvCxnSpPr>
          <p:nvPr/>
        </p:nvCxnSpPr>
        <p:spPr>
          <a:xfrm flipH="1">
            <a:off x="8656526" y="3153948"/>
            <a:ext cx="3175" cy="104838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49" name="直接箭头连接符 148"/>
          <p:cNvCxnSpPr/>
          <p:nvPr/>
        </p:nvCxnSpPr>
        <p:spPr>
          <a:xfrm flipV="1">
            <a:off x="10251377" y="2707840"/>
            <a:ext cx="689038" cy="718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51" name="直接箭头连接符 150"/>
          <p:cNvCxnSpPr/>
          <p:nvPr/>
        </p:nvCxnSpPr>
        <p:spPr>
          <a:xfrm>
            <a:off x="9114108" y="3091180"/>
            <a:ext cx="1873180"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55" name="直接连接符 154"/>
          <p:cNvCxnSpPr>
            <a:stCxn id="112" idx="2"/>
          </p:cNvCxnSpPr>
          <p:nvPr/>
        </p:nvCxnSpPr>
        <p:spPr>
          <a:xfrm>
            <a:off x="10070262" y="2985235"/>
            <a:ext cx="0" cy="95250"/>
          </a:xfrm>
          <a:prstGeom prst="line">
            <a:avLst/>
          </a:prstGeom>
        </p:spPr>
        <p:style>
          <a:lnRef idx="2">
            <a:schemeClr val="accent4"/>
          </a:lnRef>
          <a:fillRef idx="0">
            <a:schemeClr val="accent4"/>
          </a:fillRef>
          <a:effectRef idx="1">
            <a:schemeClr val="accent4"/>
          </a:effectRef>
          <a:fontRef idx="minor">
            <a:schemeClr val="tx1"/>
          </a:fontRef>
        </p:style>
      </p:cxnSp>
      <p:cxnSp>
        <p:nvCxnSpPr>
          <p:cNvPr id="161" name="直接箭头连接符 160"/>
          <p:cNvCxnSpPr>
            <a:stCxn id="124" idx="1"/>
            <a:endCxn id="122" idx="3"/>
          </p:cNvCxnSpPr>
          <p:nvPr/>
        </p:nvCxnSpPr>
        <p:spPr>
          <a:xfrm flipH="1">
            <a:off x="9355260" y="4659227"/>
            <a:ext cx="1136626" cy="120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4" name="直接箭头连接符 163"/>
          <p:cNvCxnSpPr/>
          <p:nvPr/>
        </p:nvCxnSpPr>
        <p:spPr>
          <a:xfrm>
            <a:off x="9395460" y="5650676"/>
            <a:ext cx="956726"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8" name="直接箭头连接符 167"/>
          <p:cNvCxnSpPr/>
          <p:nvPr/>
        </p:nvCxnSpPr>
        <p:spPr>
          <a:xfrm>
            <a:off x="11144156" y="3170538"/>
            <a:ext cx="0" cy="98107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74" name="TextBox 74"/>
          <p:cNvSpPr txBox="1"/>
          <p:nvPr/>
        </p:nvSpPr>
        <p:spPr>
          <a:xfrm>
            <a:off x="9591622" y="4371901"/>
            <a:ext cx="690708" cy="184666"/>
          </a:xfrm>
          <a:prstGeom prst="rect">
            <a:avLst/>
          </a:prstGeom>
          <a:noFill/>
        </p:spPr>
        <p:txBody>
          <a:bodyPr wrap="square" lIns="0" tIns="0" rIns="0" bIns="0" anchor="t">
            <a:spAutoFit/>
          </a:bodyPr>
          <a:p>
            <a:pPr algn="ctr"/>
            <a:r>
              <a:rPr lang="zh-CN" altLang="en-US" sz="1200" b="1" dirty="0">
                <a:solidFill>
                  <a:srgbClr val="1E293B"/>
                </a:solidFill>
                <a:latin typeface="微软雅黑" panose="020B0503020204020204" charset="-122"/>
                <a:ea typeface="微软雅黑" panose="020B0503020204020204" charset="-122"/>
              </a:rPr>
              <a:t>定力极值</a:t>
            </a:r>
            <a:endParaRPr sz="1200" b="1" i="0" u="none" dirty="0">
              <a:solidFill>
                <a:srgbClr val="1E293B"/>
              </a:solidFill>
              <a:latin typeface="微软雅黑" panose="020B0503020204020204" charset="-122"/>
              <a:ea typeface="微软雅黑" panose="020B0503020204020204" charset="-122"/>
            </a:endParaRPr>
          </a:p>
        </p:txBody>
      </p:sp>
      <p:sp>
        <p:nvSpPr>
          <p:cNvPr id="175" name="TextBox 74"/>
          <p:cNvSpPr txBox="1"/>
          <p:nvPr/>
        </p:nvSpPr>
        <p:spPr>
          <a:xfrm>
            <a:off x="9561578" y="4814716"/>
            <a:ext cx="702970" cy="184666"/>
          </a:xfrm>
          <a:prstGeom prst="rect">
            <a:avLst/>
          </a:prstGeom>
          <a:noFill/>
        </p:spPr>
        <p:txBody>
          <a:bodyPr wrap="square" lIns="0" tIns="0" rIns="0" bIns="0" anchor="t">
            <a:spAutoFit/>
          </a:bodyPr>
          <a:p>
            <a:pPr algn="ctr"/>
            <a:r>
              <a:rPr lang="zh-CN" altLang="en-US" sz="1200" b="1" i="0" u="none" dirty="0">
                <a:solidFill>
                  <a:srgbClr val="1E293B"/>
                </a:solidFill>
                <a:latin typeface="微软雅黑" panose="020B0503020204020204" charset="-122"/>
                <a:ea typeface="微软雅黑" panose="020B0503020204020204" charset="-122"/>
              </a:rPr>
              <a:t>位移极值</a:t>
            </a:r>
            <a:endParaRPr sz="1200" b="1" i="0" u="none" dirty="0">
              <a:solidFill>
                <a:srgbClr val="1E293B"/>
              </a:solidFill>
              <a:latin typeface="微软雅黑" panose="020B0503020204020204" charset="-122"/>
              <a:ea typeface="微软雅黑" panose="020B0503020204020204" charset="-122"/>
            </a:endParaRPr>
          </a:p>
        </p:txBody>
      </p:sp>
      <p:sp>
        <p:nvSpPr>
          <p:cNvPr id="177" name="文本框 176"/>
          <p:cNvSpPr txBox="1"/>
          <p:nvPr/>
        </p:nvSpPr>
        <p:spPr>
          <a:xfrm>
            <a:off x="10402981" y="4919493"/>
            <a:ext cx="1075948" cy="461665"/>
          </a:xfrm>
          <a:prstGeom prst="rect">
            <a:avLst/>
          </a:prstGeom>
          <a:noFill/>
        </p:spPr>
        <p:txBody>
          <a:bodyPr wrap="square">
            <a:spAutoFit/>
          </a:bodyPr>
          <a:p>
            <a:r>
              <a:rPr lang="zh-CN" altLang="zh-CN" sz="1200" dirty="0">
                <a:latin typeface="微软雅黑" panose="020B0503020204020204" charset="-122"/>
                <a:ea typeface="微软雅黑" panose="020B0503020204020204" charset="-122"/>
              </a:rPr>
              <a:t>水平位移角 阻齿缝线</a:t>
            </a:r>
            <a:endParaRPr lang="zh-CN" altLang="en-US" sz="1200" dirty="0">
              <a:latin typeface="微软雅黑" panose="020B0503020204020204" charset="-122"/>
              <a:ea typeface="微软雅黑" panose="020B0503020204020204" charset="-122"/>
            </a:endParaRPr>
          </a:p>
        </p:txBody>
      </p:sp>
      <p:sp>
        <p:nvSpPr>
          <p:cNvPr id="15" name="textbox 322"/>
          <p:cNvSpPr/>
          <p:nvPr/>
        </p:nvSpPr>
        <p:spPr>
          <a:xfrm>
            <a:off x="1265549" y="491291"/>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6" name="picture 680"/>
          <p:cNvPicPr>
            <a:picLocks noChangeAspect="1"/>
          </p:cNvPicPr>
          <p:nvPr/>
        </p:nvPicPr>
        <p:blipFill>
          <a:blip r:embed="rId20"/>
          <a:stretch>
            <a:fillRect/>
          </a:stretch>
        </p:blipFill>
        <p:spPr>
          <a:xfrm rot="21600000">
            <a:off x="1124244" y="1220465"/>
            <a:ext cx="217139" cy="217206"/>
          </a:xfrm>
          <a:prstGeom prst="rect">
            <a:avLst/>
          </a:prstGeom>
        </p:spPr>
      </p:pic>
      <p:sp>
        <p:nvSpPr>
          <p:cNvPr id="17" name="椭圆 16"/>
          <p:cNvSpPr/>
          <p:nvPr/>
        </p:nvSpPr>
        <p:spPr>
          <a:xfrm>
            <a:off x="520700" y="37846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cxnSp>
        <p:nvCxnSpPr>
          <p:cNvPr id="34" name="直接连接符 33"/>
          <p:cNvCxnSpPr/>
          <p:nvPr/>
        </p:nvCxnSpPr>
        <p:spPr>
          <a:xfrm flipV="1">
            <a:off x="1374140" y="984885"/>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35" name="文本框 34"/>
          <p:cNvSpPr txBox="1"/>
          <p:nvPr/>
        </p:nvSpPr>
        <p:spPr>
          <a:xfrm>
            <a:off x="1492250" y="1112520"/>
            <a:ext cx="8477885" cy="445135"/>
          </a:xfrm>
          <a:prstGeom prst="rect">
            <a:avLst/>
          </a:prstGeom>
          <a:noFill/>
        </p:spPr>
        <p:txBody>
          <a:bodyPr wrap="square" rtlCol="0">
            <a:spAutoFit/>
          </a:bodyPr>
          <a:p>
            <a:pPr algn="l"/>
            <a:r>
              <a:rPr sz="2300" b="1" dirty="0" err="1">
                <a:solidFill>
                  <a:srgbClr val="023A8C"/>
                </a:solidFill>
                <a:latin typeface="微软雅黑" panose="020B0503020204020204" charset="-122"/>
                <a:ea typeface="微软雅黑" panose="020B0503020204020204" charset="-122"/>
                <a:sym typeface="+mn-ea"/>
              </a:rPr>
              <a:t>极端风况下，开展应力可靠度评估与水平位移角限值确定</a:t>
            </a:r>
            <a:endParaRPr lang="zh-CN" altLang="en-US" sz="2300" b="1" dirty="0" err="1">
              <a:solidFill>
                <a:srgbClr val="023A8C"/>
              </a:solidFill>
              <a:latin typeface="微软雅黑" panose="020B0503020204020204" charset="-122"/>
              <a:ea typeface="微软雅黑" panose="020B0503020204020204" charset="-122"/>
              <a:sym typeface="+mn-ea"/>
            </a:endParaRPr>
          </a:p>
        </p:txBody>
      </p:sp>
      <p:sp>
        <p:nvSpPr>
          <p:cNvPr id="36" name="文本框 35"/>
          <p:cNvSpPr txBox="1"/>
          <p:nvPr/>
        </p:nvSpPr>
        <p:spPr>
          <a:xfrm>
            <a:off x="9086215"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37" name="文本框 36"/>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50/68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 name="组合 47"/>
          <p:cNvGrpSpPr/>
          <p:nvPr/>
        </p:nvGrpSpPr>
        <p:grpSpPr>
          <a:xfrm>
            <a:off x="1076325" y="2038985"/>
            <a:ext cx="9108440" cy="3852545"/>
            <a:chOff x="1618" y="3609"/>
            <a:chExt cx="14344" cy="6067"/>
          </a:xfrm>
        </p:grpSpPr>
        <p:cxnSp>
          <p:nvCxnSpPr>
            <p:cNvPr id="10" name="直接连接符 9"/>
            <p:cNvCxnSpPr/>
            <p:nvPr/>
          </p:nvCxnSpPr>
          <p:spPr>
            <a:xfrm>
              <a:off x="1618" y="3609"/>
              <a:ext cx="0" cy="5951"/>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 name="直接连接符 10"/>
            <p:cNvCxnSpPr/>
            <p:nvPr/>
          </p:nvCxnSpPr>
          <p:spPr>
            <a:xfrm>
              <a:off x="8244" y="3642"/>
              <a:ext cx="0" cy="5966"/>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3" name="直接连接符 12"/>
            <p:cNvCxnSpPr/>
            <p:nvPr/>
          </p:nvCxnSpPr>
          <p:spPr>
            <a:xfrm>
              <a:off x="1695" y="9676"/>
              <a:ext cx="6535" cy="0"/>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sp>
          <p:nvSpPr>
            <p:cNvPr id="15" name="椭圆 14"/>
            <p:cNvSpPr/>
            <p:nvPr/>
          </p:nvSpPr>
          <p:spPr>
            <a:xfrm>
              <a:off x="1800" y="4039"/>
              <a:ext cx="227" cy="22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1841" y="5260"/>
              <a:ext cx="227" cy="22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1834" y="6481"/>
              <a:ext cx="227" cy="22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1847" y="8517"/>
              <a:ext cx="227" cy="22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2073" y="3714"/>
              <a:ext cx="6171" cy="1452"/>
            </a:xfrm>
            <a:prstGeom prst="rect">
              <a:avLst/>
            </a:prstGeom>
            <a:noFill/>
          </p:spPr>
          <p:txBody>
            <a:bodyPr wrap="square" rtlCol="0">
              <a:spAutoFit/>
            </a:bodyPr>
            <a:p>
              <a:pPr indent="0" fontAlgn="auto">
                <a:lnSpc>
                  <a:spcPct val="150000"/>
                </a:lnSpc>
              </a:pPr>
              <a:r>
                <a:rPr lang="zh-CN" altLang="en-US"/>
                <a:t>建立混塔式风电机组</a:t>
              </a:r>
              <a:r>
                <a:rPr lang="zh-CN" altLang="en-US" b="1">
                  <a:solidFill>
                    <a:schemeClr val="accent1">
                      <a:lumMod val="75000"/>
                    </a:schemeClr>
                  </a:solidFill>
                </a:rPr>
                <a:t>一体化耦合非线性动力学模型；</a:t>
              </a:r>
              <a:endParaRPr lang="zh-CN" altLang="en-US" b="1">
                <a:solidFill>
                  <a:schemeClr val="accent1">
                    <a:lumMod val="75000"/>
                  </a:schemeClr>
                </a:solidFill>
              </a:endParaRPr>
            </a:p>
          </p:txBody>
        </p:sp>
        <p:sp>
          <p:nvSpPr>
            <p:cNvPr id="21" name="文本框 20"/>
            <p:cNvSpPr txBox="1"/>
            <p:nvPr/>
          </p:nvSpPr>
          <p:spPr>
            <a:xfrm>
              <a:off x="2068" y="4972"/>
              <a:ext cx="6177" cy="1452"/>
            </a:xfrm>
            <a:prstGeom prst="rect">
              <a:avLst/>
            </a:prstGeom>
            <a:noFill/>
          </p:spPr>
          <p:txBody>
            <a:bodyPr wrap="square" rtlCol="0">
              <a:spAutoFit/>
            </a:bodyPr>
            <a:p>
              <a:pPr indent="0" fontAlgn="auto">
                <a:lnSpc>
                  <a:spcPct val="150000"/>
                </a:lnSpc>
              </a:pPr>
              <a:r>
                <a:rPr lang="zh-CN" altLang="en-US"/>
                <a:t>应用一类</a:t>
              </a:r>
              <a:r>
                <a:rPr lang="zh-CN" altLang="en-US" b="1">
                  <a:solidFill>
                    <a:schemeClr val="accent1">
                      <a:lumMod val="75000"/>
                    </a:schemeClr>
                  </a:solidFill>
                </a:rPr>
                <a:t>非参数密度估计技术</a:t>
              </a:r>
              <a:r>
                <a:rPr lang="zh-CN" altLang="en-US"/>
                <a:t>开展混塔式风电组动力可靠度</a:t>
              </a:r>
              <a:r>
                <a:rPr lang="zh-CN" altLang="en-US"/>
                <a:t>分析；</a:t>
              </a:r>
              <a:endParaRPr lang="zh-CN" altLang="en-US"/>
            </a:p>
          </p:txBody>
        </p:sp>
        <p:sp>
          <p:nvSpPr>
            <p:cNvPr id="22" name="文本框 21"/>
            <p:cNvSpPr txBox="1"/>
            <p:nvPr/>
          </p:nvSpPr>
          <p:spPr>
            <a:xfrm>
              <a:off x="1984" y="6193"/>
              <a:ext cx="6336" cy="2107"/>
            </a:xfrm>
            <a:prstGeom prst="rect">
              <a:avLst/>
            </a:prstGeom>
            <a:noFill/>
          </p:spPr>
          <p:txBody>
            <a:bodyPr wrap="square" rtlCol="0">
              <a:spAutoFit/>
            </a:bodyPr>
            <a:p>
              <a:pPr indent="0" fontAlgn="auto">
                <a:lnSpc>
                  <a:spcPct val="150000"/>
                </a:lnSpc>
              </a:pPr>
              <a:r>
                <a:rPr lang="zh-CN" altLang="en-US"/>
                <a:t>根据</a:t>
              </a:r>
              <a:r>
                <a:rPr lang="zh-CN" altLang="en-US" b="1">
                  <a:solidFill>
                    <a:schemeClr val="accent1">
                      <a:lumMod val="75000"/>
                    </a:schemeClr>
                  </a:solidFill>
                </a:rPr>
                <a:t>应力可靠指标与塔顶水平位移可靠指标相等原则</a:t>
              </a:r>
              <a:r>
                <a:rPr lang="zh-CN" altLang="en-US"/>
                <a:t>，提出混塔式风电机组水平位移角限值的可靠度确定</a:t>
              </a:r>
              <a:r>
                <a:rPr lang="zh-CN" altLang="en-US"/>
                <a:t>方法；</a:t>
              </a:r>
              <a:endParaRPr lang="zh-CN" altLang="en-US"/>
            </a:p>
          </p:txBody>
        </p:sp>
        <p:sp>
          <p:nvSpPr>
            <p:cNvPr id="23" name="文本框 22"/>
            <p:cNvSpPr txBox="1"/>
            <p:nvPr/>
          </p:nvSpPr>
          <p:spPr>
            <a:xfrm>
              <a:off x="2027" y="8156"/>
              <a:ext cx="6171" cy="1452"/>
            </a:xfrm>
            <a:prstGeom prst="rect">
              <a:avLst/>
            </a:prstGeom>
            <a:noFill/>
          </p:spPr>
          <p:txBody>
            <a:bodyPr wrap="square" rtlCol="0">
              <a:spAutoFit/>
            </a:bodyPr>
            <a:p>
              <a:pPr indent="0" fontAlgn="auto">
                <a:lnSpc>
                  <a:spcPct val="150000"/>
                </a:lnSpc>
              </a:pPr>
              <a:r>
                <a:rPr lang="zh-CN" altLang="en-US"/>
                <a:t>进一步给出混塔式风电机组</a:t>
              </a:r>
              <a:r>
                <a:rPr lang="zh-CN" altLang="en-US" b="1">
                  <a:solidFill>
                    <a:schemeClr val="accent1">
                      <a:lumMod val="75000"/>
                    </a:schemeClr>
                  </a:solidFill>
                </a:rPr>
                <a:t>水平位移角限值的建议。</a:t>
              </a:r>
              <a:endParaRPr lang="zh-CN" altLang="en-US" b="1">
                <a:solidFill>
                  <a:schemeClr val="accent1">
                    <a:lumMod val="75000"/>
                  </a:schemeClr>
                </a:solidFill>
              </a:endParaRPr>
            </a:p>
          </p:txBody>
        </p:sp>
        <p:cxnSp>
          <p:nvCxnSpPr>
            <p:cNvPr id="25" name="直接箭头连接符 24"/>
            <p:cNvCxnSpPr/>
            <p:nvPr/>
          </p:nvCxnSpPr>
          <p:spPr>
            <a:xfrm flipV="1">
              <a:off x="12568" y="4122"/>
              <a:ext cx="397" cy="6"/>
            </a:xfrm>
            <a:prstGeom prst="straightConnector1">
              <a:avLst/>
            </a:prstGeom>
            <a:ln w="44450" cmpd="sng">
              <a:solidFill>
                <a:srgbClr val="7030A0"/>
              </a:solidFill>
              <a:prstDash val="solid"/>
              <a:tailEnd type="triangle"/>
            </a:ln>
          </p:spPr>
          <p:style>
            <a:lnRef idx="2">
              <a:schemeClr val="accent1"/>
            </a:lnRef>
            <a:fillRef idx="0">
              <a:srgbClr val="FFFFFF"/>
            </a:fillRef>
            <a:effectRef idx="0">
              <a:srgbClr val="FFFFFF"/>
            </a:effectRef>
            <a:fontRef idx="minor">
              <a:schemeClr val="tx1"/>
            </a:fontRef>
          </p:style>
        </p:cxnSp>
        <p:pic>
          <p:nvPicPr>
            <p:cNvPr id="27" name="图片 26" descr="屏幕截图 2026-09-03 012511"/>
            <p:cNvPicPr>
              <a:picLocks noChangeAspect="1"/>
            </p:cNvPicPr>
            <p:nvPr/>
          </p:nvPicPr>
          <p:blipFill>
            <a:blip r:embed="rId1"/>
            <a:stretch>
              <a:fillRect/>
            </a:stretch>
          </p:blipFill>
          <p:spPr>
            <a:xfrm>
              <a:off x="12968" y="3630"/>
              <a:ext cx="1018" cy="1801"/>
            </a:xfrm>
            <a:prstGeom prst="rect">
              <a:avLst/>
            </a:prstGeom>
          </p:spPr>
        </p:pic>
        <p:cxnSp>
          <p:nvCxnSpPr>
            <p:cNvPr id="28" name="直接箭头连接符 27"/>
            <p:cNvCxnSpPr/>
            <p:nvPr/>
          </p:nvCxnSpPr>
          <p:spPr>
            <a:xfrm flipV="1">
              <a:off x="13983" y="4112"/>
              <a:ext cx="397" cy="6"/>
            </a:xfrm>
            <a:prstGeom prst="straightConnector1">
              <a:avLst/>
            </a:prstGeom>
            <a:ln w="44450" cmpd="sng">
              <a:solidFill>
                <a:srgbClr val="7030A0"/>
              </a:solidFill>
              <a:prstDash val="solid"/>
              <a:tailEnd type="triangle"/>
            </a:ln>
          </p:spPr>
          <p:style>
            <a:lnRef idx="2">
              <a:schemeClr val="accent1"/>
            </a:lnRef>
            <a:fillRef idx="0">
              <a:srgbClr val="FFFFFF"/>
            </a:fillRef>
            <a:effectRef idx="0">
              <a:srgbClr val="FFFFFF"/>
            </a:effectRef>
            <a:fontRef idx="minor">
              <a:schemeClr val="tx1"/>
            </a:fontRef>
          </p:style>
        </p:cxnSp>
        <p:cxnSp>
          <p:nvCxnSpPr>
            <p:cNvPr id="29" name="直接箭头连接符 28"/>
            <p:cNvCxnSpPr/>
            <p:nvPr/>
          </p:nvCxnSpPr>
          <p:spPr>
            <a:xfrm>
              <a:off x="12573" y="5693"/>
              <a:ext cx="1771" cy="25"/>
            </a:xfrm>
            <a:prstGeom prst="straightConnector1">
              <a:avLst/>
            </a:prstGeom>
            <a:ln w="44450" cmpd="sng">
              <a:solidFill>
                <a:srgbClr val="7030A0"/>
              </a:solidFill>
              <a:prstDash val="solid"/>
              <a:tailEnd type="triangle"/>
            </a:ln>
          </p:spPr>
          <p:style>
            <a:lnRef idx="2">
              <a:schemeClr val="accent1"/>
            </a:lnRef>
            <a:fillRef idx="0">
              <a:srgbClr val="FFFFFF"/>
            </a:fillRef>
            <a:effectRef idx="0">
              <a:srgbClr val="FFFFFF"/>
            </a:effectRef>
            <a:fontRef idx="minor">
              <a:schemeClr val="tx1"/>
            </a:fontRef>
          </p:style>
        </p:cxnSp>
        <p:cxnSp>
          <p:nvCxnSpPr>
            <p:cNvPr id="2" name="直接箭头连接符 1"/>
            <p:cNvCxnSpPr/>
            <p:nvPr/>
          </p:nvCxnSpPr>
          <p:spPr>
            <a:xfrm>
              <a:off x="11293" y="6122"/>
              <a:ext cx="11" cy="397"/>
            </a:xfrm>
            <a:prstGeom prst="straightConnector1">
              <a:avLst/>
            </a:prstGeom>
            <a:ln w="19050" cmpd="sng">
              <a:solidFill>
                <a:srgbClr val="7030A0"/>
              </a:solidFill>
              <a:prstDash val="solid"/>
              <a:tailEnd type="triangle"/>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11541" y="6137"/>
              <a:ext cx="2135" cy="802"/>
            </a:xfrm>
            <a:prstGeom prst="rect">
              <a:avLst/>
            </a:prstGeom>
            <a:noFill/>
          </p:spPr>
          <p:txBody>
            <a:bodyPr wrap="square" rtlCol="0">
              <a:noAutofit/>
            </a:bodyPr>
            <a:p>
              <a:r>
                <a:rPr lang="zh-CN" altLang="en-US" sz="1000"/>
                <a:t>不确定性传播</a:t>
              </a:r>
              <a:endParaRPr lang="zh-CN" altLang="en-US" sz="1000"/>
            </a:p>
          </p:txBody>
        </p:sp>
        <p:cxnSp>
          <p:nvCxnSpPr>
            <p:cNvPr id="14" name="直接箭头连接符 13"/>
            <p:cNvCxnSpPr/>
            <p:nvPr/>
          </p:nvCxnSpPr>
          <p:spPr>
            <a:xfrm flipH="1">
              <a:off x="13024" y="7153"/>
              <a:ext cx="907" cy="13"/>
            </a:xfrm>
            <a:prstGeom prst="straightConnector1">
              <a:avLst/>
            </a:prstGeom>
            <a:ln w="44450" cmpd="sng">
              <a:solidFill>
                <a:srgbClr val="7030A0"/>
              </a:solidFill>
              <a:prstDash val="solid"/>
              <a:tailEnd type="triangle"/>
            </a:ln>
          </p:spPr>
          <p:style>
            <a:lnRef idx="2">
              <a:schemeClr val="accent1"/>
            </a:lnRef>
            <a:fillRef idx="0">
              <a:srgbClr val="FFFFFF"/>
            </a:fillRef>
            <a:effectRef idx="0">
              <a:srgbClr val="FFFFFF"/>
            </a:effectRef>
            <a:fontRef idx="minor">
              <a:schemeClr val="tx1"/>
            </a:fontRef>
          </p:style>
        </p:cxnSp>
        <p:pic>
          <p:nvPicPr>
            <p:cNvPr id="19" name="图片 18" descr="微信图片_20260903122926_55_2"/>
            <p:cNvPicPr>
              <a:picLocks noChangeAspect="1"/>
            </p:cNvPicPr>
            <p:nvPr/>
          </p:nvPicPr>
          <p:blipFill>
            <a:blip r:embed="rId2"/>
            <a:stretch>
              <a:fillRect/>
            </a:stretch>
          </p:blipFill>
          <p:spPr>
            <a:xfrm>
              <a:off x="14341" y="3648"/>
              <a:ext cx="1621" cy="2580"/>
            </a:xfrm>
            <a:prstGeom prst="rect">
              <a:avLst/>
            </a:prstGeom>
          </p:spPr>
        </p:pic>
        <p:sp>
          <p:nvSpPr>
            <p:cNvPr id="33" name="文本框 32"/>
            <p:cNvSpPr txBox="1"/>
            <p:nvPr/>
          </p:nvSpPr>
          <p:spPr>
            <a:xfrm>
              <a:off x="12949" y="6646"/>
              <a:ext cx="1431" cy="802"/>
            </a:xfrm>
            <a:prstGeom prst="rect">
              <a:avLst/>
            </a:prstGeom>
            <a:noFill/>
          </p:spPr>
          <p:txBody>
            <a:bodyPr wrap="square" rtlCol="0">
              <a:noAutofit/>
            </a:bodyPr>
            <a:p>
              <a:r>
                <a:rPr lang="zh-CN" altLang="en-US" sz="1000"/>
                <a:t>应力极值</a:t>
              </a:r>
              <a:endParaRPr lang="zh-CN" altLang="en-US" sz="1000"/>
            </a:p>
          </p:txBody>
        </p:sp>
        <p:sp>
          <p:nvSpPr>
            <p:cNvPr id="34" name="文本框 33"/>
            <p:cNvSpPr txBox="1"/>
            <p:nvPr/>
          </p:nvSpPr>
          <p:spPr>
            <a:xfrm>
              <a:off x="12910" y="7258"/>
              <a:ext cx="1431" cy="802"/>
            </a:xfrm>
            <a:prstGeom prst="rect">
              <a:avLst/>
            </a:prstGeom>
            <a:noFill/>
          </p:spPr>
          <p:txBody>
            <a:bodyPr wrap="square" rtlCol="0">
              <a:noAutofit/>
            </a:bodyPr>
            <a:p>
              <a:r>
                <a:rPr lang="zh-CN" altLang="en-US" sz="1000"/>
                <a:t>位移极值</a:t>
              </a:r>
              <a:endParaRPr lang="zh-CN" altLang="en-US" sz="1000"/>
            </a:p>
          </p:txBody>
        </p:sp>
        <p:cxnSp>
          <p:nvCxnSpPr>
            <p:cNvPr id="35" name="直接箭头连接符 34"/>
            <p:cNvCxnSpPr/>
            <p:nvPr/>
          </p:nvCxnSpPr>
          <p:spPr>
            <a:xfrm flipV="1">
              <a:off x="13016" y="9113"/>
              <a:ext cx="964" cy="5"/>
            </a:xfrm>
            <a:prstGeom prst="straightConnector1">
              <a:avLst/>
            </a:prstGeom>
            <a:ln w="44450" cmpd="sng">
              <a:solidFill>
                <a:srgbClr val="7030A0"/>
              </a:solidFill>
              <a:prstDash val="solid"/>
              <a:tailEnd type="triangle"/>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a:off x="15146" y="6193"/>
              <a:ext cx="11" cy="397"/>
            </a:xfrm>
            <a:prstGeom prst="straightConnector1">
              <a:avLst/>
            </a:prstGeom>
            <a:ln w="41275" cmpd="sng">
              <a:solidFill>
                <a:srgbClr val="7030A0"/>
              </a:solidFill>
              <a:prstDash val="solid"/>
              <a:tailEnd type="triangle"/>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1695" y="3609"/>
              <a:ext cx="6455" cy="0"/>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grpSp>
      <p:pic>
        <p:nvPicPr>
          <p:cNvPr id="6" name="图片 5" descr="屏幕截图 2026-09-03 214533"/>
          <p:cNvPicPr/>
          <p:nvPr/>
        </p:nvPicPr>
        <p:blipFill>
          <a:blip r:embed="rId3"/>
          <a:stretch>
            <a:fillRect/>
          </a:stretch>
        </p:blipFill>
        <p:spPr>
          <a:xfrm>
            <a:off x="6132830" y="2025650"/>
            <a:ext cx="1886400" cy="1612800"/>
          </a:xfrm>
          <a:prstGeom prst="rect">
            <a:avLst/>
          </a:prstGeom>
        </p:spPr>
      </p:pic>
      <p:pic>
        <p:nvPicPr>
          <p:cNvPr id="7" name="图片 6" descr="屏幕截图 2026-09-03 215455"/>
          <p:cNvPicPr/>
          <p:nvPr/>
        </p:nvPicPr>
        <p:blipFill>
          <a:blip r:embed="rId4"/>
          <a:stretch>
            <a:fillRect/>
          </a:stretch>
        </p:blipFill>
        <p:spPr>
          <a:xfrm>
            <a:off x="6367780" y="3896360"/>
            <a:ext cx="1951200" cy="2293200"/>
          </a:xfrm>
          <a:prstGeom prst="rect">
            <a:avLst/>
          </a:prstGeom>
        </p:spPr>
      </p:pic>
      <p:pic>
        <p:nvPicPr>
          <p:cNvPr id="8" name="图片 7" descr="屏幕截图 2026-09-03 220405"/>
          <p:cNvPicPr/>
          <p:nvPr/>
        </p:nvPicPr>
        <p:blipFill>
          <a:blip r:embed="rId5"/>
          <a:stretch>
            <a:fillRect/>
          </a:stretch>
        </p:blipFill>
        <p:spPr>
          <a:xfrm>
            <a:off x="8914765" y="4923790"/>
            <a:ext cx="1000800" cy="1368000"/>
          </a:xfrm>
          <a:prstGeom prst="rect">
            <a:avLst/>
          </a:prstGeom>
        </p:spPr>
      </p:pic>
      <p:pic>
        <p:nvPicPr>
          <p:cNvPr id="9" name="图片 8" descr="屏幕截图 2026-09-03 220943"/>
          <p:cNvPicPr/>
          <p:nvPr/>
        </p:nvPicPr>
        <p:blipFill>
          <a:blip r:embed="rId6"/>
          <a:stretch>
            <a:fillRect/>
          </a:stretch>
        </p:blipFill>
        <p:spPr>
          <a:xfrm>
            <a:off x="8896985" y="3931920"/>
            <a:ext cx="1533600" cy="950400"/>
          </a:xfrm>
          <a:prstGeom prst="rect">
            <a:avLst/>
          </a:prstGeom>
        </p:spPr>
      </p:pic>
      <p:sp>
        <p:nvSpPr>
          <p:cNvPr id="322" name="textbox 322"/>
          <p:cNvSpPr/>
          <p:nvPr/>
        </p:nvSpPr>
        <p:spPr>
          <a:xfrm>
            <a:off x="1374134" y="491291"/>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680" name="picture 680"/>
          <p:cNvPicPr>
            <a:picLocks noChangeAspect="1"/>
          </p:cNvPicPr>
          <p:nvPr/>
        </p:nvPicPr>
        <p:blipFill>
          <a:blip r:embed="rId7"/>
          <a:stretch>
            <a:fillRect/>
          </a:stretch>
        </p:blipFill>
        <p:spPr>
          <a:xfrm rot="21600000">
            <a:off x="1157264" y="1345560"/>
            <a:ext cx="217139" cy="217206"/>
          </a:xfrm>
          <a:prstGeom prst="rect">
            <a:avLst/>
          </a:prstGeom>
        </p:spPr>
      </p:pic>
      <p:sp>
        <p:nvSpPr>
          <p:cNvPr id="5" name="椭圆 4"/>
          <p:cNvSpPr/>
          <p:nvPr/>
        </p:nvSpPr>
        <p:spPr>
          <a:xfrm>
            <a:off x="629285" y="37846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cxnSp>
        <p:nvCxnSpPr>
          <p:cNvPr id="4" name="直接连接符 3"/>
          <p:cNvCxnSpPr/>
          <p:nvPr/>
        </p:nvCxnSpPr>
        <p:spPr>
          <a:xfrm flipV="1">
            <a:off x="1374140" y="984885"/>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24" name="文本框 23"/>
          <p:cNvSpPr txBox="1"/>
          <p:nvPr/>
        </p:nvSpPr>
        <p:spPr>
          <a:xfrm>
            <a:off x="1492250" y="1220470"/>
            <a:ext cx="10490200" cy="445135"/>
          </a:xfrm>
          <a:prstGeom prst="rect">
            <a:avLst/>
          </a:prstGeom>
          <a:noFill/>
        </p:spPr>
        <p:txBody>
          <a:bodyPr wrap="square" rtlCol="0">
            <a:spAutoFit/>
          </a:bodyPr>
          <a:p>
            <a:r>
              <a:rPr lang="zh-CN" altLang="en-US" sz="2300" b="1">
                <a:solidFill>
                  <a:srgbClr val="2F5597"/>
                </a:solidFill>
                <a:latin typeface="微软雅黑" panose="020B0503020204020204" charset="-122"/>
                <a:ea typeface="微软雅黑" panose="020B0503020204020204" charset="-122"/>
              </a:rPr>
              <a:t>基于中保真度力学模型，对风电机组在极端风速条件下的动力可靠度进行分析</a:t>
            </a:r>
            <a:endParaRPr lang="zh-CN" altLang="en-US" sz="2300" b="1">
              <a:solidFill>
                <a:srgbClr val="2F5597"/>
              </a:solidFill>
              <a:latin typeface="微软雅黑" panose="020B0503020204020204" charset="-122"/>
              <a:ea typeface="微软雅黑" panose="020B0503020204020204" charset="-122"/>
            </a:endParaRPr>
          </a:p>
        </p:txBody>
      </p:sp>
      <p:sp>
        <p:nvSpPr>
          <p:cNvPr id="30" name="文本框 29"/>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51/68</a:t>
            </a:r>
            <a:endParaRPr lang="en-US" altLang="zh-CN">
              <a:latin typeface="微软雅黑" panose="020B0503020204020204" charset="-122"/>
              <a:ea typeface="微软雅黑" panose="020B0503020204020204" charset="-122"/>
            </a:endParaRPr>
          </a:p>
        </p:txBody>
      </p:sp>
      <p:sp>
        <p:nvSpPr>
          <p:cNvPr id="31" name="文本框 30"/>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2" name="组合 81"/>
          <p:cNvGrpSpPr/>
          <p:nvPr/>
        </p:nvGrpSpPr>
        <p:grpSpPr>
          <a:xfrm>
            <a:off x="984250" y="1970405"/>
            <a:ext cx="2921000" cy="3749675"/>
            <a:chOff x="1550" y="2788"/>
            <a:chExt cx="4600" cy="5905"/>
          </a:xfrm>
        </p:grpSpPr>
        <p:grpSp>
          <p:nvGrpSpPr>
            <p:cNvPr id="51" name="组合 50"/>
            <p:cNvGrpSpPr/>
            <p:nvPr/>
          </p:nvGrpSpPr>
          <p:grpSpPr>
            <a:xfrm>
              <a:off x="1550" y="2788"/>
              <a:ext cx="4601" cy="5854"/>
              <a:chOff x="1550" y="3764"/>
              <a:chExt cx="4601" cy="5854"/>
            </a:xfrm>
          </p:grpSpPr>
          <p:sp>
            <p:nvSpPr>
              <p:cNvPr id="30" name="圆角矩形 29"/>
              <p:cNvSpPr/>
              <p:nvPr/>
            </p:nvSpPr>
            <p:spPr>
              <a:xfrm>
                <a:off x="1550" y="3764"/>
                <a:ext cx="4114" cy="5854"/>
              </a:xfrm>
              <a:prstGeom prst="roundRect">
                <a:avLst>
                  <a:gd name="adj" fmla="val 8872"/>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矩形 30"/>
              <p:cNvSpPr/>
              <p:nvPr/>
            </p:nvSpPr>
            <p:spPr>
              <a:xfrm>
                <a:off x="1947" y="3777"/>
                <a:ext cx="488" cy="506"/>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Times New Roman" panose="02020603050405020304" charset="0"/>
                    <a:ea typeface="微软雅黑" panose="020B0503020204020204" charset="-122"/>
                    <a:cs typeface="Times New Roman" panose="02020603050405020304" charset="0"/>
                  </a:rPr>
                  <a:t>1</a:t>
                </a:r>
                <a:endParaRPr lang="en-US" altLang="zh-CN" sz="2400" b="1">
                  <a:latin typeface="Times New Roman" panose="02020603050405020304" charset="0"/>
                  <a:ea typeface="微软雅黑" panose="020B0503020204020204" charset="-122"/>
                  <a:cs typeface="Times New Roman" panose="02020603050405020304" charset="0"/>
                </a:endParaRPr>
              </a:p>
            </p:txBody>
          </p:sp>
          <p:cxnSp>
            <p:nvCxnSpPr>
              <p:cNvPr id="36" name="直接连接符 35"/>
              <p:cNvCxnSpPr/>
              <p:nvPr/>
            </p:nvCxnSpPr>
            <p:spPr>
              <a:xfrm flipV="1">
                <a:off x="2451" y="4267"/>
                <a:ext cx="3231" cy="13"/>
              </a:xfrm>
              <a:prstGeom prst="line">
                <a:avLst/>
              </a:prstGeom>
            </p:spPr>
            <p:style>
              <a:lnRef idx="2">
                <a:schemeClr val="accent1"/>
              </a:lnRef>
              <a:fillRef idx="0">
                <a:srgbClr val="FFFFFF"/>
              </a:fillRef>
              <a:effectRef idx="0">
                <a:srgbClr val="FFFFFF"/>
              </a:effectRef>
              <a:fontRef idx="minor">
                <a:schemeClr val="tx1"/>
              </a:fontRef>
            </p:style>
          </p:cxnSp>
          <p:sp>
            <p:nvSpPr>
              <p:cNvPr id="40" name="文本框 39"/>
              <p:cNvSpPr txBox="1"/>
              <p:nvPr/>
            </p:nvSpPr>
            <p:spPr>
              <a:xfrm>
                <a:off x="2477" y="3798"/>
                <a:ext cx="3674" cy="531"/>
              </a:xfrm>
              <a:prstGeom prst="rect">
                <a:avLst/>
              </a:prstGeom>
              <a:noFill/>
            </p:spPr>
            <p:txBody>
              <a:bodyPr wrap="square" rtlCol="0">
                <a:spAutoFit/>
              </a:bodyPr>
              <a:p>
                <a:r>
                  <a:rPr lang="zh-CN" altLang="en-US" sz="1600" b="1">
                    <a:solidFill>
                      <a:schemeClr val="accent1">
                        <a:lumMod val="75000"/>
                      </a:schemeClr>
                    </a:solidFill>
                  </a:rPr>
                  <a:t>动力可靠度问题表述</a:t>
                </a:r>
                <a:endParaRPr lang="zh-CN" altLang="en-US" sz="1600" b="1">
                  <a:solidFill>
                    <a:schemeClr val="accent1">
                      <a:lumMod val="75000"/>
                    </a:schemeClr>
                  </a:solidFill>
                </a:endParaRPr>
              </a:p>
            </p:txBody>
          </p:sp>
          <mc:AlternateContent xmlns:mc="http://schemas.openxmlformats.org/markup-compatibility/2006">
            <mc:Choice xmlns:a14="http://schemas.microsoft.com/office/drawing/2010/main" Requires="a14">
              <p:sp>
                <p:nvSpPr>
                  <p:cNvPr id="41" name="文本框 40"/>
                  <p:cNvSpPr txBox="1"/>
                  <p:nvPr/>
                </p:nvSpPr>
                <p:spPr>
                  <a:xfrm>
                    <a:off x="1787" y="4459"/>
                    <a:ext cx="3936" cy="580"/>
                  </a:xfrm>
                  <a:prstGeom prst="rect">
                    <a:avLst/>
                  </a:prstGeom>
                  <a:noFill/>
                </p:spPr>
                <p:txBody>
                  <a:bodyPr wrap="none" rtlCol="0" anchor="t">
                    <a:spAutoFit/>
                  </a:bodyPr>
                  <a:p>
                    <a:r>
                      <a:rPr lang="zh-CN" altLang="en-US">
                        <a:latin typeface="Calibri" panose="020F0502020204030204" charset="0"/>
                      </a:rPr>
                      <a:t>①</a:t>
                    </a:r>
                    <a14:m>
                      <m:oMath xmlns:m="http://schemas.openxmlformats.org/officeDocument/2006/math">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    </m:t>
                            </m:r>
                            <m:r>
                              <a:rPr lang="en-US" altLang="zh-CN" sz="1200" i="1">
                                <a:latin typeface="Cambria Math" panose="02040503050406030204" charset="0"/>
                                <a:cs typeface="Cambria Math" panose="02040503050406030204" charset="0"/>
                              </a:rPr>
                              <m:t>𝑃</m:t>
                            </m:r>
                          </m:e>
                          <m:sub>
                            <m:r>
                              <a:rPr lang="en-US" altLang="zh-CN" sz="1200" i="1">
                                <a:latin typeface="Cambria Math" panose="02040503050406030204" charset="0"/>
                                <a:cs typeface="Cambria Math" panose="02040503050406030204" charset="0"/>
                              </a:rPr>
                              <m:t>𝑟</m:t>
                            </m:r>
                          </m:sub>
                        </m:sSub>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𝑃</m:t>
                        </m:r>
                        <m:d>
                          <m:dPr>
                            <m:begChr m:val="{"/>
                            <m:endChr m:val="}"/>
                            <m:ctrlPr>
                              <a:rPr lang="en-US" altLang="zh-CN" sz="1200" i="1">
                                <a:latin typeface="Cambria Math" panose="02040503050406030204" charset="0"/>
                                <a:cs typeface="Cambria Math" panose="02040503050406030204" charset="0"/>
                              </a:rPr>
                            </m:ctrlPr>
                          </m:dPr>
                          <m:e>
                            <m:r>
                              <a:rPr lang="en-US" altLang="zh-CN" sz="1200" i="1">
                                <a:latin typeface="Cambria Math" panose="02040503050406030204" charset="0"/>
                                <a:cs typeface="Cambria Math" panose="02040503050406030204" charset="0"/>
                              </a:rPr>
                              <m:t>𝑥</m:t>
                            </m:r>
                            <m:d>
                              <m:dPr>
                                <m:ctrlPr>
                                  <a:rPr lang="en-US" altLang="zh-CN" sz="1200" i="1">
                                    <a:latin typeface="Cambria Math" panose="02040503050406030204" charset="0"/>
                                    <a:cs typeface="Cambria Math" panose="02040503050406030204" charset="0"/>
                                  </a:rPr>
                                </m:ctrlPr>
                              </m:dPr>
                              <m:e>
                                <m:r>
                                  <a:rPr lang="en-US" altLang="zh-CN" sz="1200" i="1">
                                    <a:latin typeface="Cambria Math" panose="02040503050406030204" charset="0"/>
                                    <a:cs typeface="Cambria Math" panose="02040503050406030204" charset="0"/>
                                  </a:rPr>
                                  <m:t>𝑡</m:t>
                                </m:r>
                              </m:e>
                            </m:d>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𝛺</m:t>
                                </m:r>
                              </m:e>
                              <m:sub>
                                <m:r>
                                  <a:rPr lang="en-US" altLang="zh-CN" sz="1200" i="1">
                                    <a:latin typeface="Cambria Math" panose="02040503050406030204" charset="0"/>
                                    <a:cs typeface="Cambria Math" panose="02040503050406030204" charset="0"/>
                                  </a:rPr>
                                  <m:t>𝑠</m:t>
                                </m:r>
                              </m:sub>
                            </m:sSub>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𝑡</m:t>
                            </m:r>
                            <m:r>
                              <a:rPr lang="en-US" altLang="zh-CN" sz="1200" i="1">
                                <a:latin typeface="Cambria Math" panose="02040503050406030204" charset="0"/>
                                <a:cs typeface="Cambria Math" panose="02040503050406030204" charset="0"/>
                              </a:rPr>
                              <m:t>∈</m:t>
                            </m:r>
                            <m:d>
                              <m:dPr>
                                <m:begChr m:val="["/>
                                <m:endChr m:val="]"/>
                                <m:ctrlPr>
                                  <a:rPr lang="en-US" altLang="zh-CN" sz="1200" i="1">
                                    <a:latin typeface="Cambria Math" panose="02040503050406030204" charset="0"/>
                                    <a:cs typeface="Cambria Math" panose="02040503050406030204" charset="0"/>
                                  </a:rPr>
                                </m:ctrlPr>
                              </m:dPr>
                              <m:e>
                                <m:r>
                                  <a:rPr lang="en-US" altLang="zh-CN" sz="1200" i="1">
                                    <a:latin typeface="Cambria Math" panose="02040503050406030204" charset="0"/>
                                    <a:cs typeface="Cambria Math" panose="02040503050406030204" charset="0"/>
                                  </a:rPr>
                                  <m:t>0</m:t>
                                </m:r>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𝑇</m:t>
                                </m:r>
                              </m:e>
                            </m:d>
                          </m:e>
                        </m:d>
                      </m:oMath>
                    </a14:m>
                    <a:endParaRPr lang="zh-CN" altLang="en-US" sz="1200">
                      <a:latin typeface="Calibri" panose="020F0502020204030204" charset="0"/>
                    </a:endParaRPr>
                  </a:p>
                </p:txBody>
              </p:sp>
            </mc:Choice>
            <mc:Fallback>
              <p:sp>
                <p:nvSpPr>
                  <p:cNvPr id="41" name="文本框 40"/>
                  <p:cNvSpPr txBox="1">
                    <a:spLocks noRot="1" noChangeAspect="1" noMove="1" noResize="1" noEditPoints="1" noAdjustHandles="1" noChangeArrowheads="1" noChangeShapeType="1" noTextEdit="1"/>
                  </p:cNvSpPr>
                  <p:nvPr/>
                </p:nvSpPr>
                <p:spPr>
                  <a:xfrm>
                    <a:off x="1787" y="4459"/>
                    <a:ext cx="3936" cy="580"/>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1787" y="5169"/>
                    <a:ext cx="3467" cy="580"/>
                  </a:xfrm>
                  <a:prstGeom prst="rect">
                    <a:avLst/>
                  </a:prstGeom>
                  <a:noFill/>
                </p:spPr>
                <p:txBody>
                  <a:bodyPr wrap="none" rtlCol="0" anchor="t">
                    <a:spAutoFit/>
                  </a:bodyPr>
                  <a:p>
                    <a:pPr algn="l"/>
                    <a:r>
                      <a:rPr lang="zh-CN" altLang="en-US">
                        <a:latin typeface="微软雅黑" panose="020B0503020204020204" charset="-122"/>
                        <a:ea typeface="微软雅黑" panose="020B0503020204020204" charset="-122"/>
                      </a:rPr>
                      <a:t>②</a:t>
                    </a:r>
                    <a14:m>
                      <m:oMath xmlns:m="http://schemas.openxmlformats.org/officeDocument/2006/math">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    </m:t>
                            </m:r>
                            <m:r>
                              <a:rPr lang="en-US" altLang="zh-CN" sz="1200" i="1">
                                <a:latin typeface="Cambria Math" panose="02040503050406030204" charset="0"/>
                                <a:cs typeface="Cambria Math" panose="02040503050406030204" charset="0"/>
                              </a:rPr>
                              <m:t>𝑃</m:t>
                            </m:r>
                          </m:e>
                          <m:sub>
                            <m:r>
                              <a:rPr lang="en-US" altLang="zh-CN" sz="1200" i="1">
                                <a:latin typeface="Cambria Math" panose="02040503050406030204" charset="0"/>
                                <a:cs typeface="Cambria Math" panose="02040503050406030204" charset="0"/>
                              </a:rPr>
                              <m:t>𝑟</m:t>
                            </m:r>
                          </m:sub>
                        </m:sSub>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𝑃</m:t>
                        </m:r>
                        <m:d>
                          <m:dPr>
                            <m:begChr m:val="{"/>
                            <m:endChr m:val="}"/>
                            <m:ctrlPr>
                              <a:rPr lang="en-US" altLang="zh-CN" sz="1200" i="1">
                                <a:latin typeface="Cambria Math" panose="02040503050406030204" charset="0"/>
                                <a:cs typeface="Cambria Math" panose="02040503050406030204" charset="0"/>
                              </a:rPr>
                            </m:ctrlPr>
                          </m:dPr>
                          <m:e>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𝑋</m:t>
                                </m:r>
                              </m:e>
                              <m:sub>
                                <m:r>
                                  <a:rPr lang="en-US" altLang="zh-CN" sz="1200" i="1" kern="600">
                                    <a:solidFill>
                                      <a:schemeClr val="tx1"/>
                                    </a:solidFill>
                                    <a:uFillTx/>
                                    <a:latin typeface="Cambria Math" panose="02040503050406030204" charset="0"/>
                                    <a:cs typeface="Cambria Math" panose="02040503050406030204" charset="0"/>
                                  </a:rPr>
                                  <m:t>𝑚𝑎𝑥</m:t>
                                </m:r>
                              </m:sub>
                            </m:sSub>
                            <m:d>
                              <m:dPr>
                                <m:ctrlPr>
                                  <a:rPr lang="en-US" altLang="zh-CN" sz="1200" i="1">
                                    <a:latin typeface="Cambria Math" panose="02040503050406030204" charset="0"/>
                                    <a:cs typeface="Cambria Math" panose="02040503050406030204" charset="0"/>
                                  </a:rPr>
                                </m:ctrlPr>
                              </m:dPr>
                              <m:e>
                                <m:r>
                                  <a:rPr lang="en-US" altLang="zh-CN" sz="1200" i="1">
                                    <a:latin typeface="Cambria Math" panose="02040503050406030204" charset="0"/>
                                    <a:cs typeface="Cambria Math" panose="02040503050406030204" charset="0"/>
                                  </a:rPr>
                                  <m:t>𝑇</m:t>
                                </m:r>
                              </m:e>
                            </m:d>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𝑥</m:t>
                                </m:r>
                              </m:e>
                              <m:sub>
                                <m:r>
                                  <a:rPr lang="en-US" altLang="zh-CN" sz="1200" i="1">
                                    <a:latin typeface="Cambria Math" panose="02040503050406030204" charset="0"/>
                                    <a:cs typeface="Cambria Math" panose="02040503050406030204" charset="0"/>
                                  </a:rPr>
                                  <m:t>𝑙𝑖𝑚</m:t>
                                </m:r>
                              </m:sub>
                            </m:sSub>
                          </m:e>
                        </m:d>
                      </m:oMath>
                    </a14:m>
                    <a:endParaRPr lang="zh-CN" altLang="en-US" sz="1200">
                      <a:latin typeface="微软雅黑" panose="020B0503020204020204" charset="-122"/>
                      <a:ea typeface="微软雅黑" panose="020B0503020204020204" charset="-122"/>
                    </a:endParaRPr>
                  </a:p>
                </p:txBody>
              </p:sp>
            </mc:Choice>
            <mc:Fallback>
              <p:sp>
                <p:nvSpPr>
                  <p:cNvPr id="43" name="文本框 42"/>
                  <p:cNvSpPr txBox="1">
                    <a:spLocks noRot="1" noChangeAspect="1" noMove="1" noResize="1" noEditPoints="1" noAdjustHandles="1" noChangeArrowheads="1" noChangeShapeType="1" noTextEdit="1"/>
                  </p:cNvSpPr>
                  <p:nvPr/>
                </p:nvSpPr>
                <p:spPr>
                  <a:xfrm>
                    <a:off x="1787" y="5169"/>
                    <a:ext cx="3467" cy="58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1797" y="5873"/>
                    <a:ext cx="2244" cy="580"/>
                  </a:xfrm>
                  <a:prstGeom prst="rect">
                    <a:avLst/>
                  </a:prstGeom>
                  <a:noFill/>
                </p:spPr>
                <p:txBody>
                  <a:bodyPr wrap="none" rtlCol="0" anchor="t">
                    <a:spAutoFit/>
                  </a:bodyPr>
                  <a:p>
                    <a:r>
                      <a:rPr lang="zh-CN" altLang="en-US">
                        <a:latin typeface="微软雅黑" panose="020B0503020204020204" charset="-122"/>
                        <a:ea typeface="微软雅黑" panose="020B0503020204020204" charset="-122"/>
                      </a:rPr>
                      <a:t>③</a:t>
                    </a:r>
                    <a:r>
                      <a:rPr lang="en-US" altLang="zh-CN">
                        <a:latin typeface="微软雅黑" panose="020B0503020204020204" charset="-122"/>
                        <a:ea typeface="微软雅黑" panose="020B0503020204020204" charset="-122"/>
                      </a:rPr>
                      <a:t> </a:t>
                    </a:r>
                    <a14:m>
                      <m:oMath xmlns:m="http://schemas.openxmlformats.org/officeDocument/2006/math">
                        <m:r>
                          <a:rPr lang="en-US" altLang="zh-CN" sz="1200" i="1">
                            <a:latin typeface="Cambria Math" panose="02040503050406030204" charset="0"/>
                            <a:ea typeface="微软雅黑" panose="020B0503020204020204" charset="-122"/>
                            <a:cs typeface="Cambria Math" panose="02040503050406030204" charset="0"/>
                          </a:rPr>
                          <m:t>𝜎</m:t>
                        </m:r>
                        <m:d>
                          <m:dPr>
                            <m:ctrlPr>
                              <a:rPr lang="en-US" altLang="zh-CN" sz="1200" i="1">
                                <a:latin typeface="Cambria Math" panose="02040503050406030204" charset="0"/>
                                <a:ea typeface="微软雅黑" panose="020B0503020204020204" charset="-122"/>
                                <a:cs typeface="Cambria Math" panose="02040503050406030204" charset="0"/>
                              </a:rPr>
                            </m:ctrlPr>
                          </m:dPr>
                          <m:e>
                            <m:r>
                              <a:rPr lang="en-US" altLang="zh-CN" sz="1200" i="1">
                                <a:latin typeface="Cambria Math" panose="02040503050406030204" charset="0"/>
                                <a:ea typeface="微软雅黑" panose="020B0503020204020204" charset="-122"/>
                                <a:cs typeface="Cambria Math" panose="02040503050406030204" charset="0"/>
                              </a:rPr>
                              <m:t>𝑡</m:t>
                            </m:r>
                          </m:e>
                        </m:d>
                        <m:r>
                          <a:rPr lang="en-US" altLang="zh-CN" sz="1200" i="1">
                            <a:latin typeface="Cambria Math" panose="02040503050406030204" charset="0"/>
                            <a:ea typeface="微软雅黑" panose="020B0503020204020204" charset="-122"/>
                            <a:cs typeface="Cambria Math" panose="02040503050406030204" charset="0"/>
                          </a:rPr>
                          <m:t>=</m:t>
                        </m:r>
                        <m:r>
                          <a:rPr lang="en-US" altLang="zh-CN" sz="1200" i="1">
                            <a:latin typeface="Cambria Math" panose="02040503050406030204" charset="0"/>
                            <a:ea typeface="微软雅黑" panose="020B0503020204020204" charset="-122"/>
                            <a:cs typeface="Cambria Math" panose="02040503050406030204" charset="0"/>
                          </a:rPr>
                          <m:t>𝑀</m:t>
                        </m:r>
                        <m:d>
                          <m:dPr>
                            <m:ctrlPr>
                              <a:rPr lang="en-US" altLang="zh-CN" sz="1200" i="1">
                                <a:latin typeface="Cambria Math" panose="02040503050406030204" charset="0"/>
                                <a:ea typeface="微软雅黑" panose="020B0503020204020204" charset="-122"/>
                                <a:cs typeface="Cambria Math" panose="02040503050406030204" charset="0"/>
                              </a:rPr>
                            </m:ctrlPr>
                          </m:dPr>
                          <m:e>
                            <m:r>
                              <a:rPr lang="en-US" altLang="zh-CN" sz="1200" i="1">
                                <a:latin typeface="Cambria Math" panose="02040503050406030204" charset="0"/>
                                <a:ea typeface="微软雅黑" panose="020B0503020204020204" charset="-122"/>
                                <a:cs typeface="Cambria Math" panose="02040503050406030204" charset="0"/>
                              </a:rPr>
                              <m:t>𝑋</m:t>
                            </m:r>
                            <m:r>
                              <a:rPr lang="en-US" altLang="zh-CN" sz="1200" i="1">
                                <a:latin typeface="Cambria Math" panose="02040503050406030204" charset="0"/>
                                <a:ea typeface="微软雅黑" panose="020B0503020204020204" charset="-122"/>
                                <a:cs typeface="Cambria Math" panose="02040503050406030204" charset="0"/>
                              </a:rPr>
                              <m:t>,</m:t>
                            </m:r>
                            <m:r>
                              <a:rPr lang="en-US" altLang="zh-CN" sz="1200" i="1">
                                <a:latin typeface="Cambria Math" panose="02040503050406030204" charset="0"/>
                                <a:ea typeface="微软雅黑" panose="020B0503020204020204" charset="-122"/>
                                <a:cs typeface="Cambria Math" panose="02040503050406030204" charset="0"/>
                              </a:rPr>
                              <m:t>𝑡</m:t>
                            </m:r>
                          </m:e>
                        </m:d>
                      </m:oMath>
                    </a14:m>
                    <a:endParaRPr lang="zh-CN" altLang="en-US" sz="1200">
                      <a:latin typeface="微软雅黑" panose="020B0503020204020204" charset="-122"/>
                      <a:ea typeface="微软雅黑" panose="020B0503020204020204" charset="-122"/>
                    </a:endParaRPr>
                  </a:p>
                </p:txBody>
              </p:sp>
            </mc:Choice>
            <mc:Fallback>
              <p:sp>
                <p:nvSpPr>
                  <p:cNvPr id="44" name="文本框 43"/>
                  <p:cNvSpPr txBox="1">
                    <a:spLocks noRot="1" noChangeAspect="1" noMove="1" noResize="1" noEditPoints="1" noAdjustHandles="1" noChangeArrowheads="1" noChangeShapeType="1" noTextEdit="1"/>
                  </p:cNvSpPr>
                  <p:nvPr/>
                </p:nvSpPr>
                <p:spPr>
                  <a:xfrm>
                    <a:off x="1797" y="5873"/>
                    <a:ext cx="2244" cy="58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文本框 45"/>
                  <p:cNvSpPr txBox="1"/>
                  <p:nvPr/>
                </p:nvSpPr>
                <p:spPr>
                  <a:xfrm>
                    <a:off x="1797" y="6577"/>
                    <a:ext cx="2817" cy="580"/>
                  </a:xfrm>
                  <a:prstGeom prst="rect">
                    <a:avLst/>
                  </a:prstGeom>
                  <a:noFill/>
                </p:spPr>
                <p:txBody>
                  <a:bodyPr wrap="none" rtlCol="0" anchor="t">
                    <a:spAutoFit/>
                  </a:bodyPr>
                  <a:p>
                    <a:pPr algn="l"/>
                    <a:r>
                      <a:rPr lang="zh-CN" altLang="en-US">
                        <a:latin typeface="微软雅黑" panose="020B0503020204020204" charset="-122"/>
                        <a:ea typeface="微软雅黑" panose="020B0503020204020204" charset="-122"/>
                      </a:rPr>
                      <a:t>④</a:t>
                    </a:r>
                    <a14:m>
                      <m:oMath xmlns:m="http://schemas.openxmlformats.org/officeDocument/2006/math">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    </m:t>
                            </m:r>
                            <m:r>
                              <a:rPr lang="en-US" altLang="zh-CN" sz="1200" i="1">
                                <a:latin typeface="Cambria Math" panose="02040503050406030204" charset="0"/>
                                <a:cs typeface="Cambria Math" panose="02040503050406030204" charset="0"/>
                              </a:rPr>
                              <m:t>𝑃</m:t>
                            </m:r>
                          </m:e>
                          <m:sub>
                            <m:r>
                              <a:rPr lang="en-US" altLang="zh-CN" sz="1200" i="1">
                                <a:latin typeface="Cambria Math" panose="02040503050406030204" charset="0"/>
                                <a:cs typeface="Cambria Math" panose="02040503050406030204" charset="0"/>
                              </a:rPr>
                              <m:t>𝑟</m:t>
                            </m:r>
                          </m:sub>
                        </m:sSub>
                        <m:r>
                          <a:rPr lang="en-US" altLang="zh-CN" sz="1200" i="1">
                            <a:latin typeface="Cambria Math" panose="02040503050406030204" charset="0"/>
                            <a:cs typeface="Cambria Math" panose="02040503050406030204" charset="0"/>
                          </a:rPr>
                          <m:t>=</m:t>
                        </m:r>
                        <m:nary>
                          <m:naryPr>
                            <m:limLoc m:val="subSup"/>
                            <m:ctrlPr>
                              <a:rPr lang="en-US" altLang="zh-CN" sz="1200" i="1">
                                <a:latin typeface="Cambria Math" panose="02040503050406030204" charset="0"/>
                                <a:cs typeface="Cambria Math" panose="02040503050406030204" charset="0"/>
                              </a:rPr>
                            </m:ctrlPr>
                          </m:naryPr>
                          <m:sub>
                            <m:r>
                              <a:rPr lang="en-US" altLang="zh-CN" sz="1200" i="1">
                                <a:latin typeface="Cambria Math" panose="02040503050406030204" charset="0"/>
                                <a:cs typeface="Cambria Math" panose="02040503050406030204" charset="0"/>
                              </a:rPr>
                              <m:t>0</m:t>
                            </m:r>
                          </m:sub>
                          <m:sup>
                            <m:r>
                              <a:rPr lang="en-US" altLang="zh-CN" sz="1200" i="1">
                                <a:latin typeface="Cambria Math" panose="02040503050406030204" charset="0"/>
                                <a:cs typeface="Cambria Math" panose="02040503050406030204" charset="0"/>
                              </a:rPr>
                              <m:t>𝑠</m:t>
                            </m:r>
                          </m:sup>
                          <m:e>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𝑓</m:t>
                                </m:r>
                              </m:e>
                              <m:sub>
                                <m:r>
                                  <a:rPr lang="en-US" altLang="zh-CN" sz="1200" i="1" kern="700">
                                    <a:solidFill>
                                      <a:schemeClr val="tx1"/>
                                    </a:solidFill>
                                    <a:uFillTx/>
                                    <a:latin typeface="Cambria Math" panose="02040503050406030204" charset="0"/>
                                    <a:cs typeface="Cambria Math" panose="02040503050406030204" charset="0"/>
                                  </a:rPr>
                                  <m:t>𝑚𝑎𝑥</m:t>
                                </m:r>
                              </m:sub>
                            </m:sSub>
                            <m:d>
                              <m:dPr>
                                <m:ctrlPr>
                                  <a:rPr lang="en-US" altLang="zh-CN" sz="1200" i="1">
                                    <a:latin typeface="Cambria Math" panose="02040503050406030204" charset="0"/>
                                    <a:cs typeface="Cambria Math" panose="02040503050406030204" charset="0"/>
                                  </a:rPr>
                                </m:ctrlPr>
                              </m:dPr>
                              <m:e>
                                <m:r>
                                  <a:rPr lang="en-US" altLang="zh-CN" sz="1200" i="1">
                                    <a:latin typeface="Cambria Math" panose="02040503050406030204" charset="0"/>
                                    <a:cs typeface="Cambria Math" panose="02040503050406030204" charset="0"/>
                                  </a:rPr>
                                  <m:t>𝑠</m:t>
                                </m:r>
                              </m:e>
                            </m:d>
                          </m:e>
                        </m:nary>
                        <m:r>
                          <a:rPr lang="en-US" altLang="zh-CN" sz="1200" i="1">
                            <a:latin typeface="Cambria Math" panose="02040503050406030204" charset="0"/>
                            <a:cs typeface="Cambria Math" panose="02040503050406030204" charset="0"/>
                          </a:rPr>
                          <m:t>𝑑𝑠</m:t>
                        </m:r>
                      </m:oMath>
                    </a14:m>
                    <a:endParaRPr lang="zh-CN" altLang="en-US" sz="1200">
                      <a:latin typeface="微软雅黑" panose="020B0503020204020204" charset="-122"/>
                      <a:ea typeface="微软雅黑" panose="020B0503020204020204" charset="-122"/>
                    </a:endParaRPr>
                  </a:p>
                </p:txBody>
              </p:sp>
            </mc:Choice>
            <mc:Fallback>
              <p:sp>
                <p:nvSpPr>
                  <p:cNvPr id="46" name="文本框 45"/>
                  <p:cNvSpPr txBox="1">
                    <a:spLocks noRot="1" noChangeAspect="1" noMove="1" noResize="1" noEditPoints="1" noAdjustHandles="1" noChangeArrowheads="1" noChangeShapeType="1" noTextEdit="1"/>
                  </p:cNvSpPr>
                  <p:nvPr/>
                </p:nvSpPr>
                <p:spPr>
                  <a:xfrm>
                    <a:off x="1797" y="6577"/>
                    <a:ext cx="2817" cy="58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文本框 46"/>
                  <p:cNvSpPr txBox="1"/>
                  <p:nvPr/>
                </p:nvSpPr>
                <p:spPr>
                  <a:xfrm>
                    <a:off x="1813" y="7157"/>
                    <a:ext cx="3978" cy="622"/>
                  </a:xfrm>
                  <a:prstGeom prst="rect">
                    <a:avLst/>
                  </a:prstGeom>
                  <a:noFill/>
                </p:spPr>
                <p:txBody>
                  <a:bodyPr wrap="none" rtlCol="0" anchor="t">
                    <a:spAutoFit/>
                  </a:bodyPr>
                  <a:p>
                    <a:pPr algn="l"/>
                    <a:r>
                      <a:rPr lang="zh-CN" altLang="en-US">
                        <a:latin typeface="微软雅黑" panose="020B0503020204020204" charset="-122"/>
                        <a:ea typeface="微软雅黑" panose="020B0503020204020204" charset="-122"/>
                      </a:rPr>
                      <a:t>⑤</a:t>
                    </a:r>
                    <a14:m>
                      <m:oMath xmlns:m="http://schemas.openxmlformats.org/officeDocument/2006/math">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   </m:t>
                            </m:r>
                            <m:r>
                              <a:rPr lang="en-US" altLang="zh-CN" sz="1200" i="1">
                                <a:latin typeface="Cambria Math" panose="02040503050406030204" charset="0"/>
                                <a:cs typeface="Cambria Math" panose="02040503050406030204" charset="0"/>
                              </a:rPr>
                              <m:t>𝑃</m:t>
                            </m:r>
                          </m:e>
                          <m:sub>
                            <m:r>
                              <a:rPr lang="en-US" altLang="zh-CN" sz="1200" i="1">
                                <a:latin typeface="Cambria Math" panose="02040503050406030204" charset="0"/>
                                <a:cs typeface="Cambria Math" panose="02040503050406030204" charset="0"/>
                              </a:rPr>
                              <m:t>𝑓</m:t>
                            </m:r>
                          </m:sub>
                        </m:sSub>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𝑝</m:t>
                            </m:r>
                          </m:e>
                          <m:sub>
                            <m:r>
                              <a:rPr lang="en-US" altLang="zh-CN" sz="1200" i="1">
                                <a:latin typeface="Cambria Math" panose="02040503050406030204" charset="0"/>
                                <a:cs typeface="Cambria Math" panose="02040503050406030204" charset="0"/>
                              </a:rPr>
                              <m:t>𝑟</m:t>
                            </m:r>
                          </m:sub>
                        </m:sSub>
                        <m:r>
                          <a:rPr lang="en-US" altLang="zh-CN" sz="1200" i="1">
                            <a:latin typeface="Cambria Math" panose="02040503050406030204" charset="0"/>
                            <a:cs typeface="Cambria Math" panose="02040503050406030204" charset="0"/>
                          </a:rPr>
                          <m:t>, </m:t>
                        </m:r>
                        <m:r>
                          <a:rPr lang="en-US" altLang="zh-CN" sz="1200" i="1">
                            <a:latin typeface="Cambria Math" panose="02040503050406030204" charset="0"/>
                            <a:cs typeface="Cambria Math" panose="02040503050406030204" charset="0"/>
                          </a:rPr>
                          <m:t>𝛽</m:t>
                        </m:r>
                        <m:r>
                          <a:rPr lang="en-US" altLang="zh-CN" sz="1200" i="1">
                            <a:latin typeface="Cambria Math" panose="02040503050406030204" charset="0"/>
                            <a:cs typeface="Cambria Math" panose="02040503050406030204" charset="0"/>
                          </a:rPr>
                          <m:t>=−</m:t>
                        </m:r>
                        <m:sSup>
                          <m:sSupPr>
                            <m:ctrlPr>
                              <a:rPr lang="en-US" altLang="zh-CN" sz="1200" i="1">
                                <a:latin typeface="Cambria Math" panose="02040503050406030204" charset="0"/>
                                <a:cs typeface="Cambria Math" panose="02040503050406030204" charset="0"/>
                              </a:rPr>
                            </m:ctrlPr>
                          </m:sSupPr>
                          <m:e>
                            <m:r>
                              <a:rPr lang="en-US" altLang="zh-CN" sz="1200" i="1">
                                <a:latin typeface="Cambria Math" panose="02040503050406030204" charset="0"/>
                                <a:cs typeface="Cambria Math" panose="02040503050406030204" charset="0"/>
                              </a:rPr>
                              <m:t>𝛷</m:t>
                            </m:r>
                          </m:e>
                          <m:sup>
                            <m:r>
                              <a:rPr lang="en-US" altLang="zh-CN" sz="1200" i="1">
                                <a:latin typeface="Cambria Math" panose="02040503050406030204" charset="0"/>
                                <a:cs typeface="Cambria Math" panose="02040503050406030204" charset="0"/>
                              </a:rPr>
                              <m:t>−</m:t>
                            </m:r>
                            <m:r>
                              <a:rPr lang="en-US" altLang="zh-CN" sz="1200" i="1">
                                <a:latin typeface="Cambria Math" panose="02040503050406030204" charset="0"/>
                                <a:cs typeface="Cambria Math" panose="02040503050406030204" charset="0"/>
                              </a:rPr>
                              <m:t>1</m:t>
                            </m:r>
                          </m:sup>
                        </m:sSup>
                        <m:d>
                          <m:dPr>
                            <m:ctrlPr>
                              <a:rPr lang="en-US" altLang="zh-CN" sz="1200" i="1">
                                <a:latin typeface="Cambria Math" panose="02040503050406030204" charset="0"/>
                                <a:cs typeface="Cambria Math" panose="02040503050406030204" charset="0"/>
                              </a:rPr>
                            </m:ctrlPr>
                          </m:dPr>
                          <m:e>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𝑃</m:t>
                                </m:r>
                              </m:e>
                              <m:sub>
                                <m:r>
                                  <a:rPr lang="en-US" altLang="zh-CN" sz="1200" i="1">
                                    <a:latin typeface="Cambria Math" panose="02040503050406030204" charset="0"/>
                                    <a:cs typeface="Cambria Math" panose="02040503050406030204" charset="0"/>
                                  </a:rPr>
                                  <m:t>𝑓</m:t>
                                </m:r>
                              </m:sub>
                            </m:sSub>
                          </m:e>
                        </m:d>
                      </m:oMath>
                    </a14:m>
                    <a:r>
                      <a:rPr lang="en-US" altLang="zh-CN">
                        <a:latin typeface="微软雅黑" panose="020B0503020204020204" charset="-122"/>
                        <a:ea typeface="微软雅黑" panose="020B0503020204020204" charset="-122"/>
                      </a:rPr>
                      <a:t> </a:t>
                    </a:r>
                    <a:endParaRPr lang="en-US" altLang="zh-CN">
                      <a:latin typeface="微软雅黑" panose="020B0503020204020204" charset="-122"/>
                      <a:ea typeface="微软雅黑" panose="020B0503020204020204" charset="-122"/>
                    </a:endParaRPr>
                  </a:p>
                </p:txBody>
              </p:sp>
            </mc:Choice>
            <mc:Fallback>
              <p:sp>
                <p:nvSpPr>
                  <p:cNvPr id="47" name="文本框 46"/>
                  <p:cNvSpPr txBox="1">
                    <a:spLocks noRot="1" noChangeAspect="1" noMove="1" noResize="1" noEditPoints="1" noAdjustHandles="1" noChangeArrowheads="1" noChangeShapeType="1" noTextEdit="1"/>
                  </p:cNvSpPr>
                  <p:nvPr/>
                </p:nvSpPr>
                <p:spPr>
                  <a:xfrm>
                    <a:off x="1813" y="7157"/>
                    <a:ext cx="3978" cy="622"/>
                  </a:xfrm>
                  <a:prstGeom prst="rect">
                    <a:avLst/>
                  </a:prstGeom>
                  <a:blipFill rotWithShape="1">
                    <a:blip r:embed="rId5"/>
                  </a:blipFill>
                </p:spPr>
                <p:txBody>
                  <a:bodyPr/>
                  <a:lstStyle/>
                  <a:p>
                    <a:r>
                      <a:rPr lang="zh-CN" altLang="en-US">
                        <a:noFill/>
                      </a:rPr>
                      <a:t> </a:t>
                    </a:r>
                  </a:p>
                </p:txBody>
              </p:sp>
            </mc:Fallback>
          </mc:AlternateContent>
        </p:grpSp>
        <p:cxnSp>
          <p:nvCxnSpPr>
            <p:cNvPr id="52" name="直接连接符 51"/>
            <p:cNvCxnSpPr/>
            <p:nvPr/>
          </p:nvCxnSpPr>
          <p:spPr>
            <a:xfrm>
              <a:off x="1718" y="7119"/>
              <a:ext cx="3760" cy="0"/>
            </a:xfrm>
            <a:prstGeom prst="line">
              <a:avLst/>
            </a:prstGeom>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sp>
          <p:nvSpPr>
            <p:cNvPr id="53" name="矩形 52"/>
            <p:cNvSpPr/>
            <p:nvPr/>
          </p:nvSpPr>
          <p:spPr>
            <a:xfrm>
              <a:off x="1787" y="7263"/>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矩形 53"/>
            <p:cNvSpPr/>
            <p:nvPr/>
          </p:nvSpPr>
          <p:spPr>
            <a:xfrm>
              <a:off x="1779" y="7687"/>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矩形 54"/>
            <p:cNvSpPr/>
            <p:nvPr/>
          </p:nvSpPr>
          <p:spPr>
            <a:xfrm>
              <a:off x="1771" y="8159"/>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文本框 56"/>
            <p:cNvSpPr txBox="1"/>
            <p:nvPr/>
          </p:nvSpPr>
          <p:spPr>
            <a:xfrm>
              <a:off x="1904" y="7147"/>
              <a:ext cx="3760" cy="637"/>
            </a:xfrm>
            <a:prstGeom prst="rect">
              <a:avLst/>
            </a:prstGeom>
            <a:noFill/>
          </p:spPr>
          <p:txBody>
            <a:bodyPr wrap="square" rtlCol="0">
              <a:noAutofit/>
            </a:bodyPr>
            <a:p>
              <a:r>
                <a:rPr lang="zh-CN" altLang="en-US" sz="1000"/>
                <a:t>首次超越问题可</a:t>
              </a:r>
              <a:r>
                <a:rPr lang="zh-CN" altLang="en-US" sz="1000">
                  <a:solidFill>
                    <a:srgbClr val="FF0000"/>
                  </a:solidFill>
                </a:rPr>
                <a:t>等价转化为极值问题；</a:t>
              </a:r>
              <a:endParaRPr lang="en-US" altLang="zh-CN" sz="1000">
                <a:solidFill>
                  <a:srgbClr val="FF0000"/>
                </a:solidFill>
              </a:endParaRPr>
            </a:p>
          </p:txBody>
        </p:sp>
        <p:sp>
          <p:nvSpPr>
            <p:cNvPr id="58" name="文本框 57"/>
            <p:cNvSpPr txBox="1"/>
            <p:nvPr/>
          </p:nvSpPr>
          <p:spPr>
            <a:xfrm>
              <a:off x="1904" y="7577"/>
              <a:ext cx="3760" cy="637"/>
            </a:xfrm>
            <a:prstGeom prst="rect">
              <a:avLst/>
            </a:prstGeom>
            <a:noFill/>
          </p:spPr>
          <p:txBody>
            <a:bodyPr wrap="square" rtlCol="0">
              <a:noAutofit/>
            </a:bodyPr>
            <a:p>
              <a:r>
                <a:rPr lang="zh-CN" altLang="en-US" sz="1000"/>
                <a:t>随机输入包含</a:t>
              </a:r>
              <a:r>
                <a:rPr lang="zh-CN" altLang="en-US" sz="1000">
                  <a:solidFill>
                    <a:srgbClr val="FF0000"/>
                  </a:solidFill>
                </a:rPr>
                <a:t>风场参数</a:t>
              </a:r>
              <a:r>
                <a:rPr lang="zh-CN" altLang="en-US" sz="1000">
                  <a:solidFill>
                    <a:schemeClr val="tx1"/>
                  </a:solidFill>
                </a:rPr>
                <a:t>和</a:t>
              </a:r>
              <a:r>
                <a:rPr lang="zh-CN" altLang="en-US" sz="1000">
                  <a:solidFill>
                    <a:srgbClr val="FF0000"/>
                  </a:solidFill>
                </a:rPr>
                <a:t>结构</a:t>
              </a:r>
              <a:r>
                <a:rPr lang="zh-CN" altLang="en-US" sz="1000">
                  <a:solidFill>
                    <a:srgbClr val="FF0000"/>
                  </a:solidFill>
                </a:rPr>
                <a:t>参数；</a:t>
              </a:r>
              <a:endParaRPr lang="en-US" altLang="zh-CN" sz="1000">
                <a:solidFill>
                  <a:srgbClr val="FF0000"/>
                </a:solidFill>
              </a:endParaRPr>
            </a:p>
          </p:txBody>
        </p:sp>
        <p:sp>
          <p:nvSpPr>
            <p:cNvPr id="59" name="文本框 58"/>
            <p:cNvSpPr txBox="1"/>
            <p:nvPr/>
          </p:nvSpPr>
          <p:spPr>
            <a:xfrm>
              <a:off x="1941" y="8057"/>
              <a:ext cx="3760" cy="637"/>
            </a:xfrm>
            <a:prstGeom prst="rect">
              <a:avLst/>
            </a:prstGeom>
            <a:noFill/>
          </p:spPr>
          <p:txBody>
            <a:bodyPr wrap="square" rtlCol="0">
              <a:noAutofit/>
            </a:bodyPr>
            <a:p>
              <a:r>
                <a:rPr lang="zh-CN" altLang="en-US" sz="1000"/>
                <a:t>核心在于准确</a:t>
              </a:r>
              <a:r>
                <a:rPr lang="zh-CN" altLang="en-US" sz="1000">
                  <a:solidFill>
                    <a:srgbClr val="FF0000"/>
                  </a:solidFill>
                </a:rPr>
                <a:t>重构应力极值</a:t>
              </a:r>
              <a:r>
                <a:rPr lang="zh-CN" altLang="en-US" sz="1000">
                  <a:solidFill>
                    <a:srgbClr val="FF0000"/>
                  </a:solidFill>
                </a:rPr>
                <a:t>分布。</a:t>
              </a:r>
              <a:endParaRPr lang="en-US" altLang="zh-CN" sz="1000">
                <a:solidFill>
                  <a:srgbClr val="FF0000"/>
                </a:solidFill>
              </a:endParaRPr>
            </a:p>
          </p:txBody>
        </p:sp>
      </p:grpSp>
      <p:sp>
        <p:nvSpPr>
          <p:cNvPr id="60" name="圆角矩形 59"/>
          <p:cNvSpPr/>
          <p:nvPr/>
        </p:nvSpPr>
        <p:spPr>
          <a:xfrm>
            <a:off x="720725" y="5939155"/>
            <a:ext cx="1209040" cy="513715"/>
          </a:xfrm>
          <a:prstGeom prst="round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分析步骤</a:t>
            </a:r>
            <a:endParaRPr lang="zh-CN" altLang="en-US" b="1"/>
          </a:p>
        </p:txBody>
      </p:sp>
      <p:grpSp>
        <p:nvGrpSpPr>
          <p:cNvPr id="66" name="组合 65"/>
          <p:cNvGrpSpPr/>
          <p:nvPr/>
        </p:nvGrpSpPr>
        <p:grpSpPr>
          <a:xfrm>
            <a:off x="2094230" y="5907405"/>
            <a:ext cx="2016125" cy="587306"/>
            <a:chOff x="4615" y="8816"/>
            <a:chExt cx="3175" cy="1161"/>
          </a:xfrm>
        </p:grpSpPr>
        <p:sp>
          <p:nvSpPr>
            <p:cNvPr id="61" name="圆角矩形 60"/>
            <p:cNvSpPr/>
            <p:nvPr/>
          </p:nvSpPr>
          <p:spPr>
            <a:xfrm>
              <a:off x="4615" y="8816"/>
              <a:ext cx="3175" cy="1161"/>
            </a:xfrm>
            <a:prstGeom prst="round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t>      </a:t>
              </a:r>
              <a:r>
                <a:rPr lang="zh-CN" altLang="en-US" sz="1600" b="1"/>
                <a:t>随机变量建模与</a:t>
              </a:r>
              <a:r>
                <a:rPr lang="en-US" altLang="zh-CN" sz="1600" b="1"/>
                <a:t>Sobol</a:t>
              </a:r>
              <a:r>
                <a:rPr lang="zh-CN" altLang="en-US" sz="1600" b="1"/>
                <a:t>抽样</a:t>
              </a:r>
              <a:endParaRPr lang="zh-CN" altLang="en-US" sz="1600" b="1"/>
            </a:p>
          </p:txBody>
        </p:sp>
        <p:sp>
          <p:nvSpPr>
            <p:cNvPr id="62" name="椭圆 61"/>
            <p:cNvSpPr/>
            <p:nvPr/>
          </p:nvSpPr>
          <p:spPr>
            <a:xfrm rot="60000">
              <a:off x="4695" y="9037"/>
              <a:ext cx="510" cy="640"/>
            </a:xfrm>
            <a:prstGeom prst="ellipse">
              <a:avLst/>
            </a:prstGeom>
            <a:solidFill>
              <a:schemeClr val="bg1"/>
            </a:solidFill>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sz="2000" b="1">
                  <a:latin typeface="Times New Roman" panose="02020603050405020304" charset="0"/>
                  <a:cs typeface="Times New Roman" panose="02020603050405020304" charset="0"/>
                </a:rPr>
                <a:t>1</a:t>
              </a:r>
              <a:endParaRPr lang="en-US" altLang="zh-CN" sz="2000" b="1">
                <a:latin typeface="Times New Roman" panose="02020603050405020304" charset="0"/>
                <a:cs typeface="Times New Roman" panose="02020603050405020304" charset="0"/>
              </a:endParaRPr>
            </a:p>
          </p:txBody>
        </p:sp>
      </p:grpSp>
      <p:grpSp>
        <p:nvGrpSpPr>
          <p:cNvPr id="67" name="组合 66"/>
          <p:cNvGrpSpPr/>
          <p:nvPr/>
        </p:nvGrpSpPr>
        <p:grpSpPr>
          <a:xfrm>
            <a:off x="4850130" y="5935345"/>
            <a:ext cx="2016125" cy="587375"/>
            <a:chOff x="4615" y="8816"/>
            <a:chExt cx="3175" cy="1161"/>
          </a:xfrm>
        </p:grpSpPr>
        <p:sp>
          <p:nvSpPr>
            <p:cNvPr id="68" name="圆角矩形 67"/>
            <p:cNvSpPr/>
            <p:nvPr/>
          </p:nvSpPr>
          <p:spPr>
            <a:xfrm>
              <a:off x="4615" y="8816"/>
              <a:ext cx="3175" cy="1161"/>
            </a:xfrm>
            <a:prstGeom prst="round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t>      </a:t>
              </a:r>
              <a:r>
                <a:rPr lang="zh-CN" altLang="en-US" sz="1600" b="1"/>
                <a:t>非线性时程</a:t>
              </a:r>
              <a:r>
                <a:rPr lang="zh-CN" altLang="en-US" sz="1600" b="1"/>
                <a:t>分析</a:t>
              </a:r>
              <a:endParaRPr lang="zh-CN" altLang="en-US" sz="1600" b="1"/>
            </a:p>
          </p:txBody>
        </p:sp>
        <p:sp>
          <p:nvSpPr>
            <p:cNvPr id="69" name="椭圆 68"/>
            <p:cNvSpPr/>
            <p:nvPr/>
          </p:nvSpPr>
          <p:spPr>
            <a:xfrm rot="60000">
              <a:off x="4678" y="9085"/>
              <a:ext cx="510" cy="640"/>
            </a:xfrm>
            <a:prstGeom prst="ellipse">
              <a:avLst/>
            </a:prstGeom>
            <a:solidFill>
              <a:schemeClr val="bg1"/>
            </a:solidFill>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sz="2000" b="1">
                  <a:latin typeface="Times New Roman" panose="02020603050405020304" charset="0"/>
                  <a:cs typeface="Times New Roman" panose="02020603050405020304" charset="0"/>
                </a:rPr>
                <a:t>2</a:t>
              </a:r>
              <a:endParaRPr lang="en-US" altLang="zh-CN" sz="2000" b="1">
                <a:latin typeface="Times New Roman" panose="02020603050405020304" charset="0"/>
                <a:cs typeface="Times New Roman" panose="02020603050405020304" charset="0"/>
              </a:endParaRPr>
            </a:p>
          </p:txBody>
        </p:sp>
      </p:grpSp>
      <p:cxnSp>
        <p:nvCxnSpPr>
          <p:cNvPr id="73" name="直接箭头连接符 72"/>
          <p:cNvCxnSpPr/>
          <p:nvPr/>
        </p:nvCxnSpPr>
        <p:spPr>
          <a:xfrm>
            <a:off x="4187190" y="6151880"/>
            <a:ext cx="576000" cy="2540"/>
          </a:xfrm>
          <a:prstGeom prst="straightConnector1">
            <a:avLst/>
          </a:prstGeom>
          <a:ln w="69850">
            <a:tailEnd type="triangle"/>
          </a:ln>
        </p:spPr>
        <p:style>
          <a:lnRef idx="2">
            <a:schemeClr val="accent1"/>
          </a:lnRef>
          <a:fillRef idx="0">
            <a:srgbClr val="FFFFFF"/>
          </a:fillRef>
          <a:effectRef idx="0">
            <a:srgbClr val="FFFFFF"/>
          </a:effectRef>
          <a:fontRef idx="minor">
            <a:schemeClr val="tx1"/>
          </a:fontRef>
        </p:style>
      </p:cxnSp>
      <p:cxnSp>
        <p:nvCxnSpPr>
          <p:cNvPr id="74" name="直接箭头连接符 73"/>
          <p:cNvCxnSpPr/>
          <p:nvPr/>
        </p:nvCxnSpPr>
        <p:spPr>
          <a:xfrm>
            <a:off x="6953250" y="6149340"/>
            <a:ext cx="576000" cy="2540"/>
          </a:xfrm>
          <a:prstGeom prst="straightConnector1">
            <a:avLst/>
          </a:prstGeom>
          <a:ln w="69850">
            <a:tailEnd type="triangle"/>
          </a:ln>
        </p:spPr>
        <p:style>
          <a:lnRef idx="2">
            <a:schemeClr val="accent1"/>
          </a:lnRef>
          <a:fillRef idx="0">
            <a:srgbClr val="FFFFFF"/>
          </a:fillRef>
          <a:effectRef idx="0">
            <a:srgbClr val="FFFFFF"/>
          </a:effectRef>
          <a:fontRef idx="minor">
            <a:schemeClr val="tx1"/>
          </a:fontRef>
        </p:style>
      </p:cxnSp>
      <p:grpSp>
        <p:nvGrpSpPr>
          <p:cNvPr id="75" name="组合 74"/>
          <p:cNvGrpSpPr/>
          <p:nvPr/>
        </p:nvGrpSpPr>
        <p:grpSpPr>
          <a:xfrm>
            <a:off x="7593330" y="5923915"/>
            <a:ext cx="2016125" cy="586800"/>
            <a:chOff x="4615" y="8816"/>
            <a:chExt cx="3175" cy="1161"/>
          </a:xfrm>
        </p:grpSpPr>
        <p:sp>
          <p:nvSpPr>
            <p:cNvPr id="76" name="圆角矩形 75"/>
            <p:cNvSpPr/>
            <p:nvPr/>
          </p:nvSpPr>
          <p:spPr>
            <a:xfrm>
              <a:off x="4615" y="8816"/>
              <a:ext cx="3175" cy="1161"/>
            </a:xfrm>
            <a:prstGeom prst="round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t>      </a:t>
              </a:r>
              <a:r>
                <a:rPr lang="zh-CN" altLang="en-US" sz="1600" b="1"/>
                <a:t>极值样本提取与</a:t>
              </a:r>
              <a:r>
                <a:rPr lang="en-US" altLang="zh-CN" sz="1600" b="1"/>
                <a:t>            </a:t>
              </a:r>
              <a:r>
                <a:rPr lang="zh-CN" altLang="en-US" sz="1600" b="1"/>
                <a:t>谐波变换</a:t>
              </a:r>
              <a:r>
                <a:rPr lang="zh-CN" altLang="en-US" sz="1600" b="1"/>
                <a:t>重构</a:t>
              </a:r>
              <a:endParaRPr lang="zh-CN" altLang="en-US" sz="1600" b="1"/>
            </a:p>
          </p:txBody>
        </p:sp>
        <p:sp>
          <p:nvSpPr>
            <p:cNvPr id="77" name="椭圆 76"/>
            <p:cNvSpPr/>
            <p:nvPr/>
          </p:nvSpPr>
          <p:spPr>
            <a:xfrm rot="60000">
              <a:off x="4678" y="9085"/>
              <a:ext cx="510" cy="641"/>
            </a:xfrm>
            <a:prstGeom prst="ellipse">
              <a:avLst/>
            </a:prstGeom>
            <a:solidFill>
              <a:schemeClr val="bg1"/>
            </a:solidFill>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sz="2000" b="1">
                  <a:latin typeface="Times New Roman" panose="02020603050405020304" charset="0"/>
                  <a:cs typeface="Times New Roman" panose="02020603050405020304" charset="0"/>
                </a:rPr>
                <a:t>3</a:t>
              </a:r>
              <a:endParaRPr lang="en-US" altLang="zh-CN" sz="2000" b="1">
                <a:latin typeface="Times New Roman" panose="02020603050405020304" charset="0"/>
                <a:cs typeface="Times New Roman" panose="02020603050405020304" charset="0"/>
              </a:endParaRPr>
            </a:p>
          </p:txBody>
        </p:sp>
      </p:grpSp>
      <p:cxnSp>
        <p:nvCxnSpPr>
          <p:cNvPr id="78" name="直接箭头连接符 77"/>
          <p:cNvCxnSpPr/>
          <p:nvPr/>
        </p:nvCxnSpPr>
        <p:spPr>
          <a:xfrm>
            <a:off x="9657080" y="6139180"/>
            <a:ext cx="576000" cy="2540"/>
          </a:xfrm>
          <a:prstGeom prst="straightConnector1">
            <a:avLst/>
          </a:prstGeom>
          <a:ln w="69850">
            <a:tailEnd type="triangle"/>
          </a:ln>
        </p:spPr>
        <p:style>
          <a:lnRef idx="2">
            <a:schemeClr val="accent1"/>
          </a:lnRef>
          <a:fillRef idx="0">
            <a:srgbClr val="FFFFFF"/>
          </a:fillRef>
          <a:effectRef idx="0">
            <a:srgbClr val="FFFFFF"/>
          </a:effectRef>
          <a:fontRef idx="minor">
            <a:schemeClr val="tx1"/>
          </a:fontRef>
        </p:style>
      </p:cxnSp>
      <p:grpSp>
        <p:nvGrpSpPr>
          <p:cNvPr id="79" name="组合 78"/>
          <p:cNvGrpSpPr/>
          <p:nvPr/>
        </p:nvGrpSpPr>
        <p:grpSpPr>
          <a:xfrm>
            <a:off x="10263505" y="5913755"/>
            <a:ext cx="1804035" cy="586800"/>
            <a:chOff x="4615" y="8816"/>
            <a:chExt cx="3175" cy="1161"/>
          </a:xfrm>
        </p:grpSpPr>
        <p:sp>
          <p:nvSpPr>
            <p:cNvPr id="80" name="圆角矩形 79"/>
            <p:cNvSpPr/>
            <p:nvPr/>
          </p:nvSpPr>
          <p:spPr>
            <a:xfrm>
              <a:off x="4615" y="8816"/>
              <a:ext cx="3175" cy="1161"/>
            </a:xfrm>
            <a:prstGeom prst="round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t>      </a:t>
              </a:r>
              <a:r>
                <a:rPr lang="zh-CN" altLang="en-US" sz="1600" b="1"/>
                <a:t>失效概率与可靠指标</a:t>
              </a:r>
              <a:r>
                <a:rPr lang="zh-CN" altLang="en-US" sz="1600" b="1"/>
                <a:t>计算</a:t>
              </a:r>
              <a:endParaRPr lang="zh-CN" altLang="en-US" sz="1600" b="1"/>
            </a:p>
          </p:txBody>
        </p:sp>
        <p:sp>
          <p:nvSpPr>
            <p:cNvPr id="81" name="椭圆 80"/>
            <p:cNvSpPr/>
            <p:nvPr/>
          </p:nvSpPr>
          <p:spPr>
            <a:xfrm rot="60000">
              <a:off x="4681" y="9075"/>
              <a:ext cx="570" cy="641"/>
            </a:xfrm>
            <a:prstGeom prst="ellipse">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p>
              <a:pPr algn="ctr"/>
              <a:r>
                <a:rPr lang="en-US" altLang="zh-CN" sz="2000" b="1">
                  <a:latin typeface="Times New Roman" panose="02020603050405020304" charset="0"/>
                  <a:cs typeface="Times New Roman" panose="02020603050405020304" charset="0"/>
                </a:rPr>
                <a:t>4</a:t>
              </a:r>
              <a:endParaRPr lang="en-US" altLang="zh-CN" sz="2000" b="1">
                <a:latin typeface="Times New Roman" panose="02020603050405020304" charset="0"/>
                <a:cs typeface="Times New Roman" panose="02020603050405020304" charset="0"/>
              </a:endParaRPr>
            </a:p>
          </p:txBody>
        </p:sp>
      </p:grpSp>
      <p:grpSp>
        <p:nvGrpSpPr>
          <p:cNvPr id="158" name="组合 157"/>
          <p:cNvGrpSpPr/>
          <p:nvPr/>
        </p:nvGrpSpPr>
        <p:grpSpPr>
          <a:xfrm>
            <a:off x="3647440" y="1970405"/>
            <a:ext cx="3724910" cy="3782060"/>
            <a:chOff x="5744" y="2788"/>
            <a:chExt cx="5866" cy="5956"/>
          </a:xfrm>
        </p:grpSpPr>
        <p:grpSp>
          <p:nvGrpSpPr>
            <p:cNvPr id="83" name="组合 82"/>
            <p:cNvGrpSpPr/>
            <p:nvPr/>
          </p:nvGrpSpPr>
          <p:grpSpPr>
            <a:xfrm>
              <a:off x="5744" y="2788"/>
              <a:ext cx="5866" cy="5956"/>
              <a:chOff x="1550" y="2788"/>
              <a:chExt cx="5866" cy="5854"/>
            </a:xfrm>
          </p:grpSpPr>
          <p:grpSp>
            <p:nvGrpSpPr>
              <p:cNvPr id="84" name="组合 83"/>
              <p:cNvGrpSpPr/>
              <p:nvPr/>
            </p:nvGrpSpPr>
            <p:grpSpPr>
              <a:xfrm>
                <a:off x="1550" y="2788"/>
                <a:ext cx="5866" cy="5854"/>
                <a:chOff x="1550" y="3764"/>
                <a:chExt cx="5866" cy="5854"/>
              </a:xfrm>
            </p:grpSpPr>
            <p:sp>
              <p:nvSpPr>
                <p:cNvPr id="85" name="圆角矩形 84"/>
                <p:cNvSpPr/>
                <p:nvPr/>
              </p:nvSpPr>
              <p:spPr>
                <a:xfrm>
                  <a:off x="1550" y="3764"/>
                  <a:ext cx="5866" cy="5854"/>
                </a:xfrm>
                <a:prstGeom prst="roundRect">
                  <a:avLst>
                    <a:gd name="adj" fmla="val 8872"/>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6" name="矩形 85"/>
                <p:cNvSpPr/>
                <p:nvPr/>
              </p:nvSpPr>
              <p:spPr>
                <a:xfrm>
                  <a:off x="1947" y="3777"/>
                  <a:ext cx="488" cy="506"/>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Times New Roman" panose="02020603050405020304" charset="0"/>
                      <a:ea typeface="微软雅黑" panose="020B0503020204020204" charset="-122"/>
                      <a:cs typeface="Times New Roman" panose="02020603050405020304" charset="0"/>
                    </a:rPr>
                    <a:t>2</a:t>
                  </a:r>
                  <a:endParaRPr lang="en-US" altLang="zh-CN" sz="2400" b="1">
                    <a:latin typeface="Times New Roman" panose="02020603050405020304" charset="0"/>
                    <a:ea typeface="微软雅黑" panose="020B0503020204020204" charset="-122"/>
                    <a:cs typeface="Times New Roman" panose="02020603050405020304" charset="0"/>
                  </a:endParaRPr>
                </a:p>
              </p:txBody>
            </p:sp>
            <p:cxnSp>
              <p:nvCxnSpPr>
                <p:cNvPr id="87" name="直接连接符 86"/>
                <p:cNvCxnSpPr/>
                <p:nvPr/>
              </p:nvCxnSpPr>
              <p:spPr>
                <a:xfrm flipV="1">
                  <a:off x="2451" y="4267"/>
                  <a:ext cx="3231" cy="13"/>
                </a:xfrm>
                <a:prstGeom prst="line">
                  <a:avLst/>
                </a:prstGeom>
              </p:spPr>
              <p:style>
                <a:lnRef idx="2">
                  <a:schemeClr val="accent1"/>
                </a:lnRef>
                <a:fillRef idx="0">
                  <a:srgbClr val="FFFFFF"/>
                </a:fillRef>
                <a:effectRef idx="0">
                  <a:srgbClr val="FFFFFF"/>
                </a:effectRef>
                <a:fontRef idx="minor">
                  <a:schemeClr val="tx1"/>
                </a:fontRef>
              </p:style>
            </p:cxnSp>
            <p:sp>
              <p:nvSpPr>
                <p:cNvPr id="88" name="文本框 87"/>
                <p:cNvSpPr txBox="1"/>
                <p:nvPr/>
              </p:nvSpPr>
              <p:spPr>
                <a:xfrm>
                  <a:off x="2477" y="3798"/>
                  <a:ext cx="3674" cy="522"/>
                </a:xfrm>
                <a:prstGeom prst="rect">
                  <a:avLst/>
                </a:prstGeom>
                <a:noFill/>
              </p:spPr>
              <p:txBody>
                <a:bodyPr wrap="square" rtlCol="0">
                  <a:spAutoFit/>
                </a:bodyPr>
                <a:p>
                  <a:r>
                    <a:rPr lang="en-US" altLang="zh-CN" sz="1600" b="1">
                      <a:solidFill>
                        <a:schemeClr val="accent1">
                          <a:lumMod val="75000"/>
                        </a:schemeClr>
                      </a:solidFill>
                    </a:rPr>
                    <a:t>Sobol</a:t>
                  </a:r>
                  <a:r>
                    <a:rPr lang="zh-CN" altLang="en-US" sz="1600" b="1">
                      <a:solidFill>
                        <a:schemeClr val="accent1">
                          <a:lumMod val="75000"/>
                        </a:schemeClr>
                      </a:solidFill>
                    </a:rPr>
                    <a:t>序列</a:t>
                  </a:r>
                  <a:r>
                    <a:rPr lang="zh-CN" altLang="en-US" sz="1600" b="1">
                      <a:solidFill>
                        <a:schemeClr val="accent1">
                          <a:lumMod val="75000"/>
                        </a:schemeClr>
                      </a:solidFill>
                    </a:rPr>
                    <a:t>随机抽样</a:t>
                  </a:r>
                  <a:endParaRPr lang="zh-CN" altLang="en-US" sz="1600" b="1">
                    <a:solidFill>
                      <a:schemeClr val="accent1">
                        <a:lumMod val="75000"/>
                      </a:schemeClr>
                    </a:solidFill>
                  </a:endParaRPr>
                </a:p>
              </p:txBody>
            </p:sp>
          </p:grpSp>
          <p:cxnSp>
            <p:nvCxnSpPr>
              <p:cNvPr id="94" name="直接连接符 93"/>
              <p:cNvCxnSpPr/>
              <p:nvPr/>
            </p:nvCxnSpPr>
            <p:spPr>
              <a:xfrm>
                <a:off x="1718" y="7119"/>
                <a:ext cx="3760" cy="0"/>
              </a:xfrm>
              <a:prstGeom prst="line">
                <a:avLst/>
              </a:prstGeom>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sp>
            <p:nvSpPr>
              <p:cNvPr id="95" name="矩形 94"/>
              <p:cNvSpPr/>
              <p:nvPr/>
            </p:nvSpPr>
            <p:spPr>
              <a:xfrm>
                <a:off x="2043" y="7199"/>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6" name="矩形 95"/>
              <p:cNvSpPr/>
              <p:nvPr/>
            </p:nvSpPr>
            <p:spPr>
              <a:xfrm>
                <a:off x="2035" y="7607"/>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7" name="矩形 96"/>
              <p:cNvSpPr/>
              <p:nvPr/>
            </p:nvSpPr>
            <p:spPr>
              <a:xfrm>
                <a:off x="2043" y="8063"/>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8" name="文本框 97"/>
              <p:cNvSpPr txBox="1"/>
              <p:nvPr/>
            </p:nvSpPr>
            <p:spPr>
              <a:xfrm>
                <a:off x="2262" y="7096"/>
                <a:ext cx="4357" cy="688"/>
              </a:xfrm>
              <a:prstGeom prst="rect">
                <a:avLst/>
              </a:prstGeom>
              <a:noFill/>
            </p:spPr>
            <p:txBody>
              <a:bodyPr wrap="square" rtlCol="0">
                <a:noAutofit/>
              </a:bodyPr>
              <a:p>
                <a:r>
                  <a:rPr lang="zh-CN" altLang="en-US" sz="1000">
                    <a:solidFill>
                      <a:srgbClr val="FF0000"/>
                    </a:solidFill>
                  </a:rPr>
                  <a:t>地离散度、覆盖均匀，</a:t>
                </a:r>
                <a:r>
                  <a:rPr lang="zh-CN" altLang="en-US" sz="1000"/>
                  <a:t>适用于高维随机空间；</a:t>
                </a:r>
                <a:endParaRPr lang="en-US" altLang="zh-CN" sz="1000">
                  <a:solidFill>
                    <a:srgbClr val="FF0000"/>
                  </a:solidFill>
                </a:endParaRPr>
              </a:p>
            </p:txBody>
          </p:sp>
          <p:sp>
            <p:nvSpPr>
              <p:cNvPr id="99" name="文本框 98"/>
              <p:cNvSpPr txBox="1"/>
              <p:nvPr/>
            </p:nvSpPr>
            <p:spPr>
              <a:xfrm>
                <a:off x="2278" y="7522"/>
                <a:ext cx="3760" cy="637"/>
              </a:xfrm>
              <a:prstGeom prst="rect">
                <a:avLst/>
              </a:prstGeom>
              <a:noFill/>
            </p:spPr>
            <p:txBody>
              <a:bodyPr wrap="square" rtlCol="0">
                <a:noAutofit/>
              </a:bodyPr>
              <a:p>
                <a:r>
                  <a:rPr lang="zh-CN" altLang="en-US" sz="1000"/>
                  <a:t>较传统蒙特卡洛具有</a:t>
                </a:r>
                <a:r>
                  <a:rPr lang="zh-CN" altLang="en-US" sz="1000">
                    <a:solidFill>
                      <a:srgbClr val="FF0000"/>
                    </a:solidFill>
                  </a:rPr>
                  <a:t>更优收敛性；</a:t>
                </a:r>
                <a:endParaRPr lang="zh-CN" altLang="en-US" sz="1000">
                  <a:solidFill>
                    <a:srgbClr val="FF0000"/>
                  </a:solidFill>
                </a:endParaRPr>
              </a:p>
            </p:txBody>
          </p:sp>
          <p:sp>
            <p:nvSpPr>
              <p:cNvPr id="100" name="文本框 99"/>
              <p:cNvSpPr txBox="1"/>
              <p:nvPr/>
            </p:nvSpPr>
            <p:spPr>
              <a:xfrm>
                <a:off x="2279" y="7961"/>
                <a:ext cx="3760" cy="637"/>
              </a:xfrm>
              <a:prstGeom prst="rect">
                <a:avLst/>
              </a:prstGeom>
              <a:noFill/>
            </p:spPr>
            <p:txBody>
              <a:bodyPr wrap="square" rtlCol="0">
                <a:noAutofit/>
              </a:bodyPr>
              <a:p>
                <a:r>
                  <a:rPr lang="zh-CN" altLang="en-US" sz="1000">
                    <a:solidFill>
                      <a:schemeClr val="tx1"/>
                    </a:solidFill>
                  </a:rPr>
                  <a:t>提高极端响应事件的</a:t>
                </a:r>
                <a:r>
                  <a:rPr lang="zh-CN" altLang="en-US" sz="1000">
                    <a:solidFill>
                      <a:srgbClr val="FF0000"/>
                    </a:solidFill>
                  </a:rPr>
                  <a:t>捕捉</a:t>
                </a:r>
                <a:r>
                  <a:rPr lang="zh-CN" altLang="en-US" sz="1000">
                    <a:solidFill>
                      <a:srgbClr val="FF0000"/>
                    </a:solidFill>
                  </a:rPr>
                  <a:t>能力；</a:t>
                </a:r>
                <a:endParaRPr lang="en-US" altLang="zh-CN" sz="1000">
                  <a:solidFill>
                    <a:srgbClr val="FF0000"/>
                  </a:solidFill>
                </a:endParaRPr>
              </a:p>
            </p:txBody>
          </p:sp>
        </p:grpSp>
        <p:sp>
          <p:nvSpPr>
            <p:cNvPr id="119" name="矩形 118"/>
            <p:cNvSpPr/>
            <p:nvPr/>
          </p:nvSpPr>
          <p:spPr>
            <a:xfrm>
              <a:off x="6237" y="8495"/>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21" name="文本框 120"/>
          <p:cNvSpPr txBox="1"/>
          <p:nvPr/>
        </p:nvSpPr>
        <p:spPr>
          <a:xfrm>
            <a:off x="4110355" y="5532893"/>
            <a:ext cx="2387600" cy="411549"/>
          </a:xfrm>
          <a:prstGeom prst="rect">
            <a:avLst/>
          </a:prstGeom>
          <a:noFill/>
        </p:spPr>
        <p:txBody>
          <a:bodyPr wrap="square" rtlCol="0">
            <a:noAutofit/>
          </a:bodyPr>
          <a:p>
            <a:r>
              <a:rPr lang="zh-CN" altLang="en-US" sz="1000">
                <a:solidFill>
                  <a:schemeClr val="tx1"/>
                </a:solidFill>
              </a:rPr>
              <a:t>减少样本量需求，提升</a:t>
            </a:r>
            <a:r>
              <a:rPr lang="zh-CN" altLang="en-US" sz="1000">
                <a:solidFill>
                  <a:srgbClr val="FF0000"/>
                </a:solidFill>
              </a:rPr>
              <a:t>计算</a:t>
            </a:r>
            <a:r>
              <a:rPr lang="zh-CN" altLang="en-US" sz="1000">
                <a:solidFill>
                  <a:srgbClr val="FF0000"/>
                </a:solidFill>
              </a:rPr>
              <a:t>效率。</a:t>
            </a:r>
            <a:endParaRPr lang="en-US" altLang="zh-CN" sz="1000">
              <a:solidFill>
                <a:srgbClr val="FF0000"/>
              </a:solidFill>
            </a:endParaRPr>
          </a:p>
        </p:txBody>
      </p:sp>
      <p:grpSp>
        <p:nvGrpSpPr>
          <p:cNvPr id="159" name="组合 158"/>
          <p:cNvGrpSpPr/>
          <p:nvPr/>
        </p:nvGrpSpPr>
        <p:grpSpPr>
          <a:xfrm>
            <a:off x="7426325" y="1964055"/>
            <a:ext cx="4011295" cy="3782060"/>
            <a:chOff x="5744" y="2788"/>
            <a:chExt cx="6317" cy="5956"/>
          </a:xfrm>
        </p:grpSpPr>
        <p:grpSp>
          <p:nvGrpSpPr>
            <p:cNvPr id="160" name="组合 159"/>
            <p:cNvGrpSpPr/>
            <p:nvPr/>
          </p:nvGrpSpPr>
          <p:grpSpPr>
            <a:xfrm>
              <a:off x="5744" y="2788"/>
              <a:ext cx="6317" cy="5956"/>
              <a:chOff x="1550" y="2788"/>
              <a:chExt cx="6317" cy="5854"/>
            </a:xfrm>
          </p:grpSpPr>
          <p:grpSp>
            <p:nvGrpSpPr>
              <p:cNvPr id="161" name="组合 160"/>
              <p:cNvGrpSpPr/>
              <p:nvPr/>
            </p:nvGrpSpPr>
            <p:grpSpPr>
              <a:xfrm>
                <a:off x="1550" y="2788"/>
                <a:ext cx="6317" cy="5854"/>
                <a:chOff x="1550" y="3764"/>
                <a:chExt cx="6317" cy="5854"/>
              </a:xfrm>
            </p:grpSpPr>
            <p:sp>
              <p:nvSpPr>
                <p:cNvPr id="162" name="圆角矩形 161"/>
                <p:cNvSpPr/>
                <p:nvPr/>
              </p:nvSpPr>
              <p:spPr>
                <a:xfrm>
                  <a:off x="1550" y="3764"/>
                  <a:ext cx="5866" cy="5854"/>
                </a:xfrm>
                <a:prstGeom prst="roundRect">
                  <a:avLst>
                    <a:gd name="adj" fmla="val 8872"/>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3" name="矩形 162"/>
                <p:cNvSpPr/>
                <p:nvPr/>
              </p:nvSpPr>
              <p:spPr>
                <a:xfrm>
                  <a:off x="1947" y="3777"/>
                  <a:ext cx="488" cy="506"/>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latin typeface="Times New Roman" panose="02020603050405020304" charset="0"/>
                      <a:ea typeface="微软雅黑" panose="020B0503020204020204" charset="-122"/>
                      <a:cs typeface="Times New Roman" panose="02020603050405020304" charset="0"/>
                    </a:rPr>
                    <a:t>2</a:t>
                  </a:r>
                  <a:endParaRPr lang="en-US" altLang="zh-CN" sz="2400" b="1">
                    <a:latin typeface="Times New Roman" panose="02020603050405020304" charset="0"/>
                    <a:ea typeface="微软雅黑" panose="020B0503020204020204" charset="-122"/>
                    <a:cs typeface="Times New Roman" panose="02020603050405020304" charset="0"/>
                  </a:endParaRPr>
                </a:p>
              </p:txBody>
            </p:sp>
            <p:cxnSp>
              <p:nvCxnSpPr>
                <p:cNvPr id="164" name="直接连接符 163"/>
                <p:cNvCxnSpPr/>
                <p:nvPr/>
              </p:nvCxnSpPr>
              <p:spPr>
                <a:xfrm flipV="1">
                  <a:off x="2451" y="4267"/>
                  <a:ext cx="3231" cy="13"/>
                </a:xfrm>
                <a:prstGeom prst="line">
                  <a:avLst/>
                </a:prstGeom>
              </p:spPr>
              <p:style>
                <a:lnRef idx="2">
                  <a:schemeClr val="accent1"/>
                </a:lnRef>
                <a:fillRef idx="0">
                  <a:srgbClr val="FFFFFF"/>
                </a:fillRef>
                <a:effectRef idx="0">
                  <a:srgbClr val="FFFFFF"/>
                </a:effectRef>
                <a:fontRef idx="minor">
                  <a:schemeClr val="tx1"/>
                </a:fontRef>
              </p:style>
            </p:cxnSp>
            <p:sp>
              <p:nvSpPr>
                <p:cNvPr id="165" name="文本框 164"/>
                <p:cNvSpPr txBox="1"/>
                <p:nvPr/>
              </p:nvSpPr>
              <p:spPr>
                <a:xfrm>
                  <a:off x="2477" y="3798"/>
                  <a:ext cx="3674" cy="522"/>
                </a:xfrm>
                <a:prstGeom prst="rect">
                  <a:avLst/>
                </a:prstGeom>
                <a:noFill/>
              </p:spPr>
              <p:txBody>
                <a:bodyPr wrap="square" rtlCol="0">
                  <a:spAutoFit/>
                </a:bodyPr>
                <a:p>
                  <a:r>
                    <a:rPr lang="zh-CN" altLang="en-US" sz="1600" b="1">
                      <a:solidFill>
                        <a:schemeClr val="accent1">
                          <a:lumMod val="75000"/>
                        </a:schemeClr>
                      </a:solidFill>
                    </a:rPr>
                    <a:t>谐波变换极值分布</a:t>
                  </a:r>
                  <a:r>
                    <a:rPr lang="zh-CN" altLang="en-US" sz="1600" b="1">
                      <a:solidFill>
                        <a:schemeClr val="accent1">
                          <a:lumMod val="75000"/>
                        </a:schemeClr>
                      </a:solidFill>
                    </a:rPr>
                    <a:t>重构</a:t>
                  </a:r>
                  <a:endParaRPr lang="zh-CN" altLang="en-US" sz="1600" b="1">
                    <a:solidFill>
                      <a:schemeClr val="accent1">
                        <a:lumMod val="75000"/>
                      </a:schemeClr>
                    </a:solidFill>
                  </a:endParaRPr>
                </a:p>
              </p:txBody>
            </p:sp>
            <mc:AlternateContent xmlns:mc="http://schemas.openxmlformats.org/markup-compatibility/2006">
              <mc:Choice xmlns:a14="http://schemas.microsoft.com/office/drawing/2010/main" Requires="a14">
                <p:sp>
                  <p:nvSpPr>
                    <p:cNvPr id="166" name="文本框 165"/>
                    <p:cNvSpPr txBox="1"/>
                    <p:nvPr/>
                  </p:nvSpPr>
                  <p:spPr>
                    <a:xfrm>
                      <a:off x="1550" y="4457"/>
                      <a:ext cx="6317" cy="570"/>
                    </a:xfrm>
                    <a:prstGeom prst="rect">
                      <a:avLst/>
                    </a:prstGeom>
                    <a:noFill/>
                  </p:spPr>
                  <p:txBody>
                    <a:bodyPr wrap="square" rtlCol="0" anchor="t">
                      <a:spAutoFit/>
                    </a:bodyPr>
                    <a:p>
                      <a:r>
                        <a:rPr lang="zh-CN" altLang="en-US">
                          <a:latin typeface="Calibri" panose="020F0502020204030204" charset="0"/>
                        </a:rPr>
                        <a:t>①</a:t>
                      </a:r>
                      <a14:m>
                        <m:oMath xmlns:m="http://schemas.openxmlformats.org/officeDocument/2006/math">
                          <m:sSub>
                            <m:sSubPr>
                              <m:ctrlPr>
                                <a:rPr lang="en-US" altLang="zh-CN" sz="800" i="1" kern="800">
                                  <a:solidFill>
                                    <a:schemeClr val="tx1"/>
                                  </a:solidFill>
                                  <a:uFillTx/>
                                  <a:latin typeface="Cambria Math" panose="02040503050406030204" charset="0"/>
                                  <a:cs typeface="Cambria Math" panose="02040503050406030204" charset="0"/>
                                </a:rPr>
                              </m:ctrlPr>
                            </m:sSubPr>
                            <m:e>
                              <m:r>
                                <a:rPr lang="en-US" altLang="zh-CN" sz="800" i="1" kern="800">
                                  <a:solidFill>
                                    <a:schemeClr val="tx1"/>
                                  </a:solidFill>
                                  <a:uFillTx/>
                                  <a:latin typeface="Cambria Math" panose="02040503050406030204" charset="0"/>
                                  <a:cs typeface="Cambria Math" panose="02040503050406030204" charset="0"/>
                                </a:rPr>
                                <m:t>𝐻</m:t>
                              </m:r>
                            </m:e>
                            <m:sub>
                              <m:r>
                                <a:rPr lang="en-US" altLang="zh-CN" sz="800" i="1" kern="800">
                                  <a:solidFill>
                                    <a:schemeClr val="tx1"/>
                                  </a:solidFill>
                                  <a:uFillTx/>
                                  <a:latin typeface="Cambria Math" panose="02040503050406030204" charset="0"/>
                                  <a:cs typeface="Cambria Math" panose="02040503050406030204" charset="0"/>
                                </a:rPr>
                                <m:t>𝑗</m:t>
                              </m:r>
                            </m:sub>
                          </m:sSub>
                          <m:d>
                            <m:dPr>
                              <m:ctrlPr>
                                <a:rPr lang="en-US" altLang="zh-CN" sz="800" i="1" kern="800">
                                  <a:solidFill>
                                    <a:schemeClr val="tx1"/>
                                  </a:solidFill>
                                  <a:uFillTx/>
                                  <a:latin typeface="Cambria Math" panose="02040503050406030204" charset="0"/>
                                  <a:cs typeface="Cambria Math" panose="02040503050406030204" charset="0"/>
                                </a:rPr>
                              </m:ctrlPr>
                            </m:dPr>
                            <m:e>
                              <m:r>
                                <a:rPr lang="en-US" altLang="zh-CN" sz="800" i="1" kern="800">
                                  <a:solidFill>
                                    <a:schemeClr val="tx1"/>
                                  </a:solidFill>
                                  <a:uFillTx/>
                                  <a:latin typeface="Cambria Math" panose="02040503050406030204" charset="0"/>
                                  <a:cs typeface="Cambria Math" panose="02040503050406030204" charset="0"/>
                                </a:rPr>
                                <m:t>𝛼</m:t>
                              </m:r>
                              <m:r>
                                <a:rPr lang="en-US" altLang="zh-CN" sz="800" i="1" kern="800">
                                  <a:solidFill>
                                    <a:schemeClr val="tx1"/>
                                  </a:solidFill>
                                  <a:uFillTx/>
                                  <a:latin typeface="Cambria Math" panose="02040503050406030204" charset="0"/>
                                  <a:cs typeface="Cambria Math" panose="02040503050406030204" charset="0"/>
                                </a:rPr>
                                <m:t>,</m:t>
                              </m:r>
                              <m:r>
                                <a:rPr lang="en-US" altLang="zh-CN" sz="800" i="1" kern="800">
                                  <a:solidFill>
                                    <a:schemeClr val="tx1"/>
                                  </a:solidFill>
                                  <a:uFillTx/>
                                  <a:latin typeface="Cambria Math" panose="02040503050406030204" charset="0"/>
                                  <a:cs typeface="Cambria Math" panose="02040503050406030204" charset="0"/>
                                </a:rPr>
                                <m:t>𝛽</m:t>
                              </m:r>
                            </m:e>
                          </m:d>
                          <m:r>
                            <a:rPr lang="en-US" altLang="zh-CN" sz="800" i="1" kern="800">
                              <a:solidFill>
                                <a:schemeClr val="tx1"/>
                              </a:solidFill>
                              <a:uFillTx/>
                              <a:latin typeface="Cambria Math" panose="02040503050406030204" charset="0"/>
                              <a:cs typeface="Cambria Math" panose="02040503050406030204" charset="0"/>
                            </a:rPr>
                            <m:t>=</m:t>
                          </m:r>
                          <m:nary>
                            <m:naryPr>
                              <m:limLoc m:val="subSup"/>
                              <m:ctrlPr>
                                <a:rPr lang="en-US" altLang="zh-CN" sz="800" i="1" kern="800">
                                  <a:solidFill>
                                    <a:schemeClr val="tx1"/>
                                  </a:solidFill>
                                  <a:uFillTx/>
                                  <a:latin typeface="Cambria Math" panose="02040503050406030204" charset="0"/>
                                  <a:cs typeface="Cambria Math" panose="02040503050406030204" charset="0"/>
                                </a:rPr>
                              </m:ctrlPr>
                            </m:naryPr>
                            <m:sub>
                              <m:r>
                                <a:rPr lang="en-US" altLang="zh-CN" sz="800" i="1" kern="800">
                                  <a:solidFill>
                                    <a:schemeClr val="tx1"/>
                                  </a:solidFill>
                                  <a:uFillTx/>
                                  <a:latin typeface="Cambria Math" panose="02040503050406030204" charset="0"/>
                                  <a:cs typeface="Cambria Math" panose="02040503050406030204" charset="0"/>
                                </a:rPr>
                                <m:t>0</m:t>
                              </m:r>
                            </m:sub>
                            <m:sup>
                              <m:r>
                                <a:rPr lang="en-US" altLang="zh-CN" sz="800" i="1" kern="800">
                                  <a:solidFill>
                                    <a:schemeClr val="tx1"/>
                                  </a:solidFill>
                                  <a:uFillTx/>
                                  <a:latin typeface="Cambria Math" panose="02040503050406030204" charset="0"/>
                                  <a:cs typeface="Cambria Math" panose="02040503050406030204" charset="0"/>
                                </a:rPr>
                                <m:t>∞</m:t>
                              </m:r>
                            </m:sup>
                            <m:e>
                              <m:r>
                                <a:rPr lang="en-US" altLang="zh-CN" sz="800" i="1" kern="800">
                                  <a:solidFill>
                                    <a:schemeClr val="tx1"/>
                                  </a:solidFill>
                                  <a:uFillTx/>
                                  <a:latin typeface="Cambria Math" panose="02040503050406030204" charset="0"/>
                                  <a:cs typeface="Cambria Math" panose="02040503050406030204" charset="0"/>
                                </a:rPr>
                                <m:t>𝑓</m:t>
                              </m:r>
                              <m:d>
                                <m:dPr>
                                  <m:ctrlPr>
                                    <a:rPr lang="en-US" altLang="zh-CN" sz="800" i="1" kern="800">
                                      <a:solidFill>
                                        <a:schemeClr val="tx1"/>
                                      </a:solidFill>
                                      <a:uFillTx/>
                                      <a:latin typeface="Cambria Math" panose="02040503050406030204" charset="0"/>
                                      <a:cs typeface="Cambria Math" panose="02040503050406030204" charset="0"/>
                                    </a:rPr>
                                  </m:ctrlPr>
                                </m:dPr>
                                <m:e>
                                  <m:r>
                                    <a:rPr lang="en-US" altLang="zh-CN" sz="800" i="1" kern="800">
                                      <a:solidFill>
                                        <a:schemeClr val="tx1"/>
                                      </a:solidFill>
                                      <a:uFillTx/>
                                      <a:latin typeface="Cambria Math" panose="02040503050406030204" charset="0"/>
                                      <a:cs typeface="Cambria Math" panose="02040503050406030204" charset="0"/>
                                    </a:rPr>
                                    <m:t>𝑥</m:t>
                                  </m:r>
                                </m:e>
                              </m:d>
                              <m:sSup>
                                <m:sSupPr>
                                  <m:ctrlPr>
                                    <a:rPr lang="en-US" altLang="zh-CN" sz="800" i="1" kern="800">
                                      <a:solidFill>
                                        <a:schemeClr val="tx1"/>
                                      </a:solidFill>
                                      <a:uFillTx/>
                                      <a:latin typeface="Cambria Math" panose="02040503050406030204" charset="0"/>
                                      <a:cs typeface="Cambria Math" panose="02040503050406030204" charset="0"/>
                                    </a:rPr>
                                  </m:ctrlPr>
                                </m:sSupPr>
                                <m:e>
                                  <m:r>
                                    <a:rPr lang="en-US" altLang="zh-CN" sz="800" i="1" kern="800">
                                      <a:solidFill>
                                        <a:schemeClr val="tx1"/>
                                      </a:solidFill>
                                      <a:uFillTx/>
                                      <a:latin typeface="Cambria Math" panose="02040503050406030204" charset="0"/>
                                      <a:cs typeface="Cambria Math" panose="02040503050406030204" charset="0"/>
                                    </a:rPr>
                                    <m:t>𝑥</m:t>
                                  </m:r>
                                </m:e>
                                <m:sup>
                                  <m:r>
                                    <a:rPr lang="en-US" altLang="zh-CN" sz="800" i="1" kern="800">
                                      <a:solidFill>
                                        <a:schemeClr val="tx1"/>
                                      </a:solidFill>
                                      <a:uFillTx/>
                                      <a:latin typeface="Cambria Math" panose="02040503050406030204" charset="0"/>
                                      <a:cs typeface="Cambria Math" panose="02040503050406030204" charset="0"/>
                                    </a:rPr>
                                    <m:t>𝑛</m:t>
                                  </m:r>
                                  <m:r>
                                    <a:rPr lang="en-US" altLang="zh-CN" sz="800" i="1" kern="800">
                                      <a:solidFill>
                                        <a:schemeClr val="tx1"/>
                                      </a:solidFill>
                                      <a:uFillTx/>
                                      <a:latin typeface="Cambria Math" panose="02040503050406030204" charset="0"/>
                                      <a:cs typeface="Cambria Math" panose="02040503050406030204" charset="0"/>
                                    </a:rPr>
                                    <m:t>−</m:t>
                                  </m:r>
                                  <m:r>
                                    <a:rPr lang="en-US" altLang="zh-CN" sz="800" i="1" kern="800">
                                      <a:solidFill>
                                        <a:schemeClr val="tx1"/>
                                      </a:solidFill>
                                      <a:uFillTx/>
                                      <a:latin typeface="Cambria Math" panose="02040503050406030204" charset="0"/>
                                      <a:cs typeface="Cambria Math" panose="02040503050406030204" charset="0"/>
                                    </a:rPr>
                                    <m:t>1</m:t>
                                  </m:r>
                                </m:sup>
                              </m:sSup>
                              <m:func>
                                <m:funcPr>
                                  <m:ctrlPr>
                                    <a:rPr lang="en-US" altLang="zh-CN" sz="800" kern="800">
                                      <a:solidFill>
                                        <a:schemeClr val="tx1"/>
                                      </a:solidFill>
                                      <a:uFillTx/>
                                      <a:latin typeface="Cambria Math" panose="02040503050406030204" charset="0"/>
                                      <a:cs typeface="Cambria Math" panose="02040503050406030204" charset="0"/>
                                    </a:rPr>
                                  </m:ctrlPr>
                                </m:funcPr>
                                <m:fName>
                                  <m:r>
                                    <m:rPr>
                                      <m:sty m:val="p"/>
                                    </m:rPr>
                                    <a:rPr lang="en-US" altLang="zh-CN" sz="800" kern="800">
                                      <a:solidFill>
                                        <a:schemeClr val="tx1"/>
                                      </a:solidFill>
                                      <a:uFillTx/>
                                      <a:latin typeface="Cambria Math" panose="02040503050406030204" charset="0"/>
                                      <a:cs typeface="Cambria Math" panose="02040503050406030204" charset="0"/>
                                    </a:rPr>
                                    <m:t>cos</m:t>
                                  </m:r>
                                </m:fName>
                                <m:e>
                                  <m:d>
                                    <m:dPr>
                                      <m:ctrlPr>
                                        <a:rPr lang="en-US" altLang="zh-CN" sz="800" i="1" kern="800">
                                          <a:solidFill>
                                            <a:schemeClr val="tx1"/>
                                          </a:solidFill>
                                          <a:uFillTx/>
                                          <a:latin typeface="Cambria Math" panose="02040503050406030204" charset="0"/>
                                          <a:cs typeface="Cambria Math" panose="02040503050406030204" charset="0"/>
                                        </a:rPr>
                                      </m:ctrlPr>
                                    </m:dPr>
                                    <m:e>
                                      <m:r>
                                        <a:rPr lang="en-US" altLang="zh-CN" sz="800" i="1" kern="800">
                                          <a:solidFill>
                                            <a:schemeClr val="tx1"/>
                                          </a:solidFill>
                                          <a:uFillTx/>
                                          <a:latin typeface="Cambria Math" panose="02040503050406030204" charset="0"/>
                                          <a:cs typeface="Cambria Math" panose="02040503050406030204" charset="0"/>
                                        </a:rPr>
                                        <m:t>𝛽</m:t>
                                      </m:r>
                                      <m:func>
                                        <m:funcPr>
                                          <m:ctrlPr>
                                            <a:rPr lang="en-US" altLang="zh-CN" sz="800" kern="800">
                                              <a:solidFill>
                                                <a:schemeClr val="tx1"/>
                                              </a:solidFill>
                                              <a:uFillTx/>
                                              <a:latin typeface="Cambria Math" panose="02040503050406030204" charset="0"/>
                                              <a:cs typeface="Cambria Math" panose="02040503050406030204" charset="0"/>
                                            </a:rPr>
                                          </m:ctrlPr>
                                        </m:funcPr>
                                        <m:fName>
                                          <m:r>
                                            <m:rPr>
                                              <m:sty m:val="p"/>
                                            </m:rPr>
                                            <a:rPr lang="en-US" altLang="zh-CN" sz="800" kern="800">
                                              <a:solidFill>
                                                <a:schemeClr val="tx1"/>
                                              </a:solidFill>
                                              <a:uFillTx/>
                                              <a:latin typeface="Cambria Math" panose="02040503050406030204" charset="0"/>
                                              <a:cs typeface="Cambria Math" panose="02040503050406030204" charset="0"/>
                                            </a:rPr>
                                            <m:t>ln</m:t>
                                          </m:r>
                                        </m:fName>
                                        <m:e>
                                          <m:r>
                                            <a:rPr lang="en-US" altLang="zh-CN" sz="800" i="1" kern="800">
                                              <a:solidFill>
                                                <a:schemeClr val="tx1"/>
                                              </a:solidFill>
                                              <a:uFillTx/>
                                              <a:latin typeface="Cambria Math" panose="02040503050406030204" charset="0"/>
                                              <a:cs typeface="Cambria Math" panose="02040503050406030204" charset="0"/>
                                            </a:rPr>
                                            <m:t>𝑥</m:t>
                                          </m:r>
                                        </m:e>
                                      </m:func>
                                    </m:e>
                                  </m:d>
                                </m:e>
                              </m:func>
                            </m:e>
                          </m:nary>
                          <m:box>
                            <m:boxPr>
                              <m:diff m:val="on"/>
                              <m:noBreak m:val="on"/>
                              <m:ctrlPr>
                                <a:rPr lang="en-US" altLang="zh-CN" sz="800" i="1" kern="800">
                                  <a:solidFill>
                                    <a:schemeClr val="tx1"/>
                                  </a:solidFill>
                                  <a:uFillTx/>
                                  <a:latin typeface="Cambria Math" panose="02040503050406030204" charset="0"/>
                                  <a:cs typeface="Cambria Math" panose="02040503050406030204" charset="0"/>
                                </a:rPr>
                              </m:ctrlPr>
                            </m:boxPr>
                            <m:e>
                              <m:r>
                                <a:rPr lang="en-US" altLang="zh-CN" sz="800" i="1" kern="800">
                                  <a:solidFill>
                                    <a:schemeClr val="tx1"/>
                                  </a:solidFill>
                                  <a:uFillTx/>
                                  <a:latin typeface="Cambria Math" panose="02040503050406030204" charset="0"/>
                                  <a:cs typeface="Cambria Math" panose="02040503050406030204" charset="0"/>
                                </a:rPr>
                                <m:t>𝑑𝑥</m:t>
                              </m:r>
                            </m:e>
                          </m:box>
                        </m:oMath>
                      </a14:m>
                      <a:endParaRPr lang="en-US" altLang="zh-CN" sz="800" i="1" kern="800">
                        <a:solidFill>
                          <a:schemeClr val="tx1"/>
                        </a:solidFill>
                        <a:uFillTx/>
                        <a:latin typeface="Cambria Math" panose="02040503050406030204" charset="0"/>
                        <a:cs typeface="Cambria Math" panose="02040503050406030204" charset="0"/>
                      </a:endParaRPr>
                    </a:p>
                  </p:txBody>
                </p:sp>
              </mc:Choice>
              <mc:Fallback>
                <p:sp>
                  <p:nvSpPr>
                    <p:cNvPr id="166" name="文本框 165"/>
                    <p:cNvSpPr txBox="1">
                      <a:spLocks noRot="1" noChangeAspect="1" noMove="1" noResize="1" noEditPoints="1" noAdjustHandles="1" noChangeArrowheads="1" noChangeShapeType="1" noTextEdit="1"/>
                    </p:cNvSpPr>
                    <p:nvPr/>
                  </p:nvSpPr>
                  <p:spPr>
                    <a:xfrm>
                      <a:off x="1550" y="4457"/>
                      <a:ext cx="6317" cy="57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7" name="文本框 166"/>
                    <p:cNvSpPr txBox="1"/>
                    <p:nvPr/>
                  </p:nvSpPr>
                  <p:spPr>
                    <a:xfrm>
                      <a:off x="1550" y="5155"/>
                      <a:ext cx="4650" cy="570"/>
                    </a:xfrm>
                    <a:prstGeom prst="rect">
                      <a:avLst/>
                    </a:prstGeom>
                    <a:noFill/>
                  </p:spPr>
                  <p:txBody>
                    <a:bodyPr wrap="square" rtlCol="0" anchor="t">
                      <a:spAutoFit/>
                    </a:bodyPr>
                    <a:p>
                      <a:pPr algn="l"/>
                      <a:r>
                        <a:rPr lang="zh-CN" altLang="en-US">
                          <a:latin typeface="微软雅黑" panose="020B0503020204020204" charset="-122"/>
                          <a:ea typeface="微软雅黑" panose="020B0503020204020204" charset="-122"/>
                        </a:rPr>
                        <a:t>②</a:t>
                      </a:r>
                      <a14:m>
                        <m:oMath xmlns:m="http://schemas.openxmlformats.org/officeDocument/2006/math">
                          <m:r>
                            <a:rPr lang="en-US" altLang="zh-CN" sz="800" i="1">
                              <a:latin typeface="Cambria Math" panose="02040503050406030204" charset="0"/>
                              <a:cs typeface="Cambria Math" panose="02040503050406030204" charset="0"/>
                            </a:rPr>
                            <m:t>𝑓</m:t>
                          </m:r>
                          <m:d>
                            <m:dPr>
                              <m:ctrlPr>
                                <a:rPr lang="en-US" altLang="zh-CN" sz="800" i="1">
                                  <a:latin typeface="Cambria Math" panose="02040503050406030204" charset="0"/>
                                  <a:ea typeface="微软雅黑" panose="020B0503020204020204" charset="-122"/>
                                  <a:cs typeface="Cambria Math" panose="02040503050406030204" charset="0"/>
                                </a:rPr>
                              </m:ctrlPr>
                            </m:dPr>
                            <m:e>
                              <m:r>
                                <a:rPr lang="en-US" altLang="zh-CN" sz="800" i="1">
                                  <a:latin typeface="Cambria Math" panose="02040503050406030204" charset="0"/>
                                  <a:ea typeface="微软雅黑" panose="020B0503020204020204" charset="-122"/>
                                  <a:cs typeface="Cambria Math" panose="02040503050406030204" charset="0"/>
                                </a:rPr>
                                <m:t>𝑥</m:t>
                              </m:r>
                            </m:e>
                          </m:d>
                          <m:r>
                            <a:rPr lang="en-US" altLang="zh-CN" sz="800" i="1">
                              <a:latin typeface="Cambria Math" panose="02040503050406030204" charset="0"/>
                              <a:ea typeface="微软雅黑" panose="020B0503020204020204" charset="-122"/>
                              <a:cs typeface="Cambria Math" panose="02040503050406030204" charset="0"/>
                            </a:rPr>
                            <m:t>=</m:t>
                          </m:r>
                          <m:func>
                            <m:funcPr>
                              <m:ctrlPr>
                                <a:rPr lang="en-US" altLang="zh-CN" sz="800">
                                  <a:latin typeface="Cambria Math" panose="02040503050406030204" charset="0"/>
                                  <a:ea typeface="微软雅黑" panose="020B0503020204020204" charset="-122"/>
                                  <a:cs typeface="Cambria Math" panose="02040503050406030204" charset="0"/>
                                </a:rPr>
                              </m:ctrlPr>
                            </m:funcPr>
                            <m:fName>
                              <m:r>
                                <m:rPr>
                                  <m:sty m:val="p"/>
                                </m:rPr>
                                <a:rPr lang="en-US" altLang="zh-CN" sz="800">
                                  <a:latin typeface="Cambria Math" panose="02040503050406030204" charset="0"/>
                                  <a:ea typeface="微软雅黑" panose="020B0503020204020204" charset="-122"/>
                                  <a:cs typeface="Cambria Math" panose="02040503050406030204" charset="0"/>
                                </a:rPr>
                                <m:t>ln</m:t>
                              </m:r>
                            </m:fName>
                            <m:e>
                              <m:r>
                                <a:rPr lang="en-US" altLang="zh-CN" sz="800" i="1">
                                  <a:latin typeface="Cambria Math" panose="02040503050406030204" charset="0"/>
                                  <a:ea typeface="微软雅黑" panose="020B0503020204020204" charset="-122"/>
                                  <a:cs typeface="Cambria Math" panose="02040503050406030204" charset="0"/>
                                </a:rPr>
                                <m:t>𝑣𝐻𝑇</m:t>
                              </m:r>
                              <m:d>
                                <m:dPr>
                                  <m:begChr m:val="{"/>
                                  <m:endChr m:val="}"/>
                                  <m:ctrlPr>
                                    <a:rPr lang="en-US" altLang="zh-CN" sz="800" i="1">
                                      <a:latin typeface="Cambria Math" panose="02040503050406030204" charset="0"/>
                                      <a:ea typeface="微软雅黑" panose="020B0503020204020204" charset="-122"/>
                                      <a:cs typeface="Cambria Math" panose="02040503050406030204" charset="0"/>
                                    </a:rPr>
                                  </m:ctrlPr>
                                </m:dPr>
                                <m:e>
                                  <m:sSub>
                                    <m:sSubPr>
                                      <m:ctrlPr>
                                        <a:rPr lang="en-US" altLang="zh-CN" sz="800" i="1">
                                          <a:latin typeface="Cambria Math" panose="02040503050406030204" charset="0"/>
                                          <a:ea typeface="微软雅黑" panose="020B0503020204020204" charset="-122"/>
                                          <a:cs typeface="Cambria Math" panose="02040503050406030204" charset="0"/>
                                        </a:rPr>
                                      </m:ctrlPr>
                                    </m:sSubPr>
                                    <m:e>
                                      <m:r>
                                        <a:rPr lang="en-US" altLang="zh-CN" sz="800" i="1">
                                          <a:latin typeface="Cambria Math" panose="02040503050406030204" charset="0"/>
                                          <a:ea typeface="微软雅黑" panose="020B0503020204020204" charset="-122"/>
                                          <a:cs typeface="Cambria Math" panose="02040503050406030204" charset="0"/>
                                        </a:rPr>
                                        <m:t>𝐻</m:t>
                                      </m:r>
                                    </m:e>
                                    <m:sub>
                                      <m:r>
                                        <a:rPr lang="en-US" altLang="zh-CN" sz="800" i="1">
                                          <a:latin typeface="Cambria Math" panose="02040503050406030204" charset="0"/>
                                          <a:ea typeface="微软雅黑" panose="020B0503020204020204" charset="-122"/>
                                          <a:cs typeface="Cambria Math" panose="02040503050406030204" charset="0"/>
                                        </a:rPr>
                                        <m:t>𝑓</m:t>
                                      </m:r>
                                    </m:sub>
                                  </m:sSub>
                                  <m:d>
                                    <m:dPr>
                                      <m:ctrlPr>
                                        <a:rPr lang="en-US" altLang="zh-CN" sz="800" i="1">
                                          <a:latin typeface="Cambria Math" panose="02040503050406030204" charset="0"/>
                                          <a:ea typeface="微软雅黑" panose="020B0503020204020204" charset="-122"/>
                                          <a:cs typeface="Cambria Math" panose="02040503050406030204" charset="0"/>
                                        </a:rPr>
                                      </m:ctrlPr>
                                    </m:dPr>
                                    <m:e>
                                      <m:r>
                                        <a:rPr lang="en-US" altLang="zh-CN" sz="800" i="1">
                                          <a:latin typeface="Cambria Math" panose="02040503050406030204" charset="0"/>
                                          <a:ea typeface="微软雅黑" panose="020B0503020204020204" charset="-122"/>
                                          <a:cs typeface="Cambria Math" panose="02040503050406030204" charset="0"/>
                                        </a:rPr>
                                        <m:t>𝛼</m:t>
                                      </m:r>
                                      <m:r>
                                        <a:rPr lang="en-US" altLang="zh-CN" sz="800" i="1">
                                          <a:latin typeface="Cambria Math" panose="02040503050406030204" charset="0"/>
                                          <a:ea typeface="微软雅黑" panose="020B0503020204020204" charset="-122"/>
                                          <a:cs typeface="Cambria Math" panose="02040503050406030204" charset="0"/>
                                        </a:rPr>
                                        <m:t>,</m:t>
                                      </m:r>
                                      <m:r>
                                        <a:rPr lang="en-US" altLang="zh-CN" sz="800" i="1">
                                          <a:latin typeface="Cambria Math" panose="02040503050406030204" charset="0"/>
                                          <a:ea typeface="微软雅黑" panose="020B0503020204020204" charset="-122"/>
                                          <a:cs typeface="Cambria Math" panose="02040503050406030204" charset="0"/>
                                        </a:rPr>
                                        <m:t>𝛽</m:t>
                                      </m:r>
                                    </m:e>
                                  </m:d>
                                </m:e>
                              </m:d>
                            </m:e>
                          </m:func>
                        </m:oMath>
                      </a14:m>
                      <a:endParaRPr lang="zh-CN" altLang="en-US" sz="800">
                        <a:latin typeface="微软雅黑" panose="020B0503020204020204" charset="-122"/>
                        <a:ea typeface="微软雅黑" panose="020B0503020204020204" charset="-122"/>
                      </a:endParaRPr>
                    </a:p>
                  </p:txBody>
                </p:sp>
              </mc:Choice>
              <mc:Fallback>
                <p:sp>
                  <p:nvSpPr>
                    <p:cNvPr id="167" name="文本框 166"/>
                    <p:cNvSpPr txBox="1">
                      <a:spLocks noRot="1" noChangeAspect="1" noMove="1" noResize="1" noEditPoints="1" noAdjustHandles="1" noChangeArrowheads="1" noChangeShapeType="1" noTextEdit="1"/>
                    </p:cNvSpPr>
                    <p:nvPr/>
                  </p:nvSpPr>
                  <p:spPr>
                    <a:xfrm>
                      <a:off x="1550" y="5155"/>
                      <a:ext cx="4650" cy="57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8" name="文本框 167"/>
                    <p:cNvSpPr txBox="1"/>
                    <p:nvPr/>
                  </p:nvSpPr>
                  <p:spPr>
                    <a:xfrm>
                      <a:off x="1550" y="5930"/>
                      <a:ext cx="4172" cy="608"/>
                    </a:xfrm>
                    <a:prstGeom prst="rect">
                      <a:avLst/>
                    </a:prstGeom>
                    <a:noFill/>
                  </p:spPr>
                  <p:txBody>
                    <a:bodyPr wrap="square" rtlCol="0" anchor="t">
                      <a:spAutoFit/>
                    </a:bodyPr>
                    <a:p>
                      <a:r>
                        <a:rPr lang="zh-CN" altLang="en-US">
                          <a:latin typeface="微软雅黑" panose="020B0503020204020204" charset="-122"/>
                          <a:ea typeface="微软雅黑" panose="020B0503020204020204" charset="-122"/>
                        </a:rPr>
                        <a:t>③</a:t>
                      </a:r>
                      <a:r>
                        <a:rPr lang="en-US" altLang="zh-CN">
                          <a:latin typeface="微软雅黑" panose="020B0503020204020204" charset="-122"/>
                          <a:ea typeface="微软雅黑" panose="020B0503020204020204" charset="-122"/>
                        </a:rPr>
                        <a:t> </a:t>
                      </a:r>
                      <a14:m>
                        <m:oMath xmlns:m="http://schemas.openxmlformats.org/officeDocument/2006/math">
                          <m:sSub>
                            <m:sSubPr>
                              <m:ctrlPr>
                                <a:rPr lang="en-US" altLang="zh-CN" sz="1200" i="1">
                                  <a:latin typeface="Cambria Math" panose="02040503050406030204" charset="0"/>
                                  <a:ea typeface="微软雅黑" panose="020B0503020204020204" charset="-122"/>
                                  <a:cs typeface="Cambria Math" panose="02040503050406030204" charset="0"/>
                                </a:rPr>
                              </m:ctrlPr>
                            </m:sSubPr>
                            <m:e>
                              <m:r>
                                <a:rPr lang="en-US" altLang="zh-CN" sz="1200" i="1">
                                  <a:latin typeface="Cambria Math" panose="02040503050406030204" charset="0"/>
                                  <a:ea typeface="微软雅黑" panose="020B0503020204020204" charset="-122"/>
                                  <a:cs typeface="Cambria Math" panose="02040503050406030204" charset="0"/>
                                </a:rPr>
                                <m:t>𝐻</m:t>
                              </m:r>
                            </m:e>
                            <m:sub>
                              <m:r>
                                <a:rPr lang="en-US" altLang="zh-CN" sz="1200" i="1">
                                  <a:latin typeface="Cambria Math" panose="02040503050406030204" charset="0"/>
                                  <a:ea typeface="微软雅黑" panose="020B0503020204020204" charset="-122"/>
                                  <a:cs typeface="Cambria Math" panose="02040503050406030204" charset="0"/>
                                </a:rPr>
                                <m:t>𝑘</m:t>
                              </m:r>
                            </m:sub>
                          </m:sSub>
                          <m:r>
                            <a:rPr lang="en-US" altLang="zh-CN" sz="1200" i="1">
                              <a:latin typeface="Cambria Math" panose="02040503050406030204" charset="0"/>
                              <a:ea typeface="微软雅黑" panose="020B0503020204020204" charset="-122"/>
                              <a:cs typeface="Cambria Math" panose="02040503050406030204" charset="0"/>
                            </a:rPr>
                            <m:t>=</m:t>
                          </m:r>
                          <m:f>
                            <m:fPr>
                              <m:ctrlPr>
                                <a:rPr lang="en-US" altLang="zh-CN" sz="1200" i="1">
                                  <a:latin typeface="Cambria Math" panose="02040503050406030204" charset="0"/>
                                  <a:ea typeface="微软雅黑" panose="020B0503020204020204" charset="-122"/>
                                  <a:cs typeface="Cambria Math" panose="02040503050406030204" charset="0"/>
                                </a:rPr>
                              </m:ctrlPr>
                            </m:fPr>
                            <m:num>
                              <m:r>
                                <a:rPr lang="en-US" altLang="zh-CN" sz="1200" i="1">
                                  <a:latin typeface="Cambria Math" panose="02040503050406030204" charset="0"/>
                                  <a:ea typeface="微软雅黑" panose="020B0503020204020204" charset="-122"/>
                                  <a:cs typeface="Cambria Math" panose="02040503050406030204" charset="0"/>
                                </a:rPr>
                                <m:t>1</m:t>
                              </m:r>
                            </m:num>
                            <m:den>
                              <m:r>
                                <a:rPr lang="en-US" altLang="zh-CN" sz="1200" i="1">
                                  <a:latin typeface="Cambria Math" panose="02040503050406030204" charset="0"/>
                                  <a:ea typeface="微软雅黑" panose="020B0503020204020204" charset="-122"/>
                                  <a:cs typeface="Cambria Math" panose="02040503050406030204" charset="0"/>
                                </a:rPr>
                                <m:t>𝑁</m:t>
                              </m:r>
                            </m:den>
                          </m:f>
                          <m:nary>
                            <m:naryPr>
                              <m:chr m:val="∑"/>
                              <m:limLoc m:val="undOvr"/>
                              <m:ctrlPr>
                                <a:rPr lang="en-US" altLang="zh-CN" sz="1200" i="1">
                                  <a:latin typeface="Cambria Math" panose="02040503050406030204" charset="0"/>
                                  <a:ea typeface="微软雅黑" panose="020B0503020204020204" charset="-122"/>
                                  <a:cs typeface="Cambria Math" panose="02040503050406030204" charset="0"/>
                                </a:rPr>
                              </m:ctrlPr>
                            </m:naryPr>
                            <m:sub>
                              <m:r>
                                <a:rPr lang="en-US" altLang="zh-CN" sz="1200" i="1">
                                  <a:latin typeface="Cambria Math" panose="02040503050406030204" charset="0"/>
                                  <a:ea typeface="微软雅黑" panose="020B0503020204020204" charset="-122"/>
                                  <a:cs typeface="Cambria Math" panose="02040503050406030204" charset="0"/>
                                </a:rPr>
                                <m:t>𝑖</m:t>
                              </m:r>
                              <m:r>
                                <a:rPr lang="en-US" altLang="zh-CN" sz="1200" i="1">
                                  <a:latin typeface="Cambria Math" panose="02040503050406030204" charset="0"/>
                                  <a:ea typeface="微软雅黑" panose="020B0503020204020204" charset="-122"/>
                                  <a:cs typeface="Cambria Math" panose="02040503050406030204" charset="0"/>
                                </a:rPr>
                                <m:t>=</m:t>
                              </m:r>
                              <m:r>
                                <a:rPr lang="en-US" altLang="zh-CN" sz="1200" i="1">
                                  <a:latin typeface="Cambria Math" panose="02040503050406030204" charset="0"/>
                                  <a:ea typeface="微软雅黑" panose="020B0503020204020204" charset="-122"/>
                                  <a:cs typeface="Cambria Math" panose="02040503050406030204" charset="0"/>
                                </a:rPr>
                                <m:t>1</m:t>
                              </m:r>
                            </m:sub>
                            <m:sup>
                              <m:r>
                                <a:rPr lang="en-US" altLang="zh-CN" sz="1200" i="1">
                                  <a:latin typeface="Cambria Math" panose="02040503050406030204" charset="0"/>
                                  <a:ea typeface="微软雅黑" panose="020B0503020204020204" charset="-122"/>
                                  <a:cs typeface="Cambria Math" panose="02040503050406030204" charset="0"/>
                                </a:rPr>
                                <m:t>𝑁</m:t>
                              </m:r>
                            </m:sup>
                            <m:e>
                              <m:sSub>
                                <m:sSubPr>
                                  <m:ctrlPr>
                                    <a:rPr lang="en-US" altLang="zh-CN" sz="1200" i="1">
                                      <a:latin typeface="Cambria Math" panose="02040503050406030204" charset="0"/>
                                      <a:ea typeface="微软雅黑" panose="020B0503020204020204" charset="-122"/>
                                      <a:cs typeface="Cambria Math" panose="02040503050406030204" charset="0"/>
                                    </a:rPr>
                                  </m:ctrlPr>
                                </m:sSubPr>
                                <m:e>
                                  <m:r>
                                    <a:rPr lang="en-US" altLang="zh-CN" sz="1200" i="1">
                                      <a:latin typeface="Cambria Math" panose="02040503050406030204" charset="0"/>
                                      <a:ea typeface="微软雅黑" panose="020B0503020204020204" charset="-122"/>
                                      <a:cs typeface="Cambria Math" panose="02040503050406030204" charset="0"/>
                                    </a:rPr>
                                    <m:t>𝑔</m:t>
                                  </m:r>
                                </m:e>
                                <m:sub>
                                  <m:r>
                                    <a:rPr lang="en-US" altLang="zh-CN" sz="1200" i="1">
                                      <a:latin typeface="Cambria Math" panose="02040503050406030204" charset="0"/>
                                      <a:ea typeface="微软雅黑" panose="020B0503020204020204" charset="-122"/>
                                      <a:cs typeface="Cambria Math" panose="02040503050406030204" charset="0"/>
                                    </a:rPr>
                                    <m:t>𝑘</m:t>
                                  </m:r>
                                </m:sub>
                              </m:sSub>
                              <m:d>
                                <m:dPr>
                                  <m:ctrlPr>
                                    <a:rPr lang="en-US" altLang="zh-CN" sz="1200" i="1">
                                      <a:latin typeface="Cambria Math" panose="02040503050406030204" charset="0"/>
                                      <a:ea typeface="微软雅黑" panose="020B0503020204020204" charset="-122"/>
                                      <a:cs typeface="Cambria Math" panose="02040503050406030204" charset="0"/>
                                    </a:rPr>
                                  </m:ctrlPr>
                                </m:dPr>
                                <m:e>
                                  <m:sSub>
                                    <m:sSubPr>
                                      <m:ctrlPr>
                                        <a:rPr lang="en-US" altLang="zh-CN" sz="1200" i="1">
                                          <a:latin typeface="Cambria Math" panose="02040503050406030204" charset="0"/>
                                          <a:ea typeface="微软雅黑" panose="020B0503020204020204" charset="-122"/>
                                          <a:cs typeface="Cambria Math" panose="02040503050406030204" charset="0"/>
                                        </a:rPr>
                                      </m:ctrlPr>
                                    </m:sSubPr>
                                    <m:e>
                                      <m:r>
                                        <a:rPr lang="en-US" altLang="zh-CN" sz="1200" i="1">
                                          <a:latin typeface="Cambria Math" panose="02040503050406030204" charset="0"/>
                                          <a:ea typeface="微软雅黑" panose="020B0503020204020204" charset="-122"/>
                                          <a:cs typeface="Cambria Math" panose="02040503050406030204" charset="0"/>
                                        </a:rPr>
                                        <m:t>𝑦</m:t>
                                      </m:r>
                                    </m:e>
                                    <m:sub>
                                      <m:r>
                                        <a:rPr lang="en-US" altLang="zh-CN" sz="1200" i="1">
                                          <a:latin typeface="Cambria Math" panose="02040503050406030204" charset="0"/>
                                          <a:ea typeface="微软雅黑" panose="020B0503020204020204" charset="-122"/>
                                          <a:cs typeface="Cambria Math" panose="02040503050406030204" charset="0"/>
                                        </a:rPr>
                                        <m:t>𝑖</m:t>
                                      </m:r>
                                    </m:sub>
                                  </m:sSub>
                                </m:e>
                              </m:d>
                            </m:e>
                          </m:nary>
                        </m:oMath>
                      </a14:m>
                      <a:endParaRPr lang="zh-CN" altLang="en-US" sz="1200">
                        <a:latin typeface="微软雅黑" panose="020B0503020204020204" charset="-122"/>
                        <a:ea typeface="微软雅黑" panose="020B0503020204020204" charset="-122"/>
                      </a:endParaRPr>
                    </a:p>
                  </p:txBody>
                </p:sp>
              </mc:Choice>
              <mc:Fallback>
                <p:sp>
                  <p:nvSpPr>
                    <p:cNvPr id="168" name="文本框 167"/>
                    <p:cNvSpPr txBox="1">
                      <a:spLocks noRot="1" noChangeAspect="1" noMove="1" noResize="1" noEditPoints="1" noAdjustHandles="1" noChangeArrowheads="1" noChangeShapeType="1" noTextEdit="1"/>
                    </p:cNvSpPr>
                    <p:nvPr/>
                  </p:nvSpPr>
                  <p:spPr>
                    <a:xfrm>
                      <a:off x="1550" y="5930"/>
                      <a:ext cx="4172" cy="608"/>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9" name="文本框 168"/>
                    <p:cNvSpPr txBox="1"/>
                    <p:nvPr/>
                  </p:nvSpPr>
                  <p:spPr>
                    <a:xfrm>
                      <a:off x="1585" y="6577"/>
                      <a:ext cx="4566" cy="570"/>
                    </a:xfrm>
                    <a:prstGeom prst="rect">
                      <a:avLst/>
                    </a:prstGeom>
                    <a:noFill/>
                  </p:spPr>
                  <p:txBody>
                    <a:bodyPr wrap="square" rtlCol="0" anchor="t">
                      <a:spAutoFit/>
                    </a:bodyPr>
                    <a:p>
                      <a:pPr algn="l"/>
                      <a:r>
                        <a:rPr lang="zh-CN" altLang="en-US">
                          <a:latin typeface="微软雅黑" panose="020B0503020204020204" charset="-122"/>
                          <a:ea typeface="微软雅黑" panose="020B0503020204020204" charset="-122"/>
                        </a:rPr>
                        <a:t>④</a:t>
                      </a:r>
                      <a14:m>
                        <m:oMath xmlns:m="http://schemas.openxmlformats.org/officeDocument/2006/math">
                          <m:sSub>
                            <m:sSubPr>
                              <m:ctrlPr>
                                <a:rPr lang="en-US" altLang="zh-CN" sz="1200" i="1">
                                  <a:latin typeface="Cambria Math" panose="02040503050406030204" charset="0"/>
                                  <a:ea typeface="微软雅黑" panose="020B0503020204020204" charset="-122"/>
                                  <a:cs typeface="Cambria Math" panose="02040503050406030204" charset="0"/>
                                </a:rPr>
                              </m:ctrlPr>
                            </m:sSubPr>
                            <m:e>
                              <m:r>
                                <a:rPr lang="en-US" altLang="zh-CN" sz="1200" i="1">
                                  <a:latin typeface="Cambria Math" panose="02040503050406030204" charset="0"/>
                                  <a:ea typeface="微软雅黑" panose="020B0503020204020204" charset="-122"/>
                                  <a:cs typeface="Cambria Math" panose="02040503050406030204" charset="0"/>
                                </a:rPr>
                                <m:t>𝑓</m:t>
                              </m:r>
                            </m:e>
                            <m:sub>
                              <m:sSub>
                                <m:sSubPr>
                                  <m:ctrlPr>
                                    <a:rPr lang="en-US" altLang="zh-CN" sz="1200" i="1" kern="800">
                                      <a:solidFill>
                                        <a:schemeClr val="tx1"/>
                                      </a:solidFill>
                                      <a:uFillTx/>
                                      <a:latin typeface="Cambria Math" panose="02040503050406030204" charset="0"/>
                                      <a:ea typeface="微软雅黑" panose="020B0503020204020204" charset="-122"/>
                                      <a:cs typeface="Cambria Math" panose="02040503050406030204" charset="0"/>
                                    </a:rPr>
                                  </m:ctrlPr>
                                </m:sSubPr>
                                <m:e>
                                  <m:r>
                                    <a:rPr lang="en-US" altLang="zh-CN" sz="1200" i="1" kern="800">
                                      <a:solidFill>
                                        <a:schemeClr val="tx1"/>
                                      </a:solidFill>
                                      <a:uFillTx/>
                                      <a:latin typeface="Cambria Math" panose="02040503050406030204" charset="0"/>
                                      <a:ea typeface="微软雅黑" panose="020B0503020204020204" charset="-122"/>
                                      <a:cs typeface="Cambria Math" panose="02040503050406030204" charset="0"/>
                                    </a:rPr>
                                    <m:t>𝜎</m:t>
                                  </m:r>
                                </m:e>
                                <m:sub>
                                  <m:r>
                                    <a:rPr lang="en-US" altLang="zh-CN" sz="1200" i="1" kern="700">
                                      <a:solidFill>
                                        <a:schemeClr val="tx1"/>
                                      </a:solidFill>
                                      <a:uFillTx/>
                                      <a:latin typeface="Cambria Math" panose="02040503050406030204" charset="0"/>
                                      <a:ea typeface="微软雅黑" panose="020B0503020204020204" charset="-122"/>
                                      <a:cs typeface="Cambria Math" panose="02040503050406030204" charset="0"/>
                                    </a:rPr>
                                    <m:t>𝑚𝑎𝑥</m:t>
                                  </m:r>
                                </m:sub>
                              </m:sSub>
                            </m:sub>
                          </m:sSub>
                          <m:d>
                            <m:dPr>
                              <m:ctrlPr>
                                <a:rPr lang="en-US" altLang="zh-CN" sz="1200" i="1">
                                  <a:latin typeface="Cambria Math" panose="02040503050406030204" charset="0"/>
                                  <a:ea typeface="微软雅黑" panose="020B0503020204020204" charset="-122"/>
                                  <a:cs typeface="Cambria Math" panose="02040503050406030204" charset="0"/>
                                </a:rPr>
                              </m:ctrlPr>
                            </m:dPr>
                            <m:e>
                              <m:r>
                                <a:rPr lang="en-US" altLang="zh-CN" sz="1200" i="1">
                                  <a:latin typeface="Cambria Math" panose="02040503050406030204" charset="0"/>
                                  <a:ea typeface="微软雅黑" panose="020B0503020204020204" charset="-122"/>
                                  <a:cs typeface="Cambria Math" panose="02040503050406030204" charset="0"/>
                                </a:rPr>
                                <m:t>𝑠</m:t>
                              </m:r>
                            </m:e>
                          </m:d>
                          <m:r>
                            <a:rPr lang="en-US" altLang="zh-CN" sz="1200" i="1">
                              <a:latin typeface="Cambria Math" panose="02040503050406030204" charset="0"/>
                              <a:ea typeface="微软雅黑" panose="020B0503020204020204" charset="-122"/>
                              <a:cs typeface="Cambria Math" panose="02040503050406030204" charset="0"/>
                            </a:rPr>
                            <m:t>→</m:t>
                          </m:r>
                          <m:sSub>
                            <m:sSubPr>
                              <m:ctrlPr>
                                <a:rPr lang="en-US" altLang="zh-CN" sz="1200" i="1">
                                  <a:latin typeface="Cambria Math" panose="02040503050406030204" charset="0"/>
                                  <a:ea typeface="微软雅黑" panose="020B0503020204020204" charset="-122"/>
                                  <a:cs typeface="Cambria Math" panose="02040503050406030204" charset="0"/>
                                </a:rPr>
                              </m:ctrlPr>
                            </m:sSubPr>
                            <m:e>
                              <m:r>
                                <a:rPr lang="en-US" altLang="zh-CN" sz="1200" i="1">
                                  <a:latin typeface="Cambria Math" panose="02040503050406030204" charset="0"/>
                                  <a:ea typeface="微软雅黑" panose="020B0503020204020204" charset="-122"/>
                                  <a:cs typeface="Cambria Math" panose="02040503050406030204" charset="0"/>
                                </a:rPr>
                                <m:t>𝑝</m:t>
                              </m:r>
                            </m:e>
                            <m:sub>
                              <m:r>
                                <a:rPr lang="en-US" altLang="zh-CN" sz="1200" i="1">
                                  <a:latin typeface="Cambria Math" panose="02040503050406030204" charset="0"/>
                                  <a:ea typeface="微软雅黑" panose="020B0503020204020204" charset="-122"/>
                                  <a:cs typeface="Cambria Math" panose="02040503050406030204" charset="0"/>
                                </a:rPr>
                                <m:t>𝑓</m:t>
                              </m:r>
                            </m:sub>
                          </m:sSub>
                          <m:r>
                            <a:rPr lang="en-US" altLang="zh-CN" sz="1200" i="1">
                              <a:latin typeface="Cambria Math" panose="02040503050406030204" charset="0"/>
                              <a:ea typeface="微软雅黑" panose="020B0503020204020204" charset="-122"/>
                              <a:cs typeface="Cambria Math" panose="02040503050406030204" charset="0"/>
                            </a:rPr>
                            <m:t>→</m:t>
                          </m:r>
                          <m:r>
                            <a:rPr lang="en-US" altLang="zh-CN" sz="1200" i="1">
                              <a:latin typeface="Cambria Math" panose="02040503050406030204" charset="0"/>
                              <a:ea typeface="微软雅黑" panose="020B0503020204020204" charset="-122"/>
                              <a:cs typeface="Cambria Math" panose="02040503050406030204" charset="0"/>
                            </a:rPr>
                            <m:t>𝛽</m:t>
                          </m:r>
                        </m:oMath>
                      </a14:m>
                      <a:endParaRPr lang="zh-CN" altLang="en-US" sz="1200">
                        <a:latin typeface="微软雅黑" panose="020B0503020204020204" charset="-122"/>
                        <a:ea typeface="微软雅黑" panose="020B0503020204020204" charset="-122"/>
                      </a:endParaRPr>
                    </a:p>
                  </p:txBody>
                </p:sp>
              </mc:Choice>
              <mc:Fallback>
                <p:sp>
                  <p:nvSpPr>
                    <p:cNvPr id="169" name="文本框 168"/>
                    <p:cNvSpPr txBox="1">
                      <a:spLocks noRot="1" noChangeAspect="1" noMove="1" noResize="1" noEditPoints="1" noAdjustHandles="1" noChangeArrowheads="1" noChangeShapeType="1" noTextEdit="1"/>
                    </p:cNvSpPr>
                    <p:nvPr/>
                  </p:nvSpPr>
                  <p:spPr>
                    <a:xfrm>
                      <a:off x="1585" y="6577"/>
                      <a:ext cx="4566" cy="570"/>
                    </a:xfrm>
                    <a:prstGeom prst="rect">
                      <a:avLst/>
                    </a:prstGeom>
                    <a:blipFill rotWithShape="1">
                      <a:blip r:embed="rId9"/>
                    </a:blipFill>
                  </p:spPr>
                  <p:txBody>
                    <a:bodyPr/>
                    <a:lstStyle/>
                    <a:p>
                      <a:r>
                        <a:rPr lang="zh-CN" altLang="en-US">
                          <a:noFill/>
                        </a:rPr>
                        <a:t> </a:t>
                      </a:r>
                    </a:p>
                  </p:txBody>
                </p:sp>
              </mc:Fallback>
            </mc:AlternateContent>
          </p:grpSp>
          <p:sp>
            <p:nvSpPr>
              <p:cNvPr id="172" name="矩形 171"/>
              <p:cNvSpPr/>
              <p:nvPr/>
            </p:nvSpPr>
            <p:spPr>
              <a:xfrm>
                <a:off x="2043" y="7199"/>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3" name="矩形 172"/>
              <p:cNvSpPr/>
              <p:nvPr/>
            </p:nvSpPr>
            <p:spPr>
              <a:xfrm>
                <a:off x="2035" y="7607"/>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4" name="矩形 173"/>
              <p:cNvSpPr/>
              <p:nvPr/>
            </p:nvSpPr>
            <p:spPr>
              <a:xfrm>
                <a:off x="2043" y="8063"/>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5" name="文本框 174"/>
              <p:cNvSpPr txBox="1"/>
              <p:nvPr/>
            </p:nvSpPr>
            <p:spPr>
              <a:xfrm>
                <a:off x="2262" y="7096"/>
                <a:ext cx="4357" cy="688"/>
              </a:xfrm>
              <a:prstGeom prst="rect">
                <a:avLst/>
              </a:prstGeom>
              <a:noFill/>
            </p:spPr>
            <p:txBody>
              <a:bodyPr wrap="square" rtlCol="0">
                <a:noAutofit/>
              </a:bodyPr>
              <a:p>
                <a:r>
                  <a:rPr lang="zh-CN" altLang="en-US" sz="1000">
                    <a:solidFill>
                      <a:srgbClr val="FF0000"/>
                    </a:solidFill>
                  </a:rPr>
                  <a:t>无需预设分布形式，</a:t>
                </a:r>
                <a:r>
                  <a:rPr lang="zh-CN" altLang="en-US" sz="1000"/>
                  <a:t>适用非线性与非高斯</a:t>
                </a:r>
                <a:r>
                  <a:rPr lang="zh-CN" altLang="en-US" sz="1000"/>
                  <a:t>响应；</a:t>
                </a:r>
                <a:endParaRPr lang="en-US" altLang="zh-CN" sz="1000">
                  <a:solidFill>
                    <a:srgbClr val="FF0000"/>
                  </a:solidFill>
                </a:endParaRPr>
              </a:p>
            </p:txBody>
          </p:sp>
          <p:sp>
            <p:nvSpPr>
              <p:cNvPr id="176" name="文本框 175"/>
              <p:cNvSpPr txBox="1"/>
              <p:nvPr/>
            </p:nvSpPr>
            <p:spPr>
              <a:xfrm>
                <a:off x="2278" y="7522"/>
                <a:ext cx="3760" cy="637"/>
              </a:xfrm>
              <a:prstGeom prst="rect">
                <a:avLst/>
              </a:prstGeom>
              <a:noFill/>
            </p:spPr>
            <p:txBody>
              <a:bodyPr wrap="square" rtlCol="0">
                <a:noAutofit/>
              </a:bodyPr>
              <a:p>
                <a:r>
                  <a:rPr lang="zh-CN" altLang="en-US" sz="1000"/>
                  <a:t>可精确捕捉分布</a:t>
                </a:r>
                <a:r>
                  <a:rPr lang="zh-CN" altLang="en-US" sz="1000">
                    <a:solidFill>
                      <a:srgbClr val="FF0000"/>
                    </a:solidFill>
                  </a:rPr>
                  <a:t>整体形态及尾部</a:t>
                </a:r>
                <a:r>
                  <a:rPr lang="zh-CN" altLang="en-US" sz="1000">
                    <a:solidFill>
                      <a:srgbClr val="FF0000"/>
                    </a:solidFill>
                  </a:rPr>
                  <a:t>特征；</a:t>
                </a:r>
                <a:endParaRPr lang="zh-CN" altLang="en-US" sz="1000">
                  <a:solidFill>
                    <a:srgbClr val="FF0000"/>
                  </a:solidFill>
                </a:endParaRPr>
              </a:p>
            </p:txBody>
          </p:sp>
          <p:sp>
            <p:nvSpPr>
              <p:cNvPr id="177" name="文本框 176"/>
              <p:cNvSpPr txBox="1"/>
              <p:nvPr/>
            </p:nvSpPr>
            <p:spPr>
              <a:xfrm>
                <a:off x="2279" y="7961"/>
                <a:ext cx="3760" cy="637"/>
              </a:xfrm>
              <a:prstGeom prst="rect">
                <a:avLst/>
              </a:prstGeom>
              <a:noFill/>
            </p:spPr>
            <p:txBody>
              <a:bodyPr wrap="square" rtlCol="0">
                <a:noAutofit/>
              </a:bodyPr>
              <a:p>
                <a:r>
                  <a:rPr lang="zh-CN" altLang="en-US" sz="1000">
                    <a:solidFill>
                      <a:schemeClr val="tx1"/>
                    </a:solidFill>
                  </a:rPr>
                  <a:t>在小失效概率计算中</a:t>
                </a:r>
                <a:r>
                  <a:rPr lang="zh-CN" altLang="en-US" sz="1000">
                    <a:solidFill>
                      <a:srgbClr val="FF0000"/>
                    </a:solidFill>
                  </a:rPr>
                  <a:t>更</a:t>
                </a:r>
                <a:r>
                  <a:rPr lang="zh-CN" altLang="en-US" sz="1000">
                    <a:solidFill>
                      <a:srgbClr val="FF0000"/>
                    </a:solidFill>
                  </a:rPr>
                  <a:t>稳定；</a:t>
                </a:r>
                <a:endParaRPr lang="en-US" altLang="zh-CN" sz="1000">
                  <a:solidFill>
                    <a:srgbClr val="FF0000"/>
                  </a:solidFill>
                </a:endParaRPr>
              </a:p>
            </p:txBody>
          </p:sp>
        </p:grpSp>
        <p:sp>
          <p:nvSpPr>
            <p:cNvPr id="178" name="矩形 177"/>
            <p:cNvSpPr/>
            <p:nvPr/>
          </p:nvSpPr>
          <p:spPr>
            <a:xfrm>
              <a:off x="6237" y="8495"/>
              <a:ext cx="170" cy="17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79" name="文本框 178"/>
          <p:cNvSpPr txBox="1"/>
          <p:nvPr/>
        </p:nvSpPr>
        <p:spPr>
          <a:xfrm>
            <a:off x="7889240" y="5502360"/>
            <a:ext cx="2387600" cy="411543"/>
          </a:xfrm>
          <a:prstGeom prst="rect">
            <a:avLst/>
          </a:prstGeom>
          <a:noFill/>
        </p:spPr>
        <p:txBody>
          <a:bodyPr wrap="square" rtlCol="0">
            <a:noAutofit/>
          </a:bodyPr>
          <a:p>
            <a:r>
              <a:rPr lang="zh-CN" altLang="en-US" sz="1000">
                <a:solidFill>
                  <a:schemeClr val="tx1"/>
                </a:solidFill>
              </a:rPr>
              <a:t>兼顾</a:t>
            </a:r>
            <a:r>
              <a:rPr lang="zh-CN" altLang="en-US" sz="1000">
                <a:solidFill>
                  <a:srgbClr val="FF0000"/>
                </a:solidFill>
              </a:rPr>
              <a:t>精度与</a:t>
            </a:r>
            <a:r>
              <a:rPr lang="zh-CN" altLang="en-US" sz="1000">
                <a:solidFill>
                  <a:srgbClr val="FF0000"/>
                </a:solidFill>
              </a:rPr>
              <a:t>效率。</a:t>
            </a:r>
            <a:endParaRPr lang="en-US" altLang="zh-CN" sz="1000">
              <a:solidFill>
                <a:srgbClr val="FF0000"/>
              </a:solidFill>
            </a:endParaRPr>
          </a:p>
        </p:txBody>
      </p:sp>
      <mc:AlternateContent xmlns:mc="http://schemas.openxmlformats.org/markup-compatibility/2006">
        <mc:Choice xmlns:a14="http://schemas.microsoft.com/office/drawing/2010/main" Requires="a14">
          <p:sp>
            <p:nvSpPr>
              <p:cNvPr id="183" name="文本框 182"/>
              <p:cNvSpPr txBox="1"/>
              <p:nvPr/>
            </p:nvSpPr>
            <p:spPr>
              <a:xfrm>
                <a:off x="5429885" y="2780030"/>
                <a:ext cx="1559560" cy="431800"/>
              </a:xfrm>
              <a:prstGeom prst="rect">
                <a:avLst/>
              </a:prstGeom>
              <a:noFill/>
            </p:spPr>
            <p:txBody>
              <a:bodyPr wrap="none" rtlCol="0" anchor="t">
                <a:spAutoFit/>
              </a:bodyPr>
              <a:p>
                <a:r>
                  <a:rPr lang="zh-CN" altLang="en-US">
                    <a:latin typeface="Calibri" panose="020F0502020204030204" charset="0"/>
                  </a:rPr>
                  <a:t>①</a:t>
                </a:r>
                <a14:m>
                  <m:oMath xmlns:m="http://schemas.openxmlformats.org/officeDocument/2006/math">
                    <m:sSubSup>
                      <m:sSubSupPr>
                        <m:ctrlPr>
                          <a:rPr lang="en-US" altLang="zh-CN" sz="1200" i="1">
                            <a:latin typeface="Cambria Math" panose="02040503050406030204" charset="0"/>
                            <a:cs typeface="Cambria Math" panose="02040503050406030204" charset="0"/>
                          </a:rPr>
                        </m:ctrlPr>
                      </m:sSubSupPr>
                      <m:e>
                        <m:r>
                          <a:rPr lang="en-US" altLang="zh-CN" sz="1200" i="1">
                            <a:latin typeface="Cambria Math" panose="02040503050406030204" charset="0"/>
                            <a:cs typeface="Cambria Math" panose="02040503050406030204" charset="0"/>
                          </a:rPr>
                          <m:t>   </m:t>
                        </m:r>
                        <m:r>
                          <a:rPr lang="en-US" altLang="zh-CN" sz="1200" i="1">
                            <a:latin typeface="Cambria Math" panose="02040503050406030204" charset="0"/>
                            <a:cs typeface="Cambria Math" panose="02040503050406030204" charset="0"/>
                          </a:rPr>
                          <m:t>𝐷</m:t>
                        </m:r>
                      </m:e>
                      <m:sub>
                        <m:r>
                          <a:rPr lang="en-US" altLang="zh-CN" sz="1200" i="1">
                            <a:latin typeface="Cambria Math" panose="02040503050406030204" charset="0"/>
                            <a:cs typeface="Cambria Math" panose="02040503050406030204" charset="0"/>
                          </a:rPr>
                          <m:t>𝑁</m:t>
                        </m:r>
                      </m:sub>
                      <m:sup>
                        <m:r>
                          <a:rPr lang="en-US" altLang="zh-CN" sz="1200" i="1">
                            <a:latin typeface="Cambria Math" panose="02040503050406030204" charset="0"/>
                            <a:cs typeface="Cambria Math" panose="02040503050406030204" charset="0"/>
                          </a:rPr>
                          <m:t>∗</m:t>
                        </m:r>
                      </m:sup>
                    </m:sSubSup>
                    <m:r>
                      <a:rPr lang="en-US" altLang="zh-CN" sz="1200" i="1">
                        <a:latin typeface="Cambria Math" panose="02040503050406030204" charset="0"/>
                        <a:cs typeface="Cambria Math" panose="02040503050406030204" charset="0"/>
                      </a:rPr>
                      <m:t>≤</m:t>
                    </m:r>
                    <m:sSub>
                      <m:sSubPr>
                        <m:ctrlPr>
                          <a:rPr lang="en-US" altLang="zh-CN" sz="1200" i="1">
                            <a:latin typeface="Cambria Math" panose="02040503050406030204" charset="0"/>
                            <a:cs typeface="Cambria Math" panose="02040503050406030204" charset="0"/>
                          </a:rPr>
                        </m:ctrlPr>
                      </m:sSubPr>
                      <m:e>
                        <m:r>
                          <a:rPr lang="en-US" altLang="zh-CN" sz="1200" i="1">
                            <a:latin typeface="Cambria Math" panose="02040503050406030204" charset="0"/>
                            <a:cs typeface="Cambria Math" panose="02040503050406030204" charset="0"/>
                          </a:rPr>
                          <m:t>𝐶</m:t>
                        </m:r>
                      </m:e>
                      <m:sub>
                        <m:r>
                          <a:rPr lang="en-US" altLang="zh-CN" sz="1200" i="1">
                            <a:latin typeface="Cambria Math" panose="02040503050406030204" charset="0"/>
                            <a:cs typeface="Cambria Math" panose="02040503050406030204" charset="0"/>
                          </a:rPr>
                          <m:t>𝑑</m:t>
                        </m:r>
                      </m:sub>
                    </m:sSub>
                    <m:f>
                      <m:fPr>
                        <m:ctrlPr>
                          <a:rPr lang="en-US" altLang="zh-CN" sz="1200" i="1">
                            <a:latin typeface="Cambria Math" panose="02040503050406030204" charset="0"/>
                            <a:cs typeface="Cambria Math" panose="02040503050406030204" charset="0"/>
                          </a:rPr>
                        </m:ctrlPr>
                      </m:fPr>
                      <m:num>
                        <m:sSup>
                          <m:sSupPr>
                            <m:ctrlPr>
                              <a:rPr lang="en-US" altLang="zh-CN" sz="1200" i="1">
                                <a:latin typeface="Cambria Math" panose="02040503050406030204" charset="0"/>
                                <a:cs typeface="Cambria Math" panose="02040503050406030204" charset="0"/>
                              </a:rPr>
                            </m:ctrlPr>
                          </m:sSupPr>
                          <m:e>
                            <m:d>
                              <m:dPr>
                                <m:ctrlPr>
                                  <a:rPr lang="en-US" altLang="zh-CN" sz="1200" i="1">
                                    <a:latin typeface="Cambria Math" panose="02040503050406030204" charset="0"/>
                                    <a:cs typeface="Cambria Math" panose="02040503050406030204" charset="0"/>
                                  </a:rPr>
                                </m:ctrlPr>
                              </m:dPr>
                              <m:e>
                                <m:func>
                                  <m:funcPr>
                                    <m:ctrlPr>
                                      <a:rPr lang="en-US" altLang="zh-CN" sz="1200">
                                        <a:latin typeface="Cambria Math" panose="02040503050406030204" charset="0"/>
                                        <a:cs typeface="Cambria Math" panose="02040503050406030204" charset="0"/>
                                      </a:rPr>
                                    </m:ctrlPr>
                                  </m:funcPr>
                                  <m:fName>
                                    <m:r>
                                      <m:rPr>
                                        <m:sty m:val="p"/>
                                      </m:rPr>
                                      <a:rPr lang="en-US" altLang="zh-CN" sz="1200">
                                        <a:latin typeface="Cambria Math" panose="02040503050406030204" charset="0"/>
                                        <a:cs typeface="Cambria Math" panose="02040503050406030204" charset="0"/>
                                      </a:rPr>
                                      <m:t>log</m:t>
                                    </m:r>
                                  </m:fName>
                                  <m:e>
                                    <m:r>
                                      <a:rPr lang="en-US" altLang="zh-CN" sz="1200" i="1">
                                        <a:latin typeface="Cambria Math" panose="02040503050406030204" charset="0"/>
                                        <a:cs typeface="Cambria Math" panose="02040503050406030204" charset="0"/>
                                      </a:rPr>
                                      <m:t>𝑁</m:t>
                                    </m:r>
                                  </m:e>
                                </m:func>
                              </m:e>
                            </m:d>
                          </m:e>
                          <m:sup>
                            <m:r>
                              <a:rPr lang="en-US" altLang="zh-CN" sz="1200" i="1">
                                <a:latin typeface="Cambria Math" panose="02040503050406030204" charset="0"/>
                                <a:cs typeface="Cambria Math" panose="02040503050406030204" charset="0"/>
                              </a:rPr>
                              <m:t>𝑑</m:t>
                            </m:r>
                          </m:sup>
                        </m:sSup>
                      </m:num>
                      <m:den>
                        <m:r>
                          <a:rPr lang="en-US" altLang="zh-CN" sz="1200" i="1">
                            <a:latin typeface="Cambria Math" panose="02040503050406030204" charset="0"/>
                            <a:cs typeface="Cambria Math" panose="02040503050406030204" charset="0"/>
                          </a:rPr>
                          <m:t>𝑁</m:t>
                        </m:r>
                      </m:den>
                    </m:f>
                  </m:oMath>
                </a14:m>
                <a:endParaRPr lang="zh-CN" altLang="en-US" sz="1200">
                  <a:latin typeface="Calibri" panose="020F0502020204030204" charset="0"/>
                </a:endParaRPr>
              </a:p>
            </p:txBody>
          </p:sp>
        </mc:Choice>
        <mc:Fallback>
          <p:sp>
            <p:nvSpPr>
              <p:cNvPr id="183" name="文本框 182"/>
              <p:cNvSpPr txBox="1">
                <a:spLocks noRot="1" noChangeAspect="1" noMove="1" noResize="1" noEditPoints="1" noAdjustHandles="1" noChangeArrowheads="1" noChangeShapeType="1" noTextEdit="1"/>
              </p:cNvSpPr>
              <p:nvPr/>
            </p:nvSpPr>
            <p:spPr>
              <a:xfrm>
                <a:off x="5429885" y="2780030"/>
                <a:ext cx="1559560" cy="431800"/>
              </a:xfrm>
              <a:prstGeom prst="rect">
                <a:avLst/>
              </a:prstGeom>
              <a:blipFill rotWithShape="1">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4" name="文本框 183"/>
              <p:cNvSpPr txBox="1"/>
              <p:nvPr/>
            </p:nvSpPr>
            <p:spPr>
              <a:xfrm>
                <a:off x="5429885" y="3309620"/>
                <a:ext cx="1996440" cy="419100"/>
              </a:xfrm>
              <a:prstGeom prst="rect">
                <a:avLst/>
              </a:prstGeom>
              <a:noFill/>
            </p:spPr>
            <p:txBody>
              <a:bodyPr wrap="none" rtlCol="0" anchor="t">
                <a:spAutoFit/>
              </a:bodyPr>
              <a:p>
                <a:pPr algn="l"/>
                <a:r>
                  <a:rPr lang="zh-CN" altLang="en-US">
                    <a:latin typeface="微软雅黑" panose="020B0503020204020204" charset="-122"/>
                    <a:ea typeface="微软雅黑" panose="020B0503020204020204" charset="-122"/>
                  </a:rPr>
                  <a:t>②</a:t>
                </a:r>
                <a14:m>
                  <m:oMath xmlns:m="http://schemas.openxmlformats.org/officeDocument/2006/math">
                    <m:sSubSup>
                      <m:sSubSupPr>
                        <m:ctrlPr>
                          <a:rPr lang="en-US" altLang="zh-CN" sz="1200" i="1">
                            <a:latin typeface="Cambria Math" panose="02040503050406030204" charset="0"/>
                            <a:ea typeface="微软雅黑" panose="020B0503020204020204" charset="-122"/>
                            <a:cs typeface="Cambria Math" panose="02040503050406030204" charset="0"/>
                          </a:rPr>
                        </m:ctrlPr>
                      </m:sSubSupPr>
                      <m:e>
                        <m:r>
                          <a:rPr lang="en-US" altLang="zh-CN" sz="1200" i="1">
                            <a:latin typeface="Cambria Math" panose="02040503050406030204" charset="0"/>
                            <a:ea typeface="微软雅黑" panose="020B0503020204020204" charset="-122"/>
                            <a:cs typeface="Cambria Math" panose="02040503050406030204" charset="0"/>
                          </a:rPr>
                          <m:t>𝑥</m:t>
                        </m:r>
                      </m:e>
                      <m:sub>
                        <m:r>
                          <a:rPr lang="en-US" altLang="zh-CN" sz="1200" i="1">
                            <a:latin typeface="Cambria Math" panose="02040503050406030204" charset="0"/>
                            <a:ea typeface="微软雅黑" panose="020B0503020204020204" charset="-122"/>
                            <a:cs typeface="Cambria Math" panose="02040503050406030204" charset="0"/>
                          </a:rPr>
                          <m:t>𝑛</m:t>
                        </m:r>
                      </m:sub>
                      <m:sup>
                        <m:d>
                          <m:dPr>
                            <m:ctrlPr>
                              <a:rPr lang="en-US" altLang="zh-CN" sz="1200" i="1">
                                <a:latin typeface="Cambria Math" panose="02040503050406030204" charset="0"/>
                                <a:ea typeface="微软雅黑" panose="020B0503020204020204" charset="-122"/>
                                <a:cs typeface="Cambria Math" panose="02040503050406030204" charset="0"/>
                              </a:rPr>
                            </m:ctrlPr>
                          </m:dPr>
                          <m:e>
                            <m:r>
                              <a:rPr lang="en-US" altLang="zh-CN" sz="1200" i="1">
                                <a:latin typeface="Cambria Math" panose="02040503050406030204" charset="0"/>
                                <a:ea typeface="微软雅黑" panose="020B0503020204020204" charset="-122"/>
                                <a:cs typeface="Cambria Math" panose="02040503050406030204" charset="0"/>
                              </a:rPr>
                              <m:t>𝑗</m:t>
                            </m:r>
                          </m:e>
                        </m:d>
                      </m:sup>
                    </m:sSubSup>
                    <m:r>
                      <a:rPr lang="en-US" altLang="zh-CN" sz="1200" i="1">
                        <a:latin typeface="Cambria Math" panose="02040503050406030204" charset="0"/>
                        <a:ea typeface="微软雅黑" panose="020B0503020204020204" charset="-122"/>
                        <a:cs typeface="Cambria Math" panose="02040503050406030204" charset="0"/>
                      </a:rPr>
                      <m:t>=</m:t>
                    </m:r>
                    <m:nary>
                      <m:naryPr>
                        <m:chr m:val="∑"/>
                        <m:limLoc m:val="undOvr"/>
                        <m:ctrlPr>
                          <a:rPr lang="en-US" altLang="zh-CN" sz="1200" i="1">
                            <a:latin typeface="Cambria Math" panose="02040503050406030204" charset="0"/>
                            <a:ea typeface="微软雅黑" panose="020B0503020204020204" charset="-122"/>
                            <a:cs typeface="Cambria Math" panose="02040503050406030204" charset="0"/>
                          </a:rPr>
                        </m:ctrlPr>
                      </m:naryPr>
                      <m:sub>
                        <m:r>
                          <a:rPr lang="en-US" altLang="zh-CN" sz="1200" i="1">
                            <a:latin typeface="Cambria Math" panose="02040503050406030204" charset="0"/>
                            <a:ea typeface="微软雅黑" panose="020B0503020204020204" charset="-122"/>
                            <a:cs typeface="Cambria Math" panose="02040503050406030204" charset="0"/>
                          </a:rPr>
                          <m:t>𝑖</m:t>
                        </m:r>
                        <m:r>
                          <a:rPr lang="en-US" altLang="zh-CN" sz="1200" i="1">
                            <a:latin typeface="Cambria Math" panose="02040503050406030204" charset="0"/>
                            <a:ea typeface="微软雅黑" panose="020B0503020204020204" charset="-122"/>
                            <a:cs typeface="Cambria Math" panose="02040503050406030204" charset="0"/>
                          </a:rPr>
                          <m:t>=</m:t>
                        </m:r>
                        <m:r>
                          <a:rPr lang="en-US" altLang="zh-CN" sz="1200" i="1">
                            <a:latin typeface="Cambria Math" panose="02040503050406030204" charset="0"/>
                            <a:ea typeface="微软雅黑" panose="020B0503020204020204" charset="-122"/>
                            <a:cs typeface="Cambria Math" panose="02040503050406030204" charset="0"/>
                          </a:rPr>
                          <m:t>1</m:t>
                        </m:r>
                      </m:sub>
                      <m:sup>
                        <m:r>
                          <a:rPr lang="en-US" altLang="zh-CN" sz="1200" i="1">
                            <a:latin typeface="Cambria Math" panose="02040503050406030204" charset="0"/>
                            <a:ea typeface="微软雅黑" panose="020B0503020204020204" charset="-122"/>
                            <a:cs typeface="Cambria Math" panose="02040503050406030204" charset="0"/>
                          </a:rPr>
                          <m:t>𝑚</m:t>
                        </m:r>
                      </m:sup>
                      <m:e>
                        <m:sSub>
                          <m:sSubPr>
                            <m:ctrlPr>
                              <a:rPr lang="en-US" altLang="zh-CN" sz="1200" i="1">
                                <a:latin typeface="Cambria Math" panose="02040503050406030204" charset="0"/>
                                <a:ea typeface="微软雅黑" panose="020B0503020204020204" charset="-122"/>
                                <a:cs typeface="Cambria Math" panose="02040503050406030204" charset="0"/>
                              </a:rPr>
                            </m:ctrlPr>
                          </m:sSubPr>
                          <m:e>
                            <m:r>
                              <a:rPr lang="en-US" altLang="zh-CN" sz="1200" i="1">
                                <a:latin typeface="Cambria Math" panose="02040503050406030204" charset="0"/>
                                <a:ea typeface="微软雅黑" panose="020B0503020204020204" charset="-122"/>
                                <a:cs typeface="Cambria Math" panose="02040503050406030204" charset="0"/>
                              </a:rPr>
                              <m:t>𝑏</m:t>
                            </m:r>
                          </m:e>
                          <m:sub>
                            <m:r>
                              <a:rPr lang="en-US" altLang="zh-CN" sz="1200" i="1">
                                <a:latin typeface="Cambria Math" panose="02040503050406030204" charset="0"/>
                                <a:ea typeface="微软雅黑" panose="020B0503020204020204" charset="-122"/>
                                <a:cs typeface="Cambria Math" panose="02040503050406030204" charset="0"/>
                              </a:rPr>
                              <m:t>𝑖</m:t>
                            </m:r>
                          </m:sub>
                        </m:sSub>
                        <m:d>
                          <m:dPr>
                            <m:ctrlPr>
                              <a:rPr lang="en-US" altLang="zh-CN" sz="1200" i="1">
                                <a:latin typeface="Cambria Math" panose="02040503050406030204" charset="0"/>
                                <a:ea typeface="微软雅黑" panose="020B0503020204020204" charset="-122"/>
                                <a:cs typeface="Cambria Math" panose="02040503050406030204" charset="0"/>
                              </a:rPr>
                            </m:ctrlPr>
                          </m:dPr>
                          <m:e>
                            <m:r>
                              <a:rPr lang="en-US" altLang="zh-CN" sz="1200" i="1">
                                <a:latin typeface="Cambria Math" panose="02040503050406030204" charset="0"/>
                                <a:ea typeface="微软雅黑" panose="020B0503020204020204" charset="-122"/>
                                <a:cs typeface="Cambria Math" panose="02040503050406030204" charset="0"/>
                              </a:rPr>
                              <m:t>𝑛</m:t>
                            </m:r>
                          </m:e>
                        </m:d>
                      </m:e>
                    </m:nary>
                    <m:sSubSup>
                      <m:sSubSupPr>
                        <m:ctrlPr>
                          <a:rPr lang="en-US" altLang="zh-CN" sz="1200" i="1">
                            <a:latin typeface="Cambria Math" panose="02040503050406030204" charset="0"/>
                            <a:ea typeface="微软雅黑" panose="020B0503020204020204" charset="-122"/>
                            <a:cs typeface="Cambria Math" panose="02040503050406030204" charset="0"/>
                          </a:rPr>
                        </m:ctrlPr>
                      </m:sSubSupPr>
                      <m:e>
                        <m:r>
                          <a:rPr lang="en-US" altLang="zh-CN" sz="1200" i="1">
                            <a:latin typeface="Cambria Math" panose="02040503050406030204" charset="0"/>
                            <a:ea typeface="微软雅黑" panose="020B0503020204020204" charset="-122"/>
                            <a:cs typeface="Cambria Math" panose="02040503050406030204" charset="0"/>
                          </a:rPr>
                          <m:t>𝑣</m:t>
                        </m:r>
                      </m:e>
                      <m:sub>
                        <m:r>
                          <a:rPr lang="en-US" altLang="zh-CN" sz="1200" i="1">
                            <a:latin typeface="Cambria Math" panose="02040503050406030204" charset="0"/>
                            <a:ea typeface="微软雅黑" panose="020B0503020204020204" charset="-122"/>
                            <a:cs typeface="Cambria Math" panose="02040503050406030204" charset="0"/>
                          </a:rPr>
                          <m:t>𝑖</m:t>
                        </m:r>
                      </m:sub>
                      <m:sup>
                        <m:d>
                          <m:dPr>
                            <m:ctrlPr>
                              <a:rPr lang="en-US" altLang="zh-CN" sz="1200" i="1">
                                <a:latin typeface="Cambria Math" panose="02040503050406030204" charset="0"/>
                                <a:ea typeface="微软雅黑" panose="020B0503020204020204" charset="-122"/>
                                <a:cs typeface="Cambria Math" panose="02040503050406030204" charset="0"/>
                              </a:rPr>
                            </m:ctrlPr>
                          </m:dPr>
                          <m:e>
                            <m:r>
                              <a:rPr lang="en-US" altLang="zh-CN" sz="1200" i="1">
                                <a:latin typeface="Cambria Math" panose="02040503050406030204" charset="0"/>
                                <a:ea typeface="微软雅黑" panose="020B0503020204020204" charset="-122"/>
                                <a:cs typeface="Cambria Math" panose="02040503050406030204" charset="0"/>
                              </a:rPr>
                              <m:t>𝑗</m:t>
                            </m:r>
                          </m:e>
                        </m:d>
                      </m:sup>
                    </m:sSubSup>
                    <m:sSup>
                      <m:sSupPr>
                        <m:ctrlPr>
                          <a:rPr lang="en-US" altLang="zh-CN" sz="1200" i="1">
                            <a:latin typeface="Cambria Math" panose="02040503050406030204" charset="0"/>
                            <a:ea typeface="微软雅黑" panose="020B0503020204020204" charset="-122"/>
                            <a:cs typeface="Cambria Math" panose="02040503050406030204" charset="0"/>
                          </a:rPr>
                        </m:ctrlPr>
                      </m:sSupPr>
                      <m:e>
                        <m:r>
                          <a:rPr lang="en-US" altLang="zh-CN" sz="1200" i="1">
                            <a:latin typeface="Cambria Math" panose="02040503050406030204" charset="0"/>
                            <a:ea typeface="微软雅黑" panose="020B0503020204020204" charset="-122"/>
                            <a:cs typeface="Cambria Math" panose="02040503050406030204" charset="0"/>
                          </a:rPr>
                          <m:t>2</m:t>
                        </m:r>
                      </m:e>
                      <m:sup>
                        <m:r>
                          <a:rPr lang="en-US" altLang="zh-CN" sz="1200" i="1">
                            <a:latin typeface="Cambria Math" panose="02040503050406030204" charset="0"/>
                            <a:ea typeface="微软雅黑" panose="020B0503020204020204" charset="-122"/>
                            <a:cs typeface="Cambria Math" panose="02040503050406030204" charset="0"/>
                          </a:rPr>
                          <m:t>−</m:t>
                        </m:r>
                        <m:r>
                          <a:rPr lang="en-US" altLang="zh-CN" sz="1200" i="1">
                            <a:latin typeface="Cambria Math" panose="02040503050406030204" charset="0"/>
                            <a:ea typeface="微软雅黑" panose="020B0503020204020204" charset="-122"/>
                            <a:cs typeface="Cambria Math" panose="02040503050406030204" charset="0"/>
                          </a:rPr>
                          <m:t>𝑖</m:t>
                        </m:r>
                      </m:sup>
                    </m:sSup>
                  </m:oMath>
                </a14:m>
                <a:endParaRPr lang="zh-CN" altLang="en-US" sz="1200">
                  <a:latin typeface="微软雅黑" panose="020B0503020204020204" charset="-122"/>
                  <a:ea typeface="微软雅黑" panose="020B0503020204020204" charset="-122"/>
                </a:endParaRPr>
              </a:p>
            </p:txBody>
          </p:sp>
        </mc:Choice>
        <mc:Fallback>
          <p:sp>
            <p:nvSpPr>
              <p:cNvPr id="184" name="文本框 183"/>
              <p:cNvSpPr txBox="1">
                <a:spLocks noRot="1" noChangeAspect="1" noMove="1" noResize="1" noEditPoints="1" noAdjustHandles="1" noChangeArrowheads="1" noChangeShapeType="1" noTextEdit="1"/>
              </p:cNvSpPr>
              <p:nvPr/>
            </p:nvSpPr>
            <p:spPr>
              <a:xfrm>
                <a:off x="5429885" y="3309620"/>
                <a:ext cx="1996440" cy="419100"/>
              </a:xfrm>
              <a:prstGeom prst="rect">
                <a:avLst/>
              </a:prstGeom>
              <a:blipFill rotWithShape="1">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5" name="文本框 184"/>
              <p:cNvSpPr txBox="1"/>
              <p:nvPr/>
            </p:nvSpPr>
            <p:spPr>
              <a:xfrm>
                <a:off x="5429885" y="3781425"/>
                <a:ext cx="1482725" cy="432435"/>
              </a:xfrm>
              <a:prstGeom prst="rect">
                <a:avLst/>
              </a:prstGeom>
              <a:noFill/>
            </p:spPr>
            <p:txBody>
              <a:bodyPr wrap="none" rtlCol="0" anchor="t">
                <a:spAutoFit/>
              </a:bodyPr>
              <a:p>
                <a:r>
                  <a:rPr lang="zh-CN" altLang="en-US">
                    <a:latin typeface="微软雅黑" panose="020B0503020204020204" charset="-122"/>
                    <a:ea typeface="微软雅黑" panose="020B0503020204020204" charset="-122"/>
                  </a:rPr>
                  <a:t>③</a:t>
                </a:r>
                <a:r>
                  <a:rPr lang="en-US" altLang="zh-CN" sz="1200">
                    <a:latin typeface="微软雅黑" panose="020B0503020204020204" charset="-122"/>
                    <a:ea typeface="微软雅黑" panose="020B0503020204020204" charset="-122"/>
                  </a:rPr>
                  <a:t> </a:t>
                </a:r>
                <a14:m>
                  <m:oMath xmlns:m="http://schemas.openxmlformats.org/officeDocument/2006/math">
                    <m:sSub>
                      <m:sSubPr>
                        <m:ctrlPr>
                          <a:rPr lang="en-US" altLang="zh-CN" sz="1200" i="1">
                            <a:latin typeface="Cambria Math" panose="02040503050406030204" charset="0"/>
                            <a:ea typeface="微软雅黑" panose="020B0503020204020204" charset="-122"/>
                            <a:cs typeface="Cambria Math" panose="02040503050406030204" charset="0"/>
                          </a:rPr>
                        </m:ctrlPr>
                      </m:sSubPr>
                      <m:e>
                        <m:r>
                          <a:rPr lang="en-US" altLang="zh-CN" sz="1200" i="1">
                            <a:latin typeface="Cambria Math" panose="02040503050406030204" charset="0"/>
                            <a:ea typeface="微软雅黑" panose="020B0503020204020204" charset="-122"/>
                            <a:cs typeface="Cambria Math" panose="02040503050406030204" charset="0"/>
                          </a:rPr>
                          <m:t>𝑋</m:t>
                        </m:r>
                      </m:e>
                      <m:sub>
                        <m:r>
                          <a:rPr lang="en-US" altLang="zh-CN" sz="1200" i="1">
                            <a:latin typeface="Cambria Math" panose="02040503050406030204" charset="0"/>
                            <a:ea typeface="微软雅黑" panose="020B0503020204020204" charset="-122"/>
                            <a:cs typeface="Cambria Math" panose="02040503050406030204" charset="0"/>
                          </a:rPr>
                          <m:t>𝑗</m:t>
                        </m:r>
                      </m:sub>
                    </m:sSub>
                    <m:r>
                      <a:rPr lang="en-US" altLang="zh-CN" sz="1200" i="1">
                        <a:latin typeface="Cambria Math" panose="02040503050406030204" charset="0"/>
                        <a:ea typeface="微软雅黑" panose="020B0503020204020204" charset="-122"/>
                        <a:cs typeface="Cambria Math" panose="02040503050406030204" charset="0"/>
                      </a:rPr>
                      <m:t>=</m:t>
                    </m:r>
                    <m:sSubSup>
                      <m:sSubSupPr>
                        <m:ctrlPr>
                          <a:rPr lang="en-US" altLang="zh-CN" sz="1200" i="1">
                            <a:latin typeface="Cambria Math" panose="02040503050406030204" charset="0"/>
                            <a:ea typeface="微软雅黑" panose="020B0503020204020204" charset="-122"/>
                            <a:cs typeface="Cambria Math" panose="02040503050406030204" charset="0"/>
                          </a:rPr>
                        </m:ctrlPr>
                      </m:sSubSupPr>
                      <m:e>
                        <m:r>
                          <a:rPr lang="en-US" altLang="zh-CN" sz="1200" i="1">
                            <a:latin typeface="Cambria Math" panose="02040503050406030204" charset="0"/>
                            <a:ea typeface="微软雅黑" panose="020B0503020204020204" charset="-122"/>
                            <a:cs typeface="Cambria Math" panose="02040503050406030204" charset="0"/>
                          </a:rPr>
                          <m:t>𝐹</m:t>
                        </m:r>
                      </m:e>
                      <m:sub>
                        <m:r>
                          <a:rPr lang="en-US" altLang="zh-CN" sz="1200" i="1">
                            <a:latin typeface="Cambria Math" panose="02040503050406030204" charset="0"/>
                            <a:ea typeface="微软雅黑" panose="020B0503020204020204" charset="-122"/>
                            <a:cs typeface="Cambria Math" panose="02040503050406030204" charset="0"/>
                          </a:rPr>
                          <m:t>𝑗</m:t>
                        </m:r>
                      </m:sub>
                      <m:sup>
                        <m:r>
                          <a:rPr lang="en-US" altLang="zh-CN" sz="1200" i="1">
                            <a:latin typeface="Cambria Math" panose="02040503050406030204" charset="0"/>
                            <a:ea typeface="微软雅黑" panose="020B0503020204020204" charset="-122"/>
                            <a:cs typeface="Cambria Math" panose="02040503050406030204" charset="0"/>
                          </a:rPr>
                          <m:t>−</m:t>
                        </m:r>
                        <m:r>
                          <a:rPr lang="en-US" altLang="zh-CN" sz="1200" i="1">
                            <a:latin typeface="Cambria Math" panose="02040503050406030204" charset="0"/>
                            <a:ea typeface="微软雅黑" panose="020B0503020204020204" charset="-122"/>
                            <a:cs typeface="Cambria Math" panose="02040503050406030204" charset="0"/>
                          </a:rPr>
                          <m:t>1</m:t>
                        </m:r>
                      </m:sup>
                    </m:sSubSup>
                    <m:d>
                      <m:dPr>
                        <m:ctrlPr>
                          <a:rPr lang="en-US" altLang="zh-CN" sz="1200" i="1">
                            <a:latin typeface="Cambria Math" panose="02040503050406030204" charset="0"/>
                            <a:ea typeface="微软雅黑" panose="020B0503020204020204" charset="-122"/>
                            <a:cs typeface="Cambria Math" panose="02040503050406030204" charset="0"/>
                          </a:rPr>
                        </m:ctrlPr>
                      </m:dPr>
                      <m:e>
                        <m:sSubSup>
                          <m:sSubSupPr>
                            <m:ctrlPr>
                              <a:rPr lang="en-US" altLang="zh-CN" sz="1200" i="1">
                                <a:latin typeface="Cambria Math" panose="02040503050406030204" charset="0"/>
                                <a:ea typeface="微软雅黑" panose="020B0503020204020204" charset="-122"/>
                                <a:cs typeface="Cambria Math" panose="02040503050406030204" charset="0"/>
                              </a:rPr>
                            </m:ctrlPr>
                          </m:sSubSupPr>
                          <m:e>
                            <m:r>
                              <a:rPr lang="en-US" altLang="zh-CN" sz="1200" i="1">
                                <a:latin typeface="Cambria Math" panose="02040503050406030204" charset="0"/>
                                <a:ea typeface="微软雅黑" panose="020B0503020204020204" charset="-122"/>
                                <a:cs typeface="Cambria Math" panose="02040503050406030204" charset="0"/>
                              </a:rPr>
                              <m:t>𝑥</m:t>
                            </m:r>
                          </m:e>
                          <m:sub>
                            <m:r>
                              <a:rPr lang="en-US" altLang="zh-CN" sz="1200" i="1">
                                <a:latin typeface="Cambria Math" panose="02040503050406030204" charset="0"/>
                                <a:ea typeface="微软雅黑" panose="020B0503020204020204" charset="-122"/>
                                <a:cs typeface="Cambria Math" panose="02040503050406030204" charset="0"/>
                              </a:rPr>
                              <m:t>𝑛</m:t>
                            </m:r>
                          </m:sub>
                          <m:sup>
                            <m:d>
                              <m:dPr>
                                <m:ctrlPr>
                                  <a:rPr lang="en-US" altLang="zh-CN" sz="1200" i="1">
                                    <a:latin typeface="Cambria Math" panose="02040503050406030204" charset="0"/>
                                    <a:ea typeface="微软雅黑" panose="020B0503020204020204" charset="-122"/>
                                    <a:cs typeface="Cambria Math" panose="02040503050406030204" charset="0"/>
                                  </a:rPr>
                                </m:ctrlPr>
                              </m:dPr>
                              <m:e>
                                <m:r>
                                  <a:rPr lang="en-US" altLang="zh-CN" sz="1200" i="1">
                                    <a:latin typeface="Cambria Math" panose="02040503050406030204" charset="0"/>
                                    <a:ea typeface="微软雅黑" panose="020B0503020204020204" charset="-122"/>
                                    <a:cs typeface="Cambria Math" panose="02040503050406030204" charset="0"/>
                                  </a:rPr>
                                  <m:t>𝑗</m:t>
                                </m:r>
                              </m:e>
                            </m:d>
                          </m:sup>
                        </m:sSubSup>
                      </m:e>
                    </m:d>
                  </m:oMath>
                </a14:m>
                <a:endParaRPr lang="zh-CN" altLang="en-US" sz="1200">
                  <a:latin typeface="微软雅黑" panose="020B0503020204020204" charset="-122"/>
                  <a:ea typeface="微软雅黑" panose="020B0503020204020204" charset="-122"/>
                </a:endParaRPr>
              </a:p>
            </p:txBody>
          </p:sp>
        </mc:Choice>
        <mc:Fallback>
          <p:sp>
            <p:nvSpPr>
              <p:cNvPr id="185" name="文本框 184"/>
              <p:cNvSpPr txBox="1">
                <a:spLocks noRot="1" noChangeAspect="1" noMove="1" noResize="1" noEditPoints="1" noAdjustHandles="1" noChangeArrowheads="1" noChangeShapeType="1" noTextEdit="1"/>
              </p:cNvSpPr>
              <p:nvPr/>
            </p:nvSpPr>
            <p:spPr>
              <a:xfrm>
                <a:off x="5429885" y="3781425"/>
                <a:ext cx="1482725" cy="432435"/>
              </a:xfrm>
              <a:prstGeom prst="rect">
                <a:avLst/>
              </a:prstGeom>
              <a:blipFill rotWithShape="1">
                <a:blip r:embed="rId12"/>
                <a:stretch>
                  <a:fillRect/>
                </a:stretch>
              </a:blipFill>
            </p:spPr>
            <p:txBody>
              <a:bodyPr/>
              <a:lstStyle/>
              <a:p>
                <a:r>
                  <a:rPr lang="zh-CN" altLang="en-US">
                    <a:noFill/>
                  </a:rPr>
                  <a:t> </a:t>
                </a:r>
              </a:p>
            </p:txBody>
          </p:sp>
        </mc:Fallback>
      </mc:AlternateContent>
      <p:pic>
        <p:nvPicPr>
          <p:cNvPr id="191" name="图片 190" descr="屏幕截图 2026-09-03 160550"/>
          <p:cNvPicPr>
            <a:picLocks noChangeAspect="1"/>
          </p:cNvPicPr>
          <p:nvPr/>
        </p:nvPicPr>
        <p:blipFill>
          <a:blip r:embed="rId13"/>
          <a:stretch>
            <a:fillRect/>
          </a:stretch>
        </p:blipFill>
        <p:spPr>
          <a:xfrm>
            <a:off x="9388475" y="2329180"/>
            <a:ext cx="1566545" cy="1150620"/>
          </a:xfrm>
          <a:prstGeom prst="rect">
            <a:avLst/>
          </a:prstGeom>
        </p:spPr>
      </p:pic>
      <p:pic>
        <p:nvPicPr>
          <p:cNvPr id="192" name="图片 191" descr="屏幕截图 2026-09-03 164614"/>
          <p:cNvPicPr>
            <a:picLocks noChangeAspect="1"/>
          </p:cNvPicPr>
          <p:nvPr/>
        </p:nvPicPr>
        <p:blipFill>
          <a:blip r:embed="rId14"/>
          <a:stretch>
            <a:fillRect/>
          </a:stretch>
        </p:blipFill>
        <p:spPr>
          <a:xfrm>
            <a:off x="9268460" y="3677920"/>
            <a:ext cx="1806575" cy="1032510"/>
          </a:xfrm>
          <a:prstGeom prst="rect">
            <a:avLst/>
          </a:prstGeom>
        </p:spPr>
      </p:pic>
      <p:pic>
        <p:nvPicPr>
          <p:cNvPr id="193" name="图片 192" descr="屏幕截图 2026-09-03 165907"/>
          <p:cNvPicPr>
            <a:picLocks noChangeAspect="1"/>
          </p:cNvPicPr>
          <p:nvPr/>
        </p:nvPicPr>
        <p:blipFill>
          <a:blip r:embed="rId15"/>
          <a:stretch>
            <a:fillRect/>
          </a:stretch>
        </p:blipFill>
        <p:spPr>
          <a:xfrm>
            <a:off x="3711575" y="2647950"/>
            <a:ext cx="1718310" cy="1692275"/>
          </a:xfrm>
          <a:prstGeom prst="rect">
            <a:avLst/>
          </a:prstGeom>
        </p:spPr>
      </p:pic>
      <p:sp>
        <p:nvSpPr>
          <p:cNvPr id="322" name="textbox 322"/>
          <p:cNvSpPr/>
          <p:nvPr/>
        </p:nvSpPr>
        <p:spPr>
          <a:xfrm>
            <a:off x="1374134" y="503991"/>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680" name="picture 680"/>
          <p:cNvPicPr>
            <a:picLocks noChangeAspect="1"/>
          </p:cNvPicPr>
          <p:nvPr/>
        </p:nvPicPr>
        <p:blipFill>
          <a:blip r:embed="rId16"/>
          <a:stretch>
            <a:fillRect/>
          </a:stretch>
        </p:blipFill>
        <p:spPr>
          <a:xfrm rot="21600000">
            <a:off x="1157264" y="1322700"/>
            <a:ext cx="217139" cy="217206"/>
          </a:xfrm>
          <a:prstGeom prst="rect">
            <a:avLst/>
          </a:prstGeom>
        </p:spPr>
      </p:pic>
      <p:sp>
        <p:nvSpPr>
          <p:cNvPr id="10" name="椭圆 9"/>
          <p:cNvSpPr/>
          <p:nvPr/>
        </p:nvSpPr>
        <p:spPr>
          <a:xfrm>
            <a:off x="639445" y="39116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cxnSp>
        <p:nvCxnSpPr>
          <p:cNvPr id="11" name="直接连接符 10"/>
          <p:cNvCxnSpPr/>
          <p:nvPr/>
        </p:nvCxnSpPr>
        <p:spPr>
          <a:xfrm flipV="1">
            <a:off x="1395095" y="1003300"/>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24" name="文本框 23"/>
          <p:cNvSpPr txBox="1"/>
          <p:nvPr/>
        </p:nvSpPr>
        <p:spPr>
          <a:xfrm>
            <a:off x="1492250" y="1197610"/>
            <a:ext cx="10490200" cy="445135"/>
          </a:xfrm>
          <a:prstGeom prst="rect">
            <a:avLst/>
          </a:prstGeom>
          <a:noFill/>
        </p:spPr>
        <p:txBody>
          <a:bodyPr wrap="square" rtlCol="0">
            <a:spAutoFit/>
          </a:bodyPr>
          <a:p>
            <a:r>
              <a:rPr lang="zh-CN" altLang="en-US" sz="2300" b="1">
                <a:solidFill>
                  <a:srgbClr val="2F5597"/>
                </a:solidFill>
                <a:latin typeface="微软雅黑" panose="020B0503020204020204" charset="-122"/>
                <a:ea typeface="微软雅黑" panose="020B0503020204020204" charset="-122"/>
              </a:rPr>
              <a:t>基于中保真度力学模型，对风电机组在极端风速条件下的动力可靠度进行分析</a:t>
            </a:r>
            <a:endParaRPr lang="zh-CN" altLang="en-US" sz="2300" b="1">
              <a:solidFill>
                <a:srgbClr val="2F5597"/>
              </a:solidFill>
              <a:latin typeface="微软雅黑" panose="020B0503020204020204" charset="-122"/>
              <a:ea typeface="微软雅黑" panose="020B0503020204020204" charset="-122"/>
            </a:endParaRPr>
          </a:p>
        </p:txBody>
      </p:sp>
      <p:sp>
        <p:nvSpPr>
          <p:cNvPr id="13" name="文本框 12"/>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52/68</a:t>
            </a:r>
            <a:endParaRPr lang="en-US" altLang="zh-CN">
              <a:latin typeface="微软雅黑" panose="020B0503020204020204" charset="-122"/>
              <a:ea typeface="微软雅黑" panose="020B0503020204020204" charset="-122"/>
            </a:endParaRPr>
          </a:p>
        </p:txBody>
      </p:sp>
      <p:sp>
        <p:nvSpPr>
          <p:cNvPr id="6" name="文本框 5"/>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 name="图片 30" descr="屏幕截图 2026-09-03 173625"/>
          <p:cNvPicPr>
            <a:picLocks noChangeAspect="1"/>
          </p:cNvPicPr>
          <p:nvPr/>
        </p:nvPicPr>
        <p:blipFill>
          <a:blip r:embed="rId1"/>
          <a:stretch>
            <a:fillRect/>
          </a:stretch>
        </p:blipFill>
        <p:spPr>
          <a:xfrm>
            <a:off x="901065" y="2225675"/>
            <a:ext cx="3643630" cy="1835785"/>
          </a:xfrm>
          <a:prstGeom prst="rect">
            <a:avLst/>
          </a:prstGeom>
        </p:spPr>
      </p:pic>
      <p:cxnSp>
        <p:nvCxnSpPr>
          <p:cNvPr id="5" name="直接连接符 4"/>
          <p:cNvCxnSpPr/>
          <p:nvPr/>
        </p:nvCxnSpPr>
        <p:spPr>
          <a:xfrm flipV="1">
            <a:off x="1598295" y="1572895"/>
            <a:ext cx="9782810" cy="20955"/>
          </a:xfrm>
          <a:prstGeom prst="line">
            <a:avLst/>
          </a:prstGeom>
          <a:ln>
            <a:solidFill>
              <a:schemeClr val="accent1">
                <a:lumMod val="75000"/>
              </a:schemeClr>
            </a:solidFill>
          </a:ln>
        </p:spPr>
        <p:style>
          <a:lnRef idx="2">
            <a:schemeClr val="accent1"/>
          </a:lnRef>
          <a:fillRef idx="0">
            <a:srgbClr val="FFFFFF"/>
          </a:fillRef>
          <a:effectRef idx="0">
            <a:srgbClr val="FFFFFF"/>
          </a:effectRef>
          <a:fontRef idx="minor">
            <a:schemeClr val="tx1"/>
          </a:fontRef>
        </p:style>
      </p:cxnSp>
      <p:grpSp>
        <p:nvGrpSpPr>
          <p:cNvPr id="30" name="组合 29"/>
          <p:cNvGrpSpPr/>
          <p:nvPr/>
        </p:nvGrpSpPr>
        <p:grpSpPr>
          <a:xfrm>
            <a:off x="974725" y="4091940"/>
            <a:ext cx="3704590" cy="2499995"/>
            <a:chOff x="1618" y="3609"/>
            <a:chExt cx="6626" cy="6067"/>
          </a:xfrm>
        </p:grpSpPr>
        <p:cxnSp>
          <p:nvCxnSpPr>
            <p:cNvPr id="10" name="直接连接符 9"/>
            <p:cNvCxnSpPr/>
            <p:nvPr/>
          </p:nvCxnSpPr>
          <p:spPr>
            <a:xfrm>
              <a:off x="1618" y="3609"/>
              <a:ext cx="0" cy="5951"/>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 name="直接连接符 10"/>
            <p:cNvCxnSpPr/>
            <p:nvPr/>
          </p:nvCxnSpPr>
          <p:spPr>
            <a:xfrm>
              <a:off x="8244" y="3642"/>
              <a:ext cx="0" cy="5966"/>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直接连接符 11"/>
            <p:cNvCxnSpPr/>
            <p:nvPr/>
          </p:nvCxnSpPr>
          <p:spPr>
            <a:xfrm>
              <a:off x="1695" y="3609"/>
              <a:ext cx="6455" cy="0"/>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3" name="直接连接符 12"/>
            <p:cNvCxnSpPr/>
            <p:nvPr/>
          </p:nvCxnSpPr>
          <p:spPr>
            <a:xfrm>
              <a:off x="1695" y="9676"/>
              <a:ext cx="6535" cy="0"/>
            </a:xfrm>
            <a:prstGeom prst="line">
              <a:avLst/>
            </a:prstGeom>
            <a:ln w="190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sp>
          <p:nvSpPr>
            <p:cNvPr id="15" name="椭圆 14"/>
            <p:cNvSpPr/>
            <p:nvPr/>
          </p:nvSpPr>
          <p:spPr>
            <a:xfrm>
              <a:off x="1800" y="4315"/>
              <a:ext cx="195" cy="22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1883" y="7624"/>
              <a:ext cx="195" cy="227"/>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2073" y="3714"/>
              <a:ext cx="6171" cy="3247"/>
            </a:xfrm>
            <a:prstGeom prst="rect">
              <a:avLst/>
            </a:prstGeom>
            <a:noFill/>
          </p:spPr>
          <p:txBody>
            <a:bodyPr wrap="square" rtlCol="0">
              <a:spAutoFit/>
            </a:bodyPr>
            <a:p>
              <a:pPr indent="0" fontAlgn="auto">
                <a:lnSpc>
                  <a:spcPct val="150000"/>
                </a:lnSpc>
              </a:pPr>
              <a:r>
                <a:rPr lang="zh-CN" altLang="en-US" b="1"/>
                <a:t>钢塔段最大的压应力和拉应力均出现在与过渡段连接的位置，</a:t>
              </a:r>
              <a:r>
                <a:rPr lang="zh-CN" altLang="en-US" b="1">
                  <a:solidFill>
                    <a:schemeClr val="accent1">
                      <a:lumMod val="75000"/>
                    </a:schemeClr>
                  </a:solidFill>
                  <a:sym typeface="+mn-ea"/>
                </a:rPr>
                <a:t>应力水平远低于钢材的屈服强度。</a:t>
              </a:r>
              <a:endParaRPr lang="zh-CN" altLang="en-US" b="1">
                <a:solidFill>
                  <a:schemeClr val="accent1">
                    <a:lumMod val="75000"/>
                  </a:schemeClr>
                </a:solidFill>
                <a:sym typeface="+mn-ea"/>
              </a:endParaRPr>
            </a:p>
          </p:txBody>
        </p:sp>
        <p:sp>
          <p:nvSpPr>
            <p:cNvPr id="23" name="文本框 22"/>
            <p:cNvSpPr txBox="1"/>
            <p:nvPr/>
          </p:nvSpPr>
          <p:spPr>
            <a:xfrm>
              <a:off x="2183" y="6961"/>
              <a:ext cx="5657" cy="1930"/>
            </a:xfrm>
            <a:prstGeom prst="rect">
              <a:avLst/>
            </a:prstGeom>
            <a:noFill/>
          </p:spPr>
          <p:txBody>
            <a:bodyPr wrap="square" rtlCol="0">
              <a:noAutofit/>
            </a:bodyPr>
            <a:p>
              <a:pPr indent="0" fontAlgn="auto">
                <a:lnSpc>
                  <a:spcPct val="150000"/>
                </a:lnSpc>
              </a:pPr>
              <a:r>
                <a:rPr lang="zh-CN" altLang="en-US" b="1"/>
                <a:t>钢塔段的水平位移角为混凝土的</a:t>
              </a:r>
              <a:r>
                <a:rPr lang="en-US" altLang="zh-CN" b="1">
                  <a:solidFill>
                    <a:srgbClr val="FF0000"/>
                  </a:solidFill>
                </a:rPr>
                <a:t>2.64</a:t>
              </a:r>
              <a:r>
                <a:rPr lang="zh-CN" altLang="en-US" b="1">
                  <a:solidFill>
                    <a:srgbClr val="FF0000"/>
                  </a:solidFill>
                </a:rPr>
                <a:t>倍</a:t>
              </a:r>
              <a:r>
                <a:rPr lang="zh-CN" altLang="en-US" b="1"/>
                <a:t>。</a:t>
              </a:r>
              <a:endParaRPr lang="zh-CN" altLang="en-US" b="1">
                <a:solidFill>
                  <a:schemeClr val="accent1">
                    <a:lumMod val="75000"/>
                  </a:schemeClr>
                </a:solidFill>
              </a:endParaRPr>
            </a:p>
          </p:txBody>
        </p:sp>
      </p:grpSp>
      <p:sp>
        <p:nvSpPr>
          <p:cNvPr id="36" name="文本框 35"/>
          <p:cNvSpPr txBox="1"/>
          <p:nvPr/>
        </p:nvSpPr>
        <p:spPr>
          <a:xfrm>
            <a:off x="5563870" y="1777365"/>
            <a:ext cx="2054860" cy="922020"/>
          </a:xfrm>
          <a:prstGeom prst="rect">
            <a:avLst/>
          </a:prstGeom>
          <a:noFill/>
        </p:spPr>
        <p:txBody>
          <a:bodyPr wrap="square" rtlCol="0">
            <a:spAutoFit/>
          </a:bodyPr>
          <a:p>
            <a:pPr algn="ctr"/>
            <a:r>
              <a:rPr lang="zh-CN" altLang="en-US"/>
              <a:t>塔顶水平位移达到最大值时</a:t>
            </a:r>
            <a:r>
              <a:rPr lang="zh-CN" altLang="en-US">
                <a:solidFill>
                  <a:schemeClr val="accent1">
                    <a:lumMod val="75000"/>
                  </a:schemeClr>
                </a:solidFill>
                <a:sym typeface="+mn-ea"/>
              </a:rPr>
              <a:t>塔节应力分布</a:t>
            </a:r>
            <a:endParaRPr lang="zh-CN" altLang="en-US">
              <a:solidFill>
                <a:schemeClr val="accent1">
                  <a:lumMod val="75000"/>
                </a:schemeClr>
              </a:solidFill>
              <a:sym typeface="+mn-ea"/>
            </a:endParaRPr>
          </a:p>
        </p:txBody>
      </p:sp>
      <p:pic>
        <p:nvPicPr>
          <p:cNvPr id="41" name="图片 40" descr="生成图片提示词"/>
          <p:cNvPicPr>
            <a:picLocks noChangeAspect="1"/>
          </p:cNvPicPr>
          <p:nvPr/>
        </p:nvPicPr>
        <p:blipFill>
          <a:blip r:embed="rId2"/>
          <a:stretch>
            <a:fillRect/>
          </a:stretch>
        </p:blipFill>
        <p:spPr>
          <a:xfrm>
            <a:off x="8068310" y="2101850"/>
            <a:ext cx="3677285" cy="3728085"/>
          </a:xfrm>
          <a:prstGeom prst="rect">
            <a:avLst/>
          </a:prstGeom>
        </p:spPr>
      </p:pic>
      <p:sp>
        <p:nvSpPr>
          <p:cNvPr id="43" name="文本框 42"/>
          <p:cNvSpPr txBox="1"/>
          <p:nvPr/>
        </p:nvSpPr>
        <p:spPr>
          <a:xfrm>
            <a:off x="8921750" y="6103620"/>
            <a:ext cx="1567180" cy="306705"/>
          </a:xfrm>
          <a:prstGeom prst="rect">
            <a:avLst/>
          </a:prstGeom>
          <a:noFill/>
        </p:spPr>
        <p:txBody>
          <a:bodyPr wrap="square" rtlCol="0">
            <a:spAutoFit/>
          </a:bodyPr>
          <a:p>
            <a:r>
              <a:rPr lang="zh-CN" altLang="en-US" sz="1400"/>
              <a:t>塔节水平位移</a:t>
            </a:r>
            <a:endParaRPr lang="zh-CN" altLang="en-US" sz="1400"/>
          </a:p>
        </p:txBody>
      </p:sp>
      <p:sp>
        <p:nvSpPr>
          <p:cNvPr id="44" name="文本框 43"/>
          <p:cNvSpPr txBox="1"/>
          <p:nvPr/>
        </p:nvSpPr>
        <p:spPr>
          <a:xfrm>
            <a:off x="5318125" y="5904865"/>
            <a:ext cx="2808605" cy="737235"/>
          </a:xfrm>
          <a:prstGeom prst="rect">
            <a:avLst/>
          </a:prstGeom>
          <a:noFill/>
        </p:spPr>
        <p:txBody>
          <a:bodyPr wrap="square" rtlCol="0">
            <a:spAutoFit/>
          </a:bodyPr>
          <a:p>
            <a:r>
              <a:rPr lang="zh-CN" altLang="en-US" sz="1400"/>
              <a:t>注</a:t>
            </a:r>
            <a:r>
              <a:rPr lang="en-US" altLang="zh-CN" sz="1400"/>
              <a:t>:</a:t>
            </a:r>
            <a:r>
              <a:rPr lang="zh-CN" altLang="en-US" sz="1400"/>
              <a:t>图中实线代表塔架背风侧，虚线代表塔架迎风侧；应力正值表示压应力，负值表示拉应力</a:t>
            </a:r>
            <a:endParaRPr lang="zh-CN" altLang="en-US" sz="1400"/>
          </a:p>
        </p:txBody>
      </p:sp>
      <p:pic>
        <p:nvPicPr>
          <p:cNvPr id="46" name="图片 45" descr="屏幕截图 2026-09-03 175315"/>
          <p:cNvPicPr>
            <a:picLocks noChangeAspect="1"/>
          </p:cNvPicPr>
          <p:nvPr/>
        </p:nvPicPr>
        <p:blipFill>
          <a:blip r:embed="rId3"/>
          <a:stretch>
            <a:fillRect/>
          </a:stretch>
        </p:blipFill>
        <p:spPr>
          <a:xfrm>
            <a:off x="5123815" y="2699385"/>
            <a:ext cx="2731135" cy="3205480"/>
          </a:xfrm>
          <a:prstGeom prst="rect">
            <a:avLst/>
          </a:prstGeom>
        </p:spPr>
      </p:pic>
      <p:pic>
        <p:nvPicPr>
          <p:cNvPr id="4" name="图片 3" descr="屏幕截图 2026-09-03 211227"/>
          <p:cNvPicPr>
            <a:picLocks noChangeAspect="1"/>
          </p:cNvPicPr>
          <p:nvPr/>
        </p:nvPicPr>
        <p:blipFill>
          <a:blip r:embed="rId4"/>
          <a:stretch>
            <a:fillRect/>
          </a:stretch>
        </p:blipFill>
        <p:spPr>
          <a:xfrm>
            <a:off x="4096385" y="1787525"/>
            <a:ext cx="1356360" cy="769620"/>
          </a:xfrm>
          <a:prstGeom prst="rect">
            <a:avLst/>
          </a:prstGeom>
        </p:spPr>
      </p:pic>
      <p:sp>
        <p:nvSpPr>
          <p:cNvPr id="32" name="文本框 31"/>
          <p:cNvSpPr txBox="1"/>
          <p:nvPr/>
        </p:nvSpPr>
        <p:spPr>
          <a:xfrm>
            <a:off x="3059430" y="1733550"/>
            <a:ext cx="1567180" cy="368300"/>
          </a:xfrm>
          <a:prstGeom prst="rect">
            <a:avLst/>
          </a:prstGeom>
          <a:noFill/>
        </p:spPr>
        <p:txBody>
          <a:bodyPr wrap="square" rtlCol="0">
            <a:spAutoFit/>
          </a:bodyPr>
          <a:p>
            <a:r>
              <a:rPr lang="zh-CN" altLang="en-US"/>
              <a:t>典型时程曲线</a:t>
            </a:r>
            <a:endParaRPr lang="zh-CN" altLang="en-US"/>
          </a:p>
        </p:txBody>
      </p:sp>
      <p:sp>
        <p:nvSpPr>
          <p:cNvPr id="322" name="textbox 322"/>
          <p:cNvSpPr/>
          <p:nvPr/>
        </p:nvSpPr>
        <p:spPr>
          <a:xfrm>
            <a:off x="1374134" y="498276"/>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680" name="picture 680"/>
          <p:cNvPicPr>
            <a:picLocks noChangeAspect="1"/>
          </p:cNvPicPr>
          <p:nvPr/>
        </p:nvPicPr>
        <p:blipFill>
          <a:blip r:embed="rId5"/>
          <a:stretch>
            <a:fillRect/>
          </a:stretch>
        </p:blipFill>
        <p:spPr>
          <a:xfrm rot="21600000">
            <a:off x="1157264" y="1239515"/>
            <a:ext cx="217139" cy="217206"/>
          </a:xfrm>
          <a:prstGeom prst="rect">
            <a:avLst/>
          </a:prstGeom>
        </p:spPr>
      </p:pic>
      <p:sp>
        <p:nvSpPr>
          <p:cNvPr id="6" name="椭圆 5"/>
          <p:cNvSpPr/>
          <p:nvPr/>
        </p:nvSpPr>
        <p:spPr>
          <a:xfrm>
            <a:off x="629285" y="385445"/>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cxnSp>
        <p:nvCxnSpPr>
          <p:cNvPr id="7" name="直接连接符 6"/>
          <p:cNvCxnSpPr/>
          <p:nvPr/>
        </p:nvCxnSpPr>
        <p:spPr>
          <a:xfrm flipV="1">
            <a:off x="1395095" y="1003300"/>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24" name="文本框 23"/>
          <p:cNvSpPr txBox="1"/>
          <p:nvPr/>
        </p:nvSpPr>
        <p:spPr>
          <a:xfrm>
            <a:off x="1492250" y="1114425"/>
            <a:ext cx="10490200" cy="445135"/>
          </a:xfrm>
          <a:prstGeom prst="rect">
            <a:avLst/>
          </a:prstGeom>
          <a:noFill/>
        </p:spPr>
        <p:txBody>
          <a:bodyPr wrap="square" rtlCol="0">
            <a:spAutoFit/>
          </a:bodyPr>
          <a:p>
            <a:r>
              <a:rPr lang="zh-CN" altLang="en-US" sz="2300" b="1">
                <a:solidFill>
                  <a:srgbClr val="2F5597"/>
                </a:solidFill>
                <a:latin typeface="微软雅黑" panose="020B0503020204020204" charset="-122"/>
                <a:ea typeface="微软雅黑" panose="020B0503020204020204" charset="-122"/>
              </a:rPr>
              <a:t>基于中保真度力学模型，对风电机组在极端风速条件下的动力可靠度进行分析</a:t>
            </a:r>
            <a:endParaRPr lang="zh-CN" altLang="en-US" sz="2300" b="1">
              <a:solidFill>
                <a:srgbClr val="2F5597"/>
              </a:solidFill>
              <a:latin typeface="微软雅黑" panose="020B0503020204020204" charset="-122"/>
              <a:ea typeface="微软雅黑" panose="020B0503020204020204" charset="-122"/>
            </a:endParaRPr>
          </a:p>
        </p:txBody>
      </p:sp>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53/68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43405" y="1708150"/>
            <a:ext cx="4064000" cy="368300"/>
          </a:xfrm>
          <a:prstGeom prst="rect">
            <a:avLst/>
          </a:prstGeom>
          <a:noFill/>
        </p:spPr>
        <p:txBody>
          <a:bodyPr wrap="square" rtlCol="0">
            <a:spAutoFit/>
          </a:bodyPr>
          <a:p>
            <a:endParaRPr lang="zh-CN" altLang="en-US"/>
          </a:p>
        </p:txBody>
      </p:sp>
      <p:sp>
        <p:nvSpPr>
          <p:cNvPr id="322" name="textbox 322"/>
          <p:cNvSpPr/>
          <p:nvPr/>
        </p:nvSpPr>
        <p:spPr>
          <a:xfrm>
            <a:off x="1332224" y="509706"/>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680" name="picture 680"/>
          <p:cNvPicPr>
            <a:picLocks noChangeAspect="1"/>
          </p:cNvPicPr>
          <p:nvPr/>
        </p:nvPicPr>
        <p:blipFill>
          <a:blip r:embed="rId1"/>
          <a:stretch>
            <a:fillRect/>
          </a:stretch>
        </p:blipFill>
        <p:spPr>
          <a:xfrm rot="21600000">
            <a:off x="1157264" y="1261105"/>
            <a:ext cx="217139" cy="217206"/>
          </a:xfrm>
          <a:prstGeom prst="rect">
            <a:avLst/>
          </a:prstGeom>
        </p:spPr>
      </p:pic>
      <p:sp>
        <p:nvSpPr>
          <p:cNvPr id="5" name="椭圆 4"/>
          <p:cNvSpPr/>
          <p:nvPr/>
        </p:nvSpPr>
        <p:spPr>
          <a:xfrm>
            <a:off x="629285" y="38227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cxnSp>
        <p:nvCxnSpPr>
          <p:cNvPr id="6" name="直接连接符 5"/>
          <p:cNvCxnSpPr/>
          <p:nvPr/>
        </p:nvCxnSpPr>
        <p:spPr>
          <a:xfrm flipV="1">
            <a:off x="1395095" y="989965"/>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7" name="文本框 6"/>
          <p:cNvSpPr txBox="1"/>
          <p:nvPr/>
        </p:nvSpPr>
        <p:spPr>
          <a:xfrm>
            <a:off x="1492250" y="1136015"/>
            <a:ext cx="3550285" cy="445135"/>
          </a:xfrm>
          <a:prstGeom prst="rect">
            <a:avLst/>
          </a:prstGeom>
          <a:noFill/>
        </p:spPr>
        <p:txBody>
          <a:bodyPr wrap="square" rtlCol="0">
            <a:spAutoFit/>
          </a:bodyPr>
          <a:p>
            <a:r>
              <a:rPr lang="zh-CN" altLang="en-US" sz="2300" b="1">
                <a:solidFill>
                  <a:srgbClr val="2F5597"/>
                </a:solidFill>
                <a:latin typeface="微软雅黑" panose="020B0503020204020204" charset="-122"/>
                <a:ea typeface="微软雅黑" panose="020B0503020204020204" charset="-122"/>
              </a:rPr>
              <a:t>随机变量的识别与</a:t>
            </a:r>
            <a:r>
              <a:rPr lang="zh-CN" altLang="en-US" sz="2300" b="1">
                <a:solidFill>
                  <a:srgbClr val="2F5597"/>
                </a:solidFill>
                <a:latin typeface="微软雅黑" panose="020B0503020204020204" charset="-122"/>
                <a:ea typeface="微软雅黑" panose="020B0503020204020204" charset="-122"/>
              </a:rPr>
              <a:t>抽样</a:t>
            </a:r>
            <a:endParaRPr lang="zh-CN" altLang="en-US" sz="2300" b="1">
              <a:solidFill>
                <a:srgbClr val="2F5597"/>
              </a:solidFill>
              <a:latin typeface="微软雅黑" panose="020B0503020204020204" charset="-122"/>
              <a:ea typeface="微软雅黑" panose="020B0503020204020204" charset="-122"/>
            </a:endParaRPr>
          </a:p>
        </p:txBody>
      </p:sp>
      <p:sp>
        <p:nvSpPr>
          <p:cNvPr id="8" name="矩形 7"/>
          <p:cNvSpPr/>
          <p:nvPr/>
        </p:nvSpPr>
        <p:spPr>
          <a:xfrm>
            <a:off x="1104265" y="1793240"/>
            <a:ext cx="4991735" cy="4036060"/>
          </a:xfrm>
          <a:prstGeom prst="rect">
            <a:avLst/>
          </a:prstGeom>
          <a:noFill/>
          <a:ln w="19050">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239520" y="1772920"/>
            <a:ext cx="4719955" cy="3907790"/>
          </a:xfrm>
          <a:prstGeom prst="rect">
            <a:avLst/>
          </a:prstGeom>
          <a:noFill/>
        </p:spPr>
        <p:txBody>
          <a:bodyPr wrap="square" rtlCol="0">
            <a:spAutoFit/>
          </a:bodyPr>
          <a:p>
            <a:pPr marL="285750" indent="-285750" fontAlgn="auto">
              <a:lnSpc>
                <a:spcPct val="150000"/>
              </a:lnSpc>
              <a:spcBef>
                <a:spcPts val="600"/>
              </a:spcBef>
              <a:buFont typeface="Wingdings" panose="05000000000000000000" charset="0"/>
              <a:buChar char="l"/>
            </a:pPr>
            <a:r>
              <a:rPr lang="zh-CN" altLang="en-US">
                <a:latin typeface="微软雅黑" panose="020B0503020204020204" charset="-122"/>
                <a:ea typeface="微软雅黑" panose="020B0503020204020204" charset="-122"/>
                <a:cs typeface="微软雅黑" panose="020B0503020204020204" charset="-122"/>
              </a:rPr>
              <a:t>根据 </a:t>
            </a:r>
            <a:r>
              <a:rPr lang="en-US" altLang="zh-CN">
                <a:latin typeface="微软雅黑" panose="020B0503020204020204" charset="-122"/>
                <a:ea typeface="微软雅黑" panose="020B0503020204020204" charset="-122"/>
                <a:cs typeface="微软雅黑" panose="020B0503020204020204" charset="-122"/>
              </a:rPr>
              <a:t>IEC </a:t>
            </a:r>
            <a:r>
              <a:rPr lang="zh-CN" altLang="en-US">
                <a:latin typeface="微软雅黑" panose="020B0503020204020204" charset="-122"/>
                <a:ea typeface="微软雅黑" panose="020B0503020204020204" charset="-122"/>
                <a:cs typeface="微软雅黑" panose="020B0503020204020204" charset="-122"/>
              </a:rPr>
              <a:t>标准中对 </a:t>
            </a:r>
            <a:r>
              <a:rPr lang="en-US" altLang="en-US">
                <a:latin typeface="微软雅黑" panose="020B0503020204020204" charset="-122"/>
                <a:ea typeface="微软雅黑" panose="020B0503020204020204" charset="-122"/>
                <a:cs typeface="微软雅黑" panose="020B0503020204020204" charset="-122"/>
              </a:rPr>
              <a:t>Ⅰ </a:t>
            </a:r>
            <a:r>
              <a:rPr lang="zh-CN" altLang="en-US">
                <a:latin typeface="微软雅黑" panose="020B0503020204020204" charset="-122"/>
                <a:ea typeface="微软雅黑" panose="020B0503020204020204" charset="-122"/>
                <a:cs typeface="微软雅黑" panose="020B0503020204020204" charset="-122"/>
              </a:rPr>
              <a:t>类风电机组 50 年一遇极端风速模型的定义，设定轮毂处 10 </a:t>
            </a:r>
            <a:r>
              <a:rPr lang="en-US" altLang="zh-CN">
                <a:latin typeface="微软雅黑" panose="020B0503020204020204" charset="-122"/>
                <a:ea typeface="微软雅黑" panose="020B0503020204020204" charset="-122"/>
                <a:cs typeface="微软雅黑" panose="020B0503020204020204" charset="-122"/>
              </a:rPr>
              <a:t>min </a:t>
            </a:r>
            <a:r>
              <a:rPr lang="zh-CN" altLang="en-US">
                <a:latin typeface="微软雅黑" panose="020B0503020204020204" charset="-122"/>
                <a:ea typeface="微软雅黑" panose="020B0503020204020204" charset="-122"/>
                <a:cs typeface="微软雅黑" panose="020B0503020204020204" charset="-122"/>
              </a:rPr>
              <a:t>平均风速为 50 </a:t>
            </a:r>
            <a:r>
              <a:rPr lang="en-US" altLang="zh-CN">
                <a:latin typeface="微软雅黑" panose="020B0503020204020204" charset="-122"/>
                <a:ea typeface="微软雅黑" panose="020B0503020204020204" charset="-122"/>
                <a:cs typeface="微软雅黑" panose="020B0503020204020204" charset="-122"/>
              </a:rPr>
              <a:t>m/s，</a:t>
            </a:r>
            <a:r>
              <a:rPr lang="zh-CN" altLang="en-US">
                <a:latin typeface="微软雅黑" panose="020B0503020204020204" charset="-122"/>
                <a:ea typeface="微软雅黑" panose="020B0503020204020204" charset="-122"/>
                <a:cs typeface="微软雅黑" panose="020B0503020204020204" charset="-122"/>
              </a:rPr>
              <a:t>以此平均风速下的</a:t>
            </a:r>
            <a:r>
              <a:rPr lang="zh-CN" altLang="en-US" b="1">
                <a:solidFill>
                  <a:srgbClr val="2F5597"/>
                </a:solidFill>
                <a:latin typeface="微软雅黑" panose="020B0503020204020204" charset="-122"/>
                <a:ea typeface="微软雅黑" panose="020B0503020204020204" charset="-122"/>
                <a:cs typeface="微软雅黑" panose="020B0503020204020204" charset="-122"/>
              </a:rPr>
              <a:t>风场随机种子与混凝土弹性模量、混凝土密度、钢材弹性模量、钢材密度、预应力</a:t>
            </a:r>
            <a:r>
              <a:rPr lang="zh-CN" altLang="en-US">
                <a:latin typeface="微软雅黑" panose="020B0503020204020204" charset="-122"/>
                <a:ea typeface="微软雅黑" panose="020B0503020204020204" charset="-122"/>
                <a:cs typeface="微软雅黑" panose="020B0503020204020204" charset="-122"/>
              </a:rPr>
              <a:t>组成 6 维输入随机变量。</a:t>
            </a:r>
            <a:endParaRPr lang="zh-CN" altLang="en-US">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spcBef>
                <a:spcPts val="600"/>
              </a:spcBef>
              <a:buFont typeface="Wingdings" panose="05000000000000000000" charset="0"/>
              <a:buChar char="l"/>
            </a:pPr>
            <a:r>
              <a:rPr lang="zh-CN" altLang="en-US">
                <a:latin typeface="微软雅黑" panose="020B0503020204020204" charset="-122"/>
                <a:ea typeface="微软雅黑" panose="020B0503020204020204" charset="-122"/>
                <a:cs typeface="微软雅黑" panose="020B0503020204020204" charset="-122"/>
              </a:rPr>
              <a:t>为发挥 </a:t>
            </a:r>
            <a:r>
              <a:rPr lang="en-US" altLang="zh-CN">
                <a:latin typeface="微软雅黑" panose="020B0503020204020204" charset="-122"/>
                <a:ea typeface="微软雅黑" panose="020B0503020204020204" charset="-122"/>
                <a:cs typeface="微软雅黑" panose="020B0503020204020204" charset="-122"/>
              </a:rPr>
              <a:t>Sobol </a:t>
            </a:r>
            <a:r>
              <a:rPr lang="zh-CN" altLang="en-US">
                <a:latin typeface="微软雅黑" panose="020B0503020204020204" charset="-122"/>
                <a:ea typeface="微软雅黑" panose="020B0503020204020204" charset="-122"/>
                <a:cs typeface="微软雅黑" panose="020B0503020204020204" charset="-122"/>
              </a:rPr>
              <a:t>序列的均匀性优势，并参照谐波变换法对样本量规定，将</a:t>
            </a:r>
            <a:r>
              <a:rPr lang="zh-CN" altLang="en-US" b="1">
                <a:solidFill>
                  <a:srgbClr val="2F5597"/>
                </a:solidFill>
                <a:latin typeface="微软雅黑" panose="020B0503020204020204" charset="-122"/>
                <a:ea typeface="微软雅黑" panose="020B0503020204020204" charset="-122"/>
                <a:cs typeface="微软雅黑" panose="020B0503020204020204" charset="-122"/>
              </a:rPr>
              <a:t>总样本量设定为900</a:t>
            </a:r>
            <a:r>
              <a:rPr lang="zh-CN" altLang="en-US">
                <a:latin typeface="微软雅黑" panose="020B0503020204020204" charset="-122"/>
                <a:ea typeface="微软雅黑" panose="020B0503020204020204" charset="-122"/>
                <a:cs typeface="微软雅黑" panose="020B0503020204020204" charset="-122"/>
              </a:rPr>
              <a:t>，以兼顾分析的精度和效率。</a:t>
            </a:r>
            <a:endParaRPr lang="zh-CN" altLang="en-US">
              <a:latin typeface="微软雅黑" panose="020B0503020204020204" charset="-122"/>
              <a:ea typeface="微软雅黑" panose="020B0503020204020204" charset="-122"/>
              <a:cs typeface="微软雅黑" panose="020B0503020204020204" charset="-122"/>
            </a:endParaRPr>
          </a:p>
        </p:txBody>
      </p:sp>
      <p:graphicFrame>
        <p:nvGraphicFramePr>
          <p:cNvPr id="11" name="表格 10"/>
          <p:cNvGraphicFramePr/>
          <p:nvPr>
            <p:custDataLst>
              <p:tags r:id="rId2"/>
            </p:custDataLst>
          </p:nvPr>
        </p:nvGraphicFramePr>
        <p:xfrm>
          <a:off x="6450330" y="1793240"/>
          <a:ext cx="5295265" cy="4308475"/>
        </p:xfrm>
        <a:graphic>
          <a:graphicData uri="http://schemas.openxmlformats.org/drawingml/2006/table">
            <a:tbl>
              <a:tblPr firstRow="1" bandRow="1">
                <a:tableStyleId>{5C22544A-7EE6-4342-B048-85BDC9FD1C3A}</a:tableStyleId>
              </a:tblPr>
              <a:tblGrid>
                <a:gridCol w="1530350"/>
                <a:gridCol w="1561465"/>
                <a:gridCol w="1102360"/>
                <a:gridCol w="1101090"/>
              </a:tblGrid>
              <a:tr h="579120">
                <a:tc>
                  <a:txBody>
                    <a:bodyPr/>
                    <a:p>
                      <a:pPr algn="ctr">
                        <a:buNone/>
                      </a:pPr>
                      <a:r>
                        <a:rPr lang="zh-CN" altLang="en-US" sz="1600" b="1">
                          <a:latin typeface="微软雅黑" panose="020B0503020204020204" charset="-122"/>
                          <a:ea typeface="微软雅黑" panose="020B0503020204020204" charset="-122"/>
                        </a:rPr>
                        <a:t>变量</a:t>
                      </a:r>
                      <a:r>
                        <a:rPr lang="zh-CN" altLang="en-US" sz="1600" b="1">
                          <a:latin typeface="微软雅黑" panose="020B0503020204020204" charset="-122"/>
                          <a:ea typeface="微软雅黑" panose="020B0503020204020204" charset="-122"/>
                        </a:rPr>
                        <a:t>名称</a:t>
                      </a:r>
                      <a:endParaRPr lang="zh-CN" altLang="en-US" sz="1600" b="1">
                        <a:latin typeface="微软雅黑" panose="020B0503020204020204" charset="-122"/>
                        <a:ea typeface="微软雅黑" panose="020B0503020204020204" charset="-122"/>
                      </a:endParaRPr>
                    </a:p>
                  </a:txBody>
                  <a:tcPr anchor="ctr" anchorCtr="0"/>
                </a:tc>
                <a:tc>
                  <a:txBody>
                    <a:bodyPr/>
                    <a:p>
                      <a:pPr algn="ctr">
                        <a:buNone/>
                      </a:pPr>
                      <a:r>
                        <a:rPr lang="zh-CN" altLang="en-US" sz="1600" b="1">
                          <a:latin typeface="微软雅黑" panose="020B0503020204020204" charset="-122"/>
                          <a:ea typeface="微软雅黑" panose="020B0503020204020204" charset="-122"/>
                        </a:rPr>
                        <a:t>均值</a:t>
                      </a:r>
                      <a:endParaRPr lang="zh-CN" altLang="en-US" sz="1600" b="1">
                        <a:latin typeface="微软雅黑" panose="020B0503020204020204" charset="-122"/>
                        <a:ea typeface="微软雅黑" panose="020B0503020204020204" charset="-122"/>
                      </a:endParaRPr>
                    </a:p>
                  </a:txBody>
                  <a:tcPr anchor="ctr" anchorCtr="0"/>
                </a:tc>
                <a:tc>
                  <a:txBody>
                    <a:bodyPr/>
                    <a:p>
                      <a:pPr algn="ctr">
                        <a:buNone/>
                      </a:pPr>
                      <a:r>
                        <a:rPr lang="zh-CN" altLang="en-US" sz="1600" b="1">
                          <a:latin typeface="微软雅黑" panose="020B0503020204020204" charset="-122"/>
                          <a:ea typeface="微软雅黑" panose="020B0503020204020204" charset="-122"/>
                        </a:rPr>
                        <a:t>变异系数</a:t>
                      </a:r>
                      <a:endParaRPr lang="zh-CN" altLang="en-US" sz="1600" b="1">
                        <a:latin typeface="微软雅黑" panose="020B0503020204020204" charset="-122"/>
                        <a:ea typeface="微软雅黑" panose="020B0503020204020204" charset="-122"/>
                      </a:endParaRPr>
                    </a:p>
                  </a:txBody>
                  <a:tcPr anchor="ctr" anchorCtr="0"/>
                </a:tc>
                <a:tc>
                  <a:txBody>
                    <a:bodyPr/>
                    <a:p>
                      <a:pPr algn="ctr">
                        <a:buNone/>
                      </a:pPr>
                      <a:r>
                        <a:rPr lang="zh-CN" altLang="en-US" sz="1600" b="1">
                          <a:latin typeface="微软雅黑" panose="020B0503020204020204" charset="-122"/>
                          <a:ea typeface="微软雅黑" panose="020B0503020204020204" charset="-122"/>
                        </a:rPr>
                        <a:t>分布</a:t>
                      </a:r>
                      <a:endParaRPr lang="zh-CN" altLang="en-US" sz="1600" b="1">
                        <a:latin typeface="微软雅黑" panose="020B0503020204020204" charset="-122"/>
                        <a:ea typeface="微软雅黑" panose="020B0503020204020204" charset="-122"/>
                      </a:endParaRPr>
                    </a:p>
                    <a:p>
                      <a:pPr algn="ctr">
                        <a:buNone/>
                      </a:pPr>
                      <a:r>
                        <a:rPr lang="zh-CN" altLang="en-US" sz="1600" b="1">
                          <a:latin typeface="微软雅黑" panose="020B0503020204020204" charset="-122"/>
                          <a:ea typeface="微软雅黑" panose="020B0503020204020204" charset="-122"/>
                        </a:rPr>
                        <a:t>类型</a:t>
                      </a:r>
                      <a:endParaRPr lang="zh-CN" altLang="en-US" sz="1600" b="1">
                        <a:latin typeface="微软雅黑" panose="020B0503020204020204" charset="-122"/>
                        <a:ea typeface="微软雅黑" panose="020B0503020204020204" charset="-122"/>
                      </a:endParaRPr>
                    </a:p>
                  </a:txBody>
                  <a:tcPr anchor="ctr" anchorCtr="0"/>
                </a:tc>
              </a:tr>
              <a:tr h="854710">
                <a:tc>
                  <a:txBody>
                    <a:bodyPr/>
                    <a:p>
                      <a:pPr algn="ctr">
                        <a:buNone/>
                      </a:pPr>
                      <a:r>
                        <a:rPr lang="zh-CN" altLang="en-US" sz="1400" b="1">
                          <a:solidFill>
                            <a:schemeClr val="bg1"/>
                          </a:solidFill>
                          <a:latin typeface="微软雅黑" panose="020B0503020204020204" charset="-122"/>
                          <a:ea typeface="微软雅黑" panose="020B0503020204020204" charset="-122"/>
                        </a:rPr>
                        <a:t>风场随</a:t>
                      </a:r>
                      <a:endParaRPr lang="zh-CN" altLang="en-US" sz="1400" b="1">
                        <a:solidFill>
                          <a:schemeClr val="bg1"/>
                        </a:solidFill>
                        <a:latin typeface="微软雅黑" panose="020B0503020204020204" charset="-122"/>
                        <a:ea typeface="微软雅黑" panose="020B0503020204020204" charset="-122"/>
                      </a:endParaRPr>
                    </a:p>
                    <a:p>
                      <a:pPr algn="ctr">
                        <a:buNone/>
                      </a:pPr>
                      <a:r>
                        <a:rPr lang="zh-CN" altLang="en-US" sz="1400" b="1">
                          <a:solidFill>
                            <a:schemeClr val="bg1"/>
                          </a:solidFill>
                          <a:latin typeface="微软雅黑" panose="020B0503020204020204" charset="-122"/>
                          <a:ea typeface="微软雅黑" panose="020B0503020204020204" charset="-122"/>
                        </a:rPr>
                        <a:t>机种子</a:t>
                      </a:r>
                      <a:endParaRPr lang="zh-CN" altLang="en-US" sz="14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400" b="0">
                          <a:latin typeface="微软雅黑" panose="020B0503020204020204" charset="-122"/>
                          <a:ea typeface="微软雅黑" panose="020B0503020204020204" charset="-122"/>
                        </a:rPr>
                        <a:t>-2147483648 ~ 2147483647</a:t>
                      </a:r>
                      <a:endParaRPr lang="en-US" altLang="zh-CN" sz="1400" b="0">
                        <a:latin typeface="微软雅黑" panose="020B0503020204020204" charset="-122"/>
                        <a:ea typeface="微软雅黑" panose="020B0503020204020204" charset="-122"/>
                      </a:endParaRPr>
                    </a:p>
                  </a:txBody>
                  <a:tcPr anchor="ctr" anchorCtr="0"/>
                </a:tc>
                <a:tc>
                  <a:txBody>
                    <a:bodyPr/>
                    <a:p>
                      <a:pPr algn="ctr">
                        <a:buNone/>
                      </a:pPr>
                      <a:r>
                        <a:rPr lang="en-US" altLang="zh-CN" sz="1600" b="0">
                          <a:latin typeface="微软雅黑" panose="020B0503020204020204" charset="-122"/>
                          <a:ea typeface="微软雅黑" panose="020B0503020204020204" charset="-122"/>
                        </a:rPr>
                        <a:t>/</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zh-CN" altLang="en-US" sz="1600" b="0">
                          <a:latin typeface="微软雅黑" panose="020B0503020204020204" charset="-122"/>
                          <a:ea typeface="微软雅黑" panose="020B0503020204020204" charset="-122"/>
                        </a:rPr>
                        <a:t>均匀</a:t>
                      </a:r>
                      <a:endParaRPr lang="zh-CN" altLang="en-US" sz="1600" b="0">
                        <a:latin typeface="微软雅黑" panose="020B0503020204020204" charset="-122"/>
                        <a:ea typeface="微软雅黑" panose="020B0503020204020204" charset="-122"/>
                      </a:endParaRPr>
                    </a:p>
                    <a:p>
                      <a:pPr algn="ctr">
                        <a:buNone/>
                      </a:pPr>
                      <a:r>
                        <a:rPr lang="zh-CN" altLang="en-US" sz="1600" b="0">
                          <a:latin typeface="微软雅黑" panose="020B0503020204020204" charset="-122"/>
                          <a:ea typeface="微软雅黑" panose="020B0503020204020204" charset="-122"/>
                        </a:rPr>
                        <a:t>分布</a:t>
                      </a:r>
                      <a:endParaRPr lang="zh-CN" altLang="en-US" sz="1600" b="0">
                        <a:latin typeface="微软雅黑" panose="020B0503020204020204" charset="-122"/>
                        <a:ea typeface="微软雅黑" panose="020B0503020204020204" charset="-122"/>
                      </a:endParaRPr>
                    </a:p>
                  </a:txBody>
                  <a:tcPr anchor="ctr" anchorCtr="0"/>
                </a:tc>
              </a:tr>
              <a:tr h="574675">
                <a:tc>
                  <a:txBody>
                    <a:bodyPr/>
                    <a:p>
                      <a:pPr algn="ctr">
                        <a:buNone/>
                      </a:pPr>
                      <a:r>
                        <a:rPr lang="zh-CN" altLang="en-US" sz="1400" b="1">
                          <a:solidFill>
                            <a:schemeClr val="bg1"/>
                          </a:solidFill>
                          <a:latin typeface="微软雅黑" panose="020B0503020204020204" charset="-122"/>
                          <a:ea typeface="微软雅黑" panose="020B0503020204020204" charset="-122"/>
                        </a:rPr>
                        <a:t>混凝土弹性模</a:t>
                      </a:r>
                      <a:endParaRPr lang="zh-CN" altLang="en-US" sz="1400" b="1">
                        <a:solidFill>
                          <a:schemeClr val="bg1"/>
                        </a:solidFill>
                        <a:latin typeface="微软雅黑" panose="020B0503020204020204" charset="-122"/>
                        <a:ea typeface="微软雅黑" panose="020B0503020204020204" charset="-122"/>
                      </a:endParaRPr>
                    </a:p>
                    <a:p>
                      <a:pPr algn="ctr">
                        <a:buNone/>
                      </a:pPr>
                      <a:r>
                        <a:rPr lang="zh-CN" altLang="en-US" sz="1400" b="1">
                          <a:solidFill>
                            <a:schemeClr val="bg1"/>
                          </a:solidFill>
                          <a:latin typeface="微软雅黑" panose="020B0503020204020204" charset="-122"/>
                          <a:ea typeface="微软雅黑" panose="020B0503020204020204" charset="-122"/>
                        </a:rPr>
                        <a:t>量 / </a:t>
                      </a:r>
                      <a:r>
                        <a:rPr lang="en-US" altLang="zh-CN" sz="1400" b="1">
                          <a:solidFill>
                            <a:schemeClr val="bg1"/>
                          </a:solidFill>
                          <a:latin typeface="微软雅黑" panose="020B0503020204020204" charset="-122"/>
                          <a:ea typeface="微软雅黑" panose="020B0503020204020204" charset="-122"/>
                        </a:rPr>
                        <a:t>MPa</a:t>
                      </a:r>
                      <a:endParaRPr lang="en-US" altLang="zh-CN" sz="14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600" b="0">
                          <a:latin typeface="微软雅黑" panose="020B0503020204020204" charset="-122"/>
                          <a:ea typeface="微软雅黑" panose="020B0503020204020204" charset="-122"/>
                        </a:rPr>
                        <a:t>37000</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en-US" altLang="zh-CN" sz="1600" b="0">
                          <a:latin typeface="微软雅黑" panose="020B0503020204020204" charset="-122"/>
                          <a:ea typeface="微软雅黑" panose="020B0503020204020204" charset="-122"/>
                        </a:rPr>
                        <a:t>6%</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zh-CN" altLang="en-US" sz="1600" b="0">
                          <a:latin typeface="微软雅黑" panose="020B0503020204020204" charset="-122"/>
                          <a:ea typeface="微软雅黑" panose="020B0503020204020204" charset="-122"/>
                        </a:rPr>
                        <a:t>正态</a:t>
                      </a:r>
                      <a:endParaRPr lang="zh-CN" altLang="en-US" sz="1600" b="0">
                        <a:latin typeface="微软雅黑" panose="020B0503020204020204" charset="-122"/>
                        <a:ea typeface="微软雅黑" panose="020B0503020204020204" charset="-122"/>
                      </a:endParaRPr>
                    </a:p>
                    <a:p>
                      <a:pPr algn="ctr">
                        <a:buNone/>
                      </a:pPr>
                      <a:r>
                        <a:rPr lang="zh-CN" altLang="en-US" sz="1600" b="0">
                          <a:latin typeface="微软雅黑" panose="020B0503020204020204" charset="-122"/>
                          <a:ea typeface="微软雅黑" panose="020B0503020204020204" charset="-122"/>
                        </a:rPr>
                        <a:t>分布</a:t>
                      </a:r>
                      <a:endParaRPr lang="zh-CN" altLang="en-US" sz="1600" b="0">
                        <a:latin typeface="微软雅黑" panose="020B0503020204020204" charset="-122"/>
                        <a:ea typeface="微软雅黑" panose="020B0503020204020204" charset="-122"/>
                      </a:endParaRPr>
                    </a:p>
                  </a:txBody>
                  <a:tcPr anchor="ctr" anchorCtr="0"/>
                </a:tc>
              </a:tr>
              <a:tr h="575310">
                <a:tc>
                  <a:txBody>
                    <a:bodyPr/>
                    <a:p>
                      <a:pPr algn="ctr">
                        <a:buNone/>
                      </a:pPr>
                      <a:r>
                        <a:rPr lang="zh-CN" altLang="en-US" sz="1400" b="1">
                          <a:solidFill>
                            <a:schemeClr val="bg1"/>
                          </a:solidFill>
                          <a:latin typeface="微软雅黑" panose="020B0503020204020204" charset="-122"/>
                          <a:ea typeface="微软雅黑" panose="020B0503020204020204" charset="-122"/>
                        </a:rPr>
                        <a:t>混凝土密度 /</a:t>
                      </a:r>
                      <a:endParaRPr lang="zh-CN" altLang="en-US" sz="1400" b="1">
                        <a:solidFill>
                          <a:schemeClr val="bg1"/>
                        </a:solidFill>
                        <a:latin typeface="微软雅黑" panose="020B0503020204020204" charset="-122"/>
                        <a:ea typeface="微软雅黑" panose="020B0503020204020204" charset="-122"/>
                      </a:endParaRPr>
                    </a:p>
                    <a:p>
                      <a:pPr algn="ctr">
                        <a:buNone/>
                      </a:pPr>
                      <a:r>
                        <a:rPr lang="zh-CN" altLang="en-US" sz="1400" b="1">
                          <a:solidFill>
                            <a:schemeClr val="bg1"/>
                          </a:solidFill>
                          <a:latin typeface="微软雅黑" panose="020B0503020204020204" charset="-122"/>
                          <a:ea typeface="微软雅黑" panose="020B0503020204020204" charset="-122"/>
                        </a:rPr>
                        <a:t>(</a:t>
                      </a:r>
                      <a:r>
                        <a:rPr lang="en-US" altLang="zh-CN" sz="1400" b="1">
                          <a:solidFill>
                            <a:schemeClr val="bg1"/>
                          </a:solidFill>
                          <a:latin typeface="微软雅黑" panose="020B0503020204020204" charset="-122"/>
                          <a:ea typeface="微软雅黑" panose="020B0503020204020204" charset="-122"/>
                        </a:rPr>
                        <a:t>kg・m</a:t>
                      </a:r>
                      <a:r>
                        <a:rPr lang="en-US" altLang="zh-CN" sz="1400" b="1" baseline="30000">
                          <a:solidFill>
                            <a:schemeClr val="bg1"/>
                          </a:solidFill>
                          <a:latin typeface="微软雅黑" panose="020B0503020204020204" charset="-122"/>
                          <a:ea typeface="微软雅黑" panose="020B0503020204020204" charset="-122"/>
                        </a:rPr>
                        <a:t>-3</a:t>
                      </a:r>
                      <a:r>
                        <a:rPr lang="en-US" altLang="zh-CN" sz="1400" b="1">
                          <a:solidFill>
                            <a:schemeClr val="bg1"/>
                          </a:solidFill>
                          <a:latin typeface="微软雅黑" panose="020B0503020204020204" charset="-122"/>
                          <a:ea typeface="微软雅黑" panose="020B0503020204020204" charset="-122"/>
                        </a:rPr>
                        <a:t>)</a:t>
                      </a:r>
                      <a:endParaRPr lang="en-US" altLang="zh-CN" sz="14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600" b="0">
                          <a:latin typeface="微软雅黑" panose="020B0503020204020204" charset="-122"/>
                          <a:ea typeface="微软雅黑" panose="020B0503020204020204" charset="-122"/>
                        </a:rPr>
                        <a:t>2400</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en-US" altLang="zh-CN" sz="1600" b="0">
                          <a:latin typeface="微软雅黑" panose="020B0503020204020204" charset="-122"/>
                          <a:ea typeface="微软雅黑" panose="020B0503020204020204" charset="-122"/>
                        </a:rPr>
                        <a:t>2%</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zh-CN" altLang="en-US" sz="1600" b="0">
                          <a:latin typeface="微软雅黑" panose="020B0503020204020204" charset="-122"/>
                          <a:ea typeface="微软雅黑" panose="020B0503020204020204" charset="-122"/>
                        </a:rPr>
                        <a:t>正态</a:t>
                      </a:r>
                      <a:endParaRPr lang="zh-CN" altLang="en-US" sz="1600" b="0">
                        <a:latin typeface="微软雅黑" panose="020B0503020204020204" charset="-122"/>
                        <a:ea typeface="微软雅黑" panose="020B0503020204020204" charset="-122"/>
                      </a:endParaRPr>
                    </a:p>
                    <a:p>
                      <a:pPr algn="ctr">
                        <a:buNone/>
                      </a:pPr>
                      <a:r>
                        <a:rPr lang="zh-CN" altLang="en-US" sz="1600" b="0">
                          <a:latin typeface="微软雅黑" panose="020B0503020204020204" charset="-122"/>
                          <a:ea typeface="微软雅黑" panose="020B0503020204020204" charset="-122"/>
                        </a:rPr>
                        <a:t>分布</a:t>
                      </a:r>
                      <a:endParaRPr lang="zh-CN" altLang="en-US" sz="1600" b="0">
                        <a:latin typeface="微软雅黑" panose="020B0503020204020204" charset="-122"/>
                        <a:ea typeface="微软雅黑" panose="020B0503020204020204" charset="-122"/>
                      </a:endParaRPr>
                    </a:p>
                  </a:txBody>
                  <a:tcPr anchor="ctr" anchorCtr="0"/>
                </a:tc>
              </a:tr>
              <a:tr h="574675">
                <a:tc>
                  <a:txBody>
                    <a:bodyPr/>
                    <a:p>
                      <a:pPr algn="ctr">
                        <a:buNone/>
                      </a:pPr>
                      <a:r>
                        <a:rPr lang="zh-CN" altLang="en-US" sz="1400" b="1">
                          <a:solidFill>
                            <a:schemeClr val="bg1"/>
                          </a:solidFill>
                          <a:latin typeface="微软雅黑" panose="020B0503020204020204" charset="-122"/>
                          <a:ea typeface="微软雅黑" panose="020B0503020204020204" charset="-122"/>
                        </a:rPr>
                        <a:t>钢材弹性模量 / </a:t>
                      </a:r>
                      <a:r>
                        <a:rPr lang="en-US" altLang="zh-CN" sz="1400" b="1">
                          <a:solidFill>
                            <a:schemeClr val="bg1"/>
                          </a:solidFill>
                          <a:latin typeface="微软雅黑" panose="020B0503020204020204" charset="-122"/>
                          <a:ea typeface="微软雅黑" panose="020B0503020204020204" charset="-122"/>
                        </a:rPr>
                        <a:t>MPa</a:t>
                      </a:r>
                      <a:endParaRPr lang="en-US" altLang="zh-CN" sz="14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600" b="0">
                          <a:latin typeface="微软雅黑" panose="020B0503020204020204" charset="-122"/>
                          <a:ea typeface="微软雅黑" panose="020B0503020204020204" charset="-122"/>
                        </a:rPr>
                        <a:t>210000</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en-US" altLang="zh-CN" sz="1600" b="0">
                          <a:latin typeface="微软雅黑" panose="020B0503020204020204" charset="-122"/>
                          <a:ea typeface="微软雅黑" panose="020B0503020204020204" charset="-122"/>
                        </a:rPr>
                        <a:t>3%</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zh-CN" altLang="en-US" sz="1600" b="0">
                          <a:latin typeface="微软雅黑" panose="020B0503020204020204" charset="-122"/>
                          <a:ea typeface="微软雅黑" panose="020B0503020204020204" charset="-122"/>
                        </a:rPr>
                        <a:t>对数正</a:t>
                      </a:r>
                      <a:endParaRPr lang="zh-CN" altLang="en-US" sz="1600" b="0">
                        <a:latin typeface="微软雅黑" panose="020B0503020204020204" charset="-122"/>
                        <a:ea typeface="微软雅黑" panose="020B0503020204020204" charset="-122"/>
                      </a:endParaRPr>
                    </a:p>
                    <a:p>
                      <a:pPr algn="ctr">
                        <a:buNone/>
                      </a:pPr>
                      <a:r>
                        <a:rPr lang="zh-CN" altLang="en-US" sz="1600" b="0">
                          <a:latin typeface="微软雅黑" panose="020B0503020204020204" charset="-122"/>
                          <a:ea typeface="微软雅黑" panose="020B0503020204020204" charset="-122"/>
                        </a:rPr>
                        <a:t>态分布</a:t>
                      </a:r>
                      <a:endParaRPr lang="zh-CN" altLang="en-US" sz="1600" b="0">
                        <a:latin typeface="微软雅黑" panose="020B0503020204020204" charset="-122"/>
                        <a:ea typeface="微软雅黑" panose="020B0503020204020204" charset="-122"/>
                      </a:endParaRPr>
                    </a:p>
                  </a:txBody>
                  <a:tcPr anchor="ctr" anchorCtr="0"/>
                </a:tc>
              </a:tr>
              <a:tr h="575310">
                <a:tc>
                  <a:txBody>
                    <a:bodyPr/>
                    <a:p>
                      <a:pPr algn="ctr">
                        <a:buNone/>
                      </a:pPr>
                      <a:r>
                        <a:rPr lang="zh-CN" altLang="en-US" sz="1400" b="1">
                          <a:solidFill>
                            <a:schemeClr val="bg1"/>
                          </a:solidFill>
                          <a:latin typeface="微软雅黑" panose="020B0503020204020204" charset="-122"/>
                          <a:ea typeface="微软雅黑" panose="020B0503020204020204" charset="-122"/>
                        </a:rPr>
                        <a:t>钢材密度 /</a:t>
                      </a:r>
                      <a:endParaRPr lang="zh-CN" altLang="en-US" sz="1400" b="1">
                        <a:solidFill>
                          <a:schemeClr val="bg1"/>
                        </a:solidFill>
                        <a:latin typeface="微软雅黑" panose="020B0503020204020204" charset="-122"/>
                        <a:ea typeface="微软雅黑" panose="020B0503020204020204" charset="-122"/>
                      </a:endParaRPr>
                    </a:p>
                    <a:p>
                      <a:pPr algn="ctr">
                        <a:buNone/>
                      </a:pPr>
                      <a:r>
                        <a:rPr lang="zh-CN" altLang="en-US" sz="1400" b="1">
                          <a:solidFill>
                            <a:schemeClr val="bg1"/>
                          </a:solidFill>
                          <a:latin typeface="微软雅黑" panose="020B0503020204020204" charset="-122"/>
                          <a:ea typeface="微软雅黑" panose="020B0503020204020204" charset="-122"/>
                        </a:rPr>
                        <a:t>(</a:t>
                      </a:r>
                      <a:r>
                        <a:rPr lang="en-US" altLang="zh-CN" sz="1400" b="1">
                          <a:solidFill>
                            <a:schemeClr val="bg1"/>
                          </a:solidFill>
                          <a:latin typeface="微软雅黑" panose="020B0503020204020204" charset="-122"/>
                          <a:ea typeface="微软雅黑" panose="020B0503020204020204" charset="-122"/>
                        </a:rPr>
                        <a:t>kg・m</a:t>
                      </a:r>
                      <a:r>
                        <a:rPr lang="en-US" altLang="zh-CN" sz="1400" b="1" baseline="30000">
                          <a:solidFill>
                            <a:schemeClr val="bg1"/>
                          </a:solidFill>
                          <a:latin typeface="微软雅黑" panose="020B0503020204020204" charset="-122"/>
                          <a:ea typeface="微软雅黑" panose="020B0503020204020204" charset="-122"/>
                        </a:rPr>
                        <a:t>-3</a:t>
                      </a:r>
                      <a:r>
                        <a:rPr lang="en-US" altLang="zh-CN" sz="1400" b="1">
                          <a:solidFill>
                            <a:schemeClr val="bg1"/>
                          </a:solidFill>
                          <a:latin typeface="微软雅黑" panose="020B0503020204020204" charset="-122"/>
                          <a:ea typeface="微软雅黑" panose="020B0503020204020204" charset="-122"/>
                        </a:rPr>
                        <a:t>)</a:t>
                      </a:r>
                      <a:endParaRPr lang="en-US" altLang="zh-CN" sz="14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600" b="0">
                          <a:latin typeface="微软雅黑" panose="020B0503020204020204" charset="-122"/>
                          <a:ea typeface="微软雅黑" panose="020B0503020204020204" charset="-122"/>
                        </a:rPr>
                        <a:t>7850</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en-US" altLang="zh-CN" sz="1600" b="0">
                          <a:latin typeface="微软雅黑" panose="020B0503020204020204" charset="-122"/>
                          <a:ea typeface="微软雅黑" panose="020B0503020204020204" charset="-122"/>
                        </a:rPr>
                        <a:t>1%</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zh-CN" altLang="en-US" sz="1600" b="0">
                          <a:latin typeface="微软雅黑" panose="020B0503020204020204" charset="-122"/>
                          <a:ea typeface="微软雅黑" panose="020B0503020204020204" charset="-122"/>
                        </a:rPr>
                        <a:t>正态</a:t>
                      </a:r>
                      <a:endParaRPr lang="zh-CN" altLang="en-US" sz="1600" b="0">
                        <a:latin typeface="微软雅黑" panose="020B0503020204020204" charset="-122"/>
                        <a:ea typeface="微软雅黑" panose="020B0503020204020204" charset="-122"/>
                      </a:endParaRPr>
                    </a:p>
                    <a:p>
                      <a:pPr algn="ctr">
                        <a:buNone/>
                      </a:pPr>
                      <a:r>
                        <a:rPr lang="zh-CN" altLang="en-US" sz="1600" b="0">
                          <a:latin typeface="微软雅黑" panose="020B0503020204020204" charset="-122"/>
                          <a:ea typeface="微软雅黑" panose="020B0503020204020204" charset="-122"/>
                        </a:rPr>
                        <a:t>分布</a:t>
                      </a:r>
                      <a:endParaRPr lang="zh-CN" altLang="en-US" sz="1600" b="0">
                        <a:latin typeface="微软雅黑" panose="020B0503020204020204" charset="-122"/>
                        <a:ea typeface="微软雅黑" panose="020B0503020204020204" charset="-122"/>
                      </a:endParaRPr>
                    </a:p>
                  </a:txBody>
                  <a:tcPr anchor="ctr" anchorCtr="0"/>
                </a:tc>
              </a:tr>
              <a:tr h="574675">
                <a:tc>
                  <a:txBody>
                    <a:bodyPr/>
                    <a:p>
                      <a:pPr algn="ctr">
                        <a:buNone/>
                      </a:pPr>
                      <a:r>
                        <a:rPr lang="zh-CN" altLang="en-US" sz="1400" b="1">
                          <a:solidFill>
                            <a:schemeClr val="bg1"/>
                          </a:solidFill>
                          <a:latin typeface="微软雅黑" panose="020B0503020204020204" charset="-122"/>
                          <a:ea typeface="微软雅黑" panose="020B0503020204020204" charset="-122"/>
                        </a:rPr>
                        <a:t>预应力 / </a:t>
                      </a:r>
                      <a:r>
                        <a:rPr lang="en-US" altLang="zh-CN" sz="1400" b="1">
                          <a:solidFill>
                            <a:schemeClr val="bg1"/>
                          </a:solidFill>
                          <a:latin typeface="微软雅黑" panose="020B0503020204020204" charset="-122"/>
                          <a:ea typeface="微软雅黑" panose="020B0503020204020204" charset="-122"/>
                        </a:rPr>
                        <a:t>MPa</a:t>
                      </a:r>
                      <a:endParaRPr lang="en-US" altLang="zh-CN" sz="14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600" b="0">
                          <a:latin typeface="微软雅黑" panose="020B0503020204020204" charset="-122"/>
                          <a:ea typeface="微软雅黑" panose="020B0503020204020204" charset="-122"/>
                        </a:rPr>
                        <a:t>1280</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en-US" altLang="zh-CN" sz="1600" b="0">
                          <a:latin typeface="微软雅黑" panose="020B0503020204020204" charset="-122"/>
                          <a:ea typeface="微软雅黑" panose="020B0503020204020204" charset="-122"/>
                        </a:rPr>
                        <a:t>1.5%</a:t>
                      </a:r>
                      <a:endParaRPr lang="en-US" altLang="zh-CN" sz="1600" b="0">
                        <a:latin typeface="微软雅黑" panose="020B0503020204020204" charset="-122"/>
                        <a:ea typeface="微软雅黑" panose="020B0503020204020204" charset="-122"/>
                      </a:endParaRPr>
                    </a:p>
                  </a:txBody>
                  <a:tcPr anchor="ctr" anchorCtr="0"/>
                </a:tc>
                <a:tc>
                  <a:txBody>
                    <a:bodyPr/>
                    <a:p>
                      <a:pPr algn="ctr">
                        <a:buNone/>
                      </a:pPr>
                      <a:r>
                        <a:rPr lang="zh-CN" altLang="en-US" sz="1600" b="0">
                          <a:latin typeface="微软雅黑" panose="020B0503020204020204" charset="-122"/>
                          <a:ea typeface="微软雅黑" panose="020B0503020204020204" charset="-122"/>
                        </a:rPr>
                        <a:t>正态</a:t>
                      </a:r>
                      <a:endParaRPr lang="zh-CN" altLang="en-US" sz="1600" b="0">
                        <a:latin typeface="微软雅黑" panose="020B0503020204020204" charset="-122"/>
                        <a:ea typeface="微软雅黑" panose="020B0503020204020204" charset="-122"/>
                      </a:endParaRPr>
                    </a:p>
                    <a:p>
                      <a:pPr algn="ctr">
                        <a:buNone/>
                      </a:pPr>
                      <a:r>
                        <a:rPr lang="zh-CN" altLang="en-US" sz="1600" b="0">
                          <a:latin typeface="微软雅黑" panose="020B0503020204020204" charset="-122"/>
                          <a:ea typeface="微软雅黑" panose="020B0503020204020204" charset="-122"/>
                        </a:rPr>
                        <a:t>分布</a:t>
                      </a:r>
                      <a:endParaRPr lang="zh-CN" altLang="en-US" sz="1600" b="0">
                        <a:latin typeface="微软雅黑" panose="020B0503020204020204" charset="-122"/>
                        <a:ea typeface="微软雅黑" panose="020B0503020204020204" charset="-122"/>
                      </a:endParaRPr>
                    </a:p>
                  </a:txBody>
                  <a:tcPr anchor="ctr" anchorCtr="0"/>
                </a:tc>
              </a:tr>
            </a:tbl>
          </a:graphicData>
        </a:graphic>
      </p:graphicFrame>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54/68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6" name="textbox 1686"/>
          <p:cNvSpPr/>
          <p:nvPr/>
        </p:nvSpPr>
        <p:spPr>
          <a:xfrm>
            <a:off x="2685500" y="4532381"/>
            <a:ext cx="2554961" cy="227332"/>
          </a:xfrm>
          <a:prstGeom prst="rect">
            <a:avLst/>
          </a:prstGeom>
          <a:noFill/>
          <a:ln w="0" cap="flat">
            <a:noFill/>
            <a:prstDash val="solid"/>
            <a:miter lim="0"/>
          </a:ln>
        </p:spPr>
        <p:txBody>
          <a:bodyPr vert="horz" wrap="square" lIns="0" tIns="0" rIns="0" bIns="0"/>
          <a:p>
            <a:pPr algn="l" rtl="0" eaLnBrk="0">
              <a:lnSpc>
                <a:spcPct val="85000"/>
              </a:lnSpc>
            </a:pPr>
            <a:endParaRPr sz="115" dirty="0">
              <a:latin typeface="Arial" panose="020B0604020202020204"/>
              <a:ea typeface="Arial" panose="020B0604020202020204"/>
              <a:cs typeface="Arial" panose="020B0604020202020204"/>
            </a:endParaRPr>
          </a:p>
          <a:p>
            <a:pPr marL="12700" algn="l" rtl="0" eaLnBrk="0">
              <a:lnSpc>
                <a:spcPct val="95000"/>
              </a:lnSpc>
            </a:pPr>
            <a:r>
              <a:rPr sz="137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IEC标准中有关可靠度</a:t>
            </a:r>
            <a:r>
              <a:rPr sz="137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要求的规定</a:t>
            </a:r>
            <a:endParaRPr sz="1370" dirty="0">
              <a:latin typeface="微软雅黑" panose="020B0503020204020204" charset="-122"/>
              <a:ea typeface="微软雅黑" panose="020B0503020204020204" charset="-122"/>
              <a:cs typeface="微软雅黑" panose="020B0503020204020204" charset="-122"/>
            </a:endParaRPr>
          </a:p>
        </p:txBody>
      </p:sp>
      <p:sp>
        <p:nvSpPr>
          <p:cNvPr id="322" name="textbox 322"/>
          <p:cNvSpPr/>
          <p:nvPr/>
        </p:nvSpPr>
        <p:spPr>
          <a:xfrm>
            <a:off x="1374134" y="498276"/>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680" name="picture 680"/>
          <p:cNvPicPr>
            <a:picLocks noChangeAspect="1"/>
          </p:cNvPicPr>
          <p:nvPr/>
        </p:nvPicPr>
        <p:blipFill>
          <a:blip r:embed="rId1"/>
          <a:stretch>
            <a:fillRect/>
          </a:stretch>
        </p:blipFill>
        <p:spPr>
          <a:xfrm rot="21600000">
            <a:off x="1060109" y="1247135"/>
            <a:ext cx="217139" cy="217206"/>
          </a:xfrm>
          <a:prstGeom prst="rect">
            <a:avLst/>
          </a:prstGeom>
        </p:spPr>
      </p:pic>
      <p:sp>
        <p:nvSpPr>
          <p:cNvPr id="4" name="椭圆 3"/>
          <p:cNvSpPr/>
          <p:nvPr/>
        </p:nvSpPr>
        <p:spPr>
          <a:xfrm>
            <a:off x="629285" y="360045"/>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cxnSp>
        <p:nvCxnSpPr>
          <p:cNvPr id="5" name="直接连接符 4"/>
          <p:cNvCxnSpPr/>
          <p:nvPr/>
        </p:nvCxnSpPr>
        <p:spPr>
          <a:xfrm flipV="1">
            <a:off x="1395095" y="1003300"/>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6" name="文本框 5"/>
          <p:cNvSpPr txBox="1"/>
          <p:nvPr/>
        </p:nvSpPr>
        <p:spPr>
          <a:xfrm>
            <a:off x="1395095" y="1122045"/>
            <a:ext cx="2659380" cy="445135"/>
          </a:xfrm>
          <a:prstGeom prst="rect">
            <a:avLst/>
          </a:prstGeom>
          <a:noFill/>
        </p:spPr>
        <p:txBody>
          <a:bodyPr wrap="square" rtlCol="0">
            <a:spAutoFit/>
          </a:bodyPr>
          <a:p>
            <a:r>
              <a:rPr lang="zh-CN" altLang="en-US" sz="2300" b="1">
                <a:solidFill>
                  <a:srgbClr val="2F5597"/>
                </a:solidFill>
                <a:latin typeface="微软雅黑" panose="020B0503020204020204" charset="-122"/>
                <a:ea typeface="微软雅黑" panose="020B0503020204020204" charset="-122"/>
              </a:rPr>
              <a:t>动力可靠度分析</a:t>
            </a:r>
            <a:endParaRPr lang="zh-CN" altLang="en-US" sz="2300" b="1">
              <a:solidFill>
                <a:srgbClr val="2F5597"/>
              </a:solidFill>
              <a:latin typeface="微软雅黑" panose="020B0503020204020204" charset="-122"/>
              <a:ea typeface="微软雅黑" panose="020B0503020204020204" charset="-122"/>
            </a:endParaRPr>
          </a:p>
        </p:txBody>
      </p:sp>
      <p:sp>
        <p:nvSpPr>
          <p:cNvPr id="7" name="矩形 6"/>
          <p:cNvSpPr/>
          <p:nvPr/>
        </p:nvSpPr>
        <p:spPr>
          <a:xfrm>
            <a:off x="1113790" y="1691640"/>
            <a:ext cx="4942205" cy="2762250"/>
          </a:xfrm>
          <a:prstGeom prst="rect">
            <a:avLst/>
          </a:prstGeom>
          <a:noFill/>
          <a:ln w="19050">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6643370" y="1691640"/>
            <a:ext cx="4942205" cy="2762250"/>
          </a:xfrm>
          <a:prstGeom prst="rect">
            <a:avLst/>
          </a:prstGeom>
          <a:noFill/>
          <a:ln w="19050">
            <a:solidFill>
              <a:schemeClr val="tx1"/>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nvPicPr>
        <p:blipFill>
          <a:blip r:embed="rId2"/>
          <a:stretch>
            <a:fillRect/>
          </a:stretch>
        </p:blipFill>
        <p:spPr>
          <a:xfrm>
            <a:off x="1135380" y="1780540"/>
            <a:ext cx="4853940" cy="2204085"/>
          </a:xfrm>
          <a:prstGeom prst="rect">
            <a:avLst/>
          </a:prstGeom>
        </p:spPr>
      </p:pic>
      <p:sp>
        <p:nvSpPr>
          <p:cNvPr id="11" name="文本框 10"/>
          <p:cNvSpPr txBox="1"/>
          <p:nvPr/>
        </p:nvSpPr>
        <p:spPr>
          <a:xfrm>
            <a:off x="2975610" y="4008120"/>
            <a:ext cx="1134110"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cs typeface="微软雅黑" panose="020B0503020204020204" charset="-122"/>
              </a:rPr>
              <a:t>PDF</a:t>
            </a:r>
            <a:r>
              <a:rPr lang="zh-CN" altLang="en-US" b="1">
                <a:latin typeface="微软雅黑" panose="020B0503020204020204" charset="-122"/>
                <a:ea typeface="微软雅黑" panose="020B0503020204020204" charset="-122"/>
                <a:cs typeface="微软雅黑" panose="020B0503020204020204" charset="-122"/>
              </a:rPr>
              <a:t>曲线</a:t>
            </a:r>
            <a:endParaRPr lang="zh-CN" altLang="en-US" b="1">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3"/>
          <a:stretch>
            <a:fillRect/>
          </a:stretch>
        </p:blipFill>
        <p:spPr>
          <a:xfrm>
            <a:off x="6725920" y="1780540"/>
            <a:ext cx="4725670" cy="2204085"/>
          </a:xfrm>
          <a:prstGeom prst="rect">
            <a:avLst/>
          </a:prstGeom>
        </p:spPr>
      </p:pic>
      <p:sp>
        <p:nvSpPr>
          <p:cNvPr id="13" name="文本框 12"/>
          <p:cNvSpPr txBox="1"/>
          <p:nvPr/>
        </p:nvSpPr>
        <p:spPr>
          <a:xfrm>
            <a:off x="8547100" y="4008120"/>
            <a:ext cx="1134110"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cs typeface="微软雅黑" panose="020B0503020204020204" charset="-122"/>
              </a:rPr>
              <a:t>POE</a:t>
            </a:r>
            <a:r>
              <a:rPr lang="zh-CN" altLang="en-US" b="1">
                <a:latin typeface="微软雅黑" panose="020B0503020204020204" charset="-122"/>
                <a:ea typeface="微软雅黑" panose="020B0503020204020204" charset="-122"/>
                <a:cs typeface="微软雅黑" panose="020B0503020204020204" charset="-122"/>
              </a:rPr>
              <a:t>曲线</a:t>
            </a:r>
            <a:endParaRPr lang="zh-CN" altLang="en-US" b="1">
              <a:latin typeface="微软雅黑" panose="020B0503020204020204" charset="-122"/>
              <a:ea typeface="微软雅黑" panose="020B0503020204020204" charset="-122"/>
              <a:cs typeface="微软雅黑" panose="020B0503020204020204" charset="-122"/>
            </a:endParaRPr>
          </a:p>
        </p:txBody>
      </p:sp>
      <p:graphicFrame>
        <p:nvGraphicFramePr>
          <p:cNvPr id="15" name="表格 14"/>
          <p:cNvGraphicFramePr/>
          <p:nvPr/>
        </p:nvGraphicFramePr>
        <p:xfrm>
          <a:off x="1059815" y="4838700"/>
          <a:ext cx="6200140" cy="1828800"/>
        </p:xfrm>
        <a:graphic>
          <a:graphicData uri="http://schemas.openxmlformats.org/drawingml/2006/table">
            <a:tbl>
              <a:tblPr firstRow="1" bandRow="1">
                <a:tableStyleId>{5C22544A-7EE6-4342-B048-85BDC9FD1C3A}</a:tableStyleId>
              </a:tblPr>
              <a:tblGrid>
                <a:gridCol w="916940"/>
                <a:gridCol w="2109470"/>
                <a:gridCol w="1717675"/>
                <a:gridCol w="1456055"/>
              </a:tblGrid>
              <a:tr h="457200">
                <a:tc>
                  <a:txBody>
                    <a:bodyPr/>
                    <a:p>
                      <a:pPr>
                        <a:buNone/>
                      </a:pPr>
                      <a:r>
                        <a:rPr lang="zh-CN" altLang="en-US" sz="1400" b="0">
                          <a:solidFill>
                            <a:schemeClr val="tx1"/>
                          </a:solidFill>
                          <a:latin typeface="微软雅黑" panose="020B0503020204020204" charset="-122"/>
                          <a:ea typeface="微软雅黑" panose="020B0503020204020204" charset="-122"/>
                        </a:rPr>
                        <a:t>部件等级</a:t>
                      </a:r>
                      <a:endParaRPr lang="zh-CN" altLang="en-US" sz="1400" b="0">
                        <a:solidFill>
                          <a:schemeClr val="tx1"/>
                        </a:solidFill>
                        <a:latin typeface="微软雅黑" panose="020B0503020204020204" charset="-122"/>
                        <a:ea typeface="微软雅黑" panose="020B0503020204020204" charset="-122"/>
                      </a:endParaRPr>
                    </a:p>
                  </a:txBody>
                  <a:tcPr anchor="b" anchorCtr="0">
                    <a:lnL>
                      <a:noFill/>
                    </a:lnL>
                    <a:lnR>
                      <a:noFill/>
                    </a:lnR>
                    <a:lnT w="28575">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r>
                        <a:rPr lang="zh-CN" altLang="en-US" sz="1400" b="0">
                          <a:solidFill>
                            <a:schemeClr val="tx1"/>
                          </a:solidFill>
                          <a:latin typeface="微软雅黑" panose="020B0503020204020204" charset="-122"/>
                          <a:ea typeface="微软雅黑" panose="020B0503020204020204" charset="-122"/>
                        </a:rPr>
                        <a:t>最大允许年度失效概率</a:t>
                      </a:r>
                      <a:endParaRPr lang="zh-CN" altLang="en-US" sz="1400" b="0">
                        <a:solidFill>
                          <a:schemeClr val="tx1"/>
                        </a:solidFill>
                        <a:latin typeface="微软雅黑" panose="020B0503020204020204" charset="-122"/>
                        <a:ea typeface="微软雅黑" panose="020B0503020204020204" charset="-122"/>
                      </a:endParaRPr>
                    </a:p>
                  </a:txBody>
                  <a:tcPr anchor="b" anchorCtr="0">
                    <a:lnL>
                      <a:noFill/>
                    </a:lnL>
                    <a:lnR>
                      <a:noFill/>
                    </a:lnR>
                    <a:lnT w="28575">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r>
                        <a:rPr lang="zh-CN" altLang="en-US" sz="1400" b="0">
                          <a:solidFill>
                            <a:schemeClr val="tx1"/>
                          </a:solidFill>
                          <a:latin typeface="微软雅黑" panose="020B0503020204020204" charset="-122"/>
                          <a:ea typeface="微软雅黑" panose="020B0503020204020204" charset="-122"/>
                          <a:cs typeface="微软雅黑" panose="020B0503020204020204" charset="-122"/>
                        </a:rPr>
                        <a:t>最小年度可靠指标</a:t>
                      </a:r>
                      <a:r>
                        <a:rPr lang="en-US" altLang="zh-CN" sz="1400" b="0" i="1">
                          <a:solidFill>
                            <a:schemeClr val="tx1"/>
                          </a:solidFill>
                          <a:latin typeface="微软雅黑" panose="020B0503020204020204" charset="-122"/>
                          <a:ea typeface="微软雅黑" panose="020B0503020204020204" charset="-122"/>
                          <a:cs typeface="微软雅黑" panose="020B0503020204020204" charset="-122"/>
                        </a:rPr>
                        <a:t>β</a:t>
                      </a:r>
                      <a:endParaRPr lang="en-US" altLang="zh-CN" sz="1400" b="0" i="1">
                        <a:solidFill>
                          <a:schemeClr val="tx1"/>
                        </a:solidFill>
                        <a:latin typeface="微软雅黑" panose="020B0503020204020204" charset="-122"/>
                        <a:ea typeface="微软雅黑" panose="020B0503020204020204" charset="-122"/>
                        <a:cs typeface="微软雅黑" panose="020B0503020204020204" charset="-122"/>
                      </a:endParaRPr>
                    </a:p>
                  </a:txBody>
                  <a:tcPr anchor="b" anchorCtr="0">
                    <a:lnL>
                      <a:noFill/>
                    </a:lnL>
                    <a:lnR>
                      <a:noFill/>
                    </a:lnR>
                    <a:lnT w="28575">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zh-CN" altLang="en-US" sz="1400" b="0">
                          <a:solidFill>
                            <a:schemeClr val="tx1"/>
                          </a:solidFill>
                          <a:latin typeface="微软雅黑" panose="020B0503020204020204" charset="-122"/>
                          <a:ea typeface="微软雅黑" panose="020B0503020204020204" charset="-122"/>
                        </a:rPr>
                        <a:t>描述</a:t>
                      </a:r>
                      <a:endParaRPr lang="zh-CN" altLang="en-US" sz="1400" b="0">
                        <a:solidFill>
                          <a:schemeClr val="tx1"/>
                        </a:solidFill>
                        <a:latin typeface="微软雅黑" panose="020B0503020204020204" charset="-122"/>
                        <a:ea typeface="微软雅黑" panose="020B0503020204020204" charset="-122"/>
                      </a:endParaRPr>
                    </a:p>
                  </a:txBody>
                  <a:tcPr anchor="b" anchorCtr="0">
                    <a:lnL>
                      <a:noFill/>
                    </a:lnL>
                    <a:lnR>
                      <a:noFill/>
                    </a:lnR>
                    <a:lnT w="28575">
                      <a:solidFill>
                        <a:schemeClr val="tx1"/>
                      </a:solidFill>
                      <a:prstDash val="solid"/>
                    </a:lnT>
                    <a:lnB w="12700">
                      <a:solidFill>
                        <a:schemeClr val="tx1"/>
                      </a:solidFill>
                      <a:prstDash val="solid"/>
                    </a:lnB>
                    <a:lnTlToBr>
                      <a:noFill/>
                    </a:lnTlToBr>
                    <a:lnBlToTr>
                      <a:noFill/>
                    </a:lnBlToTr>
                    <a:solidFill>
                      <a:srgbClr val="000000">
                        <a:alpha val="0"/>
                      </a:srgbClr>
                    </a:solidFill>
                  </a:tcPr>
                </a:tc>
              </a:tr>
              <a:tr h="457200">
                <a:tc>
                  <a:txBody>
                    <a:bodyPr/>
                    <a:p>
                      <a:pPr algn="ctr">
                        <a:buNone/>
                      </a:pPr>
                      <a:r>
                        <a:rPr lang="en-US" altLang="zh-CN">
                          <a:latin typeface="Times New Roman" panose="02020603050405020304" charset="0"/>
                          <a:ea typeface="微软雅黑" panose="020B0503020204020204" charset="-122"/>
                          <a:cs typeface="Times New Roman" panose="02020603050405020304" charset="0"/>
                        </a:rPr>
                        <a:t>1</a:t>
                      </a:r>
                      <a:endParaRPr lang="en-US" altLang="zh-CN">
                        <a:latin typeface="Times New Roman" panose="02020603050405020304" charset="0"/>
                        <a:ea typeface="微软雅黑" panose="020B0503020204020204" charset="-122"/>
                        <a:cs typeface="Times New Roman" panose="02020603050405020304" charset="0"/>
                      </a:endParaRPr>
                    </a:p>
                  </a:txBody>
                  <a:tcPr anchor="ctr" anchorCtr="0">
                    <a:lnL>
                      <a:noFill/>
                    </a:lnL>
                    <a:lnR>
                      <a:noFill/>
                    </a:lnR>
                    <a:lnT w="12700">
                      <a:solidFill>
                        <a:schemeClr val="tx1"/>
                      </a:solidFill>
                      <a:prstDash val="solid"/>
                    </a:lnT>
                    <a:lnB>
                      <a:noFill/>
                    </a:lnB>
                    <a:lnTlToBr>
                      <a:noFill/>
                    </a:lnTlToBr>
                    <a:lnBlToTr>
                      <a:noFill/>
                    </a:lnBlToTr>
                    <a:solidFill>
                      <a:srgbClr val="000000">
                        <a:alpha val="0"/>
                      </a:srgbClr>
                    </a:solidFill>
                  </a:tcPr>
                </a:tc>
                <a:tc>
                  <a:txBody>
                    <a:bodyPr/>
                    <a:p>
                      <a:pPr algn="ctr">
                        <a:buNone/>
                      </a:pPr>
                      <a:r>
                        <a:rPr lang="en-US" altLang="zh-CN">
                          <a:latin typeface="Times New Roman" panose="02020603050405020304" charset="0"/>
                          <a:ea typeface="微软雅黑" panose="020B0503020204020204" charset="-122"/>
                          <a:cs typeface="Times New Roman" panose="02020603050405020304" charset="0"/>
                        </a:rPr>
                        <a:t>10</a:t>
                      </a:r>
                      <a:r>
                        <a:rPr lang="en-US" altLang="zh-CN" baseline="30000">
                          <a:latin typeface="Times New Roman" panose="02020603050405020304" charset="0"/>
                          <a:ea typeface="微软雅黑" panose="020B0503020204020204" charset="-122"/>
                          <a:cs typeface="Times New Roman" panose="02020603050405020304" charset="0"/>
                        </a:rPr>
                        <a:t>-3</a:t>
                      </a:r>
                      <a:endParaRPr lang="en-US" altLang="zh-CN" baseline="30000">
                        <a:latin typeface="Times New Roman" panose="02020603050405020304" charset="0"/>
                        <a:ea typeface="微软雅黑" panose="020B0503020204020204" charset="-122"/>
                        <a:cs typeface="Times New Roman" panose="02020603050405020304" charset="0"/>
                      </a:endParaRPr>
                    </a:p>
                  </a:txBody>
                  <a:tcPr anchor="ctr" anchorCtr="0">
                    <a:lnL>
                      <a:noFill/>
                    </a:lnL>
                    <a:lnR>
                      <a:noFill/>
                    </a:lnR>
                    <a:lnT w="12700">
                      <a:solidFill>
                        <a:schemeClr val="tx1"/>
                      </a:solidFill>
                      <a:prstDash val="solid"/>
                    </a:lnT>
                    <a:lnB>
                      <a:noFill/>
                    </a:lnB>
                    <a:lnTlToBr>
                      <a:noFill/>
                    </a:lnTlToBr>
                    <a:lnBlToTr>
                      <a:noFill/>
                    </a:lnBlToTr>
                    <a:solidFill>
                      <a:srgbClr val="000000">
                        <a:alpha val="0"/>
                      </a:srgbClr>
                    </a:solidFill>
                  </a:tcPr>
                </a:tc>
                <a:tc>
                  <a:txBody>
                    <a:bodyPr/>
                    <a:p>
                      <a:pPr algn="ctr">
                        <a:buNone/>
                      </a:pPr>
                      <a:r>
                        <a:rPr lang="en-US" altLang="zh-CN">
                          <a:latin typeface="Times New Roman" panose="02020603050405020304" charset="0"/>
                          <a:cs typeface="Times New Roman" panose="02020603050405020304" charset="0"/>
                        </a:rPr>
                        <a:t>3.1</a:t>
                      </a:r>
                      <a:endParaRPr lang="en-US" altLang="zh-CN">
                        <a:latin typeface="Times New Roman" panose="02020603050405020304" charset="0"/>
                        <a:cs typeface="Times New Roman" panose="02020603050405020304" charset="0"/>
                      </a:endParaRPr>
                    </a:p>
                  </a:txBody>
                  <a:tcPr anchor="ctr" anchorCtr="0">
                    <a:lnL>
                      <a:noFill/>
                    </a:lnL>
                    <a:lnR>
                      <a:noFill/>
                    </a:lnR>
                    <a:lnT w="12700">
                      <a:solidFill>
                        <a:schemeClr val="tx1"/>
                      </a:solidFill>
                      <a:prstDash val="solid"/>
                    </a:lnT>
                    <a:lnB>
                      <a:noFill/>
                    </a:lnB>
                    <a:lnTlToBr>
                      <a:noFill/>
                    </a:lnTlToBr>
                    <a:lnBlToTr>
                      <a:noFill/>
                    </a:lnBlToTr>
                    <a:solidFill>
                      <a:srgbClr val="000000">
                        <a:alpha val="0"/>
                      </a:srgbClr>
                    </a:solidFill>
                  </a:tcPr>
                </a:tc>
                <a:tc>
                  <a:txBody>
                    <a:bodyPr/>
                    <a:p>
                      <a:pPr>
                        <a:buNone/>
                      </a:pPr>
                      <a:r>
                        <a:rPr lang="zh-CN" altLang="en-US" sz="1400">
                          <a:latin typeface="微软雅黑" panose="020B0503020204020204" charset="-122"/>
                          <a:ea typeface="微软雅黑" panose="020B0503020204020204" charset="-122"/>
                        </a:rPr>
                        <a:t>失效后效果较轻</a:t>
                      </a:r>
                      <a:endParaRPr lang="zh-CN" altLang="en-US" sz="1400">
                        <a:latin typeface="微软雅黑" panose="020B0503020204020204" charset="-122"/>
                        <a:ea typeface="微软雅黑" panose="020B0503020204020204" charset="-122"/>
                      </a:endParaRPr>
                    </a:p>
                  </a:txBody>
                  <a:tcPr anchor="ctr" anchorCtr="0">
                    <a:lnL>
                      <a:noFill/>
                    </a:lnL>
                    <a:lnR>
                      <a:noFill/>
                    </a:lnR>
                    <a:lnT w="12700">
                      <a:solidFill>
                        <a:schemeClr val="tx1"/>
                      </a:solidFill>
                      <a:prstDash val="solid"/>
                    </a:lnT>
                    <a:lnB>
                      <a:noFill/>
                    </a:lnB>
                    <a:lnTlToBr>
                      <a:noFill/>
                    </a:lnTlToBr>
                    <a:lnBlToTr>
                      <a:noFill/>
                    </a:lnBlToTr>
                    <a:solidFill>
                      <a:srgbClr val="000000">
                        <a:alpha val="0"/>
                      </a:srgbClr>
                    </a:solidFill>
                  </a:tcPr>
                </a:tc>
              </a:tr>
              <a:tr h="457200">
                <a:tc>
                  <a:txBody>
                    <a:bodyPr/>
                    <a:p>
                      <a:pPr algn="ctr">
                        <a:buNone/>
                      </a:pPr>
                      <a:r>
                        <a:rPr lang="en-US" altLang="zh-CN">
                          <a:latin typeface="Times New Roman" panose="02020603050405020304" charset="0"/>
                          <a:ea typeface="微软雅黑" panose="020B0503020204020204" charset="-122"/>
                          <a:cs typeface="Times New Roman" panose="02020603050405020304" charset="0"/>
                        </a:rPr>
                        <a:t>2</a:t>
                      </a:r>
                      <a:endParaRPr lang="en-US" altLang="zh-CN">
                        <a:latin typeface="Times New Roman" panose="02020603050405020304" charset="0"/>
                        <a:ea typeface="微软雅黑" panose="020B0503020204020204" charset="-122"/>
                        <a:cs typeface="Times New Roman" panose="02020603050405020304" charset="0"/>
                      </a:endParaRPr>
                    </a:p>
                  </a:txBody>
                  <a:tcPr anchor="ctr" anchorCtr="0">
                    <a:lnL>
                      <a:noFill/>
                    </a:lnL>
                    <a:lnR>
                      <a:noFill/>
                    </a:lnR>
                    <a:lnT>
                      <a:noFill/>
                    </a:lnT>
                    <a:lnB>
                      <a:noFill/>
                    </a:lnB>
                    <a:lnTlToBr>
                      <a:noFill/>
                    </a:lnTlToBr>
                    <a:lnBlToTr>
                      <a:noFill/>
                    </a:lnBlToTr>
                    <a:solidFill>
                      <a:srgbClr val="000000">
                        <a:alpha val="0"/>
                      </a:srgbClr>
                    </a:solidFill>
                  </a:tcPr>
                </a:tc>
                <a:tc>
                  <a:txBody>
                    <a:bodyPr/>
                    <a:p>
                      <a:pPr algn="ctr">
                        <a:buNone/>
                      </a:pPr>
                      <a:r>
                        <a:rPr lang="en-US" altLang="zh-CN">
                          <a:latin typeface="Times New Roman" panose="02020603050405020304" charset="0"/>
                          <a:ea typeface="微软雅黑" panose="020B0503020204020204" charset="-122"/>
                          <a:cs typeface="Times New Roman" panose="02020603050405020304" charset="0"/>
                        </a:rPr>
                        <a:t>5</a:t>
                      </a:r>
                      <a:r>
                        <a:rPr lang="zh-CN" altLang="en-US">
                          <a:latin typeface="Times New Roman" panose="02020603050405020304" charset="0"/>
                          <a:ea typeface="微软雅黑" panose="020B0503020204020204" charset="-122"/>
                          <a:cs typeface="Times New Roman" panose="02020603050405020304" charset="0"/>
                        </a:rPr>
                        <a:t>×</a:t>
                      </a:r>
                      <a:r>
                        <a:rPr lang="en-US" altLang="zh-CN">
                          <a:latin typeface="Times New Roman" panose="02020603050405020304" charset="0"/>
                          <a:ea typeface="微软雅黑" panose="020B0503020204020204" charset="-122"/>
                          <a:cs typeface="Times New Roman" panose="02020603050405020304" charset="0"/>
                        </a:rPr>
                        <a:t>10</a:t>
                      </a:r>
                      <a:r>
                        <a:rPr lang="en-US" altLang="zh-CN" baseline="30000">
                          <a:latin typeface="Times New Roman" panose="02020603050405020304" charset="0"/>
                          <a:ea typeface="微软雅黑" panose="020B0503020204020204" charset="-122"/>
                          <a:cs typeface="Times New Roman" panose="02020603050405020304" charset="0"/>
                        </a:rPr>
                        <a:t>-4</a:t>
                      </a:r>
                      <a:endParaRPr lang="en-US" altLang="zh-CN" baseline="30000">
                        <a:latin typeface="Times New Roman" panose="02020603050405020304" charset="0"/>
                        <a:ea typeface="微软雅黑" panose="020B0503020204020204" charset="-122"/>
                        <a:cs typeface="Times New Roman" panose="02020603050405020304" charset="0"/>
                      </a:endParaRPr>
                    </a:p>
                  </a:txBody>
                  <a:tcPr anchor="ctr" anchorCtr="0">
                    <a:lnL>
                      <a:noFill/>
                    </a:lnL>
                    <a:lnR>
                      <a:noFill/>
                    </a:lnR>
                    <a:lnT>
                      <a:noFill/>
                    </a:lnT>
                    <a:lnB>
                      <a:noFill/>
                    </a:lnB>
                    <a:lnTlToBr>
                      <a:noFill/>
                    </a:lnTlToBr>
                    <a:lnBlToTr>
                      <a:noFill/>
                    </a:lnBlToTr>
                    <a:solidFill>
                      <a:srgbClr val="000000">
                        <a:alpha val="0"/>
                      </a:srgbClr>
                    </a:solidFill>
                  </a:tcPr>
                </a:tc>
                <a:tc>
                  <a:txBody>
                    <a:bodyPr/>
                    <a:p>
                      <a:pPr algn="ctr">
                        <a:buNone/>
                      </a:pPr>
                      <a:r>
                        <a:rPr lang="en-US" altLang="zh-CN">
                          <a:latin typeface="Times New Roman" panose="02020603050405020304" charset="0"/>
                          <a:cs typeface="Times New Roman" panose="02020603050405020304" charset="0"/>
                        </a:rPr>
                        <a:t>3.3</a:t>
                      </a:r>
                      <a:endParaRPr lang="en-US" altLang="zh-CN">
                        <a:latin typeface="Times New Roman" panose="02020603050405020304" charset="0"/>
                        <a:cs typeface="Times New Roman" panose="02020603050405020304" charset="0"/>
                      </a:endParaRPr>
                    </a:p>
                  </a:txBody>
                  <a:tcPr anchor="ctr" anchorCtr="0">
                    <a:lnL>
                      <a:noFill/>
                    </a:lnL>
                    <a:lnR>
                      <a:noFill/>
                    </a:lnR>
                    <a:lnT>
                      <a:noFill/>
                    </a:lnT>
                    <a:lnB>
                      <a:noFill/>
                    </a:lnB>
                    <a:lnTlToBr>
                      <a:noFill/>
                    </a:lnTlToBr>
                    <a:lnBlToTr>
                      <a:noFill/>
                    </a:lnBlToTr>
                    <a:solidFill>
                      <a:srgbClr val="000000">
                        <a:alpha val="0"/>
                      </a:srgbClr>
                    </a:solidFill>
                  </a:tcPr>
                </a:tc>
                <a:tc>
                  <a:txBody>
                    <a:bodyPr/>
                    <a:p>
                      <a:pPr>
                        <a:buNone/>
                      </a:pPr>
                      <a:r>
                        <a:rPr lang="zh-CN" altLang="en-US" sz="1400">
                          <a:latin typeface="微软雅黑" panose="020B0503020204020204" charset="-122"/>
                          <a:ea typeface="微软雅黑" panose="020B0503020204020204" charset="-122"/>
                        </a:rPr>
                        <a:t>中等级别</a:t>
                      </a:r>
                      <a:endParaRPr lang="zh-CN" altLang="en-US" sz="1400">
                        <a:latin typeface="微软雅黑" panose="020B0503020204020204" charset="-122"/>
                        <a:ea typeface="微软雅黑" panose="020B0503020204020204" charset="-122"/>
                      </a:endParaRPr>
                    </a:p>
                  </a:txBody>
                  <a:tcPr anchor="ctr" anchorCtr="0">
                    <a:lnL>
                      <a:noFill/>
                    </a:lnL>
                    <a:lnR>
                      <a:noFill/>
                    </a:lnR>
                    <a:lnT>
                      <a:noFill/>
                    </a:lnT>
                    <a:lnB>
                      <a:noFill/>
                    </a:lnB>
                    <a:lnTlToBr>
                      <a:noFill/>
                    </a:lnTlToBr>
                    <a:lnBlToTr>
                      <a:noFill/>
                    </a:lnBlToTr>
                    <a:solidFill>
                      <a:srgbClr val="000000">
                        <a:alpha val="0"/>
                      </a:srgbClr>
                    </a:solidFill>
                  </a:tcPr>
                </a:tc>
              </a:tr>
              <a:tr h="457200">
                <a:tc>
                  <a:txBody>
                    <a:bodyPr/>
                    <a:p>
                      <a:pPr algn="ctr">
                        <a:buNone/>
                      </a:pPr>
                      <a:r>
                        <a:rPr lang="en-US" altLang="zh-CN">
                          <a:latin typeface="Times New Roman" panose="02020603050405020304" charset="0"/>
                          <a:ea typeface="微软雅黑" panose="020B0503020204020204" charset="-122"/>
                          <a:cs typeface="Times New Roman" panose="02020603050405020304" charset="0"/>
                        </a:rPr>
                        <a:t>3</a:t>
                      </a:r>
                      <a:endParaRPr lang="en-US" altLang="zh-CN">
                        <a:latin typeface="Times New Roman" panose="02020603050405020304" charset="0"/>
                        <a:ea typeface="微软雅黑" panose="020B0503020204020204" charset="-122"/>
                        <a:cs typeface="Times New Roman" panose="02020603050405020304" charset="0"/>
                      </a:endParaRPr>
                    </a:p>
                  </a:txBody>
                  <a:tcPr anchor="ctr" anchorCtr="0">
                    <a:lnL>
                      <a:noFill/>
                    </a:lnL>
                    <a:lnR>
                      <a:noFill/>
                    </a:lnR>
                    <a:lnT>
                      <a:noFill/>
                    </a:lnT>
                    <a:lnB w="28575">
                      <a:solidFill>
                        <a:schemeClr val="tx1"/>
                      </a:solidFill>
                      <a:prstDash val="solid"/>
                    </a:lnB>
                    <a:lnTlToBr>
                      <a:noFill/>
                    </a:lnTlToBr>
                    <a:lnBlToTr>
                      <a:noFill/>
                    </a:lnBlToTr>
                    <a:solidFill>
                      <a:srgbClr val="000000">
                        <a:alpha val="0"/>
                      </a:srgbClr>
                    </a:solidFill>
                  </a:tcPr>
                </a:tc>
                <a:tc>
                  <a:txBody>
                    <a:bodyPr/>
                    <a:p>
                      <a:pPr algn="ctr">
                        <a:buNone/>
                      </a:pPr>
                      <a:r>
                        <a:rPr lang="en-US" altLang="zh-CN" sz="1630">
                          <a:latin typeface="Times New Roman" panose="02020603050405020304" charset="0"/>
                          <a:ea typeface="微软雅黑" panose="020B0503020204020204" charset="-122"/>
                          <a:cs typeface="Times New Roman" panose="02020603050405020304" charset="0"/>
                          <a:sym typeface="+mn-ea"/>
                        </a:rPr>
                        <a:t>10</a:t>
                      </a:r>
                      <a:r>
                        <a:rPr lang="en-US" altLang="zh-CN" sz="1630" baseline="30000">
                          <a:latin typeface="Times New Roman" panose="02020603050405020304" charset="0"/>
                          <a:ea typeface="微软雅黑" panose="020B0503020204020204" charset="-122"/>
                          <a:cs typeface="Times New Roman" panose="02020603050405020304" charset="0"/>
                          <a:sym typeface="+mn-ea"/>
                        </a:rPr>
                        <a:t>-4</a:t>
                      </a:r>
                      <a:endParaRPr lang="zh-CN" altLang="en-US">
                        <a:latin typeface="Times New Roman" panose="02020603050405020304" charset="0"/>
                        <a:ea typeface="微软雅黑" panose="020B0503020204020204" charset="-122"/>
                        <a:cs typeface="Times New Roman" panose="02020603050405020304" charset="0"/>
                      </a:endParaRPr>
                    </a:p>
                  </a:txBody>
                  <a:tcPr anchor="ctr" anchorCtr="0">
                    <a:lnL>
                      <a:noFill/>
                    </a:lnL>
                    <a:lnR>
                      <a:noFill/>
                    </a:lnR>
                    <a:lnT>
                      <a:noFill/>
                    </a:lnT>
                    <a:lnB w="28575">
                      <a:solidFill>
                        <a:schemeClr val="tx1"/>
                      </a:solidFill>
                      <a:prstDash val="solid"/>
                    </a:lnB>
                    <a:lnTlToBr>
                      <a:noFill/>
                    </a:lnTlToBr>
                    <a:lnBlToTr>
                      <a:noFill/>
                    </a:lnBlToTr>
                    <a:solidFill>
                      <a:srgbClr val="000000">
                        <a:alpha val="0"/>
                      </a:srgbClr>
                    </a:solidFill>
                  </a:tcPr>
                </a:tc>
                <a:tc>
                  <a:txBody>
                    <a:bodyPr/>
                    <a:p>
                      <a:pPr algn="ctr">
                        <a:buNone/>
                      </a:pPr>
                      <a:r>
                        <a:rPr lang="en-US" altLang="zh-CN">
                          <a:latin typeface="Times New Roman" panose="02020603050405020304" charset="0"/>
                          <a:cs typeface="Times New Roman" panose="02020603050405020304" charset="0"/>
                        </a:rPr>
                        <a:t>3.7</a:t>
                      </a:r>
                      <a:endParaRPr lang="en-US" altLang="zh-CN">
                        <a:latin typeface="Times New Roman" panose="02020603050405020304" charset="0"/>
                        <a:cs typeface="Times New Roman" panose="02020603050405020304" charset="0"/>
                      </a:endParaRPr>
                    </a:p>
                  </a:txBody>
                  <a:tcPr anchor="ctr" anchorCtr="0">
                    <a:lnL>
                      <a:noFill/>
                    </a:lnL>
                    <a:lnR>
                      <a:noFill/>
                    </a:lnR>
                    <a:lnT>
                      <a:noFill/>
                    </a:lnT>
                    <a:lnB w="28575">
                      <a:solidFill>
                        <a:schemeClr val="tx1"/>
                      </a:solidFill>
                      <a:prstDash val="solid"/>
                    </a:lnB>
                    <a:lnTlToBr>
                      <a:noFill/>
                    </a:lnTlToBr>
                    <a:lnBlToTr>
                      <a:noFill/>
                    </a:lnBlToTr>
                    <a:solidFill>
                      <a:srgbClr val="000000">
                        <a:alpha val="0"/>
                      </a:srgbClr>
                    </a:solidFill>
                  </a:tcPr>
                </a:tc>
                <a:tc>
                  <a:txBody>
                    <a:bodyPr/>
                    <a:p>
                      <a:pPr>
                        <a:buNone/>
                      </a:pPr>
                      <a:r>
                        <a:rPr lang="zh-CN" altLang="en-US" sz="1400">
                          <a:latin typeface="微软雅黑" panose="020B0503020204020204" charset="-122"/>
                          <a:ea typeface="微软雅黑" panose="020B0503020204020204" charset="-122"/>
                          <a:sym typeface="+mn-ea"/>
                        </a:rPr>
                        <a:t>失效后果最严重</a:t>
                      </a:r>
                      <a:endParaRPr lang="zh-CN" altLang="en-US" sz="1400">
                        <a:latin typeface="微软雅黑" panose="020B0503020204020204" charset="-122"/>
                        <a:ea typeface="微软雅黑" panose="020B0503020204020204" charset="-122"/>
                      </a:endParaRPr>
                    </a:p>
                  </a:txBody>
                  <a:tcPr anchor="ctr" anchorCtr="0">
                    <a:lnL>
                      <a:noFill/>
                    </a:lnL>
                    <a:lnR>
                      <a:noFill/>
                    </a:lnR>
                    <a:lnT>
                      <a:noFill/>
                    </a:lnT>
                    <a:lnB w="28575">
                      <a:solidFill>
                        <a:schemeClr val="tx1"/>
                      </a:solidFill>
                      <a:prstDash val="solid"/>
                    </a:lnB>
                    <a:lnTlToBr>
                      <a:noFill/>
                    </a:lnTlToBr>
                    <a:lnBlToTr>
                      <a:noFill/>
                    </a:lnBlToTr>
                    <a:solidFill>
                      <a:srgbClr val="000000">
                        <a:alpha val="0"/>
                      </a:srgbClr>
                    </a:solidFill>
                  </a:tcPr>
                </a:tc>
              </a:tr>
            </a:tbl>
          </a:graphicData>
        </a:graphic>
      </p:graphicFrame>
      <p:sp>
        <p:nvSpPr>
          <p:cNvPr id="17" name="文本框 16"/>
          <p:cNvSpPr txBox="1"/>
          <p:nvPr/>
        </p:nvSpPr>
        <p:spPr>
          <a:xfrm>
            <a:off x="7403465" y="4574540"/>
            <a:ext cx="4574540" cy="2168525"/>
          </a:xfrm>
          <a:prstGeom prst="rect">
            <a:avLst/>
          </a:prstGeom>
          <a:noFill/>
        </p:spPr>
        <p:txBody>
          <a:bodyPr wrap="square" rtlCol="0">
            <a:spAutoFit/>
          </a:bodyPr>
          <a:p>
            <a:pPr marL="285750" indent="-285750" fontAlgn="auto">
              <a:lnSpc>
                <a:spcPct val="150000"/>
              </a:lnSpc>
              <a:buFont typeface="Wingdings" panose="05000000000000000000" charset="0"/>
              <a:buChar char="l"/>
            </a:pPr>
            <a:r>
              <a:rPr lang="zh-CN" altLang="en-US">
                <a:latin typeface="微软雅黑" panose="020B0503020204020204" charset="-122"/>
                <a:ea typeface="微软雅黑" panose="020B0503020204020204" charset="-122"/>
                <a:cs typeface="微软雅黑" panose="020B0503020204020204" charset="-122"/>
              </a:rPr>
              <a:t>以 </a:t>
            </a:r>
            <a:r>
              <a:rPr lang="en-US" altLang="zh-CN">
                <a:latin typeface="Times New Roman" panose="02020603050405020304" charset="0"/>
                <a:ea typeface="微软雅黑" panose="020B0503020204020204" charset="-122"/>
                <a:cs typeface="Times New Roman" panose="02020603050405020304" charset="0"/>
              </a:rPr>
              <a:t>C70</a:t>
            </a:r>
            <a:r>
              <a:rPr lang="en-US" altLang="zh-CN">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混凝土压应力限值 </a:t>
            </a:r>
            <a:r>
              <a:rPr lang="zh-CN" altLang="en-US">
                <a:latin typeface="Times New Roman" panose="02020603050405020304" charset="0"/>
                <a:ea typeface="微软雅黑" panose="020B0503020204020204" charset="-122"/>
                <a:cs typeface="Times New Roman" panose="02020603050405020304" charset="0"/>
              </a:rPr>
              <a:t>31.8 </a:t>
            </a:r>
            <a:r>
              <a:rPr lang="en-US" altLang="zh-CN">
                <a:latin typeface="Times New Roman" panose="02020603050405020304" charset="0"/>
                <a:ea typeface="微软雅黑" panose="020B0503020204020204" charset="-122"/>
                <a:cs typeface="Times New Roman" panose="02020603050405020304" charset="0"/>
              </a:rPr>
              <a:t>MPa</a:t>
            </a:r>
            <a:r>
              <a:rPr lang="en-US" altLang="zh-CN">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作为判别标准，计算得到的混塔失效概率为</a:t>
            </a:r>
            <a:r>
              <a:rPr lang="en-US">
                <a:latin typeface="Times New Roman" panose="02020603050405020304" charset="0"/>
                <a:ea typeface="微软雅黑" panose="020B0503020204020204" charset="-122"/>
                <a:cs typeface="Times New Roman" panose="02020603050405020304" charset="0"/>
              </a:rPr>
              <a:t>10</a:t>
            </a:r>
            <a:r>
              <a:rPr lang="en-US" baseline="30000">
                <a:latin typeface="Times New Roman" panose="02020603050405020304" charset="0"/>
                <a:ea typeface="微软雅黑" panose="020B0503020204020204" charset="-122"/>
                <a:cs typeface="Times New Roman" panose="02020603050405020304" charset="0"/>
              </a:rPr>
              <a:t>-4</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可靠指标为</a:t>
            </a:r>
            <a:r>
              <a:rPr lang="en-US" altLang="zh-CN" i="1">
                <a:solidFill>
                  <a:srgbClr val="C00000"/>
                </a:solidFill>
                <a:latin typeface="Times New Roman" panose="02020603050405020304" charset="0"/>
                <a:ea typeface="微软雅黑" panose="020B0503020204020204" charset="-122"/>
                <a:cs typeface="Times New Roman" panose="02020603050405020304" charset="0"/>
              </a:rPr>
              <a:t>β</a:t>
            </a:r>
            <a:r>
              <a:rPr lang="en-US" altLang="zh-CN" baseline="-25000">
                <a:solidFill>
                  <a:srgbClr val="C00000"/>
                </a:solidFill>
                <a:latin typeface="Times New Roman" panose="02020603050405020304" charset="0"/>
                <a:ea typeface="微软雅黑" panose="020B0503020204020204" charset="-122"/>
                <a:cs typeface="Times New Roman" panose="02020603050405020304" charset="0"/>
              </a:rPr>
              <a:t>stress</a:t>
            </a:r>
            <a:r>
              <a:rPr lang="en-US" altLang="zh-CN">
                <a:solidFill>
                  <a:srgbClr val="C00000"/>
                </a:solidFill>
                <a:latin typeface="Times New Roman" panose="02020603050405020304" charset="0"/>
                <a:ea typeface="微软雅黑" panose="020B0503020204020204" charset="-122"/>
                <a:cs typeface="Times New Roman" panose="02020603050405020304" charset="0"/>
              </a:rPr>
              <a:t>=3.28</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a:p>
            <a:pPr marL="285750" indent="-285750" fontAlgn="auto">
              <a:lnSpc>
                <a:spcPct val="150000"/>
              </a:lnSpc>
              <a:buFont typeface="Wingdings" panose="05000000000000000000" charset="0"/>
              <a:buChar char="l"/>
            </a:pPr>
            <a:r>
              <a:rPr lang="zh-CN" altLang="en-US">
                <a:latin typeface="微软雅黑" panose="020B0503020204020204" charset="-122"/>
                <a:ea typeface="微软雅黑" panose="020B0503020204020204" charset="-122"/>
                <a:cs typeface="微软雅黑" panose="020B0503020204020204" charset="-122"/>
              </a:rPr>
              <a:t>基本满足 </a:t>
            </a:r>
            <a:r>
              <a:rPr lang="en-US" altLang="zh-CN">
                <a:latin typeface="Times New Roman" panose="02020603050405020304" charset="0"/>
                <a:ea typeface="微软雅黑" panose="020B0503020204020204" charset="-122"/>
                <a:cs typeface="Times New Roman" panose="02020603050405020304" charset="0"/>
              </a:rPr>
              <a:t>IEC </a:t>
            </a:r>
            <a:r>
              <a:rPr lang="zh-CN" altLang="en-US">
                <a:latin typeface="微软雅黑" panose="020B0503020204020204" charset="-122"/>
                <a:ea typeface="微软雅黑" panose="020B0503020204020204" charset="-122"/>
                <a:cs typeface="微软雅黑" panose="020B0503020204020204" charset="-122"/>
              </a:rPr>
              <a:t>标准中部件等级</a:t>
            </a:r>
            <a:r>
              <a:rPr lang="zh-CN" altLang="en-US">
                <a:latin typeface="Times New Roman" panose="02020603050405020304" charset="0"/>
                <a:ea typeface="微软雅黑" panose="020B0503020204020204" charset="-122"/>
                <a:cs typeface="Times New Roman" panose="02020603050405020304" charset="0"/>
              </a:rPr>
              <a:t> 2</a:t>
            </a:r>
            <a:r>
              <a:rPr lang="zh-CN" altLang="en-US">
                <a:latin typeface="微软雅黑" panose="020B0503020204020204" charset="-122"/>
                <a:ea typeface="微软雅黑" panose="020B0503020204020204" charset="-122"/>
                <a:cs typeface="微软雅黑" panose="020B0503020204020204" charset="-122"/>
              </a:rPr>
              <a:t> 的可靠指标要求，但</a:t>
            </a:r>
            <a:r>
              <a:rPr lang="zh-CN" altLang="en-US">
                <a:solidFill>
                  <a:srgbClr val="C00000"/>
                </a:solidFill>
                <a:latin typeface="微软雅黑" panose="020B0503020204020204" charset="-122"/>
                <a:ea typeface="微软雅黑" panose="020B0503020204020204" charset="-122"/>
                <a:cs typeface="微软雅黑" panose="020B0503020204020204" charset="-122"/>
              </a:rPr>
              <a:t>未满足部件等级 </a:t>
            </a:r>
            <a:r>
              <a:rPr lang="zh-CN" altLang="en-US">
                <a:solidFill>
                  <a:srgbClr val="C00000"/>
                </a:solidFill>
                <a:latin typeface="Times New Roman" panose="02020603050405020304" charset="0"/>
                <a:ea typeface="微软雅黑" panose="020B0503020204020204" charset="-122"/>
                <a:cs typeface="Times New Roman" panose="02020603050405020304" charset="0"/>
              </a:rPr>
              <a:t>3</a:t>
            </a:r>
            <a:r>
              <a:rPr lang="zh-CN" altLang="en-US">
                <a:solidFill>
                  <a:srgbClr val="C00000"/>
                </a:solidFill>
                <a:latin typeface="微软雅黑" panose="020B0503020204020204" charset="-122"/>
                <a:ea typeface="微软雅黑" panose="020B0503020204020204" charset="-122"/>
                <a:cs typeface="微软雅黑" panose="020B0503020204020204" charset="-122"/>
              </a:rPr>
              <a:t> 的要求</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55/68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96" name="picture 1696"/>
          <p:cNvPicPr>
            <a:picLocks noChangeAspect="1"/>
          </p:cNvPicPr>
          <p:nvPr/>
        </p:nvPicPr>
        <p:blipFill>
          <a:blip r:embed="rId1"/>
          <a:stretch>
            <a:fillRect/>
          </a:stretch>
        </p:blipFill>
        <p:spPr>
          <a:xfrm rot="21600000">
            <a:off x="919520" y="5603154"/>
            <a:ext cx="7037100" cy="810881"/>
          </a:xfrm>
          <a:prstGeom prst="rect">
            <a:avLst/>
          </a:prstGeom>
        </p:spPr>
      </p:pic>
      <p:sp>
        <p:nvSpPr>
          <p:cNvPr id="1698" name="textbox 1698"/>
          <p:cNvSpPr/>
          <p:nvPr/>
        </p:nvSpPr>
        <p:spPr>
          <a:xfrm>
            <a:off x="1314669" y="5624877"/>
            <a:ext cx="6243694" cy="789150"/>
          </a:xfrm>
          <a:prstGeom prst="rect">
            <a:avLst/>
          </a:prstGeom>
          <a:noFill/>
          <a:ln w="0" cap="flat">
            <a:noFill/>
            <a:prstDash val="solid"/>
            <a:miter lim="0"/>
          </a:ln>
        </p:spPr>
        <p:txBody>
          <a:bodyPr vert="horz" wrap="square" lIns="0" tIns="0" rIns="0" bIns="0"/>
          <a:p>
            <a:pPr algn="l" rtl="0" eaLnBrk="0">
              <a:lnSpc>
                <a:spcPct val="84000"/>
              </a:lnSpc>
            </a:pPr>
            <a:endParaRPr sz="115" dirty="0">
              <a:latin typeface="Arial" panose="020B0604020202020204"/>
              <a:ea typeface="Arial" panose="020B0604020202020204"/>
              <a:cs typeface="Arial" panose="020B0604020202020204"/>
            </a:endParaRPr>
          </a:p>
          <a:p>
            <a:pPr marL="12700" algn="l" rtl="0" eaLnBrk="0">
              <a:lnSpc>
                <a:spcPct val="94000"/>
              </a:lnSpc>
            </a:pPr>
            <a:r>
              <a:rPr sz="2280" b="1" kern="0" spc="-100" dirty="0">
                <a:solidFill>
                  <a:srgbClr val="000000">
                    <a:alpha val="100000"/>
                  </a:srgbClr>
                </a:solidFill>
                <a:latin typeface="微软雅黑" panose="020B0503020204020204" charset="-122"/>
                <a:ea typeface="微软雅黑" panose="020B0503020204020204" charset="-122"/>
                <a:cs typeface="黑体" panose="02010609060101010101" charset="-122"/>
              </a:rPr>
              <a:t>如何</a:t>
            </a:r>
            <a:r>
              <a:rPr sz="2280" b="1" kern="0" spc="-100" dirty="0">
                <a:solidFill>
                  <a:srgbClr val="C02020">
                    <a:alpha val="100000"/>
                  </a:srgbClr>
                </a:solidFill>
                <a:latin typeface="微软雅黑" panose="020B0503020204020204" charset="-122"/>
                <a:ea typeface="微软雅黑" panose="020B0503020204020204" charset="-122"/>
                <a:cs typeface="黑体" panose="02010609060101010101" charset="-122"/>
              </a:rPr>
              <a:t>合理确定混塔式风电机组</a:t>
            </a:r>
            <a:r>
              <a:rPr sz="2280" b="1" kern="0" spc="-110" dirty="0">
                <a:solidFill>
                  <a:srgbClr val="C02020">
                    <a:alpha val="100000"/>
                  </a:srgbClr>
                </a:solidFill>
                <a:latin typeface="微软雅黑" panose="020B0503020204020204" charset="-122"/>
                <a:ea typeface="微软雅黑" panose="020B0503020204020204" charset="-122"/>
                <a:cs typeface="黑体" panose="02010609060101010101" charset="-122"/>
              </a:rPr>
              <a:t>的水平位移角限值，</a:t>
            </a:r>
            <a:endParaRPr sz="2280" dirty="0">
              <a:latin typeface="微软雅黑" panose="020B0503020204020204" charset="-122"/>
              <a:ea typeface="微软雅黑" panose="020B0503020204020204" charset="-122"/>
              <a:cs typeface="黑体" panose="02010609060101010101" charset="-122"/>
            </a:endParaRPr>
          </a:p>
          <a:p>
            <a:pPr algn="l" rtl="0" eaLnBrk="0">
              <a:lnSpc>
                <a:spcPct val="106000"/>
              </a:lnSpc>
            </a:pPr>
            <a:endParaRPr sz="570" dirty="0">
              <a:latin typeface="微软雅黑" panose="020B0503020204020204" charset="-122"/>
              <a:ea typeface="微软雅黑" panose="020B0503020204020204" charset="-122"/>
              <a:cs typeface="Arial" panose="020B0604020202020204"/>
            </a:endParaRPr>
          </a:p>
          <a:p>
            <a:pPr marL="539115" algn="l" rtl="0" eaLnBrk="0">
              <a:lnSpc>
                <a:spcPct val="98000"/>
              </a:lnSpc>
              <a:spcBef>
                <a:spcPts val="0"/>
              </a:spcBef>
            </a:pPr>
            <a:r>
              <a:rPr sz="2280" b="1" kern="0" spc="-60" dirty="0">
                <a:solidFill>
                  <a:srgbClr val="000000">
                    <a:alpha val="100000"/>
                  </a:srgbClr>
                </a:solidFill>
                <a:latin typeface="微软雅黑" panose="020B0503020204020204" charset="-122"/>
                <a:ea typeface="微软雅黑" panose="020B0503020204020204" charset="-122"/>
                <a:cs typeface="黑体" panose="02010609060101010101" charset="-122"/>
              </a:rPr>
              <a:t>已成为风电领域研究中的关键问题之一。</a:t>
            </a:r>
            <a:endParaRPr sz="2280" dirty="0">
              <a:latin typeface="微软雅黑" panose="020B0503020204020204" charset="-122"/>
              <a:ea typeface="微软雅黑" panose="020B0503020204020204" charset="-122"/>
              <a:cs typeface="黑体" panose="02010609060101010101" charset="-122"/>
            </a:endParaRPr>
          </a:p>
        </p:txBody>
      </p:sp>
      <p:sp>
        <p:nvSpPr>
          <p:cNvPr id="322" name="textbox 322"/>
          <p:cNvSpPr/>
          <p:nvPr/>
        </p:nvSpPr>
        <p:spPr>
          <a:xfrm>
            <a:off x="1374134" y="500181"/>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cxnSp>
        <p:nvCxnSpPr>
          <p:cNvPr id="4" name="直接连接符 3"/>
          <p:cNvCxnSpPr/>
          <p:nvPr/>
        </p:nvCxnSpPr>
        <p:spPr>
          <a:xfrm flipV="1">
            <a:off x="1395095" y="999490"/>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5" name="椭圆 4"/>
          <p:cNvSpPr/>
          <p:nvPr/>
        </p:nvSpPr>
        <p:spPr>
          <a:xfrm>
            <a:off x="629285" y="41656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pic>
        <p:nvPicPr>
          <p:cNvPr id="680" name="picture 680"/>
          <p:cNvPicPr>
            <a:picLocks noChangeAspect="1"/>
          </p:cNvPicPr>
          <p:nvPr/>
        </p:nvPicPr>
        <p:blipFill>
          <a:blip r:embed="rId2"/>
          <a:stretch>
            <a:fillRect/>
          </a:stretch>
        </p:blipFill>
        <p:spPr>
          <a:xfrm rot="21600000">
            <a:off x="1157264" y="1360165"/>
            <a:ext cx="217139" cy="217206"/>
          </a:xfrm>
          <a:prstGeom prst="rect">
            <a:avLst/>
          </a:prstGeom>
        </p:spPr>
      </p:pic>
      <p:sp>
        <p:nvSpPr>
          <p:cNvPr id="6" name="文本框 5"/>
          <p:cNvSpPr txBox="1"/>
          <p:nvPr/>
        </p:nvSpPr>
        <p:spPr>
          <a:xfrm>
            <a:off x="1492250" y="1235075"/>
            <a:ext cx="3715385" cy="445135"/>
          </a:xfrm>
          <a:prstGeom prst="rect">
            <a:avLst/>
          </a:prstGeom>
          <a:noFill/>
        </p:spPr>
        <p:txBody>
          <a:bodyPr wrap="square" rtlCol="0">
            <a:spAutoFit/>
          </a:bodyPr>
          <a:p>
            <a:r>
              <a:rPr lang="zh-CN" altLang="en-US" sz="2300" b="1">
                <a:solidFill>
                  <a:srgbClr val="2F5597"/>
                </a:solidFill>
                <a:latin typeface="微软雅黑" panose="020B0503020204020204" charset="-122"/>
                <a:ea typeface="微软雅黑" panose="020B0503020204020204" charset="-122"/>
              </a:rPr>
              <a:t>水平位移角限值的</a:t>
            </a:r>
            <a:r>
              <a:rPr lang="zh-CN" altLang="en-US" sz="2300" b="1">
                <a:solidFill>
                  <a:srgbClr val="2F5597"/>
                </a:solidFill>
                <a:latin typeface="微软雅黑" panose="020B0503020204020204" charset="-122"/>
                <a:ea typeface="微软雅黑" panose="020B0503020204020204" charset="-122"/>
              </a:rPr>
              <a:t>确定</a:t>
            </a:r>
            <a:endParaRPr lang="zh-CN" altLang="en-US" sz="2300" b="1">
              <a:solidFill>
                <a:srgbClr val="2F5597"/>
              </a:solidFill>
              <a:latin typeface="微软雅黑" panose="020B0503020204020204" charset="-122"/>
              <a:ea typeface="微软雅黑" panose="020B0503020204020204" charset="-122"/>
            </a:endParaRPr>
          </a:p>
        </p:txBody>
      </p:sp>
      <p:sp>
        <p:nvSpPr>
          <p:cNvPr id="7" name="文本框 6"/>
          <p:cNvSpPr txBox="1"/>
          <p:nvPr/>
        </p:nvSpPr>
        <p:spPr>
          <a:xfrm>
            <a:off x="1220470" y="1708150"/>
            <a:ext cx="6464300" cy="1087755"/>
          </a:xfrm>
          <a:prstGeom prst="rect">
            <a:avLst/>
          </a:prstGeom>
          <a:noFill/>
        </p:spPr>
        <p:txBody>
          <a:bodyPr wrap="square" rtlCol="0">
            <a:spAutoFit/>
          </a:bodyPr>
          <a:p>
            <a:pPr marL="285750" indent="-285750" fontAlgn="auto">
              <a:lnSpc>
                <a:spcPct val="120000"/>
              </a:lnSpc>
              <a:buFont typeface="Wingdings" panose="05000000000000000000" charset="0"/>
              <a:buChar char="l"/>
            </a:pPr>
            <a:r>
              <a:rPr lang="zh-CN" altLang="en-US" b="1">
                <a:solidFill>
                  <a:srgbClr val="C00000"/>
                </a:solidFill>
                <a:latin typeface="微软雅黑" panose="020B0503020204020204" charset="-122"/>
                <a:ea typeface="微软雅黑" panose="020B0503020204020204" charset="-122"/>
              </a:rPr>
              <a:t>水平位移角限值</a:t>
            </a:r>
            <a:r>
              <a:rPr lang="zh-CN" altLang="en-US" b="1">
                <a:latin typeface="微软雅黑" panose="020B0503020204020204" charset="-122"/>
                <a:ea typeface="微软雅黑" panose="020B0503020204020204" charset="-122"/>
              </a:rPr>
              <a:t>是快速评估结构安全性的关键指标之一。</a:t>
            </a:r>
            <a:endParaRPr lang="zh-CN" altLang="en-US" b="1">
              <a:latin typeface="微软雅黑" panose="020B0503020204020204" charset="-122"/>
              <a:ea typeface="微软雅黑" panose="020B0503020204020204" charset="-122"/>
            </a:endParaRPr>
          </a:p>
          <a:p>
            <a:pPr marL="285750" indent="-285750" fontAlgn="auto">
              <a:lnSpc>
                <a:spcPct val="120000"/>
              </a:lnSpc>
              <a:buFont typeface="Wingdings" panose="05000000000000000000" charset="0"/>
              <a:buChar char="l"/>
            </a:pPr>
            <a:r>
              <a:rPr lang="zh-CN" altLang="en-US" b="1">
                <a:latin typeface="微软雅黑" panose="020B0503020204020204" charset="-122"/>
                <a:ea typeface="微软雅黑" panose="020B0503020204020204" charset="-122"/>
              </a:rPr>
              <a:t>由于混塔的应用时间相对较短，国内外尚无明确的标准或行业规范对这一特殊混合结构的水平位移角限值做出规定。</a:t>
            </a:r>
            <a:endParaRPr lang="zh-CN" altLang="en-US" b="1">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3"/>
          <a:stretch>
            <a:fillRect/>
          </a:stretch>
        </p:blipFill>
        <p:spPr>
          <a:xfrm>
            <a:off x="8493760" y="1708150"/>
            <a:ext cx="2592070" cy="4483735"/>
          </a:xfrm>
          <a:prstGeom prst="rect">
            <a:avLst/>
          </a:prstGeom>
        </p:spPr>
      </p:pic>
      <p:sp>
        <p:nvSpPr>
          <p:cNvPr id="9" name="文本框 8"/>
          <p:cNvSpPr txBox="1"/>
          <p:nvPr/>
        </p:nvSpPr>
        <p:spPr>
          <a:xfrm>
            <a:off x="9361170" y="1746885"/>
            <a:ext cx="2171065" cy="534670"/>
          </a:xfrm>
          <a:prstGeom prst="rect">
            <a:avLst/>
          </a:prstGeom>
          <a:noFill/>
        </p:spPr>
        <p:txBody>
          <a:bodyPr wrap="square" rtlCol="0">
            <a:noAutofit/>
          </a:bodyPr>
          <a:p>
            <a:r>
              <a:rPr lang="zh-CN" altLang="en-US" sz="1400">
                <a:latin typeface="微软雅黑" panose="020B0503020204020204" charset="-122"/>
                <a:ea typeface="微软雅黑" panose="020B0503020204020204" charset="-122"/>
              </a:rPr>
              <a:t>Δ</a:t>
            </a:r>
            <a:r>
              <a:rPr lang="en-US" altLang="zh-CN" sz="1400" i="1">
                <a:latin typeface="微软雅黑" panose="020B0503020204020204" charset="-122"/>
                <a:ea typeface="微软雅黑" panose="020B0503020204020204" charset="-122"/>
              </a:rPr>
              <a:t>u </a:t>
            </a:r>
            <a:r>
              <a:rPr lang="en-US" altLang="zh-CN" sz="1400">
                <a:latin typeface="微软雅黑" panose="020B0503020204020204" charset="-122"/>
                <a:ea typeface="微软雅黑" panose="020B0503020204020204" charset="-122"/>
              </a:rPr>
              <a:t>: </a:t>
            </a:r>
            <a:r>
              <a:rPr lang="zh-CN" altLang="en-US" sz="1400">
                <a:latin typeface="微软雅黑" panose="020B0503020204020204" charset="-122"/>
                <a:ea typeface="微软雅黑" panose="020B0503020204020204" charset="-122"/>
              </a:rPr>
              <a:t>顶部水平位移</a:t>
            </a:r>
            <a:endParaRPr lang="zh-CN" altLang="en-US" sz="1400">
              <a:latin typeface="微软雅黑" panose="020B0503020204020204" charset="-122"/>
              <a:ea typeface="微软雅黑" panose="020B0503020204020204" charset="-122"/>
            </a:endParaRPr>
          </a:p>
          <a:p>
            <a:r>
              <a:rPr lang="en-US" altLang="zh-CN" sz="1400" i="1">
                <a:latin typeface="微软雅黑" panose="020B0503020204020204" charset="-122"/>
                <a:ea typeface="微软雅黑" panose="020B0503020204020204" charset="-122"/>
              </a:rPr>
              <a:t>H </a:t>
            </a:r>
            <a:r>
              <a:rPr lang="en-US" altLang="zh-CN" sz="1400">
                <a:latin typeface="微软雅黑" panose="020B0503020204020204" charset="-122"/>
                <a:ea typeface="微软雅黑" panose="020B0503020204020204" charset="-122"/>
              </a:rPr>
              <a:t>: </a:t>
            </a:r>
            <a:r>
              <a:rPr lang="zh-CN" altLang="en-US" sz="1400">
                <a:latin typeface="微软雅黑" panose="020B0503020204020204" charset="-122"/>
                <a:ea typeface="微软雅黑" panose="020B0503020204020204" charset="-122"/>
              </a:rPr>
              <a:t>高度</a:t>
            </a:r>
            <a:endParaRPr lang="zh-CN" altLang="en-US" sz="1400" i="1">
              <a:latin typeface="微软雅黑" panose="020B0503020204020204" charset="-122"/>
              <a:ea typeface="微软雅黑" panose="020B0503020204020204" charset="-122"/>
            </a:endParaRPr>
          </a:p>
          <a:p>
            <a:endParaRPr lang="zh-CN" altLang="en-US" sz="1400" i="1">
              <a:latin typeface="微软雅黑" panose="020B0503020204020204" charset="-122"/>
              <a:ea typeface="微软雅黑" panose="020B0503020204020204" charset="-122"/>
            </a:endParaRPr>
          </a:p>
        </p:txBody>
      </p:sp>
      <p:graphicFrame>
        <p:nvGraphicFramePr>
          <p:cNvPr id="11" name="表格 10"/>
          <p:cNvGraphicFramePr/>
          <p:nvPr>
            <p:custDataLst>
              <p:tags r:id="rId4"/>
            </p:custDataLst>
          </p:nvPr>
        </p:nvGraphicFramePr>
        <p:xfrm>
          <a:off x="1314450" y="2823845"/>
          <a:ext cx="6370320" cy="2595880"/>
        </p:xfrm>
        <a:graphic>
          <a:graphicData uri="http://schemas.openxmlformats.org/drawingml/2006/table">
            <a:tbl>
              <a:tblPr firstRow="1" bandRow="1">
                <a:tableStyleId>{5C22544A-7EE6-4342-B048-85BDC9FD1C3A}</a:tableStyleId>
              </a:tblPr>
              <a:tblGrid>
                <a:gridCol w="2123440"/>
                <a:gridCol w="2123440"/>
                <a:gridCol w="2123440"/>
              </a:tblGrid>
              <a:tr h="356870">
                <a:tc>
                  <a:txBody>
                    <a:bodyPr/>
                    <a:p>
                      <a:pPr algn="ctr">
                        <a:buNone/>
                      </a:pPr>
                      <a:r>
                        <a:rPr lang="zh-CN" altLang="en-US" sz="1600">
                          <a:latin typeface="微软雅黑" panose="020B0503020204020204" charset="-122"/>
                          <a:ea typeface="微软雅黑" panose="020B0503020204020204" charset="-122"/>
                        </a:rPr>
                        <a:t>标准名称</a:t>
                      </a:r>
                      <a:endParaRPr lang="zh-CN" altLang="en-US" sz="1600">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zh-CN" altLang="en-US" sz="1600">
                          <a:latin typeface="微软雅黑" panose="020B0503020204020204" charset="-122"/>
                          <a:ea typeface="微软雅黑" panose="020B0503020204020204" charset="-122"/>
                        </a:rPr>
                        <a:t>标准号</a:t>
                      </a:r>
                      <a:endParaRPr lang="zh-CN" altLang="en-US" sz="1600">
                        <a:latin typeface="微软雅黑" panose="020B0503020204020204" charset="-122"/>
                        <a:ea typeface="微软雅黑" panose="020B0503020204020204" charset="-122"/>
                      </a:endParaRPr>
                    </a:p>
                  </a:txBody>
                  <a:tcPr anchor="ctr" anchorCtr="0"/>
                </a:tc>
                <a:tc>
                  <a:txBody>
                    <a:bodyPr/>
                    <a:p>
                      <a:pPr algn="ctr">
                        <a:buNone/>
                      </a:pPr>
                      <a:r>
                        <a:rPr lang="en-US" altLang="zh-CN" sz="1600">
                          <a:latin typeface="微软雅黑" panose="020B0503020204020204" charset="-122"/>
                          <a:ea typeface="微软雅黑" panose="020B0503020204020204" charset="-122"/>
                        </a:rPr>
                        <a:t>Δ</a:t>
                      </a:r>
                      <a:r>
                        <a:rPr lang="en-US" altLang="zh-CN" sz="1600" i="1">
                          <a:latin typeface="微软雅黑" panose="020B0503020204020204" charset="-122"/>
                          <a:ea typeface="微软雅黑" panose="020B0503020204020204" charset="-122"/>
                        </a:rPr>
                        <a:t>u</a:t>
                      </a:r>
                      <a:r>
                        <a:rPr lang="en-US" altLang="zh-CN" sz="1600">
                          <a:latin typeface="微软雅黑" panose="020B0503020204020204" charset="-122"/>
                          <a:ea typeface="微软雅黑" panose="020B0503020204020204" charset="-122"/>
                        </a:rPr>
                        <a:t> /</a:t>
                      </a:r>
                      <a:r>
                        <a:rPr lang="en-US" altLang="zh-CN" sz="1600" i="1">
                          <a:latin typeface="微软雅黑" panose="020B0503020204020204" charset="-122"/>
                          <a:ea typeface="微软雅黑" panose="020B0503020204020204" charset="-122"/>
                        </a:rPr>
                        <a:t>H </a:t>
                      </a:r>
                      <a:r>
                        <a:rPr lang="zh-CN" altLang="en-US" sz="1600">
                          <a:latin typeface="微软雅黑" panose="020B0503020204020204" charset="-122"/>
                          <a:ea typeface="微软雅黑" panose="020B0503020204020204" charset="-122"/>
                        </a:rPr>
                        <a:t>限值</a:t>
                      </a:r>
                      <a:endParaRPr lang="zh-CN" altLang="en-US" sz="1600">
                        <a:latin typeface="微软雅黑" panose="020B0503020204020204" charset="-122"/>
                        <a:ea typeface="微软雅黑" panose="020B0503020204020204" charset="-122"/>
                      </a:endParaRPr>
                    </a:p>
                  </a:txBody>
                  <a:tcPr anchor="ctr" anchorCtr="0"/>
                </a:tc>
              </a:tr>
              <a:tr h="559435">
                <a:tc>
                  <a:txBody>
                    <a:bodyPr/>
                    <a:p>
                      <a:pPr algn="ctr">
                        <a:buNone/>
                      </a:pPr>
                      <a:r>
                        <a:rPr lang="zh-CN" altLang="en-US" sz="1200" b="1">
                          <a:solidFill>
                            <a:schemeClr val="bg1"/>
                          </a:solidFill>
                          <a:latin typeface="微软雅黑" panose="020B0503020204020204" charset="-122"/>
                          <a:ea typeface="微软雅黑" panose="020B0503020204020204" charset="-122"/>
                        </a:rPr>
                        <a:t>建筑抗震设计规范</a:t>
                      </a:r>
                      <a:endParaRPr lang="zh-CN" altLang="en-US" sz="12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400">
                          <a:latin typeface="微软雅黑" panose="020B0503020204020204" charset="-122"/>
                          <a:ea typeface="微软雅黑" panose="020B0503020204020204" charset="-122"/>
                        </a:rPr>
                        <a:t>GB 50011-2010</a:t>
                      </a:r>
                      <a:endParaRPr lang="en-US" altLang="zh-CN" sz="1400">
                        <a:latin typeface="微软雅黑" panose="020B0503020204020204" charset="-122"/>
                        <a:ea typeface="微软雅黑" panose="020B0503020204020204" charset="-122"/>
                      </a:endParaRPr>
                    </a:p>
                  </a:txBody>
                  <a:tcPr anchor="ctr" anchorCtr="0"/>
                </a:tc>
                <a:tc>
                  <a:txBody>
                    <a:bodyPr/>
                    <a:p>
                      <a:pPr algn="l">
                        <a:buNone/>
                      </a:pPr>
                      <a:r>
                        <a:rPr lang="zh-CN" altLang="en-US" sz="1200">
                          <a:latin typeface="微软雅黑" panose="020B0503020204020204" charset="-122"/>
                          <a:ea typeface="微软雅黑" panose="020B0503020204020204" charset="-122"/>
                        </a:rPr>
                        <a:t>钢结构：1/50，钢筋混凝土结构：1/100</a:t>
                      </a:r>
                      <a:endParaRPr lang="zh-CN" altLang="en-US" sz="1200">
                        <a:latin typeface="微软雅黑" panose="020B0503020204020204" charset="-122"/>
                        <a:ea typeface="微软雅黑" panose="020B0503020204020204" charset="-122"/>
                      </a:endParaRPr>
                    </a:p>
                  </a:txBody>
                  <a:tcPr anchor="ctr" anchorCtr="0"/>
                </a:tc>
              </a:tr>
              <a:tr h="560070">
                <a:tc>
                  <a:txBody>
                    <a:bodyPr/>
                    <a:p>
                      <a:pPr algn="ctr">
                        <a:buNone/>
                      </a:pPr>
                      <a:r>
                        <a:rPr lang="zh-CN" altLang="en-US" sz="1200" b="1">
                          <a:solidFill>
                            <a:schemeClr val="bg1"/>
                          </a:solidFill>
                          <a:latin typeface="微软雅黑" panose="020B0503020204020204" charset="-122"/>
                          <a:ea typeface="微软雅黑" panose="020B0503020204020204" charset="-122"/>
                        </a:rPr>
                        <a:t>烟囱工程技术标准</a:t>
                      </a:r>
                      <a:endParaRPr lang="zh-CN" altLang="en-US" sz="12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400">
                          <a:latin typeface="微软雅黑" panose="020B0503020204020204" charset="-122"/>
                          <a:ea typeface="微软雅黑" panose="020B0503020204020204" charset="-122"/>
                        </a:rPr>
                        <a:t>GB 50051-2021</a:t>
                      </a:r>
                      <a:endParaRPr lang="en-US" altLang="zh-CN" sz="1400">
                        <a:latin typeface="微软雅黑" panose="020B0503020204020204" charset="-122"/>
                        <a:ea typeface="微软雅黑" panose="020B0503020204020204" charset="-122"/>
                      </a:endParaRPr>
                    </a:p>
                  </a:txBody>
                  <a:tcPr anchor="ctr" anchorCtr="0"/>
                </a:tc>
                <a:tc>
                  <a:txBody>
                    <a:bodyPr/>
                    <a:p>
                      <a:pPr algn="l">
                        <a:buNone/>
                      </a:pPr>
                      <a:r>
                        <a:rPr lang="zh-CN" altLang="en-US" sz="1200">
                          <a:latin typeface="微软雅黑" panose="020B0503020204020204" charset="-122"/>
                          <a:ea typeface="微软雅黑" panose="020B0503020204020204" charset="-122"/>
                        </a:rPr>
                        <a:t>混凝土及钢结构烟囱不应大于 1/100</a:t>
                      </a:r>
                      <a:endParaRPr lang="zh-CN" altLang="en-US" sz="1200">
                        <a:latin typeface="微软雅黑" panose="020B0503020204020204" charset="-122"/>
                        <a:ea typeface="微软雅黑" panose="020B0503020204020204" charset="-122"/>
                      </a:endParaRPr>
                    </a:p>
                  </a:txBody>
                  <a:tcPr anchor="ctr" anchorCtr="0"/>
                </a:tc>
              </a:tr>
              <a:tr h="559435">
                <a:tc>
                  <a:txBody>
                    <a:bodyPr/>
                    <a:p>
                      <a:pPr algn="ctr">
                        <a:buNone/>
                      </a:pPr>
                      <a:r>
                        <a:rPr lang="zh-CN" altLang="en-US" sz="1200" b="1">
                          <a:solidFill>
                            <a:schemeClr val="bg1"/>
                          </a:solidFill>
                          <a:latin typeface="微软雅黑" panose="020B0503020204020204" charset="-122"/>
                          <a:ea typeface="微软雅黑" panose="020B0503020204020204" charset="-122"/>
                        </a:rPr>
                        <a:t>高耸结构设计标准</a:t>
                      </a:r>
                      <a:endParaRPr lang="zh-CN" altLang="en-US" sz="1200" b="1">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400">
                          <a:latin typeface="微软雅黑" panose="020B0503020204020204" charset="-122"/>
                          <a:ea typeface="微软雅黑" panose="020B0503020204020204" charset="-122"/>
                        </a:rPr>
                        <a:t>GB 50135-2019</a:t>
                      </a:r>
                      <a:endParaRPr lang="en-US" altLang="zh-CN" sz="1400">
                        <a:latin typeface="微软雅黑" panose="020B0503020204020204" charset="-122"/>
                        <a:ea typeface="微软雅黑" panose="020B0503020204020204" charset="-122"/>
                      </a:endParaRPr>
                    </a:p>
                  </a:txBody>
                  <a:tcPr anchor="ctr" anchorCtr="0"/>
                </a:tc>
                <a:tc>
                  <a:txBody>
                    <a:bodyPr/>
                    <a:p>
                      <a:pPr algn="l">
                        <a:buNone/>
                      </a:pPr>
                      <a:r>
                        <a:rPr lang="zh-CN" altLang="en-US" sz="1200">
                          <a:latin typeface="微软雅黑" panose="020B0503020204020204" charset="-122"/>
                          <a:ea typeface="微软雅黑" panose="020B0503020204020204" charset="-122"/>
                        </a:rPr>
                        <a:t>钢结构塔：1/50，混凝土塔：1/100</a:t>
                      </a:r>
                      <a:endParaRPr lang="zh-CN" altLang="en-US" sz="1200">
                        <a:latin typeface="微软雅黑" panose="020B0503020204020204" charset="-122"/>
                        <a:ea typeface="微软雅黑" panose="020B0503020204020204" charset="-122"/>
                      </a:endParaRPr>
                    </a:p>
                  </a:txBody>
                  <a:tcPr anchor="ctr" anchorCtr="0"/>
                </a:tc>
              </a:tr>
              <a:tr h="560070">
                <a:tc>
                  <a:txBody>
                    <a:bodyPr/>
                    <a:p>
                      <a:pPr algn="ctr">
                        <a:buNone/>
                      </a:pPr>
                      <a:r>
                        <a:rPr lang="zh-CN" altLang="en-US" sz="1200" b="1">
                          <a:solidFill>
                            <a:schemeClr val="bg1"/>
                          </a:solidFill>
                          <a:latin typeface="微软雅黑" panose="020B0503020204020204" charset="-122"/>
                          <a:ea typeface="微软雅黑" panose="020B0503020204020204" charset="-122"/>
                        </a:rPr>
                        <a:t>风力发电机组预应力装配式混凝土塔筒技术规范</a:t>
                      </a:r>
                      <a:r>
                        <a:rPr lang="en-US" altLang="zh-CN" sz="1200" b="1" baseline="30000">
                          <a:solidFill>
                            <a:schemeClr val="bg1"/>
                          </a:solidFill>
                          <a:latin typeface="微软雅黑" panose="020B0503020204020204" charset="-122"/>
                          <a:ea typeface="微软雅黑" panose="020B0503020204020204" charset="-122"/>
                        </a:rPr>
                        <a:t>[18]</a:t>
                      </a:r>
                      <a:endParaRPr lang="en-US" altLang="zh-CN" sz="1200" b="1" baseline="30000">
                        <a:solidFill>
                          <a:schemeClr val="bg1"/>
                        </a:solidFill>
                        <a:latin typeface="微软雅黑" panose="020B0503020204020204" charset="-122"/>
                        <a:ea typeface="微软雅黑" panose="020B0503020204020204" charset="-122"/>
                      </a:endParaRPr>
                    </a:p>
                  </a:txBody>
                  <a:tcPr anchor="ctr" anchorCtr="0">
                    <a:solidFill>
                      <a:srgbClr val="4472C4"/>
                    </a:solidFill>
                  </a:tcPr>
                </a:tc>
                <a:tc>
                  <a:txBody>
                    <a:bodyPr/>
                    <a:p>
                      <a:pPr algn="ctr">
                        <a:buNone/>
                      </a:pPr>
                      <a:r>
                        <a:rPr lang="en-US" altLang="zh-CN" sz="1400">
                          <a:latin typeface="微软雅黑" panose="020B0503020204020204" charset="-122"/>
                          <a:ea typeface="微软雅黑" panose="020B0503020204020204" charset="-122"/>
                        </a:rPr>
                        <a:t>T/CEC 5008-2018</a:t>
                      </a:r>
                      <a:endParaRPr lang="en-US" altLang="zh-CN" sz="1400">
                        <a:latin typeface="微软雅黑" panose="020B0503020204020204" charset="-122"/>
                        <a:ea typeface="微软雅黑" panose="020B0503020204020204" charset="-122"/>
                      </a:endParaRPr>
                    </a:p>
                  </a:txBody>
                  <a:tcPr anchor="ctr" anchorCtr="0"/>
                </a:tc>
                <a:tc>
                  <a:txBody>
                    <a:bodyPr/>
                    <a:p>
                      <a:pPr algn="l">
                        <a:buNone/>
                      </a:pPr>
                      <a:r>
                        <a:rPr lang="zh-CN" altLang="en-US" sz="1200">
                          <a:latin typeface="微软雅黑" panose="020B0503020204020204" charset="-122"/>
                          <a:ea typeface="微软雅黑" panose="020B0503020204020204" charset="-122"/>
                        </a:rPr>
                        <a:t>塔筒不应大于 1/100，不宜大于 1/200</a:t>
                      </a:r>
                      <a:endParaRPr lang="zh-CN" altLang="en-US" sz="1200">
                        <a:latin typeface="微软雅黑" panose="020B0503020204020204" charset="-122"/>
                        <a:ea typeface="微软雅黑" panose="020B0503020204020204" charset="-122"/>
                      </a:endParaRPr>
                    </a:p>
                  </a:txBody>
                  <a:tcPr anchor="ctr" anchorCtr="0"/>
                </a:tc>
              </a:tr>
            </a:tbl>
          </a:graphicData>
        </a:graphic>
      </p:graphicFrame>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56/68</a:t>
            </a:r>
            <a:endParaRPr lang="en-US" altLang="zh-CN">
              <a:latin typeface="微软雅黑" panose="020B0503020204020204" charset="-122"/>
              <a:ea typeface="微软雅黑" panose="020B0503020204020204" charset="-122"/>
            </a:endParaRPr>
          </a:p>
        </p:txBody>
      </p:sp>
      <p:sp>
        <p:nvSpPr>
          <p:cNvPr id="2" name="文本框 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AutoShape 9"/>
          <p:cNvSpPr/>
          <p:nvPr/>
        </p:nvSpPr>
        <p:spPr>
          <a:xfrm>
            <a:off x="794385" y="4090035"/>
            <a:ext cx="10803890" cy="2569210"/>
          </a:xfrm>
          <a:prstGeom prst="rect">
            <a:avLst/>
          </a:prstGeom>
          <a:noFill/>
          <a:ln w="12700" cap="flat" cmpd="sng">
            <a:noFill/>
            <a:prstDash val="solid"/>
            <a:round/>
          </a:ln>
        </p:spPr>
        <p:txBody>
          <a:bodyPr vert="horz" wrap="square" lIns="0" tIns="0" rIns="0" bIns="0" rtlCol="0" anchor="ctr" anchorCtr="0"/>
          <a:p>
            <a:pPr marL="0" indent="0">
              <a:lnSpc>
                <a:spcPct val="150000"/>
              </a:lnSpc>
              <a:defRPr/>
            </a:pP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令 </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β</a:t>
            </a:r>
            <a:r>
              <a:rPr lang="en-US" altLang="zh-CN" b="1" i="0" u="none" strike="noStrike" baseline="-25000"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drift</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 = β</a:t>
            </a:r>
            <a:r>
              <a:rPr lang="en-US" altLang="zh-CN" b="1" i="0" u="none" strike="noStrike" baseline="-25000"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stress</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，据此确定水平位移角的限值。在水平位移的超越概率曲线上，通过</a:t>
            </a:r>
            <a:r>
              <a:rPr lang="zh-CN" altLang="en-US" b="1" i="0" u="none" strike="noStrike" dirty="0">
                <a:solidFill>
                  <a:srgbClr val="00B0F0"/>
                </a:solidFill>
                <a:latin typeface="微软雅黑" panose="020B0503020204020204" charset="-122"/>
                <a:ea typeface="微软雅黑" panose="020B0503020204020204" charset="-122"/>
                <a:cs typeface="微软雅黑" panose="020B0503020204020204" charset="-122"/>
                <a:sym typeface="Noto Sans SC" panose="020B0200000000000000" charset="-122"/>
              </a:rPr>
              <a:t>寻点方法</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确定可靠指标 </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β</a:t>
            </a:r>
            <a:r>
              <a:rPr lang="en-US" altLang="zh-CN" b="1" i="0" u="none" strike="noStrike" baseline="-25000"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drift</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 = 3.2 </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对应的水平位移限值为 </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Δu = 2.22 m</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b="1" dirty="0"/>
          </a:p>
          <a:p>
            <a:pPr marL="0" indent="0">
              <a:lnSpc>
                <a:spcPct val="150000"/>
              </a:lnSpc>
            </a:pP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本研究中，混塔高度 </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H = 157.3 m</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。根据现有标准，当水平位移角限值设定为 </a:t>
            </a:r>
            <a:r>
              <a:rPr lang="en-US" altLang="zh-CN"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1/100</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时，计算得出的水平位移限值为 </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1.57 m</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，相较于通过可靠指标确定的 </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Δu = 2.22 m </a:t>
            </a:r>
            <a:r>
              <a:rPr lang="zh-CN" altLang="en-US"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过于保守</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；依</a:t>
            </a:r>
            <a:r>
              <a:rPr lang="zh-CN" altLang="en-US"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据 </a:t>
            </a:r>
            <a:r>
              <a:rPr lang="en-US" altLang="zh-CN"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1/50 </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的限值，水平位移限值提升至 </a:t>
            </a:r>
            <a:r>
              <a:rPr lang="en-US" altLang="zh-CN"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3.15 m</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该值过大</a:t>
            </a:r>
            <a:r>
              <a:rPr lang="zh-CN" altLang="en-US"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。针对混塔式风电机组的水平位移角限值，</a:t>
            </a:r>
            <a:r>
              <a:rPr lang="zh-CN" altLang="en-US" b="1" i="0" u="none" strike="noStrike" dirty="0">
                <a:solidFill>
                  <a:srgbClr val="00B0F0"/>
                </a:solidFill>
                <a:latin typeface="微软雅黑" panose="020B0503020204020204" charset="-122"/>
                <a:ea typeface="微软雅黑" panose="020B0503020204020204" charset="-122"/>
                <a:cs typeface="微软雅黑" panose="020B0503020204020204" charset="-122"/>
                <a:sym typeface="Noto Sans SC" panose="020B0200000000000000" charset="-122"/>
              </a:rPr>
              <a:t>给出如下建议：</a:t>
            </a:r>
            <a:endParaRPr lang="en-US" b="1" i="0" u="none" strike="noStrike" dirty="0">
              <a:solidFill>
                <a:srgbClr val="00B0F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14" name="图片 13"/>
          <p:cNvPicPr>
            <a:picLocks noChangeAspect="1"/>
          </p:cNvPicPr>
          <p:nvPr/>
        </p:nvPicPr>
        <p:blipFill>
          <a:blip r:embed="rId1"/>
          <a:stretch>
            <a:fillRect/>
          </a:stretch>
        </p:blipFill>
        <p:spPr>
          <a:xfrm>
            <a:off x="794512" y="1846840"/>
            <a:ext cx="4451648" cy="2242560"/>
          </a:xfrm>
          <a:prstGeom prst="rect">
            <a:avLst/>
          </a:prstGeom>
        </p:spPr>
      </p:pic>
      <p:pic>
        <p:nvPicPr>
          <p:cNvPr id="16" name="图片 15"/>
          <p:cNvPicPr>
            <a:picLocks noChangeAspect="1"/>
          </p:cNvPicPr>
          <p:nvPr/>
        </p:nvPicPr>
        <p:blipFill>
          <a:blip r:embed="rId2"/>
          <a:stretch>
            <a:fillRect/>
          </a:stretch>
        </p:blipFill>
        <p:spPr>
          <a:xfrm>
            <a:off x="6168136" y="1838472"/>
            <a:ext cx="4451648" cy="2250928"/>
          </a:xfrm>
          <a:prstGeom prst="rect">
            <a:avLst/>
          </a:prstGeom>
        </p:spPr>
      </p:pic>
      <p:sp>
        <p:nvSpPr>
          <p:cNvPr id="322" name="textbox 322"/>
          <p:cNvSpPr/>
          <p:nvPr/>
        </p:nvSpPr>
        <p:spPr>
          <a:xfrm>
            <a:off x="1374134" y="500181"/>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cxnSp>
        <p:nvCxnSpPr>
          <p:cNvPr id="11" name="直接连接符 10"/>
          <p:cNvCxnSpPr/>
          <p:nvPr/>
        </p:nvCxnSpPr>
        <p:spPr>
          <a:xfrm flipV="1">
            <a:off x="1395095" y="999490"/>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13" name="椭圆 12"/>
          <p:cNvSpPr/>
          <p:nvPr/>
        </p:nvSpPr>
        <p:spPr>
          <a:xfrm>
            <a:off x="629285" y="41656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pic>
        <p:nvPicPr>
          <p:cNvPr id="680" name="picture 680"/>
          <p:cNvPicPr>
            <a:picLocks noChangeAspect="1"/>
          </p:cNvPicPr>
          <p:nvPr/>
        </p:nvPicPr>
        <p:blipFill>
          <a:blip r:embed="rId3"/>
          <a:stretch>
            <a:fillRect/>
          </a:stretch>
        </p:blipFill>
        <p:spPr>
          <a:xfrm rot="21600000">
            <a:off x="1157264" y="1360165"/>
            <a:ext cx="217139" cy="217206"/>
          </a:xfrm>
          <a:prstGeom prst="rect">
            <a:avLst/>
          </a:prstGeom>
        </p:spPr>
      </p:pic>
      <p:sp>
        <p:nvSpPr>
          <p:cNvPr id="15" name="文本框 14"/>
          <p:cNvSpPr txBox="1"/>
          <p:nvPr/>
        </p:nvSpPr>
        <p:spPr>
          <a:xfrm>
            <a:off x="1395095" y="1247775"/>
            <a:ext cx="10203815" cy="442595"/>
          </a:xfrm>
          <a:prstGeom prst="rect">
            <a:avLst/>
          </a:prstGeom>
          <a:noFill/>
        </p:spPr>
        <p:txBody>
          <a:bodyPr wrap="square" rtlCol="0">
            <a:noAutofit/>
          </a:bodyPr>
          <a:p>
            <a:r>
              <a:rPr lang="zh-CN" altLang="en-US" sz="2300" b="1">
                <a:solidFill>
                  <a:srgbClr val="2F5597"/>
                </a:solidFill>
                <a:latin typeface="微软雅黑" panose="020B0503020204020204" charset="-122"/>
                <a:ea typeface="微软雅黑" panose="020B0503020204020204" charset="-122"/>
              </a:rPr>
              <a:t>水</a:t>
            </a:r>
            <a:r>
              <a:rPr lang="en-US" sz="2300" b="1" dirty="0">
                <a:solidFill>
                  <a:srgbClr val="023A8C"/>
                </a:solidFill>
                <a:latin typeface="微软雅黑" panose="020B0503020204020204" charset="-122"/>
                <a:ea typeface="微软雅黑" panose="020B0503020204020204" charset="-122"/>
                <a:cs typeface="Noto Sans SC" panose="020B0200000000000000" charset="-122"/>
                <a:sym typeface="Noto Sans SC" panose="020B0200000000000000" charset="-122"/>
              </a:rPr>
              <a:t>应力可靠指标与塔顶水平位移可靠指标相等原则，反推水平位移角限值</a:t>
            </a:r>
            <a:endParaRPr lang="en-US" sz="2300" b="1" dirty="0">
              <a:solidFill>
                <a:srgbClr val="0070C0"/>
              </a:solidFill>
              <a:latin typeface="+mn-ea"/>
              <a:ea typeface="+mn-ea"/>
            </a:endParaRPr>
          </a:p>
          <a:p>
            <a:endParaRPr lang="zh-CN" altLang="en-US" sz="2300" b="1">
              <a:solidFill>
                <a:srgbClr val="2F5597"/>
              </a:solidFill>
              <a:latin typeface="微软雅黑" panose="020B0503020204020204" charset="-122"/>
              <a:ea typeface="微软雅黑" panose="020B0503020204020204" charset="-122"/>
            </a:endParaRPr>
          </a:p>
        </p:txBody>
      </p:sp>
      <p:sp>
        <p:nvSpPr>
          <p:cNvPr id="17" name="文本框 16"/>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57/68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AutoShape 8"/>
          <p:cNvSpPr/>
          <p:nvPr/>
        </p:nvSpPr>
        <p:spPr>
          <a:xfrm>
            <a:off x="895985" y="1585595"/>
            <a:ext cx="1241425"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b="1" i="0" u="none" strike="noStrike" dirty="0">
                <a:solidFill>
                  <a:srgbClr val="C00000"/>
                </a:solidFill>
                <a:latin typeface="+mn-ea"/>
                <a:ea typeface="+mn-ea"/>
                <a:cs typeface="Noto Sans SC" panose="020B0200000000000000" charset="-122"/>
                <a:sym typeface="Noto Sans SC" panose="020B0200000000000000" charset="-122"/>
              </a:rPr>
              <a:t>1) 建议一</a:t>
            </a:r>
            <a:endParaRPr lang="en-US" dirty="0">
              <a:solidFill>
                <a:srgbClr val="C00000"/>
              </a:solidFill>
              <a:latin typeface="+mn-ea"/>
              <a:ea typeface="+mn-ea"/>
            </a:endParaRPr>
          </a:p>
        </p:txBody>
      </p:sp>
      <p:sp>
        <p:nvSpPr>
          <p:cNvPr id="11" name="AutoShape 9"/>
          <p:cNvSpPr/>
          <p:nvPr/>
        </p:nvSpPr>
        <p:spPr>
          <a:xfrm>
            <a:off x="1092200" y="1762760"/>
            <a:ext cx="10591800" cy="107442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b="1" i="0" u="none" strike="noStrike" dirty="0">
                <a:solidFill>
                  <a:schemeClr val="tx1"/>
                </a:solidFill>
                <a:latin typeface="微软雅黑" panose="020B0503020204020204" charset="-122"/>
                <a:ea typeface="微软雅黑" panose="020B0503020204020204" charset="-122"/>
                <a:cs typeface="Arial" panose="020B0604020202020204" pitchFamily="34" charset="0"/>
                <a:sym typeface="Noto Sans SC" panose="020B0200000000000000" charset="-122"/>
              </a:rPr>
              <a:t>参考《高耸结构设计标准》</a:t>
            </a:r>
            <a:r>
              <a:rPr lang="zh-CN" altLang="en-US" b="1" i="0" u="none" strike="noStrike" dirty="0">
                <a:solidFill>
                  <a:schemeClr val="tx1"/>
                </a:solidFill>
                <a:latin typeface="微软雅黑" panose="020B0503020204020204" charset="-122"/>
                <a:ea typeface="微软雅黑" panose="020B0503020204020204" charset="-122"/>
                <a:cs typeface="Arial" panose="020B0604020202020204" pitchFamily="34" charset="0"/>
                <a:sym typeface="Noto Sans SC" panose="020B0200000000000000" charset="-122"/>
              </a:rPr>
              <a:t>中的规定</a:t>
            </a:r>
            <a:r>
              <a:rPr lang="en-US" b="1" i="0" u="none" strike="noStrike" dirty="0">
                <a:solidFill>
                  <a:schemeClr val="tx1"/>
                </a:solidFill>
                <a:latin typeface="微软雅黑" panose="020B0503020204020204" charset="-122"/>
                <a:ea typeface="微软雅黑" panose="020B0503020204020204" charset="-122"/>
                <a:cs typeface="Arial" panose="020B0604020202020204" pitchFamily="34" charset="0"/>
                <a:sym typeface="Noto Sans SC" panose="020B0200000000000000" charset="-122"/>
              </a:rPr>
              <a:t>，</a:t>
            </a:r>
            <a:r>
              <a:rPr lang="zh-CN" altLang="en-US" b="1" i="0" u="none" strike="noStrike" dirty="0">
                <a:solidFill>
                  <a:schemeClr val="tx1"/>
                </a:solidFill>
                <a:latin typeface="微软雅黑" panose="020B0503020204020204" charset="-122"/>
                <a:ea typeface="微软雅黑" panose="020B0503020204020204" charset="-122"/>
                <a:cs typeface="Arial" panose="020B0604020202020204" pitchFamily="34" charset="0"/>
                <a:sym typeface="Noto Sans SC" panose="020B0200000000000000" charset="-122"/>
              </a:rPr>
              <a:t>分别按混凝土塔段和钢塔段的高度比例确定失效限值</a:t>
            </a:r>
            <a:r>
              <a:rPr lang="zh-CN" altLang="en-US" b="1" dirty="0">
                <a:solidFill>
                  <a:schemeClr val="tx1"/>
                </a:solidFill>
                <a:latin typeface="微软雅黑" panose="020B0503020204020204" charset="-122"/>
                <a:ea typeface="微软雅黑" panose="020B0503020204020204" charset="-122"/>
                <a:cs typeface="Arial" panose="020B0604020202020204" pitchFamily="34" charset="0"/>
                <a:sym typeface="Noto Sans SC" panose="020B0200000000000000" charset="-122"/>
              </a:rPr>
              <a:t>。建议给出的水平位移角限值。计算公式为</a:t>
            </a:r>
            <a:r>
              <a:rPr lang="en-US" b="1" i="0" u="none" strike="noStrike" dirty="0">
                <a:solidFill>
                  <a:schemeClr val="tx1"/>
                </a:solidFill>
                <a:latin typeface="微软雅黑" panose="020B0503020204020204" charset="-122"/>
                <a:ea typeface="微软雅黑" panose="020B0503020204020204" charset="-122"/>
                <a:cs typeface="Arial" panose="020B0604020202020204" pitchFamily="34" charset="0"/>
                <a:sym typeface="Noto Sans SC" panose="020B0200000000000000" charset="-122"/>
              </a:rPr>
              <a:t>：</a:t>
            </a:r>
            <a:endParaRPr lang="en-US" b="1" i="0" u="none" strike="noStrike" dirty="0">
              <a:solidFill>
                <a:schemeClr val="tx1"/>
              </a:solidFill>
              <a:latin typeface="微软雅黑" panose="020B0503020204020204" charset="-122"/>
              <a:ea typeface="微软雅黑" panose="020B0503020204020204" charset="-122"/>
              <a:cs typeface="Arial" panose="020B0604020202020204" pitchFamily="34" charset="0"/>
              <a:sym typeface="Noto Sans SC" panose="020B0200000000000000" charset="-122"/>
            </a:endParaRPr>
          </a:p>
        </p:txBody>
      </p:sp>
      <p:sp>
        <p:nvSpPr>
          <p:cNvPr id="12" name="AutoShape 11"/>
          <p:cNvSpPr/>
          <p:nvPr/>
        </p:nvSpPr>
        <p:spPr>
          <a:xfrm>
            <a:off x="726437" y="2591816"/>
            <a:ext cx="9441692" cy="508000"/>
          </a:xfrm>
          <a:prstGeom prst="rect">
            <a:avLst/>
          </a:prstGeom>
          <a:noFill/>
          <a:ln w="12700" cap="flat" cmpd="sng">
            <a:noFill/>
            <a:prstDash val="solid"/>
            <a:round/>
          </a:ln>
        </p:spPr>
        <p:txBody>
          <a:bodyPr vert="horz" wrap="square" lIns="0" tIns="0" rIns="0" bIns="0" rtlCol="0" anchor="ctr" anchorCtr="0"/>
          <a:p>
            <a:pPr marL="0" indent="0" algn="ctr">
              <a:lnSpc>
                <a:spcPct val="150000"/>
              </a:lnSpc>
              <a:defRPr/>
            </a:pPr>
            <a:r>
              <a:rPr lang="en-US" b="1"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Δu/H = [H × r × 0.01 + H × (1-r) × 0.02] / H</a:t>
            </a:r>
            <a:endParaRPr lang="en-US" dirty="0">
              <a:solidFill>
                <a:schemeClr val="tx1"/>
              </a:solidFill>
            </a:endParaRPr>
          </a:p>
        </p:txBody>
      </p:sp>
      <p:sp>
        <p:nvSpPr>
          <p:cNvPr id="13" name="AutoShape 12"/>
          <p:cNvSpPr/>
          <p:nvPr/>
        </p:nvSpPr>
        <p:spPr>
          <a:xfrm>
            <a:off x="1092200" y="3032760"/>
            <a:ext cx="10802620" cy="1080135"/>
          </a:xfrm>
          <a:prstGeom prst="rect">
            <a:avLst/>
          </a:prstGeom>
          <a:noFill/>
          <a:ln w="12700" cap="flat" cmpd="sng">
            <a:noFill/>
            <a:prstDash val="solid"/>
            <a:round/>
          </a:ln>
        </p:spPr>
        <p:txBody>
          <a:bodyPr vert="horz" wrap="square" lIns="0" tIns="0" rIns="0" bIns="0" rtlCol="0" anchor="ctr" anchorCtr="0"/>
          <a:p>
            <a:pPr marL="0" indent="0" algn="l">
              <a:lnSpc>
                <a:spcPct val="150000"/>
              </a:lnSpc>
              <a:defRPr/>
            </a:pPr>
            <a:r>
              <a:rPr lang="en-US" b="1"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式中: Δu—水平位移限值，m；H——塔架高度，m；r——混凝土塔段占塔架高度的比例；系数0.01与0.02——分别为《高耸结构设计标准》中关于混凝土塔与钢结构塔水平位移角限值的规定。</a:t>
            </a:r>
            <a:endParaRPr lang="en-US" b="1"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文本框 17"/>
          <p:cNvSpPr txBox="1"/>
          <p:nvPr/>
        </p:nvSpPr>
        <p:spPr>
          <a:xfrm>
            <a:off x="960119" y="4002243"/>
            <a:ext cx="9690609" cy="1346522"/>
          </a:xfrm>
          <a:prstGeom prst="rect">
            <a:avLst/>
          </a:prstGeom>
          <a:noFill/>
        </p:spPr>
        <p:txBody>
          <a:bodyPr wrap="square">
            <a:spAutoFit/>
          </a:bodyPr>
          <a:p>
            <a:pPr>
              <a:lnSpc>
                <a:spcPct val="150000"/>
              </a:lnSpc>
            </a:pPr>
            <a:r>
              <a:rPr lang="zh-CN" altLang="en-US" b="1" dirty="0"/>
              <a:t>● 以本混塔为例，计算得出的水平位移限值为 </a:t>
            </a:r>
            <a:r>
              <a:rPr lang="en-US" altLang="zh-CN" b="1" dirty="0"/>
              <a:t>2.03 m</a:t>
            </a:r>
            <a:r>
              <a:rPr lang="zh-CN" altLang="en-US" b="1" dirty="0"/>
              <a:t>。</a:t>
            </a:r>
            <a:endParaRPr lang="en-US" altLang="zh-CN" b="1" dirty="0"/>
          </a:p>
          <a:p>
            <a:pPr algn="ctr">
              <a:lnSpc>
                <a:spcPct val="150000"/>
              </a:lnSpc>
            </a:pPr>
            <a:r>
              <a:rPr lang="zh-CN" altLang="en-US" b="1" dirty="0"/>
              <a:t>→对比 </a:t>
            </a:r>
            <a:r>
              <a:rPr lang="en-US" altLang="zh-CN" b="1" dirty="0"/>
              <a:t>Δu = 2.22 m</a:t>
            </a:r>
            <a:endParaRPr lang="en-US" altLang="zh-CN" b="1" dirty="0"/>
          </a:p>
          <a:p>
            <a:pPr>
              <a:lnSpc>
                <a:spcPct val="150000"/>
              </a:lnSpc>
            </a:pPr>
            <a:r>
              <a:rPr lang="en-US" altLang="zh-CN" b="1" dirty="0"/>
              <a:t>● </a:t>
            </a:r>
            <a:r>
              <a:rPr lang="zh-CN" altLang="en-US" b="1" dirty="0"/>
              <a:t>重新计算塔顶水平位移的失效概率和可靠指标，结果分别为 </a:t>
            </a:r>
            <a:r>
              <a:rPr lang="en-US" altLang="zh-CN" b="1" dirty="0"/>
              <a:t>5.43×10</a:t>
            </a:r>
            <a:r>
              <a:rPr lang="en-US" altLang="zh-CN" b="1" baseline="30000" dirty="0"/>
              <a:t>-3</a:t>
            </a:r>
            <a:r>
              <a:rPr lang="en-US" altLang="zh-CN" b="1" dirty="0"/>
              <a:t> </a:t>
            </a:r>
            <a:r>
              <a:rPr lang="zh-CN" altLang="en-US" b="1" dirty="0"/>
              <a:t>和 </a:t>
            </a:r>
            <a:r>
              <a:rPr lang="en-US" altLang="zh-CN" b="1" dirty="0"/>
              <a:t>2.55</a:t>
            </a:r>
            <a:r>
              <a:rPr lang="zh-CN" altLang="en-US" b="1" dirty="0"/>
              <a:t>。</a:t>
            </a:r>
            <a:r>
              <a:rPr lang="zh-CN" altLang="en-US" b="1" dirty="0">
                <a:solidFill>
                  <a:srgbClr val="C00000"/>
                </a:solidFill>
              </a:rPr>
              <a:t>建议一所给定的水平位移角限值仍偏保守，故给出建议二以备参考。</a:t>
            </a:r>
            <a:endParaRPr lang="zh-CN" altLang="en-US" b="1" dirty="0">
              <a:solidFill>
                <a:srgbClr val="C00000"/>
              </a:solidFill>
            </a:endParaRPr>
          </a:p>
        </p:txBody>
      </p:sp>
      <p:sp>
        <p:nvSpPr>
          <p:cNvPr id="322" name="textbox 322"/>
          <p:cNvSpPr/>
          <p:nvPr/>
        </p:nvSpPr>
        <p:spPr>
          <a:xfrm>
            <a:off x="1374134" y="500181"/>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cxnSp>
        <p:nvCxnSpPr>
          <p:cNvPr id="15" name="直接连接符 14"/>
          <p:cNvCxnSpPr/>
          <p:nvPr/>
        </p:nvCxnSpPr>
        <p:spPr>
          <a:xfrm flipV="1">
            <a:off x="1395095" y="999490"/>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16" name="椭圆 15"/>
          <p:cNvSpPr/>
          <p:nvPr/>
        </p:nvSpPr>
        <p:spPr>
          <a:xfrm>
            <a:off x="629285" y="41656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pic>
        <p:nvPicPr>
          <p:cNvPr id="680" name="picture 680"/>
          <p:cNvPicPr>
            <a:picLocks noChangeAspect="1"/>
          </p:cNvPicPr>
          <p:nvPr/>
        </p:nvPicPr>
        <p:blipFill>
          <a:blip r:embed="rId1"/>
          <a:stretch>
            <a:fillRect/>
          </a:stretch>
        </p:blipFill>
        <p:spPr>
          <a:xfrm rot="21600000">
            <a:off x="1157264" y="1360165"/>
            <a:ext cx="217139" cy="217206"/>
          </a:xfrm>
          <a:prstGeom prst="rect">
            <a:avLst/>
          </a:prstGeom>
        </p:spPr>
      </p:pic>
      <p:sp>
        <p:nvSpPr>
          <p:cNvPr id="17" name="文本框 16"/>
          <p:cNvSpPr txBox="1"/>
          <p:nvPr/>
        </p:nvSpPr>
        <p:spPr>
          <a:xfrm>
            <a:off x="1374140" y="1247140"/>
            <a:ext cx="3070860" cy="442595"/>
          </a:xfrm>
          <a:prstGeom prst="rect">
            <a:avLst/>
          </a:prstGeom>
          <a:noFill/>
        </p:spPr>
        <p:txBody>
          <a:bodyPr wrap="square" rtlCol="0">
            <a:noAutofit/>
          </a:bodyPr>
          <a:p>
            <a:r>
              <a:rPr lang="en-US" sz="2300" b="1" dirty="0">
                <a:solidFill>
                  <a:srgbClr val="023A8C"/>
                </a:solidFill>
                <a:latin typeface="微软雅黑" panose="020B0503020204020204" charset="-122"/>
                <a:ea typeface="微软雅黑" panose="020B0503020204020204" charset="-122"/>
                <a:cs typeface="Noto Sans SC" panose="020B0200000000000000" charset="-122"/>
                <a:sym typeface="Noto Sans SC" panose="020B0200000000000000" charset="-122"/>
              </a:rPr>
              <a:t>水平位移角限值建议</a:t>
            </a:r>
            <a:endParaRPr lang="en-US" sz="2300" b="1" dirty="0">
              <a:solidFill>
                <a:srgbClr val="0070C0"/>
              </a:solidFill>
              <a:latin typeface="+mn-ea"/>
              <a:ea typeface="+mn-ea"/>
            </a:endParaRPr>
          </a:p>
          <a:p>
            <a:endParaRPr lang="en-US" sz="2300" b="1" dirty="0">
              <a:solidFill>
                <a:srgbClr val="0070C0"/>
              </a:solidFill>
              <a:latin typeface="+mn-ea"/>
              <a:ea typeface="+mn-ea"/>
            </a:endParaRPr>
          </a:p>
          <a:p>
            <a:endParaRPr lang="zh-CN" altLang="en-US" sz="2300" b="1">
              <a:solidFill>
                <a:srgbClr val="2F5597"/>
              </a:solidFill>
              <a:latin typeface="微软雅黑" panose="020B0503020204020204" charset="-122"/>
              <a:ea typeface="微软雅黑" panose="020B0503020204020204" charset="-122"/>
            </a:endParaRPr>
          </a:p>
        </p:txBody>
      </p:sp>
      <p:sp>
        <p:nvSpPr>
          <p:cNvPr id="19" name="文本框 18"/>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58/68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AutoShape 9"/>
          <p:cNvSpPr/>
          <p:nvPr/>
        </p:nvSpPr>
        <p:spPr>
          <a:xfrm>
            <a:off x="916424" y="1505973"/>
            <a:ext cx="11176000" cy="3175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b="1" i="0" u="none" strike="noStrike" dirty="0">
                <a:solidFill>
                  <a:srgbClr val="C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 建议二</a:t>
            </a:r>
            <a:endParaRPr lang="en-US" dirty="0">
              <a:solidFill>
                <a:srgbClr val="C00000"/>
              </a:solidFill>
            </a:endParaRPr>
          </a:p>
        </p:txBody>
      </p:sp>
      <p:sp>
        <p:nvSpPr>
          <p:cNvPr id="13" name="AutoShape 13"/>
          <p:cNvSpPr/>
          <p:nvPr/>
        </p:nvSpPr>
        <p:spPr>
          <a:xfrm>
            <a:off x="1521460" y="4119245"/>
            <a:ext cx="4808855" cy="381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b="1" i="0" u="none" strike="noStrike" dirty="0">
                <a:solidFill>
                  <a:srgbClr val="333333"/>
                </a:solidFill>
                <a:latin typeface="Arial" panose="020B0604020202020204"/>
                <a:ea typeface="Arial" panose="020B0604020202020204"/>
                <a:cs typeface="Arial" panose="020B0604020202020204"/>
                <a:sym typeface="Arial" panose="020B0604020202020204"/>
              </a:rPr>
              <a:t>Δu/H = [H × p × 0.01 + H × (1-p) × 0.025] / H</a:t>
            </a:r>
            <a:endParaRPr lang="en-US" dirty="0"/>
          </a:p>
        </p:txBody>
      </p:sp>
      <p:sp>
        <p:nvSpPr>
          <p:cNvPr id="32" name="文本框 31"/>
          <p:cNvSpPr txBox="1"/>
          <p:nvPr/>
        </p:nvSpPr>
        <p:spPr>
          <a:xfrm>
            <a:off x="916043" y="4629842"/>
            <a:ext cx="6163572" cy="307777"/>
          </a:xfrm>
          <a:prstGeom prst="rect">
            <a:avLst/>
          </a:prstGeom>
          <a:noFill/>
        </p:spPr>
        <p:txBody>
          <a:bodyPr wrap="square">
            <a:spAutoFit/>
          </a:bodyPr>
          <a:p>
            <a:r>
              <a:rPr lang="zh-CN" altLang="en-US" b="1" dirty="0">
                <a:solidFill>
                  <a:srgbClr val="C00000"/>
                </a:solidFill>
              </a:rPr>
              <a:t>相较于建议一，式中钢塔段的水平位移角限值放宽至 </a:t>
            </a:r>
            <a:r>
              <a:rPr lang="en-US" altLang="zh-CN" b="1" dirty="0">
                <a:solidFill>
                  <a:srgbClr val="C00000"/>
                </a:solidFill>
              </a:rPr>
              <a:t>1/40</a:t>
            </a:r>
            <a:r>
              <a:rPr lang="zh-CN" altLang="en-US" b="1" dirty="0">
                <a:solidFill>
                  <a:srgbClr val="C00000"/>
                </a:solidFill>
              </a:rPr>
              <a:t>。</a:t>
            </a:r>
            <a:endParaRPr lang="zh-CN" altLang="en-US" b="1" dirty="0">
              <a:solidFill>
                <a:srgbClr val="C00000"/>
              </a:solidFill>
            </a:endParaRPr>
          </a:p>
        </p:txBody>
      </p:sp>
      <p:sp>
        <p:nvSpPr>
          <p:cNvPr id="34" name="文本框 33"/>
          <p:cNvSpPr txBox="1"/>
          <p:nvPr/>
        </p:nvSpPr>
        <p:spPr>
          <a:xfrm>
            <a:off x="739775" y="5011420"/>
            <a:ext cx="10475595" cy="922020"/>
          </a:xfrm>
          <a:prstGeom prst="rect">
            <a:avLst/>
          </a:prstGeom>
          <a:noFill/>
        </p:spPr>
        <p:txBody>
          <a:bodyPr wrap="square">
            <a:spAutoFit/>
          </a:bodyPr>
          <a:p>
            <a:pPr>
              <a:lnSpc>
                <a:spcPct val="150000"/>
              </a:lnSpc>
            </a:pPr>
            <a:r>
              <a:rPr lang="zh-CN" altLang="en-US" b="1" dirty="0"/>
              <a:t>● 以本混塔为例，依据该公式计算得到的</a:t>
            </a:r>
            <a:r>
              <a:rPr lang="zh-CN" altLang="en-US" b="1" dirty="0">
                <a:solidFill>
                  <a:srgbClr val="C00000"/>
                </a:solidFill>
              </a:rPr>
              <a:t>水平位移限值为 </a:t>
            </a:r>
            <a:r>
              <a:rPr lang="en-US" altLang="zh-CN" b="1" dirty="0">
                <a:solidFill>
                  <a:srgbClr val="C00000"/>
                </a:solidFill>
              </a:rPr>
              <a:t>2.26 m</a:t>
            </a:r>
            <a:r>
              <a:rPr lang="zh-CN" altLang="en-US" b="1" dirty="0">
                <a:solidFill>
                  <a:srgbClr val="C00000"/>
                </a:solidFill>
              </a:rPr>
              <a:t>。</a:t>
            </a:r>
            <a:endParaRPr lang="zh-CN" altLang="en-US" b="1" dirty="0">
              <a:solidFill>
                <a:srgbClr val="C00000"/>
              </a:solidFill>
            </a:endParaRPr>
          </a:p>
          <a:p>
            <a:pPr>
              <a:lnSpc>
                <a:spcPct val="150000"/>
              </a:lnSpc>
            </a:pPr>
            <a:r>
              <a:rPr lang="zh-CN" altLang="en-US" b="1" dirty="0"/>
              <a:t>● 略大于通过可靠指标确定的 </a:t>
            </a:r>
            <a:r>
              <a:rPr lang="en-US" altLang="zh-CN" b="1" dirty="0"/>
              <a:t>Δu = 2.22 m</a:t>
            </a:r>
            <a:r>
              <a:rPr lang="zh-CN" altLang="en-US" b="1" dirty="0"/>
              <a:t>，避免了过于保守的结构设计，并有助于节约生产成本。</a:t>
            </a:r>
            <a:endParaRPr lang="zh-CN" altLang="en-US" b="1" dirty="0"/>
          </a:p>
        </p:txBody>
      </p:sp>
      <p:pic>
        <p:nvPicPr>
          <p:cNvPr id="36" name="图片 35"/>
          <p:cNvPicPr>
            <a:picLocks noChangeAspect="1"/>
          </p:cNvPicPr>
          <p:nvPr/>
        </p:nvPicPr>
        <p:blipFill>
          <a:blip r:embed="rId1"/>
          <a:stretch>
            <a:fillRect/>
          </a:stretch>
        </p:blipFill>
        <p:spPr>
          <a:xfrm>
            <a:off x="7638415" y="3881434"/>
            <a:ext cx="3261108" cy="1346522"/>
          </a:xfrm>
          <a:prstGeom prst="rect">
            <a:avLst/>
          </a:prstGeom>
        </p:spPr>
      </p:pic>
      <p:sp>
        <p:nvSpPr>
          <p:cNvPr id="322" name="textbox 322"/>
          <p:cNvSpPr/>
          <p:nvPr/>
        </p:nvSpPr>
        <p:spPr>
          <a:xfrm>
            <a:off x="1374134" y="500181"/>
            <a:ext cx="7762626" cy="498829"/>
          </a:xfrm>
          <a:prstGeom prst="rect">
            <a:avLst/>
          </a:prstGeom>
          <a:noFill/>
          <a:ln w="0" cap="flat">
            <a:noFill/>
            <a:prstDash val="solid"/>
            <a:miter lim="0"/>
          </a:ln>
        </p:spPr>
        <p:txBody>
          <a:bodyPr vert="horz" wrap="square" lIns="0" tIns="0" rIns="0" bIns="0"/>
          <a:p>
            <a:pPr algn="l" rtl="0" eaLnBrk="0">
              <a:lnSpc>
                <a:spcPct val="90000"/>
              </a:lnSpc>
            </a:pPr>
            <a:r>
              <a:rPr lang="zh-CN" sz="3100" b="1"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sym typeface="+mn-ea"/>
              </a:rPr>
              <a:t>极端工况下动力可靠度评估</a:t>
            </a:r>
            <a:r>
              <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rPr>
              <a:t>  </a:t>
            </a:r>
            <a:endParaRPr sz="3190" b="1" u="sng" kern="0" spc="120" dirty="0">
              <a:solidFill>
                <a:srgbClr val="2F5597">
                  <a:alpha val="100000"/>
                </a:srgbClr>
              </a:solidFill>
              <a:latin typeface="微软雅黑" panose="020B0503020204020204" charset="-122"/>
              <a:ea typeface="微软雅黑" panose="020B0503020204020204" charset="-122"/>
              <a:cs typeface="微软雅黑" panose="020B0503020204020204" charset="-122"/>
            </a:endParaRPr>
          </a:p>
        </p:txBody>
      </p:sp>
      <p:cxnSp>
        <p:nvCxnSpPr>
          <p:cNvPr id="15" name="直接连接符 14"/>
          <p:cNvCxnSpPr/>
          <p:nvPr/>
        </p:nvCxnSpPr>
        <p:spPr>
          <a:xfrm flipV="1">
            <a:off x="1395095" y="999490"/>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16" name="椭圆 15"/>
          <p:cNvSpPr/>
          <p:nvPr/>
        </p:nvSpPr>
        <p:spPr>
          <a:xfrm>
            <a:off x="629285" y="416560"/>
            <a:ext cx="603250" cy="612140"/>
          </a:xfrm>
          <a:prstGeom prst="ellipse">
            <a:avLst/>
          </a:prstGeom>
          <a:solidFill>
            <a:srgbClr val="2F5597"/>
          </a:solidFill>
          <a:ln w="12700">
            <a:no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600">
                <a:latin typeface="微软雅黑" panose="020B0503020204020204" charset="-122"/>
                <a:ea typeface="微软雅黑" panose="020B0503020204020204" charset="-122"/>
              </a:rPr>
              <a:t>4</a:t>
            </a:r>
            <a:endParaRPr lang="en-US" altLang="zh-CN" sz="3600">
              <a:latin typeface="微软雅黑" panose="020B0503020204020204" charset="-122"/>
              <a:ea typeface="微软雅黑" panose="020B0503020204020204" charset="-122"/>
            </a:endParaRPr>
          </a:p>
        </p:txBody>
      </p:sp>
      <p:sp>
        <p:nvSpPr>
          <p:cNvPr id="19" name="文本框 18"/>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pic>
        <p:nvPicPr>
          <p:cNvPr id="680" name="picture 680"/>
          <p:cNvPicPr>
            <a:picLocks noChangeAspect="1"/>
          </p:cNvPicPr>
          <p:nvPr/>
        </p:nvPicPr>
        <p:blipFill>
          <a:blip r:embed="rId2"/>
          <a:stretch>
            <a:fillRect/>
          </a:stretch>
        </p:blipFill>
        <p:spPr>
          <a:xfrm rot="21600000">
            <a:off x="1157264" y="1176650"/>
            <a:ext cx="217139" cy="217206"/>
          </a:xfrm>
          <a:prstGeom prst="rect">
            <a:avLst/>
          </a:prstGeom>
        </p:spPr>
      </p:pic>
      <p:sp>
        <p:nvSpPr>
          <p:cNvPr id="17" name="文本框 16"/>
          <p:cNvSpPr txBox="1"/>
          <p:nvPr/>
        </p:nvSpPr>
        <p:spPr>
          <a:xfrm>
            <a:off x="1395095" y="1063625"/>
            <a:ext cx="3070860" cy="442595"/>
          </a:xfrm>
          <a:prstGeom prst="rect">
            <a:avLst/>
          </a:prstGeom>
          <a:noFill/>
        </p:spPr>
        <p:txBody>
          <a:bodyPr wrap="square" rtlCol="0">
            <a:noAutofit/>
          </a:bodyPr>
          <a:p>
            <a:r>
              <a:rPr lang="en-US" sz="2300" b="1" dirty="0">
                <a:solidFill>
                  <a:srgbClr val="023A8C"/>
                </a:solidFill>
                <a:latin typeface="微软雅黑" panose="020B0503020204020204" charset="-122"/>
                <a:ea typeface="微软雅黑" panose="020B0503020204020204" charset="-122"/>
                <a:cs typeface="Noto Sans SC" panose="020B0200000000000000" charset="-122"/>
                <a:sym typeface="Noto Sans SC" panose="020B0200000000000000" charset="-122"/>
              </a:rPr>
              <a:t>水平位移角限值建议</a:t>
            </a:r>
            <a:endParaRPr lang="en-US" sz="2300" b="1" dirty="0">
              <a:solidFill>
                <a:srgbClr val="0070C0"/>
              </a:solidFill>
              <a:latin typeface="+mn-ea"/>
              <a:ea typeface="+mn-ea"/>
            </a:endParaRPr>
          </a:p>
          <a:p>
            <a:endParaRPr lang="en-US" sz="2300" b="1" dirty="0">
              <a:solidFill>
                <a:srgbClr val="0070C0"/>
              </a:solidFill>
              <a:latin typeface="+mn-ea"/>
              <a:ea typeface="+mn-ea"/>
            </a:endParaRPr>
          </a:p>
          <a:p>
            <a:endParaRPr lang="zh-CN" altLang="en-US" sz="2300" b="1">
              <a:solidFill>
                <a:srgbClr val="2F5597"/>
              </a:solidFill>
              <a:latin typeface="微软雅黑" panose="020B0503020204020204" charset="-122"/>
              <a:ea typeface="微软雅黑" panose="020B0503020204020204" charset="-122"/>
            </a:endParaRPr>
          </a:p>
        </p:txBody>
      </p:sp>
      <p:sp>
        <p:nvSpPr>
          <p:cNvPr id="11" name="文本框 10"/>
          <p:cNvSpPr txBox="1"/>
          <p:nvPr/>
        </p:nvSpPr>
        <p:spPr>
          <a:xfrm>
            <a:off x="739775" y="1823720"/>
            <a:ext cx="10757535" cy="2168525"/>
          </a:xfrm>
          <a:prstGeom prst="rect">
            <a:avLst/>
          </a:prstGeom>
          <a:noFill/>
        </p:spPr>
        <p:txBody>
          <a:bodyPr wrap="square">
            <a:spAutoFit/>
          </a:bodyPr>
          <a:p>
            <a:pPr>
              <a:lnSpc>
                <a:spcPct val="150000"/>
              </a:lnSpc>
            </a:pPr>
            <a:r>
              <a:rPr lang="zh-CN" altLang="en-US" b="1" dirty="0">
                <a:latin typeface="微软雅黑" panose="020B0503020204020204" charset="-122"/>
                <a:ea typeface="微软雅黑" panose="020B0503020204020204" charset="-122"/>
                <a:cs typeface="微软雅黑" panose="020B0503020204020204" charset="-122"/>
              </a:rPr>
              <a:t>● 由上文可知，钢塔段水平位移角与混凝土塔段水平位移角的比值为 </a:t>
            </a:r>
            <a:r>
              <a:rPr lang="en-US" altLang="zh-CN" b="1" dirty="0">
                <a:latin typeface="微软雅黑" panose="020B0503020204020204" charset="-122"/>
                <a:ea typeface="微软雅黑" panose="020B0503020204020204" charset="-122"/>
                <a:cs typeface="微软雅黑" panose="020B0503020204020204" charset="-122"/>
              </a:rPr>
              <a:t>2.64</a:t>
            </a:r>
            <a:r>
              <a:rPr lang="zh-CN" altLang="en-US" b="1" dirty="0">
                <a:latin typeface="微软雅黑" panose="020B0503020204020204" charset="-122"/>
                <a:ea typeface="微软雅黑" panose="020B0503020204020204" charset="-122"/>
                <a:cs typeface="微软雅黑" panose="020B0503020204020204" charset="-122"/>
              </a:rPr>
              <a:t>，而现有标准中，钢结构塔的水平位移角限值通常为混凝土塔的 </a:t>
            </a:r>
            <a:r>
              <a:rPr lang="en-US" altLang="zh-CN" b="1" dirty="0">
                <a:latin typeface="微软雅黑" panose="020B0503020204020204" charset="-122"/>
                <a:ea typeface="微软雅黑" panose="020B0503020204020204" charset="-122"/>
                <a:cs typeface="微软雅黑" panose="020B0503020204020204" charset="-122"/>
              </a:rPr>
              <a:t>2 </a:t>
            </a:r>
            <a:r>
              <a:rPr lang="zh-CN" altLang="en-US" b="1" dirty="0">
                <a:latin typeface="微软雅黑" panose="020B0503020204020204" charset="-122"/>
                <a:ea typeface="微软雅黑" panose="020B0503020204020204" charset="-122"/>
                <a:cs typeface="微软雅黑" panose="020B0503020204020204" charset="-122"/>
              </a:rPr>
              <a:t>倍。</a:t>
            </a:r>
            <a:endParaRPr lang="zh-CN" altLang="en-US" b="1" dirty="0">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b="1" dirty="0">
                <a:latin typeface="微软雅黑" panose="020B0503020204020204" charset="-122"/>
                <a:ea typeface="微软雅黑" panose="020B0503020204020204" charset="-122"/>
                <a:cs typeface="微软雅黑" panose="020B0503020204020204" charset="-122"/>
              </a:rPr>
              <a:t>● 在混塔结构中，钢塔段连接在混凝土塔段顶部，相比于直接固定在地面的钢结构塔，即使在塔顶与塔底位移差相同的情况下，</a:t>
            </a:r>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混塔中钢塔段的弯曲曲率实际而言更小。</a:t>
            </a:r>
            <a:r>
              <a:rPr lang="zh-CN" altLang="en-US" b="1" dirty="0">
                <a:latin typeface="微软雅黑" panose="020B0503020204020204" charset="-122"/>
                <a:ea typeface="微软雅黑" panose="020B0503020204020204" charset="-122"/>
                <a:cs typeface="微软雅黑" panose="020B0503020204020204" charset="-122"/>
              </a:rPr>
              <a:t>故建议放宽钢塔段的水平位移限值，具体公式如下：</a:t>
            </a:r>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59/68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a:spLocks noGrp="1"/>
          </p:cNvSpPr>
          <p:nvPr/>
        </p:nvSpPr>
        <p:spPr>
          <a:xfrm>
            <a:off x="190500" y="200025"/>
            <a:ext cx="11811000" cy="123825"/>
          </a:xfrm>
          <a:prstGeom prst="rect">
            <a:avLst/>
          </a:prstGeom>
          <a:solidFill>
            <a:srgbClr val="2F5A94"/>
          </a:solidFill>
          <a:ln w="0">
            <a:solidFill>
              <a:srgbClr val="2F5A94"/>
            </a:solidFill>
            <a:prstDash val="solid"/>
          </a:ln>
        </p:spPr>
        <p:txBody>
          <a:bodyPr/>
          <a:p>
            <a:endParaRPr lang="zh-CN" altLang="en-US"/>
          </a:p>
        </p:txBody>
      </p:sp>
      <p:sp>
        <p:nvSpPr>
          <p:cNvPr id="5" name="矩形 4"/>
          <p:cNvSpPr>
            <a:spLocks noGrp="1"/>
          </p:cNvSpPr>
          <p:nvPr/>
        </p:nvSpPr>
        <p:spPr>
          <a:xfrm>
            <a:off x="4395696" y="213887"/>
            <a:ext cx="3400607" cy="621249"/>
          </a:xfrm>
          <a:custGeom>
            <a:avLst/>
            <a:gdLst>
              <a:gd name="csX0" fmla="*/ 0 w 3400607"/>
              <a:gd name="csY0" fmla="*/ 34945 h 621249"/>
              <a:gd name="csX1" fmla="*/ 3400607 w 3400607"/>
              <a:gd name="csY1" fmla="*/ 0 h 621249"/>
              <a:gd name="csX2" fmla="*/ 2713351 w 3400607"/>
              <a:gd name="csY2" fmla="*/ 621249 h 621249"/>
              <a:gd name="csX3" fmla="*/ 704731 w 3400607"/>
              <a:gd name="csY3" fmla="*/ 597952 h 621249"/>
              <a:gd name="csX4" fmla="*/ 0 w 3400607"/>
              <a:gd name="csY4" fmla="*/ 34945 h 621249"/>
            </a:gdLst>
            <a:ahLst/>
            <a:cxnLst>
              <a:cxn ang="0">
                <a:pos x="csX0" y="csY0"/>
              </a:cxn>
              <a:cxn ang="0">
                <a:pos x="csX1" y="csY1"/>
              </a:cxn>
              <a:cxn ang="0">
                <a:pos x="csX2" y="csY2"/>
              </a:cxn>
              <a:cxn ang="0">
                <a:pos x="csX3" y="csY3"/>
              </a:cxn>
              <a:cxn ang="0">
                <a:pos x="csX4" y="csY4"/>
              </a:cxn>
            </a:cxnLst>
            <a:rect l="l" t="t" r="r" b="b"/>
            <a:pathLst>
              <a:path w="3400607" h="621249">
                <a:moveTo>
                  <a:pt x="0" y="34945"/>
                </a:moveTo>
                <a:lnTo>
                  <a:pt x="3400607" y="0"/>
                </a:lnTo>
                <a:cubicBezTo>
                  <a:pt x="2899726" y="104188"/>
                  <a:pt x="3097749" y="505413"/>
                  <a:pt x="2713351" y="621249"/>
                </a:cubicBezTo>
                <a:lnTo>
                  <a:pt x="704731" y="597952"/>
                </a:lnTo>
                <a:cubicBezTo>
                  <a:pt x="285388" y="410284"/>
                  <a:pt x="599894" y="181845"/>
                  <a:pt x="0" y="34945"/>
                </a:cubicBezTo>
                <a:close/>
              </a:path>
            </a:pathLst>
          </a:custGeom>
          <a:solidFill>
            <a:srgbClr val="2F5A94"/>
          </a:solidFill>
          <a:ln w="0">
            <a:solidFill>
              <a:srgbClr val="2F5A94"/>
            </a:solidFill>
            <a:prstDash val="solid"/>
          </a:ln>
        </p:spPr>
        <p:txBody>
          <a:bodyPr/>
          <a:p>
            <a:endParaRPr lang="zh-CN" altLang="en-US"/>
          </a:p>
        </p:txBody>
      </p:sp>
      <p:sp>
        <p:nvSpPr>
          <p:cNvPr id="8" name="contents-title"/>
          <p:cNvSpPr>
            <a:spLocks noGrp="1"/>
          </p:cNvSpPr>
          <p:nvPr/>
        </p:nvSpPr>
        <p:spPr>
          <a:xfrm>
            <a:off x="4905375" y="276225"/>
            <a:ext cx="2381250" cy="457200"/>
          </a:xfrm>
          <a:prstGeom prst="rect">
            <a:avLst/>
          </a:prstGeom>
          <a:noFill/>
          <a:ln w="0">
            <a:noFill/>
            <a:prstDash val="solid"/>
          </a:ln>
        </p:spPr>
        <p:txBody>
          <a:bodyPr wrap="square" lIns="0" tIns="0" rIns="0" bIns="0" anchor="ctr">
            <a:normAutofit/>
          </a:bodyPr>
          <a:p>
            <a:pPr algn="ctr">
              <a:lnSpc>
                <a:spcPct val="100000"/>
              </a:lnSpc>
              <a:buNone/>
              <a:defRPr sz="2625" b="1">
                <a:solidFill>
                  <a:srgbClr val="FFFFFF"/>
                </a:solidFill>
                <a:latin typeface="微软雅黑" panose="020B0503020204020204" charset="-122"/>
                <a:ea typeface="微软雅黑" panose="020B0503020204020204" charset="-122"/>
                <a:cs typeface="微软雅黑" panose="020B0503020204020204" charset="-122"/>
              </a:defRPr>
            </a:pPr>
            <a:r>
              <a:rPr sz="2625" b="1">
                <a:solidFill>
                  <a:srgbClr val="FFFFFF"/>
                </a:solidFill>
                <a:latin typeface="微软雅黑" panose="020B0503020204020204" charset="-122"/>
                <a:ea typeface="微软雅黑" panose="020B0503020204020204" charset="-122"/>
                <a:cs typeface="微软雅黑" panose="020B0503020204020204" charset="-122"/>
              </a:rPr>
              <a:t>目 录</a:t>
            </a:r>
            <a:endParaRPr sz="26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219700" y="819787"/>
            <a:ext cx="1752600" cy="161925"/>
          </a:xfrm>
          <a:prstGeom prst="rect">
            <a:avLst/>
          </a:prstGeom>
          <a:noFill/>
          <a:ln w="0">
            <a:noFill/>
            <a:prstDash val="solid"/>
          </a:ln>
        </p:spPr>
        <p:txBody>
          <a:bodyPr wrap="square" lIns="0" tIns="0" rIns="0" bIns="0" anchor="ctr">
            <a:normAutofit/>
          </a:bodyPr>
          <a:p>
            <a:pPr algn="ctr">
              <a:lnSpc>
                <a:spcPct val="100000"/>
              </a:lnSpc>
              <a:buNone/>
              <a:defRPr sz="750" b="0">
                <a:solidFill>
                  <a:srgbClr val="5F6870"/>
                </a:solidFill>
                <a:latin typeface="Arial" panose="020B0604020202020204"/>
                <a:ea typeface="Arial" panose="020B0604020202020204"/>
                <a:cs typeface="Arial" panose="020B0604020202020204"/>
              </a:defRPr>
            </a:pPr>
            <a:r>
              <a:rPr sz="750" b="0" dirty="0">
                <a:solidFill>
                  <a:srgbClr val="5F6870"/>
                </a:solidFill>
                <a:latin typeface="Arial" panose="020B0604020202020204"/>
                <a:ea typeface="Arial" panose="020B0604020202020204"/>
                <a:cs typeface="Arial" panose="020B0604020202020204"/>
              </a:rPr>
              <a:t>C   O   N   T   E   N   T   S</a:t>
            </a:r>
            <a:endParaRPr sz="750" b="0" dirty="0">
              <a:solidFill>
                <a:srgbClr val="5F6870"/>
              </a:solidFill>
              <a:latin typeface="Arial" panose="020B0604020202020204"/>
              <a:ea typeface="Arial" panose="020B0604020202020204"/>
              <a:cs typeface="Arial" panose="020B0604020202020204"/>
            </a:endParaRPr>
          </a:p>
        </p:txBody>
      </p:sp>
      <p:sp>
        <p:nvSpPr>
          <p:cNvPr id="10" name="矩形 9"/>
          <p:cNvSpPr>
            <a:spLocks noGrp="1"/>
          </p:cNvSpPr>
          <p:nvPr>
            <p:custDataLst>
              <p:tags r:id="rId1"/>
            </p:custDataLst>
          </p:nvPr>
        </p:nvSpPr>
        <p:spPr>
          <a:xfrm>
            <a:off x="2895600" y="1276350"/>
            <a:ext cx="6953250" cy="552450"/>
          </a:xfrm>
          <a:prstGeom prst="rect">
            <a:avLst/>
          </a:prstGeom>
          <a:solidFill>
            <a:srgbClr val="DCE3DE"/>
          </a:solidFill>
          <a:ln w="0">
            <a:solidFill>
              <a:srgbClr val="DCE3DE"/>
            </a:solidFill>
            <a:prstDash val="solid"/>
          </a:ln>
        </p:spPr>
        <p:txBody>
          <a:bodyPr/>
          <a:p>
            <a:endParaRPr lang="zh-CN" altLang="en-US"/>
          </a:p>
        </p:txBody>
      </p:sp>
      <p:sp>
        <p:nvSpPr>
          <p:cNvPr id="11" name="椭圆 10"/>
          <p:cNvSpPr>
            <a:spLocks noGrp="1"/>
          </p:cNvSpPr>
          <p:nvPr>
            <p:custDataLst>
              <p:tags r:id="rId2"/>
            </p:custDataLst>
          </p:nvPr>
        </p:nvSpPr>
        <p:spPr>
          <a:xfrm>
            <a:off x="2457450" y="1181100"/>
            <a:ext cx="781050" cy="781050"/>
          </a:xfrm>
          <a:prstGeom prst="ellipse">
            <a:avLst/>
          </a:prstGeom>
          <a:solidFill>
            <a:srgbClr val="DCE3DE"/>
          </a:solidFill>
          <a:ln w="76200">
            <a:solidFill>
              <a:schemeClr val="bg1"/>
            </a:solidFill>
            <a:prstDash val="solid"/>
          </a:ln>
        </p:spPr>
        <p:txBody>
          <a:bodyPr/>
          <a:p>
            <a:endParaRPr lang="zh-CN" altLang="en-US"/>
          </a:p>
        </p:txBody>
      </p:sp>
      <p:sp>
        <p:nvSpPr>
          <p:cNvPr id="12" name="矩形 11"/>
          <p:cNvSpPr>
            <a:spLocks noGrp="1"/>
          </p:cNvSpPr>
          <p:nvPr>
            <p:custDataLst>
              <p:tags r:id="rId3"/>
            </p:custDataLst>
          </p:nvPr>
        </p:nvSpPr>
        <p:spPr>
          <a:xfrm>
            <a:off x="2457450" y="1181100"/>
            <a:ext cx="781050" cy="781050"/>
          </a:xfrm>
          <a:prstGeom prst="rect">
            <a:avLst/>
          </a:prstGeom>
          <a:noFill/>
          <a:ln w="0">
            <a:noFill/>
            <a:prstDash val="solid"/>
          </a:ln>
        </p:spPr>
        <p:txBody>
          <a:bodyPr wrap="square" lIns="0" tIns="0" rIns="0" bIns="0" anchor="ctr">
            <a:normAutofit/>
          </a:bodyPr>
          <a:p>
            <a:pPr algn="ctr">
              <a:lnSpc>
                <a:spcPct val="100000"/>
              </a:lnSpc>
              <a:buNone/>
              <a:defRPr sz="2325" b="0">
                <a:solidFill>
                  <a:srgbClr val="6F7775"/>
                </a:solidFill>
                <a:latin typeface="华文楷体" panose="02010600040101010101" charset="-122"/>
                <a:ea typeface="华文楷体" panose="02010600040101010101" charset="-122"/>
                <a:cs typeface="华文楷体" panose="02010600040101010101" charset="-122"/>
              </a:defRPr>
            </a:pPr>
            <a:r>
              <a:rPr sz="2250" dirty="0">
                <a:solidFill>
                  <a:srgbClr val="747A78"/>
                </a:solidFill>
                <a:latin typeface="微软雅黑" panose="020B0503020204020204" charset="-122"/>
                <a:ea typeface="微软雅黑" panose="020B0503020204020204" charset="-122"/>
              </a:rPr>
              <a:t>一</a:t>
            </a:r>
            <a:endParaRPr sz="2250" dirty="0">
              <a:solidFill>
                <a:srgbClr val="747A78"/>
              </a:solidFill>
              <a:latin typeface="微软雅黑" panose="020B0503020204020204" charset="-122"/>
              <a:ea typeface="微软雅黑" panose="020B0503020204020204" charset="-122"/>
            </a:endParaRPr>
          </a:p>
        </p:txBody>
      </p:sp>
      <p:sp>
        <p:nvSpPr>
          <p:cNvPr id="13" name="矩形 12"/>
          <p:cNvSpPr>
            <a:spLocks noGrp="1"/>
          </p:cNvSpPr>
          <p:nvPr>
            <p:custDataLst>
              <p:tags r:id="rId4"/>
            </p:custDataLst>
          </p:nvPr>
        </p:nvSpPr>
        <p:spPr>
          <a:xfrm>
            <a:off x="3543300" y="1228725"/>
            <a:ext cx="5829300" cy="590550"/>
          </a:xfrm>
          <a:prstGeom prst="rect">
            <a:avLst/>
          </a:prstGeom>
          <a:noFill/>
          <a:ln w="0">
            <a:noFill/>
            <a:prstDash val="solid"/>
          </a:ln>
        </p:spPr>
        <p:txBody>
          <a:bodyPr wrap="square" lIns="0" tIns="0" rIns="0" bIns="0" anchor="ctr">
            <a:normAutofit/>
          </a:bodyPr>
          <a:p>
            <a:pPr algn="ctr">
              <a:lnSpc>
                <a:spcPct val="100000"/>
              </a:lnSpc>
              <a:buNone/>
              <a:defRPr sz="2250" b="0">
                <a:solidFill>
                  <a:srgbClr val="747A78"/>
                </a:solidFill>
                <a:latin typeface="微软雅黑" panose="020B0503020204020204" charset="-122"/>
                <a:ea typeface="微软雅黑" panose="020B0503020204020204" charset="-122"/>
                <a:cs typeface="微软雅黑" panose="020B0503020204020204" charset="-122"/>
              </a:defRPr>
            </a:pPr>
            <a:r>
              <a:rPr sz="3100" b="0" dirty="0" err="1">
                <a:solidFill>
                  <a:srgbClr val="747A78"/>
                </a:solidFill>
                <a:latin typeface="微软雅黑" panose="020B0503020204020204" charset="-122"/>
                <a:ea typeface="微软雅黑" panose="020B0503020204020204" charset="-122"/>
                <a:cs typeface="微软雅黑" panose="020B0503020204020204" charset="-122"/>
              </a:rPr>
              <a:t>研究背景与意义</a:t>
            </a:r>
            <a:endParaRPr sz="3100" b="0" dirty="0" err="1">
              <a:solidFill>
                <a:srgbClr val="747A78"/>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custDataLst>
              <p:tags r:id="rId5"/>
            </p:custDataLst>
          </p:nvPr>
        </p:nvSpPr>
        <p:spPr>
          <a:xfrm>
            <a:off x="2895600" y="2143125"/>
            <a:ext cx="6953250" cy="552450"/>
          </a:xfrm>
          <a:prstGeom prst="rect">
            <a:avLst/>
          </a:prstGeom>
          <a:solidFill>
            <a:srgbClr val="DCE3DE"/>
          </a:solidFill>
          <a:ln w="0">
            <a:solidFill>
              <a:srgbClr val="DCE3DE"/>
            </a:solidFill>
            <a:prstDash val="solid"/>
          </a:ln>
        </p:spPr>
        <p:txBody>
          <a:bodyPr/>
          <a:p>
            <a:endParaRPr lang="zh-CN" altLang="en-US"/>
          </a:p>
        </p:txBody>
      </p:sp>
      <p:sp>
        <p:nvSpPr>
          <p:cNvPr id="15" name="椭圆 14"/>
          <p:cNvSpPr>
            <a:spLocks noGrp="1"/>
          </p:cNvSpPr>
          <p:nvPr>
            <p:custDataLst>
              <p:tags r:id="rId6"/>
            </p:custDataLst>
          </p:nvPr>
        </p:nvSpPr>
        <p:spPr>
          <a:xfrm>
            <a:off x="2457450" y="2076450"/>
            <a:ext cx="781050" cy="781050"/>
          </a:xfrm>
          <a:prstGeom prst="ellipse">
            <a:avLst/>
          </a:prstGeom>
          <a:solidFill>
            <a:srgbClr val="DCE3DE"/>
          </a:solidFill>
          <a:ln w="76200">
            <a:solidFill>
              <a:schemeClr val="bg1"/>
            </a:solidFill>
            <a:prstDash val="solid"/>
          </a:ln>
        </p:spPr>
        <p:txBody>
          <a:bodyPr/>
          <a:p>
            <a:endParaRPr lang="zh-CN" altLang="en-US"/>
          </a:p>
        </p:txBody>
      </p:sp>
      <p:sp>
        <p:nvSpPr>
          <p:cNvPr id="16" name="矩形 15"/>
          <p:cNvSpPr>
            <a:spLocks noGrp="1"/>
          </p:cNvSpPr>
          <p:nvPr>
            <p:custDataLst>
              <p:tags r:id="rId7"/>
            </p:custDataLst>
          </p:nvPr>
        </p:nvSpPr>
        <p:spPr>
          <a:xfrm>
            <a:off x="2457450" y="2076450"/>
            <a:ext cx="781050" cy="781050"/>
          </a:xfrm>
          <a:prstGeom prst="rect">
            <a:avLst/>
          </a:prstGeom>
          <a:noFill/>
          <a:ln w="0">
            <a:noFill/>
            <a:prstDash val="solid"/>
          </a:ln>
        </p:spPr>
        <p:txBody>
          <a:bodyPr wrap="square" lIns="0" tIns="0" rIns="0" bIns="0" anchor="ctr">
            <a:normAutofit/>
          </a:bodyPr>
          <a:p>
            <a:pPr algn="ctr">
              <a:lnSpc>
                <a:spcPct val="100000"/>
              </a:lnSpc>
              <a:buNone/>
              <a:defRPr sz="2325" b="0">
                <a:solidFill>
                  <a:srgbClr val="6F7775"/>
                </a:solidFill>
                <a:latin typeface="华文楷体" panose="02010600040101010101" charset="-122"/>
                <a:ea typeface="华文楷体" panose="02010600040101010101" charset="-122"/>
                <a:cs typeface="华文楷体" panose="02010600040101010101" charset="-122"/>
              </a:defRPr>
            </a:pPr>
            <a:r>
              <a:rPr sz="2250" dirty="0">
                <a:solidFill>
                  <a:srgbClr val="747A78"/>
                </a:solidFill>
                <a:latin typeface="微软雅黑" panose="020B0503020204020204" charset="-122"/>
                <a:ea typeface="微软雅黑" panose="020B0503020204020204" charset="-122"/>
              </a:rPr>
              <a:t>二</a:t>
            </a:r>
            <a:endParaRPr sz="2250" dirty="0">
              <a:solidFill>
                <a:srgbClr val="747A78"/>
              </a:solidFill>
              <a:latin typeface="微软雅黑" panose="020B0503020204020204" charset="-122"/>
              <a:ea typeface="微软雅黑" panose="020B0503020204020204" charset="-122"/>
            </a:endParaRPr>
          </a:p>
        </p:txBody>
      </p:sp>
      <p:sp>
        <p:nvSpPr>
          <p:cNvPr id="17" name="矩形 16"/>
          <p:cNvSpPr>
            <a:spLocks noGrp="1"/>
          </p:cNvSpPr>
          <p:nvPr>
            <p:custDataLst>
              <p:tags r:id="rId8"/>
            </p:custDataLst>
          </p:nvPr>
        </p:nvSpPr>
        <p:spPr>
          <a:xfrm>
            <a:off x="3543300" y="2124075"/>
            <a:ext cx="5829300" cy="590550"/>
          </a:xfrm>
          <a:prstGeom prst="rect">
            <a:avLst/>
          </a:prstGeom>
          <a:noFill/>
          <a:ln w="0">
            <a:noFill/>
            <a:prstDash val="solid"/>
          </a:ln>
        </p:spPr>
        <p:txBody>
          <a:bodyPr wrap="square" lIns="0" tIns="0" rIns="0" bIns="0" anchor="ctr">
            <a:normAutofit/>
          </a:bodyPr>
          <a:p>
            <a:pPr algn="ctr">
              <a:lnSpc>
                <a:spcPct val="100000"/>
              </a:lnSpc>
              <a:buNone/>
              <a:defRPr sz="2250" b="0">
                <a:solidFill>
                  <a:srgbClr val="747A78"/>
                </a:solidFill>
                <a:latin typeface="微软雅黑" panose="020B0503020204020204" charset="-122"/>
                <a:ea typeface="微软雅黑" panose="020B0503020204020204" charset="-122"/>
                <a:cs typeface="微软雅黑" panose="020B0503020204020204" charset="-122"/>
              </a:defRPr>
            </a:pPr>
            <a:r>
              <a:rPr sz="3100" b="0">
                <a:solidFill>
                  <a:srgbClr val="747A78"/>
                </a:solidFill>
                <a:latin typeface="微软雅黑" panose="020B0503020204020204" charset="-122"/>
                <a:ea typeface="微软雅黑" panose="020B0503020204020204" charset="-122"/>
                <a:cs typeface="微软雅黑" panose="020B0503020204020204" charset="-122"/>
              </a:rPr>
              <a:t>多保真度耦合非线性动力学模型</a:t>
            </a:r>
            <a:endParaRPr sz="3100" b="0">
              <a:solidFill>
                <a:srgbClr val="747A78"/>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custDataLst>
              <p:tags r:id="rId9"/>
            </p:custDataLst>
          </p:nvPr>
        </p:nvSpPr>
        <p:spPr>
          <a:xfrm>
            <a:off x="2895600" y="3019425"/>
            <a:ext cx="6953250" cy="552450"/>
          </a:xfrm>
          <a:prstGeom prst="rect">
            <a:avLst/>
          </a:prstGeom>
          <a:solidFill>
            <a:srgbClr val="DCE3DE"/>
          </a:solidFill>
          <a:ln w="0">
            <a:solidFill>
              <a:srgbClr val="DCE3DE"/>
            </a:solidFill>
            <a:prstDash val="solid"/>
          </a:ln>
        </p:spPr>
        <p:txBody>
          <a:bodyPr/>
          <a:p>
            <a:endParaRPr lang="zh-CN" altLang="en-US"/>
          </a:p>
        </p:txBody>
      </p:sp>
      <p:sp>
        <p:nvSpPr>
          <p:cNvPr id="19" name="椭圆 18"/>
          <p:cNvSpPr>
            <a:spLocks noGrp="1"/>
          </p:cNvSpPr>
          <p:nvPr>
            <p:custDataLst>
              <p:tags r:id="rId10"/>
            </p:custDataLst>
          </p:nvPr>
        </p:nvSpPr>
        <p:spPr>
          <a:xfrm>
            <a:off x="2457450" y="2971800"/>
            <a:ext cx="781050" cy="781050"/>
          </a:xfrm>
          <a:prstGeom prst="ellipse">
            <a:avLst/>
          </a:prstGeom>
          <a:solidFill>
            <a:srgbClr val="DCE3DE"/>
          </a:solidFill>
          <a:ln w="76200">
            <a:solidFill>
              <a:schemeClr val="bg1"/>
            </a:solidFill>
            <a:prstDash val="solid"/>
          </a:ln>
        </p:spPr>
        <p:txBody>
          <a:bodyPr/>
          <a:p>
            <a:endParaRPr lang="zh-CN" altLang="en-US"/>
          </a:p>
        </p:txBody>
      </p:sp>
      <p:sp>
        <p:nvSpPr>
          <p:cNvPr id="20" name="矩形 19"/>
          <p:cNvSpPr>
            <a:spLocks noGrp="1"/>
          </p:cNvSpPr>
          <p:nvPr>
            <p:custDataLst>
              <p:tags r:id="rId11"/>
            </p:custDataLst>
          </p:nvPr>
        </p:nvSpPr>
        <p:spPr>
          <a:xfrm>
            <a:off x="2457450" y="2971800"/>
            <a:ext cx="781050" cy="781050"/>
          </a:xfrm>
          <a:prstGeom prst="rect">
            <a:avLst/>
          </a:prstGeom>
          <a:noFill/>
          <a:ln w="0">
            <a:noFill/>
            <a:prstDash val="solid"/>
          </a:ln>
        </p:spPr>
        <p:txBody>
          <a:bodyPr wrap="square" lIns="0" tIns="0" rIns="0" bIns="0" anchor="ctr">
            <a:normAutofit/>
          </a:bodyPr>
          <a:p>
            <a:pPr algn="ctr">
              <a:lnSpc>
                <a:spcPct val="100000"/>
              </a:lnSpc>
              <a:buNone/>
              <a:defRPr sz="2325" b="0">
                <a:solidFill>
                  <a:srgbClr val="6F7775"/>
                </a:solidFill>
                <a:latin typeface="华文楷体" panose="02010600040101010101" charset="-122"/>
                <a:ea typeface="华文楷体" panose="02010600040101010101" charset="-122"/>
                <a:cs typeface="华文楷体" panose="02010600040101010101" charset="-122"/>
              </a:defRPr>
            </a:pPr>
            <a:r>
              <a:rPr sz="2250" dirty="0">
                <a:solidFill>
                  <a:srgbClr val="747A78"/>
                </a:solidFill>
                <a:latin typeface="微软雅黑" panose="020B0503020204020204" charset="-122"/>
                <a:ea typeface="微软雅黑" panose="020B0503020204020204" charset="-122"/>
              </a:rPr>
              <a:t>三</a:t>
            </a:r>
            <a:endParaRPr sz="2250" dirty="0">
              <a:solidFill>
                <a:srgbClr val="747A78"/>
              </a:solidFill>
              <a:latin typeface="微软雅黑" panose="020B0503020204020204" charset="-122"/>
              <a:ea typeface="微软雅黑" panose="020B0503020204020204" charset="-122"/>
            </a:endParaRPr>
          </a:p>
        </p:txBody>
      </p:sp>
      <p:sp>
        <p:nvSpPr>
          <p:cNvPr id="21" name="矩形 20"/>
          <p:cNvSpPr>
            <a:spLocks noGrp="1"/>
          </p:cNvSpPr>
          <p:nvPr>
            <p:custDataLst>
              <p:tags r:id="rId12"/>
            </p:custDataLst>
          </p:nvPr>
        </p:nvSpPr>
        <p:spPr>
          <a:xfrm>
            <a:off x="3543300" y="3019425"/>
            <a:ext cx="5829300" cy="590550"/>
          </a:xfrm>
          <a:prstGeom prst="rect">
            <a:avLst/>
          </a:prstGeom>
          <a:noFill/>
          <a:ln w="0">
            <a:noFill/>
            <a:prstDash val="solid"/>
          </a:ln>
        </p:spPr>
        <p:txBody>
          <a:bodyPr wrap="square" lIns="0" tIns="0" rIns="0" bIns="0" anchor="ctr">
            <a:normAutofit/>
          </a:bodyPr>
          <a:p>
            <a:pPr algn="ctr">
              <a:lnSpc>
                <a:spcPct val="100000"/>
              </a:lnSpc>
              <a:buNone/>
              <a:defRPr sz="2250" b="0">
                <a:solidFill>
                  <a:srgbClr val="747A78"/>
                </a:solidFill>
                <a:latin typeface="微软雅黑" panose="020B0503020204020204" charset="-122"/>
                <a:ea typeface="微软雅黑" panose="020B0503020204020204" charset="-122"/>
                <a:cs typeface="微软雅黑" panose="020B0503020204020204" charset="-122"/>
              </a:defRPr>
            </a:pPr>
            <a:r>
              <a:rPr sz="3100" b="0">
                <a:solidFill>
                  <a:srgbClr val="747A78"/>
                </a:solidFill>
                <a:latin typeface="微软雅黑" panose="020B0503020204020204" charset="-122"/>
                <a:ea typeface="微软雅黑" panose="020B0503020204020204" charset="-122"/>
                <a:cs typeface="微软雅黑" panose="020B0503020204020204" charset="-122"/>
              </a:rPr>
              <a:t>动力响应性能与疲劳寿命评估</a:t>
            </a:r>
            <a:endParaRPr sz="3100" b="0">
              <a:solidFill>
                <a:srgbClr val="747A7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custDataLst>
              <p:tags r:id="rId13"/>
            </p:custDataLst>
          </p:nvPr>
        </p:nvSpPr>
        <p:spPr>
          <a:xfrm>
            <a:off x="2895600" y="3933825"/>
            <a:ext cx="6953250" cy="552450"/>
          </a:xfrm>
          <a:prstGeom prst="rect">
            <a:avLst/>
          </a:prstGeom>
          <a:solidFill>
            <a:srgbClr val="DCE3DE"/>
          </a:solidFill>
          <a:ln w="0">
            <a:solidFill>
              <a:srgbClr val="DCE3DE"/>
            </a:solidFill>
            <a:prstDash val="solid"/>
          </a:ln>
        </p:spPr>
        <p:txBody>
          <a:bodyPr/>
          <a:p>
            <a:endParaRPr lang="zh-CN" altLang="en-US"/>
          </a:p>
        </p:txBody>
      </p:sp>
      <p:sp>
        <p:nvSpPr>
          <p:cNvPr id="23" name="椭圆 22"/>
          <p:cNvSpPr>
            <a:spLocks noGrp="1"/>
          </p:cNvSpPr>
          <p:nvPr>
            <p:custDataLst>
              <p:tags r:id="rId14"/>
            </p:custDataLst>
          </p:nvPr>
        </p:nvSpPr>
        <p:spPr>
          <a:xfrm>
            <a:off x="2457450" y="3867150"/>
            <a:ext cx="781050" cy="781050"/>
          </a:xfrm>
          <a:prstGeom prst="ellipse">
            <a:avLst/>
          </a:prstGeom>
          <a:solidFill>
            <a:srgbClr val="DCE3DE"/>
          </a:solidFill>
          <a:ln w="76200">
            <a:solidFill>
              <a:schemeClr val="bg1"/>
            </a:solidFill>
            <a:prstDash val="solid"/>
          </a:ln>
        </p:spPr>
        <p:txBody>
          <a:bodyPr/>
          <a:p>
            <a:endParaRPr lang="zh-CN" altLang="en-US"/>
          </a:p>
        </p:txBody>
      </p:sp>
      <p:sp>
        <p:nvSpPr>
          <p:cNvPr id="24" name="矩形 23"/>
          <p:cNvSpPr>
            <a:spLocks noGrp="1"/>
          </p:cNvSpPr>
          <p:nvPr>
            <p:custDataLst>
              <p:tags r:id="rId15"/>
            </p:custDataLst>
          </p:nvPr>
        </p:nvSpPr>
        <p:spPr>
          <a:xfrm>
            <a:off x="2457450" y="3867150"/>
            <a:ext cx="781050" cy="781050"/>
          </a:xfrm>
          <a:prstGeom prst="rect">
            <a:avLst/>
          </a:prstGeom>
          <a:noFill/>
          <a:ln w="0">
            <a:noFill/>
            <a:prstDash val="solid"/>
          </a:ln>
        </p:spPr>
        <p:txBody>
          <a:bodyPr wrap="square" lIns="0" tIns="0" rIns="0" bIns="0" anchor="ctr">
            <a:normAutofit/>
          </a:bodyPr>
          <a:p>
            <a:pPr algn="ctr">
              <a:lnSpc>
                <a:spcPct val="100000"/>
              </a:lnSpc>
              <a:buNone/>
              <a:defRPr sz="2325" b="0">
                <a:solidFill>
                  <a:srgbClr val="6F7775"/>
                </a:solidFill>
                <a:latin typeface="华文楷体" panose="02010600040101010101" charset="-122"/>
                <a:ea typeface="华文楷体" panose="02010600040101010101" charset="-122"/>
                <a:cs typeface="华文楷体" panose="02010600040101010101" charset="-122"/>
              </a:defRPr>
            </a:pPr>
            <a:r>
              <a:rPr sz="2250" dirty="0">
                <a:solidFill>
                  <a:srgbClr val="747A78"/>
                </a:solidFill>
                <a:latin typeface="微软雅黑" panose="020B0503020204020204" charset="-122"/>
                <a:ea typeface="微软雅黑" panose="020B0503020204020204" charset="-122"/>
              </a:rPr>
              <a:t>四</a:t>
            </a:r>
            <a:endParaRPr sz="2250" dirty="0">
              <a:solidFill>
                <a:srgbClr val="747A78"/>
              </a:solidFill>
              <a:latin typeface="微软雅黑" panose="020B0503020204020204" charset="-122"/>
              <a:ea typeface="微软雅黑" panose="020B0503020204020204" charset="-122"/>
            </a:endParaRPr>
          </a:p>
        </p:txBody>
      </p:sp>
      <p:sp>
        <p:nvSpPr>
          <p:cNvPr id="25" name="矩形 24"/>
          <p:cNvSpPr>
            <a:spLocks noGrp="1"/>
          </p:cNvSpPr>
          <p:nvPr>
            <p:custDataLst>
              <p:tags r:id="rId16"/>
            </p:custDataLst>
          </p:nvPr>
        </p:nvSpPr>
        <p:spPr>
          <a:xfrm>
            <a:off x="3543300" y="3914775"/>
            <a:ext cx="5829300" cy="590550"/>
          </a:xfrm>
          <a:prstGeom prst="rect">
            <a:avLst/>
          </a:prstGeom>
          <a:noFill/>
          <a:ln w="0">
            <a:noFill/>
            <a:prstDash val="solid"/>
          </a:ln>
        </p:spPr>
        <p:txBody>
          <a:bodyPr wrap="square" lIns="0" tIns="0" rIns="0" bIns="0" anchor="ctr">
            <a:normAutofit/>
          </a:bodyPr>
          <a:p>
            <a:pPr algn="ctr">
              <a:lnSpc>
                <a:spcPct val="100000"/>
              </a:lnSpc>
              <a:buNone/>
              <a:defRPr sz="2250" b="0">
                <a:solidFill>
                  <a:srgbClr val="747A78"/>
                </a:solidFill>
                <a:latin typeface="微软雅黑" panose="020B0503020204020204" charset="-122"/>
                <a:ea typeface="微软雅黑" panose="020B0503020204020204" charset="-122"/>
                <a:cs typeface="微软雅黑" panose="020B0503020204020204" charset="-122"/>
              </a:defRPr>
            </a:pPr>
            <a:r>
              <a:rPr sz="3100" b="0">
                <a:solidFill>
                  <a:srgbClr val="747A78"/>
                </a:solidFill>
                <a:latin typeface="微软雅黑" panose="020B0503020204020204" charset="-122"/>
                <a:ea typeface="微软雅黑" panose="020B0503020204020204" charset="-122"/>
                <a:cs typeface="微软雅黑" panose="020B0503020204020204" charset="-122"/>
              </a:rPr>
              <a:t>极端工况下动力可靠度评估</a:t>
            </a:r>
            <a:endParaRPr sz="3100" b="0">
              <a:solidFill>
                <a:srgbClr val="747A78"/>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custDataLst>
              <p:tags r:id="rId17"/>
            </p:custDataLst>
          </p:nvPr>
        </p:nvSpPr>
        <p:spPr>
          <a:xfrm>
            <a:off x="2895600" y="4829175"/>
            <a:ext cx="6953250" cy="552450"/>
          </a:xfrm>
          <a:prstGeom prst="rect">
            <a:avLst/>
          </a:prstGeom>
          <a:solidFill>
            <a:srgbClr val="2F5A94"/>
          </a:solidFill>
          <a:ln w="0">
            <a:solidFill>
              <a:srgbClr val="2F5A94"/>
            </a:solidFill>
            <a:prstDash val="solid"/>
          </a:ln>
        </p:spPr>
        <p:txBody>
          <a:bodyPr/>
          <a:p>
            <a:endParaRPr lang="zh-CN" altLang="en-US"/>
          </a:p>
        </p:txBody>
      </p:sp>
      <p:sp>
        <p:nvSpPr>
          <p:cNvPr id="27" name="椭圆 26"/>
          <p:cNvSpPr>
            <a:spLocks noGrp="1"/>
          </p:cNvSpPr>
          <p:nvPr>
            <p:custDataLst>
              <p:tags r:id="rId18"/>
            </p:custDataLst>
          </p:nvPr>
        </p:nvSpPr>
        <p:spPr>
          <a:xfrm>
            <a:off x="2457450" y="4762500"/>
            <a:ext cx="781050" cy="781050"/>
          </a:xfrm>
          <a:prstGeom prst="ellipse">
            <a:avLst/>
          </a:prstGeom>
          <a:solidFill>
            <a:srgbClr val="2F5A94"/>
          </a:solidFill>
          <a:ln w="76200">
            <a:solidFill>
              <a:schemeClr val="bg1"/>
            </a:solidFill>
            <a:prstDash val="solid"/>
          </a:ln>
        </p:spPr>
        <p:txBody>
          <a:bodyPr/>
          <a:p>
            <a:endParaRPr lang="zh-CN" altLang="en-US"/>
          </a:p>
        </p:txBody>
      </p:sp>
      <p:sp>
        <p:nvSpPr>
          <p:cNvPr id="28" name="矩形 27"/>
          <p:cNvSpPr>
            <a:spLocks noGrp="1"/>
          </p:cNvSpPr>
          <p:nvPr>
            <p:custDataLst>
              <p:tags r:id="rId19"/>
            </p:custDataLst>
          </p:nvPr>
        </p:nvSpPr>
        <p:spPr>
          <a:xfrm>
            <a:off x="2457450" y="4762500"/>
            <a:ext cx="781050" cy="781050"/>
          </a:xfrm>
          <a:prstGeom prst="rect">
            <a:avLst/>
          </a:prstGeom>
          <a:noFill/>
          <a:ln w="0">
            <a:noFill/>
            <a:prstDash val="solid"/>
          </a:ln>
        </p:spPr>
        <p:txBody>
          <a:bodyPr wrap="square" lIns="0" tIns="0" rIns="0" bIns="0" anchor="ctr">
            <a:normAutofit/>
          </a:bodyPr>
          <a:p>
            <a:pPr algn="ctr">
              <a:lnSpc>
                <a:spcPct val="100000"/>
              </a:lnSpc>
              <a:buNone/>
              <a:defRPr sz="2625" b="1">
                <a:solidFill>
                  <a:srgbClr val="FFFFFF"/>
                </a:solidFill>
                <a:latin typeface="华文楷体" panose="02010600040101010101" charset="-122"/>
                <a:ea typeface="华文楷体" panose="02010600040101010101" charset="-122"/>
                <a:cs typeface="华文楷体" panose="02010600040101010101" charset="-122"/>
              </a:defRPr>
            </a:pPr>
            <a:r>
              <a:rPr sz="2250" dirty="0">
                <a:solidFill>
                  <a:schemeClr val="bg1"/>
                </a:solidFill>
                <a:latin typeface="微软雅黑" panose="020B0503020204020204" charset="-122"/>
                <a:ea typeface="微软雅黑" panose="020B0503020204020204" charset="-122"/>
              </a:rPr>
              <a:t>五</a:t>
            </a:r>
            <a:endParaRPr sz="2250" dirty="0">
              <a:solidFill>
                <a:schemeClr val="bg1"/>
              </a:solidFill>
              <a:latin typeface="微软雅黑" panose="020B0503020204020204" charset="-122"/>
              <a:ea typeface="微软雅黑" panose="020B0503020204020204" charset="-122"/>
            </a:endParaRPr>
          </a:p>
        </p:txBody>
      </p:sp>
      <p:sp>
        <p:nvSpPr>
          <p:cNvPr id="29" name="矩形 28"/>
          <p:cNvSpPr>
            <a:spLocks noGrp="1"/>
          </p:cNvSpPr>
          <p:nvPr>
            <p:custDataLst>
              <p:tags r:id="rId20"/>
            </p:custDataLst>
          </p:nvPr>
        </p:nvSpPr>
        <p:spPr>
          <a:xfrm>
            <a:off x="3543300" y="4810125"/>
            <a:ext cx="5829300" cy="590550"/>
          </a:xfrm>
          <a:prstGeom prst="rect">
            <a:avLst/>
          </a:prstGeom>
          <a:noFill/>
          <a:ln w="0">
            <a:noFill/>
            <a:prstDash val="solid"/>
          </a:ln>
        </p:spPr>
        <p:txBody>
          <a:bodyPr wrap="square" lIns="0" tIns="0" rIns="0" bIns="0" anchor="ctr">
            <a:normAutofit/>
          </a:bodyPr>
          <a:p>
            <a:pPr algn="ctr">
              <a:lnSpc>
                <a:spcPct val="100000"/>
              </a:lnSpc>
              <a:buNone/>
              <a:defRPr sz="2325" b="1">
                <a:solidFill>
                  <a:srgbClr val="FFFFFF"/>
                </a:solidFill>
                <a:latin typeface="微软雅黑" panose="020B0503020204020204" charset="-122"/>
                <a:ea typeface="微软雅黑" panose="020B0503020204020204" charset="-122"/>
                <a:cs typeface="微软雅黑" panose="020B0503020204020204" charset="-122"/>
              </a:defRPr>
            </a:pPr>
            <a:r>
              <a:rPr sz="3100" b="1">
                <a:solidFill>
                  <a:srgbClr val="FFFFFF"/>
                </a:solidFill>
                <a:latin typeface="微软雅黑" panose="020B0503020204020204" charset="-122"/>
                <a:ea typeface="微软雅黑" panose="020B0503020204020204" charset="-122"/>
                <a:cs typeface="微软雅黑" panose="020B0503020204020204" charset="-122"/>
              </a:rPr>
              <a:t>动力响应性能提升</a:t>
            </a:r>
            <a:endParaRPr sz="31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custDataLst>
              <p:tags r:id="rId21"/>
            </p:custDataLst>
          </p:nvPr>
        </p:nvSpPr>
        <p:spPr>
          <a:xfrm>
            <a:off x="2895600" y="5724525"/>
            <a:ext cx="6953250" cy="552450"/>
          </a:xfrm>
          <a:prstGeom prst="rect">
            <a:avLst/>
          </a:prstGeom>
          <a:solidFill>
            <a:srgbClr val="DCE3DE"/>
          </a:solidFill>
          <a:ln w="0">
            <a:solidFill>
              <a:srgbClr val="DCE3DE"/>
            </a:solidFill>
            <a:prstDash val="solid"/>
          </a:ln>
        </p:spPr>
        <p:txBody>
          <a:bodyPr/>
          <a:p>
            <a:endParaRPr lang="zh-CN" altLang="en-US"/>
          </a:p>
        </p:txBody>
      </p:sp>
      <p:sp>
        <p:nvSpPr>
          <p:cNvPr id="31" name="椭圆 30"/>
          <p:cNvSpPr>
            <a:spLocks noGrp="1"/>
          </p:cNvSpPr>
          <p:nvPr>
            <p:custDataLst>
              <p:tags r:id="rId22"/>
            </p:custDataLst>
          </p:nvPr>
        </p:nvSpPr>
        <p:spPr>
          <a:xfrm>
            <a:off x="2457450" y="5657850"/>
            <a:ext cx="781050" cy="781050"/>
          </a:xfrm>
          <a:prstGeom prst="ellipse">
            <a:avLst/>
          </a:prstGeom>
          <a:solidFill>
            <a:srgbClr val="DCE3DE"/>
          </a:solidFill>
          <a:ln w="76200">
            <a:solidFill>
              <a:schemeClr val="bg1"/>
            </a:solidFill>
            <a:prstDash val="solid"/>
          </a:ln>
        </p:spPr>
        <p:txBody>
          <a:bodyPr/>
          <a:p>
            <a:endParaRPr lang="zh-CN" altLang="en-US"/>
          </a:p>
        </p:txBody>
      </p:sp>
      <p:sp>
        <p:nvSpPr>
          <p:cNvPr id="32" name="矩形 31"/>
          <p:cNvSpPr>
            <a:spLocks noGrp="1"/>
          </p:cNvSpPr>
          <p:nvPr>
            <p:custDataLst>
              <p:tags r:id="rId23"/>
            </p:custDataLst>
          </p:nvPr>
        </p:nvSpPr>
        <p:spPr>
          <a:xfrm>
            <a:off x="2457450" y="5657850"/>
            <a:ext cx="781050" cy="781050"/>
          </a:xfrm>
          <a:prstGeom prst="rect">
            <a:avLst/>
          </a:prstGeom>
          <a:noFill/>
          <a:ln w="0">
            <a:noFill/>
            <a:prstDash val="solid"/>
          </a:ln>
        </p:spPr>
        <p:txBody>
          <a:bodyPr wrap="square" lIns="0" tIns="0" rIns="0" bIns="0" anchor="ctr">
            <a:normAutofit/>
          </a:bodyPr>
          <a:p>
            <a:pPr algn="ctr">
              <a:lnSpc>
                <a:spcPct val="100000"/>
              </a:lnSpc>
              <a:buNone/>
              <a:defRPr sz="2325" b="0">
                <a:solidFill>
                  <a:srgbClr val="6F7775"/>
                </a:solidFill>
                <a:latin typeface="华文楷体" panose="02010600040101010101" charset="-122"/>
                <a:ea typeface="华文楷体" panose="02010600040101010101" charset="-122"/>
                <a:cs typeface="华文楷体" panose="02010600040101010101" charset="-122"/>
              </a:defRPr>
            </a:pPr>
            <a:r>
              <a:rPr sz="2250" dirty="0">
                <a:solidFill>
                  <a:srgbClr val="747A78"/>
                </a:solidFill>
                <a:latin typeface="微软雅黑" panose="020B0503020204020204" charset="-122"/>
                <a:ea typeface="微软雅黑" panose="020B0503020204020204" charset="-122"/>
              </a:rPr>
              <a:t>六</a:t>
            </a:r>
            <a:endParaRPr sz="2250" dirty="0">
              <a:solidFill>
                <a:srgbClr val="747A78"/>
              </a:solidFill>
              <a:latin typeface="微软雅黑" panose="020B0503020204020204" charset="-122"/>
              <a:ea typeface="微软雅黑" panose="020B0503020204020204" charset="-122"/>
            </a:endParaRPr>
          </a:p>
        </p:txBody>
      </p:sp>
      <p:sp>
        <p:nvSpPr>
          <p:cNvPr id="33" name="矩形 32"/>
          <p:cNvSpPr>
            <a:spLocks noGrp="1"/>
          </p:cNvSpPr>
          <p:nvPr>
            <p:custDataLst>
              <p:tags r:id="rId24"/>
            </p:custDataLst>
          </p:nvPr>
        </p:nvSpPr>
        <p:spPr>
          <a:xfrm>
            <a:off x="3543300" y="5705475"/>
            <a:ext cx="5829300" cy="590550"/>
          </a:xfrm>
          <a:prstGeom prst="rect">
            <a:avLst/>
          </a:prstGeom>
          <a:noFill/>
          <a:ln w="0">
            <a:noFill/>
            <a:prstDash val="solid"/>
          </a:ln>
        </p:spPr>
        <p:txBody>
          <a:bodyPr wrap="square" lIns="0" tIns="0" rIns="0" bIns="0" anchor="ctr">
            <a:normAutofit/>
          </a:bodyPr>
          <a:p>
            <a:pPr algn="ctr">
              <a:lnSpc>
                <a:spcPct val="100000"/>
              </a:lnSpc>
              <a:buNone/>
              <a:defRPr sz="2250" b="0">
                <a:solidFill>
                  <a:srgbClr val="747A78"/>
                </a:solidFill>
                <a:latin typeface="微软雅黑" panose="020B0503020204020204" charset="-122"/>
                <a:ea typeface="微软雅黑" panose="020B0503020204020204" charset="-122"/>
                <a:cs typeface="微软雅黑" panose="020B0503020204020204" charset="-122"/>
              </a:defRPr>
            </a:pPr>
            <a:r>
              <a:rPr sz="3100" b="0">
                <a:solidFill>
                  <a:srgbClr val="747A78"/>
                </a:solidFill>
                <a:latin typeface="微软雅黑" panose="020B0503020204020204" charset="-122"/>
                <a:ea typeface="微软雅黑" panose="020B0503020204020204" charset="-122"/>
                <a:cs typeface="微软雅黑" panose="020B0503020204020204" charset="-122"/>
              </a:rPr>
              <a:t>结论与展望</a:t>
            </a:r>
            <a:endParaRPr sz="3100" b="0">
              <a:solidFill>
                <a:srgbClr val="747A78"/>
              </a:solidFill>
              <a:latin typeface="微软雅黑" panose="020B0503020204020204" charset="-122"/>
              <a:ea typeface="微软雅黑" panose="020B0503020204020204" charset="-122"/>
              <a:cs typeface="微软雅黑" panose="020B0503020204020204" charset="-122"/>
            </a:endParaRPr>
          </a:p>
        </p:txBody>
      </p:sp>
      <p:sp>
        <p:nvSpPr>
          <p:cNvPr id="36" name="椭圆 35"/>
          <p:cNvSpPr>
            <a:spLocks noGrp="1"/>
          </p:cNvSpPr>
          <p:nvPr>
            <p:custDataLst>
              <p:tags r:id="rId25"/>
            </p:custDataLst>
          </p:nvPr>
        </p:nvSpPr>
        <p:spPr>
          <a:xfrm>
            <a:off x="6115050" y="6381750"/>
            <a:ext cx="28575" cy="28575"/>
          </a:xfrm>
          <a:prstGeom prst="ellipse">
            <a:avLst/>
          </a:prstGeom>
          <a:solidFill>
            <a:srgbClr val="FFFFFF"/>
          </a:solidFill>
          <a:ln w="0">
            <a:noFill/>
            <a:prstDash val="solid"/>
          </a:ln>
        </p:spPr>
        <p:txBody>
          <a:bodyPr/>
          <a:p>
            <a:endParaRPr lang="zh-CN" altLang="en-US"/>
          </a:p>
        </p:txBody>
      </p:sp>
      <p:sp>
        <p:nvSpPr>
          <p:cNvPr id="37" name="椭圆 36"/>
          <p:cNvSpPr>
            <a:spLocks noGrp="1"/>
          </p:cNvSpPr>
          <p:nvPr>
            <p:custDataLst>
              <p:tags r:id="rId26"/>
            </p:custDataLst>
          </p:nvPr>
        </p:nvSpPr>
        <p:spPr>
          <a:xfrm>
            <a:off x="6210300" y="6381750"/>
            <a:ext cx="28575" cy="28575"/>
          </a:xfrm>
          <a:prstGeom prst="ellipse">
            <a:avLst/>
          </a:prstGeom>
          <a:solidFill>
            <a:srgbClr val="FFFFFF"/>
          </a:solidFill>
          <a:ln w="0">
            <a:noFill/>
            <a:prstDash val="solid"/>
          </a:ln>
        </p:spPr>
        <p:txBody>
          <a:bodyPr/>
          <a:p>
            <a:endParaRPr lang="zh-CN" altLang="en-US"/>
          </a:p>
        </p:txBody>
      </p:sp>
      <p:sp>
        <p:nvSpPr>
          <p:cNvPr id="38" name="椭圆 37"/>
          <p:cNvSpPr>
            <a:spLocks noGrp="1"/>
          </p:cNvSpPr>
          <p:nvPr/>
        </p:nvSpPr>
        <p:spPr>
          <a:xfrm>
            <a:off x="6286500" y="6486525"/>
            <a:ext cx="28575" cy="28575"/>
          </a:xfrm>
          <a:prstGeom prst="ellipse">
            <a:avLst/>
          </a:prstGeom>
          <a:solidFill>
            <a:srgbClr val="FFFFFF"/>
          </a:solidFill>
          <a:ln w="0">
            <a:noFill/>
            <a:prstDash val="solid"/>
          </a:ln>
        </p:spPr>
        <p:txBody>
          <a:bodyPr/>
          <a:p>
            <a:endParaRPr lang="zh-CN" altLang="en-US"/>
          </a:p>
        </p:txBody>
      </p:sp>
      <p:sp>
        <p:nvSpPr>
          <p:cNvPr id="39" name="椭圆 38"/>
          <p:cNvSpPr>
            <a:spLocks noGrp="1"/>
          </p:cNvSpPr>
          <p:nvPr/>
        </p:nvSpPr>
        <p:spPr>
          <a:xfrm>
            <a:off x="6381750" y="6486525"/>
            <a:ext cx="28575" cy="28575"/>
          </a:xfrm>
          <a:prstGeom prst="ellipse">
            <a:avLst/>
          </a:prstGeom>
          <a:solidFill>
            <a:srgbClr val="FFFFFF"/>
          </a:solidFill>
          <a:ln w="0">
            <a:noFill/>
            <a:prstDash val="solid"/>
          </a:ln>
        </p:spPr>
        <p:txBody>
          <a:bodyPr/>
          <a:p>
            <a:endParaRPr lang="zh-CN" altLang="en-US"/>
          </a:p>
        </p:txBody>
      </p:sp>
      <p:sp>
        <p:nvSpPr>
          <p:cNvPr id="6" name="文本框 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60/68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a:spLocks noGrp="1"/>
          </p:cNvSpPr>
          <p:nvPr/>
        </p:nvSpPr>
        <p:spPr>
          <a:xfrm>
            <a:off x="561975" y="466725"/>
            <a:ext cx="514350" cy="514350"/>
          </a:xfrm>
          <a:prstGeom prst="ellipse">
            <a:avLst/>
          </a:prstGeom>
          <a:solidFill>
            <a:srgbClr val="2F5A94"/>
          </a:solidFill>
          <a:ln w="0">
            <a:noFill/>
            <a:prstDash val="solid"/>
          </a:ln>
        </p:spPr>
        <p:txBody>
          <a:bodyPr/>
          <a:p>
            <a:endParaRPr lang="zh-CN" altLang="en-US"/>
          </a:p>
        </p:txBody>
      </p:sp>
      <p:sp>
        <p:nvSpPr>
          <p:cNvPr id="6" name="矩形 5"/>
          <p:cNvSpPr>
            <a:spLocks noGrp="1"/>
          </p:cNvSpPr>
          <p:nvPr/>
        </p:nvSpPr>
        <p:spPr>
          <a:xfrm>
            <a:off x="561975" y="466725"/>
            <a:ext cx="514350" cy="514350"/>
          </a:xfrm>
          <a:prstGeom prst="rect">
            <a:avLst/>
          </a:prstGeom>
          <a:noFill/>
          <a:ln w="0">
            <a:noFill/>
            <a:prstDash val="solid"/>
          </a:ln>
        </p:spPr>
        <p:txBody>
          <a:bodyPr wrap="square" lIns="0" tIns="0" rIns="0" bIns="0" anchor="ctr">
            <a:normAutofit/>
          </a:bodyPr>
          <a:p>
            <a:pPr algn="ctr">
              <a:lnSpc>
                <a:spcPct val="100000"/>
              </a:lnSpc>
              <a:buNone/>
              <a:defRPr sz="2550" b="1">
                <a:solidFill>
                  <a:srgbClr val="FFFFFF"/>
                </a:solidFill>
                <a:latin typeface="Arial" panose="020B0604020202020204"/>
                <a:ea typeface="Arial" panose="020B0604020202020204"/>
                <a:cs typeface="Arial" panose="020B0604020202020204"/>
              </a:defRPr>
            </a:pPr>
            <a:r>
              <a:rPr sz="2550" b="1">
                <a:solidFill>
                  <a:srgbClr val="FFFFFF"/>
                </a:solidFill>
                <a:latin typeface="Arial" panose="020B0604020202020204"/>
                <a:ea typeface="Arial" panose="020B0604020202020204"/>
                <a:cs typeface="Arial" panose="020B0604020202020204"/>
              </a:rPr>
              <a:t>5</a:t>
            </a:r>
            <a:endParaRPr sz="2550" b="1">
              <a:solidFill>
                <a:srgbClr val="FFFFFF"/>
              </a:solidFill>
              <a:latin typeface="Arial" panose="020B0604020202020204"/>
              <a:ea typeface="Arial" panose="020B0604020202020204"/>
              <a:cs typeface="Arial" panose="020B0604020202020204"/>
            </a:endParaRPr>
          </a:p>
        </p:txBody>
      </p:sp>
      <p:sp>
        <p:nvSpPr>
          <p:cNvPr id="7" name="section-title"/>
          <p:cNvSpPr>
            <a:spLocks noGrp="1"/>
          </p:cNvSpPr>
          <p:nvPr/>
        </p:nvSpPr>
        <p:spPr>
          <a:xfrm>
            <a:off x="1181100" y="466725"/>
            <a:ext cx="3238500" cy="504825"/>
          </a:xfrm>
          <a:prstGeom prst="rect">
            <a:avLst/>
          </a:prstGeom>
          <a:noFill/>
          <a:ln w="0">
            <a:noFill/>
            <a:prstDash val="solid"/>
          </a:ln>
        </p:spPr>
        <p:txBody>
          <a:bodyPr wrap="square" lIns="0" tIns="0" rIns="0" bIns="0" anchor="ctr">
            <a:noAutofit/>
          </a:bodyPr>
          <a:p>
            <a:pPr algn="l">
              <a:lnSpc>
                <a:spcPct val="100000"/>
              </a:lnSpc>
              <a:buNone/>
              <a:defRPr sz="2400" b="1">
                <a:solidFill>
                  <a:srgbClr val="2F5A94"/>
                </a:solidFill>
                <a:latin typeface="微软雅黑" panose="020B0503020204020204" charset="-122"/>
                <a:ea typeface="微软雅黑" panose="020B0503020204020204" charset="-122"/>
                <a:cs typeface="微软雅黑" panose="020B0503020204020204" charset="-122"/>
              </a:defRPr>
            </a:pPr>
            <a:r>
              <a:rPr sz="3100" b="1">
                <a:solidFill>
                  <a:srgbClr val="2F5A94"/>
                </a:solidFill>
                <a:latin typeface="微软雅黑" panose="020B0503020204020204" charset="-122"/>
                <a:ea typeface="微软雅黑" panose="020B0503020204020204" charset="-122"/>
                <a:cs typeface="微软雅黑" panose="020B0503020204020204" charset="-122"/>
              </a:rPr>
              <a:t>动力响应性能提升</a:t>
            </a:r>
            <a:endParaRPr sz="3100" b="1">
              <a:solidFill>
                <a:srgbClr val="2F5A94"/>
              </a:solidFill>
              <a:latin typeface="微软雅黑" panose="020B0503020204020204" charset="-122"/>
              <a:ea typeface="微软雅黑" panose="020B0503020204020204" charset="-122"/>
              <a:cs typeface="微软雅黑" panose="020B0503020204020204" charset="-122"/>
            </a:endParaRPr>
          </a:p>
        </p:txBody>
      </p:sp>
      <p:sp>
        <p:nvSpPr>
          <p:cNvPr id="8" name="直接连接符 7"/>
          <p:cNvSpPr>
            <a:spLocks noGrp="1"/>
          </p:cNvSpPr>
          <p:nvPr/>
        </p:nvSpPr>
        <p:spPr>
          <a:xfrm>
            <a:off x="1038225" y="1000125"/>
            <a:ext cx="10648950" cy="0"/>
          </a:xfrm>
          <a:prstGeom prst="line">
            <a:avLst/>
          </a:prstGeom>
          <a:noFill/>
          <a:ln w="28575">
            <a:solidFill>
              <a:srgbClr val="023A8C"/>
            </a:solidFill>
            <a:prstDash val="solid"/>
          </a:ln>
        </p:spPr>
        <p:txBody>
          <a:bodyPr/>
          <a:p>
            <a:endParaRPr lang="zh-CN" altLang="en-US"/>
          </a:p>
        </p:txBody>
      </p:sp>
      <p:sp>
        <p:nvSpPr>
          <p:cNvPr id="12" name="椭圆 11"/>
          <p:cNvSpPr>
            <a:spLocks noGrp="1"/>
          </p:cNvSpPr>
          <p:nvPr/>
        </p:nvSpPr>
        <p:spPr>
          <a:xfrm>
            <a:off x="6115050" y="6381750"/>
            <a:ext cx="28575" cy="28575"/>
          </a:xfrm>
          <a:prstGeom prst="ellipse">
            <a:avLst/>
          </a:prstGeom>
          <a:solidFill>
            <a:srgbClr val="FFFFFF"/>
          </a:solidFill>
          <a:ln w="0">
            <a:noFill/>
            <a:prstDash val="solid"/>
          </a:ln>
        </p:spPr>
        <p:txBody>
          <a:bodyPr/>
          <a:p>
            <a:endParaRPr lang="zh-CN" altLang="en-US"/>
          </a:p>
        </p:txBody>
      </p:sp>
      <p:sp>
        <p:nvSpPr>
          <p:cNvPr id="13" name="椭圆 12"/>
          <p:cNvSpPr>
            <a:spLocks noGrp="1"/>
          </p:cNvSpPr>
          <p:nvPr/>
        </p:nvSpPr>
        <p:spPr>
          <a:xfrm>
            <a:off x="6210300" y="6381750"/>
            <a:ext cx="28575" cy="28575"/>
          </a:xfrm>
          <a:prstGeom prst="ellipse">
            <a:avLst/>
          </a:prstGeom>
          <a:solidFill>
            <a:srgbClr val="FFFFFF"/>
          </a:solidFill>
          <a:ln w="0">
            <a:noFill/>
            <a:prstDash val="solid"/>
          </a:ln>
        </p:spPr>
        <p:txBody>
          <a:bodyPr/>
          <a:p>
            <a:endParaRPr lang="zh-CN" altLang="en-US"/>
          </a:p>
        </p:txBody>
      </p:sp>
      <p:sp>
        <p:nvSpPr>
          <p:cNvPr id="15" name="椭圆 14"/>
          <p:cNvSpPr>
            <a:spLocks noGrp="1"/>
          </p:cNvSpPr>
          <p:nvPr/>
        </p:nvSpPr>
        <p:spPr>
          <a:xfrm>
            <a:off x="6381750" y="6486525"/>
            <a:ext cx="28575" cy="28575"/>
          </a:xfrm>
          <a:prstGeom prst="ellipse">
            <a:avLst/>
          </a:prstGeom>
          <a:solidFill>
            <a:srgbClr val="FFFFFF"/>
          </a:solidFill>
          <a:ln w="0">
            <a:noFill/>
            <a:prstDash val="solid"/>
          </a:ln>
        </p:spPr>
        <p:txBody>
          <a:bodyPr/>
          <a:p>
            <a:endParaRPr lang="zh-CN" altLang="en-US"/>
          </a:p>
        </p:txBody>
      </p:sp>
      <p:sp>
        <p:nvSpPr>
          <p:cNvPr id="18" name="矩形 17"/>
          <p:cNvSpPr>
            <a:spLocks noGrp="1"/>
          </p:cNvSpPr>
          <p:nvPr/>
        </p:nvSpPr>
        <p:spPr>
          <a:xfrm>
            <a:off x="866775" y="1238250"/>
            <a:ext cx="171450" cy="171450"/>
          </a:xfrm>
          <a:prstGeom prst="rect">
            <a:avLst/>
          </a:prstGeom>
          <a:solidFill>
            <a:srgbClr val="2D5B97"/>
          </a:solidFill>
          <a:ln w="0">
            <a:solidFill>
              <a:srgbClr val="2D5B97"/>
            </a:solidFill>
            <a:prstDash val="solid"/>
          </a:ln>
        </p:spPr>
        <p:txBody>
          <a:bodyPr/>
          <a:p>
            <a:endParaRPr lang="zh-CN" altLang="en-US"/>
          </a:p>
        </p:txBody>
      </p:sp>
      <p:sp>
        <p:nvSpPr>
          <p:cNvPr id="19" name="矩形 18"/>
          <p:cNvSpPr>
            <a:spLocks noGrp="1"/>
          </p:cNvSpPr>
          <p:nvPr/>
        </p:nvSpPr>
        <p:spPr>
          <a:xfrm>
            <a:off x="1266825" y="1152525"/>
            <a:ext cx="9953625" cy="381000"/>
          </a:xfrm>
          <a:prstGeom prst="rect">
            <a:avLst/>
          </a:prstGeom>
          <a:noFill/>
          <a:ln w="0">
            <a:noFill/>
            <a:prstDash val="solid"/>
          </a:ln>
        </p:spPr>
        <p:txBody>
          <a:bodyPr wrap="square" lIns="0" tIns="0" rIns="0" bIns="0" anchor="ctr">
            <a:normAutofit/>
          </a:bodyPr>
          <a:p>
            <a:pPr algn="l">
              <a:lnSpc>
                <a:spcPct val="100000"/>
              </a:lnSpc>
              <a:buNone/>
              <a:defRPr sz="2025" b="1">
                <a:solidFill>
                  <a:srgbClr val="2F5A94"/>
                </a:solidFill>
                <a:latin typeface="微软雅黑" panose="020B0503020204020204" charset="-122"/>
                <a:ea typeface="微软雅黑" panose="020B0503020204020204" charset="-122"/>
                <a:cs typeface="微软雅黑" panose="020B0503020204020204" charset="-122"/>
              </a:defRPr>
            </a:pPr>
            <a:r>
              <a:rPr sz="2025" b="1" dirty="0" err="1">
                <a:solidFill>
                  <a:srgbClr val="2F5A94"/>
                </a:solidFill>
                <a:latin typeface="微软雅黑" panose="020B0503020204020204" charset="-122"/>
                <a:ea typeface="微软雅黑" panose="020B0503020204020204" charset="-122"/>
                <a:cs typeface="微软雅黑" panose="020B0503020204020204" charset="-122"/>
              </a:rPr>
              <a:t>针对大型混塔式风电机组在极端风况下暴露出的动力响应问题</a:t>
            </a:r>
            <a:endParaRPr sz="2025" b="1" dirty="0">
              <a:solidFill>
                <a:srgbClr val="2F5A94"/>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66775" y="1666875"/>
            <a:ext cx="171450" cy="171450"/>
          </a:xfrm>
          <a:prstGeom prst="rect">
            <a:avLst/>
          </a:prstGeom>
          <a:solidFill>
            <a:srgbClr val="2D5B97"/>
          </a:solidFill>
          <a:ln w="0">
            <a:solidFill>
              <a:srgbClr val="2D5B97"/>
            </a:solidFill>
            <a:prstDash val="solid"/>
          </a:ln>
        </p:spPr>
        <p:txBody>
          <a:bodyPr/>
          <a:p>
            <a:endParaRPr lang="zh-CN" altLang="en-US"/>
          </a:p>
        </p:txBody>
      </p:sp>
      <p:sp>
        <p:nvSpPr>
          <p:cNvPr id="21" name="矩形 20"/>
          <p:cNvSpPr>
            <a:spLocks noGrp="1"/>
          </p:cNvSpPr>
          <p:nvPr/>
        </p:nvSpPr>
        <p:spPr>
          <a:xfrm>
            <a:off x="1266825" y="1581150"/>
            <a:ext cx="9953625" cy="381000"/>
          </a:xfrm>
          <a:prstGeom prst="rect">
            <a:avLst/>
          </a:prstGeom>
          <a:noFill/>
          <a:ln w="0">
            <a:noFill/>
            <a:prstDash val="solid"/>
          </a:ln>
        </p:spPr>
        <p:txBody>
          <a:bodyPr wrap="square" lIns="0" tIns="0" rIns="0" bIns="0" anchor="ctr">
            <a:normAutofit/>
          </a:bodyPr>
          <a:p>
            <a:pPr algn="l">
              <a:lnSpc>
                <a:spcPct val="100000"/>
              </a:lnSpc>
              <a:buNone/>
              <a:defRPr sz="2025" b="1">
                <a:solidFill>
                  <a:srgbClr val="2F5A94"/>
                </a:solidFill>
                <a:latin typeface="微软雅黑" panose="020B0503020204020204" charset="-122"/>
                <a:ea typeface="微软雅黑" panose="020B0503020204020204" charset="-122"/>
                <a:cs typeface="微软雅黑" panose="020B0503020204020204" charset="-122"/>
              </a:defRPr>
            </a:pPr>
            <a:r>
              <a:rPr sz="2025" b="1">
                <a:solidFill>
                  <a:srgbClr val="2F5A94"/>
                </a:solidFill>
                <a:latin typeface="微软雅黑" panose="020B0503020204020204" charset="-122"/>
                <a:ea typeface="微软雅黑" panose="020B0503020204020204" charset="-122"/>
                <a:cs typeface="微软雅黑" panose="020B0503020204020204" charset="-122"/>
              </a:rPr>
              <a:t>开展结构优化与振动控制研究，提升混塔结构安全性与动力可靠度</a:t>
            </a:r>
            <a:endParaRPr sz="2025" b="1" dirty="0">
              <a:solidFill>
                <a:srgbClr val="2F5A94"/>
              </a:solidFill>
              <a:latin typeface="微软雅黑" panose="020B0503020204020204" charset="-122"/>
              <a:ea typeface="微软雅黑" panose="020B0503020204020204" charset="-122"/>
              <a:cs typeface="微软雅黑" panose="020B0503020204020204" charset="-122"/>
            </a:endParaRPr>
          </a:p>
        </p:txBody>
      </p:sp>
      <p:sp>
        <p:nvSpPr>
          <p:cNvPr id="22" name="椭圆 21"/>
          <p:cNvSpPr>
            <a:spLocks noGrp="1"/>
          </p:cNvSpPr>
          <p:nvPr/>
        </p:nvSpPr>
        <p:spPr>
          <a:xfrm>
            <a:off x="1152525" y="2162175"/>
            <a:ext cx="123825" cy="123825"/>
          </a:xfrm>
          <a:prstGeom prst="ellipse">
            <a:avLst/>
          </a:prstGeom>
          <a:solidFill>
            <a:srgbClr val="000000"/>
          </a:solidFill>
          <a:ln w="0">
            <a:noFill/>
            <a:prstDash val="solid"/>
          </a:ln>
        </p:spPr>
        <p:txBody>
          <a:bodyPr/>
          <a:p>
            <a:endParaRPr lang="zh-CN" altLang="en-US"/>
          </a:p>
        </p:txBody>
      </p:sp>
      <p:sp>
        <p:nvSpPr>
          <p:cNvPr id="23" name="矩形 22"/>
          <p:cNvSpPr>
            <a:spLocks noGrp="1"/>
          </p:cNvSpPr>
          <p:nvPr/>
        </p:nvSpPr>
        <p:spPr>
          <a:xfrm>
            <a:off x="1409700" y="2076450"/>
            <a:ext cx="10096500" cy="342900"/>
          </a:xfrm>
          <a:prstGeom prst="rect">
            <a:avLst/>
          </a:prstGeom>
          <a:noFill/>
          <a:ln w="0">
            <a:noFill/>
            <a:prstDash val="solid"/>
          </a:ln>
        </p:spPr>
        <p:txBody>
          <a:bodyPr wrap="square" lIns="0" tIns="0" rIns="0" bIns="0" anchor="ctr">
            <a:normAutofit/>
          </a:bodyPr>
          <a:p>
            <a:pPr algn="l">
              <a:lnSpc>
                <a:spcPct val="100000"/>
              </a:lnSpc>
              <a:buNone/>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提出双重锚固式过渡段结构，改善螺栓-法兰连接受力状态。</a:t>
            </a:r>
            <a:endParaRPr sz="165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24" name="椭圆 23"/>
          <p:cNvSpPr>
            <a:spLocks noGrp="1"/>
          </p:cNvSpPr>
          <p:nvPr/>
        </p:nvSpPr>
        <p:spPr>
          <a:xfrm>
            <a:off x="1152525" y="2543175"/>
            <a:ext cx="123825" cy="123825"/>
          </a:xfrm>
          <a:prstGeom prst="ellipse">
            <a:avLst/>
          </a:prstGeom>
          <a:solidFill>
            <a:srgbClr val="000000"/>
          </a:solidFill>
          <a:ln w="0">
            <a:noFill/>
            <a:prstDash val="solid"/>
          </a:ln>
        </p:spPr>
        <p:txBody>
          <a:bodyPr/>
          <a:p>
            <a:endParaRPr lang="zh-CN" altLang="en-US"/>
          </a:p>
        </p:txBody>
      </p:sp>
      <p:sp>
        <p:nvSpPr>
          <p:cNvPr id="25" name="矩形 24"/>
          <p:cNvSpPr>
            <a:spLocks noGrp="1"/>
          </p:cNvSpPr>
          <p:nvPr/>
        </p:nvSpPr>
        <p:spPr>
          <a:xfrm>
            <a:off x="1409700" y="2457450"/>
            <a:ext cx="10096500" cy="342900"/>
          </a:xfrm>
          <a:prstGeom prst="rect">
            <a:avLst/>
          </a:prstGeom>
          <a:noFill/>
          <a:ln w="0">
            <a:noFill/>
            <a:prstDash val="solid"/>
          </a:ln>
        </p:spPr>
        <p:txBody>
          <a:bodyPr wrap="square" lIns="0" tIns="0" rIns="0" bIns="0" anchor="ctr">
            <a:normAutofit/>
          </a:bodyPr>
          <a:p>
            <a:pPr algn="l">
              <a:lnSpc>
                <a:spcPct val="100000"/>
              </a:lnSpc>
              <a:buNone/>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提出三维斜向碰撞式调谐质量阻尼器，即3D-OPTMD，抑制塔顶水平振动。</a:t>
            </a:r>
            <a:endParaRPr sz="165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26" name="椭圆 25"/>
          <p:cNvSpPr>
            <a:spLocks noGrp="1"/>
          </p:cNvSpPr>
          <p:nvPr/>
        </p:nvSpPr>
        <p:spPr>
          <a:xfrm>
            <a:off x="1152525" y="2924175"/>
            <a:ext cx="123825" cy="123825"/>
          </a:xfrm>
          <a:prstGeom prst="ellipse">
            <a:avLst/>
          </a:prstGeom>
          <a:solidFill>
            <a:srgbClr val="000000"/>
          </a:solidFill>
          <a:ln w="0">
            <a:noFill/>
            <a:prstDash val="solid"/>
          </a:ln>
        </p:spPr>
        <p:txBody>
          <a:bodyPr/>
          <a:p>
            <a:endParaRPr lang="zh-CN" altLang="en-US"/>
          </a:p>
        </p:txBody>
      </p:sp>
      <p:sp>
        <p:nvSpPr>
          <p:cNvPr id="27" name="矩形 26"/>
          <p:cNvSpPr>
            <a:spLocks noGrp="1"/>
          </p:cNvSpPr>
          <p:nvPr/>
        </p:nvSpPr>
        <p:spPr>
          <a:xfrm>
            <a:off x="1409700" y="2838450"/>
            <a:ext cx="10096500" cy="342900"/>
          </a:xfrm>
          <a:prstGeom prst="rect">
            <a:avLst/>
          </a:prstGeom>
          <a:noFill/>
          <a:ln w="0">
            <a:noFill/>
            <a:prstDash val="solid"/>
          </a:ln>
        </p:spPr>
        <p:txBody>
          <a:bodyPr wrap="square" lIns="0" tIns="0" rIns="0" bIns="0" anchor="ctr">
            <a:normAutofit/>
          </a:bodyPr>
          <a:p>
            <a:pPr algn="l">
              <a:lnSpc>
                <a:spcPct val="100000"/>
              </a:lnSpc>
              <a:buNone/>
              <a:defRPr sz="1650" b="0">
                <a:solidFill>
                  <a:srgbClr val="111111"/>
                </a:solidFill>
                <a:latin typeface="微软雅黑" panose="020B0503020204020204" charset="-122"/>
                <a:ea typeface="微软雅黑" panose="020B0503020204020204" charset="-122"/>
                <a:cs typeface="微软雅黑" panose="020B0503020204020204" charset="-122"/>
              </a:defRPr>
            </a:pPr>
            <a:r>
              <a:rPr sz="1650" b="0">
                <a:solidFill>
                  <a:srgbClr val="111111"/>
                </a:solidFill>
                <a:latin typeface="微软雅黑" panose="020B0503020204020204" charset="-122"/>
                <a:ea typeface="微软雅黑" panose="020B0503020204020204" charset="-122"/>
                <a:cs typeface="微软雅黑" panose="020B0503020204020204" charset="-122"/>
              </a:rPr>
              <a:t>对比改进前后的动力响应与可靠度水平，验证性能提升效果。</a:t>
            </a:r>
            <a:endParaRPr sz="165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28" name="直接连接符 27"/>
          <p:cNvSpPr>
            <a:spLocks noGrp="1"/>
          </p:cNvSpPr>
          <p:nvPr/>
        </p:nvSpPr>
        <p:spPr>
          <a:xfrm>
            <a:off x="3371850" y="4943475"/>
            <a:ext cx="0" cy="371475"/>
          </a:xfrm>
          <a:prstGeom prst="line">
            <a:avLst/>
          </a:prstGeom>
          <a:noFill/>
          <a:ln w="11430">
            <a:solidFill>
              <a:srgbClr val="707879"/>
            </a:solidFill>
            <a:prstDash val="solid"/>
          </a:ln>
        </p:spPr>
        <p:txBody>
          <a:bodyPr/>
          <a:p>
            <a:endParaRPr lang="zh-CN" altLang="en-US"/>
          </a:p>
        </p:txBody>
      </p:sp>
      <p:sp>
        <p:nvSpPr>
          <p:cNvPr id="29" name="等腰三角形 28"/>
          <p:cNvSpPr>
            <a:spLocks noGrp="1"/>
          </p:cNvSpPr>
          <p:nvPr/>
        </p:nvSpPr>
        <p:spPr>
          <a:xfrm rot="10800000">
            <a:off x="3314700" y="5257800"/>
            <a:ext cx="114300" cy="95250"/>
          </a:xfrm>
          <a:prstGeom prst="triangle">
            <a:avLst/>
          </a:prstGeom>
          <a:solidFill>
            <a:srgbClr val="707879"/>
          </a:solidFill>
          <a:ln w="0">
            <a:solidFill>
              <a:srgbClr val="707879"/>
            </a:solidFill>
            <a:prstDash val="solid"/>
          </a:ln>
        </p:spPr>
        <p:txBody>
          <a:bodyPr/>
          <a:p>
            <a:endParaRPr lang="zh-CN" altLang="en-US"/>
          </a:p>
        </p:txBody>
      </p:sp>
      <p:sp>
        <p:nvSpPr>
          <p:cNvPr id="30" name="直接连接符 29"/>
          <p:cNvSpPr>
            <a:spLocks noGrp="1"/>
          </p:cNvSpPr>
          <p:nvPr/>
        </p:nvSpPr>
        <p:spPr>
          <a:xfrm>
            <a:off x="8782050" y="4943475"/>
            <a:ext cx="0" cy="371475"/>
          </a:xfrm>
          <a:prstGeom prst="line">
            <a:avLst/>
          </a:prstGeom>
          <a:noFill/>
          <a:ln w="11430">
            <a:solidFill>
              <a:srgbClr val="707879"/>
            </a:solidFill>
            <a:prstDash val="solid"/>
          </a:ln>
        </p:spPr>
        <p:txBody>
          <a:bodyPr/>
          <a:p>
            <a:endParaRPr lang="zh-CN" altLang="en-US"/>
          </a:p>
        </p:txBody>
      </p:sp>
      <p:sp>
        <p:nvSpPr>
          <p:cNvPr id="31" name="等腰三角形 30"/>
          <p:cNvSpPr>
            <a:spLocks noGrp="1"/>
          </p:cNvSpPr>
          <p:nvPr/>
        </p:nvSpPr>
        <p:spPr>
          <a:xfrm rot="10800000">
            <a:off x="8724900" y="5257800"/>
            <a:ext cx="114300" cy="95250"/>
          </a:xfrm>
          <a:prstGeom prst="triangle">
            <a:avLst/>
          </a:prstGeom>
          <a:solidFill>
            <a:srgbClr val="707879"/>
          </a:solidFill>
          <a:ln w="0">
            <a:solidFill>
              <a:srgbClr val="707879"/>
            </a:solidFill>
            <a:prstDash val="solid"/>
          </a:ln>
        </p:spPr>
        <p:txBody>
          <a:bodyPr/>
          <a:p>
            <a:endParaRPr lang="zh-CN" altLang="en-US"/>
          </a:p>
        </p:txBody>
      </p:sp>
      <p:sp>
        <p:nvSpPr>
          <p:cNvPr id="32" name="矩形 31"/>
          <p:cNvSpPr>
            <a:spLocks noGrp="1"/>
          </p:cNvSpPr>
          <p:nvPr/>
        </p:nvSpPr>
        <p:spPr>
          <a:xfrm>
            <a:off x="942975" y="3381375"/>
            <a:ext cx="4876800" cy="1562100"/>
          </a:xfrm>
          <a:prstGeom prst="rect">
            <a:avLst/>
          </a:prstGeom>
          <a:solidFill>
            <a:srgbClr val="FFFFFF"/>
          </a:solidFill>
          <a:ln w="9525">
            <a:solidFill>
              <a:srgbClr val="D6DADC"/>
            </a:solidFill>
            <a:prstDash val="solid"/>
          </a:ln>
        </p:spPr>
        <p:txBody>
          <a:bodyPr/>
          <a:p>
            <a:endParaRPr lang="zh-CN" altLang="en-US"/>
          </a:p>
        </p:txBody>
      </p:sp>
      <p:sp>
        <p:nvSpPr>
          <p:cNvPr id="33" name="矩形 32"/>
          <p:cNvSpPr>
            <a:spLocks noGrp="1"/>
          </p:cNvSpPr>
          <p:nvPr/>
        </p:nvSpPr>
        <p:spPr>
          <a:xfrm>
            <a:off x="942975" y="3381375"/>
            <a:ext cx="4876800" cy="419100"/>
          </a:xfrm>
          <a:prstGeom prst="rect">
            <a:avLst/>
          </a:prstGeom>
          <a:solidFill>
            <a:srgbClr val="123B70"/>
          </a:solidFill>
          <a:ln w="0">
            <a:solidFill>
              <a:srgbClr val="123B70"/>
            </a:solidFill>
            <a:prstDash val="solid"/>
          </a:ln>
        </p:spPr>
        <p:txBody>
          <a:bodyPr/>
          <a:p>
            <a:endParaRPr lang="zh-CN" altLang="en-US"/>
          </a:p>
        </p:txBody>
      </p:sp>
      <p:sp>
        <p:nvSpPr>
          <p:cNvPr id="34" name="矩形 33"/>
          <p:cNvSpPr>
            <a:spLocks noGrp="1"/>
          </p:cNvSpPr>
          <p:nvPr/>
        </p:nvSpPr>
        <p:spPr>
          <a:xfrm>
            <a:off x="942975" y="3390900"/>
            <a:ext cx="4876800" cy="390525"/>
          </a:xfrm>
          <a:prstGeom prst="rect">
            <a:avLst/>
          </a:prstGeom>
          <a:noFill/>
          <a:ln w="0">
            <a:noFill/>
            <a:prstDash val="solid"/>
          </a:ln>
        </p:spPr>
        <p:txBody>
          <a:bodyPr wrap="square" lIns="0" tIns="0" rIns="0" bIns="0" anchor="ctr">
            <a:normAutofit/>
          </a:bodyPr>
          <a:p>
            <a:pPr algn="ctr">
              <a:lnSpc>
                <a:spcPct val="100000"/>
              </a:lnSpc>
              <a:buNone/>
              <a:defRPr sz="1425" b="1">
                <a:solidFill>
                  <a:srgbClr val="FFFFFF"/>
                </a:solidFill>
                <a:latin typeface="微软雅黑" panose="020B0503020204020204" charset="-122"/>
                <a:ea typeface="微软雅黑" panose="020B0503020204020204" charset="-122"/>
                <a:cs typeface="微软雅黑" panose="020B0503020204020204" charset="-122"/>
              </a:defRPr>
            </a:pPr>
            <a:r>
              <a:rPr sz="1425" b="1">
                <a:solidFill>
                  <a:srgbClr val="FFFFFF"/>
                </a:solidFill>
                <a:latin typeface="微软雅黑" panose="020B0503020204020204" charset="-122"/>
                <a:ea typeface="微软雅黑" panose="020B0503020204020204" charset="-122"/>
                <a:cs typeface="微软雅黑" panose="020B0503020204020204" charset="-122"/>
              </a:rPr>
              <a:t>问题1：过渡段连接薄弱</a:t>
            </a:r>
            <a:endParaRPr sz="14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5" name="椭圆 34"/>
          <p:cNvSpPr>
            <a:spLocks noGrp="1"/>
          </p:cNvSpPr>
          <p:nvPr/>
        </p:nvSpPr>
        <p:spPr>
          <a:xfrm>
            <a:off x="2105025" y="3971925"/>
            <a:ext cx="57150" cy="57150"/>
          </a:xfrm>
          <a:prstGeom prst="ellipse">
            <a:avLst/>
          </a:prstGeom>
          <a:solidFill>
            <a:srgbClr val="000000"/>
          </a:solidFill>
          <a:ln w="0">
            <a:noFill/>
            <a:prstDash val="solid"/>
          </a:ln>
        </p:spPr>
        <p:txBody>
          <a:bodyPr/>
          <a:p>
            <a:endParaRPr lang="zh-CN" altLang="en-US"/>
          </a:p>
        </p:txBody>
      </p:sp>
      <p:sp>
        <p:nvSpPr>
          <p:cNvPr id="36" name="矩形 35"/>
          <p:cNvSpPr>
            <a:spLocks noGrp="1"/>
          </p:cNvSpPr>
          <p:nvPr/>
        </p:nvSpPr>
        <p:spPr>
          <a:xfrm>
            <a:off x="2362200" y="3886200"/>
            <a:ext cx="3333750" cy="257175"/>
          </a:xfrm>
          <a:prstGeom prst="rect">
            <a:avLst/>
          </a:prstGeom>
          <a:noFill/>
          <a:ln w="0">
            <a:noFill/>
            <a:prstDash val="solid"/>
          </a:ln>
        </p:spPr>
        <p:txBody>
          <a:bodyPr wrap="square" lIns="0" tIns="0" rIns="0" bIns="0" anchor="ctr">
            <a:normAutofit/>
          </a:bodyPr>
          <a:p>
            <a:pPr algn="l">
              <a:lnSpc>
                <a:spcPct val="100000"/>
              </a:lnSpc>
              <a:buNone/>
              <a:defRPr sz="1275" b="0">
                <a:solidFill>
                  <a:srgbClr val="111111"/>
                </a:solidFill>
                <a:latin typeface="微软雅黑" panose="020B0503020204020204" charset="-122"/>
                <a:ea typeface="微软雅黑" panose="020B0503020204020204" charset="-122"/>
                <a:cs typeface="微软雅黑" panose="020B0503020204020204" charset="-122"/>
              </a:defRPr>
            </a:pPr>
            <a:r>
              <a:rPr sz="1275" b="0">
                <a:solidFill>
                  <a:srgbClr val="111111"/>
                </a:solidFill>
                <a:latin typeface="微软雅黑" panose="020B0503020204020204" charset="-122"/>
                <a:ea typeface="微软雅黑" panose="020B0503020204020204" charset="-122"/>
                <a:cs typeface="微软雅黑" panose="020B0503020204020204" charset="-122"/>
              </a:rPr>
              <a:t>过渡段法兰连接处螺栓应力集中</a:t>
            </a:r>
            <a:endParaRPr sz="12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37" name="椭圆 36"/>
          <p:cNvSpPr>
            <a:spLocks noGrp="1"/>
          </p:cNvSpPr>
          <p:nvPr/>
        </p:nvSpPr>
        <p:spPr>
          <a:xfrm>
            <a:off x="1943100" y="4276725"/>
            <a:ext cx="57150" cy="57150"/>
          </a:xfrm>
          <a:prstGeom prst="ellipse">
            <a:avLst/>
          </a:prstGeom>
          <a:solidFill>
            <a:srgbClr val="000000"/>
          </a:solidFill>
          <a:ln w="0">
            <a:noFill/>
            <a:prstDash val="solid"/>
          </a:ln>
        </p:spPr>
        <p:txBody>
          <a:bodyPr/>
          <a:p>
            <a:endParaRPr lang="zh-CN" altLang="en-US"/>
          </a:p>
        </p:txBody>
      </p:sp>
      <p:sp>
        <p:nvSpPr>
          <p:cNvPr id="38" name="矩形 37"/>
          <p:cNvSpPr>
            <a:spLocks noGrp="1"/>
          </p:cNvSpPr>
          <p:nvPr/>
        </p:nvSpPr>
        <p:spPr>
          <a:xfrm>
            <a:off x="2200275" y="4191000"/>
            <a:ext cx="3619500" cy="257175"/>
          </a:xfrm>
          <a:prstGeom prst="rect">
            <a:avLst/>
          </a:prstGeom>
          <a:noFill/>
          <a:ln w="0">
            <a:noFill/>
            <a:prstDash val="solid"/>
          </a:ln>
        </p:spPr>
        <p:txBody>
          <a:bodyPr wrap="square" lIns="0" tIns="0" rIns="0" bIns="0" anchor="ctr">
            <a:normAutofit/>
          </a:bodyPr>
          <a:p>
            <a:pPr algn="l">
              <a:lnSpc>
                <a:spcPct val="100000"/>
              </a:lnSpc>
              <a:buNone/>
              <a:defRPr sz="1275" b="0">
                <a:solidFill>
                  <a:srgbClr val="111111"/>
                </a:solidFill>
                <a:latin typeface="微软雅黑" panose="020B0503020204020204" charset="-122"/>
                <a:ea typeface="微软雅黑" panose="020B0503020204020204" charset="-122"/>
                <a:cs typeface="微软雅黑" panose="020B0503020204020204" charset="-122"/>
              </a:defRPr>
            </a:pPr>
            <a:r>
              <a:rPr sz="1275" b="0">
                <a:solidFill>
                  <a:srgbClr val="111111"/>
                </a:solidFill>
                <a:latin typeface="微软雅黑" panose="020B0503020204020204" charset="-122"/>
                <a:ea typeface="微软雅黑" panose="020B0503020204020204" charset="-122"/>
                <a:cs typeface="微软雅黑" panose="020B0503020204020204" charset="-122"/>
              </a:rPr>
              <a:t>混凝土-钢界面存在脱开与滑移风险</a:t>
            </a:r>
            <a:endParaRPr sz="12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39" name="椭圆 38"/>
          <p:cNvSpPr>
            <a:spLocks noGrp="1"/>
          </p:cNvSpPr>
          <p:nvPr/>
        </p:nvSpPr>
        <p:spPr>
          <a:xfrm>
            <a:off x="2371725" y="4581525"/>
            <a:ext cx="57150" cy="57150"/>
          </a:xfrm>
          <a:prstGeom prst="ellipse">
            <a:avLst/>
          </a:prstGeom>
          <a:solidFill>
            <a:srgbClr val="000000"/>
          </a:solidFill>
          <a:ln w="0">
            <a:noFill/>
            <a:prstDash val="solid"/>
          </a:ln>
        </p:spPr>
        <p:txBody>
          <a:bodyPr/>
          <a:p>
            <a:endParaRPr lang="zh-CN" altLang="en-US"/>
          </a:p>
        </p:txBody>
      </p:sp>
      <p:sp>
        <p:nvSpPr>
          <p:cNvPr id="40" name="矩形 39"/>
          <p:cNvSpPr>
            <a:spLocks noGrp="1"/>
          </p:cNvSpPr>
          <p:nvPr/>
        </p:nvSpPr>
        <p:spPr>
          <a:xfrm>
            <a:off x="2628900" y="4495800"/>
            <a:ext cx="2857500" cy="257175"/>
          </a:xfrm>
          <a:prstGeom prst="rect">
            <a:avLst/>
          </a:prstGeom>
          <a:noFill/>
          <a:ln w="0">
            <a:noFill/>
            <a:prstDash val="solid"/>
          </a:ln>
        </p:spPr>
        <p:txBody>
          <a:bodyPr wrap="square" lIns="0" tIns="0" rIns="0" bIns="0" anchor="ctr">
            <a:normAutofit/>
          </a:bodyPr>
          <a:p>
            <a:pPr algn="l">
              <a:lnSpc>
                <a:spcPct val="100000"/>
              </a:lnSpc>
              <a:buNone/>
              <a:defRPr sz="1275" b="0">
                <a:solidFill>
                  <a:srgbClr val="111111"/>
                </a:solidFill>
                <a:latin typeface="微软雅黑" panose="020B0503020204020204" charset="-122"/>
                <a:ea typeface="微软雅黑" panose="020B0503020204020204" charset="-122"/>
                <a:cs typeface="微软雅黑" panose="020B0503020204020204" charset="-122"/>
              </a:defRPr>
            </a:pPr>
            <a:r>
              <a:rPr sz="1275" b="0">
                <a:solidFill>
                  <a:srgbClr val="111111"/>
                </a:solidFill>
                <a:latin typeface="微软雅黑" panose="020B0503020204020204" charset="-122"/>
                <a:ea typeface="微软雅黑" panose="020B0503020204020204" charset="-122"/>
                <a:cs typeface="微软雅黑" panose="020B0503020204020204" charset="-122"/>
              </a:rPr>
              <a:t>影响过渡段长期服役可靠性</a:t>
            </a:r>
            <a:endParaRPr sz="12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41" name="矩形 40"/>
          <p:cNvSpPr>
            <a:spLocks noGrp="1"/>
          </p:cNvSpPr>
          <p:nvPr/>
        </p:nvSpPr>
        <p:spPr>
          <a:xfrm>
            <a:off x="1057275" y="5362575"/>
            <a:ext cx="4610100" cy="828675"/>
          </a:xfrm>
          <a:prstGeom prst="rect">
            <a:avLst/>
          </a:prstGeom>
          <a:solidFill>
            <a:srgbClr val="E8F2F9"/>
          </a:solidFill>
          <a:ln w="12383">
            <a:solidFill>
              <a:srgbClr val="123B70"/>
            </a:solidFill>
            <a:prstDash val="solid"/>
          </a:ln>
        </p:spPr>
        <p:txBody>
          <a:bodyPr/>
          <a:p>
            <a:endParaRPr lang="zh-CN" altLang="en-US"/>
          </a:p>
        </p:txBody>
      </p:sp>
      <p:sp>
        <p:nvSpPr>
          <p:cNvPr id="42" name="矩形 41"/>
          <p:cNvSpPr>
            <a:spLocks noGrp="1"/>
          </p:cNvSpPr>
          <p:nvPr/>
        </p:nvSpPr>
        <p:spPr>
          <a:xfrm>
            <a:off x="1190625" y="5486400"/>
            <a:ext cx="4343400" cy="552450"/>
          </a:xfrm>
          <a:prstGeom prst="rect">
            <a:avLst/>
          </a:prstGeom>
          <a:noFill/>
          <a:ln w="0">
            <a:noFill/>
            <a:prstDash val="solid"/>
          </a:ln>
        </p:spPr>
        <p:txBody>
          <a:bodyPr wrap="square" lIns="0" tIns="0" rIns="0" bIns="0" anchor="ctr">
            <a:normAutofit/>
          </a:bodyPr>
          <a:p>
            <a:pPr algn="ctr">
              <a:lnSpc>
                <a:spcPct val="95000"/>
              </a:lnSpc>
              <a:buNone/>
              <a:defRPr sz="1350" b="1">
                <a:solidFill>
                  <a:srgbClr val="123B70"/>
                </a:solidFill>
                <a:latin typeface="微软雅黑" panose="020B0503020204020204" charset="-122"/>
                <a:ea typeface="微软雅黑" panose="020B0503020204020204" charset="-122"/>
                <a:cs typeface="微软雅黑" panose="020B0503020204020204" charset="-122"/>
              </a:defRPr>
            </a:pPr>
            <a:r>
              <a:rPr sz="1350" b="1">
                <a:solidFill>
                  <a:srgbClr val="123B70"/>
                </a:solidFill>
                <a:latin typeface="微软雅黑" panose="020B0503020204020204" charset="-122"/>
                <a:ea typeface="微软雅黑" panose="020B0503020204020204" charset="-122"/>
                <a:cs typeface="微软雅黑" panose="020B0503020204020204" charset="-122"/>
              </a:rPr>
              <a:t>双重锚固式过渡段</a:t>
            </a:r>
            <a:endParaRPr sz="1350" b="1">
              <a:solidFill>
                <a:srgbClr val="123B70"/>
              </a:solidFill>
              <a:latin typeface="微软雅黑" panose="020B0503020204020204" charset="-122"/>
              <a:ea typeface="微软雅黑" panose="020B0503020204020204" charset="-122"/>
              <a:cs typeface="微软雅黑" panose="020B0503020204020204" charset="-122"/>
            </a:endParaRPr>
          </a:p>
          <a:p>
            <a:pPr algn="ctr">
              <a:lnSpc>
                <a:spcPct val="95000"/>
              </a:lnSpc>
              <a:buNone/>
              <a:defRPr sz="1350" b="1">
                <a:solidFill>
                  <a:srgbClr val="123B70"/>
                </a:solidFill>
                <a:latin typeface="微软雅黑" panose="020B0503020204020204" charset="-122"/>
                <a:ea typeface="微软雅黑" panose="020B0503020204020204" charset="-122"/>
                <a:cs typeface="微软雅黑" panose="020B0503020204020204" charset="-122"/>
              </a:defRPr>
            </a:pPr>
            <a:r>
              <a:rPr sz="1350" b="1">
                <a:solidFill>
                  <a:srgbClr val="123B70"/>
                </a:solidFill>
                <a:latin typeface="微软雅黑" panose="020B0503020204020204" charset="-122"/>
                <a:ea typeface="微软雅黑" panose="020B0503020204020204" charset="-122"/>
                <a:cs typeface="微软雅黑" panose="020B0503020204020204" charset="-122"/>
              </a:rPr>
              <a:t>加劲肋 + 防滑移 + 螺栓/预应力索锚固</a:t>
            </a:r>
            <a:endParaRPr sz="1350" b="1">
              <a:solidFill>
                <a:srgbClr val="123B70"/>
              </a:solidFill>
              <a:latin typeface="微软雅黑" panose="020B0503020204020204" charset="-122"/>
              <a:ea typeface="微软雅黑" panose="020B0503020204020204" charset="-122"/>
              <a:cs typeface="微软雅黑" panose="020B0503020204020204" charset="-122"/>
            </a:endParaRPr>
          </a:p>
        </p:txBody>
      </p:sp>
      <p:sp>
        <p:nvSpPr>
          <p:cNvPr id="43" name="矩形 42"/>
          <p:cNvSpPr>
            <a:spLocks noGrp="1"/>
          </p:cNvSpPr>
          <p:nvPr/>
        </p:nvSpPr>
        <p:spPr>
          <a:xfrm>
            <a:off x="6343650" y="3381375"/>
            <a:ext cx="4876800" cy="1562100"/>
          </a:xfrm>
          <a:prstGeom prst="rect">
            <a:avLst/>
          </a:prstGeom>
          <a:solidFill>
            <a:srgbClr val="FFFFFF"/>
          </a:solidFill>
          <a:ln w="9525">
            <a:solidFill>
              <a:srgbClr val="D6DADC"/>
            </a:solidFill>
            <a:prstDash val="solid"/>
          </a:ln>
        </p:spPr>
        <p:txBody>
          <a:bodyPr/>
          <a:p>
            <a:endParaRPr lang="zh-CN" altLang="en-US"/>
          </a:p>
        </p:txBody>
      </p:sp>
      <p:sp>
        <p:nvSpPr>
          <p:cNvPr id="44" name="矩形 43"/>
          <p:cNvSpPr>
            <a:spLocks noGrp="1"/>
          </p:cNvSpPr>
          <p:nvPr/>
        </p:nvSpPr>
        <p:spPr>
          <a:xfrm>
            <a:off x="6343650" y="3381375"/>
            <a:ext cx="4876800" cy="419100"/>
          </a:xfrm>
          <a:prstGeom prst="rect">
            <a:avLst/>
          </a:prstGeom>
          <a:solidFill>
            <a:srgbClr val="A20E27"/>
          </a:solidFill>
          <a:ln w="0">
            <a:solidFill>
              <a:srgbClr val="A20E27"/>
            </a:solidFill>
            <a:prstDash val="solid"/>
          </a:ln>
        </p:spPr>
        <p:txBody>
          <a:bodyPr/>
          <a:p>
            <a:endParaRPr lang="zh-CN" altLang="en-US"/>
          </a:p>
        </p:txBody>
      </p:sp>
      <p:sp>
        <p:nvSpPr>
          <p:cNvPr id="45" name="矩形 44"/>
          <p:cNvSpPr>
            <a:spLocks noGrp="1"/>
          </p:cNvSpPr>
          <p:nvPr/>
        </p:nvSpPr>
        <p:spPr>
          <a:xfrm>
            <a:off x="6343650" y="3390900"/>
            <a:ext cx="4876800" cy="390525"/>
          </a:xfrm>
          <a:prstGeom prst="rect">
            <a:avLst/>
          </a:prstGeom>
          <a:noFill/>
          <a:ln w="0">
            <a:noFill/>
            <a:prstDash val="solid"/>
          </a:ln>
        </p:spPr>
        <p:txBody>
          <a:bodyPr wrap="square" lIns="0" tIns="0" rIns="0" bIns="0" anchor="ctr">
            <a:normAutofit/>
          </a:bodyPr>
          <a:p>
            <a:pPr algn="ctr">
              <a:lnSpc>
                <a:spcPct val="100000"/>
              </a:lnSpc>
              <a:buNone/>
              <a:defRPr sz="1425" b="1">
                <a:solidFill>
                  <a:srgbClr val="FFFFFF"/>
                </a:solidFill>
                <a:latin typeface="微软雅黑" panose="020B0503020204020204" charset="-122"/>
                <a:ea typeface="微软雅黑" panose="020B0503020204020204" charset="-122"/>
                <a:cs typeface="微软雅黑" panose="020B0503020204020204" charset="-122"/>
              </a:defRPr>
            </a:pPr>
            <a:r>
              <a:rPr sz="1425" b="1">
                <a:solidFill>
                  <a:srgbClr val="FFFFFF"/>
                </a:solidFill>
                <a:latin typeface="微软雅黑" panose="020B0503020204020204" charset="-122"/>
                <a:ea typeface="微软雅黑" panose="020B0503020204020204" charset="-122"/>
                <a:cs typeface="微软雅黑" panose="020B0503020204020204" charset="-122"/>
              </a:rPr>
              <a:t>问题2：极端风况水平振动显著</a:t>
            </a:r>
            <a:endParaRPr sz="14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6" name="椭圆 45"/>
          <p:cNvSpPr>
            <a:spLocks noGrp="1"/>
          </p:cNvSpPr>
          <p:nvPr/>
        </p:nvSpPr>
        <p:spPr>
          <a:xfrm>
            <a:off x="8001000" y="3971925"/>
            <a:ext cx="57150" cy="57150"/>
          </a:xfrm>
          <a:prstGeom prst="ellipse">
            <a:avLst/>
          </a:prstGeom>
          <a:solidFill>
            <a:srgbClr val="000000"/>
          </a:solidFill>
          <a:ln w="0">
            <a:noFill/>
            <a:prstDash val="solid"/>
          </a:ln>
        </p:spPr>
        <p:txBody>
          <a:bodyPr/>
          <a:p>
            <a:endParaRPr lang="zh-CN" altLang="en-US"/>
          </a:p>
        </p:txBody>
      </p:sp>
      <p:sp>
        <p:nvSpPr>
          <p:cNvPr id="47" name="矩形 46"/>
          <p:cNvSpPr>
            <a:spLocks noGrp="1"/>
          </p:cNvSpPr>
          <p:nvPr/>
        </p:nvSpPr>
        <p:spPr>
          <a:xfrm>
            <a:off x="8258175" y="3886200"/>
            <a:ext cx="2190750" cy="257175"/>
          </a:xfrm>
          <a:prstGeom prst="rect">
            <a:avLst/>
          </a:prstGeom>
          <a:noFill/>
          <a:ln w="0">
            <a:noFill/>
            <a:prstDash val="solid"/>
          </a:ln>
        </p:spPr>
        <p:txBody>
          <a:bodyPr wrap="square" lIns="0" tIns="0" rIns="0" bIns="0" anchor="ctr">
            <a:normAutofit/>
          </a:bodyPr>
          <a:p>
            <a:pPr algn="l">
              <a:lnSpc>
                <a:spcPct val="100000"/>
              </a:lnSpc>
              <a:buNone/>
              <a:defRPr sz="1275" b="0">
                <a:solidFill>
                  <a:srgbClr val="111111"/>
                </a:solidFill>
                <a:latin typeface="微软雅黑" panose="020B0503020204020204" charset="-122"/>
                <a:ea typeface="微软雅黑" panose="020B0503020204020204" charset="-122"/>
                <a:cs typeface="微软雅黑" panose="020B0503020204020204" charset="-122"/>
              </a:defRPr>
            </a:pPr>
            <a:r>
              <a:rPr sz="1275" b="0">
                <a:solidFill>
                  <a:srgbClr val="111111"/>
                </a:solidFill>
                <a:latin typeface="微软雅黑" panose="020B0503020204020204" charset="-122"/>
                <a:ea typeface="微软雅黑" panose="020B0503020204020204" charset="-122"/>
                <a:cs typeface="微软雅黑" panose="020B0503020204020204" charset="-122"/>
              </a:rPr>
              <a:t>塔顶水平位移较大</a:t>
            </a:r>
            <a:endParaRPr sz="12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48" name="椭圆 47"/>
          <p:cNvSpPr>
            <a:spLocks noGrp="1"/>
          </p:cNvSpPr>
          <p:nvPr/>
        </p:nvSpPr>
        <p:spPr>
          <a:xfrm>
            <a:off x="7658100" y="4276725"/>
            <a:ext cx="57150" cy="57150"/>
          </a:xfrm>
          <a:prstGeom prst="ellipse">
            <a:avLst/>
          </a:prstGeom>
          <a:solidFill>
            <a:srgbClr val="000000"/>
          </a:solidFill>
          <a:ln w="0">
            <a:noFill/>
            <a:prstDash val="solid"/>
          </a:ln>
        </p:spPr>
        <p:txBody>
          <a:bodyPr/>
          <a:p>
            <a:endParaRPr lang="zh-CN" altLang="en-US"/>
          </a:p>
        </p:txBody>
      </p:sp>
      <p:sp>
        <p:nvSpPr>
          <p:cNvPr id="49" name="矩形 48"/>
          <p:cNvSpPr>
            <a:spLocks noGrp="1"/>
          </p:cNvSpPr>
          <p:nvPr/>
        </p:nvSpPr>
        <p:spPr>
          <a:xfrm>
            <a:off x="7915275" y="4191000"/>
            <a:ext cx="3000375" cy="257175"/>
          </a:xfrm>
          <a:prstGeom prst="rect">
            <a:avLst/>
          </a:prstGeom>
          <a:noFill/>
          <a:ln w="0">
            <a:noFill/>
            <a:prstDash val="solid"/>
          </a:ln>
        </p:spPr>
        <p:txBody>
          <a:bodyPr wrap="square" lIns="0" tIns="0" rIns="0" bIns="0" anchor="ctr">
            <a:normAutofit/>
          </a:bodyPr>
          <a:p>
            <a:pPr algn="l">
              <a:lnSpc>
                <a:spcPct val="100000"/>
              </a:lnSpc>
              <a:buNone/>
              <a:defRPr sz="1275" b="0">
                <a:solidFill>
                  <a:srgbClr val="111111"/>
                </a:solidFill>
                <a:latin typeface="微软雅黑" panose="020B0503020204020204" charset="-122"/>
                <a:ea typeface="微软雅黑" panose="020B0503020204020204" charset="-122"/>
                <a:cs typeface="微软雅黑" panose="020B0503020204020204" charset="-122"/>
              </a:defRPr>
            </a:pPr>
            <a:r>
              <a:rPr sz="1275" b="0">
                <a:solidFill>
                  <a:srgbClr val="111111"/>
                </a:solidFill>
                <a:latin typeface="微软雅黑" panose="020B0503020204020204" charset="-122"/>
                <a:ea typeface="微软雅黑" panose="020B0503020204020204" charset="-122"/>
                <a:cs typeface="微软雅黑" panose="020B0503020204020204" charset="-122"/>
              </a:rPr>
              <a:t>传统TMD依赖较大附加质量</a:t>
            </a:r>
            <a:endParaRPr sz="12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50" name="椭圆 49"/>
          <p:cNvSpPr>
            <a:spLocks noGrp="1"/>
          </p:cNvSpPr>
          <p:nvPr/>
        </p:nvSpPr>
        <p:spPr>
          <a:xfrm>
            <a:off x="7658100" y="4581525"/>
            <a:ext cx="57150" cy="57150"/>
          </a:xfrm>
          <a:prstGeom prst="ellipse">
            <a:avLst/>
          </a:prstGeom>
          <a:solidFill>
            <a:srgbClr val="000000"/>
          </a:solidFill>
          <a:ln w="0">
            <a:noFill/>
            <a:prstDash val="solid"/>
          </a:ln>
        </p:spPr>
        <p:txBody>
          <a:bodyPr/>
          <a:p>
            <a:endParaRPr lang="zh-CN" altLang="en-US"/>
          </a:p>
        </p:txBody>
      </p:sp>
      <p:sp>
        <p:nvSpPr>
          <p:cNvPr id="51" name="矩形 50"/>
          <p:cNvSpPr>
            <a:spLocks noGrp="1"/>
          </p:cNvSpPr>
          <p:nvPr/>
        </p:nvSpPr>
        <p:spPr>
          <a:xfrm>
            <a:off x="7915275" y="4495800"/>
            <a:ext cx="3000375" cy="257175"/>
          </a:xfrm>
          <a:prstGeom prst="rect">
            <a:avLst/>
          </a:prstGeom>
          <a:noFill/>
          <a:ln w="0">
            <a:noFill/>
            <a:prstDash val="solid"/>
          </a:ln>
        </p:spPr>
        <p:txBody>
          <a:bodyPr wrap="square" lIns="0" tIns="0" rIns="0" bIns="0" anchor="ctr">
            <a:normAutofit/>
          </a:bodyPr>
          <a:p>
            <a:pPr algn="l">
              <a:lnSpc>
                <a:spcPct val="100000"/>
              </a:lnSpc>
              <a:buNone/>
              <a:defRPr sz="1275" b="0">
                <a:solidFill>
                  <a:srgbClr val="111111"/>
                </a:solidFill>
                <a:latin typeface="微软雅黑" panose="020B0503020204020204" charset="-122"/>
                <a:ea typeface="微软雅黑" panose="020B0503020204020204" charset="-122"/>
                <a:cs typeface="微软雅黑" panose="020B0503020204020204" charset="-122"/>
              </a:defRPr>
            </a:pPr>
            <a:r>
              <a:rPr sz="1275" b="0">
                <a:solidFill>
                  <a:srgbClr val="111111"/>
                </a:solidFill>
                <a:latin typeface="微软雅黑" panose="020B0503020204020204" charset="-122"/>
                <a:ea typeface="微软雅黑" panose="020B0503020204020204" charset="-122"/>
                <a:cs typeface="微软雅黑" panose="020B0503020204020204" charset="-122"/>
              </a:rPr>
              <a:t>多维耦合振动控制能力有限</a:t>
            </a:r>
            <a:endParaRPr sz="12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52" name="矩形 51"/>
          <p:cNvSpPr>
            <a:spLocks noGrp="1"/>
          </p:cNvSpPr>
          <p:nvPr/>
        </p:nvSpPr>
        <p:spPr>
          <a:xfrm>
            <a:off x="6467475" y="5362575"/>
            <a:ext cx="4610100" cy="828675"/>
          </a:xfrm>
          <a:prstGeom prst="rect">
            <a:avLst/>
          </a:prstGeom>
          <a:solidFill>
            <a:srgbClr val="F9EEEE"/>
          </a:solidFill>
          <a:ln w="12383">
            <a:solidFill>
              <a:srgbClr val="7A2B31"/>
            </a:solidFill>
            <a:prstDash val="solid"/>
          </a:ln>
        </p:spPr>
        <p:txBody>
          <a:bodyPr/>
          <a:p>
            <a:endParaRPr lang="zh-CN" altLang="en-US"/>
          </a:p>
        </p:txBody>
      </p:sp>
      <p:sp>
        <p:nvSpPr>
          <p:cNvPr id="53" name="矩形 52"/>
          <p:cNvSpPr>
            <a:spLocks noGrp="1"/>
          </p:cNvSpPr>
          <p:nvPr/>
        </p:nvSpPr>
        <p:spPr>
          <a:xfrm>
            <a:off x="6600825" y="5486400"/>
            <a:ext cx="4343400" cy="552450"/>
          </a:xfrm>
          <a:prstGeom prst="rect">
            <a:avLst/>
          </a:prstGeom>
          <a:noFill/>
          <a:ln w="0">
            <a:noFill/>
            <a:prstDash val="solid"/>
          </a:ln>
        </p:spPr>
        <p:txBody>
          <a:bodyPr wrap="square" lIns="0" tIns="0" rIns="0" bIns="0" anchor="ctr">
            <a:normAutofit/>
          </a:bodyPr>
          <a:p>
            <a:pPr algn="ctr">
              <a:lnSpc>
                <a:spcPct val="95000"/>
              </a:lnSpc>
              <a:buNone/>
              <a:defRPr sz="1275" b="1">
                <a:solidFill>
                  <a:srgbClr val="7E1530"/>
                </a:solidFill>
                <a:latin typeface="微软雅黑" panose="020B0503020204020204" charset="-122"/>
                <a:ea typeface="微软雅黑" panose="020B0503020204020204" charset="-122"/>
                <a:cs typeface="微软雅黑" panose="020B0503020204020204" charset="-122"/>
              </a:defRPr>
            </a:pPr>
            <a:r>
              <a:rPr sz="1275" b="1">
                <a:solidFill>
                  <a:srgbClr val="7E1530"/>
                </a:solidFill>
                <a:latin typeface="微软雅黑" panose="020B0503020204020204" charset="-122"/>
                <a:ea typeface="微软雅黑" panose="020B0503020204020204" charset="-122"/>
                <a:cs typeface="微软雅黑" panose="020B0503020204020204" charset="-122"/>
              </a:rPr>
              <a:t>三维斜向碰撞式调谐质量阻尼器（3D-OPTMD）</a:t>
            </a:r>
            <a:endParaRPr sz="1275" b="1">
              <a:solidFill>
                <a:srgbClr val="7E1530"/>
              </a:solidFill>
              <a:latin typeface="微软雅黑" panose="020B0503020204020204" charset="-122"/>
              <a:ea typeface="微软雅黑" panose="020B0503020204020204" charset="-122"/>
              <a:cs typeface="微软雅黑" panose="020B0503020204020204" charset="-122"/>
            </a:endParaRPr>
          </a:p>
          <a:p>
            <a:pPr algn="ctr">
              <a:lnSpc>
                <a:spcPct val="95000"/>
              </a:lnSpc>
              <a:buNone/>
              <a:defRPr sz="1275" b="1">
                <a:solidFill>
                  <a:srgbClr val="7E1530"/>
                </a:solidFill>
                <a:latin typeface="微软雅黑" panose="020B0503020204020204" charset="-122"/>
                <a:ea typeface="微软雅黑" panose="020B0503020204020204" charset="-122"/>
                <a:cs typeface="微软雅黑" panose="020B0503020204020204" charset="-122"/>
              </a:defRPr>
            </a:pPr>
            <a:r>
              <a:rPr sz="1275" b="1">
                <a:solidFill>
                  <a:srgbClr val="7E1530"/>
                </a:solidFill>
                <a:latin typeface="微软雅黑" panose="020B0503020204020204" charset="-122"/>
                <a:ea typeface="微软雅黑" panose="020B0503020204020204" charset="-122"/>
                <a:cs typeface="微软雅黑" panose="020B0503020204020204" charset="-122"/>
              </a:rPr>
              <a:t>水平黏弹性耗能 + 碰撞耗能 + 垂向耗能</a:t>
            </a:r>
            <a:endParaRPr sz="1275" b="1">
              <a:solidFill>
                <a:srgbClr val="7E1530"/>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61/68</a:t>
            </a:r>
            <a:endParaRPr lang="en-US" altLang="zh-CN">
              <a:latin typeface="微软雅黑" panose="020B0503020204020204" charset="-122"/>
              <a:ea typeface="微软雅黑" panose="020B0503020204020204" charset="-122"/>
            </a:endParaRPr>
          </a:p>
        </p:txBody>
      </p:sp>
      <p:sp>
        <p:nvSpPr>
          <p:cNvPr id="10" name="文本框 9"/>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椭圆 4"/>
          <p:cNvSpPr>
            <a:spLocks noGrp="1"/>
          </p:cNvSpPr>
          <p:nvPr/>
        </p:nvSpPr>
        <p:spPr>
          <a:xfrm>
            <a:off x="561975" y="466725"/>
            <a:ext cx="514350" cy="514350"/>
          </a:xfrm>
          <a:prstGeom prst="ellipse">
            <a:avLst/>
          </a:prstGeom>
          <a:solidFill>
            <a:srgbClr val="2F5A94"/>
          </a:solidFill>
          <a:ln w="0">
            <a:noFill/>
            <a:prstDash val="solid"/>
          </a:ln>
        </p:spPr>
        <p:txBody>
          <a:bodyPr/>
          <a:p>
            <a:endParaRPr lang="zh-CN" altLang="en-US"/>
          </a:p>
        </p:txBody>
      </p:sp>
      <p:sp>
        <p:nvSpPr>
          <p:cNvPr id="6" name="矩形 5"/>
          <p:cNvSpPr>
            <a:spLocks noGrp="1"/>
          </p:cNvSpPr>
          <p:nvPr/>
        </p:nvSpPr>
        <p:spPr>
          <a:xfrm>
            <a:off x="561975" y="466725"/>
            <a:ext cx="514350" cy="514350"/>
          </a:xfrm>
          <a:prstGeom prst="rect">
            <a:avLst/>
          </a:prstGeom>
          <a:noFill/>
          <a:ln w="0">
            <a:noFill/>
            <a:prstDash val="solid"/>
          </a:ln>
        </p:spPr>
        <p:txBody>
          <a:bodyPr wrap="square" lIns="0" tIns="0" rIns="0" bIns="0" anchor="ctr">
            <a:normAutofit/>
          </a:bodyPr>
          <a:p>
            <a:pPr algn="ctr">
              <a:lnSpc>
                <a:spcPct val="100000"/>
              </a:lnSpc>
              <a:buNone/>
              <a:defRPr sz="2550" b="1">
                <a:solidFill>
                  <a:srgbClr val="FFFFFF"/>
                </a:solidFill>
                <a:latin typeface="Arial" panose="020B0604020202020204"/>
                <a:ea typeface="Arial" panose="020B0604020202020204"/>
                <a:cs typeface="Arial" panose="020B0604020202020204"/>
              </a:defRPr>
            </a:pPr>
            <a:r>
              <a:rPr sz="2550" b="1">
                <a:solidFill>
                  <a:srgbClr val="FFFFFF"/>
                </a:solidFill>
                <a:latin typeface="Arial" panose="020B0604020202020204"/>
                <a:ea typeface="Arial" panose="020B0604020202020204"/>
                <a:cs typeface="Arial" panose="020B0604020202020204"/>
              </a:rPr>
              <a:t>5</a:t>
            </a:r>
            <a:endParaRPr sz="2550" b="1">
              <a:solidFill>
                <a:srgbClr val="FFFFFF"/>
              </a:solidFill>
              <a:latin typeface="Arial" panose="020B0604020202020204"/>
              <a:ea typeface="Arial" panose="020B0604020202020204"/>
              <a:cs typeface="Arial" panose="020B0604020202020204"/>
            </a:endParaRPr>
          </a:p>
        </p:txBody>
      </p:sp>
      <p:sp>
        <p:nvSpPr>
          <p:cNvPr id="7" name="section-title"/>
          <p:cNvSpPr>
            <a:spLocks noGrp="1"/>
          </p:cNvSpPr>
          <p:nvPr/>
        </p:nvSpPr>
        <p:spPr>
          <a:xfrm>
            <a:off x="1181100" y="466725"/>
            <a:ext cx="3238500" cy="504825"/>
          </a:xfrm>
          <a:prstGeom prst="rect">
            <a:avLst/>
          </a:prstGeom>
          <a:noFill/>
          <a:ln w="0">
            <a:noFill/>
            <a:prstDash val="solid"/>
          </a:ln>
        </p:spPr>
        <p:txBody>
          <a:bodyPr wrap="square" lIns="0" tIns="0" rIns="0" bIns="0" anchor="ctr">
            <a:noAutofit/>
          </a:bodyPr>
          <a:p>
            <a:pPr algn="l">
              <a:lnSpc>
                <a:spcPct val="100000"/>
              </a:lnSpc>
              <a:buNone/>
              <a:defRPr sz="2400" b="1">
                <a:solidFill>
                  <a:srgbClr val="2F5A94"/>
                </a:solidFill>
                <a:latin typeface="微软雅黑" panose="020B0503020204020204" charset="-122"/>
                <a:ea typeface="微软雅黑" panose="020B0503020204020204" charset="-122"/>
                <a:cs typeface="微软雅黑" panose="020B0503020204020204" charset="-122"/>
              </a:defRPr>
            </a:pPr>
            <a:r>
              <a:rPr sz="3100" b="1" dirty="0" err="1">
                <a:solidFill>
                  <a:srgbClr val="2F5A94"/>
                </a:solidFill>
                <a:latin typeface="微软雅黑" panose="020B0503020204020204" charset="-122"/>
                <a:ea typeface="微软雅黑" panose="020B0503020204020204" charset="-122"/>
                <a:cs typeface="微软雅黑" panose="020B0503020204020204" charset="-122"/>
              </a:rPr>
              <a:t>动力响应性能提升</a:t>
            </a:r>
            <a:endParaRPr sz="3100" b="1" dirty="0" err="1">
              <a:solidFill>
                <a:srgbClr val="2F5A94"/>
              </a:solidFill>
              <a:latin typeface="微软雅黑" panose="020B0503020204020204" charset="-122"/>
              <a:ea typeface="微软雅黑" panose="020B0503020204020204" charset="-122"/>
              <a:cs typeface="微软雅黑" panose="020B0503020204020204" charset="-122"/>
            </a:endParaRPr>
          </a:p>
        </p:txBody>
      </p:sp>
      <p:sp>
        <p:nvSpPr>
          <p:cNvPr id="8" name="直接连接符 7"/>
          <p:cNvSpPr>
            <a:spLocks noGrp="1"/>
          </p:cNvSpPr>
          <p:nvPr/>
        </p:nvSpPr>
        <p:spPr>
          <a:xfrm>
            <a:off x="1038225" y="1000125"/>
            <a:ext cx="10648950" cy="0"/>
          </a:xfrm>
          <a:prstGeom prst="line">
            <a:avLst/>
          </a:prstGeom>
          <a:noFill/>
          <a:ln w="28575">
            <a:solidFill>
              <a:srgbClr val="023A8C"/>
            </a:solidFill>
            <a:prstDash val="solid"/>
          </a:ln>
        </p:spPr>
        <p:txBody>
          <a:bodyPr/>
          <a:p>
            <a:endParaRPr lang="zh-CN" altLang="en-US"/>
          </a:p>
        </p:txBody>
      </p:sp>
      <p:sp>
        <p:nvSpPr>
          <p:cNvPr id="12" name="椭圆 11"/>
          <p:cNvSpPr>
            <a:spLocks noGrp="1"/>
          </p:cNvSpPr>
          <p:nvPr/>
        </p:nvSpPr>
        <p:spPr>
          <a:xfrm>
            <a:off x="6115050" y="6381750"/>
            <a:ext cx="28575" cy="28575"/>
          </a:xfrm>
          <a:prstGeom prst="ellipse">
            <a:avLst/>
          </a:prstGeom>
          <a:solidFill>
            <a:srgbClr val="FFFFFF"/>
          </a:solidFill>
          <a:ln w="0">
            <a:noFill/>
            <a:prstDash val="solid"/>
          </a:ln>
        </p:spPr>
        <p:txBody>
          <a:bodyPr/>
          <a:p>
            <a:endParaRPr lang="zh-CN" altLang="en-US"/>
          </a:p>
        </p:txBody>
      </p:sp>
      <p:sp>
        <p:nvSpPr>
          <p:cNvPr id="13" name="椭圆 12"/>
          <p:cNvSpPr>
            <a:spLocks noGrp="1"/>
          </p:cNvSpPr>
          <p:nvPr/>
        </p:nvSpPr>
        <p:spPr>
          <a:xfrm>
            <a:off x="6210300" y="6381750"/>
            <a:ext cx="28575" cy="28575"/>
          </a:xfrm>
          <a:prstGeom prst="ellipse">
            <a:avLst/>
          </a:prstGeom>
          <a:solidFill>
            <a:srgbClr val="FFFFFF"/>
          </a:solidFill>
          <a:ln w="0">
            <a:noFill/>
            <a:prstDash val="solid"/>
          </a:ln>
        </p:spPr>
        <p:txBody>
          <a:bodyPr/>
          <a:p>
            <a:endParaRPr lang="zh-CN" altLang="en-US"/>
          </a:p>
        </p:txBody>
      </p:sp>
      <p:sp>
        <p:nvSpPr>
          <p:cNvPr id="14" name="椭圆 13"/>
          <p:cNvSpPr>
            <a:spLocks noGrp="1"/>
          </p:cNvSpPr>
          <p:nvPr/>
        </p:nvSpPr>
        <p:spPr>
          <a:xfrm>
            <a:off x="6286500" y="6486525"/>
            <a:ext cx="28575" cy="28575"/>
          </a:xfrm>
          <a:prstGeom prst="ellipse">
            <a:avLst/>
          </a:prstGeom>
          <a:solidFill>
            <a:srgbClr val="FFFFFF"/>
          </a:solidFill>
          <a:ln w="0">
            <a:noFill/>
            <a:prstDash val="solid"/>
          </a:ln>
        </p:spPr>
        <p:txBody>
          <a:bodyPr/>
          <a:p>
            <a:endParaRPr lang="zh-CN" altLang="en-US"/>
          </a:p>
        </p:txBody>
      </p:sp>
      <p:sp>
        <p:nvSpPr>
          <p:cNvPr id="15" name="椭圆 14"/>
          <p:cNvSpPr>
            <a:spLocks noGrp="1"/>
          </p:cNvSpPr>
          <p:nvPr/>
        </p:nvSpPr>
        <p:spPr>
          <a:xfrm>
            <a:off x="6381750" y="6486525"/>
            <a:ext cx="28575" cy="28575"/>
          </a:xfrm>
          <a:prstGeom prst="ellipse">
            <a:avLst/>
          </a:prstGeom>
          <a:solidFill>
            <a:srgbClr val="FFFFFF"/>
          </a:solidFill>
          <a:ln w="0">
            <a:noFill/>
            <a:prstDash val="solid"/>
          </a:ln>
        </p:spPr>
        <p:txBody>
          <a:bodyPr/>
          <a:p>
            <a:endParaRPr lang="zh-CN" altLang="en-US"/>
          </a:p>
        </p:txBody>
      </p:sp>
      <p:sp>
        <p:nvSpPr>
          <p:cNvPr id="18" name="矩形 17"/>
          <p:cNvSpPr>
            <a:spLocks noGrp="1"/>
          </p:cNvSpPr>
          <p:nvPr/>
        </p:nvSpPr>
        <p:spPr>
          <a:xfrm>
            <a:off x="866775" y="1238250"/>
            <a:ext cx="171450" cy="171450"/>
          </a:xfrm>
          <a:prstGeom prst="rect">
            <a:avLst/>
          </a:prstGeom>
          <a:solidFill>
            <a:srgbClr val="2D5B97"/>
          </a:solidFill>
          <a:ln w="0">
            <a:solidFill>
              <a:srgbClr val="2D5B97"/>
            </a:solidFill>
            <a:prstDash val="solid"/>
          </a:ln>
        </p:spPr>
        <p:txBody>
          <a:bodyPr/>
          <a:p>
            <a:endParaRPr lang="zh-CN" altLang="en-US"/>
          </a:p>
        </p:txBody>
      </p:sp>
      <p:sp>
        <p:nvSpPr>
          <p:cNvPr id="19" name="矩形 18"/>
          <p:cNvSpPr>
            <a:spLocks noGrp="1"/>
          </p:cNvSpPr>
          <p:nvPr/>
        </p:nvSpPr>
        <p:spPr>
          <a:xfrm>
            <a:off x="1266825" y="1152525"/>
            <a:ext cx="9953625" cy="381000"/>
          </a:xfrm>
          <a:prstGeom prst="rect">
            <a:avLst/>
          </a:prstGeom>
          <a:noFill/>
          <a:ln w="0">
            <a:noFill/>
            <a:prstDash val="solid"/>
          </a:ln>
        </p:spPr>
        <p:txBody>
          <a:bodyPr wrap="square" lIns="0" tIns="0" rIns="0" bIns="0" anchor="ctr">
            <a:normAutofit/>
          </a:bodyPr>
          <a:p>
            <a:pPr algn="l">
              <a:lnSpc>
                <a:spcPct val="100000"/>
              </a:lnSpc>
              <a:buNone/>
              <a:defRPr sz="2025" b="1">
                <a:solidFill>
                  <a:srgbClr val="2F5A94"/>
                </a:solidFill>
                <a:latin typeface="微软雅黑" panose="020B0503020204020204" charset="-122"/>
                <a:ea typeface="微软雅黑" panose="020B0503020204020204" charset="-122"/>
                <a:cs typeface="微软雅黑" panose="020B0503020204020204" charset="-122"/>
              </a:defRPr>
            </a:pPr>
            <a:r>
              <a:rPr sz="2025" b="1">
                <a:solidFill>
                  <a:srgbClr val="2F5A94"/>
                </a:solidFill>
                <a:latin typeface="微软雅黑" panose="020B0503020204020204" charset="-122"/>
                <a:ea typeface="微软雅黑" panose="020B0503020204020204" charset="-122"/>
                <a:cs typeface="微软雅黑" panose="020B0503020204020204" charset="-122"/>
              </a:rPr>
              <a:t>过渡段是连接混凝土塔段与钢塔段的关键部件</a:t>
            </a:r>
            <a:endParaRPr sz="2025" b="1">
              <a:solidFill>
                <a:srgbClr val="2F5A94"/>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66775" y="1666875"/>
            <a:ext cx="171450" cy="171450"/>
          </a:xfrm>
          <a:prstGeom prst="rect">
            <a:avLst/>
          </a:prstGeom>
          <a:solidFill>
            <a:srgbClr val="2D5B97"/>
          </a:solidFill>
          <a:ln w="0">
            <a:solidFill>
              <a:srgbClr val="2D5B97"/>
            </a:solidFill>
            <a:prstDash val="solid"/>
          </a:ln>
        </p:spPr>
        <p:txBody>
          <a:bodyPr/>
          <a:p>
            <a:endParaRPr lang="zh-CN" altLang="en-US"/>
          </a:p>
        </p:txBody>
      </p:sp>
      <p:sp>
        <p:nvSpPr>
          <p:cNvPr id="21" name="矩形 20"/>
          <p:cNvSpPr>
            <a:spLocks noGrp="1"/>
          </p:cNvSpPr>
          <p:nvPr/>
        </p:nvSpPr>
        <p:spPr>
          <a:xfrm>
            <a:off x="1266825" y="1581150"/>
            <a:ext cx="9953625" cy="381000"/>
          </a:xfrm>
          <a:prstGeom prst="rect">
            <a:avLst/>
          </a:prstGeom>
          <a:noFill/>
          <a:ln w="0">
            <a:noFill/>
            <a:prstDash val="solid"/>
          </a:ln>
        </p:spPr>
        <p:txBody>
          <a:bodyPr wrap="square" lIns="0" tIns="0" rIns="0" bIns="0" anchor="ctr">
            <a:normAutofit/>
          </a:bodyPr>
          <a:p>
            <a:pPr algn="l">
              <a:lnSpc>
                <a:spcPct val="100000"/>
              </a:lnSpc>
              <a:buNone/>
              <a:defRPr sz="2025" b="1">
                <a:solidFill>
                  <a:srgbClr val="2F5A94"/>
                </a:solidFill>
                <a:latin typeface="微软雅黑" panose="020B0503020204020204" charset="-122"/>
                <a:ea typeface="微软雅黑" panose="020B0503020204020204" charset="-122"/>
                <a:cs typeface="微软雅黑" panose="020B0503020204020204" charset="-122"/>
              </a:defRPr>
            </a:pPr>
            <a:r>
              <a:rPr sz="2025" b="1">
                <a:solidFill>
                  <a:srgbClr val="2F5A94"/>
                </a:solidFill>
                <a:latin typeface="微软雅黑" panose="020B0503020204020204" charset="-122"/>
                <a:ea typeface="微软雅黑" panose="020B0503020204020204" charset="-122"/>
                <a:cs typeface="微软雅黑" panose="020B0503020204020204" charset="-122"/>
              </a:rPr>
              <a:t>受力复杂，是混塔设计中的关键点和难点</a:t>
            </a:r>
            <a:endParaRPr sz="2025" b="1">
              <a:solidFill>
                <a:srgbClr val="2F5A94"/>
              </a:solidFill>
              <a:latin typeface="微软雅黑" panose="020B0503020204020204" charset="-122"/>
              <a:ea typeface="微软雅黑" panose="020B0503020204020204" charset="-122"/>
              <a:cs typeface="微软雅黑" panose="020B0503020204020204" charset="-122"/>
            </a:endParaRPr>
          </a:p>
        </p:txBody>
      </p:sp>
      <p:sp>
        <p:nvSpPr>
          <p:cNvPr id="22" name="椭圆 21"/>
          <p:cNvSpPr>
            <a:spLocks noGrp="1"/>
          </p:cNvSpPr>
          <p:nvPr/>
        </p:nvSpPr>
        <p:spPr>
          <a:xfrm>
            <a:off x="781050" y="2143125"/>
            <a:ext cx="133350" cy="133350"/>
          </a:xfrm>
          <a:prstGeom prst="ellipse">
            <a:avLst/>
          </a:prstGeom>
          <a:solidFill>
            <a:srgbClr val="C4000B"/>
          </a:solidFill>
          <a:ln w="0">
            <a:noFill/>
            <a:prstDash val="solid"/>
          </a:ln>
        </p:spPr>
        <p:txBody>
          <a:bodyPr/>
          <a:p>
            <a:endParaRPr lang="zh-CN" altLang="en-US"/>
          </a:p>
        </p:txBody>
      </p:sp>
      <p:sp>
        <p:nvSpPr>
          <p:cNvPr id="23" name="矩形 22"/>
          <p:cNvSpPr>
            <a:spLocks noGrp="1"/>
          </p:cNvSpPr>
          <p:nvPr/>
        </p:nvSpPr>
        <p:spPr>
          <a:xfrm>
            <a:off x="1038225" y="2057400"/>
            <a:ext cx="4381500" cy="342900"/>
          </a:xfrm>
          <a:prstGeom prst="rect">
            <a:avLst/>
          </a:prstGeom>
          <a:noFill/>
          <a:ln w="0">
            <a:noFill/>
            <a:prstDash val="solid"/>
          </a:ln>
        </p:spPr>
        <p:txBody>
          <a:bodyPr wrap="square" lIns="0" tIns="0" rIns="0" bIns="0" anchor="ctr">
            <a:normAutofit/>
          </a:bodyPr>
          <a:p>
            <a:pPr algn="l">
              <a:lnSpc>
                <a:spcPct val="100000"/>
              </a:lnSpc>
              <a:buNone/>
              <a:defRPr sz="1725" b="1">
                <a:solidFill>
                  <a:srgbClr val="A30011"/>
                </a:solidFill>
                <a:latin typeface="微软雅黑" panose="020B0503020204020204" charset="-122"/>
                <a:ea typeface="微软雅黑" panose="020B0503020204020204" charset="-122"/>
                <a:cs typeface="微软雅黑" panose="020B0503020204020204" charset="-122"/>
              </a:defRPr>
            </a:pPr>
            <a:r>
              <a:rPr sz="1725" b="1">
                <a:solidFill>
                  <a:srgbClr val="A30011"/>
                </a:solidFill>
                <a:latin typeface="微软雅黑" panose="020B0503020204020204" charset="-122"/>
                <a:ea typeface="微软雅黑" panose="020B0503020204020204" charset="-122"/>
                <a:cs typeface="微软雅黑" panose="020B0503020204020204" charset="-122"/>
              </a:rPr>
              <a:t>双重锚固式过渡段结构方案</a:t>
            </a:r>
            <a:endParaRPr sz="1725" b="1">
              <a:solidFill>
                <a:srgbClr val="A30011"/>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781050" y="2457450"/>
            <a:ext cx="1762125" cy="295275"/>
          </a:xfrm>
          <a:prstGeom prst="rect">
            <a:avLst/>
          </a:prstGeom>
          <a:noFill/>
          <a:ln w="0">
            <a:noFill/>
            <a:prstDash val="solid"/>
          </a:ln>
        </p:spPr>
        <p:txBody>
          <a:bodyPr wrap="square" lIns="0" tIns="0" rIns="0" bIns="0" anchor="ctr">
            <a:normAutofit/>
          </a:bodyPr>
          <a:p>
            <a:pPr algn="l">
              <a:lnSpc>
                <a:spcPct val="100000"/>
              </a:lnSpc>
              <a:buNone/>
              <a:defRPr sz="1500" b="1">
                <a:solidFill>
                  <a:srgbClr val="123B70"/>
                </a:solidFill>
                <a:latin typeface="微软雅黑" panose="020B0503020204020204" charset="-122"/>
                <a:ea typeface="微软雅黑" panose="020B0503020204020204" charset="-122"/>
                <a:cs typeface="微软雅黑" panose="020B0503020204020204" charset="-122"/>
              </a:defRPr>
            </a:pPr>
            <a:r>
              <a:rPr sz="1500" b="1">
                <a:solidFill>
                  <a:srgbClr val="123B70"/>
                </a:solidFill>
                <a:latin typeface="微软雅黑" panose="020B0503020204020204" charset="-122"/>
                <a:ea typeface="微软雅黑" panose="020B0503020204020204" charset="-122"/>
                <a:cs typeface="微软雅黑" panose="020B0503020204020204" charset="-122"/>
              </a:rPr>
              <a:t>现有结构 S1：</a:t>
            </a:r>
            <a:endParaRPr sz="1500" b="1">
              <a:solidFill>
                <a:srgbClr val="123B70"/>
              </a:solidFill>
              <a:latin typeface="微软雅黑" panose="020B0503020204020204" charset="-122"/>
              <a:ea typeface="微软雅黑" panose="020B0503020204020204" charset="-122"/>
              <a:cs typeface="微软雅黑" panose="020B0503020204020204" charset="-122"/>
            </a:endParaRPr>
          </a:p>
        </p:txBody>
      </p:sp>
      <p:sp>
        <p:nvSpPr>
          <p:cNvPr id="25" name="椭圆 24"/>
          <p:cNvSpPr>
            <a:spLocks noGrp="1"/>
          </p:cNvSpPr>
          <p:nvPr/>
        </p:nvSpPr>
        <p:spPr>
          <a:xfrm>
            <a:off x="1095375" y="2847975"/>
            <a:ext cx="47625" cy="47625"/>
          </a:xfrm>
          <a:prstGeom prst="ellipse">
            <a:avLst/>
          </a:prstGeom>
          <a:solidFill>
            <a:srgbClr val="000000"/>
          </a:solidFill>
          <a:ln w="0">
            <a:noFill/>
            <a:prstDash val="solid"/>
          </a:ln>
        </p:spPr>
        <p:txBody>
          <a:bodyPr/>
          <a:p>
            <a:endParaRPr lang="zh-CN" altLang="en-US"/>
          </a:p>
        </p:txBody>
      </p:sp>
      <p:sp>
        <p:nvSpPr>
          <p:cNvPr id="26" name="矩形 25"/>
          <p:cNvSpPr>
            <a:spLocks noGrp="1"/>
          </p:cNvSpPr>
          <p:nvPr/>
        </p:nvSpPr>
        <p:spPr>
          <a:xfrm>
            <a:off x="1352550" y="2762250"/>
            <a:ext cx="4095750" cy="247650"/>
          </a:xfrm>
          <a:prstGeom prst="rect">
            <a:avLst/>
          </a:prstGeom>
          <a:noFill/>
          <a:ln w="0">
            <a:noFill/>
            <a:prstDash val="solid"/>
          </a:ln>
        </p:spPr>
        <p:txBody>
          <a:bodyPr wrap="square" lIns="0" tIns="0" rIns="0" bIns="0" anchor="ctr">
            <a:normAutofit/>
          </a:bodyPr>
          <a:p>
            <a:pPr algn="l">
              <a:lnSpc>
                <a:spcPct val="100000"/>
              </a:lnSpc>
              <a:buNone/>
              <a:defRPr sz="1200" b="0">
                <a:solidFill>
                  <a:srgbClr val="111111"/>
                </a:solidFill>
                <a:latin typeface="微软雅黑" panose="020B0503020204020204" charset="-122"/>
                <a:ea typeface="微软雅黑" panose="020B0503020204020204" charset="-122"/>
                <a:cs typeface="微软雅黑" panose="020B0503020204020204" charset="-122"/>
              </a:defRPr>
            </a:pPr>
            <a:r>
              <a:rPr sz="1200" b="0">
                <a:solidFill>
                  <a:srgbClr val="111111"/>
                </a:solidFill>
                <a:latin typeface="微软雅黑" panose="020B0503020204020204" charset="-122"/>
                <a:ea typeface="微软雅黑" panose="020B0503020204020204" charset="-122"/>
                <a:cs typeface="微软雅黑" panose="020B0503020204020204" charset="-122"/>
              </a:rPr>
              <a:t>由上法兰、下法兰和中间钢筒体组成；</a:t>
            </a:r>
            <a:endParaRPr sz="120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27" name="椭圆 26"/>
          <p:cNvSpPr>
            <a:spLocks noGrp="1"/>
          </p:cNvSpPr>
          <p:nvPr/>
        </p:nvSpPr>
        <p:spPr>
          <a:xfrm>
            <a:off x="1095375" y="3133725"/>
            <a:ext cx="47625" cy="47625"/>
          </a:xfrm>
          <a:prstGeom prst="ellipse">
            <a:avLst/>
          </a:prstGeom>
          <a:solidFill>
            <a:srgbClr val="000000"/>
          </a:solidFill>
          <a:ln w="0">
            <a:noFill/>
            <a:prstDash val="solid"/>
          </a:ln>
        </p:spPr>
        <p:txBody>
          <a:bodyPr/>
          <a:p>
            <a:endParaRPr lang="zh-CN" altLang="en-US"/>
          </a:p>
        </p:txBody>
      </p:sp>
      <p:sp>
        <p:nvSpPr>
          <p:cNvPr id="28" name="矩形 27"/>
          <p:cNvSpPr>
            <a:spLocks noGrp="1"/>
          </p:cNvSpPr>
          <p:nvPr/>
        </p:nvSpPr>
        <p:spPr>
          <a:xfrm>
            <a:off x="1352550" y="3048000"/>
            <a:ext cx="4095750" cy="247650"/>
          </a:xfrm>
          <a:prstGeom prst="rect">
            <a:avLst/>
          </a:prstGeom>
          <a:noFill/>
          <a:ln w="0">
            <a:noFill/>
            <a:prstDash val="solid"/>
          </a:ln>
        </p:spPr>
        <p:txBody>
          <a:bodyPr wrap="square" lIns="0" tIns="0" rIns="0" bIns="0" anchor="ctr">
            <a:normAutofit/>
          </a:bodyPr>
          <a:p>
            <a:pPr algn="l">
              <a:lnSpc>
                <a:spcPct val="100000"/>
              </a:lnSpc>
              <a:buNone/>
              <a:defRPr sz="1200" b="0">
                <a:solidFill>
                  <a:srgbClr val="111111"/>
                </a:solidFill>
                <a:latin typeface="微软雅黑" panose="020B0503020204020204" charset="-122"/>
                <a:ea typeface="微软雅黑" panose="020B0503020204020204" charset="-122"/>
                <a:cs typeface="微软雅黑" panose="020B0503020204020204" charset="-122"/>
              </a:defRPr>
            </a:pPr>
            <a:r>
              <a:rPr sz="1200" b="0" dirty="0" err="1">
                <a:solidFill>
                  <a:srgbClr val="111111"/>
                </a:solidFill>
                <a:latin typeface="微软雅黑" panose="020B0503020204020204" charset="-122"/>
                <a:ea typeface="微软雅黑" panose="020B0503020204020204" charset="-122"/>
                <a:cs typeface="微软雅黑" panose="020B0503020204020204" charset="-122"/>
              </a:rPr>
              <a:t>预应力索锚固在下法兰上</a:t>
            </a:r>
            <a:r>
              <a:rPr sz="1200" b="0" dirty="0">
                <a:solidFill>
                  <a:srgbClr val="111111"/>
                </a:solidFill>
                <a:latin typeface="微软雅黑" panose="020B0503020204020204" charset="-122"/>
                <a:ea typeface="微软雅黑" panose="020B0503020204020204" charset="-122"/>
                <a:cs typeface="微软雅黑" panose="020B0503020204020204" charset="-122"/>
              </a:rPr>
              <a:t>；</a:t>
            </a:r>
            <a:endParaRPr sz="1200"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29" name="椭圆 28"/>
          <p:cNvSpPr>
            <a:spLocks noGrp="1"/>
          </p:cNvSpPr>
          <p:nvPr/>
        </p:nvSpPr>
        <p:spPr>
          <a:xfrm>
            <a:off x="1095375" y="3419475"/>
            <a:ext cx="47625" cy="47625"/>
          </a:xfrm>
          <a:prstGeom prst="ellipse">
            <a:avLst/>
          </a:prstGeom>
          <a:solidFill>
            <a:srgbClr val="000000"/>
          </a:solidFill>
          <a:ln w="0">
            <a:noFill/>
            <a:prstDash val="solid"/>
          </a:ln>
        </p:spPr>
        <p:txBody>
          <a:bodyPr/>
          <a:p>
            <a:endParaRPr lang="zh-CN" altLang="en-US"/>
          </a:p>
        </p:txBody>
      </p:sp>
      <p:sp>
        <p:nvSpPr>
          <p:cNvPr id="30" name="矩形 29"/>
          <p:cNvSpPr>
            <a:spLocks noGrp="1"/>
          </p:cNvSpPr>
          <p:nvPr/>
        </p:nvSpPr>
        <p:spPr>
          <a:xfrm>
            <a:off x="1352550" y="3333750"/>
            <a:ext cx="4286250" cy="247650"/>
          </a:xfrm>
          <a:prstGeom prst="rect">
            <a:avLst/>
          </a:prstGeom>
          <a:noFill/>
          <a:ln w="0">
            <a:noFill/>
            <a:prstDash val="solid"/>
          </a:ln>
        </p:spPr>
        <p:txBody>
          <a:bodyPr wrap="square" lIns="0" tIns="0" rIns="0" bIns="0" anchor="ctr">
            <a:normAutofit/>
          </a:bodyPr>
          <a:p>
            <a:pPr algn="l">
              <a:lnSpc>
                <a:spcPct val="100000"/>
              </a:lnSpc>
              <a:buNone/>
              <a:defRPr sz="1200" b="0">
                <a:solidFill>
                  <a:srgbClr val="111111"/>
                </a:solidFill>
                <a:latin typeface="微软雅黑" panose="020B0503020204020204" charset="-122"/>
                <a:ea typeface="微软雅黑" panose="020B0503020204020204" charset="-122"/>
                <a:cs typeface="微软雅黑" panose="020B0503020204020204" charset="-122"/>
              </a:defRPr>
            </a:pPr>
            <a:r>
              <a:rPr sz="1200" b="0">
                <a:solidFill>
                  <a:srgbClr val="111111"/>
                </a:solidFill>
                <a:latin typeface="微软雅黑" panose="020B0503020204020204" charset="-122"/>
                <a:ea typeface="微软雅黑" panose="020B0503020204020204" charset="-122"/>
                <a:cs typeface="微软雅黑" panose="020B0503020204020204" charset="-122"/>
              </a:rPr>
              <a:t>结构简单，但局部刚度和界面约束能力有限。</a:t>
            </a:r>
            <a:endParaRPr sz="120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781050" y="3695700"/>
            <a:ext cx="1762125" cy="295275"/>
          </a:xfrm>
          <a:prstGeom prst="rect">
            <a:avLst/>
          </a:prstGeom>
          <a:noFill/>
          <a:ln w="0">
            <a:noFill/>
            <a:prstDash val="solid"/>
          </a:ln>
        </p:spPr>
        <p:txBody>
          <a:bodyPr wrap="square" lIns="0" tIns="0" rIns="0" bIns="0" anchor="ctr">
            <a:normAutofit/>
          </a:bodyPr>
          <a:p>
            <a:pPr algn="l">
              <a:lnSpc>
                <a:spcPct val="100000"/>
              </a:lnSpc>
              <a:buNone/>
              <a:defRPr sz="1500" b="1">
                <a:solidFill>
                  <a:srgbClr val="123B70"/>
                </a:solidFill>
                <a:latin typeface="微软雅黑" panose="020B0503020204020204" charset="-122"/>
                <a:ea typeface="微软雅黑" panose="020B0503020204020204" charset="-122"/>
                <a:cs typeface="微软雅黑" panose="020B0503020204020204" charset="-122"/>
              </a:defRPr>
            </a:pPr>
            <a:r>
              <a:rPr sz="1500" b="1">
                <a:solidFill>
                  <a:srgbClr val="123B70"/>
                </a:solidFill>
                <a:latin typeface="微软雅黑" panose="020B0503020204020204" charset="-122"/>
                <a:ea typeface="微软雅黑" panose="020B0503020204020204" charset="-122"/>
                <a:cs typeface="微软雅黑" panose="020B0503020204020204" charset="-122"/>
              </a:rPr>
              <a:t>所提结构 S2：</a:t>
            </a:r>
            <a:endParaRPr sz="1500" b="1">
              <a:solidFill>
                <a:srgbClr val="123B70"/>
              </a:solidFill>
              <a:latin typeface="微软雅黑" panose="020B0503020204020204" charset="-122"/>
              <a:ea typeface="微软雅黑" panose="020B0503020204020204" charset="-122"/>
              <a:cs typeface="微软雅黑" panose="020B0503020204020204" charset="-122"/>
            </a:endParaRPr>
          </a:p>
        </p:txBody>
      </p:sp>
      <p:sp>
        <p:nvSpPr>
          <p:cNvPr id="32" name="椭圆 31"/>
          <p:cNvSpPr>
            <a:spLocks noGrp="1"/>
          </p:cNvSpPr>
          <p:nvPr/>
        </p:nvSpPr>
        <p:spPr>
          <a:xfrm>
            <a:off x="1095375" y="4086225"/>
            <a:ext cx="47625" cy="47625"/>
          </a:xfrm>
          <a:prstGeom prst="ellipse">
            <a:avLst/>
          </a:prstGeom>
          <a:solidFill>
            <a:srgbClr val="000000"/>
          </a:solidFill>
          <a:ln w="0">
            <a:noFill/>
            <a:prstDash val="solid"/>
          </a:ln>
        </p:spPr>
        <p:txBody>
          <a:bodyPr/>
          <a:p>
            <a:endParaRPr lang="zh-CN" altLang="en-US"/>
          </a:p>
        </p:txBody>
      </p:sp>
      <p:sp>
        <p:nvSpPr>
          <p:cNvPr id="33" name="矩形 32"/>
          <p:cNvSpPr>
            <a:spLocks noGrp="1"/>
          </p:cNvSpPr>
          <p:nvPr/>
        </p:nvSpPr>
        <p:spPr>
          <a:xfrm>
            <a:off x="1352550" y="4000500"/>
            <a:ext cx="4095750" cy="247650"/>
          </a:xfrm>
          <a:prstGeom prst="rect">
            <a:avLst/>
          </a:prstGeom>
          <a:noFill/>
          <a:ln w="0">
            <a:noFill/>
            <a:prstDash val="solid"/>
          </a:ln>
        </p:spPr>
        <p:txBody>
          <a:bodyPr wrap="square" lIns="0" tIns="0" rIns="0" bIns="0" anchor="ctr">
            <a:normAutofit/>
          </a:bodyPr>
          <a:p>
            <a:pPr algn="l">
              <a:lnSpc>
                <a:spcPct val="100000"/>
              </a:lnSpc>
              <a:buNone/>
              <a:defRPr sz="1200" b="0">
                <a:solidFill>
                  <a:srgbClr val="111111"/>
                </a:solidFill>
                <a:latin typeface="微软雅黑" panose="020B0503020204020204" charset="-122"/>
                <a:ea typeface="微软雅黑" panose="020B0503020204020204" charset="-122"/>
                <a:cs typeface="微软雅黑" panose="020B0503020204020204" charset="-122"/>
              </a:defRPr>
            </a:pPr>
            <a:r>
              <a:rPr sz="1200" b="0" dirty="0" err="1">
                <a:solidFill>
                  <a:srgbClr val="111111"/>
                </a:solidFill>
                <a:latin typeface="微软雅黑" panose="020B0503020204020204" charset="-122"/>
                <a:ea typeface="微软雅黑" panose="020B0503020204020204" charset="-122"/>
                <a:cs typeface="微软雅黑" panose="020B0503020204020204" charset="-122"/>
              </a:rPr>
              <a:t>在上下法兰之间设置加劲肋</a:t>
            </a:r>
            <a:r>
              <a:rPr sz="1200" b="0" dirty="0">
                <a:solidFill>
                  <a:srgbClr val="111111"/>
                </a:solidFill>
                <a:latin typeface="微软雅黑" panose="020B0503020204020204" charset="-122"/>
                <a:ea typeface="微软雅黑" panose="020B0503020204020204" charset="-122"/>
                <a:cs typeface="微软雅黑" panose="020B0503020204020204" charset="-122"/>
              </a:rPr>
              <a:t>；</a:t>
            </a:r>
            <a:endParaRPr sz="1200"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34" name="椭圆 33"/>
          <p:cNvSpPr>
            <a:spLocks noGrp="1"/>
          </p:cNvSpPr>
          <p:nvPr/>
        </p:nvSpPr>
        <p:spPr>
          <a:xfrm>
            <a:off x="1095375" y="4371975"/>
            <a:ext cx="47625" cy="47625"/>
          </a:xfrm>
          <a:prstGeom prst="ellipse">
            <a:avLst/>
          </a:prstGeom>
          <a:solidFill>
            <a:srgbClr val="000000"/>
          </a:solidFill>
          <a:ln w="0">
            <a:noFill/>
            <a:prstDash val="solid"/>
          </a:ln>
        </p:spPr>
        <p:txBody>
          <a:bodyPr/>
          <a:p>
            <a:endParaRPr lang="zh-CN" altLang="en-US"/>
          </a:p>
        </p:txBody>
      </p:sp>
      <p:sp>
        <p:nvSpPr>
          <p:cNvPr id="35" name="矩形 34"/>
          <p:cNvSpPr>
            <a:spLocks noGrp="1"/>
          </p:cNvSpPr>
          <p:nvPr/>
        </p:nvSpPr>
        <p:spPr>
          <a:xfrm>
            <a:off x="1352550" y="4286250"/>
            <a:ext cx="4238625" cy="247650"/>
          </a:xfrm>
          <a:prstGeom prst="rect">
            <a:avLst/>
          </a:prstGeom>
          <a:noFill/>
          <a:ln w="0">
            <a:noFill/>
            <a:prstDash val="solid"/>
          </a:ln>
        </p:spPr>
        <p:txBody>
          <a:bodyPr wrap="square" lIns="0" tIns="0" rIns="0" bIns="0" anchor="ctr">
            <a:normAutofit/>
          </a:bodyPr>
          <a:p>
            <a:pPr algn="l">
              <a:lnSpc>
                <a:spcPct val="100000"/>
              </a:lnSpc>
              <a:buNone/>
              <a:defRPr sz="1200" b="0">
                <a:solidFill>
                  <a:srgbClr val="111111"/>
                </a:solidFill>
                <a:latin typeface="微软雅黑" panose="020B0503020204020204" charset="-122"/>
                <a:ea typeface="微软雅黑" panose="020B0503020204020204" charset="-122"/>
                <a:cs typeface="微软雅黑" panose="020B0503020204020204" charset="-122"/>
              </a:defRPr>
            </a:pPr>
            <a:r>
              <a:rPr sz="1200" b="0">
                <a:solidFill>
                  <a:srgbClr val="111111"/>
                </a:solidFill>
                <a:latin typeface="微软雅黑" panose="020B0503020204020204" charset="-122"/>
                <a:ea typeface="微软雅黑" panose="020B0503020204020204" charset="-122"/>
                <a:cs typeface="微软雅黑" panose="020B0503020204020204" charset="-122"/>
              </a:rPr>
              <a:t>钢塔段法兰与过渡段上法兰采用螺栓、螺母连接；</a:t>
            </a:r>
            <a:endParaRPr sz="120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36" name="椭圆 35"/>
          <p:cNvSpPr>
            <a:spLocks noGrp="1"/>
          </p:cNvSpPr>
          <p:nvPr/>
        </p:nvSpPr>
        <p:spPr>
          <a:xfrm>
            <a:off x="1095375" y="4657725"/>
            <a:ext cx="47625" cy="47625"/>
          </a:xfrm>
          <a:prstGeom prst="ellipse">
            <a:avLst/>
          </a:prstGeom>
          <a:solidFill>
            <a:srgbClr val="000000"/>
          </a:solidFill>
          <a:ln w="0">
            <a:noFill/>
            <a:prstDash val="solid"/>
          </a:ln>
        </p:spPr>
        <p:txBody>
          <a:bodyPr/>
          <a:p>
            <a:endParaRPr lang="zh-CN" altLang="en-US"/>
          </a:p>
        </p:txBody>
      </p:sp>
      <p:sp>
        <p:nvSpPr>
          <p:cNvPr id="37" name="矩形 36"/>
          <p:cNvSpPr>
            <a:spLocks noGrp="1"/>
          </p:cNvSpPr>
          <p:nvPr/>
        </p:nvSpPr>
        <p:spPr>
          <a:xfrm>
            <a:off x="1352550" y="4572000"/>
            <a:ext cx="4238625" cy="247650"/>
          </a:xfrm>
          <a:prstGeom prst="rect">
            <a:avLst/>
          </a:prstGeom>
          <a:noFill/>
          <a:ln w="0">
            <a:noFill/>
            <a:prstDash val="solid"/>
          </a:ln>
        </p:spPr>
        <p:txBody>
          <a:bodyPr wrap="square" lIns="0" tIns="0" rIns="0" bIns="0" anchor="ctr">
            <a:normAutofit/>
          </a:bodyPr>
          <a:p>
            <a:pPr algn="l">
              <a:lnSpc>
                <a:spcPct val="100000"/>
              </a:lnSpc>
              <a:buNone/>
              <a:defRPr sz="1200" b="0">
                <a:solidFill>
                  <a:srgbClr val="111111"/>
                </a:solidFill>
                <a:latin typeface="微软雅黑" panose="020B0503020204020204" charset="-122"/>
                <a:ea typeface="微软雅黑" panose="020B0503020204020204" charset="-122"/>
                <a:cs typeface="微软雅黑" panose="020B0503020204020204" charset="-122"/>
              </a:defRPr>
            </a:pPr>
            <a:r>
              <a:rPr sz="1200" b="0">
                <a:solidFill>
                  <a:srgbClr val="111111"/>
                </a:solidFill>
                <a:latin typeface="微软雅黑" panose="020B0503020204020204" charset="-122"/>
                <a:ea typeface="微软雅黑" panose="020B0503020204020204" charset="-122"/>
                <a:cs typeface="微软雅黑" panose="020B0503020204020204" charset="-122"/>
              </a:rPr>
              <a:t>预应力索贯穿法兰并锚固于钢塔段法兰；</a:t>
            </a:r>
            <a:endParaRPr sz="1200"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38" name="椭圆 37"/>
          <p:cNvSpPr>
            <a:spLocks noGrp="1"/>
          </p:cNvSpPr>
          <p:nvPr/>
        </p:nvSpPr>
        <p:spPr>
          <a:xfrm>
            <a:off x="1095375" y="4943475"/>
            <a:ext cx="47625" cy="47625"/>
          </a:xfrm>
          <a:prstGeom prst="ellipse">
            <a:avLst/>
          </a:prstGeom>
          <a:solidFill>
            <a:srgbClr val="000000"/>
          </a:solidFill>
          <a:ln w="0">
            <a:noFill/>
            <a:prstDash val="solid"/>
          </a:ln>
        </p:spPr>
        <p:txBody>
          <a:bodyPr/>
          <a:p>
            <a:endParaRPr lang="zh-CN" altLang="en-US"/>
          </a:p>
        </p:txBody>
      </p:sp>
      <p:sp>
        <p:nvSpPr>
          <p:cNvPr id="39" name="矩形 38"/>
          <p:cNvSpPr>
            <a:spLocks noGrp="1"/>
          </p:cNvSpPr>
          <p:nvPr/>
        </p:nvSpPr>
        <p:spPr>
          <a:xfrm>
            <a:off x="1352550" y="4857750"/>
            <a:ext cx="4238625" cy="457200"/>
          </a:xfrm>
          <a:prstGeom prst="rect">
            <a:avLst/>
          </a:prstGeom>
          <a:noFill/>
          <a:ln w="0">
            <a:noFill/>
            <a:prstDash val="solid"/>
          </a:ln>
        </p:spPr>
        <p:txBody>
          <a:bodyPr wrap="square" lIns="0" tIns="0" rIns="0" bIns="0" anchor="ctr">
            <a:normAutofit/>
          </a:bodyPr>
          <a:p>
            <a:pPr algn="l">
              <a:lnSpc>
                <a:spcPct val="100000"/>
              </a:lnSpc>
              <a:buNone/>
              <a:defRPr sz="1125" b="0">
                <a:solidFill>
                  <a:srgbClr val="111111"/>
                </a:solidFill>
                <a:latin typeface="微软雅黑" panose="020B0503020204020204" charset="-122"/>
                <a:ea typeface="微软雅黑" panose="020B0503020204020204" charset="-122"/>
                <a:cs typeface="微软雅黑" panose="020B0503020204020204" charset="-122"/>
              </a:defRPr>
            </a:pPr>
            <a:r>
              <a:rPr sz="1125" b="0">
                <a:solidFill>
                  <a:srgbClr val="111111"/>
                </a:solidFill>
                <a:latin typeface="微软雅黑" panose="020B0503020204020204" charset="-122"/>
                <a:ea typeface="微软雅黑" panose="020B0503020204020204" charset="-122"/>
                <a:cs typeface="微软雅黑" panose="020B0503020204020204" charset="-122"/>
              </a:rPr>
              <a:t>在下法兰周围增设防滑移结构，限制混凝土-钢界面滑移。</a:t>
            </a:r>
            <a:endParaRPr sz="112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40" name="矩形: 圆角 39"/>
          <p:cNvSpPr>
            <a:spLocks noGrp="1"/>
          </p:cNvSpPr>
          <p:nvPr/>
        </p:nvSpPr>
        <p:spPr>
          <a:xfrm>
            <a:off x="704850" y="5600700"/>
            <a:ext cx="4543425" cy="723900"/>
          </a:xfrm>
          <a:prstGeom prst="roundRect">
            <a:avLst>
              <a:gd name="adj" fmla="val 6579"/>
            </a:avLst>
          </a:prstGeom>
          <a:solidFill>
            <a:srgbClr val="FFFFFF"/>
          </a:solidFill>
          <a:ln w="9525">
            <a:solidFill>
              <a:srgbClr val="858C8A"/>
            </a:solidFill>
            <a:prstDash val="solid"/>
          </a:ln>
        </p:spPr>
        <p:txBody>
          <a:bodyPr/>
          <a:p>
            <a:endParaRPr lang="zh-CN" altLang="en-US"/>
          </a:p>
        </p:txBody>
      </p:sp>
      <p:sp>
        <p:nvSpPr>
          <p:cNvPr id="41" name="矩形 40"/>
          <p:cNvSpPr>
            <a:spLocks noGrp="1"/>
          </p:cNvSpPr>
          <p:nvPr/>
        </p:nvSpPr>
        <p:spPr>
          <a:xfrm>
            <a:off x="800100" y="5667375"/>
            <a:ext cx="4362450" cy="590550"/>
          </a:xfrm>
          <a:prstGeom prst="rect">
            <a:avLst/>
          </a:prstGeom>
          <a:noFill/>
          <a:ln w="0">
            <a:noFill/>
            <a:prstDash val="solid"/>
          </a:ln>
        </p:spPr>
        <p:txBody>
          <a:bodyPr wrap="square" lIns="0" tIns="0" rIns="0" bIns="0" anchor="ctr">
            <a:normAutofit/>
          </a:bodyPr>
          <a:p>
            <a:pPr algn="l">
              <a:lnSpc>
                <a:spcPct val="96000"/>
              </a:lnSpc>
              <a:buNone/>
              <a:defRPr sz="990" b="0">
                <a:solidFill>
                  <a:srgbClr val="111111"/>
                </a:solidFill>
                <a:latin typeface="微软雅黑" panose="020B0503020204020204" charset="-122"/>
                <a:ea typeface="微软雅黑" panose="020B0503020204020204" charset="-122"/>
                <a:cs typeface="微软雅黑" panose="020B0503020204020204" charset="-122"/>
              </a:defRPr>
            </a:pPr>
            <a:r>
              <a:rPr sz="990" b="0" dirty="0">
                <a:solidFill>
                  <a:srgbClr val="111111"/>
                </a:solidFill>
                <a:latin typeface="微软雅黑" panose="020B0503020204020204" charset="-122"/>
                <a:ea typeface="微软雅黑" panose="020B0503020204020204" charset="-122"/>
                <a:cs typeface="微软雅黑" panose="020B0503020204020204" charset="-122"/>
              </a:rPr>
              <a:t>S2结构的核心思想：通过加劲肋提高局部刚度，</a:t>
            </a:r>
            <a:endParaRPr sz="990" b="0" dirty="0">
              <a:solidFill>
                <a:srgbClr val="111111"/>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990" b="0">
                <a:solidFill>
                  <a:srgbClr val="111111"/>
                </a:solidFill>
                <a:latin typeface="微软雅黑" panose="020B0503020204020204" charset="-122"/>
                <a:ea typeface="微软雅黑" panose="020B0503020204020204" charset="-122"/>
                <a:cs typeface="微软雅黑" panose="020B0503020204020204" charset="-122"/>
              </a:defRPr>
            </a:pPr>
            <a:r>
              <a:rPr sz="990" b="0" dirty="0" err="1">
                <a:solidFill>
                  <a:srgbClr val="111111"/>
                </a:solidFill>
                <a:latin typeface="微软雅黑" panose="020B0503020204020204" charset="-122"/>
                <a:ea typeface="微软雅黑" panose="020B0503020204020204" charset="-122"/>
                <a:cs typeface="微软雅黑" panose="020B0503020204020204" charset="-122"/>
              </a:rPr>
              <a:t>通过防滑移结构限制界面脱开，并通过螺栓-预应力索</a:t>
            </a:r>
            <a:endParaRPr sz="990" b="0" dirty="0">
              <a:solidFill>
                <a:srgbClr val="111111"/>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990" b="0">
                <a:solidFill>
                  <a:srgbClr val="111111"/>
                </a:solidFill>
                <a:latin typeface="微软雅黑" panose="020B0503020204020204" charset="-122"/>
                <a:ea typeface="微软雅黑" panose="020B0503020204020204" charset="-122"/>
                <a:cs typeface="微软雅黑" panose="020B0503020204020204" charset="-122"/>
              </a:defRPr>
            </a:pPr>
            <a:r>
              <a:rPr sz="990" b="0" dirty="0" err="1">
                <a:solidFill>
                  <a:srgbClr val="111111"/>
                </a:solidFill>
                <a:latin typeface="微软雅黑" panose="020B0503020204020204" charset="-122"/>
                <a:ea typeface="微软雅黑" panose="020B0503020204020204" charset="-122"/>
                <a:cs typeface="微软雅黑" panose="020B0503020204020204" charset="-122"/>
              </a:rPr>
              <a:t>双重锚固改善连接受力</a:t>
            </a:r>
            <a:r>
              <a:rPr sz="990" b="0" dirty="0">
                <a:solidFill>
                  <a:srgbClr val="111111"/>
                </a:solidFill>
                <a:latin typeface="微软雅黑" panose="020B0503020204020204" charset="-122"/>
                <a:ea typeface="微软雅黑" panose="020B0503020204020204" charset="-122"/>
                <a:cs typeface="微软雅黑" panose="020B0503020204020204" charset="-122"/>
              </a:rPr>
              <a:t>。</a:t>
            </a:r>
            <a:endParaRPr sz="990"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42" name="矩形: 圆角 41"/>
          <p:cNvSpPr>
            <a:spLocks noGrp="1"/>
          </p:cNvSpPr>
          <p:nvPr/>
        </p:nvSpPr>
        <p:spPr>
          <a:xfrm>
            <a:off x="5572125" y="2076450"/>
            <a:ext cx="1885950" cy="1381125"/>
          </a:xfrm>
          <a:prstGeom prst="roundRect">
            <a:avLst>
              <a:gd name="adj" fmla="val 4138"/>
            </a:avLst>
          </a:prstGeom>
          <a:solidFill>
            <a:srgbClr val="FFFFFF"/>
          </a:solidFill>
          <a:ln w="9525">
            <a:solidFill>
              <a:srgbClr val="C4CAC8"/>
            </a:solidFill>
            <a:prstDash val="solid"/>
          </a:ln>
        </p:spPr>
        <p:txBody>
          <a:bodyPr/>
          <a:p>
            <a:endParaRPr lang="zh-CN" altLang="en-US"/>
          </a:p>
        </p:txBody>
      </p:sp>
      <p:sp>
        <p:nvSpPr>
          <p:cNvPr id="43" name="椭圆 42"/>
          <p:cNvSpPr>
            <a:spLocks noGrp="1"/>
          </p:cNvSpPr>
          <p:nvPr/>
        </p:nvSpPr>
        <p:spPr>
          <a:xfrm>
            <a:off x="6010275" y="2409825"/>
            <a:ext cx="1009650" cy="266700"/>
          </a:xfrm>
          <a:prstGeom prst="ellipse">
            <a:avLst/>
          </a:prstGeom>
          <a:solidFill>
            <a:srgbClr val="B8BFC2"/>
          </a:solidFill>
          <a:ln w="9525">
            <a:solidFill>
              <a:srgbClr val="70777A"/>
            </a:solidFill>
            <a:prstDash val="solid"/>
          </a:ln>
        </p:spPr>
        <p:txBody>
          <a:bodyPr/>
          <a:p>
            <a:endParaRPr lang="zh-CN" altLang="en-US"/>
          </a:p>
        </p:txBody>
      </p:sp>
      <p:sp>
        <p:nvSpPr>
          <p:cNvPr id="44" name="矩形 43"/>
          <p:cNvSpPr>
            <a:spLocks noGrp="1"/>
          </p:cNvSpPr>
          <p:nvPr/>
        </p:nvSpPr>
        <p:spPr>
          <a:xfrm>
            <a:off x="6010275" y="2533650"/>
            <a:ext cx="1009650" cy="428625"/>
          </a:xfrm>
          <a:prstGeom prst="rect">
            <a:avLst/>
          </a:prstGeom>
          <a:solidFill>
            <a:srgbClr val="ABB3B5"/>
          </a:solidFill>
          <a:ln w="9525">
            <a:solidFill>
              <a:srgbClr val="70777A"/>
            </a:solidFill>
            <a:prstDash val="solid"/>
          </a:ln>
        </p:spPr>
        <p:txBody>
          <a:bodyPr/>
          <a:p>
            <a:endParaRPr lang="zh-CN" altLang="en-US"/>
          </a:p>
        </p:txBody>
      </p:sp>
      <p:sp>
        <p:nvSpPr>
          <p:cNvPr id="45" name="椭圆 44"/>
          <p:cNvSpPr>
            <a:spLocks noGrp="1"/>
          </p:cNvSpPr>
          <p:nvPr/>
        </p:nvSpPr>
        <p:spPr>
          <a:xfrm>
            <a:off x="6010275" y="2838450"/>
            <a:ext cx="1009650" cy="266700"/>
          </a:xfrm>
          <a:prstGeom prst="ellipse">
            <a:avLst/>
          </a:prstGeom>
          <a:solidFill>
            <a:srgbClr val="8C9497"/>
          </a:solidFill>
          <a:ln w="9525">
            <a:solidFill>
              <a:srgbClr val="70777A"/>
            </a:solidFill>
            <a:prstDash val="solid"/>
          </a:ln>
        </p:spPr>
        <p:txBody>
          <a:bodyPr/>
          <a:p>
            <a:endParaRPr lang="zh-CN" altLang="en-US"/>
          </a:p>
        </p:txBody>
      </p:sp>
      <p:sp>
        <p:nvSpPr>
          <p:cNvPr id="46" name="矩形 45"/>
          <p:cNvSpPr>
            <a:spLocks noGrp="1"/>
          </p:cNvSpPr>
          <p:nvPr/>
        </p:nvSpPr>
        <p:spPr>
          <a:xfrm>
            <a:off x="5924550" y="2343150"/>
            <a:ext cx="1181100" cy="114300"/>
          </a:xfrm>
          <a:prstGeom prst="rect">
            <a:avLst/>
          </a:prstGeom>
          <a:solidFill>
            <a:srgbClr val="D83039"/>
          </a:solidFill>
          <a:ln w="9525">
            <a:solidFill>
              <a:srgbClr val="9F2229"/>
            </a:solidFill>
            <a:prstDash val="solid"/>
          </a:ln>
        </p:spPr>
        <p:txBody>
          <a:bodyPr/>
          <a:p>
            <a:endParaRPr lang="zh-CN" altLang="en-US"/>
          </a:p>
        </p:txBody>
      </p:sp>
      <p:sp>
        <p:nvSpPr>
          <p:cNvPr id="47" name="矩形 46"/>
          <p:cNvSpPr>
            <a:spLocks noGrp="1"/>
          </p:cNvSpPr>
          <p:nvPr/>
        </p:nvSpPr>
        <p:spPr>
          <a:xfrm>
            <a:off x="6000750" y="2438400"/>
            <a:ext cx="57150" cy="428625"/>
          </a:xfrm>
          <a:prstGeom prst="rect">
            <a:avLst/>
          </a:prstGeom>
          <a:solidFill>
            <a:srgbClr val="E3A538"/>
          </a:solidFill>
          <a:ln w="6668">
            <a:solidFill>
              <a:srgbClr val="9C722B"/>
            </a:solidFill>
            <a:prstDash val="solid"/>
          </a:ln>
        </p:spPr>
        <p:txBody>
          <a:bodyPr/>
          <a:p>
            <a:endParaRPr lang="zh-CN" altLang="en-US"/>
          </a:p>
        </p:txBody>
      </p:sp>
      <p:sp>
        <p:nvSpPr>
          <p:cNvPr id="48" name="矩形 47"/>
          <p:cNvSpPr>
            <a:spLocks noGrp="1"/>
          </p:cNvSpPr>
          <p:nvPr/>
        </p:nvSpPr>
        <p:spPr>
          <a:xfrm>
            <a:off x="6972300" y="2438400"/>
            <a:ext cx="57150" cy="428625"/>
          </a:xfrm>
          <a:prstGeom prst="rect">
            <a:avLst/>
          </a:prstGeom>
          <a:solidFill>
            <a:srgbClr val="E3A538"/>
          </a:solidFill>
          <a:ln w="6668">
            <a:solidFill>
              <a:srgbClr val="9C722B"/>
            </a:solidFill>
            <a:prstDash val="solid"/>
          </a:ln>
        </p:spPr>
        <p:txBody>
          <a:bodyPr/>
          <a:p>
            <a:endParaRPr lang="zh-CN" altLang="en-US"/>
          </a:p>
        </p:txBody>
      </p:sp>
      <p:sp>
        <p:nvSpPr>
          <p:cNvPr id="49" name="矩形 48"/>
          <p:cNvSpPr>
            <a:spLocks noGrp="1"/>
          </p:cNvSpPr>
          <p:nvPr/>
        </p:nvSpPr>
        <p:spPr>
          <a:xfrm>
            <a:off x="5648325" y="3171825"/>
            <a:ext cx="1733550" cy="228600"/>
          </a:xfrm>
          <a:prstGeom prst="rect">
            <a:avLst/>
          </a:prstGeom>
          <a:noFill/>
          <a:ln w="0">
            <a:noFill/>
            <a:prstDash val="solid"/>
          </a:ln>
        </p:spPr>
        <p:txBody>
          <a:bodyPr wrap="square" lIns="0" tIns="0" rIns="0" bIns="0" anchor="ctr">
            <a:normAutofit/>
          </a:bodyPr>
          <a:p>
            <a:pPr algn="ctr">
              <a:lnSpc>
                <a:spcPct val="100000"/>
              </a:lnSpc>
              <a:buNone/>
              <a:defRPr sz="975" b="0">
                <a:solidFill>
                  <a:srgbClr val="111111"/>
                </a:solidFill>
                <a:latin typeface="微软雅黑" panose="020B0503020204020204" charset="-122"/>
                <a:ea typeface="微软雅黑" panose="020B0503020204020204" charset="-122"/>
                <a:cs typeface="微软雅黑" panose="020B0503020204020204" charset="-122"/>
              </a:defRPr>
            </a:pPr>
            <a:r>
              <a:rPr sz="975" b="0">
                <a:solidFill>
                  <a:srgbClr val="111111"/>
                </a:solidFill>
                <a:latin typeface="微软雅黑" panose="020B0503020204020204" charset="-122"/>
                <a:ea typeface="微软雅黑" panose="020B0503020204020204" charset="-122"/>
                <a:cs typeface="微软雅黑" panose="020B0503020204020204" charset="-122"/>
              </a:rPr>
              <a:t>a) 有销栓连接</a:t>
            </a:r>
            <a:endParaRPr sz="9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50" name="矩形: 圆角 49"/>
          <p:cNvSpPr>
            <a:spLocks noGrp="1"/>
          </p:cNvSpPr>
          <p:nvPr/>
        </p:nvSpPr>
        <p:spPr>
          <a:xfrm>
            <a:off x="7629525" y="2076450"/>
            <a:ext cx="1809750" cy="1381125"/>
          </a:xfrm>
          <a:prstGeom prst="roundRect">
            <a:avLst>
              <a:gd name="adj" fmla="val 4138"/>
            </a:avLst>
          </a:prstGeom>
          <a:solidFill>
            <a:srgbClr val="FFFFFF"/>
          </a:solidFill>
          <a:ln w="9525">
            <a:solidFill>
              <a:srgbClr val="C4CAC8"/>
            </a:solidFill>
            <a:prstDash val="solid"/>
          </a:ln>
        </p:spPr>
        <p:txBody>
          <a:bodyPr/>
          <a:p>
            <a:endParaRPr lang="zh-CN" altLang="en-US"/>
          </a:p>
        </p:txBody>
      </p:sp>
      <p:sp>
        <p:nvSpPr>
          <p:cNvPr id="51" name="椭圆 50"/>
          <p:cNvSpPr>
            <a:spLocks noGrp="1"/>
          </p:cNvSpPr>
          <p:nvPr/>
        </p:nvSpPr>
        <p:spPr>
          <a:xfrm>
            <a:off x="8020050" y="2352675"/>
            <a:ext cx="1028700" cy="647700"/>
          </a:xfrm>
          <a:prstGeom prst="ellipse">
            <a:avLst/>
          </a:prstGeom>
          <a:solidFill>
            <a:srgbClr val="888E8E"/>
          </a:solidFill>
          <a:ln w="9525">
            <a:solidFill>
              <a:srgbClr val="5E6464"/>
            </a:solidFill>
            <a:prstDash val="solid"/>
          </a:ln>
        </p:spPr>
        <p:txBody>
          <a:bodyPr/>
          <a:p>
            <a:endParaRPr lang="zh-CN" altLang="en-US"/>
          </a:p>
        </p:txBody>
      </p:sp>
      <p:sp>
        <p:nvSpPr>
          <p:cNvPr id="52" name="椭圆 51"/>
          <p:cNvSpPr>
            <a:spLocks noGrp="1"/>
          </p:cNvSpPr>
          <p:nvPr/>
        </p:nvSpPr>
        <p:spPr>
          <a:xfrm>
            <a:off x="8181975" y="2457450"/>
            <a:ext cx="704850" cy="409575"/>
          </a:xfrm>
          <a:prstGeom prst="ellipse">
            <a:avLst/>
          </a:prstGeom>
          <a:solidFill>
            <a:srgbClr val="FFFFFF"/>
          </a:solidFill>
          <a:ln w="9525">
            <a:solidFill>
              <a:srgbClr val="6C7272"/>
            </a:solidFill>
            <a:prstDash val="solid"/>
          </a:ln>
        </p:spPr>
        <p:txBody>
          <a:bodyPr/>
          <a:p>
            <a:endParaRPr lang="zh-CN" altLang="en-US"/>
          </a:p>
        </p:txBody>
      </p:sp>
      <p:sp>
        <p:nvSpPr>
          <p:cNvPr id="53" name="矩形: 圆角 52"/>
          <p:cNvSpPr>
            <a:spLocks noGrp="1"/>
          </p:cNvSpPr>
          <p:nvPr/>
        </p:nvSpPr>
        <p:spPr>
          <a:xfrm>
            <a:off x="8153400" y="2520315"/>
            <a:ext cx="47625" cy="85725"/>
          </a:xfrm>
          <a:prstGeom prst="roundRect">
            <a:avLst>
              <a:gd name="adj" fmla="val 20000"/>
            </a:avLst>
          </a:prstGeom>
          <a:solidFill>
            <a:srgbClr val="4C5050"/>
          </a:solidFill>
          <a:ln w="0">
            <a:noFill/>
            <a:prstDash val="solid"/>
          </a:ln>
        </p:spPr>
        <p:txBody>
          <a:bodyPr/>
          <a:p>
            <a:endParaRPr lang="zh-CN" altLang="en-US"/>
          </a:p>
        </p:txBody>
      </p:sp>
      <p:sp>
        <p:nvSpPr>
          <p:cNvPr id="54" name="矩形: 圆角 53"/>
          <p:cNvSpPr>
            <a:spLocks noGrp="1"/>
          </p:cNvSpPr>
          <p:nvPr/>
        </p:nvSpPr>
        <p:spPr>
          <a:xfrm>
            <a:off x="8248650" y="2497455"/>
            <a:ext cx="47625" cy="85725"/>
          </a:xfrm>
          <a:prstGeom prst="roundRect">
            <a:avLst>
              <a:gd name="adj" fmla="val 20000"/>
            </a:avLst>
          </a:prstGeom>
          <a:solidFill>
            <a:srgbClr val="4C5050"/>
          </a:solidFill>
          <a:ln w="0">
            <a:noFill/>
            <a:prstDash val="solid"/>
          </a:ln>
        </p:spPr>
        <p:txBody>
          <a:bodyPr/>
          <a:p>
            <a:endParaRPr lang="zh-CN" altLang="en-US"/>
          </a:p>
        </p:txBody>
      </p:sp>
      <p:sp>
        <p:nvSpPr>
          <p:cNvPr id="55" name="矩形: 圆角 54"/>
          <p:cNvSpPr>
            <a:spLocks noGrp="1"/>
          </p:cNvSpPr>
          <p:nvPr/>
        </p:nvSpPr>
        <p:spPr>
          <a:xfrm>
            <a:off x="8343900" y="2474595"/>
            <a:ext cx="47625" cy="85725"/>
          </a:xfrm>
          <a:prstGeom prst="roundRect">
            <a:avLst>
              <a:gd name="adj" fmla="val 20000"/>
            </a:avLst>
          </a:prstGeom>
          <a:solidFill>
            <a:srgbClr val="4C5050"/>
          </a:solidFill>
          <a:ln w="0">
            <a:noFill/>
            <a:prstDash val="solid"/>
          </a:ln>
        </p:spPr>
        <p:txBody>
          <a:bodyPr/>
          <a:p>
            <a:endParaRPr lang="zh-CN" altLang="en-US"/>
          </a:p>
        </p:txBody>
      </p:sp>
      <p:sp>
        <p:nvSpPr>
          <p:cNvPr id="56" name="矩形: 圆角 55"/>
          <p:cNvSpPr>
            <a:spLocks noGrp="1"/>
          </p:cNvSpPr>
          <p:nvPr/>
        </p:nvSpPr>
        <p:spPr>
          <a:xfrm>
            <a:off x="8439150" y="2451735"/>
            <a:ext cx="47625" cy="85725"/>
          </a:xfrm>
          <a:prstGeom prst="roundRect">
            <a:avLst>
              <a:gd name="adj" fmla="val 20000"/>
            </a:avLst>
          </a:prstGeom>
          <a:solidFill>
            <a:srgbClr val="4C5050"/>
          </a:solidFill>
          <a:ln w="0">
            <a:noFill/>
            <a:prstDash val="solid"/>
          </a:ln>
        </p:spPr>
        <p:txBody>
          <a:bodyPr/>
          <a:p>
            <a:endParaRPr lang="zh-CN" altLang="en-US"/>
          </a:p>
        </p:txBody>
      </p:sp>
      <p:sp>
        <p:nvSpPr>
          <p:cNvPr id="57" name="矩形: 圆角 56"/>
          <p:cNvSpPr>
            <a:spLocks noGrp="1"/>
          </p:cNvSpPr>
          <p:nvPr/>
        </p:nvSpPr>
        <p:spPr>
          <a:xfrm>
            <a:off x="8534400" y="2428875"/>
            <a:ext cx="47625" cy="85725"/>
          </a:xfrm>
          <a:prstGeom prst="roundRect">
            <a:avLst>
              <a:gd name="adj" fmla="val 20000"/>
            </a:avLst>
          </a:prstGeom>
          <a:solidFill>
            <a:srgbClr val="4C5050"/>
          </a:solidFill>
          <a:ln w="0">
            <a:noFill/>
            <a:prstDash val="solid"/>
          </a:ln>
        </p:spPr>
        <p:txBody>
          <a:bodyPr/>
          <a:p>
            <a:endParaRPr lang="zh-CN" altLang="en-US"/>
          </a:p>
        </p:txBody>
      </p:sp>
      <p:sp>
        <p:nvSpPr>
          <p:cNvPr id="58" name="矩形: 圆角 57"/>
          <p:cNvSpPr>
            <a:spLocks noGrp="1"/>
          </p:cNvSpPr>
          <p:nvPr/>
        </p:nvSpPr>
        <p:spPr>
          <a:xfrm>
            <a:off x="8629650" y="2451735"/>
            <a:ext cx="47625" cy="85725"/>
          </a:xfrm>
          <a:prstGeom prst="roundRect">
            <a:avLst>
              <a:gd name="adj" fmla="val 20000"/>
            </a:avLst>
          </a:prstGeom>
          <a:solidFill>
            <a:srgbClr val="4C5050"/>
          </a:solidFill>
          <a:ln w="0">
            <a:noFill/>
            <a:prstDash val="solid"/>
          </a:ln>
        </p:spPr>
        <p:txBody>
          <a:bodyPr/>
          <a:p>
            <a:endParaRPr lang="zh-CN" altLang="en-US"/>
          </a:p>
        </p:txBody>
      </p:sp>
      <p:sp>
        <p:nvSpPr>
          <p:cNvPr id="59" name="矩形: 圆角 58"/>
          <p:cNvSpPr>
            <a:spLocks noGrp="1"/>
          </p:cNvSpPr>
          <p:nvPr/>
        </p:nvSpPr>
        <p:spPr>
          <a:xfrm>
            <a:off x="8724900" y="2474595"/>
            <a:ext cx="47625" cy="85725"/>
          </a:xfrm>
          <a:prstGeom prst="roundRect">
            <a:avLst>
              <a:gd name="adj" fmla="val 20000"/>
            </a:avLst>
          </a:prstGeom>
          <a:solidFill>
            <a:srgbClr val="4C5050"/>
          </a:solidFill>
          <a:ln w="0">
            <a:noFill/>
            <a:prstDash val="solid"/>
          </a:ln>
        </p:spPr>
        <p:txBody>
          <a:bodyPr/>
          <a:p>
            <a:endParaRPr lang="zh-CN" altLang="en-US"/>
          </a:p>
        </p:txBody>
      </p:sp>
      <p:sp>
        <p:nvSpPr>
          <p:cNvPr id="60" name="矩形: 圆角 59"/>
          <p:cNvSpPr>
            <a:spLocks noGrp="1"/>
          </p:cNvSpPr>
          <p:nvPr/>
        </p:nvSpPr>
        <p:spPr>
          <a:xfrm>
            <a:off x="8820150" y="2497455"/>
            <a:ext cx="47625" cy="85725"/>
          </a:xfrm>
          <a:prstGeom prst="roundRect">
            <a:avLst>
              <a:gd name="adj" fmla="val 20000"/>
            </a:avLst>
          </a:prstGeom>
          <a:solidFill>
            <a:srgbClr val="4C5050"/>
          </a:solidFill>
          <a:ln w="0">
            <a:noFill/>
            <a:prstDash val="solid"/>
          </a:ln>
        </p:spPr>
        <p:txBody>
          <a:bodyPr/>
          <a:p>
            <a:endParaRPr lang="zh-CN" altLang="en-US"/>
          </a:p>
        </p:txBody>
      </p:sp>
      <p:sp>
        <p:nvSpPr>
          <p:cNvPr id="61" name="矩形: 圆角 60"/>
          <p:cNvSpPr>
            <a:spLocks noGrp="1"/>
          </p:cNvSpPr>
          <p:nvPr/>
        </p:nvSpPr>
        <p:spPr>
          <a:xfrm>
            <a:off x="8915400" y="2520315"/>
            <a:ext cx="47625" cy="85725"/>
          </a:xfrm>
          <a:prstGeom prst="roundRect">
            <a:avLst>
              <a:gd name="adj" fmla="val 20000"/>
            </a:avLst>
          </a:prstGeom>
          <a:solidFill>
            <a:srgbClr val="4C5050"/>
          </a:solidFill>
          <a:ln w="0">
            <a:noFill/>
            <a:prstDash val="solid"/>
          </a:ln>
        </p:spPr>
        <p:txBody>
          <a:bodyPr/>
          <a:p>
            <a:endParaRPr lang="zh-CN" altLang="en-US"/>
          </a:p>
        </p:txBody>
      </p:sp>
      <p:sp>
        <p:nvSpPr>
          <p:cNvPr id="62" name="矩形 61"/>
          <p:cNvSpPr>
            <a:spLocks noGrp="1"/>
          </p:cNvSpPr>
          <p:nvPr/>
        </p:nvSpPr>
        <p:spPr>
          <a:xfrm>
            <a:off x="7705725" y="3171825"/>
            <a:ext cx="1657350" cy="228600"/>
          </a:xfrm>
          <a:prstGeom prst="rect">
            <a:avLst/>
          </a:prstGeom>
          <a:noFill/>
          <a:ln w="0">
            <a:noFill/>
            <a:prstDash val="solid"/>
          </a:ln>
        </p:spPr>
        <p:txBody>
          <a:bodyPr wrap="square" lIns="0" tIns="0" rIns="0" bIns="0" anchor="ctr">
            <a:normAutofit/>
          </a:bodyPr>
          <a:p>
            <a:pPr algn="ctr">
              <a:lnSpc>
                <a:spcPct val="100000"/>
              </a:lnSpc>
              <a:buNone/>
              <a:defRPr sz="975" b="0">
                <a:solidFill>
                  <a:srgbClr val="111111"/>
                </a:solidFill>
                <a:latin typeface="微软雅黑" panose="020B0503020204020204" charset="-122"/>
                <a:ea typeface="微软雅黑" panose="020B0503020204020204" charset="-122"/>
                <a:cs typeface="微软雅黑" panose="020B0503020204020204" charset="-122"/>
              </a:defRPr>
            </a:pPr>
            <a:r>
              <a:rPr sz="975" b="0">
                <a:solidFill>
                  <a:srgbClr val="111111"/>
                </a:solidFill>
                <a:latin typeface="微软雅黑" panose="020B0503020204020204" charset="-122"/>
                <a:ea typeface="微软雅黑" panose="020B0503020204020204" charset="-122"/>
                <a:cs typeface="微软雅黑" panose="020B0503020204020204" charset="-122"/>
              </a:rPr>
              <a:t>b) 无销栓连接</a:t>
            </a:r>
            <a:endParaRPr sz="9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63" name="矩形: 圆角 62"/>
          <p:cNvSpPr>
            <a:spLocks noGrp="1"/>
          </p:cNvSpPr>
          <p:nvPr/>
        </p:nvSpPr>
        <p:spPr>
          <a:xfrm>
            <a:off x="9591675" y="2076450"/>
            <a:ext cx="2076450" cy="1381125"/>
          </a:xfrm>
          <a:prstGeom prst="roundRect">
            <a:avLst>
              <a:gd name="adj" fmla="val 4138"/>
            </a:avLst>
          </a:prstGeom>
          <a:solidFill>
            <a:srgbClr val="FFFFFF"/>
          </a:solidFill>
          <a:ln w="9525">
            <a:solidFill>
              <a:srgbClr val="C4CAC8"/>
            </a:solidFill>
            <a:prstDash val="solid"/>
          </a:ln>
        </p:spPr>
        <p:txBody>
          <a:bodyPr/>
          <a:p>
            <a:endParaRPr lang="zh-CN" altLang="en-US"/>
          </a:p>
        </p:txBody>
      </p:sp>
      <p:sp>
        <p:nvSpPr>
          <p:cNvPr id="64" name="矩形 63"/>
          <p:cNvSpPr>
            <a:spLocks noGrp="1"/>
          </p:cNvSpPr>
          <p:nvPr/>
        </p:nvSpPr>
        <p:spPr>
          <a:xfrm>
            <a:off x="10058703" y="2605694"/>
            <a:ext cx="76200" cy="438150"/>
          </a:xfrm>
          <a:prstGeom prst="rect">
            <a:avLst/>
          </a:prstGeom>
          <a:solidFill>
            <a:srgbClr val="E9B51A"/>
          </a:solidFill>
          <a:ln w="0">
            <a:solidFill>
              <a:srgbClr val="E9B51A"/>
            </a:solidFill>
            <a:prstDash val="solid"/>
          </a:ln>
        </p:spPr>
        <p:txBody>
          <a:bodyPr/>
          <a:p>
            <a:endParaRPr lang="zh-CN" altLang="en-US"/>
          </a:p>
        </p:txBody>
      </p:sp>
      <p:sp>
        <p:nvSpPr>
          <p:cNvPr id="65" name="直接连接符 64"/>
          <p:cNvSpPr>
            <a:spLocks noGrp="1"/>
          </p:cNvSpPr>
          <p:nvPr/>
        </p:nvSpPr>
        <p:spPr>
          <a:xfrm>
            <a:off x="10096803" y="2224694"/>
            <a:ext cx="0" cy="904875"/>
          </a:xfrm>
          <a:prstGeom prst="line">
            <a:avLst/>
          </a:prstGeom>
          <a:noFill/>
          <a:ln w="5715">
            <a:solidFill>
              <a:srgbClr val="E1E3E3"/>
            </a:solidFill>
            <a:prstDash val="solid"/>
          </a:ln>
        </p:spPr>
        <p:txBody>
          <a:bodyPr/>
          <a:p>
            <a:endParaRPr lang="zh-CN" altLang="en-US"/>
          </a:p>
        </p:txBody>
      </p:sp>
      <p:sp>
        <p:nvSpPr>
          <p:cNvPr id="66" name="矩形 65"/>
          <p:cNvSpPr>
            <a:spLocks noGrp="1"/>
          </p:cNvSpPr>
          <p:nvPr/>
        </p:nvSpPr>
        <p:spPr>
          <a:xfrm>
            <a:off x="10220628" y="2510444"/>
            <a:ext cx="76200" cy="533400"/>
          </a:xfrm>
          <a:prstGeom prst="rect">
            <a:avLst/>
          </a:prstGeom>
          <a:solidFill>
            <a:srgbClr val="2860A1"/>
          </a:solidFill>
          <a:ln w="0">
            <a:solidFill>
              <a:srgbClr val="2860A1"/>
            </a:solidFill>
            <a:prstDash val="solid"/>
          </a:ln>
        </p:spPr>
        <p:txBody>
          <a:bodyPr/>
          <a:p>
            <a:endParaRPr lang="zh-CN" altLang="en-US"/>
          </a:p>
        </p:txBody>
      </p:sp>
      <p:sp>
        <p:nvSpPr>
          <p:cNvPr id="67" name="直接连接符 66"/>
          <p:cNvSpPr>
            <a:spLocks noGrp="1"/>
          </p:cNvSpPr>
          <p:nvPr/>
        </p:nvSpPr>
        <p:spPr>
          <a:xfrm>
            <a:off x="10258728" y="2224694"/>
            <a:ext cx="0" cy="904875"/>
          </a:xfrm>
          <a:prstGeom prst="line">
            <a:avLst/>
          </a:prstGeom>
          <a:noFill/>
          <a:ln w="5715">
            <a:solidFill>
              <a:srgbClr val="E1E3E3"/>
            </a:solidFill>
            <a:prstDash val="solid"/>
          </a:ln>
        </p:spPr>
        <p:txBody>
          <a:bodyPr/>
          <a:p>
            <a:endParaRPr lang="zh-CN" altLang="en-US"/>
          </a:p>
        </p:txBody>
      </p:sp>
      <p:sp>
        <p:nvSpPr>
          <p:cNvPr id="68" name="矩形 67"/>
          <p:cNvSpPr>
            <a:spLocks noGrp="1"/>
          </p:cNvSpPr>
          <p:nvPr/>
        </p:nvSpPr>
        <p:spPr>
          <a:xfrm>
            <a:off x="10382553" y="2415194"/>
            <a:ext cx="76200" cy="628650"/>
          </a:xfrm>
          <a:prstGeom prst="rect">
            <a:avLst/>
          </a:prstGeom>
          <a:solidFill>
            <a:srgbClr val="DD7F34"/>
          </a:solidFill>
          <a:ln w="0">
            <a:solidFill>
              <a:srgbClr val="DD7F34"/>
            </a:solidFill>
            <a:prstDash val="solid"/>
          </a:ln>
        </p:spPr>
        <p:txBody>
          <a:bodyPr/>
          <a:p>
            <a:endParaRPr lang="zh-CN" altLang="en-US"/>
          </a:p>
        </p:txBody>
      </p:sp>
      <p:sp>
        <p:nvSpPr>
          <p:cNvPr id="69" name="直接连接符 68"/>
          <p:cNvSpPr>
            <a:spLocks noGrp="1"/>
          </p:cNvSpPr>
          <p:nvPr/>
        </p:nvSpPr>
        <p:spPr>
          <a:xfrm>
            <a:off x="10420653" y="2224694"/>
            <a:ext cx="0" cy="904875"/>
          </a:xfrm>
          <a:prstGeom prst="line">
            <a:avLst/>
          </a:prstGeom>
          <a:noFill/>
          <a:ln w="5715">
            <a:solidFill>
              <a:srgbClr val="E1E3E3"/>
            </a:solidFill>
            <a:prstDash val="solid"/>
          </a:ln>
        </p:spPr>
        <p:txBody>
          <a:bodyPr/>
          <a:p>
            <a:endParaRPr lang="zh-CN" altLang="en-US"/>
          </a:p>
        </p:txBody>
      </p:sp>
      <p:sp>
        <p:nvSpPr>
          <p:cNvPr id="70" name="矩形 69"/>
          <p:cNvSpPr>
            <a:spLocks noGrp="1"/>
          </p:cNvSpPr>
          <p:nvPr/>
        </p:nvSpPr>
        <p:spPr>
          <a:xfrm>
            <a:off x="10544478" y="2319944"/>
            <a:ext cx="76200" cy="438150"/>
          </a:xfrm>
          <a:prstGeom prst="rect">
            <a:avLst/>
          </a:prstGeom>
          <a:solidFill>
            <a:srgbClr val="485F93"/>
          </a:solidFill>
          <a:ln w="0">
            <a:solidFill>
              <a:srgbClr val="485F93"/>
            </a:solidFill>
            <a:prstDash val="solid"/>
          </a:ln>
        </p:spPr>
        <p:txBody>
          <a:bodyPr/>
          <a:p>
            <a:endParaRPr lang="zh-CN" altLang="en-US"/>
          </a:p>
        </p:txBody>
      </p:sp>
      <p:sp>
        <p:nvSpPr>
          <p:cNvPr id="71" name="直接连接符 70"/>
          <p:cNvSpPr>
            <a:spLocks noGrp="1"/>
          </p:cNvSpPr>
          <p:nvPr/>
        </p:nvSpPr>
        <p:spPr>
          <a:xfrm>
            <a:off x="10582578" y="2224694"/>
            <a:ext cx="0" cy="904875"/>
          </a:xfrm>
          <a:prstGeom prst="line">
            <a:avLst/>
          </a:prstGeom>
          <a:noFill/>
          <a:ln w="5715">
            <a:solidFill>
              <a:srgbClr val="E1E3E3"/>
            </a:solidFill>
            <a:prstDash val="solid"/>
          </a:ln>
        </p:spPr>
        <p:txBody>
          <a:bodyPr/>
          <a:p>
            <a:endParaRPr lang="zh-CN" altLang="en-US"/>
          </a:p>
        </p:txBody>
      </p:sp>
      <p:sp>
        <p:nvSpPr>
          <p:cNvPr id="72" name="矩形 71"/>
          <p:cNvSpPr>
            <a:spLocks noGrp="1"/>
          </p:cNvSpPr>
          <p:nvPr/>
        </p:nvSpPr>
        <p:spPr>
          <a:xfrm>
            <a:off x="10706403" y="2605694"/>
            <a:ext cx="76200" cy="533400"/>
          </a:xfrm>
          <a:prstGeom prst="rect">
            <a:avLst/>
          </a:prstGeom>
          <a:solidFill>
            <a:srgbClr val="2B876F"/>
          </a:solidFill>
          <a:ln w="0">
            <a:solidFill>
              <a:srgbClr val="2B876F"/>
            </a:solidFill>
            <a:prstDash val="solid"/>
          </a:ln>
        </p:spPr>
        <p:txBody>
          <a:bodyPr/>
          <a:p>
            <a:endParaRPr lang="zh-CN" altLang="en-US"/>
          </a:p>
        </p:txBody>
      </p:sp>
      <p:sp>
        <p:nvSpPr>
          <p:cNvPr id="73" name="直接连接符 72"/>
          <p:cNvSpPr>
            <a:spLocks noGrp="1"/>
          </p:cNvSpPr>
          <p:nvPr/>
        </p:nvSpPr>
        <p:spPr>
          <a:xfrm>
            <a:off x="10744503" y="2224694"/>
            <a:ext cx="0" cy="904875"/>
          </a:xfrm>
          <a:prstGeom prst="line">
            <a:avLst/>
          </a:prstGeom>
          <a:noFill/>
          <a:ln w="5715">
            <a:solidFill>
              <a:srgbClr val="E1E3E3"/>
            </a:solidFill>
            <a:prstDash val="solid"/>
          </a:ln>
        </p:spPr>
        <p:txBody>
          <a:bodyPr/>
          <a:p>
            <a:endParaRPr lang="zh-CN" altLang="en-US"/>
          </a:p>
        </p:txBody>
      </p:sp>
      <p:sp>
        <p:nvSpPr>
          <p:cNvPr id="74" name="矩形 73"/>
          <p:cNvSpPr>
            <a:spLocks noGrp="1"/>
          </p:cNvSpPr>
          <p:nvPr/>
        </p:nvSpPr>
        <p:spPr>
          <a:xfrm>
            <a:off x="10868328" y="2510444"/>
            <a:ext cx="76200" cy="628650"/>
          </a:xfrm>
          <a:prstGeom prst="rect">
            <a:avLst/>
          </a:prstGeom>
          <a:solidFill>
            <a:srgbClr val="D8B63E"/>
          </a:solidFill>
          <a:ln w="0">
            <a:solidFill>
              <a:srgbClr val="D8B63E"/>
            </a:solidFill>
            <a:prstDash val="solid"/>
          </a:ln>
        </p:spPr>
        <p:txBody>
          <a:bodyPr/>
          <a:p>
            <a:endParaRPr lang="zh-CN" altLang="en-US"/>
          </a:p>
        </p:txBody>
      </p:sp>
      <p:sp>
        <p:nvSpPr>
          <p:cNvPr id="75" name="直接连接符 74"/>
          <p:cNvSpPr>
            <a:spLocks noGrp="1"/>
          </p:cNvSpPr>
          <p:nvPr/>
        </p:nvSpPr>
        <p:spPr>
          <a:xfrm>
            <a:off x="10906428" y="2224694"/>
            <a:ext cx="0" cy="904875"/>
          </a:xfrm>
          <a:prstGeom prst="line">
            <a:avLst/>
          </a:prstGeom>
          <a:noFill/>
          <a:ln w="5715">
            <a:solidFill>
              <a:srgbClr val="E1E3E3"/>
            </a:solidFill>
            <a:prstDash val="solid"/>
          </a:ln>
        </p:spPr>
        <p:txBody>
          <a:bodyPr/>
          <a:p>
            <a:endParaRPr lang="zh-CN" altLang="en-US"/>
          </a:p>
        </p:txBody>
      </p:sp>
      <p:sp>
        <p:nvSpPr>
          <p:cNvPr id="76" name="矩形 75"/>
          <p:cNvSpPr>
            <a:spLocks noGrp="1"/>
          </p:cNvSpPr>
          <p:nvPr/>
        </p:nvSpPr>
        <p:spPr>
          <a:xfrm>
            <a:off x="11030253" y="2415194"/>
            <a:ext cx="76200" cy="438150"/>
          </a:xfrm>
          <a:prstGeom prst="rect">
            <a:avLst/>
          </a:prstGeom>
          <a:solidFill>
            <a:srgbClr val="3A568E"/>
          </a:solidFill>
          <a:ln w="0">
            <a:solidFill>
              <a:srgbClr val="3A568E"/>
            </a:solidFill>
            <a:prstDash val="solid"/>
          </a:ln>
        </p:spPr>
        <p:txBody>
          <a:bodyPr/>
          <a:p>
            <a:endParaRPr lang="zh-CN" altLang="en-US"/>
          </a:p>
        </p:txBody>
      </p:sp>
      <p:sp>
        <p:nvSpPr>
          <p:cNvPr id="77" name="直接连接符 76"/>
          <p:cNvSpPr>
            <a:spLocks noGrp="1"/>
          </p:cNvSpPr>
          <p:nvPr/>
        </p:nvSpPr>
        <p:spPr>
          <a:xfrm>
            <a:off x="11068353" y="2224694"/>
            <a:ext cx="0" cy="904875"/>
          </a:xfrm>
          <a:prstGeom prst="line">
            <a:avLst/>
          </a:prstGeom>
          <a:noFill/>
          <a:ln w="5715">
            <a:solidFill>
              <a:srgbClr val="E1E3E3"/>
            </a:solidFill>
            <a:prstDash val="solid"/>
          </a:ln>
        </p:spPr>
        <p:txBody>
          <a:bodyPr/>
          <a:p>
            <a:endParaRPr lang="zh-CN" altLang="en-US"/>
          </a:p>
        </p:txBody>
      </p:sp>
      <p:sp>
        <p:nvSpPr>
          <p:cNvPr id="78" name="矩形 77"/>
          <p:cNvSpPr>
            <a:spLocks noGrp="1"/>
          </p:cNvSpPr>
          <p:nvPr/>
        </p:nvSpPr>
        <p:spPr>
          <a:xfrm>
            <a:off x="11192178" y="2319944"/>
            <a:ext cx="76200" cy="533400"/>
          </a:xfrm>
          <a:prstGeom prst="rect">
            <a:avLst/>
          </a:prstGeom>
          <a:solidFill>
            <a:srgbClr val="D87D4C"/>
          </a:solidFill>
          <a:ln w="0">
            <a:solidFill>
              <a:srgbClr val="D87D4C"/>
            </a:solidFill>
            <a:prstDash val="solid"/>
          </a:ln>
        </p:spPr>
        <p:txBody>
          <a:bodyPr/>
          <a:p>
            <a:endParaRPr lang="zh-CN" altLang="en-US"/>
          </a:p>
        </p:txBody>
      </p:sp>
      <p:sp>
        <p:nvSpPr>
          <p:cNvPr id="79" name="直接连接符 78"/>
          <p:cNvSpPr>
            <a:spLocks noGrp="1"/>
          </p:cNvSpPr>
          <p:nvPr/>
        </p:nvSpPr>
        <p:spPr>
          <a:xfrm>
            <a:off x="11230278" y="2224694"/>
            <a:ext cx="0" cy="904875"/>
          </a:xfrm>
          <a:prstGeom prst="line">
            <a:avLst/>
          </a:prstGeom>
          <a:noFill/>
          <a:ln w="5715">
            <a:solidFill>
              <a:srgbClr val="E1E3E3"/>
            </a:solidFill>
            <a:prstDash val="solid"/>
          </a:ln>
        </p:spPr>
        <p:txBody>
          <a:bodyPr/>
          <a:p>
            <a:endParaRPr lang="zh-CN" altLang="en-US"/>
          </a:p>
        </p:txBody>
      </p:sp>
      <p:sp>
        <p:nvSpPr>
          <p:cNvPr id="80" name="直接连接符 79"/>
          <p:cNvSpPr>
            <a:spLocks noGrp="1"/>
          </p:cNvSpPr>
          <p:nvPr/>
        </p:nvSpPr>
        <p:spPr>
          <a:xfrm>
            <a:off x="9963453" y="3062894"/>
            <a:ext cx="1647825" cy="0"/>
          </a:xfrm>
          <a:prstGeom prst="line">
            <a:avLst/>
          </a:prstGeom>
          <a:noFill/>
          <a:ln w="6668">
            <a:solidFill>
              <a:srgbClr val="BFC4C4"/>
            </a:solidFill>
            <a:prstDash val="solid"/>
          </a:ln>
        </p:spPr>
        <p:txBody>
          <a:bodyPr/>
          <a:p>
            <a:endParaRPr lang="zh-CN" altLang="en-US"/>
          </a:p>
        </p:txBody>
      </p:sp>
      <p:sp>
        <p:nvSpPr>
          <p:cNvPr id="81" name="直接连接符 80"/>
          <p:cNvSpPr>
            <a:spLocks noGrp="1"/>
          </p:cNvSpPr>
          <p:nvPr/>
        </p:nvSpPr>
        <p:spPr>
          <a:xfrm>
            <a:off x="9963453" y="2272319"/>
            <a:ext cx="0" cy="790575"/>
          </a:xfrm>
          <a:prstGeom prst="line">
            <a:avLst/>
          </a:prstGeom>
          <a:noFill/>
          <a:ln w="6668">
            <a:solidFill>
              <a:srgbClr val="BFC4C4"/>
            </a:solidFill>
            <a:prstDash val="solid"/>
          </a:ln>
        </p:spPr>
        <p:txBody>
          <a:bodyPr/>
          <a:p>
            <a:endParaRPr lang="zh-CN" altLang="en-US"/>
          </a:p>
        </p:txBody>
      </p:sp>
      <p:sp>
        <p:nvSpPr>
          <p:cNvPr id="82" name="矩形 81"/>
          <p:cNvSpPr>
            <a:spLocks noGrp="1"/>
          </p:cNvSpPr>
          <p:nvPr/>
        </p:nvSpPr>
        <p:spPr>
          <a:xfrm>
            <a:off x="9734368" y="3176588"/>
            <a:ext cx="1924050" cy="228600"/>
          </a:xfrm>
          <a:prstGeom prst="rect">
            <a:avLst/>
          </a:prstGeom>
          <a:noFill/>
          <a:ln w="0">
            <a:noFill/>
            <a:prstDash val="solid"/>
          </a:ln>
        </p:spPr>
        <p:txBody>
          <a:bodyPr wrap="square" lIns="0" tIns="0" rIns="0" bIns="0" anchor="ctr">
            <a:normAutofit/>
          </a:bodyPr>
          <a:p>
            <a:pPr algn="ctr">
              <a:lnSpc>
                <a:spcPct val="100000"/>
              </a:lnSpc>
              <a:buNone/>
              <a:defRPr sz="975" b="0">
                <a:solidFill>
                  <a:srgbClr val="111111"/>
                </a:solidFill>
                <a:latin typeface="微软雅黑" panose="020B0503020204020204" charset="-122"/>
                <a:ea typeface="微软雅黑" panose="020B0503020204020204" charset="-122"/>
                <a:cs typeface="微软雅黑" panose="020B0503020204020204" charset="-122"/>
              </a:defRPr>
            </a:pPr>
            <a:r>
              <a:rPr lang="en-US" sz="975" dirty="0">
                <a:solidFill>
                  <a:srgbClr val="111111"/>
                </a:solidFill>
                <a:latin typeface="微软雅黑" panose="020B0503020204020204" charset="-122"/>
                <a:ea typeface="微软雅黑" panose="020B0503020204020204" charset="-122"/>
                <a:cs typeface="微软雅黑" panose="020B0503020204020204" charset="-122"/>
              </a:rPr>
              <a:t>c) </a:t>
            </a:r>
            <a:r>
              <a:rPr sz="975" b="0" dirty="0" err="1">
                <a:solidFill>
                  <a:srgbClr val="111111"/>
                </a:solidFill>
                <a:latin typeface="微软雅黑" panose="020B0503020204020204" charset="-122"/>
                <a:ea typeface="微软雅黑" panose="020B0503020204020204" charset="-122"/>
                <a:cs typeface="微软雅黑" panose="020B0503020204020204" charset="-122"/>
              </a:rPr>
              <a:t>过渡段方案专利布局</a:t>
            </a:r>
            <a:endParaRPr sz="975"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83" name="矩形: 圆角 82"/>
          <p:cNvSpPr>
            <a:spLocks noGrp="1"/>
          </p:cNvSpPr>
          <p:nvPr/>
        </p:nvSpPr>
        <p:spPr>
          <a:xfrm>
            <a:off x="5572125" y="3571875"/>
            <a:ext cx="6096000" cy="2790825"/>
          </a:xfrm>
          <a:prstGeom prst="roundRect">
            <a:avLst>
              <a:gd name="adj" fmla="val 1706"/>
            </a:avLst>
          </a:prstGeom>
          <a:solidFill>
            <a:srgbClr val="FFFFFF"/>
          </a:solidFill>
          <a:ln w="9525">
            <a:solidFill>
              <a:srgbClr val="C4CAC8"/>
            </a:solidFill>
            <a:prstDash val="solid"/>
          </a:ln>
        </p:spPr>
        <p:txBody>
          <a:bodyPr/>
          <a:p>
            <a:endParaRPr lang="zh-CN" altLang="en-US"/>
          </a:p>
        </p:txBody>
      </p:sp>
      <p:sp>
        <p:nvSpPr>
          <p:cNvPr id="84" name="直接连接符 83"/>
          <p:cNvSpPr>
            <a:spLocks noGrp="1"/>
          </p:cNvSpPr>
          <p:nvPr/>
        </p:nvSpPr>
        <p:spPr>
          <a:xfrm>
            <a:off x="9086850" y="4105275"/>
            <a:ext cx="180975" cy="0"/>
          </a:xfrm>
          <a:prstGeom prst="line">
            <a:avLst/>
          </a:prstGeom>
          <a:noFill/>
          <a:ln w="7620">
            <a:solidFill>
              <a:srgbClr val="8E464A"/>
            </a:solidFill>
            <a:prstDash val="solid"/>
          </a:ln>
        </p:spPr>
        <p:txBody>
          <a:bodyPr/>
          <a:p>
            <a:endParaRPr lang="zh-CN" altLang="en-US"/>
          </a:p>
        </p:txBody>
      </p:sp>
      <p:sp>
        <p:nvSpPr>
          <p:cNvPr id="85" name="直接连接符 84"/>
          <p:cNvSpPr>
            <a:spLocks noGrp="1"/>
          </p:cNvSpPr>
          <p:nvPr/>
        </p:nvSpPr>
        <p:spPr>
          <a:xfrm>
            <a:off x="9086850" y="4371975"/>
            <a:ext cx="85725" cy="0"/>
          </a:xfrm>
          <a:prstGeom prst="line">
            <a:avLst/>
          </a:prstGeom>
          <a:noFill/>
          <a:ln w="7620">
            <a:solidFill>
              <a:srgbClr val="8E464A"/>
            </a:solidFill>
            <a:prstDash val="solid"/>
          </a:ln>
        </p:spPr>
        <p:txBody>
          <a:bodyPr/>
          <a:p>
            <a:endParaRPr lang="zh-CN" altLang="en-US"/>
          </a:p>
        </p:txBody>
      </p:sp>
      <p:sp>
        <p:nvSpPr>
          <p:cNvPr id="86" name="直接连接符 85"/>
          <p:cNvSpPr>
            <a:spLocks noGrp="1"/>
          </p:cNvSpPr>
          <p:nvPr/>
        </p:nvSpPr>
        <p:spPr>
          <a:xfrm>
            <a:off x="9086850" y="4648200"/>
            <a:ext cx="180975" cy="0"/>
          </a:xfrm>
          <a:prstGeom prst="line">
            <a:avLst/>
          </a:prstGeom>
          <a:noFill/>
          <a:ln w="7620">
            <a:solidFill>
              <a:srgbClr val="8E464A"/>
            </a:solidFill>
            <a:prstDash val="solid"/>
          </a:ln>
        </p:spPr>
        <p:txBody>
          <a:bodyPr/>
          <a:p>
            <a:endParaRPr lang="zh-CN" altLang="en-US"/>
          </a:p>
        </p:txBody>
      </p:sp>
      <p:sp>
        <p:nvSpPr>
          <p:cNvPr id="87" name="直接连接符 86"/>
          <p:cNvSpPr>
            <a:spLocks noGrp="1"/>
          </p:cNvSpPr>
          <p:nvPr/>
        </p:nvSpPr>
        <p:spPr>
          <a:xfrm>
            <a:off x="9086850" y="4924425"/>
            <a:ext cx="123825" cy="0"/>
          </a:xfrm>
          <a:prstGeom prst="line">
            <a:avLst/>
          </a:prstGeom>
          <a:noFill/>
          <a:ln w="7620">
            <a:solidFill>
              <a:srgbClr val="8E464A"/>
            </a:solidFill>
            <a:prstDash val="solid"/>
          </a:ln>
        </p:spPr>
        <p:txBody>
          <a:bodyPr/>
          <a:p>
            <a:endParaRPr lang="zh-CN" altLang="en-US"/>
          </a:p>
        </p:txBody>
      </p:sp>
      <p:sp>
        <p:nvSpPr>
          <p:cNvPr id="88" name="直接连接符 87"/>
          <p:cNvSpPr>
            <a:spLocks noGrp="1"/>
          </p:cNvSpPr>
          <p:nvPr/>
        </p:nvSpPr>
        <p:spPr>
          <a:xfrm>
            <a:off x="9086850" y="5200650"/>
            <a:ext cx="190500" cy="0"/>
          </a:xfrm>
          <a:prstGeom prst="line">
            <a:avLst/>
          </a:prstGeom>
          <a:noFill/>
          <a:ln w="7620">
            <a:solidFill>
              <a:srgbClr val="8E464A"/>
            </a:solidFill>
            <a:prstDash val="solid"/>
          </a:ln>
        </p:spPr>
        <p:txBody>
          <a:bodyPr/>
          <a:p>
            <a:endParaRPr lang="zh-CN" altLang="en-US"/>
          </a:p>
        </p:txBody>
      </p:sp>
      <p:sp>
        <p:nvSpPr>
          <p:cNvPr id="89" name="直接连接符 88"/>
          <p:cNvSpPr>
            <a:spLocks noGrp="1"/>
          </p:cNvSpPr>
          <p:nvPr/>
        </p:nvSpPr>
        <p:spPr>
          <a:xfrm>
            <a:off x="9086850" y="5486400"/>
            <a:ext cx="190500" cy="0"/>
          </a:xfrm>
          <a:prstGeom prst="line">
            <a:avLst/>
          </a:prstGeom>
          <a:noFill/>
          <a:ln w="7620">
            <a:solidFill>
              <a:srgbClr val="8E464A"/>
            </a:solidFill>
            <a:prstDash val="solid"/>
          </a:ln>
        </p:spPr>
        <p:txBody>
          <a:bodyPr/>
          <a:p>
            <a:endParaRPr lang="zh-CN" altLang="en-US"/>
          </a:p>
        </p:txBody>
      </p:sp>
      <p:sp>
        <p:nvSpPr>
          <p:cNvPr id="90" name="直接连接符 89"/>
          <p:cNvSpPr>
            <a:spLocks noGrp="1"/>
          </p:cNvSpPr>
          <p:nvPr/>
        </p:nvSpPr>
        <p:spPr>
          <a:xfrm>
            <a:off x="9086850" y="5791200"/>
            <a:ext cx="190500" cy="0"/>
          </a:xfrm>
          <a:prstGeom prst="line">
            <a:avLst/>
          </a:prstGeom>
          <a:noFill/>
          <a:ln w="7620">
            <a:solidFill>
              <a:srgbClr val="8E464A"/>
            </a:solidFill>
            <a:prstDash val="solid"/>
          </a:ln>
        </p:spPr>
        <p:txBody>
          <a:bodyPr/>
          <a:p>
            <a:endParaRPr lang="zh-CN" altLang="en-US"/>
          </a:p>
        </p:txBody>
      </p:sp>
      <p:sp>
        <p:nvSpPr>
          <p:cNvPr id="91" name="直接连接符 90"/>
          <p:cNvSpPr>
            <a:spLocks noGrp="1"/>
          </p:cNvSpPr>
          <p:nvPr/>
        </p:nvSpPr>
        <p:spPr>
          <a:xfrm>
            <a:off x="9086850" y="6019800"/>
            <a:ext cx="190500" cy="0"/>
          </a:xfrm>
          <a:prstGeom prst="line">
            <a:avLst/>
          </a:prstGeom>
          <a:noFill/>
          <a:ln w="7620">
            <a:solidFill>
              <a:srgbClr val="8E464A"/>
            </a:solidFill>
            <a:prstDash val="solid"/>
          </a:ln>
        </p:spPr>
        <p:txBody>
          <a:bodyPr/>
          <a:p>
            <a:endParaRPr lang="zh-CN" altLang="en-US"/>
          </a:p>
        </p:txBody>
      </p:sp>
      <p:sp>
        <p:nvSpPr>
          <p:cNvPr id="92" name="矩形 91"/>
          <p:cNvSpPr>
            <a:spLocks noGrp="1"/>
          </p:cNvSpPr>
          <p:nvPr/>
        </p:nvSpPr>
        <p:spPr>
          <a:xfrm>
            <a:off x="6534150" y="3714750"/>
            <a:ext cx="1562100" cy="723900"/>
          </a:xfrm>
          <a:prstGeom prst="rect">
            <a:avLst/>
          </a:prstGeom>
          <a:solidFill>
            <a:srgbClr val="8192DB"/>
          </a:solidFill>
          <a:ln w="9525">
            <a:solidFill>
              <a:srgbClr val="6978A9"/>
            </a:solidFill>
            <a:prstDash val="solid"/>
          </a:ln>
        </p:spPr>
        <p:txBody>
          <a:bodyPr/>
          <a:p>
            <a:endParaRPr lang="zh-CN" altLang="en-US"/>
          </a:p>
        </p:txBody>
      </p:sp>
      <p:sp>
        <p:nvSpPr>
          <p:cNvPr id="93" name="矩形 92"/>
          <p:cNvSpPr>
            <a:spLocks noGrp="1"/>
          </p:cNvSpPr>
          <p:nvPr/>
        </p:nvSpPr>
        <p:spPr>
          <a:xfrm>
            <a:off x="6534150" y="3714750"/>
            <a:ext cx="209550" cy="723900"/>
          </a:xfrm>
          <a:prstGeom prst="rect">
            <a:avLst/>
          </a:prstGeom>
          <a:solidFill>
            <a:srgbClr val="7387D1"/>
          </a:solidFill>
          <a:ln w="0">
            <a:noFill/>
            <a:prstDash val="solid"/>
          </a:ln>
        </p:spPr>
        <p:txBody>
          <a:bodyPr/>
          <a:p>
            <a:endParaRPr lang="zh-CN" altLang="en-US"/>
          </a:p>
        </p:txBody>
      </p:sp>
      <p:sp>
        <p:nvSpPr>
          <p:cNvPr id="94" name="矩形 93"/>
          <p:cNvSpPr>
            <a:spLocks noGrp="1"/>
          </p:cNvSpPr>
          <p:nvPr/>
        </p:nvSpPr>
        <p:spPr>
          <a:xfrm>
            <a:off x="6724650" y="3714750"/>
            <a:ext cx="114300" cy="723900"/>
          </a:xfrm>
          <a:prstGeom prst="rect">
            <a:avLst/>
          </a:prstGeom>
          <a:solidFill>
            <a:srgbClr val="8899E2"/>
          </a:solidFill>
          <a:ln w="0">
            <a:noFill/>
            <a:prstDash val="solid"/>
          </a:ln>
        </p:spPr>
        <p:txBody>
          <a:bodyPr/>
          <a:p>
            <a:endParaRPr lang="zh-CN" altLang="en-US"/>
          </a:p>
        </p:txBody>
      </p:sp>
      <p:sp>
        <p:nvSpPr>
          <p:cNvPr id="95" name="直接连接符 94"/>
          <p:cNvSpPr>
            <a:spLocks noGrp="1"/>
          </p:cNvSpPr>
          <p:nvPr/>
        </p:nvSpPr>
        <p:spPr>
          <a:xfrm>
            <a:off x="6534150" y="4438650"/>
            <a:ext cx="1562100" cy="0"/>
          </a:xfrm>
          <a:prstGeom prst="line">
            <a:avLst/>
          </a:prstGeom>
          <a:noFill/>
          <a:ln w="19050">
            <a:solidFill>
              <a:srgbClr val="565E61"/>
            </a:solidFill>
            <a:prstDash val="solid"/>
          </a:ln>
        </p:spPr>
        <p:txBody>
          <a:bodyPr/>
          <a:p>
            <a:endParaRPr lang="zh-CN" altLang="en-US"/>
          </a:p>
        </p:txBody>
      </p:sp>
      <p:sp>
        <p:nvSpPr>
          <p:cNvPr id="96" name="矩形 95"/>
          <p:cNvSpPr>
            <a:spLocks noGrp="1"/>
          </p:cNvSpPr>
          <p:nvPr/>
        </p:nvSpPr>
        <p:spPr>
          <a:xfrm>
            <a:off x="6534150" y="4457700"/>
            <a:ext cx="1562100" cy="933450"/>
          </a:xfrm>
          <a:prstGeom prst="rect">
            <a:avLst/>
          </a:prstGeom>
          <a:solidFill>
            <a:srgbClr val="555C5D"/>
          </a:solidFill>
          <a:ln w="9525">
            <a:solidFill>
              <a:srgbClr val="3F4546"/>
            </a:solidFill>
            <a:prstDash val="solid"/>
          </a:ln>
        </p:spPr>
        <p:txBody>
          <a:bodyPr/>
          <a:p>
            <a:endParaRPr lang="zh-CN" altLang="en-US"/>
          </a:p>
        </p:txBody>
      </p:sp>
      <p:sp>
        <p:nvSpPr>
          <p:cNvPr id="97" name="矩形 96"/>
          <p:cNvSpPr>
            <a:spLocks noGrp="1"/>
          </p:cNvSpPr>
          <p:nvPr/>
        </p:nvSpPr>
        <p:spPr>
          <a:xfrm>
            <a:off x="6667500" y="4524375"/>
            <a:ext cx="171450" cy="838200"/>
          </a:xfrm>
          <a:prstGeom prst="rect">
            <a:avLst/>
          </a:prstGeom>
          <a:solidFill>
            <a:srgbClr val="626A6C"/>
          </a:solidFill>
          <a:ln w="0">
            <a:noFill/>
            <a:prstDash val="solid"/>
          </a:ln>
        </p:spPr>
        <p:txBody>
          <a:bodyPr/>
          <a:p>
            <a:endParaRPr lang="zh-CN" altLang="en-US"/>
          </a:p>
        </p:txBody>
      </p:sp>
      <p:sp>
        <p:nvSpPr>
          <p:cNvPr id="98" name="直接连接符 97"/>
          <p:cNvSpPr>
            <a:spLocks noGrp="1"/>
          </p:cNvSpPr>
          <p:nvPr/>
        </p:nvSpPr>
        <p:spPr>
          <a:xfrm>
            <a:off x="6553200" y="4581525"/>
            <a:ext cx="1524000" cy="0"/>
          </a:xfrm>
          <a:prstGeom prst="line">
            <a:avLst/>
          </a:prstGeom>
          <a:noFill/>
          <a:ln w="9525">
            <a:solidFill>
              <a:srgbClr val="D5D7D6"/>
            </a:solidFill>
            <a:prstDash val="solid"/>
          </a:ln>
        </p:spPr>
        <p:txBody>
          <a:bodyPr/>
          <a:p>
            <a:endParaRPr lang="zh-CN" altLang="en-US"/>
          </a:p>
        </p:txBody>
      </p:sp>
      <p:sp>
        <p:nvSpPr>
          <p:cNvPr id="99" name="椭圆 98"/>
          <p:cNvSpPr>
            <a:spLocks noGrp="1"/>
          </p:cNvSpPr>
          <p:nvPr/>
        </p:nvSpPr>
        <p:spPr>
          <a:xfrm>
            <a:off x="6591300" y="4552950"/>
            <a:ext cx="23813" cy="23813"/>
          </a:xfrm>
          <a:prstGeom prst="ellipse">
            <a:avLst/>
          </a:prstGeom>
          <a:solidFill>
            <a:srgbClr val="E1E4E3"/>
          </a:solidFill>
          <a:ln w="0">
            <a:noFill/>
            <a:prstDash val="solid"/>
          </a:ln>
        </p:spPr>
        <p:txBody>
          <a:bodyPr/>
          <a:p>
            <a:endParaRPr lang="zh-CN" altLang="en-US"/>
          </a:p>
        </p:txBody>
      </p:sp>
      <p:sp>
        <p:nvSpPr>
          <p:cNvPr id="100" name="椭圆 99"/>
          <p:cNvSpPr>
            <a:spLocks noGrp="1"/>
          </p:cNvSpPr>
          <p:nvPr/>
        </p:nvSpPr>
        <p:spPr>
          <a:xfrm>
            <a:off x="6671310" y="4552950"/>
            <a:ext cx="23813" cy="23813"/>
          </a:xfrm>
          <a:prstGeom prst="ellipse">
            <a:avLst/>
          </a:prstGeom>
          <a:solidFill>
            <a:srgbClr val="E1E4E3"/>
          </a:solidFill>
          <a:ln w="0">
            <a:noFill/>
            <a:prstDash val="solid"/>
          </a:ln>
        </p:spPr>
        <p:txBody>
          <a:bodyPr/>
          <a:p>
            <a:endParaRPr lang="zh-CN" altLang="en-US"/>
          </a:p>
        </p:txBody>
      </p:sp>
      <p:sp>
        <p:nvSpPr>
          <p:cNvPr id="101" name="椭圆 100"/>
          <p:cNvSpPr>
            <a:spLocks noGrp="1"/>
          </p:cNvSpPr>
          <p:nvPr/>
        </p:nvSpPr>
        <p:spPr>
          <a:xfrm>
            <a:off x="6751320" y="4552950"/>
            <a:ext cx="23813" cy="23813"/>
          </a:xfrm>
          <a:prstGeom prst="ellipse">
            <a:avLst/>
          </a:prstGeom>
          <a:solidFill>
            <a:srgbClr val="E1E4E3"/>
          </a:solidFill>
          <a:ln w="0">
            <a:noFill/>
            <a:prstDash val="solid"/>
          </a:ln>
        </p:spPr>
        <p:txBody>
          <a:bodyPr/>
          <a:p>
            <a:endParaRPr lang="zh-CN" altLang="en-US"/>
          </a:p>
        </p:txBody>
      </p:sp>
      <p:sp>
        <p:nvSpPr>
          <p:cNvPr id="102" name="椭圆 101"/>
          <p:cNvSpPr>
            <a:spLocks noGrp="1"/>
          </p:cNvSpPr>
          <p:nvPr/>
        </p:nvSpPr>
        <p:spPr>
          <a:xfrm>
            <a:off x="6831330" y="4552950"/>
            <a:ext cx="23813" cy="23813"/>
          </a:xfrm>
          <a:prstGeom prst="ellipse">
            <a:avLst/>
          </a:prstGeom>
          <a:solidFill>
            <a:srgbClr val="E1E4E3"/>
          </a:solidFill>
          <a:ln w="0">
            <a:noFill/>
            <a:prstDash val="solid"/>
          </a:ln>
        </p:spPr>
        <p:txBody>
          <a:bodyPr/>
          <a:p>
            <a:endParaRPr lang="zh-CN" altLang="en-US"/>
          </a:p>
        </p:txBody>
      </p:sp>
      <p:sp>
        <p:nvSpPr>
          <p:cNvPr id="103" name="椭圆 102"/>
          <p:cNvSpPr>
            <a:spLocks noGrp="1"/>
          </p:cNvSpPr>
          <p:nvPr/>
        </p:nvSpPr>
        <p:spPr>
          <a:xfrm>
            <a:off x="6911340" y="4552950"/>
            <a:ext cx="23813" cy="23813"/>
          </a:xfrm>
          <a:prstGeom prst="ellipse">
            <a:avLst/>
          </a:prstGeom>
          <a:solidFill>
            <a:srgbClr val="E1E4E3"/>
          </a:solidFill>
          <a:ln w="0">
            <a:noFill/>
            <a:prstDash val="solid"/>
          </a:ln>
        </p:spPr>
        <p:txBody>
          <a:bodyPr/>
          <a:p>
            <a:endParaRPr lang="zh-CN" altLang="en-US"/>
          </a:p>
        </p:txBody>
      </p:sp>
      <p:sp>
        <p:nvSpPr>
          <p:cNvPr id="104" name="椭圆 103"/>
          <p:cNvSpPr>
            <a:spLocks noGrp="1"/>
          </p:cNvSpPr>
          <p:nvPr/>
        </p:nvSpPr>
        <p:spPr>
          <a:xfrm>
            <a:off x="6991350" y="4552950"/>
            <a:ext cx="23813" cy="23813"/>
          </a:xfrm>
          <a:prstGeom prst="ellipse">
            <a:avLst/>
          </a:prstGeom>
          <a:solidFill>
            <a:srgbClr val="E1E4E3"/>
          </a:solidFill>
          <a:ln w="0">
            <a:noFill/>
            <a:prstDash val="solid"/>
          </a:ln>
        </p:spPr>
        <p:txBody>
          <a:bodyPr/>
          <a:p>
            <a:endParaRPr lang="zh-CN" altLang="en-US"/>
          </a:p>
        </p:txBody>
      </p:sp>
      <p:sp>
        <p:nvSpPr>
          <p:cNvPr id="105" name="椭圆 104"/>
          <p:cNvSpPr>
            <a:spLocks noGrp="1"/>
          </p:cNvSpPr>
          <p:nvPr/>
        </p:nvSpPr>
        <p:spPr>
          <a:xfrm>
            <a:off x="7071360" y="4552950"/>
            <a:ext cx="23813" cy="23813"/>
          </a:xfrm>
          <a:prstGeom prst="ellipse">
            <a:avLst/>
          </a:prstGeom>
          <a:solidFill>
            <a:srgbClr val="E1E4E3"/>
          </a:solidFill>
          <a:ln w="0">
            <a:noFill/>
            <a:prstDash val="solid"/>
          </a:ln>
        </p:spPr>
        <p:txBody>
          <a:bodyPr/>
          <a:p>
            <a:endParaRPr lang="zh-CN" altLang="en-US"/>
          </a:p>
        </p:txBody>
      </p:sp>
      <p:sp>
        <p:nvSpPr>
          <p:cNvPr id="106" name="椭圆 105"/>
          <p:cNvSpPr>
            <a:spLocks noGrp="1"/>
          </p:cNvSpPr>
          <p:nvPr/>
        </p:nvSpPr>
        <p:spPr>
          <a:xfrm>
            <a:off x="7151370" y="4552950"/>
            <a:ext cx="23813" cy="23813"/>
          </a:xfrm>
          <a:prstGeom prst="ellipse">
            <a:avLst/>
          </a:prstGeom>
          <a:solidFill>
            <a:srgbClr val="E1E4E3"/>
          </a:solidFill>
          <a:ln w="0">
            <a:noFill/>
            <a:prstDash val="solid"/>
          </a:ln>
        </p:spPr>
        <p:txBody>
          <a:bodyPr/>
          <a:p>
            <a:endParaRPr lang="zh-CN" altLang="en-US"/>
          </a:p>
        </p:txBody>
      </p:sp>
      <p:sp>
        <p:nvSpPr>
          <p:cNvPr id="107" name="椭圆 106"/>
          <p:cNvSpPr>
            <a:spLocks noGrp="1"/>
          </p:cNvSpPr>
          <p:nvPr/>
        </p:nvSpPr>
        <p:spPr>
          <a:xfrm>
            <a:off x="7231380" y="4552950"/>
            <a:ext cx="23813" cy="23813"/>
          </a:xfrm>
          <a:prstGeom prst="ellipse">
            <a:avLst/>
          </a:prstGeom>
          <a:solidFill>
            <a:srgbClr val="E1E4E3"/>
          </a:solidFill>
          <a:ln w="0">
            <a:noFill/>
            <a:prstDash val="solid"/>
          </a:ln>
        </p:spPr>
        <p:txBody>
          <a:bodyPr/>
          <a:p>
            <a:endParaRPr lang="zh-CN" altLang="en-US"/>
          </a:p>
        </p:txBody>
      </p:sp>
      <p:sp>
        <p:nvSpPr>
          <p:cNvPr id="108" name="椭圆 107"/>
          <p:cNvSpPr>
            <a:spLocks noGrp="1"/>
          </p:cNvSpPr>
          <p:nvPr/>
        </p:nvSpPr>
        <p:spPr>
          <a:xfrm>
            <a:off x="7311390" y="4552950"/>
            <a:ext cx="23813" cy="23813"/>
          </a:xfrm>
          <a:prstGeom prst="ellipse">
            <a:avLst/>
          </a:prstGeom>
          <a:solidFill>
            <a:srgbClr val="E1E4E3"/>
          </a:solidFill>
          <a:ln w="0">
            <a:noFill/>
            <a:prstDash val="solid"/>
          </a:ln>
        </p:spPr>
        <p:txBody>
          <a:bodyPr/>
          <a:p>
            <a:endParaRPr lang="zh-CN" altLang="en-US"/>
          </a:p>
        </p:txBody>
      </p:sp>
      <p:sp>
        <p:nvSpPr>
          <p:cNvPr id="109" name="椭圆 108"/>
          <p:cNvSpPr>
            <a:spLocks noGrp="1"/>
          </p:cNvSpPr>
          <p:nvPr/>
        </p:nvSpPr>
        <p:spPr>
          <a:xfrm>
            <a:off x="7391400" y="4552950"/>
            <a:ext cx="23813" cy="23813"/>
          </a:xfrm>
          <a:prstGeom prst="ellipse">
            <a:avLst/>
          </a:prstGeom>
          <a:solidFill>
            <a:srgbClr val="E1E4E3"/>
          </a:solidFill>
          <a:ln w="0">
            <a:noFill/>
            <a:prstDash val="solid"/>
          </a:ln>
        </p:spPr>
        <p:txBody>
          <a:bodyPr/>
          <a:p>
            <a:endParaRPr lang="zh-CN" altLang="en-US"/>
          </a:p>
        </p:txBody>
      </p:sp>
      <p:sp>
        <p:nvSpPr>
          <p:cNvPr id="110" name="椭圆 109"/>
          <p:cNvSpPr>
            <a:spLocks noGrp="1"/>
          </p:cNvSpPr>
          <p:nvPr/>
        </p:nvSpPr>
        <p:spPr>
          <a:xfrm>
            <a:off x="7471410" y="4552950"/>
            <a:ext cx="23813" cy="23813"/>
          </a:xfrm>
          <a:prstGeom prst="ellipse">
            <a:avLst/>
          </a:prstGeom>
          <a:solidFill>
            <a:srgbClr val="E1E4E3"/>
          </a:solidFill>
          <a:ln w="0">
            <a:noFill/>
            <a:prstDash val="solid"/>
          </a:ln>
        </p:spPr>
        <p:txBody>
          <a:bodyPr/>
          <a:p>
            <a:endParaRPr lang="zh-CN" altLang="en-US"/>
          </a:p>
        </p:txBody>
      </p:sp>
      <p:sp>
        <p:nvSpPr>
          <p:cNvPr id="111" name="椭圆 110"/>
          <p:cNvSpPr>
            <a:spLocks noGrp="1"/>
          </p:cNvSpPr>
          <p:nvPr/>
        </p:nvSpPr>
        <p:spPr>
          <a:xfrm>
            <a:off x="7551420" y="4552950"/>
            <a:ext cx="23813" cy="23813"/>
          </a:xfrm>
          <a:prstGeom prst="ellipse">
            <a:avLst/>
          </a:prstGeom>
          <a:solidFill>
            <a:srgbClr val="E1E4E3"/>
          </a:solidFill>
          <a:ln w="0">
            <a:noFill/>
            <a:prstDash val="solid"/>
          </a:ln>
        </p:spPr>
        <p:txBody>
          <a:bodyPr/>
          <a:p>
            <a:endParaRPr lang="zh-CN" altLang="en-US"/>
          </a:p>
        </p:txBody>
      </p:sp>
      <p:sp>
        <p:nvSpPr>
          <p:cNvPr id="112" name="椭圆 111"/>
          <p:cNvSpPr>
            <a:spLocks noGrp="1"/>
          </p:cNvSpPr>
          <p:nvPr/>
        </p:nvSpPr>
        <p:spPr>
          <a:xfrm>
            <a:off x="7631430" y="4552950"/>
            <a:ext cx="23813" cy="23813"/>
          </a:xfrm>
          <a:prstGeom prst="ellipse">
            <a:avLst/>
          </a:prstGeom>
          <a:solidFill>
            <a:srgbClr val="E1E4E3"/>
          </a:solidFill>
          <a:ln w="0">
            <a:noFill/>
            <a:prstDash val="solid"/>
          </a:ln>
        </p:spPr>
        <p:txBody>
          <a:bodyPr/>
          <a:p>
            <a:endParaRPr lang="zh-CN" altLang="en-US"/>
          </a:p>
        </p:txBody>
      </p:sp>
      <p:sp>
        <p:nvSpPr>
          <p:cNvPr id="113" name="椭圆 112"/>
          <p:cNvSpPr>
            <a:spLocks noGrp="1"/>
          </p:cNvSpPr>
          <p:nvPr/>
        </p:nvSpPr>
        <p:spPr>
          <a:xfrm>
            <a:off x="7711440" y="4552950"/>
            <a:ext cx="23813" cy="23813"/>
          </a:xfrm>
          <a:prstGeom prst="ellipse">
            <a:avLst/>
          </a:prstGeom>
          <a:solidFill>
            <a:srgbClr val="E1E4E3"/>
          </a:solidFill>
          <a:ln w="0">
            <a:noFill/>
            <a:prstDash val="solid"/>
          </a:ln>
        </p:spPr>
        <p:txBody>
          <a:bodyPr/>
          <a:p>
            <a:endParaRPr lang="zh-CN" altLang="en-US"/>
          </a:p>
        </p:txBody>
      </p:sp>
      <p:sp>
        <p:nvSpPr>
          <p:cNvPr id="114" name="椭圆 113"/>
          <p:cNvSpPr>
            <a:spLocks noGrp="1"/>
          </p:cNvSpPr>
          <p:nvPr/>
        </p:nvSpPr>
        <p:spPr>
          <a:xfrm>
            <a:off x="7791450" y="4552950"/>
            <a:ext cx="23813" cy="23813"/>
          </a:xfrm>
          <a:prstGeom prst="ellipse">
            <a:avLst/>
          </a:prstGeom>
          <a:solidFill>
            <a:srgbClr val="E1E4E3"/>
          </a:solidFill>
          <a:ln w="0">
            <a:noFill/>
            <a:prstDash val="solid"/>
          </a:ln>
        </p:spPr>
        <p:txBody>
          <a:bodyPr/>
          <a:p>
            <a:endParaRPr lang="zh-CN" altLang="en-US"/>
          </a:p>
        </p:txBody>
      </p:sp>
      <p:sp>
        <p:nvSpPr>
          <p:cNvPr id="115" name="椭圆 114"/>
          <p:cNvSpPr>
            <a:spLocks noGrp="1"/>
          </p:cNvSpPr>
          <p:nvPr/>
        </p:nvSpPr>
        <p:spPr>
          <a:xfrm>
            <a:off x="7871460" y="4552950"/>
            <a:ext cx="23813" cy="23813"/>
          </a:xfrm>
          <a:prstGeom prst="ellipse">
            <a:avLst/>
          </a:prstGeom>
          <a:solidFill>
            <a:srgbClr val="E1E4E3"/>
          </a:solidFill>
          <a:ln w="0">
            <a:noFill/>
            <a:prstDash val="solid"/>
          </a:ln>
        </p:spPr>
        <p:txBody>
          <a:bodyPr/>
          <a:p>
            <a:endParaRPr lang="zh-CN" altLang="en-US"/>
          </a:p>
        </p:txBody>
      </p:sp>
      <p:sp>
        <p:nvSpPr>
          <p:cNvPr id="116" name="椭圆 115"/>
          <p:cNvSpPr>
            <a:spLocks noGrp="1"/>
          </p:cNvSpPr>
          <p:nvPr/>
        </p:nvSpPr>
        <p:spPr>
          <a:xfrm>
            <a:off x="7951470" y="4552950"/>
            <a:ext cx="23813" cy="23813"/>
          </a:xfrm>
          <a:prstGeom prst="ellipse">
            <a:avLst/>
          </a:prstGeom>
          <a:solidFill>
            <a:srgbClr val="E1E4E3"/>
          </a:solidFill>
          <a:ln w="0">
            <a:noFill/>
            <a:prstDash val="solid"/>
          </a:ln>
        </p:spPr>
        <p:txBody>
          <a:bodyPr/>
          <a:p>
            <a:endParaRPr lang="zh-CN" altLang="en-US"/>
          </a:p>
        </p:txBody>
      </p:sp>
      <p:sp>
        <p:nvSpPr>
          <p:cNvPr id="117" name="梯形 116"/>
          <p:cNvSpPr>
            <a:spLocks noGrp="1"/>
          </p:cNvSpPr>
          <p:nvPr/>
        </p:nvSpPr>
        <p:spPr>
          <a:xfrm>
            <a:off x="6343650" y="5334000"/>
            <a:ext cx="1952625" cy="752475"/>
          </a:xfrm>
          <a:prstGeom prst="trapezoid">
            <a:avLst/>
          </a:prstGeom>
          <a:solidFill>
            <a:srgbClr val="91AABD"/>
          </a:solidFill>
          <a:ln w="9525">
            <a:solidFill>
              <a:srgbClr val="778E9F"/>
            </a:solidFill>
            <a:prstDash val="solid"/>
          </a:ln>
        </p:spPr>
        <p:txBody>
          <a:bodyPr/>
          <a:p>
            <a:endParaRPr lang="zh-CN" altLang="en-US"/>
          </a:p>
        </p:txBody>
      </p:sp>
      <p:sp>
        <p:nvSpPr>
          <p:cNvPr id="118" name="矩形 117"/>
          <p:cNvSpPr>
            <a:spLocks noGrp="1"/>
          </p:cNvSpPr>
          <p:nvPr/>
        </p:nvSpPr>
        <p:spPr>
          <a:xfrm>
            <a:off x="6629400" y="5334000"/>
            <a:ext cx="1381125" cy="752475"/>
          </a:xfrm>
          <a:prstGeom prst="rect">
            <a:avLst/>
          </a:prstGeom>
          <a:solidFill>
            <a:srgbClr val="8BA5B8"/>
          </a:solidFill>
          <a:ln w="0">
            <a:noFill/>
            <a:prstDash val="solid"/>
          </a:ln>
        </p:spPr>
        <p:txBody>
          <a:bodyPr/>
          <a:p>
            <a:endParaRPr lang="zh-CN" altLang="en-US"/>
          </a:p>
        </p:txBody>
      </p:sp>
      <p:sp>
        <p:nvSpPr>
          <p:cNvPr id="119" name="矩形 118"/>
          <p:cNvSpPr>
            <a:spLocks noGrp="1"/>
          </p:cNvSpPr>
          <p:nvPr/>
        </p:nvSpPr>
        <p:spPr>
          <a:xfrm>
            <a:off x="6877050" y="6115050"/>
            <a:ext cx="914400" cy="200025"/>
          </a:xfrm>
          <a:prstGeom prst="rect">
            <a:avLst/>
          </a:prstGeom>
          <a:noFill/>
          <a:ln w="0">
            <a:noFill/>
            <a:prstDash val="solid"/>
          </a:ln>
        </p:spPr>
        <p:txBody>
          <a:bodyPr wrap="square" lIns="0" tIns="0" rIns="0" bIns="0" anchor="ctr">
            <a:normAutofit/>
          </a:bodyPr>
          <a:p>
            <a:pPr algn="ctr">
              <a:lnSpc>
                <a:spcPct val="100000"/>
              </a:lnSpc>
              <a:buNone/>
              <a:defRPr sz="975" b="0">
                <a:solidFill>
                  <a:srgbClr val="111111"/>
                </a:solidFill>
                <a:latin typeface="微软雅黑" panose="020B0503020204020204" charset="-122"/>
                <a:ea typeface="微软雅黑" panose="020B0503020204020204" charset="-122"/>
                <a:cs typeface="微软雅黑" panose="020B0503020204020204" charset="-122"/>
              </a:defRPr>
            </a:pPr>
            <a:r>
              <a:rPr sz="975" b="0">
                <a:solidFill>
                  <a:srgbClr val="111111"/>
                </a:solidFill>
                <a:latin typeface="微软雅黑" panose="020B0503020204020204" charset="-122"/>
                <a:ea typeface="微软雅黑" panose="020B0503020204020204" charset="-122"/>
                <a:cs typeface="微软雅黑" panose="020B0503020204020204" charset="-122"/>
              </a:rPr>
              <a:t>a) S1</a:t>
            </a:r>
            <a:endParaRPr sz="9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20" name="矩形 119"/>
          <p:cNvSpPr>
            <a:spLocks noGrp="1"/>
          </p:cNvSpPr>
          <p:nvPr/>
        </p:nvSpPr>
        <p:spPr>
          <a:xfrm>
            <a:off x="9258300" y="3714750"/>
            <a:ext cx="1562100" cy="723900"/>
          </a:xfrm>
          <a:prstGeom prst="rect">
            <a:avLst/>
          </a:prstGeom>
          <a:solidFill>
            <a:srgbClr val="8192DB"/>
          </a:solidFill>
          <a:ln w="9525">
            <a:solidFill>
              <a:srgbClr val="6978A9"/>
            </a:solidFill>
            <a:prstDash val="solid"/>
          </a:ln>
        </p:spPr>
        <p:txBody>
          <a:bodyPr/>
          <a:p>
            <a:endParaRPr lang="zh-CN" altLang="en-US"/>
          </a:p>
        </p:txBody>
      </p:sp>
      <p:sp>
        <p:nvSpPr>
          <p:cNvPr id="121" name="矩形 120"/>
          <p:cNvSpPr>
            <a:spLocks noGrp="1"/>
          </p:cNvSpPr>
          <p:nvPr/>
        </p:nvSpPr>
        <p:spPr>
          <a:xfrm>
            <a:off x="9258300" y="3714750"/>
            <a:ext cx="190500" cy="723900"/>
          </a:xfrm>
          <a:prstGeom prst="rect">
            <a:avLst/>
          </a:prstGeom>
          <a:solidFill>
            <a:srgbClr val="7387D1"/>
          </a:solidFill>
          <a:ln w="0">
            <a:noFill/>
            <a:prstDash val="solid"/>
          </a:ln>
        </p:spPr>
        <p:txBody>
          <a:bodyPr/>
          <a:p>
            <a:endParaRPr lang="zh-CN" altLang="en-US"/>
          </a:p>
        </p:txBody>
      </p:sp>
      <p:sp>
        <p:nvSpPr>
          <p:cNvPr id="122" name="矩形 121"/>
          <p:cNvSpPr>
            <a:spLocks noGrp="1"/>
          </p:cNvSpPr>
          <p:nvPr/>
        </p:nvSpPr>
        <p:spPr>
          <a:xfrm>
            <a:off x="9467850" y="3714750"/>
            <a:ext cx="123825" cy="723900"/>
          </a:xfrm>
          <a:prstGeom prst="rect">
            <a:avLst/>
          </a:prstGeom>
          <a:solidFill>
            <a:srgbClr val="8A9AE3"/>
          </a:solidFill>
          <a:ln w="0">
            <a:noFill/>
            <a:prstDash val="solid"/>
          </a:ln>
        </p:spPr>
        <p:txBody>
          <a:bodyPr/>
          <a:p>
            <a:endParaRPr lang="zh-CN" altLang="en-US"/>
          </a:p>
        </p:txBody>
      </p:sp>
      <p:sp>
        <p:nvSpPr>
          <p:cNvPr id="123" name="矩形 122"/>
          <p:cNvSpPr>
            <a:spLocks noGrp="1"/>
          </p:cNvSpPr>
          <p:nvPr/>
        </p:nvSpPr>
        <p:spPr>
          <a:xfrm>
            <a:off x="9096375" y="4410075"/>
            <a:ext cx="1885950" cy="161925"/>
          </a:xfrm>
          <a:prstGeom prst="rect">
            <a:avLst/>
          </a:prstGeom>
          <a:solidFill>
            <a:srgbClr val="78858B"/>
          </a:solidFill>
          <a:ln w="9525">
            <a:solidFill>
              <a:srgbClr val="515B60"/>
            </a:solidFill>
            <a:prstDash val="solid"/>
          </a:ln>
        </p:spPr>
        <p:txBody>
          <a:bodyPr/>
          <a:p>
            <a:endParaRPr lang="zh-CN" altLang="en-US"/>
          </a:p>
        </p:txBody>
      </p:sp>
      <p:sp>
        <p:nvSpPr>
          <p:cNvPr id="124" name="矩形 123"/>
          <p:cNvSpPr>
            <a:spLocks noGrp="1"/>
          </p:cNvSpPr>
          <p:nvPr/>
        </p:nvSpPr>
        <p:spPr>
          <a:xfrm>
            <a:off x="9248775" y="4438650"/>
            <a:ext cx="47625" cy="114300"/>
          </a:xfrm>
          <a:prstGeom prst="rect">
            <a:avLst/>
          </a:prstGeom>
          <a:solidFill>
            <a:srgbClr val="373B3D"/>
          </a:solidFill>
          <a:ln w="0">
            <a:noFill/>
            <a:prstDash val="solid"/>
          </a:ln>
        </p:spPr>
        <p:txBody>
          <a:bodyPr/>
          <a:p>
            <a:endParaRPr lang="zh-CN" altLang="en-US"/>
          </a:p>
        </p:txBody>
      </p:sp>
      <p:sp>
        <p:nvSpPr>
          <p:cNvPr id="125" name="矩形 124"/>
          <p:cNvSpPr>
            <a:spLocks noGrp="1"/>
          </p:cNvSpPr>
          <p:nvPr/>
        </p:nvSpPr>
        <p:spPr>
          <a:xfrm>
            <a:off x="9391650" y="4438650"/>
            <a:ext cx="47625" cy="114300"/>
          </a:xfrm>
          <a:prstGeom prst="rect">
            <a:avLst/>
          </a:prstGeom>
          <a:solidFill>
            <a:srgbClr val="C28B50"/>
          </a:solidFill>
          <a:ln w="0">
            <a:noFill/>
            <a:prstDash val="solid"/>
          </a:ln>
        </p:spPr>
        <p:txBody>
          <a:bodyPr/>
          <a:p>
            <a:endParaRPr lang="zh-CN" altLang="en-US"/>
          </a:p>
        </p:txBody>
      </p:sp>
      <p:sp>
        <p:nvSpPr>
          <p:cNvPr id="126" name="矩形 125"/>
          <p:cNvSpPr>
            <a:spLocks noGrp="1"/>
          </p:cNvSpPr>
          <p:nvPr/>
        </p:nvSpPr>
        <p:spPr>
          <a:xfrm>
            <a:off x="9534525" y="4438650"/>
            <a:ext cx="47625" cy="114300"/>
          </a:xfrm>
          <a:prstGeom prst="rect">
            <a:avLst/>
          </a:prstGeom>
          <a:solidFill>
            <a:srgbClr val="373B3D"/>
          </a:solidFill>
          <a:ln w="0">
            <a:noFill/>
            <a:prstDash val="solid"/>
          </a:ln>
        </p:spPr>
        <p:txBody>
          <a:bodyPr/>
          <a:p>
            <a:endParaRPr lang="zh-CN" altLang="en-US"/>
          </a:p>
        </p:txBody>
      </p:sp>
      <p:sp>
        <p:nvSpPr>
          <p:cNvPr id="127" name="矩形 126"/>
          <p:cNvSpPr>
            <a:spLocks noGrp="1"/>
          </p:cNvSpPr>
          <p:nvPr/>
        </p:nvSpPr>
        <p:spPr>
          <a:xfrm>
            <a:off x="9677400" y="4438650"/>
            <a:ext cx="47625" cy="114300"/>
          </a:xfrm>
          <a:prstGeom prst="rect">
            <a:avLst/>
          </a:prstGeom>
          <a:solidFill>
            <a:srgbClr val="C28B50"/>
          </a:solidFill>
          <a:ln w="0">
            <a:noFill/>
            <a:prstDash val="solid"/>
          </a:ln>
        </p:spPr>
        <p:txBody>
          <a:bodyPr/>
          <a:p>
            <a:endParaRPr lang="zh-CN" altLang="en-US"/>
          </a:p>
        </p:txBody>
      </p:sp>
      <p:sp>
        <p:nvSpPr>
          <p:cNvPr id="128" name="矩形 127"/>
          <p:cNvSpPr>
            <a:spLocks noGrp="1"/>
          </p:cNvSpPr>
          <p:nvPr/>
        </p:nvSpPr>
        <p:spPr>
          <a:xfrm>
            <a:off x="9820275" y="4438650"/>
            <a:ext cx="47625" cy="114300"/>
          </a:xfrm>
          <a:prstGeom prst="rect">
            <a:avLst/>
          </a:prstGeom>
          <a:solidFill>
            <a:srgbClr val="373B3D"/>
          </a:solidFill>
          <a:ln w="0">
            <a:noFill/>
            <a:prstDash val="solid"/>
          </a:ln>
        </p:spPr>
        <p:txBody>
          <a:bodyPr/>
          <a:p>
            <a:endParaRPr lang="zh-CN" altLang="en-US"/>
          </a:p>
        </p:txBody>
      </p:sp>
      <p:sp>
        <p:nvSpPr>
          <p:cNvPr id="129" name="矩形 128"/>
          <p:cNvSpPr>
            <a:spLocks noGrp="1"/>
          </p:cNvSpPr>
          <p:nvPr/>
        </p:nvSpPr>
        <p:spPr>
          <a:xfrm>
            <a:off x="9963150" y="4438650"/>
            <a:ext cx="47625" cy="114300"/>
          </a:xfrm>
          <a:prstGeom prst="rect">
            <a:avLst/>
          </a:prstGeom>
          <a:solidFill>
            <a:srgbClr val="C28B50"/>
          </a:solidFill>
          <a:ln w="0">
            <a:noFill/>
            <a:prstDash val="solid"/>
          </a:ln>
        </p:spPr>
        <p:txBody>
          <a:bodyPr/>
          <a:p>
            <a:endParaRPr lang="zh-CN" altLang="en-US"/>
          </a:p>
        </p:txBody>
      </p:sp>
      <p:sp>
        <p:nvSpPr>
          <p:cNvPr id="130" name="矩形 129"/>
          <p:cNvSpPr>
            <a:spLocks noGrp="1"/>
          </p:cNvSpPr>
          <p:nvPr/>
        </p:nvSpPr>
        <p:spPr>
          <a:xfrm>
            <a:off x="10106025" y="4438650"/>
            <a:ext cx="47625" cy="114300"/>
          </a:xfrm>
          <a:prstGeom prst="rect">
            <a:avLst/>
          </a:prstGeom>
          <a:solidFill>
            <a:srgbClr val="373B3D"/>
          </a:solidFill>
          <a:ln w="0">
            <a:noFill/>
            <a:prstDash val="solid"/>
          </a:ln>
        </p:spPr>
        <p:txBody>
          <a:bodyPr/>
          <a:p>
            <a:endParaRPr lang="zh-CN" altLang="en-US"/>
          </a:p>
        </p:txBody>
      </p:sp>
      <p:sp>
        <p:nvSpPr>
          <p:cNvPr id="131" name="矩形 130"/>
          <p:cNvSpPr>
            <a:spLocks noGrp="1"/>
          </p:cNvSpPr>
          <p:nvPr/>
        </p:nvSpPr>
        <p:spPr>
          <a:xfrm>
            <a:off x="10248900" y="4438650"/>
            <a:ext cx="47625" cy="114300"/>
          </a:xfrm>
          <a:prstGeom prst="rect">
            <a:avLst/>
          </a:prstGeom>
          <a:solidFill>
            <a:srgbClr val="C28B50"/>
          </a:solidFill>
          <a:ln w="0">
            <a:noFill/>
            <a:prstDash val="solid"/>
          </a:ln>
        </p:spPr>
        <p:txBody>
          <a:bodyPr/>
          <a:p>
            <a:endParaRPr lang="zh-CN" altLang="en-US"/>
          </a:p>
        </p:txBody>
      </p:sp>
      <p:sp>
        <p:nvSpPr>
          <p:cNvPr id="132" name="矩形 131"/>
          <p:cNvSpPr>
            <a:spLocks noGrp="1"/>
          </p:cNvSpPr>
          <p:nvPr/>
        </p:nvSpPr>
        <p:spPr>
          <a:xfrm>
            <a:off x="10391775" y="4438650"/>
            <a:ext cx="47625" cy="114300"/>
          </a:xfrm>
          <a:prstGeom prst="rect">
            <a:avLst/>
          </a:prstGeom>
          <a:solidFill>
            <a:srgbClr val="373B3D"/>
          </a:solidFill>
          <a:ln w="0">
            <a:noFill/>
            <a:prstDash val="solid"/>
          </a:ln>
        </p:spPr>
        <p:txBody>
          <a:bodyPr/>
          <a:p>
            <a:endParaRPr lang="zh-CN" altLang="en-US"/>
          </a:p>
        </p:txBody>
      </p:sp>
      <p:sp>
        <p:nvSpPr>
          <p:cNvPr id="133" name="矩形 132"/>
          <p:cNvSpPr>
            <a:spLocks noGrp="1"/>
          </p:cNvSpPr>
          <p:nvPr/>
        </p:nvSpPr>
        <p:spPr>
          <a:xfrm>
            <a:off x="10534650" y="4438650"/>
            <a:ext cx="47625" cy="114300"/>
          </a:xfrm>
          <a:prstGeom prst="rect">
            <a:avLst/>
          </a:prstGeom>
          <a:solidFill>
            <a:srgbClr val="C28B50"/>
          </a:solidFill>
          <a:ln w="0">
            <a:noFill/>
            <a:prstDash val="solid"/>
          </a:ln>
        </p:spPr>
        <p:txBody>
          <a:bodyPr/>
          <a:p>
            <a:endParaRPr lang="zh-CN" altLang="en-US"/>
          </a:p>
        </p:txBody>
      </p:sp>
      <p:sp>
        <p:nvSpPr>
          <p:cNvPr id="134" name="矩形 133"/>
          <p:cNvSpPr>
            <a:spLocks noGrp="1"/>
          </p:cNvSpPr>
          <p:nvPr/>
        </p:nvSpPr>
        <p:spPr>
          <a:xfrm>
            <a:off x="10677525" y="4438650"/>
            <a:ext cx="47625" cy="114300"/>
          </a:xfrm>
          <a:prstGeom prst="rect">
            <a:avLst/>
          </a:prstGeom>
          <a:solidFill>
            <a:srgbClr val="373B3D"/>
          </a:solidFill>
          <a:ln w="0">
            <a:noFill/>
            <a:prstDash val="solid"/>
          </a:ln>
        </p:spPr>
        <p:txBody>
          <a:bodyPr/>
          <a:p>
            <a:endParaRPr lang="zh-CN" altLang="en-US"/>
          </a:p>
        </p:txBody>
      </p:sp>
      <p:sp>
        <p:nvSpPr>
          <p:cNvPr id="135" name="矩形 134"/>
          <p:cNvSpPr>
            <a:spLocks noGrp="1"/>
          </p:cNvSpPr>
          <p:nvPr/>
        </p:nvSpPr>
        <p:spPr>
          <a:xfrm>
            <a:off x="9229725" y="4572000"/>
            <a:ext cx="1619250" cy="742950"/>
          </a:xfrm>
          <a:prstGeom prst="rect">
            <a:avLst/>
          </a:prstGeom>
          <a:solidFill>
            <a:srgbClr val="5D6263"/>
          </a:solidFill>
          <a:ln w="9525">
            <a:solidFill>
              <a:srgbClr val="424748"/>
            </a:solidFill>
            <a:prstDash val="solid"/>
          </a:ln>
        </p:spPr>
        <p:txBody>
          <a:bodyPr/>
          <a:p>
            <a:endParaRPr lang="zh-CN" altLang="en-US"/>
          </a:p>
        </p:txBody>
      </p:sp>
      <p:sp>
        <p:nvSpPr>
          <p:cNvPr id="136" name="梯形 135"/>
          <p:cNvSpPr>
            <a:spLocks noGrp="1"/>
          </p:cNvSpPr>
          <p:nvPr/>
        </p:nvSpPr>
        <p:spPr>
          <a:xfrm rot="-300000">
            <a:off x="92773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37" name="梯形 136"/>
          <p:cNvSpPr>
            <a:spLocks noGrp="1"/>
          </p:cNvSpPr>
          <p:nvPr/>
        </p:nvSpPr>
        <p:spPr>
          <a:xfrm rot="-300000">
            <a:off x="94678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38" name="梯形 137"/>
          <p:cNvSpPr>
            <a:spLocks noGrp="1"/>
          </p:cNvSpPr>
          <p:nvPr/>
        </p:nvSpPr>
        <p:spPr>
          <a:xfrm rot="-300000">
            <a:off x="96583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39" name="梯形 138"/>
          <p:cNvSpPr>
            <a:spLocks noGrp="1"/>
          </p:cNvSpPr>
          <p:nvPr/>
        </p:nvSpPr>
        <p:spPr>
          <a:xfrm rot="-300000">
            <a:off x="98488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40" name="梯形 139"/>
          <p:cNvSpPr>
            <a:spLocks noGrp="1"/>
          </p:cNvSpPr>
          <p:nvPr/>
        </p:nvSpPr>
        <p:spPr>
          <a:xfrm rot="300000">
            <a:off x="100393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41" name="梯形 140"/>
          <p:cNvSpPr>
            <a:spLocks noGrp="1"/>
          </p:cNvSpPr>
          <p:nvPr/>
        </p:nvSpPr>
        <p:spPr>
          <a:xfrm rot="300000">
            <a:off x="102298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42" name="梯形 141"/>
          <p:cNvSpPr>
            <a:spLocks noGrp="1"/>
          </p:cNvSpPr>
          <p:nvPr/>
        </p:nvSpPr>
        <p:spPr>
          <a:xfrm rot="300000">
            <a:off x="104203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43" name="梯形 142"/>
          <p:cNvSpPr>
            <a:spLocks noGrp="1"/>
          </p:cNvSpPr>
          <p:nvPr/>
        </p:nvSpPr>
        <p:spPr>
          <a:xfrm rot="300000">
            <a:off x="10610850" y="4629150"/>
            <a:ext cx="142875" cy="619125"/>
          </a:xfrm>
          <a:prstGeom prst="trapezoid">
            <a:avLst/>
          </a:prstGeom>
          <a:solidFill>
            <a:srgbClr val="777D7D"/>
          </a:solidFill>
          <a:ln w="5715">
            <a:solidFill>
              <a:srgbClr val="444949"/>
            </a:solidFill>
            <a:prstDash val="solid"/>
          </a:ln>
        </p:spPr>
        <p:txBody>
          <a:bodyPr/>
          <a:p>
            <a:endParaRPr lang="zh-CN" altLang="en-US"/>
          </a:p>
        </p:txBody>
      </p:sp>
      <p:sp>
        <p:nvSpPr>
          <p:cNvPr id="144" name="矩形 143"/>
          <p:cNvSpPr>
            <a:spLocks noGrp="1"/>
          </p:cNvSpPr>
          <p:nvPr/>
        </p:nvSpPr>
        <p:spPr>
          <a:xfrm>
            <a:off x="9029700" y="5276850"/>
            <a:ext cx="2019300" cy="190500"/>
          </a:xfrm>
          <a:prstGeom prst="rect">
            <a:avLst/>
          </a:prstGeom>
          <a:solidFill>
            <a:srgbClr val="8999A1"/>
          </a:solidFill>
          <a:ln w="9525">
            <a:solidFill>
              <a:srgbClr val="687780"/>
            </a:solidFill>
            <a:prstDash val="solid"/>
          </a:ln>
        </p:spPr>
        <p:txBody>
          <a:bodyPr/>
          <a:p>
            <a:endParaRPr lang="zh-CN" altLang="en-US"/>
          </a:p>
        </p:txBody>
      </p:sp>
      <p:sp>
        <p:nvSpPr>
          <p:cNvPr id="145" name="矩形 144"/>
          <p:cNvSpPr>
            <a:spLocks noGrp="1"/>
          </p:cNvSpPr>
          <p:nvPr/>
        </p:nvSpPr>
        <p:spPr>
          <a:xfrm>
            <a:off x="9210675" y="5448300"/>
            <a:ext cx="1657350" cy="638175"/>
          </a:xfrm>
          <a:prstGeom prst="rect">
            <a:avLst/>
          </a:prstGeom>
          <a:solidFill>
            <a:srgbClr val="8FA9BC"/>
          </a:solidFill>
          <a:ln w="9525">
            <a:solidFill>
              <a:srgbClr val="718997"/>
            </a:solidFill>
            <a:prstDash val="solid"/>
          </a:ln>
        </p:spPr>
        <p:txBody>
          <a:bodyPr/>
          <a:p>
            <a:endParaRPr lang="zh-CN" altLang="en-US"/>
          </a:p>
        </p:txBody>
      </p:sp>
      <p:sp>
        <p:nvSpPr>
          <p:cNvPr id="146" name="矩形 145"/>
          <p:cNvSpPr>
            <a:spLocks noGrp="1"/>
          </p:cNvSpPr>
          <p:nvPr/>
        </p:nvSpPr>
        <p:spPr>
          <a:xfrm>
            <a:off x="9029700" y="6000750"/>
            <a:ext cx="2019300" cy="152400"/>
          </a:xfrm>
          <a:prstGeom prst="rect">
            <a:avLst/>
          </a:prstGeom>
          <a:solidFill>
            <a:srgbClr val="7C8890"/>
          </a:solidFill>
          <a:ln w="9525">
            <a:solidFill>
              <a:srgbClr val="606B71"/>
            </a:solidFill>
            <a:prstDash val="solid"/>
          </a:ln>
        </p:spPr>
        <p:txBody>
          <a:bodyPr/>
          <a:p>
            <a:endParaRPr lang="zh-CN" altLang="en-US"/>
          </a:p>
        </p:txBody>
      </p:sp>
      <p:sp>
        <p:nvSpPr>
          <p:cNvPr id="147" name="矩形 146"/>
          <p:cNvSpPr>
            <a:spLocks noGrp="1"/>
          </p:cNvSpPr>
          <p:nvPr/>
        </p:nvSpPr>
        <p:spPr>
          <a:xfrm>
            <a:off x="9601200" y="6162675"/>
            <a:ext cx="914400" cy="180975"/>
          </a:xfrm>
          <a:prstGeom prst="rect">
            <a:avLst/>
          </a:prstGeom>
          <a:noFill/>
          <a:ln w="0">
            <a:noFill/>
            <a:prstDash val="solid"/>
          </a:ln>
        </p:spPr>
        <p:txBody>
          <a:bodyPr wrap="square" lIns="0" tIns="0" rIns="0" bIns="0" anchor="ctr">
            <a:normAutofit/>
          </a:bodyPr>
          <a:p>
            <a:pPr algn="ctr">
              <a:lnSpc>
                <a:spcPct val="100000"/>
              </a:lnSpc>
              <a:buNone/>
              <a:defRPr sz="975" b="0">
                <a:solidFill>
                  <a:srgbClr val="111111"/>
                </a:solidFill>
                <a:latin typeface="微软雅黑" panose="020B0503020204020204" charset="-122"/>
                <a:ea typeface="微软雅黑" panose="020B0503020204020204" charset="-122"/>
                <a:cs typeface="微软雅黑" panose="020B0503020204020204" charset="-122"/>
              </a:defRPr>
            </a:pPr>
            <a:r>
              <a:rPr sz="975" b="0">
                <a:solidFill>
                  <a:srgbClr val="111111"/>
                </a:solidFill>
                <a:latin typeface="微软雅黑" panose="020B0503020204020204" charset="-122"/>
                <a:ea typeface="微软雅黑" panose="020B0503020204020204" charset="-122"/>
                <a:cs typeface="微软雅黑" panose="020B0503020204020204" charset="-122"/>
              </a:rPr>
              <a:t>b) S2</a:t>
            </a:r>
            <a:endParaRPr sz="97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48" name="矩形 147"/>
          <p:cNvSpPr>
            <a:spLocks noGrp="1"/>
          </p:cNvSpPr>
          <p:nvPr/>
        </p:nvSpPr>
        <p:spPr>
          <a:xfrm>
            <a:off x="8153400" y="4019550"/>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dirty="0" err="1">
                <a:solidFill>
                  <a:srgbClr val="111111"/>
                </a:solidFill>
                <a:latin typeface="微软雅黑" panose="020B0503020204020204" charset="-122"/>
                <a:ea typeface="微软雅黑" panose="020B0503020204020204" charset="-122"/>
                <a:cs typeface="微软雅黑" panose="020B0503020204020204" charset="-122"/>
              </a:rPr>
              <a:t>螺栓、螺母</a:t>
            </a:r>
            <a:endParaRPr sz="735"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49" name="矩形 148"/>
          <p:cNvSpPr>
            <a:spLocks noGrp="1"/>
          </p:cNvSpPr>
          <p:nvPr/>
        </p:nvSpPr>
        <p:spPr>
          <a:xfrm>
            <a:off x="8153400" y="4286250"/>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dirty="0" err="1">
                <a:solidFill>
                  <a:srgbClr val="111111"/>
                </a:solidFill>
                <a:latin typeface="微软雅黑" panose="020B0503020204020204" charset="-122"/>
                <a:ea typeface="微软雅黑" panose="020B0503020204020204" charset="-122"/>
                <a:cs typeface="微软雅黑" panose="020B0503020204020204" charset="-122"/>
              </a:rPr>
              <a:t>钢塔段法兰</a:t>
            </a:r>
            <a:endParaRPr sz="735"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50" name="矩形 149"/>
          <p:cNvSpPr>
            <a:spLocks noGrp="1"/>
          </p:cNvSpPr>
          <p:nvPr/>
        </p:nvSpPr>
        <p:spPr>
          <a:xfrm>
            <a:off x="8153400" y="4562475"/>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dirty="0" err="1">
                <a:solidFill>
                  <a:srgbClr val="111111"/>
                </a:solidFill>
                <a:latin typeface="微软雅黑" panose="020B0503020204020204" charset="-122"/>
                <a:ea typeface="微软雅黑" panose="020B0503020204020204" charset="-122"/>
                <a:cs typeface="微软雅黑" panose="020B0503020204020204" charset="-122"/>
              </a:rPr>
              <a:t>过渡段上法兰</a:t>
            </a:r>
            <a:endParaRPr sz="735"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51" name="矩形 150"/>
          <p:cNvSpPr>
            <a:spLocks noGrp="1"/>
          </p:cNvSpPr>
          <p:nvPr/>
        </p:nvSpPr>
        <p:spPr>
          <a:xfrm>
            <a:off x="8153400" y="4838700"/>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a:solidFill>
                  <a:srgbClr val="111111"/>
                </a:solidFill>
                <a:latin typeface="微软雅黑" panose="020B0503020204020204" charset="-122"/>
                <a:ea typeface="微软雅黑" panose="020B0503020204020204" charset="-122"/>
                <a:cs typeface="微软雅黑" panose="020B0503020204020204" charset="-122"/>
              </a:rPr>
              <a:t>加劲肋</a:t>
            </a:r>
            <a:endParaRPr sz="73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52" name="矩形 151"/>
          <p:cNvSpPr>
            <a:spLocks noGrp="1"/>
          </p:cNvSpPr>
          <p:nvPr/>
        </p:nvSpPr>
        <p:spPr>
          <a:xfrm>
            <a:off x="8153400" y="5114925"/>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a:solidFill>
                  <a:srgbClr val="111111"/>
                </a:solidFill>
                <a:latin typeface="微软雅黑" panose="020B0503020204020204" charset="-122"/>
                <a:ea typeface="微软雅黑" panose="020B0503020204020204" charset="-122"/>
                <a:cs typeface="微软雅黑" panose="020B0503020204020204" charset="-122"/>
              </a:rPr>
              <a:t>筒体</a:t>
            </a:r>
            <a:endParaRPr sz="735" b="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53" name="矩形 152"/>
          <p:cNvSpPr>
            <a:spLocks noGrp="1"/>
          </p:cNvSpPr>
          <p:nvPr/>
        </p:nvSpPr>
        <p:spPr>
          <a:xfrm>
            <a:off x="8091487" y="5429250"/>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dirty="0" err="1">
                <a:solidFill>
                  <a:srgbClr val="111111"/>
                </a:solidFill>
                <a:latin typeface="微软雅黑" panose="020B0503020204020204" charset="-122"/>
                <a:ea typeface="微软雅黑" panose="020B0503020204020204" charset="-122"/>
                <a:cs typeface="微软雅黑" panose="020B0503020204020204" charset="-122"/>
              </a:rPr>
              <a:t>过渡段下法兰</a:t>
            </a:r>
            <a:endParaRPr sz="735"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54" name="矩形 153"/>
          <p:cNvSpPr>
            <a:spLocks noGrp="1"/>
          </p:cNvSpPr>
          <p:nvPr/>
        </p:nvSpPr>
        <p:spPr>
          <a:xfrm>
            <a:off x="8153400" y="5705475"/>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dirty="0" err="1">
                <a:solidFill>
                  <a:srgbClr val="111111"/>
                </a:solidFill>
                <a:latin typeface="微软雅黑" panose="020B0503020204020204" charset="-122"/>
                <a:ea typeface="微软雅黑" panose="020B0503020204020204" charset="-122"/>
                <a:cs typeface="微软雅黑" panose="020B0503020204020204" charset="-122"/>
              </a:rPr>
              <a:t>防滑移结构</a:t>
            </a:r>
            <a:endParaRPr sz="735"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55" name="矩形 154"/>
          <p:cNvSpPr>
            <a:spLocks noGrp="1"/>
          </p:cNvSpPr>
          <p:nvPr/>
        </p:nvSpPr>
        <p:spPr>
          <a:xfrm>
            <a:off x="8032396" y="5962650"/>
            <a:ext cx="933450" cy="171450"/>
          </a:xfrm>
          <a:prstGeom prst="rect">
            <a:avLst/>
          </a:prstGeom>
          <a:noFill/>
          <a:ln w="0">
            <a:noFill/>
            <a:prstDash val="solid"/>
          </a:ln>
        </p:spPr>
        <p:txBody>
          <a:bodyPr wrap="square" lIns="0" tIns="0" rIns="0" bIns="0" anchor="ctr">
            <a:normAutofit/>
          </a:bodyPr>
          <a:p>
            <a:pPr algn="r">
              <a:lnSpc>
                <a:spcPct val="100000"/>
              </a:lnSpc>
              <a:buNone/>
              <a:defRPr sz="735" b="0">
                <a:solidFill>
                  <a:srgbClr val="111111"/>
                </a:solidFill>
                <a:latin typeface="微软雅黑" panose="020B0503020204020204" charset="-122"/>
                <a:ea typeface="微软雅黑" panose="020B0503020204020204" charset="-122"/>
                <a:cs typeface="微软雅黑" panose="020B0503020204020204" charset="-122"/>
              </a:defRPr>
            </a:pPr>
            <a:r>
              <a:rPr sz="735" b="0" dirty="0" err="1">
                <a:solidFill>
                  <a:srgbClr val="111111"/>
                </a:solidFill>
                <a:latin typeface="微软雅黑" panose="020B0503020204020204" charset="-122"/>
                <a:ea typeface="微软雅黑" panose="020B0503020204020204" charset="-122"/>
                <a:cs typeface="微软雅黑" panose="020B0503020204020204" charset="-122"/>
              </a:rPr>
              <a:t>预应力索</a:t>
            </a:r>
            <a:endParaRPr sz="735" b="0"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156" name="矩形 155"/>
          <p:cNvSpPr>
            <a:spLocks noGrp="1"/>
          </p:cNvSpPr>
          <p:nvPr/>
        </p:nvSpPr>
        <p:spPr>
          <a:xfrm>
            <a:off x="7620000" y="6172200"/>
            <a:ext cx="2047875" cy="209550"/>
          </a:xfrm>
          <a:prstGeom prst="rect">
            <a:avLst/>
          </a:prstGeom>
          <a:noFill/>
          <a:ln w="0">
            <a:noFill/>
            <a:prstDash val="solid"/>
          </a:ln>
        </p:spPr>
        <p:txBody>
          <a:bodyPr wrap="square" lIns="0" tIns="0" rIns="0" bIns="0" anchor="ctr">
            <a:normAutofit/>
          </a:bodyPr>
          <a:p>
            <a:pPr algn="ctr">
              <a:lnSpc>
                <a:spcPct val="100000"/>
              </a:lnSpc>
              <a:buNone/>
              <a:defRPr sz="1050" b="1">
                <a:solidFill>
                  <a:srgbClr val="111111"/>
                </a:solidFill>
                <a:latin typeface="微软雅黑" panose="020B0503020204020204" charset="-122"/>
                <a:ea typeface="微软雅黑" panose="020B0503020204020204" charset="-122"/>
                <a:cs typeface="微软雅黑" panose="020B0503020204020204" charset="-122"/>
              </a:defRPr>
            </a:pPr>
            <a:r>
              <a:rPr sz="1050" b="1" dirty="0" err="1">
                <a:solidFill>
                  <a:srgbClr val="111111"/>
                </a:solidFill>
                <a:latin typeface="微软雅黑" panose="020B0503020204020204" charset="-122"/>
                <a:ea typeface="微软雅黑" panose="020B0503020204020204" charset="-122"/>
                <a:cs typeface="微软雅黑" panose="020B0503020204020204" charset="-122"/>
              </a:rPr>
              <a:t>两种过渡段结构对比</a:t>
            </a:r>
            <a:endParaRPr sz="1050" b="1" dirty="0">
              <a:solidFill>
                <a:srgbClr val="11111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62/68</a:t>
            </a:r>
            <a:endParaRPr lang="en-US" altLang="zh-CN">
              <a:latin typeface="微软雅黑" panose="020B0503020204020204" charset="-122"/>
              <a:ea typeface="微软雅黑" panose="020B0503020204020204" charset="-122"/>
            </a:endParaRPr>
          </a:p>
        </p:txBody>
      </p:sp>
      <p:sp>
        <p:nvSpPr>
          <p:cNvPr id="10" name="文本框 9"/>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AutoShape 2"/>
          <p:cNvSpPr/>
          <p:nvPr/>
        </p:nvSpPr>
        <p:spPr>
          <a:xfrm>
            <a:off x="711200" y="457200"/>
            <a:ext cx="635000" cy="635000"/>
          </a:xfrm>
          <a:prstGeom prst="ellipse">
            <a:avLst/>
          </a:prstGeom>
          <a:solidFill>
            <a:srgbClr val="2B4C8A"/>
          </a:solidFill>
          <a:ln w="25400" cap="flat" cmpd="sng">
            <a:noFill/>
            <a:prstDash val="solid"/>
            <a:round/>
          </a:ln>
        </p:spPr>
        <p:txBody>
          <a:bodyPr vert="horz" wrap="square" lIns="0" tIns="0" rIns="0" bIns="0" rtlCol="0" anchor="ctr" anchorCtr="0"/>
          <a:p>
            <a:pPr marL="0" indent="0" algn="ctr">
              <a:lnSpc>
                <a:spcPct val="125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endParaRPr lang="en-US" sz="1100"/>
          </a:p>
        </p:txBody>
      </p:sp>
      <p:sp>
        <p:nvSpPr>
          <p:cNvPr id="5" name="AutoShape 3"/>
          <p:cNvSpPr/>
          <p:nvPr/>
        </p:nvSpPr>
        <p:spPr>
          <a:xfrm>
            <a:off x="1524000" y="457200"/>
            <a:ext cx="7620000" cy="635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200" b="1" i="0" u="none" strike="noStrike">
                <a:solidFill>
                  <a:srgbClr val="004488"/>
                </a:solidFill>
                <a:latin typeface="微软雅黑" panose="020B0503020204020204" charset="-122"/>
                <a:ea typeface="微软雅黑" panose="020B0503020204020204" charset="-122"/>
                <a:cs typeface="微软雅黑" panose="020B0503020204020204" charset="-122"/>
                <a:sym typeface="微软雅黑" panose="020B0503020204020204" charset="-122"/>
              </a:rPr>
              <a:t>动力响应性能提升</a:t>
            </a:r>
            <a:endParaRPr lang="en-US" sz="1100"/>
          </a:p>
        </p:txBody>
      </p:sp>
      <p:sp>
        <p:nvSpPr>
          <p:cNvPr id="6" name="AutoShape 4"/>
          <p:cNvSpPr/>
          <p:nvPr/>
        </p:nvSpPr>
        <p:spPr>
          <a:xfrm>
            <a:off x="711200" y="1427480"/>
            <a:ext cx="152400" cy="152400"/>
          </a:xfrm>
          <a:prstGeom prst="roundRect">
            <a:avLst>
              <a:gd name="adj" fmla="val 0"/>
            </a:avLst>
          </a:prstGeom>
          <a:solidFill>
            <a:srgbClr val="004488">
              <a:alpha val="100000"/>
            </a:srgbClr>
          </a:solidFill>
          <a:ln w="25400" cap="flat" cmpd="sng">
            <a:noFill/>
            <a:prstDash val="solid"/>
            <a:round/>
          </a:ln>
        </p:spPr>
        <p:txBody>
          <a:bodyPr vert="horz" wrap="square" lIns="63500" tIns="63500" rIns="63500" bIns="63500" rtlCol="0" anchor="ctr"/>
          <a:p>
            <a:pPr algn="ctr">
              <a:defRPr/>
            </a:pPr>
          </a:p>
        </p:txBody>
      </p:sp>
      <p:sp>
        <p:nvSpPr>
          <p:cNvPr id="7" name="AutoShape 5"/>
          <p:cNvSpPr/>
          <p:nvPr/>
        </p:nvSpPr>
        <p:spPr>
          <a:xfrm>
            <a:off x="965200" y="1219200"/>
            <a:ext cx="10160000" cy="508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2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过渡段方案的塔顶位移响应对比</a:t>
            </a:r>
            <a:endParaRPr lang="en-US" sz="1100"/>
          </a:p>
        </p:txBody>
      </p:sp>
      <p:sp>
        <p:nvSpPr>
          <p:cNvPr id="9" name="AutoShape 7"/>
          <p:cNvSpPr/>
          <p:nvPr/>
        </p:nvSpPr>
        <p:spPr>
          <a:xfrm>
            <a:off x="711200" y="1666875"/>
            <a:ext cx="5280660" cy="1190625"/>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sz="14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对S1与S2两种过渡段结构开展精细化动力时程分析，结果表明：</a:t>
            </a:r>
            <a:endParaRPr lang="en-US" sz="1600" b="1"/>
          </a:p>
        </p:txBody>
      </p:sp>
      <p:sp>
        <p:nvSpPr>
          <p:cNvPr id="10" name="AutoShape 8"/>
          <p:cNvSpPr/>
          <p:nvPr/>
        </p:nvSpPr>
        <p:spPr>
          <a:xfrm>
            <a:off x="711200" y="2020570"/>
            <a:ext cx="5281930" cy="166243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sz="14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S2结构有效</a:t>
            </a:r>
            <a:r>
              <a:rPr lang="en-US" sz="1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降低塔顶水平位移峰值</a:t>
            </a:r>
            <a:r>
              <a:rPr 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，显著限制过渡段与混凝土塔段的局部脱离</a:t>
            </a:r>
            <a:r>
              <a:rPr lang="zh-CN" alt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1">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11" name="AutoShape 9"/>
          <p:cNvSpPr/>
          <p:nvPr/>
        </p:nvSpPr>
        <p:spPr>
          <a:xfrm>
            <a:off x="711200" y="2451100"/>
            <a:ext cx="5280660" cy="218440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sz="14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600" b="1">
                <a:solidFill>
                  <a:srgbClr val="333333"/>
                </a:solidFill>
                <a:latin typeface="微软雅黑" panose="020B0503020204020204" charset="-122"/>
                <a:ea typeface="微软雅黑" panose="020B0503020204020204" charset="-122"/>
                <a:cs typeface="微软雅黑" panose="020B0503020204020204" charset="-122"/>
              </a:rPr>
              <a:t>S2结</a:t>
            </a:r>
            <a:r>
              <a:rPr 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构</a:t>
            </a:r>
            <a:r>
              <a:rPr lang="zh-CN" altLang="en-US" sz="1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显著</a:t>
            </a:r>
            <a:r>
              <a:rPr lang="en-US" sz="1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降低螺栓应力</a:t>
            </a:r>
            <a:r>
              <a:rPr lang="zh-CN" altLang="en-US" sz="16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水平与应力幅值</a:t>
            </a:r>
            <a:r>
              <a:rPr lang="zh-CN" alt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：螺栓应力幅值由</a:t>
            </a:r>
            <a:r>
              <a:rPr lang="en-US" altLang="zh-CN"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143.16Mpa</a:t>
            </a:r>
            <a:r>
              <a:rPr lang="zh-CN" alt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降低至</a:t>
            </a:r>
            <a:r>
              <a:rPr lang="en-US" altLang="zh-CN"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80.51Mpa</a:t>
            </a:r>
            <a:r>
              <a:rPr lang="zh-CN" altLang="en-US"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，降低约</a:t>
            </a:r>
            <a:r>
              <a:rPr lang="en-US" altLang="zh-CN"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43.8%</a:t>
            </a:r>
            <a:endParaRPr lang="en-US" altLang="zh-CN" sz="16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1" name="直接连接符 20"/>
          <p:cNvCxnSpPr/>
          <p:nvPr/>
        </p:nvCxnSpPr>
        <p:spPr>
          <a:xfrm flipV="1">
            <a:off x="1401940" y="1087865"/>
            <a:ext cx="10168890" cy="34925"/>
          </a:xfrm>
          <a:prstGeom prst="line">
            <a:avLst/>
          </a:prstGeom>
          <a:ln w="28575" cmpd="sng">
            <a:solidFill>
              <a:srgbClr val="023A8C"/>
            </a:solidFill>
            <a:prstDash val="solid"/>
          </a:ln>
        </p:spPr>
        <p:style>
          <a:lnRef idx="2">
            <a:schemeClr val="accent1"/>
          </a:lnRef>
          <a:fillRef idx="0">
            <a:srgbClr val="FFFFFF"/>
          </a:fillRef>
          <a:effectRef idx="0">
            <a:srgbClr val="FFFFFF"/>
          </a:effectRef>
          <a:fontRef idx="minor">
            <a:schemeClr val="tx1"/>
          </a:fontRef>
        </p:style>
      </p:cxnSp>
      <p:graphicFrame>
        <p:nvGraphicFramePr>
          <p:cNvPr id="22" name="表格 21"/>
          <p:cNvGraphicFramePr/>
          <p:nvPr>
            <p:custDataLst>
              <p:tags r:id="rId1"/>
            </p:custDataLst>
          </p:nvPr>
        </p:nvGraphicFramePr>
        <p:xfrm>
          <a:off x="648970" y="3943350"/>
          <a:ext cx="5194300" cy="2672080"/>
        </p:xfrm>
        <a:graphic>
          <a:graphicData uri="http://schemas.openxmlformats.org/drawingml/2006/table">
            <a:tbl>
              <a:tblPr firstRow="1">
                <a:tableStyleId>{ECCAD22E-3096-4A69-B1B7-7734B64951B6}</a:tableStyleId>
              </a:tblPr>
              <a:tblGrid>
                <a:gridCol w="1038860"/>
                <a:gridCol w="1038860"/>
                <a:gridCol w="1038860"/>
                <a:gridCol w="1038860"/>
                <a:gridCol w="1038860"/>
              </a:tblGrid>
              <a:tr h="450850">
                <a:tc>
                  <a:txBody>
                    <a:bodyPr/>
                    <a:p>
                      <a:pPr algn="ctr" fontAlgn="ctr">
                        <a:lnSpc>
                          <a:spcPct val="120000"/>
                        </a:lnSpc>
                      </a:pPr>
                      <a:r>
                        <a:rPr lang="zh-CN" altLang="en-US" sz="1200" spc="60"/>
                        <a:t>对比项目</a:t>
                      </a:r>
                      <a:endParaRPr lang="zh-CN" altLang="en-US" sz="1200" spc="60"/>
                    </a:p>
                  </a:txBody>
                  <a:tcPr marL="25400" marR="25400" marT="6350" marB="6350" anchor="ctr" anchorCtr="0"/>
                </a:tc>
                <a:tc>
                  <a:txBody>
                    <a:bodyPr/>
                    <a:p>
                      <a:pPr algn="ctr" fontAlgn="ctr">
                        <a:lnSpc>
                          <a:spcPct val="120000"/>
                        </a:lnSpc>
                      </a:pPr>
                      <a:endParaRPr lang="zh-CN" altLang="en-US" sz="1200" spc="60"/>
                    </a:p>
                  </a:txBody>
                  <a:tcPr marL="25400" marR="25400" marT="6350" marB="6350" anchor="ctr" anchorCtr="0"/>
                </a:tc>
                <a:tc>
                  <a:txBody>
                    <a:bodyPr/>
                    <a:p>
                      <a:pPr algn="ctr" fontAlgn="ctr">
                        <a:lnSpc>
                          <a:spcPct val="120000"/>
                        </a:lnSpc>
                        <a:buSzTx/>
                      </a:pPr>
                      <a:r>
                        <a:rPr lang="zh-CN" altLang="en-US" sz="1200" spc="60"/>
                        <a:t>现有结构 S1 方案</a:t>
                      </a:r>
                      <a:endParaRPr lang="zh-CN" altLang="en-US" sz="1200" spc="60"/>
                    </a:p>
                  </a:txBody>
                  <a:tcPr marL="25400" marR="25400" marT="6350" marB="6350" anchor="ctr" anchorCtr="0"/>
                </a:tc>
                <a:tc gridSpan="2">
                  <a:txBody>
                    <a:bodyPr/>
                    <a:p>
                      <a:pPr algn="ctr" fontAlgn="ctr">
                        <a:lnSpc>
                          <a:spcPct val="120000"/>
                        </a:lnSpc>
                        <a:buSzTx/>
                      </a:pPr>
                      <a:r>
                        <a:rPr lang="zh-CN" altLang="en-US" sz="1200" spc="60"/>
                        <a:t>所提结构 S2 方案</a:t>
                      </a:r>
                      <a:endParaRPr lang="zh-CN" altLang="en-US" sz="1200" spc="60"/>
                    </a:p>
                  </a:txBody>
                  <a:tcPr marL="25400" marR="25400" marT="6350" marB="6350" anchor="ctr" anchorCtr="0"/>
                </a:tc>
                <a:tc hMerge="1">
                  <a:tcPr/>
                </a:tc>
              </a:tr>
              <a:tr h="235585">
                <a:tc gridSpan="2">
                  <a:txBody>
                    <a:bodyPr/>
                    <a:p>
                      <a:pPr algn="ctr" fontAlgn="ctr">
                        <a:lnSpc>
                          <a:spcPct val="120000"/>
                        </a:lnSpc>
                        <a:buSzTx/>
                      </a:pPr>
                      <a:r>
                        <a:rPr lang="zh-CN" altLang="en-US" sz="1200" b="1" spc="60"/>
                        <a:t>最大位移 (m)</a:t>
                      </a:r>
                      <a:endParaRPr lang="zh-CN" altLang="en-US" sz="1200" b="1" spc="60"/>
                    </a:p>
                  </a:txBody>
                  <a:tcPr marL="25400" marR="25400" marT="6350" marB="6350" anchor="ctr" anchorCtr="0"/>
                </a:tc>
                <a:tc hMerge="1">
                  <a:tcPr/>
                </a:tc>
                <a:tc>
                  <a:txBody>
                    <a:bodyPr/>
                    <a:p>
                      <a:pPr algn="ctr" fontAlgn="ctr">
                        <a:lnSpc>
                          <a:spcPct val="120000"/>
                        </a:lnSpc>
                        <a:buSzTx/>
                      </a:pPr>
                      <a:r>
                        <a:rPr lang="zh-CN" altLang="en-US" sz="1200" b="1" spc="60"/>
                        <a:t>1.086</a:t>
                      </a:r>
                      <a:endParaRPr lang="zh-CN" altLang="en-US" sz="1200" b="1" spc="60"/>
                    </a:p>
                  </a:txBody>
                  <a:tcPr marL="25400" marR="25400" marT="6350" marB="6350" anchor="ctr" anchorCtr="0"/>
                </a:tc>
                <a:tc>
                  <a:txBody>
                    <a:bodyPr/>
                    <a:p>
                      <a:pPr algn="ctr" fontAlgn="ctr">
                        <a:lnSpc>
                          <a:spcPct val="120000"/>
                        </a:lnSpc>
                        <a:buSzTx/>
                      </a:pPr>
                      <a:r>
                        <a:rPr lang="zh-CN" altLang="en-US" sz="1200" b="1" spc="60"/>
                        <a:t>1.057</a:t>
                      </a:r>
                      <a:endParaRPr lang="zh-CN" altLang="en-US" sz="1200" b="1" spc="60"/>
                    </a:p>
                  </a:txBody>
                  <a:tcPr marL="25400" marR="25400" marT="6350" marB="6350" anchor="ctr" anchorCtr="0"/>
                </a:tc>
                <a:tc>
                  <a:txBody>
                    <a:bodyPr/>
                    <a:p>
                      <a:pPr algn="r" fontAlgn="ctr">
                        <a:lnSpc>
                          <a:spcPct val="120000"/>
                        </a:lnSpc>
                      </a:pPr>
                      <a:endParaRPr lang="zh-CN" altLang="en-US" sz="1200" b="1" spc="60"/>
                    </a:p>
                  </a:txBody>
                  <a:tcPr marL="25400" marR="25400" marT="6350" marB="6350" anchor="ctr" anchorCtr="0"/>
                </a:tc>
              </a:tr>
              <a:tr h="450850">
                <a:tc>
                  <a:txBody>
                    <a:bodyPr/>
                    <a:p>
                      <a:pPr algn="ctr" fontAlgn="ctr">
                        <a:lnSpc>
                          <a:spcPct val="120000"/>
                        </a:lnSpc>
                        <a:buSzTx/>
                      </a:pPr>
                      <a:r>
                        <a:rPr lang="zh-CN" altLang="en-US" sz="1200" b="1" spc="60"/>
                        <a:t>螺栓应力(MPa)</a:t>
                      </a:r>
                      <a:endParaRPr lang="zh-CN" altLang="en-US" sz="1200" b="1" spc="60"/>
                    </a:p>
                  </a:txBody>
                  <a:tcPr marL="25400" marR="25400" marT="6350" marB="6350" anchor="ctr" anchorCtr="0"/>
                </a:tc>
                <a:tc>
                  <a:txBody>
                    <a:bodyPr/>
                    <a:p>
                      <a:pPr algn="ctr" fontAlgn="ctr">
                        <a:lnSpc>
                          <a:spcPct val="120000"/>
                        </a:lnSpc>
                        <a:buSzTx/>
                      </a:pPr>
                      <a:r>
                        <a:rPr lang="zh-CN" altLang="en-US" sz="1200" b="1" spc="60"/>
                        <a:t>最小值</a:t>
                      </a:r>
                      <a:endParaRPr lang="zh-CN" altLang="en-US" sz="1200" b="1" spc="60"/>
                    </a:p>
                  </a:txBody>
                  <a:tcPr marL="25400" marR="25400" marT="6350" marB="6350" anchor="ctr" anchorCtr="0"/>
                </a:tc>
                <a:tc>
                  <a:txBody>
                    <a:bodyPr/>
                    <a:p>
                      <a:pPr algn="ctr" fontAlgn="ctr">
                        <a:lnSpc>
                          <a:spcPct val="120000"/>
                        </a:lnSpc>
                        <a:buSzTx/>
                      </a:pPr>
                      <a:r>
                        <a:rPr lang="zh-CN" altLang="en-US" sz="1200" b="1" spc="60"/>
                        <a:t>590.29</a:t>
                      </a:r>
                      <a:endParaRPr lang="zh-CN" altLang="en-US" sz="1200" b="1" spc="60"/>
                    </a:p>
                  </a:txBody>
                  <a:tcPr marL="25400" marR="25400" marT="6350" marB="6350" anchor="ctr" anchorCtr="0"/>
                </a:tc>
                <a:tc>
                  <a:txBody>
                    <a:bodyPr/>
                    <a:p>
                      <a:pPr algn="ctr" fontAlgn="ctr">
                        <a:lnSpc>
                          <a:spcPct val="120000"/>
                        </a:lnSpc>
                        <a:buSzTx/>
                      </a:pPr>
                      <a:r>
                        <a:rPr lang="zh-CN" altLang="en-US" sz="1200" b="1" spc="60"/>
                        <a:t>553.37</a:t>
                      </a:r>
                      <a:endParaRPr lang="zh-CN" altLang="en-US" sz="1200" b="1" spc="60"/>
                    </a:p>
                  </a:txBody>
                  <a:tcPr marL="25400" marR="25400" marT="6350" marB="6350" anchor="ctr" anchorCtr="0"/>
                </a:tc>
                <a:tc>
                  <a:txBody>
                    <a:bodyPr/>
                    <a:p>
                      <a:pPr algn="r" fontAlgn="ctr">
                        <a:lnSpc>
                          <a:spcPct val="120000"/>
                        </a:lnSpc>
                      </a:pPr>
                      <a:endParaRPr lang="zh-CN" altLang="en-US" sz="1200" b="1" spc="60"/>
                    </a:p>
                  </a:txBody>
                  <a:tcPr marL="25400" marR="25400" marT="6350" marB="6350" anchor="ctr" anchorCtr="0"/>
                </a:tc>
              </a:tr>
              <a:tr h="235585">
                <a:tc>
                  <a:txBody>
                    <a:bodyPr/>
                    <a:p>
                      <a:pPr algn="ctr" fontAlgn="ctr">
                        <a:lnSpc>
                          <a:spcPct val="120000"/>
                        </a:lnSpc>
                        <a:buSzTx/>
                      </a:pPr>
                      <a:endParaRPr lang="zh-CN" altLang="en-US" sz="1200" b="1" spc="60"/>
                    </a:p>
                  </a:txBody>
                  <a:tcPr marL="25400" marR="25400" marT="6350" marB="6350" anchor="ctr" anchorCtr="0"/>
                </a:tc>
                <a:tc>
                  <a:txBody>
                    <a:bodyPr/>
                    <a:p>
                      <a:pPr algn="ctr" fontAlgn="ctr">
                        <a:lnSpc>
                          <a:spcPct val="120000"/>
                        </a:lnSpc>
                        <a:buSzTx/>
                      </a:pPr>
                      <a:r>
                        <a:rPr lang="zh-CN" altLang="en-US" sz="1200" b="1" spc="60"/>
                        <a:t>最大值</a:t>
                      </a:r>
                      <a:endParaRPr lang="zh-CN" altLang="en-US" sz="1200" b="1" spc="60"/>
                    </a:p>
                  </a:txBody>
                  <a:tcPr marL="25400" marR="25400" marT="6350" marB="6350" anchor="ctr" anchorCtr="0"/>
                </a:tc>
                <a:tc>
                  <a:txBody>
                    <a:bodyPr/>
                    <a:p>
                      <a:pPr algn="ctr" fontAlgn="ctr">
                        <a:lnSpc>
                          <a:spcPct val="120000"/>
                        </a:lnSpc>
                        <a:buSzTx/>
                      </a:pPr>
                      <a:r>
                        <a:rPr lang="zh-CN" altLang="en-US" sz="1200" b="1" spc="60"/>
                        <a:t>733.45</a:t>
                      </a:r>
                      <a:endParaRPr lang="zh-CN" altLang="en-US" sz="1200" b="1" spc="60"/>
                    </a:p>
                  </a:txBody>
                  <a:tcPr marL="25400" marR="25400" marT="6350" marB="6350" anchor="ctr" anchorCtr="0"/>
                </a:tc>
                <a:tc>
                  <a:txBody>
                    <a:bodyPr/>
                    <a:p>
                      <a:pPr algn="ctr" fontAlgn="ctr">
                        <a:lnSpc>
                          <a:spcPct val="120000"/>
                        </a:lnSpc>
                        <a:buSzTx/>
                      </a:pPr>
                      <a:r>
                        <a:rPr lang="zh-CN" altLang="en-US" sz="1200" b="1" spc="60"/>
                        <a:t>633.88</a:t>
                      </a:r>
                      <a:endParaRPr lang="zh-CN" altLang="en-US" sz="1200" b="1" spc="60"/>
                    </a:p>
                  </a:txBody>
                  <a:tcPr marL="25400" marR="25400" marT="6350" marB="6350" anchor="ctr" anchorCtr="0"/>
                </a:tc>
                <a:tc>
                  <a:txBody>
                    <a:bodyPr/>
                    <a:p>
                      <a:pPr algn="r" fontAlgn="ctr">
                        <a:lnSpc>
                          <a:spcPct val="120000"/>
                        </a:lnSpc>
                      </a:pPr>
                      <a:endParaRPr lang="zh-CN" altLang="en-US" sz="1200" b="1" spc="60"/>
                    </a:p>
                  </a:txBody>
                  <a:tcPr marL="25400" marR="25400" marT="6350" marB="6350" anchor="ctr" anchorCtr="0"/>
                </a:tc>
              </a:tr>
              <a:tr h="234950">
                <a:tc>
                  <a:txBody>
                    <a:bodyPr/>
                    <a:p>
                      <a:pPr algn="ctr" fontAlgn="ctr">
                        <a:lnSpc>
                          <a:spcPct val="120000"/>
                        </a:lnSpc>
                        <a:buSzTx/>
                      </a:pPr>
                      <a:endParaRPr lang="zh-CN" altLang="en-US" sz="1200" b="1" spc="60"/>
                    </a:p>
                  </a:txBody>
                  <a:tcPr marL="25400" marR="25400" marT="6350" marB="6350" anchor="ctr" anchorCtr="0"/>
                </a:tc>
                <a:tc>
                  <a:txBody>
                    <a:bodyPr/>
                    <a:p>
                      <a:pPr algn="ctr" fontAlgn="ctr">
                        <a:lnSpc>
                          <a:spcPct val="120000"/>
                        </a:lnSpc>
                        <a:buSzTx/>
                      </a:pPr>
                      <a:r>
                        <a:rPr lang="zh-CN" altLang="en-US" sz="1200" b="1" spc="60"/>
                        <a:t>幅值</a:t>
                      </a:r>
                      <a:endParaRPr lang="zh-CN" altLang="en-US" sz="1200" b="1" spc="60"/>
                    </a:p>
                  </a:txBody>
                  <a:tcPr marL="25400" marR="25400" marT="6350" marB="6350" anchor="ctr" anchorCtr="0"/>
                </a:tc>
                <a:tc>
                  <a:txBody>
                    <a:bodyPr/>
                    <a:p>
                      <a:pPr algn="ctr" fontAlgn="ctr">
                        <a:lnSpc>
                          <a:spcPct val="120000"/>
                        </a:lnSpc>
                        <a:buSzTx/>
                      </a:pPr>
                      <a:r>
                        <a:rPr lang="zh-CN" altLang="en-US" sz="1200" b="1" spc="60"/>
                        <a:t>143.16</a:t>
                      </a:r>
                      <a:endParaRPr lang="zh-CN" altLang="en-US" sz="1200" b="1" spc="60"/>
                    </a:p>
                  </a:txBody>
                  <a:tcPr marL="25400" marR="25400" marT="6350" marB="6350" anchor="ctr" anchorCtr="0"/>
                </a:tc>
                <a:tc>
                  <a:txBody>
                    <a:bodyPr/>
                    <a:p>
                      <a:pPr algn="ctr" fontAlgn="ctr">
                        <a:lnSpc>
                          <a:spcPct val="120000"/>
                        </a:lnSpc>
                        <a:buSzTx/>
                      </a:pPr>
                      <a:r>
                        <a:rPr lang="zh-CN" altLang="en-US" sz="1200" b="1" spc="60"/>
                        <a:t>80.51</a:t>
                      </a:r>
                      <a:endParaRPr lang="zh-CN" altLang="en-US" sz="1200" b="1" spc="60"/>
                    </a:p>
                  </a:txBody>
                  <a:tcPr marL="25400" marR="25400" marT="6350" marB="6350" anchor="ctr" anchorCtr="0"/>
                </a:tc>
                <a:tc>
                  <a:txBody>
                    <a:bodyPr/>
                    <a:p>
                      <a:pPr algn="r" fontAlgn="ctr">
                        <a:lnSpc>
                          <a:spcPct val="120000"/>
                        </a:lnSpc>
                      </a:pPr>
                      <a:endParaRPr lang="zh-CN" altLang="en-US" sz="1200" b="1" spc="60"/>
                    </a:p>
                  </a:txBody>
                  <a:tcPr marL="25400" marR="25400" marT="6350" marB="6350" anchor="ctr" anchorCtr="0"/>
                </a:tc>
              </a:tr>
              <a:tr h="450850">
                <a:tc>
                  <a:txBody>
                    <a:bodyPr/>
                    <a:p>
                      <a:pPr algn="ctr" fontAlgn="ctr">
                        <a:lnSpc>
                          <a:spcPct val="120000"/>
                        </a:lnSpc>
                        <a:buSzTx/>
                      </a:pPr>
                      <a:r>
                        <a:rPr lang="zh-CN" altLang="en-US" sz="1200" b="1" spc="60"/>
                        <a:t>预应力索应力(MPa)</a:t>
                      </a:r>
                      <a:endParaRPr lang="zh-CN" altLang="en-US" sz="1200" b="1" spc="60"/>
                    </a:p>
                  </a:txBody>
                  <a:tcPr marL="25400" marR="25400" marT="6350" marB="6350" anchor="ctr" anchorCtr="0"/>
                </a:tc>
                <a:tc>
                  <a:txBody>
                    <a:bodyPr/>
                    <a:p>
                      <a:pPr algn="ctr" fontAlgn="ctr">
                        <a:lnSpc>
                          <a:spcPct val="120000"/>
                        </a:lnSpc>
                        <a:buSzTx/>
                      </a:pPr>
                      <a:r>
                        <a:rPr lang="zh-CN" altLang="en-US" sz="1200" b="1" spc="60"/>
                        <a:t>最小值</a:t>
                      </a:r>
                      <a:endParaRPr lang="zh-CN" altLang="en-US" sz="1200" b="1" spc="60"/>
                    </a:p>
                  </a:txBody>
                  <a:tcPr marL="25400" marR="25400" marT="6350" marB="6350" anchor="ctr" anchorCtr="0"/>
                </a:tc>
                <a:tc>
                  <a:txBody>
                    <a:bodyPr/>
                    <a:p>
                      <a:pPr algn="ctr" fontAlgn="ctr">
                        <a:lnSpc>
                          <a:spcPct val="120000"/>
                        </a:lnSpc>
                        <a:buSzTx/>
                      </a:pPr>
                      <a:r>
                        <a:rPr lang="zh-CN" altLang="en-US" sz="1200" b="1" spc="60"/>
                        <a:t>1184.43</a:t>
                      </a:r>
                      <a:endParaRPr lang="zh-CN" altLang="en-US" sz="1200" b="1" spc="60"/>
                    </a:p>
                  </a:txBody>
                  <a:tcPr marL="25400" marR="25400" marT="6350" marB="6350" anchor="ctr" anchorCtr="0"/>
                </a:tc>
                <a:tc>
                  <a:txBody>
                    <a:bodyPr/>
                    <a:p>
                      <a:pPr algn="ctr" fontAlgn="ctr">
                        <a:lnSpc>
                          <a:spcPct val="120000"/>
                        </a:lnSpc>
                        <a:buSzTx/>
                      </a:pPr>
                      <a:r>
                        <a:rPr lang="zh-CN" altLang="en-US" sz="1200" b="1" spc="60"/>
                        <a:t>1180.9</a:t>
                      </a:r>
                      <a:endParaRPr lang="zh-CN" altLang="en-US" sz="1200" b="1" spc="60"/>
                    </a:p>
                  </a:txBody>
                  <a:tcPr marL="25400" marR="25400" marT="6350" marB="6350" anchor="ctr" anchorCtr="0"/>
                </a:tc>
                <a:tc>
                  <a:txBody>
                    <a:bodyPr/>
                    <a:p>
                      <a:pPr algn="r" fontAlgn="ctr">
                        <a:lnSpc>
                          <a:spcPct val="120000"/>
                        </a:lnSpc>
                      </a:pPr>
                      <a:endParaRPr lang="zh-CN" altLang="en-US" sz="1200" b="1" spc="60"/>
                    </a:p>
                  </a:txBody>
                  <a:tcPr marL="25400" marR="25400" marT="6350" marB="6350" anchor="ctr" anchorCtr="0"/>
                </a:tc>
              </a:tr>
              <a:tr h="234950">
                <a:tc>
                  <a:txBody>
                    <a:bodyPr/>
                    <a:p>
                      <a:pPr algn="ctr" fontAlgn="ctr">
                        <a:lnSpc>
                          <a:spcPct val="120000"/>
                        </a:lnSpc>
                        <a:buSzTx/>
                      </a:pPr>
                      <a:endParaRPr lang="zh-CN" altLang="en-US" sz="1200" b="1" spc="60"/>
                    </a:p>
                  </a:txBody>
                  <a:tcPr marL="25400" marR="25400" marT="6350" marB="6350" anchor="ctr" anchorCtr="0"/>
                </a:tc>
                <a:tc>
                  <a:txBody>
                    <a:bodyPr/>
                    <a:p>
                      <a:pPr algn="ctr" fontAlgn="ctr">
                        <a:lnSpc>
                          <a:spcPct val="120000"/>
                        </a:lnSpc>
                        <a:buSzTx/>
                      </a:pPr>
                      <a:r>
                        <a:rPr lang="zh-CN" altLang="en-US" sz="1200" b="1" spc="60"/>
                        <a:t>最大值</a:t>
                      </a:r>
                      <a:endParaRPr lang="zh-CN" altLang="en-US" sz="1200" b="1" spc="60"/>
                    </a:p>
                  </a:txBody>
                  <a:tcPr marL="25400" marR="25400" marT="6350" marB="6350" anchor="ctr" anchorCtr="0"/>
                </a:tc>
                <a:tc>
                  <a:txBody>
                    <a:bodyPr/>
                    <a:p>
                      <a:pPr algn="ctr" fontAlgn="ctr">
                        <a:lnSpc>
                          <a:spcPct val="120000"/>
                        </a:lnSpc>
                        <a:buSzTx/>
                      </a:pPr>
                      <a:r>
                        <a:rPr lang="zh-CN" altLang="en-US" sz="1200" b="1" spc="60"/>
                        <a:t>1197.46</a:t>
                      </a:r>
                      <a:endParaRPr lang="zh-CN" altLang="en-US" sz="1200" b="1" spc="60"/>
                    </a:p>
                  </a:txBody>
                  <a:tcPr marL="25400" marR="25400" marT="6350" marB="6350" anchor="ctr" anchorCtr="0"/>
                </a:tc>
                <a:tc>
                  <a:txBody>
                    <a:bodyPr/>
                    <a:p>
                      <a:pPr algn="ctr" fontAlgn="ctr">
                        <a:lnSpc>
                          <a:spcPct val="120000"/>
                        </a:lnSpc>
                        <a:buSzTx/>
                      </a:pPr>
                      <a:r>
                        <a:rPr lang="zh-CN" altLang="en-US" sz="1200" b="1" spc="60"/>
                        <a:t>1191.05</a:t>
                      </a:r>
                      <a:endParaRPr lang="zh-CN" altLang="en-US" sz="1200" b="1" spc="60"/>
                    </a:p>
                  </a:txBody>
                  <a:tcPr marL="25400" marR="25400" marT="6350" marB="6350" anchor="ctr" anchorCtr="0"/>
                </a:tc>
                <a:tc>
                  <a:txBody>
                    <a:bodyPr/>
                    <a:p>
                      <a:pPr algn="r" fontAlgn="ctr">
                        <a:lnSpc>
                          <a:spcPct val="120000"/>
                        </a:lnSpc>
                      </a:pPr>
                      <a:endParaRPr lang="zh-CN" altLang="en-US" sz="1200" b="1" spc="60"/>
                    </a:p>
                  </a:txBody>
                  <a:tcPr marL="25400" marR="25400" marT="6350" marB="6350" anchor="ctr" anchorCtr="0"/>
                </a:tc>
              </a:tr>
              <a:tr h="378460">
                <a:tc>
                  <a:txBody>
                    <a:bodyPr/>
                    <a:p>
                      <a:pPr algn="ctr" fontAlgn="ctr">
                        <a:lnSpc>
                          <a:spcPct val="120000"/>
                        </a:lnSpc>
                        <a:buSzTx/>
                      </a:pPr>
                      <a:endParaRPr lang="zh-CN" altLang="en-US" sz="1200" b="1" spc="60"/>
                    </a:p>
                  </a:txBody>
                  <a:tcPr marL="25400" marR="25400" marT="6350" marB="6350" anchor="ctr" anchorCtr="0"/>
                </a:tc>
                <a:tc>
                  <a:txBody>
                    <a:bodyPr/>
                    <a:p>
                      <a:pPr algn="ctr" fontAlgn="ctr">
                        <a:lnSpc>
                          <a:spcPct val="120000"/>
                        </a:lnSpc>
                        <a:buSzTx/>
                      </a:pPr>
                      <a:r>
                        <a:rPr lang="zh-CN" altLang="en-US" sz="1200" b="1" spc="60"/>
                        <a:t>幅值</a:t>
                      </a:r>
                      <a:endParaRPr lang="zh-CN" altLang="en-US" sz="1200" b="1" spc="60"/>
                    </a:p>
                  </a:txBody>
                  <a:tcPr marL="25400" marR="25400" marT="6350" marB="6350" anchor="ctr" anchorCtr="0"/>
                </a:tc>
                <a:tc>
                  <a:txBody>
                    <a:bodyPr/>
                    <a:p>
                      <a:pPr algn="ctr" fontAlgn="ctr">
                        <a:lnSpc>
                          <a:spcPct val="120000"/>
                        </a:lnSpc>
                        <a:buSzTx/>
                      </a:pPr>
                      <a:r>
                        <a:rPr lang="zh-CN" altLang="en-US" sz="1200" b="1" spc="60"/>
                        <a:t>13.03</a:t>
                      </a:r>
                      <a:endParaRPr lang="zh-CN" altLang="en-US" sz="1200" b="1" spc="60"/>
                    </a:p>
                  </a:txBody>
                  <a:tcPr marL="25400" marR="25400" marT="6350" marB="6350" anchor="ctr" anchorCtr="0"/>
                </a:tc>
                <a:tc>
                  <a:txBody>
                    <a:bodyPr/>
                    <a:p>
                      <a:pPr algn="ctr" fontAlgn="ctr">
                        <a:lnSpc>
                          <a:spcPct val="120000"/>
                        </a:lnSpc>
                        <a:buSzTx/>
                      </a:pPr>
                      <a:r>
                        <a:rPr lang="zh-CN" altLang="en-US" sz="1200" b="1" spc="60"/>
                        <a:t>10.15</a:t>
                      </a:r>
                      <a:endParaRPr lang="zh-CN" altLang="en-US" sz="1200" b="1" spc="60"/>
                    </a:p>
                  </a:txBody>
                  <a:tcPr marL="25400" marR="25400" marT="6350" marB="6350" anchor="ctr" anchorCtr="0"/>
                </a:tc>
                <a:tc>
                  <a:txBody>
                    <a:bodyPr/>
                    <a:p>
                      <a:pPr algn="r" fontAlgn="ctr">
                        <a:lnSpc>
                          <a:spcPct val="120000"/>
                        </a:lnSpc>
                      </a:pPr>
                      <a:endParaRPr lang="zh-CN" altLang="en-US" sz="1200" b="1" spc="60"/>
                    </a:p>
                  </a:txBody>
                  <a:tcPr marL="25400" marR="25400" marT="6350" marB="6350" anchor="ctr" anchorCtr="0"/>
                </a:tc>
              </a:tr>
            </a:tbl>
          </a:graphicData>
        </a:graphic>
      </p:graphicFrame>
      <p:cxnSp>
        <p:nvCxnSpPr>
          <p:cNvPr id="23" name="直接连接符 22"/>
          <p:cNvCxnSpPr/>
          <p:nvPr/>
        </p:nvCxnSpPr>
        <p:spPr>
          <a:xfrm flipH="1">
            <a:off x="5992495" y="1854200"/>
            <a:ext cx="6985" cy="4856480"/>
          </a:xfrm>
          <a:prstGeom prst="line">
            <a:avLst/>
          </a:prstGeom>
          <a:ln w="9525" cap="flat" cmpd="sng" algn="ctr">
            <a:solidFill>
              <a:schemeClr val="accent3"/>
            </a:solidFill>
            <a:prstDash val="dash"/>
          </a:ln>
        </p:spPr>
        <p:style>
          <a:lnRef idx="0">
            <a:schemeClr val="accent1"/>
          </a:lnRef>
          <a:fillRef idx="0">
            <a:srgbClr val="FFFFFF"/>
          </a:fillRef>
          <a:effectRef idx="0">
            <a:srgbClr val="FFFFFF"/>
          </a:effectRef>
          <a:fontRef idx="minor">
            <a:schemeClr val="tx1"/>
          </a:fontRef>
        </p:style>
      </p:cxnSp>
      <p:pic>
        <p:nvPicPr>
          <p:cNvPr id="24" name="图片 23"/>
          <p:cNvPicPr>
            <a:picLocks noChangeAspect="1"/>
          </p:cNvPicPr>
          <p:nvPr/>
        </p:nvPicPr>
        <p:blipFill>
          <a:blip r:embed="rId2"/>
          <a:srcRect r="-107" b="6454"/>
          <a:stretch>
            <a:fillRect/>
          </a:stretch>
        </p:blipFill>
        <p:spPr>
          <a:xfrm>
            <a:off x="5991860" y="1122045"/>
            <a:ext cx="5961380" cy="5227955"/>
          </a:xfrm>
          <a:prstGeom prst="rect">
            <a:avLst/>
          </a:prstGeom>
        </p:spPr>
      </p:pic>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63/68</a:t>
            </a:r>
            <a:endParaRPr lang="en-US" altLang="zh-CN">
              <a:latin typeface="微软雅黑" panose="020B0503020204020204" charset="-122"/>
              <a:ea typeface="微软雅黑" panose="020B0503020204020204" charset="-122"/>
            </a:endParaRPr>
          </a:p>
        </p:txBody>
      </p:sp>
      <p:sp>
        <p:nvSpPr>
          <p:cNvPr id="12" name="文本框 11"/>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AutoShape 2"/>
          <p:cNvSpPr/>
          <p:nvPr/>
        </p:nvSpPr>
        <p:spPr>
          <a:xfrm>
            <a:off x="711200" y="457200"/>
            <a:ext cx="635000" cy="635000"/>
          </a:xfrm>
          <a:prstGeom prst="ellipse">
            <a:avLst/>
          </a:prstGeom>
          <a:solidFill>
            <a:srgbClr val="2B4C8A"/>
          </a:solidFill>
          <a:ln w="25400" cap="flat" cmpd="sng">
            <a:noFill/>
            <a:prstDash val="solid"/>
            <a:round/>
          </a:ln>
        </p:spPr>
        <p:txBody>
          <a:bodyPr vert="horz" wrap="square" lIns="0" tIns="0" rIns="0" bIns="0" rtlCol="0" anchor="ctr" anchorCtr="0"/>
          <a:p>
            <a:pPr marL="0" indent="0" algn="ctr">
              <a:lnSpc>
                <a:spcPct val="125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endParaRPr lang="en-US" sz="1100"/>
          </a:p>
        </p:txBody>
      </p:sp>
      <p:sp>
        <p:nvSpPr>
          <p:cNvPr id="5" name="AutoShape 3"/>
          <p:cNvSpPr/>
          <p:nvPr/>
        </p:nvSpPr>
        <p:spPr>
          <a:xfrm>
            <a:off x="1524000" y="457200"/>
            <a:ext cx="7620000" cy="635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200" b="1" i="0" u="none" strike="noStrike">
                <a:solidFill>
                  <a:srgbClr val="004488"/>
                </a:solidFill>
                <a:latin typeface="微软雅黑" panose="020B0503020204020204" charset="-122"/>
                <a:ea typeface="微软雅黑" panose="020B0503020204020204" charset="-122"/>
                <a:cs typeface="微软雅黑" panose="020B0503020204020204" charset="-122"/>
                <a:sym typeface="微软雅黑" panose="020B0503020204020204" charset="-122"/>
              </a:rPr>
              <a:t>动力响应性能提升</a:t>
            </a:r>
            <a:endParaRPr lang="en-US" sz="1100"/>
          </a:p>
        </p:txBody>
      </p:sp>
      <p:sp>
        <p:nvSpPr>
          <p:cNvPr id="6" name="AutoShape 6"/>
          <p:cNvSpPr/>
          <p:nvPr/>
        </p:nvSpPr>
        <p:spPr>
          <a:xfrm>
            <a:off x="8305800" y="508000"/>
            <a:ext cx="3175000" cy="381000"/>
          </a:xfrm>
          <a:prstGeom prst="rect">
            <a:avLst/>
          </a:prstGeom>
          <a:noFill/>
          <a:ln w="12700" cap="flat" cmpd="sng">
            <a:noFill/>
            <a:prstDash val="solid"/>
            <a:round/>
          </a:ln>
        </p:spPr>
        <p:txBody>
          <a:bodyPr vert="horz" wrap="square" lIns="0" tIns="0" rIns="0" bIns="0" rtlCol="0" anchor="ctr" anchorCtr="0"/>
          <a:p>
            <a:pPr marL="0" indent="0" algn="r">
              <a:lnSpc>
                <a:spcPct val="125000"/>
              </a:lnSpc>
              <a:defRPr/>
            </a:pPr>
            <a:endParaRPr lang="en-US" sz="1100"/>
          </a:p>
        </p:txBody>
      </p:sp>
      <p:cxnSp>
        <p:nvCxnSpPr>
          <p:cNvPr id="21" name="直接连接符 20"/>
          <p:cNvCxnSpPr/>
          <p:nvPr/>
        </p:nvCxnSpPr>
        <p:spPr>
          <a:xfrm flipV="1">
            <a:off x="1401940" y="1087865"/>
            <a:ext cx="10168890" cy="34925"/>
          </a:xfrm>
          <a:prstGeom prst="line">
            <a:avLst/>
          </a:prstGeom>
          <a:ln w="28575" cmpd="sng">
            <a:solidFill>
              <a:srgbClr val="023A8C"/>
            </a:solidFill>
            <a:prstDash val="solid"/>
          </a:ln>
        </p:spPr>
        <p:style>
          <a:lnRef idx="2">
            <a:schemeClr val="accent1"/>
          </a:lnRef>
          <a:fillRef idx="0">
            <a:srgbClr val="FFFFFF"/>
          </a:fillRef>
          <a:effectRef idx="0">
            <a:srgbClr val="FFFFFF"/>
          </a:effectRef>
          <a:fontRef idx="minor">
            <a:schemeClr val="tx1"/>
          </a:fontRef>
        </p:style>
      </p:cxnSp>
      <p:sp>
        <p:nvSpPr>
          <p:cNvPr id="7" name="AutoShape 4"/>
          <p:cNvSpPr/>
          <p:nvPr/>
        </p:nvSpPr>
        <p:spPr>
          <a:xfrm>
            <a:off x="711200" y="1427480"/>
            <a:ext cx="152400" cy="152400"/>
          </a:xfrm>
          <a:prstGeom prst="roundRect">
            <a:avLst>
              <a:gd name="adj" fmla="val 0"/>
            </a:avLst>
          </a:prstGeom>
          <a:solidFill>
            <a:srgbClr val="004488">
              <a:alpha val="100000"/>
            </a:srgbClr>
          </a:solidFill>
          <a:ln w="25400" cap="flat" cmpd="sng">
            <a:noFill/>
            <a:prstDash val="solid"/>
            <a:round/>
          </a:ln>
        </p:spPr>
        <p:txBody>
          <a:bodyPr vert="horz" wrap="square" lIns="63500" tIns="63500" rIns="63500" bIns="63500" rtlCol="0" anchor="ctr"/>
          <a:p>
            <a:pPr algn="ctr">
              <a:defRPr/>
            </a:pPr>
          </a:p>
        </p:txBody>
      </p:sp>
      <p:sp>
        <p:nvSpPr>
          <p:cNvPr id="8" name="文本框 7"/>
          <p:cNvSpPr txBox="1"/>
          <p:nvPr/>
        </p:nvSpPr>
        <p:spPr>
          <a:xfrm>
            <a:off x="863600" y="1226820"/>
            <a:ext cx="6096000" cy="553085"/>
          </a:xfrm>
          <a:prstGeom prst="rect">
            <a:avLst/>
          </a:prstGeom>
          <a:noFill/>
        </p:spPr>
        <p:txBody>
          <a:bodyPr wrap="square" rtlCol="0" anchor="t">
            <a:spAutoFit/>
          </a:bodyPr>
          <a:p>
            <a:pPr marL="0" indent="0" algn="l">
              <a:lnSpc>
                <a:spcPct val="125000"/>
              </a:lnSpc>
              <a:defRPr/>
            </a:pPr>
            <a:r>
              <a:rPr lang="en-US" sz="2400" b="1">
                <a:latin typeface="微软雅黑" panose="020B0503020204020204" charset="-122"/>
                <a:ea typeface="微软雅黑" panose="020B0503020204020204" charset="-122"/>
                <a:cs typeface="微软雅黑" panose="020B0503020204020204" charset="-122"/>
                <a:sym typeface="微软雅黑" panose="020B0503020204020204" charset="-122"/>
              </a:rPr>
              <a:t>对比3D-OPTMD与TMD的减振效果</a:t>
            </a:r>
            <a:endParaRPr lang="en-US" altLang="en-US" sz="2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nvSpPr>
        <p:spPr>
          <a:xfrm>
            <a:off x="5202555" y="1779270"/>
            <a:ext cx="5953125" cy="1426845"/>
          </a:xfrm>
          <a:prstGeom prst="rect">
            <a:avLst/>
          </a:prstGeom>
          <a:ln w="9525" cap="flat" cmpd="sng" algn="ctr">
            <a:solidFill>
              <a:schemeClr val="accent3"/>
            </a:solidFill>
            <a:prstDash val="dash"/>
          </a:ln>
        </p:spPr>
        <p:style>
          <a:lnRef idx="0">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文本框 10"/>
          <p:cNvSpPr txBox="1"/>
          <p:nvPr/>
        </p:nvSpPr>
        <p:spPr>
          <a:xfrm>
            <a:off x="5202555" y="1779905"/>
            <a:ext cx="5953125" cy="1426210"/>
          </a:xfrm>
          <a:prstGeom prst="rect">
            <a:avLst/>
          </a:prstGeom>
          <a:noFill/>
        </p:spPr>
        <p:txBody>
          <a:bodyPr wrap="square" rtlCol="0">
            <a:noAutofit/>
          </a:bodyPr>
          <a:p>
            <a:pPr marL="0" algn="l">
              <a:lnSpc>
                <a:spcPct val="108000"/>
              </a:lnSpc>
              <a:buSzTx/>
              <a:defRPr/>
            </a:pPr>
            <a:r>
              <a:rPr lang="en-US" sz="1600" b="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3D-OPTMD减振效果受频率比、阻尼比及碰撞间隔耦合影响，呈现显著非线性特征。经参数寻优，最优参数为：碰撞间隔 </a:t>
            </a:r>
            <a:r>
              <a:rPr lang="en-US" sz="1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0.4m</a:t>
            </a:r>
            <a:r>
              <a:rPr lang="en-US" sz="1600" b="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、频率比 </a:t>
            </a:r>
            <a:r>
              <a:rPr lang="en-US" sz="1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0.8</a:t>
            </a:r>
            <a:r>
              <a:rPr lang="en-US" sz="1600" b="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、阻尼比</a:t>
            </a:r>
            <a:r>
              <a:rPr lang="en-US" sz="1600" b="1">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0.09</a:t>
            </a:r>
            <a:r>
              <a:rPr lang="en-US" sz="1600" b="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。此参数下平均减振效果达 10.36%，优于TMD的8.91%，且协调质量块位移减少超45%，大幅节省安装空间。</a:t>
            </a:r>
            <a:endParaRPr lang="en-US" sz="1600" b="1">
              <a:solidFill>
                <a:srgbClr val="333333"/>
              </a:solidFill>
              <a:latin typeface="微软雅黑" panose="020B0503020204020204" charset="-122"/>
              <a:ea typeface="微软雅黑" panose="020B0503020204020204" charset="-122"/>
              <a:cs typeface="微软雅黑" panose="020B0503020204020204" charset="-122"/>
            </a:endParaRPr>
          </a:p>
        </p:txBody>
      </p:sp>
      <p:pic>
        <p:nvPicPr>
          <p:cNvPr id="12" name="图片 11" descr="屏幕截图 2026-09-04 001304"/>
          <p:cNvPicPr>
            <a:picLocks noChangeAspect="1"/>
          </p:cNvPicPr>
          <p:nvPr/>
        </p:nvPicPr>
        <p:blipFill>
          <a:blip r:embed="rId1"/>
          <a:stretch>
            <a:fillRect/>
          </a:stretch>
        </p:blipFill>
        <p:spPr>
          <a:xfrm>
            <a:off x="528320" y="1779905"/>
            <a:ext cx="4421505" cy="4968240"/>
          </a:xfrm>
          <a:prstGeom prst="rect">
            <a:avLst/>
          </a:prstGeom>
        </p:spPr>
      </p:pic>
      <p:pic>
        <p:nvPicPr>
          <p:cNvPr id="13" name="图片 12" descr="屏幕截图 2026-09-04 001252"/>
          <p:cNvPicPr>
            <a:picLocks noChangeAspect="1"/>
          </p:cNvPicPr>
          <p:nvPr/>
        </p:nvPicPr>
        <p:blipFill>
          <a:blip r:embed="rId2"/>
          <a:stretch>
            <a:fillRect/>
          </a:stretch>
        </p:blipFill>
        <p:spPr>
          <a:xfrm>
            <a:off x="5201920" y="3429000"/>
            <a:ext cx="5953760" cy="2827020"/>
          </a:xfrm>
          <a:prstGeom prst="rect">
            <a:avLst/>
          </a:prstGeom>
        </p:spPr>
      </p:pic>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64/68</a:t>
            </a:r>
            <a:endParaRPr lang="en-US" altLang="zh-CN">
              <a:latin typeface="微软雅黑" panose="020B0503020204020204" charset="-122"/>
              <a:ea typeface="微软雅黑" panose="020B0503020204020204" charset="-122"/>
            </a:endParaRPr>
          </a:p>
        </p:txBody>
      </p:sp>
      <p:sp>
        <p:nvSpPr>
          <p:cNvPr id="10" name="文本框 9"/>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sub-bullet"/>
          <p:cNvSpPr/>
          <p:nvPr/>
        </p:nvSpPr>
        <p:spPr>
          <a:xfrm>
            <a:off x="736600" y="1371600"/>
            <a:ext cx="165100" cy="165100"/>
          </a:xfrm>
          <a:prstGeom prst="rect">
            <a:avLst/>
          </a:prstGeom>
          <a:solidFill>
            <a:srgbClr val="2F5B9E"/>
          </a:solidFill>
          <a:ln>
            <a:noFill/>
          </a:ln>
        </p:spPr>
      </p:sp>
      <p:sp>
        <p:nvSpPr>
          <p:cNvPr id="10" name="subtitle"/>
          <p:cNvSpPr txBox="1"/>
          <p:nvPr/>
        </p:nvSpPr>
        <p:spPr>
          <a:xfrm>
            <a:off x="1016000" y="1270000"/>
            <a:ext cx="10668000" cy="381000"/>
          </a:xfrm>
          <a:prstGeom prst="rect">
            <a:avLst/>
          </a:prstGeom>
          <a:noFill/>
          <a:ln>
            <a:noFill/>
          </a:ln>
        </p:spPr>
        <p:txBody>
          <a:bodyPr wrap="none" lIns="0" tIns="0" rIns="0" bIns="0" rtlCol="0" anchor="ctr"/>
          <a:p>
            <a:pPr algn="l">
              <a:lnSpc>
                <a:spcPct val="120000"/>
              </a:lnSpc>
            </a:pPr>
            <a:r>
              <a:rPr lang="en-US" sz="2400" b="1" noProof="1">
                <a:solidFill>
                  <a:srgbClr val="1F3864"/>
                </a:solidFill>
                <a:latin typeface="微软雅黑" panose="020B0503020204020204" charset="-122"/>
                <a:ea typeface="微软雅黑" panose="020B0503020204020204" charset="-122"/>
              </a:rPr>
              <a:t>受控前后的可靠度水平对比，进一步考虑了不确定性因素的影响</a:t>
            </a:r>
            <a:endParaRPr lang="en-US" sz="2400" b="1" noProof="1">
              <a:solidFill>
                <a:srgbClr val="1F3864"/>
              </a:solidFill>
              <a:latin typeface="微软雅黑" panose="020B0503020204020204" charset="-122"/>
              <a:ea typeface="微软雅黑" panose="020B0503020204020204" charset="-122"/>
            </a:endParaRPr>
          </a:p>
        </p:txBody>
      </p:sp>
      <p:sp>
        <p:nvSpPr>
          <p:cNvPr id="11" name="chart-card"/>
          <p:cNvSpPr/>
          <p:nvPr/>
        </p:nvSpPr>
        <p:spPr>
          <a:xfrm>
            <a:off x="635000" y="1803400"/>
            <a:ext cx="5054600" cy="4724400"/>
          </a:xfrm>
          <a:prstGeom prst="roundRect">
            <a:avLst>
              <a:gd name="adj" fmla="val 6000"/>
            </a:avLst>
          </a:prstGeom>
          <a:noFill/>
          <a:ln w="12700">
            <a:solidFill>
              <a:srgbClr val="BFBFBF"/>
            </a:solidFill>
          </a:ln>
        </p:spPr>
      </p:sp>
      <p:pic>
        <p:nvPicPr>
          <p:cNvPr id="12" name="chart-img"/>
          <p:cNvPicPr/>
          <p:nvPr/>
        </p:nvPicPr>
        <p:blipFill>
          <a:blip r:embed="rId1"/>
          <a:srcRect l="-2370" r="-2370"/>
          <a:stretch>
            <a:fillRect/>
          </a:stretch>
        </p:blipFill>
        <p:spPr>
          <a:xfrm>
            <a:off x="711200" y="1879600"/>
            <a:ext cx="4902200" cy="4572000"/>
          </a:xfrm>
          <a:prstGeom prst="rect">
            <a:avLst/>
          </a:prstGeom>
          <a:ln>
            <a:noFill/>
          </a:ln>
        </p:spPr>
      </p:pic>
      <p:sp>
        <p:nvSpPr>
          <p:cNvPr id="13" name="text-card"/>
          <p:cNvSpPr/>
          <p:nvPr/>
        </p:nvSpPr>
        <p:spPr>
          <a:xfrm>
            <a:off x="5943600" y="1752600"/>
            <a:ext cx="5689600" cy="2438400"/>
          </a:xfrm>
          <a:prstGeom prst="roundRect">
            <a:avLst>
              <a:gd name="adj" fmla="val 8000"/>
            </a:avLst>
          </a:prstGeom>
          <a:noFill/>
          <a:ln w="12700">
            <a:solidFill>
              <a:srgbClr val="BFBFBF"/>
            </a:solidFill>
          </a:ln>
        </p:spPr>
      </p:sp>
      <p:sp>
        <p:nvSpPr>
          <p:cNvPr id="14" name="text-body"/>
          <p:cNvSpPr txBox="1"/>
          <p:nvPr/>
        </p:nvSpPr>
        <p:spPr>
          <a:xfrm>
            <a:off x="6121400" y="1854200"/>
            <a:ext cx="5359400" cy="2260600"/>
          </a:xfrm>
          <a:prstGeom prst="rect">
            <a:avLst/>
          </a:prstGeom>
          <a:noFill/>
          <a:ln>
            <a:noFill/>
          </a:ln>
        </p:spPr>
        <p:txBody>
          <a:bodyPr wrap="square" lIns="0" tIns="0" rIns="0" bIns="0" rtlCol="0" anchor="ctr"/>
          <a:p>
            <a:pPr algn="l">
              <a:lnSpc>
                <a:spcPct val="125000"/>
              </a:lnSpc>
              <a:spcBef>
                <a:spcPts val="10"/>
              </a:spcBef>
              <a:buChar char="•"/>
            </a:pPr>
            <a:r>
              <a:rPr lang="en-US" sz="1350" noProof="1">
                <a:solidFill>
                  <a:srgbClr val="000000"/>
                </a:solidFill>
                <a:latin typeface="MiSans" charset="-122"/>
                <a:ea typeface="MiSans" charset="-122"/>
              </a:rPr>
              <a:t>将900组输入随机变量重新输入受控风电机组动力模型，采用谐波变换法重构塔顶水平位移极值，得到PDF与POE曲线。以建议二给出的水平位移角限值计算可靠度结果：</a:t>
            </a:r>
            <a:endParaRPr lang="en-US" sz="1350" noProof="1"/>
          </a:p>
          <a:p>
            <a:pPr marL="254000" algn="l">
              <a:lnSpc>
                <a:spcPct val="125000"/>
              </a:lnSpc>
            </a:pPr>
            <a:r>
              <a:rPr lang="en-US" sz="1350" noProof="1">
                <a:solidFill>
                  <a:srgbClr val="000000"/>
                </a:solidFill>
                <a:latin typeface="MiSans" charset="-122"/>
                <a:ea typeface="MiSans" charset="-122"/>
              </a:rPr>
              <a:t>失效概率：</a:t>
            </a:r>
            <a:r>
              <a:rPr lang="en-US" sz="1350" b="1" noProof="1">
                <a:solidFill>
                  <a:srgbClr val="C00000"/>
                </a:solidFill>
                <a:latin typeface="MiSans" charset="-122"/>
                <a:ea typeface="MiSans" charset="-122"/>
              </a:rPr>
              <a:t>9.87×10</a:t>
            </a:r>
            <a:r>
              <a:rPr lang="en-US" sz="1350" b="1" baseline="30000" noProof="1">
                <a:solidFill>
                  <a:srgbClr val="C00000"/>
                </a:solidFill>
                <a:latin typeface="MiSans" charset="-122"/>
                <a:ea typeface="MiSans" charset="-122"/>
              </a:rPr>
              <a:t>-6</a:t>
            </a:r>
            <a:endParaRPr lang="en-US" sz="1350" noProof="1"/>
          </a:p>
          <a:p>
            <a:pPr marL="254000" algn="l">
              <a:lnSpc>
                <a:spcPct val="125000"/>
              </a:lnSpc>
            </a:pPr>
            <a:r>
              <a:rPr lang="en-US" sz="1350" noProof="1">
                <a:solidFill>
                  <a:srgbClr val="000000"/>
                </a:solidFill>
                <a:latin typeface="MiSans" charset="-122"/>
                <a:ea typeface="MiSans" charset="-122"/>
              </a:rPr>
              <a:t>可靠指标：</a:t>
            </a:r>
            <a:r>
              <a:rPr lang="en-US" sz="1350" b="1" noProof="1">
                <a:solidFill>
                  <a:srgbClr val="C00000"/>
                </a:solidFill>
                <a:latin typeface="MiSans" charset="-122"/>
                <a:ea typeface="MiSans" charset="-122"/>
              </a:rPr>
              <a:t>4.27</a:t>
            </a:r>
            <a:endParaRPr lang="en-US" sz="1350" noProof="1"/>
          </a:p>
          <a:p>
            <a:pPr marL="254000" algn="l">
              <a:lnSpc>
                <a:spcPct val="125000"/>
              </a:lnSpc>
            </a:pPr>
            <a:r>
              <a:rPr lang="en-US" sz="1350" noProof="1">
                <a:solidFill>
                  <a:srgbClr val="000000"/>
                </a:solidFill>
                <a:latin typeface="MiSans" charset="-122"/>
                <a:ea typeface="MiSans" charset="-122"/>
              </a:rPr>
              <a:t>部件等级3级最小可靠指标要求：</a:t>
            </a:r>
            <a:r>
              <a:rPr lang="en-US" sz="1350" b="1" noProof="1">
                <a:solidFill>
                  <a:srgbClr val="C00000"/>
                </a:solidFill>
                <a:latin typeface="MiSans" charset="-122"/>
                <a:ea typeface="MiSans" charset="-122"/>
              </a:rPr>
              <a:t>3.7</a:t>
            </a:r>
            <a:endParaRPr lang="en-US" sz="1350" noProof="1"/>
          </a:p>
          <a:p>
            <a:pPr algn="l">
              <a:lnSpc>
                <a:spcPct val="125000"/>
              </a:lnSpc>
              <a:spcBef>
                <a:spcPts val="10"/>
              </a:spcBef>
              <a:buChar char="•"/>
            </a:pPr>
            <a:r>
              <a:rPr lang="en-US" sz="1350" b="1" noProof="1">
                <a:solidFill>
                  <a:srgbClr val="000000"/>
                </a:solidFill>
                <a:latin typeface="MiSans" charset="-122"/>
                <a:ea typeface="MiSans" charset="-122"/>
              </a:rPr>
              <a:t>位移响应得到有效抑制，整体动力可靠度显著提升。</a:t>
            </a:r>
            <a:endParaRPr lang="en-US" sz="1350" noProof="1"/>
          </a:p>
        </p:txBody>
      </p:sp>
      <p:graphicFrame>
        <p:nvGraphicFramePr>
          <p:cNvPr id="15" name="compare-table"/>
          <p:cNvGraphicFramePr>
            <a:graphicFrameLocks noGrp="1"/>
          </p:cNvGraphicFramePr>
          <p:nvPr/>
        </p:nvGraphicFramePr>
        <p:xfrm>
          <a:off x="5943600" y="4368800"/>
          <a:ext cx="5689600" cy="1549400"/>
        </p:xfrm>
        <a:graphic>
          <a:graphicData uri="http://schemas.openxmlformats.org/drawingml/2006/table">
            <a:tbl>
              <a:tblPr/>
              <a:tblGrid>
                <a:gridCol w="2617216"/>
                <a:gridCol w="1536192"/>
                <a:gridCol w="1536192"/>
              </a:tblGrid>
              <a:tr h="387350">
                <a:tc>
                  <a:txBody>
                    <a:bodyPr/>
                    <a:p>
                      <a:pPr algn="ctr"/>
                      <a:r>
                        <a:rPr lang="en-US" sz="1300" b="1" noProof="1">
                          <a:solidFill>
                            <a:srgbClr val="FFFFFF"/>
                          </a:solidFill>
                          <a:latin typeface="Times New Roman" panose="02020603050405020304"/>
                          <a:ea typeface="Times New Roman" panose="02020603050405020304"/>
                        </a:rPr>
                        <a:t>指标</a:t>
                      </a:r>
                      <a:endParaRPr lang="en-US" sz="1300" b="1" noProof="1">
                        <a:solidFill>
                          <a:srgbClr val="FFFFFF"/>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solidFill>
                      <a:srgbClr val="1F3864"/>
                    </a:solidFill>
                  </a:tcPr>
                </a:tc>
                <a:tc>
                  <a:txBody>
                    <a:bodyPr/>
                    <a:p>
                      <a:pPr algn="ctr"/>
                      <a:r>
                        <a:rPr lang="en-US" sz="1300" b="1" noProof="1">
                          <a:solidFill>
                            <a:srgbClr val="FFFFFF"/>
                          </a:solidFill>
                          <a:latin typeface="Times New Roman" panose="02020603050405020304"/>
                          <a:ea typeface="Times New Roman" panose="02020603050405020304"/>
                        </a:rPr>
                        <a:t>无控</a:t>
                      </a:r>
                      <a:endParaRPr lang="en-US" sz="1300" b="1" noProof="1">
                        <a:solidFill>
                          <a:srgbClr val="FFFFFF"/>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solidFill>
                      <a:srgbClr val="1F3864"/>
                    </a:solidFill>
                  </a:tcPr>
                </a:tc>
                <a:tc>
                  <a:txBody>
                    <a:bodyPr/>
                    <a:p>
                      <a:pPr algn="ctr"/>
                      <a:r>
                        <a:rPr lang="en-US" sz="1300" b="1" noProof="1">
                          <a:solidFill>
                            <a:srgbClr val="FFFFFF"/>
                          </a:solidFill>
                          <a:latin typeface="Times New Roman" panose="02020603050405020304"/>
                          <a:ea typeface="Times New Roman" panose="02020603050405020304"/>
                        </a:rPr>
                        <a:t>受控</a:t>
                      </a:r>
                      <a:endParaRPr lang="en-US" sz="1300" b="1" noProof="1">
                        <a:solidFill>
                          <a:srgbClr val="FFFFFF"/>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solidFill>
                      <a:srgbClr val="1F3864"/>
                    </a:solidFill>
                  </a:tcPr>
                </a:tc>
              </a:tr>
              <a:tr h="387350">
                <a:tc>
                  <a:txBody>
                    <a:bodyPr/>
                    <a:p>
                      <a:pPr algn="ctr"/>
                      <a:r>
                        <a:rPr lang="en-US" sz="1300" noProof="1">
                          <a:solidFill>
                            <a:srgbClr val="333333"/>
                          </a:solidFill>
                          <a:latin typeface="Times New Roman" panose="02020603050405020304"/>
                          <a:ea typeface="Times New Roman" panose="02020603050405020304"/>
                        </a:rPr>
                        <a:t>最大塔顶水平位移均值（m）</a:t>
                      </a:r>
                      <a:endParaRPr lang="en-US" sz="1300" noProof="1">
                        <a:solidFill>
                          <a:srgbClr val="333333"/>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c>
                  <a:txBody>
                    <a:bodyPr/>
                    <a:p>
                      <a:pPr algn="ctr"/>
                      <a:r>
                        <a:rPr lang="en-US" sz="1300" noProof="1">
                          <a:solidFill>
                            <a:srgbClr val="333333"/>
                          </a:solidFill>
                          <a:latin typeface="Times New Roman" panose="02020603050405020304"/>
                          <a:ea typeface="Times New Roman" panose="02020603050405020304"/>
                        </a:rPr>
                        <a:t>1.36</a:t>
                      </a:r>
                      <a:endParaRPr lang="en-US" sz="1300" noProof="1">
                        <a:solidFill>
                          <a:srgbClr val="333333"/>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c>
                  <a:txBody>
                    <a:bodyPr/>
                    <a:p>
                      <a:pPr algn="ctr"/>
                      <a:r>
                        <a:rPr lang="en-US" sz="1300" b="1" noProof="1">
                          <a:solidFill>
                            <a:srgbClr val="C00000"/>
                          </a:solidFill>
                          <a:latin typeface="Times New Roman" panose="02020603050405020304"/>
                          <a:ea typeface="Times New Roman" panose="02020603050405020304"/>
                        </a:rPr>
                        <a:t>1.20</a:t>
                      </a:r>
                      <a:endParaRPr lang="en-US" sz="1300" b="1" noProof="1">
                        <a:solidFill>
                          <a:srgbClr val="C00000"/>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r>
              <a:tr h="387350">
                <a:tc>
                  <a:txBody>
                    <a:bodyPr/>
                    <a:p>
                      <a:pPr algn="ctr"/>
                      <a:r>
                        <a:rPr lang="en-US" sz="1300" noProof="1">
                          <a:solidFill>
                            <a:srgbClr val="333333"/>
                          </a:solidFill>
                          <a:latin typeface="Times New Roman" panose="02020603050405020304"/>
                          <a:ea typeface="Times New Roman" panose="02020603050405020304"/>
                        </a:rPr>
                        <a:t>失效概率</a:t>
                      </a:r>
                      <a:endParaRPr lang="en-US" sz="1300" noProof="1">
                        <a:solidFill>
                          <a:srgbClr val="333333"/>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c>
                  <a:txBody>
                    <a:bodyPr/>
                    <a:p>
                      <a:pPr algn="ctr"/>
                      <a:r>
                        <a:rPr lang="en-US" sz="1300" noProof="1">
                          <a:solidFill>
                            <a:srgbClr val="333333"/>
                          </a:solidFill>
                          <a:latin typeface="Times New Roman" panose="02020603050405020304"/>
                          <a:ea typeface="Times New Roman" panose="02020603050405020304"/>
                        </a:rPr>
                        <a:t>2.94 × 10</a:t>
                      </a:r>
                      <a:r>
                        <a:rPr lang="en-US" sz="1300" baseline="30000" noProof="1">
                          <a:solidFill>
                            <a:srgbClr val="333333"/>
                          </a:solidFill>
                          <a:latin typeface="Times New Roman" panose="02020603050405020304"/>
                          <a:ea typeface="Times New Roman" panose="02020603050405020304"/>
                        </a:rPr>
                        <a:t>-4</a:t>
                      </a:r>
                      <a:endParaRPr lang="en-US" sz="1300" baseline="30000" noProof="1">
                        <a:solidFill>
                          <a:srgbClr val="333333"/>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c>
                  <a:txBody>
                    <a:bodyPr/>
                    <a:p>
                      <a:pPr algn="ctr"/>
                      <a:r>
                        <a:rPr lang="en-US" sz="1300" b="1" noProof="1">
                          <a:solidFill>
                            <a:srgbClr val="C00000"/>
                          </a:solidFill>
                          <a:latin typeface="Times New Roman" panose="02020603050405020304"/>
                          <a:ea typeface="Times New Roman" panose="02020603050405020304"/>
                        </a:rPr>
                        <a:t>9.87 × 10</a:t>
                      </a:r>
                      <a:r>
                        <a:rPr lang="en-US" sz="1300" b="1" baseline="30000" noProof="1">
                          <a:solidFill>
                            <a:srgbClr val="C00000"/>
                          </a:solidFill>
                          <a:latin typeface="Times New Roman" panose="02020603050405020304"/>
                          <a:ea typeface="Times New Roman" panose="02020603050405020304"/>
                        </a:rPr>
                        <a:t>-6</a:t>
                      </a:r>
                      <a:endParaRPr lang="en-US" sz="1300" b="1" baseline="30000" noProof="1">
                        <a:solidFill>
                          <a:srgbClr val="C00000"/>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r>
              <a:tr h="387350">
                <a:tc>
                  <a:txBody>
                    <a:bodyPr/>
                    <a:p>
                      <a:pPr algn="ctr"/>
                      <a:r>
                        <a:rPr lang="en-US" sz="1300" noProof="1">
                          <a:solidFill>
                            <a:srgbClr val="333333"/>
                          </a:solidFill>
                          <a:latin typeface="Times New Roman" panose="02020603050405020304"/>
                          <a:ea typeface="Times New Roman" panose="02020603050405020304"/>
                        </a:rPr>
                        <a:t>可靠指标</a:t>
                      </a:r>
                      <a:endParaRPr lang="en-US" sz="1300" noProof="1">
                        <a:solidFill>
                          <a:srgbClr val="333333"/>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c>
                  <a:txBody>
                    <a:bodyPr/>
                    <a:p>
                      <a:pPr algn="ctr"/>
                      <a:r>
                        <a:rPr lang="en-US" sz="1300" noProof="1">
                          <a:solidFill>
                            <a:srgbClr val="333333"/>
                          </a:solidFill>
                          <a:latin typeface="Times New Roman" panose="02020603050405020304"/>
                          <a:ea typeface="Times New Roman" panose="02020603050405020304"/>
                        </a:rPr>
                        <a:t>3.44</a:t>
                      </a:r>
                      <a:endParaRPr lang="en-US" sz="1300" noProof="1">
                        <a:solidFill>
                          <a:srgbClr val="333333"/>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c>
                  <a:txBody>
                    <a:bodyPr/>
                    <a:p>
                      <a:pPr algn="ctr"/>
                      <a:r>
                        <a:rPr lang="en-US" sz="1300" b="1" noProof="1">
                          <a:solidFill>
                            <a:srgbClr val="C00000"/>
                          </a:solidFill>
                          <a:latin typeface="Times New Roman" panose="02020603050405020304"/>
                          <a:ea typeface="Times New Roman" panose="02020603050405020304"/>
                        </a:rPr>
                        <a:t>4.27</a:t>
                      </a:r>
                      <a:endParaRPr lang="en-US" sz="1300" b="1" noProof="1">
                        <a:solidFill>
                          <a:srgbClr val="C00000"/>
                        </a:solidFill>
                        <a:latin typeface="Times New Roman" panose="02020603050405020304"/>
                        <a:ea typeface="Times New Roman" panose="02020603050405020304"/>
                      </a:endParaRPr>
                    </a:p>
                  </a:txBody>
                  <a:tcPr anchor="ctr">
                    <a:lnL w="12700">
                      <a:solidFill>
                        <a:srgbClr val="8EAADB"/>
                      </a:solidFill>
                    </a:lnL>
                    <a:lnR w="12700">
                      <a:solidFill>
                        <a:srgbClr val="8EAADB"/>
                      </a:solidFill>
                    </a:lnR>
                    <a:lnT w="12700">
                      <a:solidFill>
                        <a:srgbClr val="8EAADB"/>
                      </a:solidFill>
                    </a:lnT>
                    <a:lnB w="12700">
                      <a:solidFill>
                        <a:srgbClr val="8EAADB"/>
                      </a:solidFill>
                    </a:lnB>
                    <a:noFill/>
                  </a:tcPr>
                </a:tc>
              </a:tr>
            </a:tbl>
          </a:graphicData>
        </a:graphic>
      </p:graphicFrame>
      <p:sp>
        <p:nvSpPr>
          <p:cNvPr id="16" name="conclusion"/>
          <p:cNvSpPr txBox="1"/>
          <p:nvPr/>
        </p:nvSpPr>
        <p:spPr>
          <a:xfrm>
            <a:off x="5943600" y="6019800"/>
            <a:ext cx="5689600" cy="762000"/>
          </a:xfrm>
          <a:prstGeom prst="rect">
            <a:avLst/>
          </a:prstGeom>
          <a:noFill/>
          <a:ln>
            <a:noFill/>
          </a:ln>
        </p:spPr>
        <p:txBody>
          <a:bodyPr wrap="square" lIns="0" tIns="0" rIns="0" bIns="0" rtlCol="0" anchor="t"/>
          <a:p>
            <a:pPr algn="l">
              <a:lnSpc>
                <a:spcPct val="130000"/>
              </a:lnSpc>
            </a:pPr>
            <a:r>
              <a:rPr lang="en-US" sz="1300" b="1" noProof="1">
                <a:solidFill>
                  <a:srgbClr val="000000"/>
                </a:solidFill>
                <a:latin typeface="MiSans" charset="-122"/>
                <a:ea typeface="MiSans" charset="-122"/>
              </a:rPr>
              <a:t>3D-OPTMD融合了水平冲击耗能与斜向能量转化，较传统TMD具有更优的</a:t>
            </a:r>
            <a:r>
              <a:rPr lang="en-US" sz="1300" b="1" noProof="1">
                <a:solidFill>
                  <a:srgbClr val="C00000"/>
                </a:solidFill>
                <a:latin typeface="MiSans" charset="-122"/>
                <a:ea typeface="MiSans" charset="-122"/>
              </a:rPr>
              <a:t>控制性能</a:t>
            </a:r>
            <a:r>
              <a:rPr lang="en-US" sz="1300" b="1" noProof="1">
                <a:solidFill>
                  <a:srgbClr val="000000"/>
                </a:solidFill>
                <a:latin typeface="MiSans" charset="-122"/>
                <a:ea typeface="MiSans" charset="-122"/>
              </a:rPr>
              <a:t>；有效约束质量块运动幅值，降低了装置安装空间需求，显著提升</a:t>
            </a:r>
            <a:r>
              <a:rPr lang="en-US" sz="1300" b="1" noProof="1">
                <a:solidFill>
                  <a:srgbClr val="C00000"/>
                </a:solidFill>
                <a:latin typeface="MiSans" charset="-122"/>
                <a:ea typeface="MiSans" charset="-122"/>
              </a:rPr>
              <a:t>了混塔式风电机组在极端风况下的安全性与可靠性。</a:t>
            </a:r>
            <a:endParaRPr lang="en-US" sz="1300" noProof="1"/>
          </a:p>
        </p:txBody>
      </p:sp>
      <p:sp>
        <p:nvSpPr>
          <p:cNvPr id="17" name="AutoShape 2"/>
          <p:cNvSpPr/>
          <p:nvPr/>
        </p:nvSpPr>
        <p:spPr>
          <a:xfrm>
            <a:off x="711200" y="457200"/>
            <a:ext cx="635000" cy="635000"/>
          </a:xfrm>
          <a:prstGeom prst="ellipse">
            <a:avLst/>
          </a:prstGeom>
          <a:solidFill>
            <a:srgbClr val="2B4C8A"/>
          </a:solidFill>
          <a:ln w="25400" cap="flat" cmpd="sng">
            <a:noFill/>
            <a:prstDash val="solid"/>
            <a:round/>
          </a:ln>
        </p:spPr>
        <p:txBody>
          <a:bodyPr vert="horz" wrap="square" lIns="0" tIns="0" rIns="0" bIns="0" rtlCol="0" anchor="ctr" anchorCtr="0"/>
          <a:p>
            <a:pPr marL="0" indent="0" algn="ctr">
              <a:lnSpc>
                <a:spcPct val="125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endParaRPr lang="en-US" sz="1100"/>
          </a:p>
        </p:txBody>
      </p:sp>
      <p:sp>
        <p:nvSpPr>
          <p:cNvPr id="18" name="AutoShape 3"/>
          <p:cNvSpPr/>
          <p:nvPr/>
        </p:nvSpPr>
        <p:spPr>
          <a:xfrm>
            <a:off x="1524000" y="457200"/>
            <a:ext cx="7620000" cy="635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200" b="1" i="0" u="none" strike="noStrike">
                <a:solidFill>
                  <a:srgbClr val="004488"/>
                </a:solidFill>
                <a:latin typeface="微软雅黑" panose="020B0503020204020204" charset="-122"/>
                <a:ea typeface="微软雅黑" panose="020B0503020204020204" charset="-122"/>
                <a:cs typeface="微软雅黑" panose="020B0503020204020204" charset="-122"/>
                <a:sym typeface="微软雅黑" panose="020B0503020204020204" charset="-122"/>
              </a:rPr>
              <a:t>动力响应性能提升</a:t>
            </a:r>
            <a:endParaRPr lang="en-US" sz="1100"/>
          </a:p>
        </p:txBody>
      </p:sp>
      <p:sp>
        <p:nvSpPr>
          <p:cNvPr id="19" name="AutoShape 6"/>
          <p:cNvSpPr/>
          <p:nvPr/>
        </p:nvSpPr>
        <p:spPr>
          <a:xfrm>
            <a:off x="8305800" y="508000"/>
            <a:ext cx="3175000" cy="381000"/>
          </a:xfrm>
          <a:prstGeom prst="rect">
            <a:avLst/>
          </a:prstGeom>
          <a:noFill/>
          <a:ln w="12700" cap="flat" cmpd="sng">
            <a:noFill/>
            <a:prstDash val="solid"/>
            <a:round/>
          </a:ln>
        </p:spPr>
        <p:txBody>
          <a:bodyPr vert="horz" wrap="square" lIns="0" tIns="0" rIns="0" bIns="0" rtlCol="0" anchor="ctr" anchorCtr="0"/>
          <a:p>
            <a:pPr marL="0" indent="0" algn="r">
              <a:lnSpc>
                <a:spcPct val="125000"/>
              </a:lnSpc>
              <a:defRPr/>
            </a:pPr>
            <a:endParaRPr lang="en-US" sz="1100"/>
          </a:p>
        </p:txBody>
      </p:sp>
      <p:cxnSp>
        <p:nvCxnSpPr>
          <p:cNvPr id="21" name="直接连接符 20"/>
          <p:cNvCxnSpPr/>
          <p:nvPr/>
        </p:nvCxnSpPr>
        <p:spPr>
          <a:xfrm flipV="1">
            <a:off x="1401940" y="1087865"/>
            <a:ext cx="10168890" cy="34925"/>
          </a:xfrm>
          <a:prstGeom prst="line">
            <a:avLst/>
          </a:prstGeom>
          <a:ln w="28575" cmpd="sng">
            <a:solidFill>
              <a:srgbClr val="023A8C"/>
            </a:solidFill>
            <a:prstDash val="solid"/>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
        <p:nvSpPr>
          <p:cNvPr id="26" name="文本框 25"/>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65/68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2"/>
          <p:cNvPicPr>
            <a:picLocks noChangeAspect="1"/>
          </p:cNvPicPr>
          <p:nvPr/>
        </p:nvPicPr>
        <p:blipFill>
          <a:blip r:embed="rId1"/>
          <a:srcRect/>
          <a:stretch>
            <a:fillRect/>
          </a:stretch>
        </p:blipFill>
        <p:spPr>
          <a:xfrm>
            <a:off x="0" y="0"/>
            <a:ext cx="12192000" cy="939800"/>
          </a:xfrm>
          <a:prstGeom prst="rect">
            <a:avLst/>
          </a:prstGeom>
          <a:noFill/>
          <a:ln w="25400" cap="flat" cmpd="sng">
            <a:noFill/>
            <a:prstDash val="solid"/>
            <a:round/>
          </a:ln>
        </p:spPr>
      </p:pic>
      <p:sp>
        <p:nvSpPr>
          <p:cNvPr id="5" name="AutoShape 3"/>
          <p:cNvSpPr/>
          <p:nvPr/>
        </p:nvSpPr>
        <p:spPr>
          <a:xfrm>
            <a:off x="4826000" y="228600"/>
            <a:ext cx="2540000" cy="4064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6" name="AutoShape 4"/>
          <p:cNvSpPr/>
          <p:nvPr/>
        </p:nvSpPr>
        <p:spPr>
          <a:xfrm>
            <a:off x="4318000" y="914400"/>
            <a:ext cx="3556000" cy="2794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100" b="0" i="0" u="none" strike="noStrike">
                <a:solidFill>
                  <a:srgbClr val="828282"/>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7" name="AutoShape 5"/>
          <p:cNvSpPr/>
          <p:nvPr>
            <p:custDataLst>
              <p:tags r:id="rId2"/>
            </p:custDataLst>
          </p:nvPr>
        </p:nvSpPr>
        <p:spPr>
          <a:xfrm>
            <a:off x="2832100" y="1511300"/>
            <a:ext cx="6946900" cy="533400"/>
          </a:xfrm>
          <a:prstGeom prst="roundRect">
            <a:avLst>
              <a:gd name="adj" fmla="val 0"/>
            </a:avLst>
          </a:prstGeom>
          <a:solidFill>
            <a:srgbClr val="D5DCD5">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310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研究背景与意义</a:t>
            </a:r>
            <a:endParaRPr lang="en-US" sz="310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8" name="AutoShape 6"/>
          <p:cNvSpPr/>
          <p:nvPr>
            <p:custDataLst>
              <p:tags r:id="rId3"/>
            </p:custDataLst>
          </p:nvPr>
        </p:nvSpPr>
        <p:spPr>
          <a:xfrm>
            <a:off x="2514600" y="1422400"/>
            <a:ext cx="698500" cy="698500"/>
          </a:xfrm>
          <a:prstGeom prst="ellipse">
            <a:avLst/>
          </a:prstGeom>
          <a:solidFill>
            <a:srgbClr val="D5DCD5">
              <a:alpha val="100000"/>
            </a:srgbClr>
          </a:solidFill>
          <a:ln w="50800" cap="flat" cmpd="sng">
            <a:solidFill>
              <a:srgbClr val="FFFFFF">
                <a:alpha val="100000"/>
              </a:srgbClr>
            </a:solidFill>
            <a:prstDash val="solid"/>
            <a:round/>
          </a:ln>
        </p:spPr>
        <p:txBody>
          <a:bodyPr vert="horz" wrap="square" lIns="0" tIns="0" rIns="0" bIns="0" rtlCol="0" anchor="ctr" anchorCtr="0"/>
          <a:p>
            <a:pPr marL="0" indent="0" algn="ctr">
              <a:lnSpc>
                <a:spcPct val="125000"/>
              </a:lnSpc>
              <a:defRPr/>
            </a:pPr>
            <a:r>
              <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一</a:t>
            </a:r>
            <a:endPar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9" name="AutoShape 7"/>
          <p:cNvSpPr/>
          <p:nvPr>
            <p:custDataLst>
              <p:tags r:id="rId4"/>
            </p:custDataLst>
          </p:nvPr>
        </p:nvSpPr>
        <p:spPr>
          <a:xfrm>
            <a:off x="2832100" y="2298700"/>
            <a:ext cx="6946900" cy="533400"/>
          </a:xfrm>
          <a:prstGeom prst="roundRect">
            <a:avLst>
              <a:gd name="adj" fmla="val 0"/>
            </a:avLst>
          </a:prstGeom>
          <a:solidFill>
            <a:srgbClr val="D5DCD5">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310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多保真度耦合非线性动力学模型</a:t>
            </a:r>
            <a:endParaRPr lang="en-US" sz="3100">
              <a:latin typeface="微软雅黑" panose="020B0503020204020204" charset="-122"/>
              <a:ea typeface="微软雅黑" panose="020B0503020204020204" charset="-122"/>
            </a:endParaRPr>
          </a:p>
        </p:txBody>
      </p:sp>
      <p:sp>
        <p:nvSpPr>
          <p:cNvPr id="10" name="AutoShape 8"/>
          <p:cNvSpPr/>
          <p:nvPr>
            <p:custDataLst>
              <p:tags r:id="rId5"/>
            </p:custDataLst>
          </p:nvPr>
        </p:nvSpPr>
        <p:spPr>
          <a:xfrm>
            <a:off x="2514600" y="2209800"/>
            <a:ext cx="698500" cy="698500"/>
          </a:xfrm>
          <a:prstGeom prst="ellipse">
            <a:avLst/>
          </a:prstGeom>
          <a:solidFill>
            <a:srgbClr val="D5DCD5">
              <a:alpha val="100000"/>
            </a:srgbClr>
          </a:solidFill>
          <a:ln w="50800" cap="flat" cmpd="sng">
            <a:solidFill>
              <a:srgbClr val="FFFFFF">
                <a:alpha val="100000"/>
              </a:srgbClr>
            </a:solidFill>
            <a:prstDash val="solid"/>
            <a:round/>
          </a:ln>
        </p:spPr>
        <p:txBody>
          <a:bodyPr vert="horz" wrap="square" lIns="0" tIns="0" rIns="0" bIns="0" rtlCol="0" anchor="ctr" anchorCtr="0"/>
          <a:p>
            <a:pPr marL="0" indent="0" algn="ctr">
              <a:lnSpc>
                <a:spcPct val="125000"/>
              </a:lnSpc>
              <a:defRPr/>
            </a:pPr>
            <a:r>
              <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二</a:t>
            </a:r>
            <a:endPar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1" name="AutoShape 9"/>
          <p:cNvSpPr/>
          <p:nvPr>
            <p:custDataLst>
              <p:tags r:id="rId6"/>
            </p:custDataLst>
          </p:nvPr>
        </p:nvSpPr>
        <p:spPr>
          <a:xfrm>
            <a:off x="2832100" y="3086100"/>
            <a:ext cx="6946900" cy="533400"/>
          </a:xfrm>
          <a:prstGeom prst="roundRect">
            <a:avLst>
              <a:gd name="adj" fmla="val 0"/>
            </a:avLst>
          </a:prstGeom>
          <a:solidFill>
            <a:srgbClr val="D5DCD5">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310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动力响应性能与疲劳寿命评估</a:t>
            </a:r>
            <a:endParaRPr lang="en-US" sz="3100">
              <a:latin typeface="微软雅黑" panose="020B0503020204020204" charset="-122"/>
              <a:ea typeface="微软雅黑" panose="020B0503020204020204" charset="-122"/>
            </a:endParaRPr>
          </a:p>
        </p:txBody>
      </p:sp>
      <p:sp>
        <p:nvSpPr>
          <p:cNvPr id="12" name="AutoShape 10"/>
          <p:cNvSpPr/>
          <p:nvPr>
            <p:custDataLst>
              <p:tags r:id="rId7"/>
            </p:custDataLst>
          </p:nvPr>
        </p:nvSpPr>
        <p:spPr>
          <a:xfrm>
            <a:off x="2514600" y="2997200"/>
            <a:ext cx="698500" cy="698500"/>
          </a:xfrm>
          <a:prstGeom prst="ellipse">
            <a:avLst/>
          </a:prstGeom>
          <a:solidFill>
            <a:srgbClr val="D5DCD5">
              <a:alpha val="100000"/>
            </a:srgbClr>
          </a:solidFill>
          <a:ln w="50800" cap="flat" cmpd="sng">
            <a:solidFill>
              <a:srgbClr val="FFFFFF">
                <a:alpha val="100000"/>
              </a:srgbClr>
            </a:solidFill>
            <a:prstDash val="solid"/>
            <a:round/>
          </a:ln>
        </p:spPr>
        <p:txBody>
          <a:bodyPr vert="horz" wrap="square" lIns="0" tIns="0" rIns="0" bIns="0" rtlCol="0" anchor="ctr" anchorCtr="0"/>
          <a:p>
            <a:pPr marL="0" indent="0" algn="ctr">
              <a:lnSpc>
                <a:spcPct val="125000"/>
              </a:lnSpc>
              <a:defRPr/>
            </a:pPr>
            <a:r>
              <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三</a:t>
            </a:r>
            <a:endPar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3" name="AutoShape 11"/>
          <p:cNvSpPr/>
          <p:nvPr>
            <p:custDataLst>
              <p:tags r:id="rId8"/>
            </p:custDataLst>
          </p:nvPr>
        </p:nvSpPr>
        <p:spPr>
          <a:xfrm>
            <a:off x="2832100" y="3873500"/>
            <a:ext cx="6946900" cy="533400"/>
          </a:xfrm>
          <a:prstGeom prst="roundRect">
            <a:avLst>
              <a:gd name="adj" fmla="val 0"/>
            </a:avLst>
          </a:prstGeom>
          <a:solidFill>
            <a:srgbClr val="D5DCD5">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310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极端工况下动力可靠度评估</a:t>
            </a:r>
            <a:endParaRPr lang="en-US" sz="310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4" name="AutoShape 12"/>
          <p:cNvSpPr/>
          <p:nvPr>
            <p:custDataLst>
              <p:tags r:id="rId9"/>
            </p:custDataLst>
          </p:nvPr>
        </p:nvSpPr>
        <p:spPr>
          <a:xfrm>
            <a:off x="2514600" y="3784600"/>
            <a:ext cx="698500" cy="698500"/>
          </a:xfrm>
          <a:prstGeom prst="ellipse">
            <a:avLst/>
          </a:prstGeom>
          <a:solidFill>
            <a:srgbClr val="D5DCD5">
              <a:alpha val="100000"/>
            </a:srgbClr>
          </a:solidFill>
          <a:ln w="50800" cap="flat" cmpd="sng">
            <a:solidFill>
              <a:srgbClr val="FFFFFF">
                <a:alpha val="100000"/>
              </a:srgbClr>
            </a:solidFill>
            <a:prstDash val="solid"/>
            <a:round/>
          </a:ln>
        </p:spPr>
        <p:txBody>
          <a:bodyPr vert="horz" wrap="square" lIns="0" tIns="0" rIns="0" bIns="0" rtlCol="0" anchor="ctr" anchorCtr="0"/>
          <a:p>
            <a:pPr marL="0" indent="0" algn="ctr">
              <a:lnSpc>
                <a:spcPct val="125000"/>
              </a:lnSpc>
              <a:defRPr/>
            </a:pPr>
            <a:r>
              <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四</a:t>
            </a:r>
            <a:endPar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5" name="AutoShape 13"/>
          <p:cNvSpPr/>
          <p:nvPr>
            <p:custDataLst>
              <p:tags r:id="rId10"/>
            </p:custDataLst>
          </p:nvPr>
        </p:nvSpPr>
        <p:spPr>
          <a:xfrm>
            <a:off x="2832100" y="4660900"/>
            <a:ext cx="6946900" cy="533400"/>
          </a:xfrm>
          <a:prstGeom prst="roundRect">
            <a:avLst>
              <a:gd name="adj" fmla="val 0"/>
            </a:avLst>
          </a:prstGeom>
          <a:solidFill>
            <a:srgbClr val="D5DCD5">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310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动力响应性能提升</a:t>
            </a:r>
            <a:endParaRPr lang="en-US" sz="3100">
              <a:latin typeface="微软雅黑" panose="020B0503020204020204" charset="-122"/>
              <a:ea typeface="微软雅黑" panose="020B0503020204020204" charset="-122"/>
            </a:endParaRPr>
          </a:p>
        </p:txBody>
      </p:sp>
      <p:sp>
        <p:nvSpPr>
          <p:cNvPr id="16" name="AutoShape 14"/>
          <p:cNvSpPr/>
          <p:nvPr>
            <p:custDataLst>
              <p:tags r:id="rId11"/>
            </p:custDataLst>
          </p:nvPr>
        </p:nvSpPr>
        <p:spPr>
          <a:xfrm>
            <a:off x="2514600" y="4572000"/>
            <a:ext cx="698500" cy="698500"/>
          </a:xfrm>
          <a:prstGeom prst="ellipse">
            <a:avLst/>
          </a:prstGeom>
          <a:solidFill>
            <a:srgbClr val="D5DCD5">
              <a:alpha val="100000"/>
            </a:srgbClr>
          </a:solidFill>
          <a:ln w="50800" cap="flat" cmpd="sng">
            <a:solidFill>
              <a:srgbClr val="FFFFFF">
                <a:alpha val="100000"/>
              </a:srgbClr>
            </a:solidFill>
            <a:prstDash val="solid"/>
            <a:round/>
          </a:ln>
        </p:spPr>
        <p:txBody>
          <a:bodyPr vert="horz" wrap="square" lIns="0" tIns="0" rIns="0" bIns="0" rtlCol="0" anchor="ctr" anchorCtr="0"/>
          <a:p>
            <a:pPr marL="0" indent="0" algn="ctr">
              <a:lnSpc>
                <a:spcPct val="125000"/>
              </a:lnSpc>
              <a:defRPr/>
            </a:pPr>
            <a:r>
              <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rPr>
              <a:t>五</a:t>
            </a:r>
            <a:endParaRPr lang="en-US" sz="2250" i="0" u="none" strike="noStrike">
              <a:solidFill>
                <a:srgbClr val="64646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7" name="AutoShape 15"/>
          <p:cNvSpPr/>
          <p:nvPr/>
        </p:nvSpPr>
        <p:spPr>
          <a:xfrm>
            <a:off x="2832100" y="5448300"/>
            <a:ext cx="6946900" cy="533400"/>
          </a:xfrm>
          <a:prstGeom prst="roundRect">
            <a:avLst>
              <a:gd name="adj" fmla="val 0"/>
            </a:avLst>
          </a:prstGeom>
          <a:solidFill>
            <a:srgbClr val="1C4A89">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3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结论与展望</a:t>
            </a:r>
            <a:endParaRPr lang="en-US" sz="3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8" name="AutoShape 16"/>
          <p:cNvSpPr/>
          <p:nvPr/>
        </p:nvSpPr>
        <p:spPr>
          <a:xfrm>
            <a:off x="2514600" y="5359400"/>
            <a:ext cx="698500" cy="698500"/>
          </a:xfrm>
          <a:prstGeom prst="ellipse">
            <a:avLst/>
          </a:prstGeom>
          <a:solidFill>
            <a:srgbClr val="1C4A89">
              <a:alpha val="100000"/>
            </a:srgbClr>
          </a:solidFill>
          <a:ln w="50800" cap="flat" cmpd="sng">
            <a:solidFill>
              <a:srgbClr val="FFFFFF">
                <a:alpha val="100000"/>
              </a:srgbClr>
            </a:solidFill>
            <a:prstDash val="solid"/>
            <a:round/>
          </a:ln>
        </p:spPr>
        <p:txBody>
          <a:bodyPr vert="horz" wrap="square" lIns="0" tIns="0" rIns="0" bIns="0" rtlCol="0" anchor="ctr" anchorCtr="0"/>
          <a:p>
            <a:pPr marL="0" indent="0" algn="ctr">
              <a:lnSpc>
                <a:spcPct val="125000"/>
              </a:lnSpc>
              <a:defRPr/>
            </a:pPr>
            <a:r>
              <a:rPr lang="en-US" sz="225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六</a:t>
            </a:r>
            <a:endParaRPr lang="en-US" sz="2250">
              <a:latin typeface="微软雅黑" panose="020B0503020204020204" charset="-122"/>
              <a:ea typeface="微软雅黑" panose="020B0503020204020204" charset="-122"/>
            </a:endParaRPr>
          </a:p>
        </p:txBody>
      </p:sp>
      <p:sp>
        <p:nvSpPr>
          <p:cNvPr id="41" name="文本框 4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66/68</a:t>
            </a:r>
            <a:endParaRPr lang="en-US" altLang="zh-CN">
              <a:latin typeface="微软雅黑" panose="020B0503020204020204" charset="-122"/>
              <a:ea typeface="微软雅黑" panose="020B050302020402020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AutoShape 2"/>
          <p:cNvSpPr/>
          <p:nvPr/>
        </p:nvSpPr>
        <p:spPr>
          <a:xfrm>
            <a:off x="660400" y="431800"/>
            <a:ext cx="546100" cy="546100"/>
          </a:xfrm>
          <a:prstGeom prst="ellipse">
            <a:avLst/>
          </a:prstGeom>
          <a:solidFill>
            <a:srgbClr val="E6EBF0">
              <a:alpha val="100000"/>
            </a:srgbClr>
          </a:solidFill>
          <a:ln w="25400" cap="flat" cmpd="sng">
            <a:noFill/>
            <a:prstDash val="solid"/>
            <a:round/>
          </a:ln>
        </p:spPr>
        <p:txBody>
          <a:bodyPr vert="horz" wrap="square" lIns="63500" tIns="63500" rIns="63500" bIns="63500" rtlCol="0" anchor="ctr"/>
          <a:p>
            <a:pPr algn="ctr">
              <a:defRPr/>
            </a:pPr>
          </a:p>
        </p:txBody>
      </p:sp>
      <p:sp>
        <p:nvSpPr>
          <p:cNvPr id="5" name="AutoShape 3"/>
          <p:cNvSpPr/>
          <p:nvPr/>
        </p:nvSpPr>
        <p:spPr>
          <a:xfrm>
            <a:off x="660400" y="431800"/>
            <a:ext cx="546100" cy="546100"/>
          </a:xfrm>
          <a:prstGeom prst="ellipse">
            <a:avLst/>
          </a:prstGeom>
          <a:solidFill>
            <a:srgbClr val="2D508C">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2800"/>
          </a:p>
        </p:txBody>
      </p:sp>
      <p:sp>
        <p:nvSpPr>
          <p:cNvPr id="6" name="AutoShape 4"/>
          <p:cNvSpPr/>
          <p:nvPr/>
        </p:nvSpPr>
        <p:spPr>
          <a:xfrm>
            <a:off x="1282700" y="342900"/>
            <a:ext cx="3810000" cy="6096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1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结论与展望</a:t>
            </a:r>
            <a:endParaRPr lang="en-US" sz="3100"/>
          </a:p>
        </p:txBody>
      </p:sp>
      <p:sp>
        <p:nvSpPr>
          <p:cNvPr id="8" name="AutoShape 7"/>
          <p:cNvSpPr/>
          <p:nvPr/>
        </p:nvSpPr>
        <p:spPr>
          <a:xfrm>
            <a:off x="939800" y="1143000"/>
            <a:ext cx="190500" cy="190500"/>
          </a:xfrm>
          <a:prstGeom prst="roundRect">
            <a:avLst>
              <a:gd name="adj" fmla="val 0"/>
            </a:avLst>
          </a:prstGeom>
          <a:solidFill>
            <a:srgbClr val="2D508C">
              <a:alpha val="100000"/>
            </a:srgbClr>
          </a:solidFill>
          <a:ln w="25400" cap="flat" cmpd="sng">
            <a:noFill/>
            <a:prstDash val="solid"/>
            <a:round/>
          </a:ln>
        </p:spPr>
        <p:txBody>
          <a:bodyPr vert="horz" wrap="square" lIns="63500" tIns="63500" rIns="63500" bIns="63500" rtlCol="0" anchor="ctr"/>
          <a:p>
            <a:pPr algn="ctr">
              <a:defRPr/>
            </a:pPr>
          </a:p>
        </p:txBody>
      </p:sp>
      <p:sp>
        <p:nvSpPr>
          <p:cNvPr id="9" name="AutoShape 8"/>
          <p:cNvSpPr/>
          <p:nvPr/>
        </p:nvSpPr>
        <p:spPr>
          <a:xfrm>
            <a:off x="1231900" y="1016000"/>
            <a:ext cx="2032000" cy="3302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9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研究结论</a:t>
            </a:r>
            <a:endParaRPr lang="en-US" sz="1100"/>
          </a:p>
        </p:txBody>
      </p:sp>
      <p:sp>
        <p:nvSpPr>
          <p:cNvPr id="10" name="AutoShape 9"/>
          <p:cNvSpPr/>
          <p:nvPr/>
        </p:nvSpPr>
        <p:spPr>
          <a:xfrm>
            <a:off x="609600" y="1562100"/>
            <a:ext cx="5486400" cy="1460500"/>
          </a:xfrm>
          <a:prstGeom prst="roundRect">
            <a:avLst>
              <a:gd name="adj" fmla="val 5217"/>
            </a:avLst>
          </a:prstGeom>
          <a:solidFill>
            <a:srgbClr val="FFFFFF">
              <a:alpha val="100000"/>
            </a:srgbClr>
          </a:solidFill>
          <a:ln w="12700" cap="flat" cmpd="sng">
            <a:solidFill>
              <a:srgbClr val="A5B5C5">
                <a:alpha val="100000"/>
              </a:srgbClr>
            </a:solidFill>
            <a:prstDash val="solid"/>
            <a:round/>
          </a:ln>
        </p:spPr>
        <p:txBody>
          <a:bodyPr vert="horz" wrap="square" lIns="63500" tIns="63500" rIns="63500" bIns="63500" rtlCol="0" anchor="ctr"/>
          <a:p>
            <a:pPr algn="ctr">
              <a:defRPr/>
            </a:pPr>
          </a:p>
        </p:txBody>
      </p:sp>
      <p:sp>
        <p:nvSpPr>
          <p:cNvPr id="11" name="AutoShape 10"/>
          <p:cNvSpPr/>
          <p:nvPr/>
        </p:nvSpPr>
        <p:spPr>
          <a:xfrm>
            <a:off x="787400" y="1739900"/>
            <a:ext cx="368300" cy="368300"/>
          </a:xfrm>
          <a:prstGeom prst="roundRect">
            <a:avLst>
              <a:gd name="adj" fmla="val 13793"/>
            </a:avLst>
          </a:prstGeom>
          <a:solidFill>
            <a:srgbClr val="2D508C">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12" name="AutoShape 11"/>
          <p:cNvSpPr/>
          <p:nvPr/>
        </p:nvSpPr>
        <p:spPr>
          <a:xfrm>
            <a:off x="1270000" y="1701800"/>
            <a:ext cx="4699000" cy="4318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子系统联合仿真理论</a:t>
            </a:r>
            <a:endParaRPr lang="en-US" sz="1100"/>
          </a:p>
        </p:txBody>
      </p:sp>
      <p:sp>
        <p:nvSpPr>
          <p:cNvPr id="13" name="AutoShape 12"/>
          <p:cNvSpPr/>
          <p:nvPr/>
        </p:nvSpPr>
        <p:spPr>
          <a:xfrm>
            <a:off x="787400" y="2222500"/>
            <a:ext cx="5143500" cy="698500"/>
          </a:xfrm>
          <a:prstGeom prst="rect">
            <a:avLst/>
          </a:prstGeom>
          <a:noFill/>
          <a:ln w="12700" cap="flat" cmpd="sng">
            <a:noFill/>
            <a:prstDash val="solid"/>
            <a:round/>
          </a:ln>
        </p:spPr>
        <p:txBody>
          <a:bodyPr vert="horz" wrap="square" lIns="0" tIns="0" rIns="0" bIns="0" rtlCol="0" anchor="t" anchorCtr="0"/>
          <a:p>
            <a:pPr marL="0" indent="0" algn="l">
              <a:lnSpc>
                <a:spcPct val="108000"/>
              </a:lnSpc>
              <a:defRPr/>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为不同物理子系统选择适配求解器，并实施时域耦合迭代。</a:t>
            </a:r>
            <a:endParaRPr lang="en-US" sz="1100"/>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通过立柱-集中质量算例验证显式耦合的稳定性与精度。</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构建叶轮-机舱MBD子系统与混塔非线性FE子系统的力-位移耦合框架。</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3"/>
          <p:cNvSpPr/>
          <p:nvPr/>
        </p:nvSpPr>
        <p:spPr>
          <a:xfrm>
            <a:off x="6400800" y="1562100"/>
            <a:ext cx="5486400" cy="1460500"/>
          </a:xfrm>
          <a:prstGeom prst="roundRect">
            <a:avLst>
              <a:gd name="adj" fmla="val 5217"/>
            </a:avLst>
          </a:prstGeom>
          <a:solidFill>
            <a:srgbClr val="FFFFFF">
              <a:alpha val="100000"/>
            </a:srgbClr>
          </a:solidFill>
          <a:ln w="12700" cap="flat" cmpd="sng">
            <a:solidFill>
              <a:srgbClr val="A5B5C5">
                <a:alpha val="100000"/>
              </a:srgbClr>
            </a:solidFill>
            <a:prstDash val="solid"/>
            <a:round/>
          </a:ln>
        </p:spPr>
        <p:txBody>
          <a:bodyPr vert="horz" wrap="square" lIns="63500" tIns="63500" rIns="63500" bIns="63500" rtlCol="0" anchor="ctr"/>
          <a:p>
            <a:pPr algn="ctr">
              <a:defRPr/>
            </a:pPr>
          </a:p>
        </p:txBody>
      </p:sp>
      <p:sp>
        <p:nvSpPr>
          <p:cNvPr id="15" name="AutoShape 14"/>
          <p:cNvSpPr/>
          <p:nvPr/>
        </p:nvSpPr>
        <p:spPr>
          <a:xfrm>
            <a:off x="6578600" y="1739900"/>
            <a:ext cx="368300" cy="368300"/>
          </a:xfrm>
          <a:prstGeom prst="roundRect">
            <a:avLst>
              <a:gd name="adj" fmla="val 13793"/>
            </a:avLst>
          </a:prstGeom>
          <a:solidFill>
            <a:srgbClr val="2D508C">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6" name="AutoShape 15"/>
          <p:cNvSpPr/>
          <p:nvPr/>
        </p:nvSpPr>
        <p:spPr>
          <a:xfrm>
            <a:off x="7061200" y="1701800"/>
            <a:ext cx="4699000" cy="4318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高保真度一体化耦合非线性动力学模型</a:t>
            </a:r>
            <a:endParaRPr lang="en-US" sz="1100"/>
          </a:p>
        </p:txBody>
      </p:sp>
      <p:sp>
        <p:nvSpPr>
          <p:cNvPr id="17" name="AutoShape 16"/>
          <p:cNvSpPr/>
          <p:nvPr/>
        </p:nvSpPr>
        <p:spPr>
          <a:xfrm>
            <a:off x="6578600" y="2222500"/>
            <a:ext cx="5143500" cy="698500"/>
          </a:xfrm>
          <a:prstGeom prst="rect">
            <a:avLst/>
          </a:prstGeom>
          <a:noFill/>
          <a:ln w="12700" cap="flat" cmpd="sng">
            <a:noFill/>
            <a:prstDash val="solid"/>
            <a:round/>
          </a:ln>
        </p:spPr>
        <p:txBody>
          <a:bodyPr vert="horz" wrap="square" lIns="0" tIns="0" rIns="0" bIns="0" rtlCol="0" anchor="t" anchorCtr="0"/>
          <a:p>
            <a:pPr marL="0" indent="0" algn="l">
              <a:lnSpc>
                <a:spcPct val="108000"/>
              </a:lnSpc>
              <a:defRPr/>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采用Simpack-Abaqus联合仿真，耦合叶轮-机舱MBD模型与塔架FE模型。</a:t>
            </a:r>
            <a:endParaRPr lang="en-US" sz="1100"/>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考虑几何、材料与接触非线性、预应力效应及螺栓-法兰连接细节。</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通过模态分析与动力响应时程对比验证准确性，服务局部结构优化。</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7"/>
          <p:cNvSpPr/>
          <p:nvPr/>
        </p:nvSpPr>
        <p:spPr>
          <a:xfrm>
            <a:off x="609600" y="3251200"/>
            <a:ext cx="5486400" cy="1460500"/>
          </a:xfrm>
          <a:prstGeom prst="roundRect">
            <a:avLst>
              <a:gd name="adj" fmla="val 5217"/>
            </a:avLst>
          </a:prstGeom>
          <a:solidFill>
            <a:srgbClr val="FFFFFF">
              <a:alpha val="100000"/>
            </a:srgbClr>
          </a:solidFill>
          <a:ln w="12700" cap="flat" cmpd="sng">
            <a:solidFill>
              <a:srgbClr val="A5B5C5">
                <a:alpha val="100000"/>
              </a:srgbClr>
            </a:solidFill>
            <a:prstDash val="solid"/>
            <a:round/>
          </a:ln>
        </p:spPr>
        <p:txBody>
          <a:bodyPr vert="horz" wrap="square" lIns="63500" tIns="63500" rIns="63500" bIns="63500" rtlCol="0" anchor="ctr"/>
          <a:p>
            <a:pPr algn="ctr">
              <a:defRPr/>
            </a:pPr>
          </a:p>
        </p:txBody>
      </p:sp>
      <p:sp>
        <p:nvSpPr>
          <p:cNvPr id="19" name="AutoShape 18"/>
          <p:cNvSpPr/>
          <p:nvPr/>
        </p:nvSpPr>
        <p:spPr>
          <a:xfrm>
            <a:off x="787400" y="3429000"/>
            <a:ext cx="368300" cy="368300"/>
          </a:xfrm>
          <a:prstGeom prst="roundRect">
            <a:avLst>
              <a:gd name="adj" fmla="val 13793"/>
            </a:avLst>
          </a:prstGeom>
          <a:solidFill>
            <a:srgbClr val="2D508C">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20" name="AutoShape 19"/>
          <p:cNvSpPr/>
          <p:nvPr/>
        </p:nvSpPr>
        <p:spPr>
          <a:xfrm>
            <a:off x="1270000" y="3390900"/>
            <a:ext cx="4699000" cy="4318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中保真度一体化模型</a:t>
            </a:r>
            <a:endParaRPr lang="en-US" sz="1100"/>
          </a:p>
        </p:txBody>
      </p:sp>
      <p:sp>
        <p:nvSpPr>
          <p:cNvPr id="21" name="AutoShape 20"/>
          <p:cNvSpPr/>
          <p:nvPr/>
        </p:nvSpPr>
        <p:spPr>
          <a:xfrm>
            <a:off x="787400" y="3911600"/>
            <a:ext cx="5143500" cy="698500"/>
          </a:xfrm>
          <a:prstGeom prst="rect">
            <a:avLst/>
          </a:prstGeom>
          <a:noFill/>
          <a:ln w="12700" cap="flat" cmpd="sng">
            <a:noFill/>
            <a:prstDash val="solid"/>
            <a:round/>
          </a:ln>
        </p:spPr>
        <p:txBody>
          <a:bodyPr vert="horz" wrap="square" lIns="0" tIns="0" rIns="0" bIns="0" rtlCol="0" anchor="t" anchorCtr="0"/>
          <a:p>
            <a:pPr marL="0" indent="0" algn="l">
              <a:lnSpc>
                <a:spcPct val="108000"/>
              </a:lnSpc>
              <a:defRPr/>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采用Simpack-Matlab/Simulink-OpenSees耦合策略。</a:t>
            </a:r>
            <a:endParaRPr lang="en-US" sz="1100"/>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以纤维梁单元模拟混塔材料与几何非线性，并通过TCP/IP实时交换数据。</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在满足分析精度的同时提高效率，支撑参数分析与可靠度计算。</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1"/>
          <p:cNvSpPr/>
          <p:nvPr/>
        </p:nvSpPr>
        <p:spPr>
          <a:xfrm>
            <a:off x="6400800" y="3251200"/>
            <a:ext cx="5486400" cy="1460500"/>
          </a:xfrm>
          <a:prstGeom prst="roundRect">
            <a:avLst>
              <a:gd name="adj" fmla="val 5217"/>
            </a:avLst>
          </a:prstGeom>
          <a:solidFill>
            <a:srgbClr val="FFFFFF">
              <a:alpha val="100000"/>
            </a:srgbClr>
          </a:solidFill>
          <a:ln w="12700" cap="flat" cmpd="sng">
            <a:solidFill>
              <a:srgbClr val="A5B5C5">
                <a:alpha val="100000"/>
              </a:srgbClr>
            </a:solidFill>
            <a:prstDash val="solid"/>
            <a:round/>
          </a:ln>
        </p:spPr>
        <p:txBody>
          <a:bodyPr vert="horz" wrap="square" lIns="63500" tIns="63500" rIns="63500" bIns="63500" rtlCol="0" anchor="ctr"/>
          <a:p>
            <a:pPr algn="ctr">
              <a:defRPr/>
            </a:pPr>
          </a:p>
        </p:txBody>
      </p:sp>
      <p:sp>
        <p:nvSpPr>
          <p:cNvPr id="23" name="AutoShape 22"/>
          <p:cNvSpPr/>
          <p:nvPr/>
        </p:nvSpPr>
        <p:spPr>
          <a:xfrm>
            <a:off x="6578600" y="3429000"/>
            <a:ext cx="368300" cy="368300"/>
          </a:xfrm>
          <a:prstGeom prst="roundRect">
            <a:avLst>
              <a:gd name="adj" fmla="val 13793"/>
            </a:avLst>
          </a:prstGeom>
          <a:solidFill>
            <a:srgbClr val="2D508C">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4" name="AutoShape 23"/>
          <p:cNvSpPr/>
          <p:nvPr/>
        </p:nvSpPr>
        <p:spPr>
          <a:xfrm>
            <a:off x="7061200" y="3390900"/>
            <a:ext cx="4699000" cy="4318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风速-风向联合分布重构与疲劳分析</a:t>
            </a:r>
            <a:endParaRPr lang="en-US" sz="1100"/>
          </a:p>
        </p:txBody>
      </p:sp>
      <p:sp>
        <p:nvSpPr>
          <p:cNvPr id="25" name="AutoShape 24"/>
          <p:cNvSpPr/>
          <p:nvPr/>
        </p:nvSpPr>
        <p:spPr>
          <a:xfrm>
            <a:off x="6578600" y="3911600"/>
            <a:ext cx="5143500" cy="698500"/>
          </a:xfrm>
          <a:prstGeom prst="rect">
            <a:avLst/>
          </a:prstGeom>
          <a:noFill/>
          <a:ln w="12700" cap="flat" cmpd="sng">
            <a:noFill/>
            <a:prstDash val="solid"/>
            <a:round/>
          </a:ln>
        </p:spPr>
        <p:txBody>
          <a:bodyPr vert="horz" wrap="square" lIns="0" tIns="0" rIns="0" bIns="0" rtlCol="0" anchor="t" anchorCtr="0"/>
          <a:p>
            <a:pPr marL="0" indent="0" algn="l">
              <a:lnSpc>
                <a:spcPct val="108000"/>
              </a:lnSpc>
              <a:defRPr/>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提出基于改进二维核密度估计的风速-风向联合分布重构方法。</a:t>
            </a:r>
            <a:endParaRPr lang="en-US" sz="1100"/>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建立改进风场建模与一体化耦合非线性动力学分析框架。</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非线性效应放大塔顶位移与塔身应力，并使疲劳关键区域下移。</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5"/>
          <p:cNvSpPr/>
          <p:nvPr/>
        </p:nvSpPr>
        <p:spPr>
          <a:xfrm>
            <a:off x="609600" y="4940300"/>
            <a:ext cx="5486400" cy="1460500"/>
          </a:xfrm>
          <a:prstGeom prst="roundRect">
            <a:avLst>
              <a:gd name="adj" fmla="val 5217"/>
            </a:avLst>
          </a:prstGeom>
          <a:solidFill>
            <a:srgbClr val="FFFFFF">
              <a:alpha val="100000"/>
            </a:srgbClr>
          </a:solidFill>
          <a:ln w="12700" cap="flat" cmpd="sng">
            <a:solidFill>
              <a:srgbClr val="A5B5C5">
                <a:alpha val="100000"/>
              </a:srgbClr>
            </a:solidFill>
            <a:prstDash val="solid"/>
            <a:round/>
          </a:ln>
        </p:spPr>
        <p:txBody>
          <a:bodyPr vert="horz" wrap="square" lIns="63500" tIns="63500" rIns="63500" bIns="63500" rtlCol="0" anchor="ctr"/>
          <a:p>
            <a:pPr algn="ctr">
              <a:defRPr/>
            </a:pPr>
          </a:p>
        </p:txBody>
      </p:sp>
      <p:sp>
        <p:nvSpPr>
          <p:cNvPr id="27" name="AutoShape 26"/>
          <p:cNvSpPr/>
          <p:nvPr/>
        </p:nvSpPr>
        <p:spPr>
          <a:xfrm>
            <a:off x="787400" y="5118100"/>
            <a:ext cx="368300" cy="368300"/>
          </a:xfrm>
          <a:prstGeom prst="roundRect">
            <a:avLst>
              <a:gd name="adj" fmla="val 13793"/>
            </a:avLst>
          </a:prstGeom>
          <a:solidFill>
            <a:srgbClr val="2D508C">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8" name="AutoShape 27"/>
          <p:cNvSpPr/>
          <p:nvPr/>
        </p:nvSpPr>
        <p:spPr>
          <a:xfrm>
            <a:off x="1270000" y="5080000"/>
            <a:ext cx="4699000" cy="4318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动力可靠度与水平位移角限值</a:t>
            </a:r>
            <a:endParaRPr lang="en-US" sz="1100"/>
          </a:p>
        </p:txBody>
      </p:sp>
      <p:sp>
        <p:nvSpPr>
          <p:cNvPr id="29" name="AutoShape 28"/>
          <p:cNvSpPr/>
          <p:nvPr/>
        </p:nvSpPr>
        <p:spPr>
          <a:xfrm>
            <a:off x="787400" y="5600700"/>
            <a:ext cx="5143500" cy="698500"/>
          </a:xfrm>
          <a:prstGeom prst="rect">
            <a:avLst/>
          </a:prstGeom>
          <a:noFill/>
          <a:ln w="12700" cap="flat" cmpd="sng">
            <a:noFill/>
            <a:prstDash val="solid"/>
            <a:round/>
          </a:ln>
        </p:spPr>
        <p:txBody>
          <a:bodyPr vert="horz" wrap="square" lIns="0" tIns="0" rIns="0" bIns="0" rtlCol="0" anchor="t" anchorCtr="0"/>
          <a:p>
            <a:pPr marL="0" indent="0" algn="l">
              <a:lnSpc>
                <a:spcPct val="108000"/>
              </a:lnSpc>
              <a:defRPr/>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面向极端风速条件，提出基于可靠度分析的水平位移角限值确定方法。</a:t>
            </a:r>
            <a:endParaRPr lang="en-US" sz="1100"/>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结合Sobol抽样、非线性时程分析与谐波变换法重构应力/位移极值分布。</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建议分别确定混凝土与钢塔段水平位移限值后叠加，计算整体位移角限值。</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29"/>
          <p:cNvSpPr/>
          <p:nvPr/>
        </p:nvSpPr>
        <p:spPr>
          <a:xfrm>
            <a:off x="6400800" y="4940300"/>
            <a:ext cx="5486400" cy="1460500"/>
          </a:xfrm>
          <a:prstGeom prst="roundRect">
            <a:avLst>
              <a:gd name="adj" fmla="val 5217"/>
            </a:avLst>
          </a:prstGeom>
          <a:solidFill>
            <a:srgbClr val="FFFFFF">
              <a:alpha val="100000"/>
            </a:srgbClr>
          </a:solidFill>
          <a:ln w="12700" cap="flat" cmpd="sng">
            <a:solidFill>
              <a:srgbClr val="A5B5C5">
                <a:alpha val="100000"/>
              </a:srgbClr>
            </a:solidFill>
            <a:prstDash val="solid"/>
            <a:round/>
          </a:ln>
        </p:spPr>
        <p:txBody>
          <a:bodyPr vert="horz" wrap="square" lIns="63500" tIns="63500" rIns="63500" bIns="63500" rtlCol="0" anchor="ctr"/>
          <a:p>
            <a:pPr algn="ctr">
              <a:defRPr/>
            </a:pPr>
          </a:p>
        </p:txBody>
      </p:sp>
      <p:sp>
        <p:nvSpPr>
          <p:cNvPr id="31" name="AutoShape 30"/>
          <p:cNvSpPr/>
          <p:nvPr/>
        </p:nvSpPr>
        <p:spPr>
          <a:xfrm>
            <a:off x="6578600" y="5118100"/>
            <a:ext cx="368300" cy="368300"/>
          </a:xfrm>
          <a:prstGeom prst="roundRect">
            <a:avLst>
              <a:gd name="adj" fmla="val 13793"/>
            </a:avLst>
          </a:prstGeom>
          <a:solidFill>
            <a:srgbClr val="2D508C">
              <a:alpha val="10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p:txBody>
      </p:sp>
      <p:sp>
        <p:nvSpPr>
          <p:cNvPr id="32" name="AutoShape 31"/>
          <p:cNvSpPr/>
          <p:nvPr/>
        </p:nvSpPr>
        <p:spPr>
          <a:xfrm>
            <a:off x="7061200" y="5080000"/>
            <a:ext cx="4699000" cy="4318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2D508C"/>
                </a:solidFill>
                <a:latin typeface="Noto Sans SC" panose="020B0200000000000000" charset="-122"/>
                <a:ea typeface="Noto Sans SC" panose="020B0200000000000000" charset="-122"/>
                <a:cs typeface="Noto Sans SC" panose="020B0200000000000000" charset="-122"/>
                <a:sym typeface="Noto Sans SC" panose="020B0200000000000000" charset="-122"/>
              </a:rPr>
              <a:t>过渡段优化与振动控制</a:t>
            </a:r>
            <a:endParaRPr lang="en-US" sz="1100"/>
          </a:p>
        </p:txBody>
      </p:sp>
      <p:sp>
        <p:nvSpPr>
          <p:cNvPr id="33" name="AutoShape 32"/>
          <p:cNvSpPr/>
          <p:nvPr/>
        </p:nvSpPr>
        <p:spPr>
          <a:xfrm>
            <a:off x="6578600" y="5600700"/>
            <a:ext cx="5143500" cy="698500"/>
          </a:xfrm>
          <a:prstGeom prst="rect">
            <a:avLst/>
          </a:prstGeom>
          <a:noFill/>
          <a:ln w="12700" cap="flat" cmpd="sng">
            <a:noFill/>
            <a:prstDash val="solid"/>
            <a:round/>
          </a:ln>
        </p:spPr>
        <p:txBody>
          <a:bodyPr vert="horz" wrap="square" lIns="0" tIns="0" rIns="0" bIns="0" rtlCol="0" anchor="t" anchorCtr="0"/>
          <a:p>
            <a:pPr marL="0" indent="0" algn="l">
              <a:lnSpc>
                <a:spcPct val="108000"/>
              </a:lnSpc>
              <a:defRPr/>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提出螺栓、螺母与预应力索双重锚固的过渡段结构形式。</a:t>
            </a:r>
            <a:endParaRPr lang="en-US" sz="1100"/>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改善法兰连接处受力分布，降低螺栓平均应力与应力幅值。</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提出三维斜向碰撞式调谐质量阻尼器，实现多维耗能与高效抑振。</a:t>
            </a:r>
            <a:endParaRPr lang="en-US" sz="105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1" name="文本框 4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67/68</a:t>
            </a:r>
            <a:endParaRPr lang="en-US" altLang="zh-CN">
              <a:latin typeface="微软雅黑" panose="020B0503020204020204" charset="-122"/>
              <a:ea typeface="微软雅黑" panose="020B0503020204020204" charset="-122"/>
            </a:endParaRPr>
          </a:p>
        </p:txBody>
      </p:sp>
      <p:cxnSp>
        <p:nvCxnSpPr>
          <p:cNvPr id="2" name="直接连接符 1"/>
          <p:cNvCxnSpPr/>
          <p:nvPr/>
        </p:nvCxnSpPr>
        <p:spPr>
          <a:xfrm flipV="1">
            <a:off x="1282700" y="950595"/>
            <a:ext cx="10350500" cy="29210"/>
          </a:xfrm>
          <a:prstGeom prst="line">
            <a:avLst/>
          </a:prstGeom>
          <a:ln w="28575" cmpd="sng">
            <a:solidFill>
              <a:schemeClr val="accent1">
                <a:shade val="50000"/>
              </a:schemeClr>
            </a:solidFill>
            <a:prstDash val="solid"/>
          </a:ln>
        </p:spPr>
        <p:style>
          <a:lnRef idx="3">
            <a:schemeClr val="accent1"/>
          </a:lnRef>
          <a:fillRef idx="0">
            <a:srgbClr val="FFFFFF"/>
          </a:fillRef>
          <a:effectRef idx="0">
            <a:srgbClr val="FFFFFF"/>
          </a:effectRef>
          <a:fontRef idx="minor">
            <a:schemeClr val="tx1"/>
          </a:fontRef>
        </p:style>
      </p:cxnSp>
      <p:sp>
        <p:nvSpPr>
          <p:cNvPr id="3" name="文本框 2"/>
          <p:cNvSpPr txBox="1"/>
          <p:nvPr/>
        </p:nvSpPr>
        <p:spPr>
          <a:xfrm>
            <a:off x="9194800" y="590550"/>
            <a:ext cx="2635250" cy="412750"/>
          </a:xfrm>
          <a:prstGeom prst="rect">
            <a:avLst/>
          </a:prstGeom>
          <a:noFill/>
        </p:spPr>
        <p:txBody>
          <a:bodyPr wrap="square" rtlCol="0">
            <a:noAutofit/>
          </a:bodyPr>
          <a:p>
            <a:r>
              <a:rPr lang="zh-CN" altLang="en-US" b="1"/>
              <a:t>湖南大学</a:t>
            </a:r>
            <a:r>
              <a:rPr lang="zh-CN" altLang="en-US" b="1"/>
              <a:t>土木工程学院</a:t>
            </a:r>
            <a:endParaRPr lang="zh-CN" altLang="en-US" b="1"/>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Picture 10"/>
          <p:cNvPicPr>
            <a:picLocks noChangeAspect="1"/>
          </p:cNvPicPr>
          <p:nvPr/>
        </p:nvPicPr>
        <p:blipFill>
          <a:blip r:embed="rId1"/>
          <a:srcRect l="116" r="116"/>
          <a:stretch>
            <a:fillRect/>
          </a:stretch>
        </p:blipFill>
        <p:spPr>
          <a:xfrm>
            <a:off x="283464" y="4508500"/>
            <a:ext cx="11146536" cy="2349500"/>
          </a:xfrm>
          <a:prstGeom prst="rect">
            <a:avLst/>
          </a:prstGeom>
          <a:noFill/>
          <a:ln w="25400" cap="flat" cmpd="sng">
            <a:noFill/>
            <a:prstDash val="solid"/>
            <a:round/>
          </a:ln>
        </p:spPr>
      </p:pic>
      <p:pic>
        <p:nvPicPr>
          <p:cNvPr id="6" name="Picture 6"/>
          <p:cNvPicPr>
            <a:picLocks noChangeAspect="1"/>
          </p:cNvPicPr>
          <p:nvPr/>
        </p:nvPicPr>
        <p:blipFill>
          <a:blip r:embed="rId2"/>
          <a:srcRect t="63" b="63"/>
          <a:stretch>
            <a:fillRect/>
          </a:stretch>
        </p:blipFill>
        <p:spPr>
          <a:xfrm>
            <a:off x="635000" y="1143000"/>
            <a:ext cx="2032000" cy="3314700"/>
          </a:xfrm>
          <a:prstGeom prst="rect">
            <a:avLst/>
          </a:prstGeom>
          <a:noFill/>
          <a:ln w="25400" cap="flat" cmpd="sng">
            <a:noFill/>
            <a:prstDash val="solid"/>
            <a:round/>
          </a:ln>
        </p:spPr>
      </p:pic>
      <p:sp>
        <p:nvSpPr>
          <p:cNvPr id="7" name="AutoShape 7"/>
          <p:cNvSpPr/>
          <p:nvPr/>
        </p:nvSpPr>
        <p:spPr>
          <a:xfrm>
            <a:off x="3302000" y="1397000"/>
            <a:ext cx="8128000" cy="6985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400" b="1" i="0" u="none" strike="noStrike">
                <a:solidFill>
                  <a:srgbClr val="BB3232"/>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感谢学院的培养</a:t>
            </a:r>
            <a:endParaRPr lang="en-US" sz="1100"/>
          </a:p>
        </p:txBody>
      </p:sp>
      <p:sp>
        <p:nvSpPr>
          <p:cNvPr id="8" name="AutoShape 8"/>
          <p:cNvSpPr/>
          <p:nvPr/>
        </p:nvSpPr>
        <p:spPr>
          <a:xfrm>
            <a:off x="3302000" y="2222500"/>
            <a:ext cx="8128000" cy="6985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400" b="1" i="0" u="none" strike="noStrike" dirty="0" err="1">
                <a:solidFill>
                  <a:srgbClr val="BB3232"/>
                </a:solidFill>
                <a:latin typeface="Noto Sans SC" panose="020B0200000000000000" charset="-122"/>
                <a:ea typeface="Noto Sans SC" panose="020B0200000000000000" charset="-122"/>
                <a:cs typeface="Noto Sans SC" panose="020B0200000000000000" charset="-122"/>
                <a:sym typeface="Noto Sans SC" panose="020B0200000000000000" charset="-122"/>
              </a:rPr>
              <a:t>与师长的关怀教诲</a:t>
            </a:r>
            <a:endParaRPr lang="en-US" sz="1100" dirty="0"/>
          </a:p>
        </p:txBody>
      </p:sp>
      <p:sp>
        <p:nvSpPr>
          <p:cNvPr id="9" name="AutoShape 9"/>
          <p:cNvSpPr/>
          <p:nvPr/>
        </p:nvSpPr>
        <p:spPr>
          <a:xfrm>
            <a:off x="3302000" y="3048000"/>
            <a:ext cx="8128000" cy="6985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3400" b="1" i="0" u="none" strike="noStrike">
                <a:solidFill>
                  <a:srgbClr val="BB3232"/>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汇报完毕，恳请指正</a:t>
            </a:r>
            <a:endParaRPr lang="en-US" sz="1100"/>
          </a:p>
        </p:txBody>
      </p:sp>
      <p:sp>
        <p:nvSpPr>
          <p:cNvPr id="11" name="AutoShape 11"/>
          <p:cNvSpPr/>
          <p:nvPr/>
        </p:nvSpPr>
        <p:spPr>
          <a:xfrm>
            <a:off x="3937000" y="5016500"/>
            <a:ext cx="4318000" cy="3556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600" b="1" i="0" u="none" strike="noStrike" dirty="0" err="1">
                <a:solidFill>
                  <a:srgbClr val="345792"/>
                </a:solidFill>
                <a:latin typeface="Noto Sans SC" panose="020B0200000000000000" charset="-122"/>
                <a:ea typeface="Noto Sans SC" panose="020B0200000000000000" charset="-122"/>
                <a:cs typeface="Noto Sans SC" panose="020B0200000000000000" charset="-122"/>
                <a:sym typeface="Noto Sans SC" panose="020B0200000000000000" charset="-122"/>
              </a:rPr>
              <a:t>湖南大学</a:t>
            </a:r>
            <a:r>
              <a:rPr lang="zh-CN" altLang="en-US" sz="1600" b="1" i="0" u="none" strike="noStrike" dirty="0" err="1">
                <a:solidFill>
                  <a:srgbClr val="345792"/>
                </a:solidFill>
                <a:latin typeface="Noto Sans SC" panose="020B0200000000000000" charset="-122"/>
                <a:ea typeface="Noto Sans SC" panose="020B0200000000000000" charset="-122"/>
                <a:cs typeface="Noto Sans SC" panose="020B0200000000000000" charset="-122"/>
                <a:sym typeface="Noto Sans SC" panose="020B0200000000000000" charset="-122"/>
              </a:rPr>
              <a:t>土木</a:t>
            </a:r>
            <a:r>
              <a:rPr lang="en-US" sz="1600" b="1" i="0" u="none" strike="noStrike" dirty="0" err="1">
                <a:solidFill>
                  <a:srgbClr val="345792"/>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工程学院</a:t>
            </a:r>
            <a:endParaRPr lang="en-US" sz="1100" dirty="0"/>
          </a:p>
        </p:txBody>
      </p:sp>
      <p:sp>
        <p:nvSpPr>
          <p:cNvPr id="12" name="AutoShape 12"/>
          <p:cNvSpPr/>
          <p:nvPr/>
        </p:nvSpPr>
        <p:spPr>
          <a:xfrm>
            <a:off x="4318000" y="5422900"/>
            <a:ext cx="3556000" cy="3048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400" b="0" i="0" u="none" strike="noStrike">
                <a:solidFill>
                  <a:srgbClr val="37393C"/>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2026年5月18日</a:t>
            </a:r>
            <a:endParaRPr lang="en-US" sz="1100"/>
          </a:p>
        </p:txBody>
      </p:sp>
      <p:sp>
        <p:nvSpPr>
          <p:cNvPr id="41" name="文本框 40"/>
          <p:cNvSpPr txBox="1"/>
          <p:nvPr/>
        </p:nvSpPr>
        <p:spPr>
          <a:xfrm>
            <a:off x="11315065" y="6489700"/>
            <a:ext cx="87693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68/68</a:t>
            </a:r>
            <a:endParaRPr lang="en-US" altLang="zh-CN">
              <a:latin typeface="微软雅黑" panose="020B0503020204020204" charset="-122"/>
              <a:ea typeface="微软雅黑" panose="020B0503020204020204" charset="-122"/>
            </a:endParaRPr>
          </a:p>
        </p:txBody>
      </p:sp>
      <p:sp>
        <p:nvSpPr>
          <p:cNvPr id="5" name="矩形 4"/>
          <p:cNvSpPr/>
          <p:nvPr/>
        </p:nvSpPr>
        <p:spPr>
          <a:xfrm>
            <a:off x="209550" y="195580"/>
            <a:ext cx="11777980" cy="121920"/>
          </a:xfrm>
          <a:prstGeom prst="rect">
            <a:avLst/>
          </a:prstGeom>
          <a:solidFill>
            <a:srgbClr val="023A8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任意多边形 12"/>
          <p:cNvSpPr/>
          <p:nvPr/>
        </p:nvSpPr>
        <p:spPr>
          <a:xfrm>
            <a:off x="4425950" y="302895"/>
            <a:ext cx="3276600" cy="506730"/>
          </a:xfrm>
          <a:custGeom>
            <a:avLst/>
            <a:gdLst>
              <a:gd name="connisteX0" fmla="*/ 0 w 3276600"/>
              <a:gd name="connsiteY0" fmla="*/ 4445 h 493395"/>
              <a:gd name="connisteX1" fmla="*/ 52070 w 3276600"/>
              <a:gd name="connsiteY1" fmla="*/ 9525 h 493395"/>
              <a:gd name="connisteX2" fmla="*/ 93345 w 3276600"/>
              <a:gd name="connsiteY2" fmla="*/ 23495 h 493395"/>
              <a:gd name="connisteX3" fmla="*/ 128270 w 3276600"/>
              <a:gd name="connsiteY3" fmla="*/ 36195 h 493395"/>
              <a:gd name="connisteX4" fmla="*/ 168275 w 3276600"/>
              <a:gd name="connsiteY4" fmla="*/ 55245 h 493395"/>
              <a:gd name="connisteX5" fmla="*/ 191770 w 3276600"/>
              <a:gd name="connsiteY5" fmla="*/ 71120 h 493395"/>
              <a:gd name="connisteX6" fmla="*/ 228600 w 3276600"/>
              <a:gd name="connsiteY6" fmla="*/ 98425 h 493395"/>
              <a:gd name="connisteX7" fmla="*/ 258445 w 3276600"/>
              <a:gd name="connsiteY7" fmla="*/ 123825 h 493395"/>
              <a:gd name="connisteX8" fmla="*/ 299720 w 3276600"/>
              <a:gd name="connsiteY8" fmla="*/ 168275 h 493395"/>
              <a:gd name="connisteX9" fmla="*/ 336550 w 3276600"/>
              <a:gd name="connsiteY9" fmla="*/ 217170 h 493395"/>
              <a:gd name="connisteX10" fmla="*/ 375920 w 3276600"/>
              <a:gd name="connsiteY10" fmla="*/ 266700 h 493395"/>
              <a:gd name="connisteX11" fmla="*/ 406400 w 3276600"/>
              <a:gd name="connsiteY11" fmla="*/ 309245 h 493395"/>
              <a:gd name="connisteX12" fmla="*/ 447675 w 3276600"/>
              <a:gd name="connsiteY12" fmla="*/ 355600 h 493395"/>
              <a:gd name="connisteX13" fmla="*/ 483870 w 3276600"/>
              <a:gd name="connsiteY13" fmla="*/ 387350 h 493395"/>
              <a:gd name="connisteX14" fmla="*/ 514350 w 3276600"/>
              <a:gd name="connsiteY14" fmla="*/ 412750 h 493395"/>
              <a:gd name="connisteX15" fmla="*/ 536575 w 3276600"/>
              <a:gd name="connsiteY15" fmla="*/ 426720 h 493395"/>
              <a:gd name="connisteX16" fmla="*/ 574675 w 3276600"/>
              <a:gd name="connsiteY16" fmla="*/ 448945 h 493395"/>
              <a:gd name="connisteX17" fmla="*/ 622300 w 3276600"/>
              <a:gd name="connsiteY17" fmla="*/ 473075 h 493395"/>
              <a:gd name="connisteX18" fmla="*/ 673100 w 3276600"/>
              <a:gd name="connsiteY18" fmla="*/ 488950 h 493395"/>
              <a:gd name="connisteX19" fmla="*/ 809625 w 3276600"/>
              <a:gd name="connsiteY19" fmla="*/ 492125 h 493395"/>
              <a:gd name="connisteX20" fmla="*/ 2455545 w 3276600"/>
              <a:gd name="connsiteY20" fmla="*/ 493395 h 493395"/>
              <a:gd name="connisteX21" fmla="*/ 2560320 w 3276600"/>
              <a:gd name="connsiteY21" fmla="*/ 493395 h 493395"/>
              <a:gd name="connisteX22" fmla="*/ 2644775 w 3276600"/>
              <a:gd name="connsiteY22" fmla="*/ 490220 h 493395"/>
              <a:gd name="connisteX23" fmla="*/ 2695575 w 3276600"/>
              <a:gd name="connsiteY23" fmla="*/ 482600 h 493395"/>
              <a:gd name="connisteX24" fmla="*/ 2747645 w 3276600"/>
              <a:gd name="connsiteY24" fmla="*/ 464820 h 493395"/>
              <a:gd name="connisteX25" fmla="*/ 2797175 w 3276600"/>
              <a:gd name="connsiteY25" fmla="*/ 433070 h 493395"/>
              <a:gd name="connisteX26" fmla="*/ 2835275 w 3276600"/>
              <a:gd name="connsiteY26" fmla="*/ 407670 h 493395"/>
              <a:gd name="connisteX27" fmla="*/ 2858770 w 3276600"/>
              <a:gd name="connsiteY27" fmla="*/ 390525 h 493395"/>
              <a:gd name="connisteX28" fmla="*/ 2884170 w 3276600"/>
              <a:gd name="connsiteY28" fmla="*/ 368300 h 493395"/>
              <a:gd name="connisteX29" fmla="*/ 2917825 w 3276600"/>
              <a:gd name="connsiteY29" fmla="*/ 336550 h 493395"/>
              <a:gd name="connisteX30" fmla="*/ 2936875 w 3276600"/>
              <a:gd name="connsiteY30" fmla="*/ 311150 h 493395"/>
              <a:gd name="connisteX31" fmla="*/ 2963545 w 3276600"/>
              <a:gd name="connsiteY31" fmla="*/ 274320 h 493395"/>
              <a:gd name="connisteX32" fmla="*/ 2992120 w 3276600"/>
              <a:gd name="connsiteY32" fmla="*/ 238125 h 493395"/>
              <a:gd name="connisteX33" fmla="*/ 3006725 w 3276600"/>
              <a:gd name="connsiteY33" fmla="*/ 213995 h 493395"/>
              <a:gd name="connisteX34" fmla="*/ 3036570 w 3276600"/>
              <a:gd name="connsiteY34" fmla="*/ 174625 h 493395"/>
              <a:gd name="connisteX35" fmla="*/ 3068320 w 3276600"/>
              <a:gd name="connsiteY35" fmla="*/ 146050 h 493395"/>
              <a:gd name="connisteX36" fmla="*/ 3100070 w 3276600"/>
              <a:gd name="connsiteY36" fmla="*/ 107950 h 493395"/>
              <a:gd name="connisteX37" fmla="*/ 3155950 w 3276600"/>
              <a:gd name="connsiteY37" fmla="*/ 63500 h 493395"/>
              <a:gd name="connisteX38" fmla="*/ 3217545 w 3276600"/>
              <a:gd name="connsiteY38" fmla="*/ 25400 h 493395"/>
              <a:gd name="connisteX39" fmla="*/ 3276600 w 3276600"/>
              <a:gd name="connsiteY39" fmla="*/ 0 h 493395"/>
              <a:gd name="connisteX40" fmla="*/ 0 w 3276600"/>
              <a:gd name="connsiteY40" fmla="*/ 4445 h 49339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Lst>
            <a:rect l="l" t="t" r="r" b="b"/>
            <a:pathLst>
              <a:path w="3276600" h="493395">
                <a:moveTo>
                  <a:pt x="0" y="4445"/>
                </a:moveTo>
                <a:lnTo>
                  <a:pt x="52070" y="9525"/>
                </a:lnTo>
                <a:lnTo>
                  <a:pt x="93345" y="23495"/>
                </a:lnTo>
                <a:lnTo>
                  <a:pt x="128270" y="36195"/>
                </a:lnTo>
                <a:lnTo>
                  <a:pt x="168275" y="55245"/>
                </a:lnTo>
                <a:lnTo>
                  <a:pt x="191770" y="71120"/>
                </a:lnTo>
                <a:lnTo>
                  <a:pt x="228600" y="98425"/>
                </a:lnTo>
                <a:lnTo>
                  <a:pt x="258445" y="123825"/>
                </a:lnTo>
                <a:lnTo>
                  <a:pt x="299720" y="168275"/>
                </a:lnTo>
                <a:lnTo>
                  <a:pt x="336550" y="217170"/>
                </a:lnTo>
                <a:lnTo>
                  <a:pt x="375920" y="266700"/>
                </a:lnTo>
                <a:lnTo>
                  <a:pt x="406400" y="309245"/>
                </a:lnTo>
                <a:lnTo>
                  <a:pt x="447675" y="355600"/>
                </a:lnTo>
                <a:lnTo>
                  <a:pt x="483870" y="387350"/>
                </a:lnTo>
                <a:lnTo>
                  <a:pt x="514350" y="412750"/>
                </a:lnTo>
                <a:lnTo>
                  <a:pt x="536575" y="426720"/>
                </a:lnTo>
                <a:lnTo>
                  <a:pt x="574675" y="448945"/>
                </a:lnTo>
                <a:lnTo>
                  <a:pt x="622300" y="473075"/>
                </a:lnTo>
                <a:lnTo>
                  <a:pt x="673100" y="488950"/>
                </a:lnTo>
                <a:lnTo>
                  <a:pt x="809625" y="492125"/>
                </a:lnTo>
                <a:lnTo>
                  <a:pt x="2455545" y="493395"/>
                </a:lnTo>
                <a:lnTo>
                  <a:pt x="2560320" y="493395"/>
                </a:lnTo>
                <a:lnTo>
                  <a:pt x="2644775" y="490220"/>
                </a:lnTo>
                <a:lnTo>
                  <a:pt x="2695575" y="482600"/>
                </a:lnTo>
                <a:lnTo>
                  <a:pt x="2747645" y="464820"/>
                </a:lnTo>
                <a:lnTo>
                  <a:pt x="2797175" y="433070"/>
                </a:lnTo>
                <a:lnTo>
                  <a:pt x="2835275" y="407670"/>
                </a:lnTo>
                <a:lnTo>
                  <a:pt x="2858770" y="390525"/>
                </a:lnTo>
                <a:lnTo>
                  <a:pt x="2884170" y="368300"/>
                </a:lnTo>
                <a:lnTo>
                  <a:pt x="2917825" y="336550"/>
                </a:lnTo>
                <a:lnTo>
                  <a:pt x="2936875" y="311150"/>
                </a:lnTo>
                <a:lnTo>
                  <a:pt x="2963545" y="274320"/>
                </a:lnTo>
                <a:lnTo>
                  <a:pt x="2992120" y="238125"/>
                </a:lnTo>
                <a:lnTo>
                  <a:pt x="3006725" y="213995"/>
                </a:lnTo>
                <a:lnTo>
                  <a:pt x="3036570" y="174625"/>
                </a:lnTo>
                <a:lnTo>
                  <a:pt x="3068320" y="146050"/>
                </a:lnTo>
                <a:lnTo>
                  <a:pt x="3100070" y="107950"/>
                </a:lnTo>
                <a:lnTo>
                  <a:pt x="3155950" y="63500"/>
                </a:lnTo>
                <a:lnTo>
                  <a:pt x="3217545" y="25400"/>
                </a:lnTo>
                <a:lnTo>
                  <a:pt x="3276600" y="0"/>
                </a:lnTo>
                <a:lnTo>
                  <a:pt x="0" y="4445"/>
                </a:lnTo>
                <a:close/>
              </a:path>
            </a:pathLst>
          </a:custGeom>
          <a:solidFill>
            <a:srgbClr val="023A8C"/>
          </a:solidFill>
          <a:ln>
            <a:solidFill>
              <a:srgbClr val="023A8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a:picLocks noChangeAspect="1"/>
          </p:cNvPicPr>
          <p:nvPr/>
        </p:nvPicPr>
        <p:blipFill>
          <a:blip r:embed="rId3"/>
          <a:stretch>
            <a:fillRect/>
          </a:stretch>
        </p:blipFill>
        <p:spPr>
          <a:xfrm>
            <a:off x="5265420" y="302895"/>
            <a:ext cx="1627505" cy="50736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15.7,&quot;left&quot;:391,&quot;top&quot;:90.65,&quot;width&quot;:512.1}"/>
</p:tagLst>
</file>

<file path=ppt/tags/tag2.xml><?xml version="1.0" encoding="utf-8"?>
<p:tagLst xmlns:p="http://schemas.openxmlformats.org/presentationml/2006/main">
  <p:tag name="KSO_WM_DIAGRAM_VIRTUALLY_FRAME" val="{&quot;height&quot;:215.7,&quot;left&quot;:391,&quot;top&quot;:90.65,&quot;width&quot;:512.1}"/>
</p:tagLst>
</file>

<file path=ppt/tags/tag3.xml><?xml version="1.0" encoding="utf-8"?>
<p:tagLst xmlns:p="http://schemas.openxmlformats.org/presentationml/2006/main">
  <p:tag name="KSO_WM_DIAGRAM_VIRTUALLY_FRAME" val="{&quot;height&quot;:215.7,&quot;left&quot;:391,&quot;top&quot;:90.65,&quot;width&quot;:512.1}"/>
</p:tagLst>
</file>

<file path=ppt/tags/tag4.xml><?xml version="1.0" encoding="utf-8"?>
<p:tagLst xmlns:p="http://schemas.openxmlformats.org/presentationml/2006/main">
  <p:tag name="KSO_WM_DIAGRAM_VIRTUALLY_FRAME" val="{&quot;height&quot;:215.7,&quot;left&quot;:391,&quot;top&quot;:90.65,&quot;width&quot;:512.1}"/>
</p:tagLst>
</file>

<file path=ppt/tags/tag5.xml><?xml version="1.0" encoding="utf-8"?>
<p:tagLst xmlns:p="http://schemas.openxmlformats.org/presentationml/2006/main">
  <p:tag name="KSO_WM_DIAGRAM_VIRTUALLY_FRAME" val="{&quot;height&quot;:215.7,&quot;left&quot;:391,&quot;top&quot;:90.65,&quot;width&quot;:512.1}"/>
</p:tagLst>
</file>

<file path=ppt/tags/tag6.xml><?xml version="1.0" encoding="utf-8"?>
<p:tagLst xmlns:p="http://schemas.openxmlformats.org/presentationml/2006/main">
  <p:tag name="KSO_WM_DIAGRAM_VIRTUALLY_FRAME" val="{&quot;height&quot;:215.7,&quot;left&quot;:391,&quot;top&quot;:90.65,&quot;width&quot;:512.1}"/>
</p:tagLst>
</file>

<file path=ppt/tags/tag7.xml><?xml version="1.0" encoding="utf-8"?>
<p:tagLst xmlns:p="http://schemas.openxmlformats.org/presentationml/2006/main">
  <p:tag name="KSO_WM_DIAGRAM_VIRTUALLY_FRAME" val="{&quot;height&quot;:215.7,&quot;left&quot;:391,&quot;top&quot;:90.65,&quot;width&quot;:512.1}"/>
</p:tagLst>
</file>

<file path=ppt/tags/tag8.xml><?xml version="1.0" encoding="utf-8"?>
<p:tagLst xmlns:p="http://schemas.openxmlformats.org/presentationml/2006/main">
  <p:tag name="KSO_WM_DIAGRAM_VIRTUALLY_FRAME" val="{&quot;height&quot;:215.7,&quot;left&quot;:391,&quot;top&quot;:90.65,&quot;width&quot;:512.1}"/>
</p:tagLst>
</file>

<file path=ppt/tags/tag9.xml><?xml version="1.0" encoding="utf-8"?>
<p:tagLst xmlns:p="http://schemas.openxmlformats.org/presentationml/2006/main">
  <p:tag name="KSO_WM_DIAGRAM_VIRTUALLY_FRAME" val="{&quot;height&quot;:215.7,&quot;left&quot;:391,&quot;top&quot;:90.65,&quot;width&quot;:512.1}"/>
</p:tagLst>
</file>

<file path=ppt/tags/tag10.xml><?xml version="1.0" encoding="utf-8"?>
<p:tagLst xmlns:p="http://schemas.openxmlformats.org/presentationml/2006/main">
  <p:tag name="KSO_WM_DIAGRAM_VIRTUALLY_FRAME" val="{&quot;height&quot;:215.7,&quot;left&quot;:391,&quot;top&quot;:90.65,&quot;width&quot;:512.1}"/>
</p:tagLst>
</file>

<file path=ppt/tags/tag11.xml><?xml version="1.0" encoding="utf-8"?>
<p:tagLst xmlns:p="http://schemas.openxmlformats.org/presentationml/2006/main">
  <p:tag name="KSO_WM_DIAGRAM_VIRTUALLY_FRAME" val="{&quot;height&quot;:215.7,&quot;left&quot;:391,&quot;top&quot;:90.65,&quot;width&quot;:512.1}"/>
</p:tagLst>
</file>

<file path=ppt/tags/tag12.xml><?xml version="1.0" encoding="utf-8"?>
<p:tagLst xmlns:p="http://schemas.openxmlformats.org/presentationml/2006/main">
  <p:tag name="KSO_WM_DIAGRAM_VIRTUALLY_FRAME" val="{&quot;height&quot;:215.7,&quot;left&quot;:391,&quot;top&quot;:90.65,&quot;width&quot;:512.1}"/>
</p:tagLst>
</file>

<file path=ppt/tags/tag13.xml><?xml version="1.0" encoding="utf-8"?>
<p:tagLst xmlns:p="http://schemas.openxmlformats.org/presentationml/2006/main">
  <p:tag name="KSO_WM_DIAGRAM_VIRTUALLY_FRAME" val="{&quot;height&quot;:215.7,&quot;left&quot;:391,&quot;top&quot;:90.65,&quot;width&quot;:512.1}"/>
</p:tagLst>
</file>

<file path=ppt/tags/tag14.xml><?xml version="1.0" encoding="utf-8"?>
<p:tagLst xmlns:p="http://schemas.openxmlformats.org/presentationml/2006/main">
  <p:tag name="KSO_WM_DIAGRAM_VIRTUALLY_FRAME" val="{&quot;height&quot;:215.7,&quot;left&quot;:391,&quot;top&quot;:90.65,&quot;width&quot;:512.1}"/>
</p:tagLst>
</file>

<file path=ppt/tags/tag15.xml><?xml version="1.0" encoding="utf-8"?>
<p:tagLst xmlns:p="http://schemas.openxmlformats.org/presentationml/2006/main">
  <p:tag name="KSO_WM_DIAGRAM_VIRTUALLY_FRAME" val="{&quot;height&quot;:215.7,&quot;left&quot;:391,&quot;top&quot;:90.65,&quot;width&quot;:512.1}"/>
</p:tagLst>
</file>

<file path=ppt/tags/tag16.xml><?xml version="1.0" encoding="utf-8"?>
<p:tagLst xmlns:p="http://schemas.openxmlformats.org/presentationml/2006/main">
  <p:tag name="KSO_WM_DIAGRAM_VIRTUALLY_FRAME" val="{&quot;height&quot;:215.7,&quot;left&quot;:391,&quot;top&quot;:90.65,&quot;width&quot;:512.1}"/>
</p:tagLst>
</file>

<file path=ppt/tags/tag17.xml><?xml version="1.0" encoding="utf-8"?>
<p:tagLst xmlns:p="http://schemas.openxmlformats.org/presentationml/2006/main">
  <p:tag name="KSO_WM_DIAGRAM_VIRTUALLY_FRAME" val="{&quot;height&quot;:215.7,&quot;left&quot;:391,&quot;top&quot;:90.65,&quot;width&quot;:512.1}"/>
</p:tagLst>
</file>

<file path=ppt/tags/tag18.xml><?xml version="1.0" encoding="utf-8"?>
<p:tagLst xmlns:p="http://schemas.openxmlformats.org/presentationml/2006/main">
  <p:tag name="KSO_WM_DIAGRAM_VIRTUALLY_FRAME" val="{&quot;height&quot;:215.7,&quot;left&quot;:391,&quot;top&quot;:90.65,&quot;width&quot;:512.1}"/>
</p:tagLst>
</file>

<file path=ppt/tags/tag19.xml><?xml version="1.0" encoding="utf-8"?>
<p:tagLst xmlns:p="http://schemas.openxmlformats.org/presentationml/2006/main">
  <p:tag name="KSO_WM_DIAGRAM_VIRTUALLY_FRAME" val="{&quot;height&quot;:215.7,&quot;left&quot;:391,&quot;top&quot;:90.65,&quot;width&quot;:512.1}"/>
</p:tagLst>
</file>

<file path=ppt/tags/tag20.xml><?xml version="1.0" encoding="utf-8"?>
<p:tagLst xmlns:p="http://schemas.openxmlformats.org/presentationml/2006/main">
  <p:tag name="KSO_WM_DIAGRAM_VIRTUALLY_FRAME" val="{&quot;height&quot;:215.7,&quot;left&quot;:391,&quot;top&quot;:90.65,&quot;width&quot;:512.1}"/>
</p:tagLst>
</file>

<file path=ppt/tags/tag21.xml><?xml version="1.0" encoding="utf-8"?>
<p:tagLst xmlns:p="http://schemas.openxmlformats.org/presentationml/2006/main">
  <p:tag name="KSO_WM_DIAGRAM_VIRTUALLY_FRAME" val="{&quot;height&quot;:215.7,&quot;left&quot;:391,&quot;top&quot;:90.65,&quot;width&quot;:512.1}"/>
</p:tagLst>
</file>

<file path=ppt/tags/tag22.xml><?xml version="1.0" encoding="utf-8"?>
<p:tagLst xmlns:p="http://schemas.openxmlformats.org/presentationml/2006/main">
  <p:tag name="KSO_WM_DIAGRAM_VIRTUALLY_FRAME" val="{&quot;height&quot;:215.7,&quot;left&quot;:391,&quot;top&quot;:90.65,&quot;width&quot;:512.1}"/>
</p:tagLst>
</file>

<file path=ppt/tags/tag23.xml><?xml version="1.0" encoding="utf-8"?>
<p:tagLst xmlns:p="http://schemas.openxmlformats.org/presentationml/2006/main">
  <p:tag name="KSO_WM_DIAGRAM_VIRTUALLY_FRAME" val="{&quot;height&quot;:215.7,&quot;left&quot;:391,&quot;top&quot;:90.65,&quot;width&quot;:512.1}"/>
</p:tagLst>
</file>

<file path=ppt/tags/tag24.xml><?xml version="1.0" encoding="utf-8"?>
<p:tagLst xmlns:p="http://schemas.openxmlformats.org/presentationml/2006/main">
  <p:tag name="TABLE_ENDDRAG_ORIGIN_RECT" val="855*329"/>
  <p:tag name="TABLE_ENDDRAG_RECT" val="53*125*855*329"/>
</p:tagLst>
</file>

<file path=ppt/tags/tag25.xml><?xml version="1.0" encoding="utf-8"?>
<p:tagLst xmlns:p="http://schemas.openxmlformats.org/presentationml/2006/main">
  <p:tag name="KSO_WM_DIAGRAM_VIRTUALLY_FRAME" val="{&quot;height&quot;:336.4,&quot;left&quot;:192.9,&quot;top&quot;:88.85,&quot;width&quot;:581.45}"/>
</p:tagLst>
</file>

<file path=ppt/tags/tag26.xml><?xml version="1.0" encoding="utf-8"?>
<p:tagLst xmlns:p="http://schemas.openxmlformats.org/presentationml/2006/main">
  <p:tag name="KSO_WM_DIAGRAM_VIRTUALLY_FRAME" val="{&quot;height&quot;:336.4,&quot;left&quot;:192.9,&quot;top&quot;:88.85,&quot;width&quot;:581.45}"/>
</p:tagLst>
</file>

<file path=ppt/tags/tag27.xml><?xml version="1.0" encoding="utf-8"?>
<p:tagLst xmlns:p="http://schemas.openxmlformats.org/presentationml/2006/main">
  <p:tag name="KSO_WM_DIAGRAM_VIRTUALLY_FRAME" val="{&quot;height&quot;:336.4,&quot;left&quot;:192.9,&quot;top&quot;:88.85,&quot;width&quot;:581.45}"/>
</p:tagLst>
</file>

<file path=ppt/tags/tag28.xml><?xml version="1.0" encoding="utf-8"?>
<p:tagLst xmlns:p="http://schemas.openxmlformats.org/presentationml/2006/main">
  <p:tag name="KSO_WM_DIAGRAM_VIRTUALLY_FRAME" val="{&quot;height&quot;:336.4,&quot;left&quot;:192.9,&quot;top&quot;:88.85,&quot;width&quot;:581.45}"/>
</p:tagLst>
</file>

<file path=ppt/tags/tag29.xml><?xml version="1.0" encoding="utf-8"?>
<p:tagLst xmlns:p="http://schemas.openxmlformats.org/presentationml/2006/main">
  <p:tag name="KSO_WM_DIAGRAM_VIRTUALLY_FRAME" val="{&quot;height&quot;:336.4,&quot;left&quot;:192.9,&quot;top&quot;:88.85,&quot;width&quot;:581.45}"/>
</p:tagLst>
</file>

<file path=ppt/tags/tag30.xml><?xml version="1.0" encoding="utf-8"?>
<p:tagLst xmlns:p="http://schemas.openxmlformats.org/presentationml/2006/main">
  <p:tag name="KSO_WM_DIAGRAM_VIRTUALLY_FRAME" val="{&quot;height&quot;:336.4,&quot;left&quot;:192.9,&quot;top&quot;:88.85,&quot;width&quot;:581.45}"/>
</p:tagLst>
</file>

<file path=ppt/tags/tag31.xml><?xml version="1.0" encoding="utf-8"?>
<p:tagLst xmlns:p="http://schemas.openxmlformats.org/presentationml/2006/main">
  <p:tag name="KSO_WM_DIAGRAM_VIRTUALLY_FRAME" val="{&quot;height&quot;:336.4,&quot;left&quot;:192.9,&quot;top&quot;:88.85,&quot;width&quot;:581.45}"/>
</p:tagLst>
</file>

<file path=ppt/tags/tag32.xml><?xml version="1.0" encoding="utf-8"?>
<p:tagLst xmlns:p="http://schemas.openxmlformats.org/presentationml/2006/main">
  <p:tag name="KSO_WM_DIAGRAM_VIRTUALLY_FRAME" val="{&quot;height&quot;:336.4,&quot;left&quot;:192.9,&quot;top&quot;:88.85,&quot;width&quot;:581.45}"/>
</p:tagLst>
</file>

<file path=ppt/tags/tag33.xml><?xml version="1.0" encoding="utf-8"?>
<p:tagLst xmlns:p="http://schemas.openxmlformats.org/presentationml/2006/main">
  <p:tag name="KSO_WM_DIAGRAM_VIRTUALLY_FRAME" val="{&quot;height&quot;:336.4,&quot;left&quot;:192.9,&quot;top&quot;:88.85,&quot;width&quot;:581.45}"/>
</p:tagLst>
</file>

<file path=ppt/tags/tag34.xml><?xml version="1.0" encoding="utf-8"?>
<p:tagLst xmlns:p="http://schemas.openxmlformats.org/presentationml/2006/main">
  <p:tag name="KSO_WM_DIAGRAM_VIRTUALLY_FRAME" val="{&quot;height&quot;:336.4,&quot;left&quot;:192.9,&quot;top&quot;:88.85,&quot;width&quot;:581.45}"/>
</p:tagLst>
</file>

<file path=ppt/tags/tag35.xml><?xml version="1.0" encoding="utf-8"?>
<p:tagLst xmlns:p="http://schemas.openxmlformats.org/presentationml/2006/main">
  <p:tag name="KSO_WM_DIAGRAM_VIRTUALLY_FRAME" val="{&quot;height&quot;:336.4,&quot;left&quot;:192.9,&quot;top&quot;:88.85,&quot;width&quot;:581.45}"/>
</p:tagLst>
</file>

<file path=ppt/tags/tag36.xml><?xml version="1.0" encoding="utf-8"?>
<p:tagLst xmlns:p="http://schemas.openxmlformats.org/presentationml/2006/main">
  <p:tag name="KSO_WM_DIAGRAM_VIRTUALLY_FRAME" val="{&quot;height&quot;:336.4,&quot;left&quot;:192.9,&quot;top&quot;:88.85,&quot;width&quot;:581.45}"/>
</p:tagLst>
</file>

<file path=ppt/tags/tag37.xml><?xml version="1.0" encoding="utf-8"?>
<p:tagLst xmlns:p="http://schemas.openxmlformats.org/presentationml/2006/main">
  <p:tag name="KSO_WM_DIAGRAM_VIRTUALLY_FRAME" val="{&quot;height&quot;:336.4,&quot;left&quot;:192.9,&quot;top&quot;:88.85,&quot;width&quot;:581.45}"/>
</p:tagLst>
</file>

<file path=ppt/tags/tag38.xml><?xml version="1.0" encoding="utf-8"?>
<p:tagLst xmlns:p="http://schemas.openxmlformats.org/presentationml/2006/main">
  <p:tag name="KSO_WM_DIAGRAM_VIRTUALLY_FRAME" val="{&quot;height&quot;:336.4,&quot;left&quot;:192.9,&quot;top&quot;:88.85,&quot;width&quot;:581.45}"/>
</p:tagLst>
</file>

<file path=ppt/tags/tag39.xml><?xml version="1.0" encoding="utf-8"?>
<p:tagLst xmlns:p="http://schemas.openxmlformats.org/presentationml/2006/main">
  <p:tag name="KSO_WM_DIAGRAM_VIRTUALLY_FRAME" val="{&quot;height&quot;:336.4,&quot;left&quot;:192.9,&quot;top&quot;:88.85,&quot;width&quot;:581.45}"/>
</p:tagLst>
</file>

<file path=ppt/tags/tag40.xml><?xml version="1.0" encoding="utf-8"?>
<p:tagLst xmlns:p="http://schemas.openxmlformats.org/presentationml/2006/main">
  <p:tag name="KSO_WM_DIAGRAM_VIRTUALLY_FRAME" val="{&quot;height&quot;:336.4,&quot;left&quot;:192.9,&quot;top&quot;:88.85,&quot;width&quot;:581.45}"/>
</p:tagLst>
</file>

<file path=ppt/tags/tag41.xml><?xml version="1.0" encoding="utf-8"?>
<p:tagLst xmlns:p="http://schemas.openxmlformats.org/presentationml/2006/main">
  <p:tag name="KSO_WM_DIAGRAM_VIRTUALLY_FRAME" val="{&quot;height&quot;:336.4,&quot;left&quot;:192.9,&quot;top&quot;:88.85,&quot;width&quot;:581.45}"/>
</p:tagLst>
</file>

<file path=ppt/tags/tag42.xml><?xml version="1.0" encoding="utf-8"?>
<p:tagLst xmlns:p="http://schemas.openxmlformats.org/presentationml/2006/main">
  <p:tag name="KSO_WM_DIAGRAM_VIRTUALLY_FRAME" val="{&quot;height&quot;:336.4,&quot;left&quot;:192.9,&quot;top&quot;:88.85,&quot;width&quot;:581.45}"/>
</p:tagLst>
</file>

<file path=ppt/tags/tag43.xml><?xml version="1.0" encoding="utf-8"?>
<p:tagLst xmlns:p="http://schemas.openxmlformats.org/presentationml/2006/main">
  <p:tag name="KSO_WM_DIAGRAM_VIRTUALLY_FRAME" val="{&quot;height&quot;:336.4,&quot;left&quot;:192.9,&quot;top&quot;:88.85,&quot;width&quot;:581.45}"/>
</p:tagLst>
</file>

<file path=ppt/tags/tag44.xml><?xml version="1.0" encoding="utf-8"?>
<p:tagLst xmlns:p="http://schemas.openxmlformats.org/presentationml/2006/main">
  <p:tag name="KSO_WM_DIAGRAM_VIRTUALLY_FRAME" val="{&quot;height&quot;:336.4,&quot;left&quot;:192.9,&quot;top&quot;:88.85,&quot;width&quot;:581.45}"/>
</p:tagLst>
</file>

<file path=ppt/tags/tag45.xml><?xml version="1.0" encoding="utf-8"?>
<p:tagLst xmlns:p="http://schemas.openxmlformats.org/presentationml/2006/main">
  <p:tag name="KSO_WM_DIAGRAM_VIRTUALLY_FRAME" val="{&quot;height&quot;:336.4,&quot;left&quot;:192.9,&quot;top&quot;:88.85,&quot;width&quot;:581.45}"/>
</p:tagLst>
</file>

<file path=ppt/tags/tag46.xml><?xml version="1.0" encoding="utf-8"?>
<p:tagLst xmlns:p="http://schemas.openxmlformats.org/presentationml/2006/main">
  <p:tag name="KSO_WM_DIAGRAM_VIRTUALLY_FRAME" val="{&quot;height&quot;:336.4,&quot;left&quot;:192.9,&quot;top&quot;:88.85,&quot;width&quot;:581.45}"/>
</p:tagLst>
</file>

<file path=ppt/tags/tag47.xml><?xml version="1.0" encoding="utf-8"?>
<p:tagLst xmlns:p="http://schemas.openxmlformats.org/presentationml/2006/main">
  <p:tag name="KSO_WM_DIAGRAM_VIRTUALLY_FRAME" val="{&quot;height&quot;:336.4,&quot;left&quot;:192.9,&quot;top&quot;:88.85,&quot;width&quot;:581.45}"/>
</p:tagLst>
</file>

<file path=ppt/tags/tag48.xml><?xml version="1.0" encoding="utf-8"?>
<p:tagLst xmlns:p="http://schemas.openxmlformats.org/presentationml/2006/main">
  <p:tag name="KSO_WM_DIAGRAM_VIRTUALLY_FRAME" val="{&quot;height&quot;:336.4,&quot;left&quot;:192.9,&quot;top&quot;:88.85,&quot;width&quot;:581.45}"/>
</p:tagLst>
</file>

<file path=ppt/tags/tag49.xml><?xml version="1.0" encoding="utf-8"?>
<p:tagLst xmlns:p="http://schemas.openxmlformats.org/presentationml/2006/main">
  <p:tag name="KSO_WM_DIAGRAM_VIRTUALLY_FRAME" val="{&quot;height&quot;:336.4,&quot;left&quot;:192.9,&quot;top&quot;:88.85,&quot;width&quot;:581.45}"/>
</p:tagLst>
</file>

<file path=ppt/tags/tag50.xml><?xml version="1.0" encoding="utf-8"?>
<p:tagLst xmlns:p="http://schemas.openxmlformats.org/presentationml/2006/main">
  <p:tag name="KSO_WM_DIAGRAM_VIRTUALLY_FRAME" val="{&quot;height&quot;:336.4,&quot;left&quot;:192.9,&quot;top&quot;:88.85,&quot;width&quot;:581.45}"/>
</p:tagLst>
</file>

<file path=ppt/tags/tag51.xml><?xml version="1.0" encoding="utf-8"?>
<p:tagLst xmlns:p="http://schemas.openxmlformats.org/presentationml/2006/main">
  <p:tag name="KSO_WM_DIAGRAM_VIRTUALLY_FRAME" val="{&quot;height&quot;:336.4,&quot;left&quot;:192.9,&quot;top&quot;:88.85,&quot;width&quot;:581.45}"/>
</p:tagLst>
</file>

<file path=ppt/tags/tag52.xml><?xml version="1.0" encoding="utf-8"?>
<p:tagLst xmlns:p="http://schemas.openxmlformats.org/presentationml/2006/main">
  <p:tag name="KSO_WM_DIAGRAM_VIRTUALLY_FRAME" val="{&quot;height&quot;:336.4,&quot;left&quot;:192.9,&quot;top&quot;:88.85,&quot;width&quot;:581.45}"/>
</p:tagLst>
</file>

<file path=ppt/tags/tag53.xml><?xml version="1.0" encoding="utf-8"?>
<p:tagLst xmlns:p="http://schemas.openxmlformats.org/presentationml/2006/main">
  <p:tag name="KSO_WM_DIAGRAM_VIRTUALLY_FRAME" val="{&quot;height&quot;:336.4,&quot;left&quot;:192.9,&quot;top&quot;:88.85,&quot;width&quot;:581.45}"/>
</p:tagLst>
</file>

<file path=ppt/tags/tag54.xml><?xml version="1.0" encoding="utf-8"?>
<p:tagLst xmlns:p="http://schemas.openxmlformats.org/presentationml/2006/main">
  <p:tag name="KSO_WM_DIAGRAM_VIRTUALLY_FRAME" val="{&quot;height&quot;:336.4,&quot;left&quot;:192.9,&quot;top&quot;:88.85,&quot;width&quot;:581.45}"/>
</p:tagLst>
</file>

<file path=ppt/tags/tag55.xml><?xml version="1.0" encoding="utf-8"?>
<p:tagLst xmlns:p="http://schemas.openxmlformats.org/presentationml/2006/main">
  <p:tag name="KSO_WM_DIAGRAM_VIRTUALLY_FRAME" val="{&quot;height&quot;:336.4,&quot;left&quot;:192.9,&quot;top&quot;:88.85,&quot;width&quot;:581.45}"/>
</p:tagLst>
</file>

<file path=ppt/tags/tag56.xml><?xml version="1.0" encoding="utf-8"?>
<p:tagLst xmlns:p="http://schemas.openxmlformats.org/presentationml/2006/main">
  <p:tag name="KSO_WM_DIAGRAM_VIRTUALLY_FRAME" val="{&quot;height&quot;:336.4,&quot;left&quot;:192.9,&quot;top&quot;:88.85,&quot;width&quot;:581.45}"/>
</p:tagLst>
</file>

<file path=ppt/tags/tag57.xml><?xml version="1.0" encoding="utf-8"?>
<p:tagLst xmlns:p="http://schemas.openxmlformats.org/presentationml/2006/main">
  <p:tag name="KSO_WM_DIAGRAM_VIRTUALLY_FRAME" val="{&quot;height&quot;:336.4,&quot;left&quot;:192.9,&quot;top&quot;:88.85,&quot;width&quot;:581.45}"/>
</p:tagLst>
</file>

<file path=ppt/tags/tag58.xml><?xml version="1.0" encoding="utf-8"?>
<p:tagLst xmlns:p="http://schemas.openxmlformats.org/presentationml/2006/main">
  <p:tag name="TABLE_ENDDRAG_ORIGIN_RECT" val="293*348"/>
  <p:tag name="TABLE_ENDDRAG_RECT" val="529*150*293*348"/>
</p:tagLst>
</file>

<file path=ppt/tags/tag59.xml><?xml version="1.0" encoding="utf-8"?>
<p:tagLst xmlns:p="http://schemas.openxmlformats.org/presentationml/2006/main">
  <p:tag name="KSO_WM_DIAGRAM_VIRTUALLY_FRAME" val="{&quot;height&quot;:337.6,&quot;left&quot;:46.9,&quot;top&quot;:145.1,&quot;width&quot;:472.35}"/>
</p:tagLst>
</file>

<file path=ppt/tags/tag60.xml><?xml version="1.0" encoding="utf-8"?>
<p:tagLst xmlns:p="http://schemas.openxmlformats.org/presentationml/2006/main">
  <p:tag name="KSO_WM_DIAGRAM_VIRTUALLY_FRAME" val="{&quot;height&quot;:337.6,&quot;left&quot;:46.9,&quot;top&quot;:145.1,&quot;width&quot;:472.35}"/>
</p:tagLst>
</file>

<file path=ppt/tags/tag61.xml><?xml version="1.0" encoding="utf-8"?>
<p:tagLst xmlns:p="http://schemas.openxmlformats.org/presentationml/2006/main">
  <p:tag name="KSO_WM_DIAGRAM_VIRTUALLY_FRAME" val="{&quot;height&quot;:337.6,&quot;left&quot;:46.9,&quot;top&quot;:145.1,&quot;width&quot;:472.35}"/>
</p:tagLst>
</file>

<file path=ppt/tags/tag62.xml><?xml version="1.0" encoding="utf-8"?>
<p:tagLst xmlns:p="http://schemas.openxmlformats.org/presentationml/2006/main">
  <p:tag name="KSO_WM_DIAGRAM_VIRTUALLY_FRAME" val="{&quot;height&quot;:337.6,&quot;left&quot;:46.9,&quot;top&quot;:145.1,&quot;width&quot;:472.35}"/>
</p:tagLst>
</file>

<file path=ppt/tags/tag63.xml><?xml version="1.0" encoding="utf-8"?>
<p:tagLst xmlns:p="http://schemas.openxmlformats.org/presentationml/2006/main">
  <p:tag name="KSO_WM_DIAGRAM_VIRTUALLY_FRAME" val="{&quot;height&quot;:337.6,&quot;left&quot;:46.9,&quot;top&quot;:145.1,&quot;width&quot;:472.35}"/>
</p:tagLst>
</file>

<file path=ppt/tags/tag64.xml><?xml version="1.0" encoding="utf-8"?>
<p:tagLst xmlns:p="http://schemas.openxmlformats.org/presentationml/2006/main">
  <p:tag name="KSO_WM_DIAGRAM_VIRTUALLY_FRAME" val="{&quot;height&quot;:337.6,&quot;left&quot;:46.9,&quot;top&quot;:145.1,&quot;width&quot;:472.35}"/>
</p:tagLst>
</file>

<file path=ppt/tags/tag65.xml><?xml version="1.0" encoding="utf-8"?>
<p:tagLst xmlns:p="http://schemas.openxmlformats.org/presentationml/2006/main">
  <p:tag name="KSO_WM_DIAGRAM_VIRTUALLY_FRAME" val="{&quot;height&quot;:337.6,&quot;left&quot;:46.9,&quot;top&quot;:145.1,&quot;width&quot;:472.35}"/>
</p:tagLst>
</file>

<file path=ppt/tags/tag66.xml><?xml version="1.0" encoding="utf-8"?>
<p:tagLst xmlns:p="http://schemas.openxmlformats.org/presentationml/2006/main">
  <p:tag name="KSO_WM_DIAGRAM_VIRTUALLY_FRAME" val="{&quot;height&quot;:337.6,&quot;left&quot;:46.9,&quot;top&quot;:145.1,&quot;width&quot;:472.35}"/>
</p:tagLst>
</file>

<file path=ppt/tags/tag67.xml><?xml version="1.0" encoding="utf-8"?>
<p:tagLst xmlns:p="http://schemas.openxmlformats.org/presentationml/2006/main">
  <p:tag name="KSO_WM_DIAGRAM_VIRTUALLY_FRAME" val="{&quot;height&quot;:337.6,&quot;left&quot;:46.9,&quot;top&quot;:145.1,&quot;width&quot;:472.35}"/>
</p:tagLst>
</file>

<file path=ppt/tags/tag68.xml><?xml version="1.0" encoding="utf-8"?>
<p:tagLst xmlns:p="http://schemas.openxmlformats.org/presentationml/2006/main">
  <p:tag name="KSO_WM_DIAGRAM_VIRTUALLY_FRAME" val="{&quot;height&quot;:337.6,&quot;left&quot;:46.9,&quot;top&quot;:145.1,&quot;width&quot;:472.35}"/>
</p:tagLst>
</file>

<file path=ppt/tags/tag69.xml><?xml version="1.0" encoding="utf-8"?>
<p:tagLst xmlns:p="http://schemas.openxmlformats.org/presentationml/2006/main">
  <p:tag name="KSO_WM_DIAGRAM_VIRTUALLY_FRAME" val="{&quot;height&quot;:337.6,&quot;left&quot;:46.9,&quot;top&quot;:145.1,&quot;width&quot;:472.35}"/>
</p:tagLst>
</file>

<file path=ppt/tags/tag70.xml><?xml version="1.0" encoding="utf-8"?>
<p:tagLst xmlns:p="http://schemas.openxmlformats.org/presentationml/2006/main">
  <p:tag name="KSO_WM_DIAGRAM_VIRTUALLY_FRAME" val="{&quot;height&quot;:337.6,&quot;left&quot;:46.9,&quot;top&quot;:145.1,&quot;width&quot;:472.35}"/>
</p:tagLst>
</file>

<file path=ppt/tags/tag71.xml><?xml version="1.0" encoding="utf-8"?>
<p:tagLst xmlns:p="http://schemas.openxmlformats.org/presentationml/2006/main">
  <p:tag name="KSO_WM_DIAGRAM_VIRTUALLY_FRAME" val="{&quot;height&quot;:337.6,&quot;left&quot;:46.9,&quot;top&quot;:145.1,&quot;width&quot;:472.35}"/>
</p:tagLst>
</file>

<file path=ppt/tags/tag72.xml><?xml version="1.0" encoding="utf-8"?>
<p:tagLst xmlns:p="http://schemas.openxmlformats.org/presentationml/2006/main">
  <p:tag name="KSO_WM_DIAGRAM_VIRTUALLY_FRAME" val="{&quot;height&quot;:337.6,&quot;left&quot;:46.9,&quot;top&quot;:145.1,&quot;width&quot;:472.35}"/>
</p:tagLst>
</file>

<file path=ppt/tags/tag73.xml><?xml version="1.0" encoding="utf-8"?>
<p:tagLst xmlns:p="http://schemas.openxmlformats.org/presentationml/2006/main">
  <p:tag name="KSO_WM_DIAGRAM_VIRTUALLY_FRAME" val="{&quot;height&quot;:337.6,&quot;left&quot;:46.9,&quot;top&quot;:145.1,&quot;width&quot;:472.35}"/>
</p:tagLst>
</file>

<file path=ppt/tags/tag74.xml><?xml version="1.0" encoding="utf-8"?>
<p:tagLst xmlns:p="http://schemas.openxmlformats.org/presentationml/2006/main">
  <p:tag name="KSO_WM_DIAGRAM_VIRTUALLY_FRAME" val="{&quot;height&quot;:337.6,&quot;left&quot;:46.9,&quot;top&quot;:145.1,&quot;width&quot;:472.35}"/>
</p:tagLst>
</file>

<file path=ppt/tags/tag75.xml><?xml version="1.0" encoding="utf-8"?>
<p:tagLst xmlns:p="http://schemas.openxmlformats.org/presentationml/2006/main">
  <p:tag name="KSO_WM_DIAGRAM_VIRTUALLY_FRAME" val="{&quot;height&quot;:337.6,&quot;left&quot;:46.9,&quot;top&quot;:145.1,&quot;width&quot;:472.35}"/>
</p:tagLst>
</file>

<file path=ppt/tags/tag76.xml><?xml version="1.0" encoding="utf-8"?>
<p:tagLst xmlns:p="http://schemas.openxmlformats.org/presentationml/2006/main">
  <p:tag name="KSO_WM_DIAGRAM_VIRTUALLY_FRAME" val="{&quot;height&quot;:337.6,&quot;left&quot;:46.9,&quot;top&quot;:145.1,&quot;width&quot;:472.35}"/>
</p:tagLst>
</file>

<file path=ppt/tags/tag77.xml><?xml version="1.0" encoding="utf-8"?>
<p:tagLst xmlns:p="http://schemas.openxmlformats.org/presentationml/2006/main">
  <p:tag name="KSO_WM_DIAGRAM_VIRTUALLY_FRAME" val="{&quot;height&quot;:337.6,&quot;left&quot;:46.9,&quot;top&quot;:145.1,&quot;width&quot;:472.35}"/>
</p:tagLst>
</file>

<file path=ppt/tags/tag78.xml><?xml version="1.0" encoding="utf-8"?>
<p:tagLst xmlns:p="http://schemas.openxmlformats.org/presentationml/2006/main">
  <p:tag name="KSO_WM_DIAGRAM_VIRTUALLY_FRAME" val="{&quot;height&quot;:337.6,&quot;left&quot;:46.9,&quot;top&quot;:145.1,&quot;width&quot;:472.35}"/>
</p:tagLst>
</file>

<file path=ppt/tags/tag79.xml><?xml version="1.0" encoding="utf-8"?>
<p:tagLst xmlns:p="http://schemas.openxmlformats.org/presentationml/2006/main">
  <p:tag name="KSO_WM_DIAGRAM_VIRTUALLY_FRAME" val="{&quot;height&quot;:337.6,&quot;left&quot;:46.9,&quot;top&quot;:145.1,&quot;width&quot;:472.35}"/>
</p:tagLst>
</file>

<file path=ppt/tags/tag80.xml><?xml version="1.0" encoding="utf-8"?>
<p:tagLst xmlns:p="http://schemas.openxmlformats.org/presentationml/2006/main">
  <p:tag name="KSO_WM_DIAGRAM_VIRTUALLY_FRAME" val="{&quot;height&quot;:337.6,&quot;left&quot;:46.9,&quot;top&quot;:145.1,&quot;width&quot;:472.35}"/>
</p:tagLst>
</file>

<file path=ppt/tags/tag81.xml><?xml version="1.0" encoding="utf-8"?>
<p:tagLst xmlns:p="http://schemas.openxmlformats.org/presentationml/2006/main">
  <p:tag name="KSO_WM_DIAGRAM_VIRTUALLY_FRAME" val="{&quot;height&quot;:337.6,&quot;left&quot;:46.9,&quot;top&quot;:145.1,&quot;width&quot;:472.35}"/>
</p:tagLst>
</file>

<file path=ppt/tags/tag82.xml><?xml version="1.0" encoding="utf-8"?>
<p:tagLst xmlns:p="http://schemas.openxmlformats.org/presentationml/2006/main">
  <p:tag name="KSO_WM_DIAGRAM_VIRTUALLY_FRAME" val="{&quot;height&quot;:337.6,&quot;left&quot;:46.9,&quot;top&quot;:145.1,&quot;width&quot;:472.35}"/>
</p:tagLst>
</file>

<file path=ppt/tags/tag83.xml><?xml version="1.0" encoding="utf-8"?>
<p:tagLst xmlns:p="http://schemas.openxmlformats.org/presentationml/2006/main">
  <p:tag name="KSO_WM_DIAGRAM_VIRTUALLY_FRAME" val="{&quot;height&quot;:337.6,&quot;left&quot;:46.9,&quot;top&quot;:145.1,&quot;width&quot;:472.35}"/>
</p:tagLst>
</file>

<file path=ppt/tags/tag84.xml><?xml version="1.0" encoding="utf-8"?>
<p:tagLst xmlns:p="http://schemas.openxmlformats.org/presentationml/2006/main">
  <p:tag name="KSO_WM_DIAGRAM_VIRTUALLY_FRAME" val="{&quot;height&quot;:337.6,&quot;left&quot;:46.9,&quot;top&quot;:145.1,&quot;width&quot;:472.35}"/>
</p:tagLst>
</file>

<file path=ppt/tags/tag85.xml><?xml version="1.0" encoding="utf-8"?>
<p:tagLst xmlns:p="http://schemas.openxmlformats.org/presentationml/2006/main">
  <p:tag name="KSO_WM_DIAGRAM_VIRTUALLY_FRAME" val="{&quot;height&quot;:337.6,&quot;left&quot;:46.9,&quot;top&quot;:145.1,&quot;width&quot;:472.35}"/>
</p:tagLst>
</file>

<file path=ppt/tags/tag86.xml><?xml version="1.0" encoding="utf-8"?>
<p:tagLst xmlns:p="http://schemas.openxmlformats.org/presentationml/2006/main">
  <p:tag name="KSO_WM_DIAGRAM_VIRTUALLY_FRAME" val="{&quot;height&quot;:337.6,&quot;left&quot;:46.9,&quot;top&quot;:145.1,&quot;width&quot;:472.35}"/>
</p:tagLst>
</file>

<file path=ppt/tags/tag87.xml><?xml version="1.0" encoding="utf-8"?>
<p:tagLst xmlns:p="http://schemas.openxmlformats.org/presentationml/2006/main">
  <p:tag name="KSO_WM_DIAGRAM_VIRTUALLY_FRAME" val="{&quot;height&quot;:337.6,&quot;left&quot;:46.9,&quot;top&quot;:145.1,&quot;width&quot;:472.35}"/>
</p:tagLst>
</file>

<file path=ppt/tags/tag88.xml><?xml version="1.0" encoding="utf-8"?>
<p:tagLst xmlns:p="http://schemas.openxmlformats.org/presentationml/2006/main">
  <p:tag name="KSO_WM_DIAGRAM_VIRTUALLY_FRAME" val="{&quot;height&quot;:337.6,&quot;left&quot;:46.9,&quot;top&quot;:145.1,&quot;width&quot;:472.35}"/>
</p:tagLst>
</file>

<file path=ppt/tags/tag89.xml><?xml version="1.0" encoding="utf-8"?>
<p:tagLst xmlns:p="http://schemas.openxmlformats.org/presentationml/2006/main">
  <p:tag name="KSO_WM_DIAGRAM_VIRTUALLY_FRAME" val="{&quot;height&quot;:337.6,&quot;left&quot;:46.9,&quot;top&quot;:145.1,&quot;width&quot;:472.35}"/>
</p:tagLst>
</file>

<file path=ppt/tags/tag90.xml><?xml version="1.0" encoding="utf-8"?>
<p:tagLst xmlns:p="http://schemas.openxmlformats.org/presentationml/2006/main">
  <p:tag name="KSO_WM_DIAGRAM_VIRTUALLY_FRAME" val="{&quot;height&quot;:337.6,&quot;left&quot;:46.9,&quot;top&quot;:145.1,&quot;width&quot;:472.35}"/>
</p:tagLst>
</file>

<file path=ppt/tags/tag91.xml><?xml version="1.0" encoding="utf-8"?>
<p:tagLst xmlns:p="http://schemas.openxmlformats.org/presentationml/2006/main">
  <p:tag name="KSO_WM_DIAGRAM_VIRTUALLY_FRAME" val="{&quot;height&quot;:337.6,&quot;left&quot;:46.9,&quot;top&quot;:145.1,&quot;width&quot;:472.35}"/>
</p:tagLst>
</file>

<file path=ppt/tags/tag92.xml><?xml version="1.0" encoding="utf-8"?>
<p:tagLst xmlns:p="http://schemas.openxmlformats.org/presentationml/2006/main">
  <p:tag name="KSO_WM_DIAGRAM_VIRTUALLY_FRAME" val="{&quot;height&quot;:337.6,&quot;left&quot;:46.9,&quot;top&quot;:145.1,&quot;width&quot;:472.35}"/>
</p:tagLst>
</file>

<file path=ppt/tags/tag93.xml><?xml version="1.0" encoding="utf-8"?>
<p:tagLst xmlns:p="http://schemas.openxmlformats.org/presentationml/2006/main">
  <p:tag name="KSO_WM_DIAGRAM_VIRTUALLY_FRAME" val="{&quot;height&quot;:337.6,&quot;left&quot;:46.9,&quot;top&quot;:145.1,&quot;width&quot;:472.35}"/>
</p:tagLst>
</file>

<file path=ppt/tags/tag94.xml><?xml version="1.0" encoding="utf-8"?>
<p:tagLst xmlns:p="http://schemas.openxmlformats.org/presentationml/2006/main">
  <p:tag name="KSO_WM_DIAGRAM_VIRTUALLY_FRAME" val="{&quot;height&quot;:337.6,&quot;left&quot;:46.9,&quot;top&quot;:145.1,&quot;width&quot;:472.35}"/>
</p:tagLst>
</file>

<file path=ppt/tags/tag95.xml><?xml version="1.0" encoding="utf-8"?>
<p:tagLst xmlns:p="http://schemas.openxmlformats.org/presentationml/2006/main">
  <p:tag name="KSO_WM_DIAGRAM_VIRTUALLY_FRAME" val="{&quot;height&quot;:337.6,&quot;left&quot;:46.9,&quot;top&quot;:145.1,&quot;width&quot;:472.35}"/>
</p:tagLst>
</file>

<file path=ppt/tags/tag96.xml><?xml version="1.0" encoding="utf-8"?>
<p:tagLst xmlns:p="http://schemas.openxmlformats.org/presentationml/2006/main">
  <p:tag name="KSO_WM_DIAGRAM_VIRTUALLY_FRAME" val="{&quot;height&quot;:337.6,&quot;left&quot;:46.9,&quot;top&quot;:145.1,&quot;width&quot;:472.35}"/>
</p:tagLst>
</file>

<file path=ppt/tags/tag97.xml><?xml version="1.0" encoding="utf-8"?>
<p:tagLst xmlns:p="http://schemas.openxmlformats.org/presentationml/2006/main">
  <p:tag name="KSO_WM_DIAGRAM_VIRTUALLY_FRAME" val="{&quot;height&quot;:337.6,&quot;left&quot;:46.9,&quot;top&quot;:145.1,&quot;width&quot;:472.35}"/>
</p:tagLst>
</file>

<file path=ppt/tags/tag98.xml><?xml version="1.0" encoding="utf-8"?>
<p:tagLst xmlns:p="http://schemas.openxmlformats.org/presentationml/2006/main">
  <p:tag name="KSO_WM_DIAGRAM_VIRTUALLY_FRAME" val="{&quot;height&quot;:337.6,&quot;left&quot;:46.9,&quot;top&quot;:145.1,&quot;width&quot;:472.35}"/>
</p:tagLst>
</file>

<file path=ppt/tags/tag99.xml><?xml version="1.0" encoding="utf-8"?>
<p:tagLst xmlns:p="http://schemas.openxmlformats.org/presentationml/2006/main">
  <p:tag name="KSO_WM_DIAGRAM_VIRTUALLY_FRAME" val="{&quot;height&quot;:337.6,&quot;left&quot;:46.9,&quot;top&quot;:145.1,&quot;width&quot;:472.35}"/>
</p:tagLst>
</file>

<file path=ppt/tags/tag100.xml><?xml version="1.0" encoding="utf-8"?>
<p:tagLst xmlns:p="http://schemas.openxmlformats.org/presentationml/2006/main">
  <p:tag name="KSO_WM_DIAGRAM_VIRTUALLY_FRAME" val="{&quot;height&quot;:337.6,&quot;left&quot;:46.9,&quot;top&quot;:145.1,&quot;width&quot;:472.35}"/>
</p:tagLst>
</file>

<file path=ppt/tags/tag101.xml><?xml version="1.0" encoding="utf-8"?>
<p:tagLst xmlns:p="http://schemas.openxmlformats.org/presentationml/2006/main">
  <p:tag name="KSO_WM_DIAGRAM_VIRTUALLY_FRAME" val="{&quot;height&quot;:337.6,&quot;left&quot;:46.9,&quot;top&quot;:145.1,&quot;width&quot;:472.35}"/>
</p:tagLst>
</file>

<file path=ppt/tags/tag102.xml><?xml version="1.0" encoding="utf-8"?>
<p:tagLst xmlns:p="http://schemas.openxmlformats.org/presentationml/2006/main">
  <p:tag name="KSO_WM_DIAGRAM_VIRTUALLY_FRAME" val="{&quot;height&quot;:337.6,&quot;left&quot;:46.9,&quot;top&quot;:145.1,&quot;width&quot;:472.35}"/>
</p:tagLst>
</file>

<file path=ppt/tags/tag103.xml><?xml version="1.0" encoding="utf-8"?>
<p:tagLst xmlns:p="http://schemas.openxmlformats.org/presentationml/2006/main">
  <p:tag name="KSO_WM_DIAGRAM_VIRTUALLY_FRAME" val="{&quot;height&quot;:337.6,&quot;left&quot;:46.9,&quot;top&quot;:145.1,&quot;width&quot;:472.35}"/>
</p:tagLst>
</file>

<file path=ppt/tags/tag104.xml><?xml version="1.0" encoding="utf-8"?>
<p:tagLst xmlns:p="http://schemas.openxmlformats.org/presentationml/2006/main">
  <p:tag name="KSO_WM_DIAGRAM_VIRTUALLY_FRAME" val="{&quot;height&quot;:337.6,&quot;left&quot;:46.9,&quot;top&quot;:145.1,&quot;width&quot;:472.35}"/>
</p:tagLst>
</file>

<file path=ppt/tags/tag105.xml><?xml version="1.0" encoding="utf-8"?>
<p:tagLst xmlns:p="http://schemas.openxmlformats.org/presentationml/2006/main">
  <p:tag name="KSO_WM_DIAGRAM_VIRTUALLY_FRAME" val="{&quot;height&quot;:337.6,&quot;left&quot;:46.9,&quot;top&quot;:145.1,&quot;width&quot;:472.35}"/>
</p:tagLst>
</file>

<file path=ppt/tags/tag106.xml><?xml version="1.0" encoding="utf-8"?>
<p:tagLst xmlns:p="http://schemas.openxmlformats.org/presentationml/2006/main">
  <p:tag name="KSO_WM_DIAGRAM_VIRTUALLY_FRAME" val="{&quot;height&quot;:337.6,&quot;left&quot;:46.9,&quot;top&quot;:145.1,&quot;width&quot;:472.35}"/>
</p:tagLst>
</file>

<file path=ppt/tags/tag107.xml><?xml version="1.0" encoding="utf-8"?>
<p:tagLst xmlns:p="http://schemas.openxmlformats.org/presentationml/2006/main">
  <p:tag name="KSO_WM_DIAGRAM_VIRTUALLY_FRAME" val="{&quot;height&quot;:337.6,&quot;left&quot;:46.9,&quot;top&quot;:145.1,&quot;width&quot;:472.35}"/>
</p:tagLst>
</file>

<file path=ppt/tags/tag108.xml><?xml version="1.0" encoding="utf-8"?>
<p:tagLst xmlns:p="http://schemas.openxmlformats.org/presentationml/2006/main">
  <p:tag name="KSO_WM_DIAGRAM_VIRTUALLY_FRAME" val="{&quot;height&quot;:337.6,&quot;left&quot;:46.9,&quot;top&quot;:145.1,&quot;width&quot;:472.35}"/>
</p:tagLst>
</file>

<file path=ppt/tags/tag109.xml><?xml version="1.0" encoding="utf-8"?>
<p:tagLst xmlns:p="http://schemas.openxmlformats.org/presentationml/2006/main">
  <p:tag name="TABLE_ENDDRAG_ORIGIN_RECT" val="402*108"/>
  <p:tag name="TABLE_ENDDRAG_RECT" val="68*416*402*108"/>
</p:tagLst>
</file>

<file path=ppt/tags/tag110.xml><?xml version="1.0" encoding="utf-8"?>
<p:tagLst xmlns:p="http://schemas.openxmlformats.org/presentationml/2006/main">
  <p:tag name="TABLE_ENDDRAG_ORIGIN_RECT" val="373*104"/>
  <p:tag name="TABLE_ENDDRAG_RECT" val="68*299*373*104"/>
</p:tagLst>
</file>

<file path=ppt/tags/tag111.xml><?xml version="1.0" encoding="utf-8"?>
<p:tagLst xmlns:p="http://schemas.openxmlformats.org/presentationml/2006/main">
  <p:tag name="KSO_WM_DIAGRAM_VIRTUALLY_FRAME" val="{&quot;height&quot;:336.4,&quot;left&quot;:192.9,&quot;top&quot;:88.85,&quot;width&quot;:581.45}"/>
</p:tagLst>
</file>

<file path=ppt/tags/tag112.xml><?xml version="1.0" encoding="utf-8"?>
<p:tagLst xmlns:p="http://schemas.openxmlformats.org/presentationml/2006/main">
  <p:tag name="KSO_WM_DIAGRAM_VIRTUALLY_FRAME" val="{&quot;height&quot;:336.4,&quot;left&quot;:192.9,&quot;top&quot;:88.85,&quot;width&quot;:581.45}"/>
</p:tagLst>
</file>

<file path=ppt/tags/tag113.xml><?xml version="1.0" encoding="utf-8"?>
<p:tagLst xmlns:p="http://schemas.openxmlformats.org/presentationml/2006/main">
  <p:tag name="KSO_WM_DIAGRAM_VIRTUALLY_FRAME" val="{&quot;height&quot;:336.4,&quot;left&quot;:192.9,&quot;top&quot;:88.85,&quot;width&quot;:581.45}"/>
</p:tagLst>
</file>

<file path=ppt/tags/tag114.xml><?xml version="1.0" encoding="utf-8"?>
<p:tagLst xmlns:p="http://schemas.openxmlformats.org/presentationml/2006/main">
  <p:tag name="KSO_WM_DIAGRAM_VIRTUALLY_FRAME" val="{&quot;height&quot;:336.4,&quot;left&quot;:192.9,&quot;top&quot;:88.85,&quot;width&quot;:581.45}"/>
</p:tagLst>
</file>

<file path=ppt/tags/tag115.xml><?xml version="1.0" encoding="utf-8"?>
<p:tagLst xmlns:p="http://schemas.openxmlformats.org/presentationml/2006/main">
  <p:tag name="KSO_WM_DIAGRAM_VIRTUALLY_FRAME" val="{&quot;height&quot;:336.4,&quot;left&quot;:192.9,&quot;top&quot;:88.85,&quot;width&quot;:581.45}"/>
</p:tagLst>
</file>

<file path=ppt/tags/tag116.xml><?xml version="1.0" encoding="utf-8"?>
<p:tagLst xmlns:p="http://schemas.openxmlformats.org/presentationml/2006/main">
  <p:tag name="KSO_WM_DIAGRAM_VIRTUALLY_FRAME" val="{&quot;height&quot;:336.4,&quot;left&quot;:192.9,&quot;top&quot;:88.85,&quot;width&quot;:581.45}"/>
</p:tagLst>
</file>

<file path=ppt/tags/tag117.xml><?xml version="1.0" encoding="utf-8"?>
<p:tagLst xmlns:p="http://schemas.openxmlformats.org/presentationml/2006/main">
  <p:tag name="KSO_WM_DIAGRAM_VIRTUALLY_FRAME" val="{&quot;height&quot;:336.4,&quot;left&quot;:192.9,&quot;top&quot;:88.85,&quot;width&quot;:581.45}"/>
</p:tagLst>
</file>

<file path=ppt/tags/tag118.xml><?xml version="1.0" encoding="utf-8"?>
<p:tagLst xmlns:p="http://schemas.openxmlformats.org/presentationml/2006/main">
  <p:tag name="KSO_WM_DIAGRAM_VIRTUALLY_FRAME" val="{&quot;height&quot;:336.4,&quot;left&quot;:192.9,&quot;top&quot;:88.85,&quot;width&quot;:581.45}"/>
</p:tagLst>
</file>

<file path=ppt/tags/tag119.xml><?xml version="1.0" encoding="utf-8"?>
<p:tagLst xmlns:p="http://schemas.openxmlformats.org/presentationml/2006/main">
  <p:tag name="KSO_WM_DIAGRAM_VIRTUALLY_FRAME" val="{&quot;height&quot;:336.4,&quot;left&quot;:192.9,&quot;top&quot;:88.85,&quot;width&quot;:581.45}"/>
</p:tagLst>
</file>

<file path=ppt/tags/tag120.xml><?xml version="1.0" encoding="utf-8"?>
<p:tagLst xmlns:p="http://schemas.openxmlformats.org/presentationml/2006/main">
  <p:tag name="KSO_WM_DIAGRAM_VIRTUALLY_FRAME" val="{&quot;height&quot;:336.4,&quot;left&quot;:192.9,&quot;top&quot;:88.85,&quot;width&quot;:581.45}"/>
</p:tagLst>
</file>

<file path=ppt/tags/tag121.xml><?xml version="1.0" encoding="utf-8"?>
<p:tagLst xmlns:p="http://schemas.openxmlformats.org/presentationml/2006/main">
  <p:tag name="KSO_WM_DIAGRAM_VIRTUALLY_FRAME" val="{&quot;height&quot;:336.4,&quot;left&quot;:192.9,&quot;top&quot;:88.85,&quot;width&quot;:581.45}"/>
</p:tagLst>
</file>

<file path=ppt/tags/tag122.xml><?xml version="1.0" encoding="utf-8"?>
<p:tagLst xmlns:p="http://schemas.openxmlformats.org/presentationml/2006/main">
  <p:tag name="KSO_WM_DIAGRAM_VIRTUALLY_FRAME" val="{&quot;height&quot;:336.4,&quot;left&quot;:192.9,&quot;top&quot;:88.85,&quot;width&quot;:581.45}"/>
</p:tagLst>
</file>

<file path=ppt/tags/tag123.xml><?xml version="1.0" encoding="utf-8"?>
<p:tagLst xmlns:p="http://schemas.openxmlformats.org/presentationml/2006/main">
  <p:tag name="KSO_WM_DIAGRAM_VIRTUALLY_FRAME" val="{&quot;height&quot;:336.4,&quot;left&quot;:192.9,&quot;top&quot;:88.85,&quot;width&quot;:581.45}"/>
</p:tagLst>
</file>

<file path=ppt/tags/tag124.xml><?xml version="1.0" encoding="utf-8"?>
<p:tagLst xmlns:p="http://schemas.openxmlformats.org/presentationml/2006/main">
  <p:tag name="KSO_WM_DIAGRAM_VIRTUALLY_FRAME" val="{&quot;height&quot;:336.4,&quot;left&quot;:192.9,&quot;top&quot;:88.85,&quot;width&quot;:581.45}"/>
</p:tagLst>
</file>

<file path=ppt/tags/tag125.xml><?xml version="1.0" encoding="utf-8"?>
<p:tagLst xmlns:p="http://schemas.openxmlformats.org/presentationml/2006/main">
  <p:tag name="KSO_WM_DIAGRAM_VIRTUALLY_FRAME" val="{&quot;height&quot;:336.4,&quot;left&quot;:192.9,&quot;top&quot;:88.85,&quot;width&quot;:581.45}"/>
</p:tagLst>
</file>

<file path=ppt/tags/tag126.xml><?xml version="1.0" encoding="utf-8"?>
<p:tagLst xmlns:p="http://schemas.openxmlformats.org/presentationml/2006/main">
  <p:tag name="KSO_WM_DIAGRAM_VIRTUALLY_FRAME" val="{&quot;height&quot;:336.4,&quot;left&quot;:192.9,&quot;top&quot;:88.85,&quot;width&quot;:581.45}"/>
</p:tagLst>
</file>

<file path=ppt/tags/tag127.xml><?xml version="1.0" encoding="utf-8"?>
<p:tagLst xmlns:p="http://schemas.openxmlformats.org/presentationml/2006/main">
  <p:tag name="KSO_WM_DIAGRAM_VIRTUALLY_FRAME" val="{&quot;height&quot;:336.4,&quot;left&quot;:192.9,&quot;top&quot;:88.85,&quot;width&quot;:581.45}"/>
</p:tagLst>
</file>

<file path=ppt/tags/tag128.xml><?xml version="1.0" encoding="utf-8"?>
<p:tagLst xmlns:p="http://schemas.openxmlformats.org/presentationml/2006/main">
  <p:tag name="KSO_WM_DIAGRAM_VIRTUALLY_FRAME" val="{&quot;height&quot;:336.4,&quot;left&quot;:192.9,&quot;top&quot;:88.85,&quot;width&quot;:581.45}"/>
</p:tagLst>
</file>

<file path=ppt/tags/tag129.xml><?xml version="1.0" encoding="utf-8"?>
<p:tagLst xmlns:p="http://schemas.openxmlformats.org/presentationml/2006/main">
  <p:tag name="KSO_WM_DIAGRAM_VIRTUALLY_FRAME" val="{&quot;height&quot;:336.4,&quot;left&quot;:192.9,&quot;top&quot;:88.85,&quot;width&quot;:581.45}"/>
</p:tagLst>
</file>

<file path=ppt/tags/tag130.xml><?xml version="1.0" encoding="utf-8"?>
<p:tagLst xmlns:p="http://schemas.openxmlformats.org/presentationml/2006/main">
  <p:tag name="KSO_WM_DIAGRAM_VIRTUALLY_FRAME" val="{&quot;height&quot;:336.4,&quot;left&quot;:192.9,&quot;top&quot;:88.85,&quot;width&quot;:581.45}"/>
</p:tagLst>
</file>

<file path=ppt/tags/tag131.xml><?xml version="1.0" encoding="utf-8"?>
<p:tagLst xmlns:p="http://schemas.openxmlformats.org/presentationml/2006/main">
  <p:tag name="KSO_WM_DIAGRAM_VIRTUALLY_FRAME" val="{&quot;height&quot;:336.4,&quot;left&quot;:192.9,&quot;top&quot;:88.85,&quot;width&quot;:581.45}"/>
</p:tagLst>
</file>

<file path=ppt/tags/tag132.xml><?xml version="1.0" encoding="utf-8"?>
<p:tagLst xmlns:p="http://schemas.openxmlformats.org/presentationml/2006/main">
  <p:tag name="KSO_WM_DIAGRAM_VIRTUALLY_FRAME" val="{&quot;height&quot;:336.4,&quot;left&quot;:192.9,&quot;top&quot;:88.85,&quot;width&quot;:581.45}"/>
</p:tagLst>
</file>

<file path=ppt/tags/tag133.xml><?xml version="1.0" encoding="utf-8"?>
<p:tagLst xmlns:p="http://schemas.openxmlformats.org/presentationml/2006/main">
  <p:tag name="KSO_WM_DIAGRAM_VIRTUALLY_FRAME" val="{&quot;height&quot;:336.4,&quot;left&quot;:192.9,&quot;top&quot;:88.85,&quot;width&quot;:581.45}"/>
</p:tagLst>
</file>

<file path=ppt/tags/tag134.xml><?xml version="1.0" encoding="utf-8"?>
<p:tagLst xmlns:p="http://schemas.openxmlformats.org/presentationml/2006/main">
  <p:tag name="KSO_WM_DIAGRAM_VIRTUALLY_FRAME" val="{&quot;height&quot;:336.4,&quot;left&quot;:192.9,&quot;top&quot;:88.85,&quot;width&quot;:581.45}"/>
</p:tagLst>
</file>

<file path=ppt/tags/tag135.xml><?xml version="1.0" encoding="utf-8"?>
<p:tagLst xmlns:p="http://schemas.openxmlformats.org/presentationml/2006/main">
  <p:tag name="KSO_WM_DIAGRAM_VIRTUALLY_FRAME" val="{&quot;height&quot;:336.4,&quot;left&quot;:192.9,&quot;top&quot;:88.85,&quot;width&quot;:581.45}"/>
</p:tagLst>
</file>

<file path=ppt/tags/tag136.xml><?xml version="1.0" encoding="utf-8"?>
<p:tagLst xmlns:p="http://schemas.openxmlformats.org/presentationml/2006/main">
  <p:tag name="KSO_WM_DIAGRAM_VIRTUALLY_FRAME" val="{&quot;height&quot;:336.4,&quot;left&quot;:192.9,&quot;top&quot;:88.85,&quot;width&quot;:581.45}"/>
</p:tagLst>
</file>

<file path=ppt/tags/tag137.xml><?xml version="1.0" encoding="utf-8"?>
<p:tagLst xmlns:p="http://schemas.openxmlformats.org/presentationml/2006/main">
  <p:tag name="KSO_WM_DIAGRAM_VIRTUALLY_FRAME" val="{&quot;height&quot;:336.4,&quot;left&quot;:192.9,&quot;top&quot;:88.85,&quot;width&quot;:581.45}"/>
</p:tagLst>
</file>

<file path=ppt/tags/tag138.xml><?xml version="1.0" encoding="utf-8"?>
<p:tagLst xmlns:p="http://schemas.openxmlformats.org/presentationml/2006/main">
  <p:tag name="KSO_WM_DIAGRAM_VIRTUALLY_FRAME" val="{&quot;height&quot;:336.4,&quot;left&quot;:192.9,&quot;top&quot;:88.85,&quot;width&quot;:581.45}"/>
</p:tagLst>
</file>

<file path=ppt/tags/tag139.xml><?xml version="1.0" encoding="utf-8"?>
<p:tagLst xmlns:p="http://schemas.openxmlformats.org/presentationml/2006/main">
  <p:tag name="KSO_WM_DIAGRAM_VIRTUALLY_FRAME" val="{&quot;height&quot;:336.4,&quot;left&quot;:192.9,&quot;top&quot;:88.85,&quot;width&quot;:581.45}"/>
</p:tagLst>
</file>

<file path=ppt/tags/tag140.xml><?xml version="1.0" encoding="utf-8"?>
<p:tagLst xmlns:p="http://schemas.openxmlformats.org/presentationml/2006/main">
  <p:tag name="KSO_WM_DIAGRAM_VIRTUALLY_FRAME" val="{&quot;height&quot;:336.4,&quot;left&quot;:192.9,&quot;top&quot;:88.85,&quot;width&quot;:581.45}"/>
</p:tagLst>
</file>

<file path=ppt/tags/tag141.xml><?xml version="1.0" encoding="utf-8"?>
<p:tagLst xmlns:p="http://schemas.openxmlformats.org/presentationml/2006/main">
  <p:tag name="KSO_WM_DIAGRAM_VIRTUALLY_FRAME" val="{&quot;height&quot;:336.4,&quot;left&quot;:192.9,&quot;top&quot;:88.85,&quot;width&quot;:581.45}"/>
</p:tagLst>
</file>

<file path=ppt/tags/tag142.xml><?xml version="1.0" encoding="utf-8"?>
<p:tagLst xmlns:p="http://schemas.openxmlformats.org/presentationml/2006/main">
  <p:tag name="KSO_WM_DIAGRAM_VIRTUALLY_FRAME" val="{&quot;height&quot;:336.4,&quot;left&quot;:192.9,&quot;top&quot;:88.85,&quot;width&quot;:581.45}"/>
</p:tagLst>
</file>

<file path=ppt/tags/tag143.xml><?xml version="1.0" encoding="utf-8"?>
<p:tagLst xmlns:p="http://schemas.openxmlformats.org/presentationml/2006/main">
  <p:tag name="KSO_WM_DIAGRAM_VIRTUALLY_FRAME" val="{&quot;height&quot;:336.4,&quot;left&quot;:192.9,&quot;top&quot;:88.85,&quot;width&quot;:581.45}"/>
</p:tagLst>
</file>

<file path=ppt/tags/tag144.xml><?xml version="1.0" encoding="utf-8"?>
<p:tagLst xmlns:p="http://schemas.openxmlformats.org/presentationml/2006/main">
  <p:tag name="KSO_WM_DIAGRAM_VIRTUALLY_FRAME" val="{&quot;height&quot;:326.2,&quot;left&quot;:88.7,&quot;top&quot;:167.1,&quot;width&quot;:738.05}"/>
</p:tagLst>
</file>

<file path=ppt/tags/tag145.xml><?xml version="1.0" encoding="utf-8"?>
<p:tagLst xmlns:p="http://schemas.openxmlformats.org/presentationml/2006/main">
  <p:tag name="KSO_WM_DIAGRAM_VIRTUALLY_FRAME" val="{&quot;height&quot;:326.2,&quot;left&quot;:88.7,&quot;top&quot;:167.1,&quot;width&quot;:738.05}"/>
</p:tagLst>
</file>

<file path=ppt/tags/tag146.xml><?xml version="1.0" encoding="utf-8"?>
<p:tagLst xmlns:p="http://schemas.openxmlformats.org/presentationml/2006/main">
  <p:tag name="KSO_WM_DIAGRAM_VIRTUALLY_FRAME" val="{&quot;height&quot;:326.2,&quot;left&quot;:88.7,&quot;top&quot;:167.1,&quot;width&quot;:738.05}"/>
</p:tagLst>
</file>

<file path=ppt/tags/tag147.xml><?xml version="1.0" encoding="utf-8"?>
<p:tagLst xmlns:p="http://schemas.openxmlformats.org/presentationml/2006/main">
  <p:tag name="KSO_WM_DIAGRAM_VIRTUALLY_FRAME" val="{&quot;height&quot;:326.2,&quot;left&quot;:88.7,&quot;top&quot;:167.1,&quot;width&quot;:738.05}"/>
</p:tagLst>
</file>

<file path=ppt/tags/tag148.xml><?xml version="1.0" encoding="utf-8"?>
<p:tagLst xmlns:p="http://schemas.openxmlformats.org/presentationml/2006/main">
  <p:tag name="KSO_WM_DIAGRAM_VIRTUALLY_FRAME" val="{&quot;height&quot;:336.4,&quot;left&quot;:192.9,&quot;top&quot;:88.85,&quot;width&quot;:581.45}"/>
</p:tagLst>
</file>

<file path=ppt/tags/tag149.xml><?xml version="1.0" encoding="utf-8"?>
<p:tagLst xmlns:p="http://schemas.openxmlformats.org/presentationml/2006/main">
  <p:tag name="KSO_WM_DIAGRAM_VIRTUALLY_FRAME" val="{&quot;height&quot;:336.4,&quot;left&quot;:192.9,&quot;top&quot;:88.85,&quot;width&quot;:581.45}"/>
</p:tagLst>
</file>

<file path=ppt/tags/tag150.xml><?xml version="1.0" encoding="utf-8"?>
<p:tagLst xmlns:p="http://schemas.openxmlformats.org/presentationml/2006/main">
  <p:tag name="KSO_WM_DIAGRAM_VIRTUALLY_FRAME" val="{&quot;height&quot;:336.4,&quot;left&quot;:192.9,&quot;top&quot;:88.85,&quot;width&quot;:581.45}"/>
</p:tagLst>
</file>

<file path=ppt/tags/tag151.xml><?xml version="1.0" encoding="utf-8"?>
<p:tagLst xmlns:p="http://schemas.openxmlformats.org/presentationml/2006/main">
  <p:tag name="KSO_WM_DIAGRAM_VIRTUALLY_FRAME" val="{&quot;height&quot;:336.4,&quot;left&quot;:192.9,&quot;top&quot;:88.85,&quot;width&quot;:581.45}"/>
</p:tagLst>
</file>

<file path=ppt/tags/tag152.xml><?xml version="1.0" encoding="utf-8"?>
<p:tagLst xmlns:p="http://schemas.openxmlformats.org/presentationml/2006/main">
  <p:tag name="KSO_WM_DIAGRAM_VIRTUALLY_FRAME" val="{&quot;height&quot;:336.4,&quot;left&quot;:192.9,&quot;top&quot;:88.85,&quot;width&quot;:581.45}"/>
</p:tagLst>
</file>

<file path=ppt/tags/tag153.xml><?xml version="1.0" encoding="utf-8"?>
<p:tagLst xmlns:p="http://schemas.openxmlformats.org/presentationml/2006/main">
  <p:tag name="KSO_WM_DIAGRAM_VIRTUALLY_FRAME" val="{&quot;height&quot;:336.4,&quot;left&quot;:192.9,&quot;top&quot;:88.85,&quot;width&quot;:581.45}"/>
</p:tagLst>
</file>

<file path=ppt/tags/tag154.xml><?xml version="1.0" encoding="utf-8"?>
<p:tagLst xmlns:p="http://schemas.openxmlformats.org/presentationml/2006/main">
  <p:tag name="KSO_WM_DIAGRAM_VIRTUALLY_FRAME" val="{&quot;height&quot;:336.4,&quot;left&quot;:192.9,&quot;top&quot;:88.85,&quot;width&quot;:581.45}"/>
</p:tagLst>
</file>

<file path=ppt/tags/tag155.xml><?xml version="1.0" encoding="utf-8"?>
<p:tagLst xmlns:p="http://schemas.openxmlformats.org/presentationml/2006/main">
  <p:tag name="KSO_WM_DIAGRAM_VIRTUALLY_FRAME" val="{&quot;height&quot;:336.4,&quot;left&quot;:192.9,&quot;top&quot;:88.85,&quot;width&quot;:581.45}"/>
</p:tagLst>
</file>

<file path=ppt/tags/tag156.xml><?xml version="1.0" encoding="utf-8"?>
<p:tagLst xmlns:p="http://schemas.openxmlformats.org/presentationml/2006/main">
  <p:tag name="KSO_WM_DIAGRAM_VIRTUALLY_FRAME" val="{&quot;height&quot;:336.4,&quot;left&quot;:192.9,&quot;top&quot;:88.85,&quot;width&quot;:581.45}"/>
</p:tagLst>
</file>

<file path=ppt/tags/tag157.xml><?xml version="1.0" encoding="utf-8"?>
<p:tagLst xmlns:p="http://schemas.openxmlformats.org/presentationml/2006/main">
  <p:tag name="KSO_WM_DIAGRAM_VIRTUALLY_FRAME" val="{&quot;height&quot;:336.4,&quot;left&quot;:192.9,&quot;top&quot;:88.85,&quot;width&quot;:581.45}"/>
</p:tagLst>
</file>

<file path=ppt/tags/tag158.xml><?xml version="1.0" encoding="utf-8"?>
<p:tagLst xmlns:p="http://schemas.openxmlformats.org/presentationml/2006/main">
  <p:tag name="KSO_WM_DIAGRAM_VIRTUALLY_FRAME" val="{&quot;height&quot;:336.4,&quot;left&quot;:192.9,&quot;top&quot;:88.85,&quot;width&quot;:581.45}"/>
</p:tagLst>
</file>

<file path=ppt/tags/tag159.xml><?xml version="1.0" encoding="utf-8"?>
<p:tagLst xmlns:p="http://schemas.openxmlformats.org/presentationml/2006/main">
  <p:tag name="KSO_WM_DIAGRAM_VIRTUALLY_FRAME" val="{&quot;height&quot;:336.4,&quot;left&quot;:192.9,&quot;top&quot;:88.85,&quot;width&quot;:581.45}"/>
</p:tagLst>
</file>

<file path=ppt/tags/tag160.xml><?xml version="1.0" encoding="utf-8"?>
<p:tagLst xmlns:p="http://schemas.openxmlformats.org/presentationml/2006/main">
  <p:tag name="KSO_WM_DIAGRAM_VIRTUALLY_FRAME" val="{&quot;height&quot;:336.4,&quot;left&quot;:192.9,&quot;top&quot;:88.85,&quot;width&quot;:581.45}"/>
</p:tagLst>
</file>

<file path=ppt/tags/tag161.xml><?xml version="1.0" encoding="utf-8"?>
<p:tagLst xmlns:p="http://schemas.openxmlformats.org/presentationml/2006/main">
  <p:tag name="KSO_WM_DIAGRAM_VIRTUALLY_FRAME" val="{&quot;height&quot;:336.4,&quot;left&quot;:192.9,&quot;top&quot;:88.85,&quot;width&quot;:581.45}"/>
</p:tagLst>
</file>

<file path=ppt/tags/tag162.xml><?xml version="1.0" encoding="utf-8"?>
<p:tagLst xmlns:p="http://schemas.openxmlformats.org/presentationml/2006/main">
  <p:tag name="KSO_WM_DIAGRAM_VIRTUALLY_FRAME" val="{&quot;height&quot;:336.4,&quot;left&quot;:192.9,&quot;top&quot;:88.85,&quot;width&quot;:581.45}"/>
</p:tagLst>
</file>

<file path=ppt/tags/tag163.xml><?xml version="1.0" encoding="utf-8"?>
<p:tagLst xmlns:p="http://schemas.openxmlformats.org/presentationml/2006/main">
  <p:tag name="KSO_WM_DIAGRAM_VIRTUALLY_FRAME" val="{&quot;height&quot;:336.4,&quot;left&quot;:192.9,&quot;top&quot;:88.85,&quot;width&quot;:581.45}"/>
</p:tagLst>
</file>

<file path=ppt/tags/tag164.xml><?xml version="1.0" encoding="utf-8"?>
<p:tagLst xmlns:p="http://schemas.openxmlformats.org/presentationml/2006/main">
  <p:tag name="KSO_WM_DIAGRAM_VIRTUALLY_FRAME" val="{&quot;height&quot;:336.4,&quot;left&quot;:192.9,&quot;top&quot;:88.85,&quot;width&quot;:581.45}"/>
</p:tagLst>
</file>

<file path=ppt/tags/tag165.xml><?xml version="1.0" encoding="utf-8"?>
<p:tagLst xmlns:p="http://schemas.openxmlformats.org/presentationml/2006/main">
  <p:tag name="KSO_WM_DIAGRAM_VIRTUALLY_FRAME" val="{&quot;height&quot;:336.4,&quot;left&quot;:192.9,&quot;top&quot;:88.85,&quot;width&quot;:581.45}"/>
</p:tagLst>
</file>

<file path=ppt/tags/tag166.xml><?xml version="1.0" encoding="utf-8"?>
<p:tagLst xmlns:p="http://schemas.openxmlformats.org/presentationml/2006/main">
  <p:tag name="KSO_WM_DIAGRAM_VIRTUALLY_FRAME" val="{&quot;height&quot;:336.4,&quot;left&quot;:192.9,&quot;top&quot;:88.85,&quot;width&quot;:581.45}"/>
</p:tagLst>
</file>

<file path=ppt/tags/tag167.xml><?xml version="1.0" encoding="utf-8"?>
<p:tagLst xmlns:p="http://schemas.openxmlformats.org/presentationml/2006/main">
  <p:tag name="KSO_WM_DIAGRAM_VIRTUALLY_FRAME" val="{&quot;height&quot;:336.4,&quot;left&quot;:192.9,&quot;top&quot;:88.85,&quot;width&quot;:581.45}"/>
</p:tagLst>
</file>

<file path=ppt/tags/tag168.xml><?xml version="1.0" encoding="utf-8"?>
<p:tagLst xmlns:p="http://schemas.openxmlformats.org/presentationml/2006/main">
  <p:tag name="KSO_WM_DIAGRAM_VIRTUALLY_FRAME" val="{&quot;height&quot;:336.4,&quot;left&quot;:192.9,&quot;top&quot;:88.85,&quot;width&quot;:581.45}"/>
</p:tagLst>
</file>

<file path=ppt/tags/tag169.xml><?xml version="1.0" encoding="utf-8"?>
<p:tagLst xmlns:p="http://schemas.openxmlformats.org/presentationml/2006/main">
  <p:tag name="KSO_WM_DIAGRAM_VIRTUALLY_FRAME" val="{&quot;height&quot;:336.4,&quot;left&quot;:192.9,&quot;top&quot;:88.85,&quot;width&quot;:581.45}"/>
</p:tagLst>
</file>

<file path=ppt/tags/tag170.xml><?xml version="1.0" encoding="utf-8"?>
<p:tagLst xmlns:p="http://schemas.openxmlformats.org/presentationml/2006/main">
  <p:tag name="KSO_WM_DIAGRAM_VIRTUALLY_FRAME" val="{&quot;height&quot;:336.4,&quot;left&quot;:192.9,&quot;top&quot;:88.85,&quot;width&quot;:581.45}"/>
</p:tagLst>
</file>

<file path=ppt/tags/tag171.xml><?xml version="1.0" encoding="utf-8"?>
<p:tagLst xmlns:p="http://schemas.openxmlformats.org/presentationml/2006/main">
  <p:tag name="KSO_WM_DIAGRAM_VIRTUALLY_FRAME" val="{&quot;height&quot;:336.4,&quot;left&quot;:192.9,&quot;top&quot;:88.85,&quot;width&quot;:581.45}"/>
</p:tagLst>
</file>

<file path=ppt/tags/tag172.xml><?xml version="1.0" encoding="utf-8"?>
<p:tagLst xmlns:p="http://schemas.openxmlformats.org/presentationml/2006/main">
  <p:tag name="KSO_WM_DIAGRAM_VIRTUALLY_FRAME" val="{&quot;height&quot;:336.4,&quot;left&quot;:192.9,&quot;top&quot;:88.85,&quot;width&quot;:581.45}"/>
</p:tagLst>
</file>

<file path=ppt/tags/tag173.xml><?xml version="1.0" encoding="utf-8"?>
<p:tagLst xmlns:p="http://schemas.openxmlformats.org/presentationml/2006/main">
  <p:tag name="KSO_WM_DIAGRAM_VIRTUALLY_FRAME" val="{&quot;height&quot;:336.4,&quot;left&quot;:192.9,&quot;top&quot;:88.85,&quot;width&quot;:581.45}"/>
</p:tagLst>
</file>

<file path=ppt/tags/tag174.xml><?xml version="1.0" encoding="utf-8"?>
<p:tagLst xmlns:p="http://schemas.openxmlformats.org/presentationml/2006/main">
  <p:tag name="KSO_WM_DIAGRAM_VIRTUALLY_FRAME" val="{&quot;height&quot;:336.4,&quot;left&quot;:192.9,&quot;top&quot;:88.85,&quot;width&quot;:581.45}"/>
</p:tagLst>
</file>

<file path=ppt/tags/tag175.xml><?xml version="1.0" encoding="utf-8"?>
<p:tagLst xmlns:p="http://schemas.openxmlformats.org/presentationml/2006/main">
  <p:tag name="KSO_WM_DIAGRAM_VIRTUALLY_FRAME" val="{&quot;height&quot;:336.4,&quot;left&quot;:192.9,&quot;top&quot;:88.85,&quot;width&quot;:581.45}"/>
</p:tagLst>
</file>

<file path=ppt/tags/tag176.xml><?xml version="1.0" encoding="utf-8"?>
<p:tagLst xmlns:p="http://schemas.openxmlformats.org/presentationml/2006/main">
  <p:tag name="KSO_WM_DIAGRAM_VIRTUALLY_FRAME" val="{&quot;height&quot;:336.4,&quot;left&quot;:192.9,&quot;top&quot;:88.85,&quot;width&quot;:581.45}"/>
</p:tagLst>
</file>

<file path=ppt/tags/tag177.xml><?xml version="1.0" encoding="utf-8"?>
<p:tagLst xmlns:p="http://schemas.openxmlformats.org/presentationml/2006/main">
  <p:tag name="KSO_WM_DIAGRAM_VIRTUALLY_FRAME" val="{&quot;height&quot;:336.4,&quot;left&quot;:192.9,&quot;top&quot;:88.85,&quot;width&quot;:581.45}"/>
</p:tagLst>
</file>

<file path=ppt/tags/tag178.xml><?xml version="1.0" encoding="utf-8"?>
<p:tagLst xmlns:p="http://schemas.openxmlformats.org/presentationml/2006/main">
  <p:tag name="KSO_WM_DIAGRAM_VIRTUALLY_FRAME" val="{&quot;height&quot;:336.4,&quot;left&quot;:192.9,&quot;top&quot;:88.85,&quot;width&quot;:581.45}"/>
</p:tagLst>
</file>

<file path=ppt/tags/tag179.xml><?xml version="1.0" encoding="utf-8"?>
<p:tagLst xmlns:p="http://schemas.openxmlformats.org/presentationml/2006/main">
  <p:tag name="KSO_WM_DIAGRAM_VIRTUALLY_FRAME" val="{&quot;height&quot;:336.4,&quot;left&quot;:192.9,&quot;top&quot;:88.85,&quot;width&quot;:581.45}"/>
</p:tagLst>
</file>

<file path=ppt/tags/tag180.xml><?xml version="1.0" encoding="utf-8"?>
<p:tagLst xmlns:p="http://schemas.openxmlformats.org/presentationml/2006/main">
  <p:tag name="KSO_WM_DIAGRAM_VIRTUALLY_FRAME" val="{&quot;height&quot;:336.4,&quot;left&quot;:192.9,&quot;top&quot;:88.85,&quot;width&quot;:581.45}"/>
</p:tagLst>
</file>

<file path=ppt/tags/tag181.xml><?xml version="1.0" encoding="utf-8"?>
<p:tagLst xmlns:p="http://schemas.openxmlformats.org/presentationml/2006/main">
  <p:tag name="TABLE_ENDDRAG_ORIGIN_RECT" val="416*338"/>
  <p:tag name="TABLE_ENDDRAG_RECT" val="507*130*416*338"/>
</p:tagLst>
</file>

<file path=ppt/tags/tag182.xml><?xml version="1.0" encoding="utf-8"?>
<p:tagLst xmlns:p="http://schemas.openxmlformats.org/presentationml/2006/main">
  <p:tag name="TABLE_ENDDRAG_ORIGIN_RECT" val="501*204"/>
  <p:tag name="TABLE_ENDDRAG_RECT" val="103*203*501*204"/>
</p:tagLst>
</file>

<file path=ppt/tags/tag183.xml><?xml version="1.0" encoding="utf-8"?>
<p:tagLst xmlns:p="http://schemas.openxmlformats.org/presentationml/2006/main">
  <p:tag name="KSO_WM_DIAGRAM_VIRTUALLY_FRAME" val="{&quot;height&quot;:414,&quot;left&quot;:193.5,&quot;top&quot;:93,&quot;width&quot;:582}"/>
</p:tagLst>
</file>

<file path=ppt/tags/tag184.xml><?xml version="1.0" encoding="utf-8"?>
<p:tagLst xmlns:p="http://schemas.openxmlformats.org/presentationml/2006/main">
  <p:tag name="KSO_WM_DIAGRAM_VIRTUALLY_FRAME" val="{&quot;height&quot;:414,&quot;left&quot;:193.5,&quot;top&quot;:93,&quot;width&quot;:582}"/>
</p:tagLst>
</file>

<file path=ppt/tags/tag185.xml><?xml version="1.0" encoding="utf-8"?>
<p:tagLst xmlns:p="http://schemas.openxmlformats.org/presentationml/2006/main">
  <p:tag name="KSO_WM_DIAGRAM_VIRTUALLY_FRAME" val="{&quot;height&quot;:414,&quot;left&quot;:193.5,&quot;top&quot;:93,&quot;width&quot;:582}"/>
</p:tagLst>
</file>

<file path=ppt/tags/tag186.xml><?xml version="1.0" encoding="utf-8"?>
<p:tagLst xmlns:p="http://schemas.openxmlformats.org/presentationml/2006/main">
  <p:tag name="KSO_WM_DIAGRAM_VIRTUALLY_FRAME" val="{&quot;height&quot;:414,&quot;left&quot;:193.5,&quot;top&quot;:93,&quot;width&quot;:582}"/>
</p:tagLst>
</file>

<file path=ppt/tags/tag187.xml><?xml version="1.0" encoding="utf-8"?>
<p:tagLst xmlns:p="http://schemas.openxmlformats.org/presentationml/2006/main">
  <p:tag name="KSO_WM_DIAGRAM_VIRTUALLY_FRAME" val="{&quot;height&quot;:414,&quot;left&quot;:193.5,&quot;top&quot;:93,&quot;width&quot;:582}"/>
</p:tagLst>
</file>

<file path=ppt/tags/tag188.xml><?xml version="1.0" encoding="utf-8"?>
<p:tagLst xmlns:p="http://schemas.openxmlformats.org/presentationml/2006/main">
  <p:tag name="KSO_WM_DIAGRAM_VIRTUALLY_FRAME" val="{&quot;height&quot;:414,&quot;left&quot;:193.5,&quot;top&quot;:93,&quot;width&quot;:582}"/>
</p:tagLst>
</file>

<file path=ppt/tags/tag189.xml><?xml version="1.0" encoding="utf-8"?>
<p:tagLst xmlns:p="http://schemas.openxmlformats.org/presentationml/2006/main">
  <p:tag name="KSO_WM_DIAGRAM_VIRTUALLY_FRAME" val="{&quot;height&quot;:414,&quot;left&quot;:193.5,&quot;top&quot;:93,&quot;width&quot;:582}"/>
</p:tagLst>
</file>

<file path=ppt/tags/tag190.xml><?xml version="1.0" encoding="utf-8"?>
<p:tagLst xmlns:p="http://schemas.openxmlformats.org/presentationml/2006/main">
  <p:tag name="KSO_WM_DIAGRAM_VIRTUALLY_FRAME" val="{&quot;height&quot;:414,&quot;left&quot;:193.5,&quot;top&quot;:93,&quot;width&quot;:582}"/>
</p:tagLst>
</file>

<file path=ppt/tags/tag191.xml><?xml version="1.0" encoding="utf-8"?>
<p:tagLst xmlns:p="http://schemas.openxmlformats.org/presentationml/2006/main">
  <p:tag name="KSO_WM_DIAGRAM_VIRTUALLY_FRAME" val="{&quot;height&quot;:414,&quot;left&quot;:193.5,&quot;top&quot;:93,&quot;width&quot;:582}"/>
</p:tagLst>
</file>

<file path=ppt/tags/tag192.xml><?xml version="1.0" encoding="utf-8"?>
<p:tagLst xmlns:p="http://schemas.openxmlformats.org/presentationml/2006/main">
  <p:tag name="KSO_WM_DIAGRAM_VIRTUALLY_FRAME" val="{&quot;height&quot;:414,&quot;left&quot;:193.5,&quot;top&quot;:93,&quot;width&quot;:582}"/>
</p:tagLst>
</file>

<file path=ppt/tags/tag193.xml><?xml version="1.0" encoding="utf-8"?>
<p:tagLst xmlns:p="http://schemas.openxmlformats.org/presentationml/2006/main">
  <p:tag name="KSO_WM_DIAGRAM_VIRTUALLY_FRAME" val="{&quot;height&quot;:414,&quot;left&quot;:193.5,&quot;top&quot;:93,&quot;width&quot;:582}"/>
</p:tagLst>
</file>

<file path=ppt/tags/tag194.xml><?xml version="1.0" encoding="utf-8"?>
<p:tagLst xmlns:p="http://schemas.openxmlformats.org/presentationml/2006/main">
  <p:tag name="KSO_WM_DIAGRAM_VIRTUALLY_FRAME" val="{&quot;height&quot;:414,&quot;left&quot;:193.5,&quot;top&quot;:93,&quot;width&quot;:582}"/>
</p:tagLst>
</file>

<file path=ppt/tags/tag195.xml><?xml version="1.0" encoding="utf-8"?>
<p:tagLst xmlns:p="http://schemas.openxmlformats.org/presentationml/2006/main">
  <p:tag name="KSO_WM_DIAGRAM_VIRTUALLY_FRAME" val="{&quot;height&quot;:414,&quot;left&quot;:193.5,&quot;top&quot;:93,&quot;width&quot;:582}"/>
</p:tagLst>
</file>

<file path=ppt/tags/tag196.xml><?xml version="1.0" encoding="utf-8"?>
<p:tagLst xmlns:p="http://schemas.openxmlformats.org/presentationml/2006/main">
  <p:tag name="KSO_WM_DIAGRAM_VIRTUALLY_FRAME" val="{&quot;height&quot;:414,&quot;left&quot;:193.5,&quot;top&quot;:93,&quot;width&quot;:582}"/>
</p:tagLst>
</file>

<file path=ppt/tags/tag197.xml><?xml version="1.0" encoding="utf-8"?>
<p:tagLst xmlns:p="http://schemas.openxmlformats.org/presentationml/2006/main">
  <p:tag name="KSO_WM_DIAGRAM_VIRTUALLY_FRAME" val="{&quot;height&quot;:414,&quot;left&quot;:193.5,&quot;top&quot;:93,&quot;width&quot;:582}"/>
</p:tagLst>
</file>

<file path=ppt/tags/tag198.xml><?xml version="1.0" encoding="utf-8"?>
<p:tagLst xmlns:p="http://schemas.openxmlformats.org/presentationml/2006/main">
  <p:tag name="KSO_WM_DIAGRAM_VIRTUALLY_FRAME" val="{&quot;height&quot;:414,&quot;left&quot;:193.5,&quot;top&quot;:93,&quot;width&quot;:582}"/>
</p:tagLst>
</file>

<file path=ppt/tags/tag199.xml><?xml version="1.0" encoding="utf-8"?>
<p:tagLst xmlns:p="http://schemas.openxmlformats.org/presentationml/2006/main">
  <p:tag name="KSO_WM_DIAGRAM_VIRTUALLY_FRAME" val="{&quot;height&quot;:414,&quot;left&quot;:193.5,&quot;top&quot;:93,&quot;width&quot;:582}"/>
</p:tagLst>
</file>

<file path=ppt/tags/tag200.xml><?xml version="1.0" encoding="utf-8"?>
<p:tagLst xmlns:p="http://schemas.openxmlformats.org/presentationml/2006/main">
  <p:tag name="KSO_WM_DIAGRAM_VIRTUALLY_FRAME" val="{&quot;height&quot;:414,&quot;left&quot;:193.5,&quot;top&quot;:93,&quot;width&quot;:582}"/>
</p:tagLst>
</file>

<file path=ppt/tags/tag201.xml><?xml version="1.0" encoding="utf-8"?>
<p:tagLst xmlns:p="http://schemas.openxmlformats.org/presentationml/2006/main">
  <p:tag name="KSO_WM_DIAGRAM_VIRTUALLY_FRAME" val="{&quot;height&quot;:414,&quot;left&quot;:193.5,&quot;top&quot;:93,&quot;width&quot;:582}"/>
</p:tagLst>
</file>

<file path=ppt/tags/tag202.xml><?xml version="1.0" encoding="utf-8"?>
<p:tagLst xmlns:p="http://schemas.openxmlformats.org/presentationml/2006/main">
  <p:tag name="KSO_WM_DIAGRAM_VIRTUALLY_FRAME" val="{&quot;height&quot;:414,&quot;left&quot;:193.5,&quot;top&quot;:93,&quot;width&quot;:582}"/>
</p:tagLst>
</file>

<file path=ppt/tags/tag203.xml><?xml version="1.0" encoding="utf-8"?>
<p:tagLst xmlns:p="http://schemas.openxmlformats.org/presentationml/2006/main">
  <p:tag name="KSO_WM_DIAGRAM_VIRTUALLY_FRAME" val="{&quot;height&quot;:414,&quot;left&quot;:193.5,&quot;top&quot;:93,&quot;width&quot;:582}"/>
</p:tagLst>
</file>

<file path=ppt/tags/tag204.xml><?xml version="1.0" encoding="utf-8"?>
<p:tagLst xmlns:p="http://schemas.openxmlformats.org/presentationml/2006/main">
  <p:tag name="KSO_WM_DIAGRAM_VIRTUALLY_FRAME" val="{&quot;height&quot;:414,&quot;left&quot;:193.5,&quot;top&quot;:93,&quot;width&quot;:582}"/>
</p:tagLst>
</file>

<file path=ppt/tags/tag205.xml><?xml version="1.0" encoding="utf-8"?>
<p:tagLst xmlns:p="http://schemas.openxmlformats.org/presentationml/2006/main">
  <p:tag name="KSO_WM_DIAGRAM_VIRTUALLY_FRAME" val="{&quot;height&quot;:414,&quot;left&quot;:193.5,&quot;top&quot;:93,&quot;width&quot;:582}"/>
</p:tagLst>
</file>

<file path=ppt/tags/tag206.xml><?xml version="1.0" encoding="utf-8"?>
<p:tagLst xmlns:p="http://schemas.openxmlformats.org/presentationml/2006/main">
  <p:tag name="KSO_WM_DIAGRAM_VIRTUALLY_FRAME" val="{&quot;height&quot;:414,&quot;left&quot;:193.5,&quot;top&quot;:93,&quot;width&quot;:582}"/>
</p:tagLst>
</file>

<file path=ppt/tags/tag207.xml><?xml version="1.0" encoding="utf-8"?>
<p:tagLst xmlns:p="http://schemas.openxmlformats.org/presentationml/2006/main">
  <p:tag name="KSO_WM_DIAGRAM_VIRTUALLY_FRAME" val="{&quot;height&quot;:414,&quot;left&quot;:193.5,&quot;top&quot;:93,&quot;width&quot;:582}"/>
</p:tagLst>
</file>

<file path=ppt/tags/tag208.xml><?xml version="1.0" encoding="utf-8"?>
<p:tagLst xmlns:p="http://schemas.openxmlformats.org/presentationml/2006/main">
  <p:tag name="KSO_WM_DIAGRAM_VIRTUALLY_FRAME" val="{&quot;height&quot;:414,&quot;left&quot;:193.5,&quot;top&quot;:93,&quot;width&quot;:582}"/>
</p:tagLst>
</file>

<file path=ppt/tags/tag209.xml><?xml version="1.0" encoding="utf-8"?>
<p:tagLst xmlns:p="http://schemas.openxmlformats.org/presentationml/2006/main">
  <p:tag name="TABLE_ENDDRAG_ORIGIN_RECT" val="350*192"/>
  <p:tag name="TABLE_ENDDRAG_RECT" val="51*300*350*193"/>
</p:tagLst>
</file>

<file path=ppt/tags/tag210.xml><?xml version="1.0" encoding="utf-8"?>
<p:tagLst xmlns:p="http://schemas.openxmlformats.org/presentationml/2006/main">
  <p:tag name="KSO_WM_DIAGRAM_VIRTUALLY_FRAME" val="{&quot;height&quot;:303,&quot;left&quot;:198,&quot;top&quot;:112,&quot;width&quot;:572}"/>
</p:tagLst>
</file>

<file path=ppt/tags/tag211.xml><?xml version="1.0" encoding="utf-8"?>
<p:tagLst xmlns:p="http://schemas.openxmlformats.org/presentationml/2006/main">
  <p:tag name="KSO_WM_DIAGRAM_VIRTUALLY_FRAME" val="{&quot;height&quot;:303,&quot;left&quot;:198,&quot;top&quot;:112,&quot;width&quot;:572}"/>
</p:tagLst>
</file>

<file path=ppt/tags/tag212.xml><?xml version="1.0" encoding="utf-8"?>
<p:tagLst xmlns:p="http://schemas.openxmlformats.org/presentationml/2006/main">
  <p:tag name="KSO_WM_DIAGRAM_VIRTUALLY_FRAME" val="{&quot;height&quot;:303,&quot;left&quot;:198,&quot;top&quot;:112,&quot;width&quot;:572}"/>
</p:tagLst>
</file>

<file path=ppt/tags/tag213.xml><?xml version="1.0" encoding="utf-8"?>
<p:tagLst xmlns:p="http://schemas.openxmlformats.org/presentationml/2006/main">
  <p:tag name="KSO_WM_DIAGRAM_VIRTUALLY_FRAME" val="{&quot;height&quot;:303,&quot;left&quot;:198,&quot;top&quot;:112,&quot;width&quot;:572}"/>
</p:tagLst>
</file>

<file path=ppt/tags/tag214.xml><?xml version="1.0" encoding="utf-8"?>
<p:tagLst xmlns:p="http://schemas.openxmlformats.org/presentationml/2006/main">
  <p:tag name="KSO_WM_DIAGRAM_VIRTUALLY_FRAME" val="{&quot;height&quot;:303,&quot;left&quot;:198,&quot;top&quot;:112,&quot;width&quot;:572}"/>
</p:tagLst>
</file>

<file path=ppt/tags/tag215.xml><?xml version="1.0" encoding="utf-8"?>
<p:tagLst xmlns:p="http://schemas.openxmlformats.org/presentationml/2006/main">
  <p:tag name="KSO_WM_DIAGRAM_VIRTUALLY_FRAME" val="{&quot;height&quot;:303,&quot;left&quot;:198,&quot;top&quot;:112,&quot;width&quot;:572}"/>
</p:tagLst>
</file>

<file path=ppt/tags/tag216.xml><?xml version="1.0" encoding="utf-8"?>
<p:tagLst xmlns:p="http://schemas.openxmlformats.org/presentationml/2006/main">
  <p:tag name="KSO_WM_DIAGRAM_VIRTUALLY_FRAME" val="{&quot;height&quot;:303,&quot;left&quot;:198,&quot;top&quot;:112,&quot;width&quot;:572}"/>
</p:tagLst>
</file>

<file path=ppt/tags/tag217.xml><?xml version="1.0" encoding="utf-8"?>
<p:tagLst xmlns:p="http://schemas.openxmlformats.org/presentationml/2006/main">
  <p:tag name="KSO_WM_DIAGRAM_VIRTUALLY_FRAME" val="{&quot;height&quot;:303,&quot;left&quot;:198,&quot;top&quot;:112,&quot;width&quot;:572}"/>
</p:tagLst>
</file>

<file path=ppt/tags/tag218.xml><?xml version="1.0" encoding="utf-8"?>
<p:tagLst xmlns:p="http://schemas.openxmlformats.org/presentationml/2006/main">
  <p:tag name="KSO_WM_DIAGRAM_VIRTUALLY_FRAME" val="{&quot;height&quot;:303,&quot;left&quot;:198,&quot;top&quot;:112,&quot;width&quot;:572}"/>
</p:tagLst>
</file>

<file path=ppt/tags/tag219.xml><?xml version="1.0" encoding="utf-8"?>
<p:tagLst xmlns:p="http://schemas.openxmlformats.org/presentationml/2006/main">
  <p:tag name="KSO_WM_DIAGRAM_VIRTUALLY_FRAME" val="{&quot;height&quot;:303,&quot;left&quot;:198,&quot;top&quot;:112,&quot;width&quot;:572}"/>
</p:tagLst>
</file>

<file path=ppt/tags/tag222.xml><?xml version="1.0" encoding="utf-8"?>
<p:tagLst xmlns:p="http://schemas.openxmlformats.org/presentationml/2006/main">
  <p:tag name="commondata" val="eyJoZGlkIjoiZmYxZmFlZTg4NjdiNDE3M2E1YjVmNDRlZjJhOTFkM2I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24445</Words>
  <Application>WPS 演示</Application>
  <PresentationFormat>宽屏</PresentationFormat>
  <Paragraphs>3128</Paragraphs>
  <Slides>68</Slides>
  <Notes>0</Notes>
  <HiddenSlides>0</HiddenSlides>
  <MMClips>0</MMClips>
  <ScaleCrop>false</ScaleCrop>
  <HeadingPairs>
    <vt:vector size="8" baseType="variant">
      <vt:variant>
        <vt:lpstr>已用的字体</vt:lpstr>
      </vt:variant>
      <vt:variant>
        <vt:i4>32</vt:i4>
      </vt:variant>
      <vt:variant>
        <vt:lpstr>主题</vt:lpstr>
      </vt:variant>
      <vt:variant>
        <vt:i4>1</vt:i4>
      </vt:variant>
      <vt:variant>
        <vt:lpstr>嵌入 OLE 服务器</vt:lpstr>
      </vt:variant>
      <vt:variant>
        <vt:i4>1</vt:i4>
      </vt:variant>
      <vt:variant>
        <vt:lpstr>幻灯片标题</vt:lpstr>
      </vt:variant>
      <vt:variant>
        <vt:i4>68</vt:i4>
      </vt:variant>
    </vt:vector>
  </HeadingPairs>
  <TitlesOfParts>
    <vt:vector size="102" baseType="lpstr">
      <vt:lpstr>Arial</vt:lpstr>
      <vt:lpstr>宋体</vt:lpstr>
      <vt:lpstr>Wingdings</vt:lpstr>
      <vt:lpstr>微软雅黑</vt:lpstr>
      <vt:lpstr>Times New Roman</vt:lpstr>
      <vt:lpstr>Calibri</vt:lpstr>
      <vt:lpstr>Arial Unicode MS</vt:lpstr>
      <vt:lpstr>Cambria Math</vt:lpstr>
      <vt:lpstr>MS Mincho</vt:lpstr>
      <vt:lpstr>AMGDT</vt:lpstr>
      <vt:lpstr>黑体</vt:lpstr>
      <vt:lpstr>Wingdings</vt:lpstr>
      <vt:lpstr>Times New Roman</vt:lpstr>
      <vt:lpstr>Cambria Math</vt:lpstr>
      <vt:lpstr>华文中宋</vt:lpstr>
      <vt:lpstr>Arial</vt:lpstr>
      <vt:lpstr>Calibri</vt:lpstr>
      <vt:lpstr>Arial Black</vt:lpstr>
      <vt:lpstr>华文楷体</vt:lpstr>
      <vt:lpstr>Noto Sans SC</vt:lpstr>
      <vt:lpstr>Kunstler Script</vt:lpstr>
      <vt:lpstr>方正舒体</vt:lpstr>
      <vt:lpstr>Freestyle Script</vt:lpstr>
      <vt:lpstr>MS Gothic</vt:lpstr>
      <vt:lpstr>Microsoft YaHei UI</vt:lpstr>
      <vt:lpstr>等线</vt:lpstr>
      <vt:lpstr>微软雅黑 Light</vt:lpstr>
      <vt:lpstr>华文宋体</vt:lpstr>
      <vt:lpstr>汉仪雅酷黑简</vt:lpstr>
      <vt:lpstr>方正鲁迅行书 简</vt:lpstr>
      <vt:lpstr>MS PGothic</vt:lpstr>
      <vt:lpstr>MiSans</vt:lpstr>
      <vt:lpstr>WPS</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DLL</dc:creator>
  <cp:lastModifiedBy>窦丽露</cp:lastModifiedBy>
  <cp:revision>35</cp:revision>
  <dcterms:created xsi:type="dcterms:W3CDTF">2023-08-09T12:44:00Z</dcterms:created>
  <dcterms:modified xsi:type="dcterms:W3CDTF">2026-09-05T03:17:39Z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2052-12.1.0.17827</vt:lpwstr>
  </property>
</Properties>
</file>