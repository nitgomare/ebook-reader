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6" r:id="rId6"/>
    <p:sldId id="262" r:id="rId7"/>
    <p:sldId id="259" r:id="rId8"/>
    <p:sldId id="263" r:id="rId9"/>
    <p:sldId id="264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296"/>
    <a:srgbClr val="32579C"/>
    <a:srgbClr val="D5DBD5"/>
    <a:srgbClr val="315392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3333750"/>
            <a:ext cx="121920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33" y="0"/>
            <a:ext cx="3946525" cy="730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635" cy="157480"/>
          </a:xfrm>
          <a:prstGeom prst="rect">
            <a:avLst/>
          </a:prstGeom>
          <a:solidFill>
            <a:srgbClr val="365D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ai_picture_ai_change_1784201566847"/>
          <p:cNvPicPr>
            <a:picLocks noChangeAspect="1"/>
          </p:cNvPicPr>
          <p:nvPr/>
        </p:nvPicPr>
        <p:blipFill>
          <a:blip r:embed="rId3">
            <a:clrChange>
              <a:clrFrom>
                <a:srgbClr val="044497">
                  <a:alpha val="100000"/>
                </a:srgbClr>
              </a:clrFrom>
              <a:clrTo>
                <a:srgbClr val="044497">
                  <a:alpha val="100000"/>
                  <a:alpha val="0"/>
                </a:srgbClr>
              </a:clrTo>
            </a:clrChange>
          </a:blip>
          <a:srcRect l="19403" t="32152" r="19217" b="32152"/>
          <a:stretch>
            <a:fillRect/>
          </a:stretch>
        </p:blipFill>
        <p:spPr>
          <a:xfrm>
            <a:off x="4434205" y="-156845"/>
            <a:ext cx="2452370" cy="1043940"/>
          </a:xfrm>
          <a:prstGeom prst="rect">
            <a:avLst/>
          </a:prstGeom>
        </p:spPr>
      </p:pic>
      <p:sp>
        <p:nvSpPr>
          <p:cNvPr id="10" name="textbox 2"/>
          <p:cNvSpPr/>
          <p:nvPr/>
        </p:nvSpPr>
        <p:spPr>
          <a:xfrm>
            <a:off x="354330" y="1968500"/>
            <a:ext cx="11483340" cy="1082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84000"/>
              </a:lnSpc>
            </a:pPr>
            <a:r>
              <a:rPr lang="zh-CN" altLang="en-US" sz="6000" b="1" kern="0" spc="-19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大型混塔式风电机组耦合非线性动力学分析与性能评估</a:t>
            </a:r>
            <a:endParaRPr lang="zh-CN" altLang="en-US" sz="6000" b="1" kern="0" spc="-19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3638550" y="4518660"/>
            <a:ext cx="6683375" cy="960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96465" indent="-2183765" algn="l" rtl="0" eaLnBrk="0">
              <a:lnSpc>
                <a:spcPct val="90000"/>
              </a:lnSpc>
            </a:pPr>
            <a:r>
              <a:rPr sz="3400" b="1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导</a:t>
            </a:r>
            <a:r>
              <a:rPr sz="3400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3400" b="1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师：</a:t>
            </a:r>
            <a:r>
              <a:rPr lang="zh-CN" sz="3400" b="1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肖</a:t>
            </a:r>
            <a:r>
              <a:rPr lang="zh-CN" sz="3400" b="1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钊</a:t>
            </a:r>
            <a:endParaRPr lang="zh-CN" sz="3400" b="1" kern="0" spc="24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6"/>
          <p:cNvSpPr/>
          <p:nvPr/>
        </p:nvSpPr>
        <p:spPr>
          <a:xfrm>
            <a:off x="4214495" y="6387465"/>
            <a:ext cx="289179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2026年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</a:t>
            </a: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月1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lang="zh-CN" altLang="en-US" sz="3100" b="1" kern="0" spc="20" dirty="0">
              <a:solidFill>
                <a:srgbClr val="30509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51250" y="5717540"/>
            <a:ext cx="4025900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rtl="0" eaLnBrk="0">
              <a:lnSpc>
                <a:spcPct val="86000"/>
              </a:lnSpc>
            </a:pPr>
            <a:r>
              <a:rPr lang="zh-CN" sz="3100" b="1" kern="0" spc="-27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湖南科技大学学机电</a:t>
            </a:r>
            <a:r>
              <a:rPr sz="3100" b="1" kern="0" spc="-26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学</a:t>
            </a:r>
            <a:r>
              <a:rPr sz="3100" b="1" kern="0" spc="-19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院</a:t>
            </a:r>
            <a:endParaRPr sz="3100" dirty="0"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651361" y="3815237"/>
            <a:ext cx="3054350" cy="485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6000"/>
              </a:lnSpc>
            </a:pP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答</a:t>
            </a:r>
            <a:r>
              <a:rPr sz="3500" kern="0" spc="-7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辩</a:t>
            </a:r>
            <a:r>
              <a:rPr sz="3500" kern="0" spc="-7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500"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r>
              <a:rPr sz="3500" kern="0" spc="-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600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：</a:t>
            </a:r>
            <a:r>
              <a:rPr sz="2600" kern="0" spc="-4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3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32125" y="1313180"/>
            <a:ext cx="6854825" cy="509270"/>
          </a:xfrm>
          <a:prstGeom prst="rect">
            <a:avLst/>
          </a:prstGeom>
          <a:solidFill>
            <a:srgbClr val="31539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000250" y="1022350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233" y="0"/>
            <a:ext cx="3946525" cy="730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635" cy="157480"/>
          </a:xfrm>
          <a:prstGeom prst="rect">
            <a:avLst/>
          </a:prstGeom>
          <a:solidFill>
            <a:srgbClr val="365D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85335" y="0"/>
            <a:ext cx="21647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</a:t>
            </a:r>
            <a:r>
              <a:rPr lang="en-US" altLang="zh-CN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</a:t>
            </a:r>
            <a:endParaRPr lang="zh-CN" altLang="en-US" sz="4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58945" y="768350"/>
            <a:ext cx="2817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  O  N  T  E  N  T  S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177415" y="1202055"/>
            <a:ext cx="735965" cy="735965"/>
          </a:xfrm>
          <a:prstGeom prst="ellipse">
            <a:avLst/>
          </a:prstGeom>
          <a:solidFill>
            <a:srgbClr val="31539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2125" y="2354580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二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00250" y="2063750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177415" y="2243455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32125" y="3458845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三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177415" y="3347720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32125" y="4500245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四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000250" y="4209415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2177415" y="4389120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四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126490" y="1007745"/>
            <a:ext cx="10422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21005" y="300990"/>
            <a:ext cx="652145" cy="652145"/>
          </a:xfrm>
          <a:prstGeom prst="ellipse">
            <a:avLst/>
          </a:prstGeom>
          <a:solidFill>
            <a:srgbClr val="3052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4435" y="300990"/>
            <a:ext cx="27603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4000" b="1">
              <a:solidFill>
                <a:srgbClr val="30529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51200" y="2700655"/>
            <a:ext cx="56896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/>
              <a:t>内</a:t>
            </a:r>
            <a:r>
              <a:rPr lang="en-US" altLang="zh-CN" sz="8000"/>
              <a:t>    </a:t>
            </a:r>
            <a:r>
              <a:rPr lang="zh-CN" altLang="en-US" sz="8000"/>
              <a:t>容</a:t>
            </a:r>
            <a:endParaRPr lang="zh-CN" altLang="en-US" sz="8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7583" t="34396" r="16125" b="40046"/>
          <a:stretch>
            <a:fillRect/>
          </a:stretch>
        </p:blipFill>
        <p:spPr>
          <a:xfrm>
            <a:off x="9363075" y="347345"/>
            <a:ext cx="237109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126490" y="1007745"/>
            <a:ext cx="10422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21005" y="300990"/>
            <a:ext cx="652145" cy="652145"/>
          </a:xfrm>
          <a:prstGeom prst="ellipse">
            <a:avLst/>
          </a:prstGeom>
          <a:solidFill>
            <a:srgbClr val="3052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4435" y="300990"/>
            <a:ext cx="27603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4000" b="1">
              <a:solidFill>
                <a:srgbClr val="30529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51200" y="2700655"/>
            <a:ext cx="56896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/>
              <a:t>内</a:t>
            </a:r>
            <a:r>
              <a:rPr lang="en-US" altLang="zh-CN" sz="8000"/>
              <a:t>    </a:t>
            </a:r>
            <a:r>
              <a:rPr lang="zh-CN" altLang="en-US" sz="8000"/>
              <a:t>容</a:t>
            </a:r>
            <a:endParaRPr lang="zh-CN" altLang="en-US" sz="8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7583" t="34396" r="16125" b="40046"/>
          <a:stretch>
            <a:fillRect/>
          </a:stretch>
        </p:blipFill>
        <p:spPr>
          <a:xfrm>
            <a:off x="9363075" y="347345"/>
            <a:ext cx="237109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32125" y="1313180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000250" y="1022350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233" y="0"/>
            <a:ext cx="3946525" cy="730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635" cy="157480"/>
          </a:xfrm>
          <a:prstGeom prst="rect">
            <a:avLst/>
          </a:prstGeom>
          <a:solidFill>
            <a:srgbClr val="365D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85335" y="0"/>
            <a:ext cx="21647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</a:t>
            </a:r>
            <a:r>
              <a:rPr lang="en-US" altLang="zh-CN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4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</a:t>
            </a:r>
            <a:endParaRPr lang="zh-CN" altLang="en-US" sz="4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58945" y="768350"/>
            <a:ext cx="2817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  O  N  T  E  N  T  S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177415" y="1202055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2125" y="2354580"/>
            <a:ext cx="6854825" cy="509270"/>
          </a:xfrm>
          <a:prstGeom prst="rect">
            <a:avLst/>
          </a:prstGeom>
          <a:solidFill>
            <a:srgbClr val="31539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二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00250" y="2063750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177415" y="2243455"/>
            <a:ext cx="735965" cy="735965"/>
          </a:xfrm>
          <a:prstGeom prst="ellipse">
            <a:avLst/>
          </a:prstGeom>
          <a:solidFill>
            <a:srgbClr val="31539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32125" y="3458845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三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177415" y="3347720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32125" y="4500245"/>
            <a:ext cx="6854825" cy="509270"/>
          </a:xfrm>
          <a:prstGeom prst="rect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标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题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sym typeface="+mn-ea"/>
              </a:rPr>
              <a:t>四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000250" y="4209415"/>
            <a:ext cx="1090295" cy="10902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2177415" y="4389120"/>
            <a:ext cx="735965" cy="735965"/>
          </a:xfrm>
          <a:prstGeom prst="ellipse">
            <a:avLst/>
          </a:prstGeom>
          <a:solidFill>
            <a:srgbClr val="D5DB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四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126490" y="1007745"/>
            <a:ext cx="10422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21005" y="300990"/>
            <a:ext cx="652145" cy="652145"/>
          </a:xfrm>
          <a:prstGeom prst="ellipse">
            <a:avLst/>
          </a:prstGeom>
          <a:solidFill>
            <a:srgbClr val="3052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4435" y="300990"/>
            <a:ext cx="27603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4000" b="1">
              <a:solidFill>
                <a:srgbClr val="30529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51200" y="2700655"/>
            <a:ext cx="56896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/>
              <a:t>内</a:t>
            </a:r>
            <a:r>
              <a:rPr lang="en-US" altLang="zh-CN" sz="8000"/>
              <a:t>    </a:t>
            </a:r>
            <a:r>
              <a:rPr lang="zh-CN" altLang="en-US" sz="8000"/>
              <a:t>容</a:t>
            </a:r>
            <a:endParaRPr lang="zh-CN" altLang="en-US" sz="8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7583" t="34396" r="16125" b="40046"/>
          <a:stretch>
            <a:fillRect/>
          </a:stretch>
        </p:blipFill>
        <p:spPr>
          <a:xfrm>
            <a:off x="9363075" y="347345"/>
            <a:ext cx="237109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126490" y="1007745"/>
            <a:ext cx="10422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21005" y="300990"/>
            <a:ext cx="652145" cy="652145"/>
          </a:xfrm>
          <a:prstGeom prst="ellipse">
            <a:avLst/>
          </a:prstGeom>
          <a:solidFill>
            <a:srgbClr val="3052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4435" y="300990"/>
            <a:ext cx="27603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标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题</a:t>
            </a:r>
            <a:r>
              <a:rPr lang="en-US" altLang="zh-CN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4000" b="1">
                <a:solidFill>
                  <a:srgbClr val="305296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4000" b="1">
              <a:solidFill>
                <a:srgbClr val="30529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51200" y="2700655"/>
            <a:ext cx="56896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0"/>
              <a:t>内</a:t>
            </a:r>
            <a:r>
              <a:rPr lang="en-US" altLang="zh-CN" sz="8000"/>
              <a:t>    </a:t>
            </a:r>
            <a:r>
              <a:rPr lang="zh-CN" altLang="en-US" sz="8000"/>
              <a:t>容</a:t>
            </a:r>
            <a:endParaRPr lang="zh-CN" altLang="en-US" sz="8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7583" t="34396" r="16125" b="40046"/>
          <a:stretch>
            <a:fillRect/>
          </a:stretch>
        </p:blipFill>
        <p:spPr>
          <a:xfrm>
            <a:off x="9363075" y="347345"/>
            <a:ext cx="237109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3333750"/>
            <a:ext cx="121920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33" y="0"/>
            <a:ext cx="3946525" cy="730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0"/>
            <a:ext cx="12192635" cy="157480"/>
          </a:xfrm>
          <a:prstGeom prst="rect">
            <a:avLst/>
          </a:prstGeom>
          <a:solidFill>
            <a:srgbClr val="365D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ai_picture_ai_change_1784201566847"/>
          <p:cNvPicPr>
            <a:picLocks noChangeAspect="1"/>
          </p:cNvPicPr>
          <p:nvPr/>
        </p:nvPicPr>
        <p:blipFill>
          <a:blip r:embed="rId3">
            <a:clrChange>
              <a:clrFrom>
                <a:srgbClr val="044497">
                  <a:alpha val="100000"/>
                </a:srgbClr>
              </a:clrFrom>
              <a:clrTo>
                <a:srgbClr val="044497">
                  <a:alpha val="100000"/>
                  <a:alpha val="0"/>
                </a:srgbClr>
              </a:clrTo>
            </a:clrChange>
          </a:blip>
          <a:srcRect l="19403" t="32152" r="19217" b="32152"/>
          <a:stretch>
            <a:fillRect/>
          </a:stretch>
        </p:blipFill>
        <p:spPr>
          <a:xfrm>
            <a:off x="4434205" y="-156845"/>
            <a:ext cx="2452370" cy="1043940"/>
          </a:xfrm>
          <a:prstGeom prst="rect">
            <a:avLst/>
          </a:prstGeom>
        </p:spPr>
      </p:pic>
      <p:sp>
        <p:nvSpPr>
          <p:cNvPr id="10" name="textbox 2"/>
          <p:cNvSpPr/>
          <p:nvPr/>
        </p:nvSpPr>
        <p:spPr>
          <a:xfrm>
            <a:off x="1616075" y="2760980"/>
            <a:ext cx="8426450" cy="1082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84000"/>
              </a:lnSpc>
            </a:pPr>
            <a:r>
              <a:rPr lang="zh-CN" sz="6000" b="1" kern="0" spc="40" dirty="0">
                <a:solidFill>
                  <a:srgbClr val="104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结</a:t>
            </a:r>
            <a:r>
              <a:rPr lang="en-US" altLang="zh-CN" sz="6000" b="1" kern="0" spc="40" dirty="0">
                <a:solidFill>
                  <a:srgbClr val="104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sz="6000" b="1" kern="0" spc="40" dirty="0">
                <a:solidFill>
                  <a:srgbClr val="104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语</a:t>
            </a:r>
            <a:endParaRPr lang="zh-CN" sz="6000" b="1" kern="0" spc="40" dirty="0">
              <a:solidFill>
                <a:srgbClr val="10409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2" name="textbox 6"/>
          <p:cNvSpPr/>
          <p:nvPr/>
        </p:nvSpPr>
        <p:spPr>
          <a:xfrm>
            <a:off x="4214495" y="6387465"/>
            <a:ext cx="289179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2026年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</a:t>
            </a:r>
            <a:r>
              <a:rPr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月1</a:t>
            </a:r>
            <a:r>
              <a:rPr 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3100" b="1" kern="0" spc="2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lang="zh-CN" altLang="en-US" sz="3100" b="1" kern="0" spc="20" dirty="0">
              <a:solidFill>
                <a:srgbClr val="30509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51250" y="5717540"/>
            <a:ext cx="4025900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rtl="0" eaLnBrk="0">
              <a:lnSpc>
                <a:spcPct val="86000"/>
              </a:lnSpc>
            </a:pPr>
            <a:r>
              <a:rPr lang="zh-CN" sz="3100" b="1" kern="0" spc="-27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湖南科技大学学机电</a:t>
            </a:r>
            <a:r>
              <a:rPr sz="3100" b="1" kern="0" spc="-26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学</a:t>
            </a:r>
            <a:r>
              <a:rPr sz="3100" b="1" kern="0" spc="-190" dirty="0">
                <a:solidFill>
                  <a:srgbClr val="305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院</a:t>
            </a:r>
            <a:endParaRPr sz="3100" dirty="0"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演示</Application>
  <PresentationFormat>宽屏</PresentationFormat>
  <Paragraphs>80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</vt:lpstr>
      <vt:lpstr>黑体</vt:lpstr>
      <vt:lpstr>仿宋</vt:lpstr>
      <vt:lpstr>字由点字玄真宋</vt:lpstr>
      <vt:lpstr>爱奇艺黑体 Medium</vt:lpstr>
      <vt:lpstr>华文彩云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WPS_1779984719</cp:lastModifiedBy>
  <cp:revision>157</cp:revision>
  <dcterms:created xsi:type="dcterms:W3CDTF">2019-06-19T02:08:00Z</dcterms:created>
  <dcterms:modified xsi:type="dcterms:W3CDTF">2026-07-19T14:58:57Z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22785FA05EE842A4BC19F150DEF6D09C_11</vt:lpwstr>
  </property>
</Properties>
</file>