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75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6" r:id="rId13"/>
    <p:sldId id="267" r:id="rId14"/>
    <p:sldId id="268" r:id="rId15"/>
    <p:sldId id="269" r:id="rId16"/>
    <p:sldId id="277" r:id="rId17"/>
    <p:sldId id="271" r:id="rId18"/>
    <p:sldId id="272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63B9"/>
    <a:srgbClr val="1A5EB3"/>
    <a:srgbClr val="2279E2"/>
    <a:srgbClr val="2573C6"/>
    <a:srgbClr val="D4E5FD"/>
    <a:srgbClr val="95B3DF"/>
    <a:srgbClr val="D4E6FE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tags" Target="../tags/tag18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42.xml"/><Relationship Id="rId16" Type="http://schemas.openxmlformats.org/officeDocument/2006/relationships/tags" Target="../tags/tag41.xml"/><Relationship Id="rId15" Type="http://schemas.openxmlformats.org/officeDocument/2006/relationships/tags" Target="../tags/tag40.xml"/><Relationship Id="rId14" Type="http://schemas.openxmlformats.org/officeDocument/2006/relationships/tags" Target="../tags/tag39.xml"/><Relationship Id="rId13" Type="http://schemas.openxmlformats.org/officeDocument/2006/relationships/tags" Target="../tags/tag38.xml"/><Relationship Id="rId12" Type="http://schemas.openxmlformats.org/officeDocument/2006/relationships/tags" Target="../tags/tag37.xml"/><Relationship Id="rId11" Type="http://schemas.openxmlformats.org/officeDocument/2006/relationships/tags" Target="../tags/tag36.xml"/><Relationship Id="rId10" Type="http://schemas.openxmlformats.org/officeDocument/2006/relationships/tags" Target="../tags/tag35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58.xml"/><Relationship Id="rId16" Type="http://schemas.openxmlformats.org/officeDocument/2006/relationships/tags" Target="../tags/tag57.xml"/><Relationship Id="rId15" Type="http://schemas.openxmlformats.org/officeDocument/2006/relationships/tags" Target="../tags/tag56.xml"/><Relationship Id="rId14" Type="http://schemas.openxmlformats.org/officeDocument/2006/relationships/tags" Target="../tags/tag55.xml"/><Relationship Id="rId13" Type="http://schemas.openxmlformats.org/officeDocument/2006/relationships/tags" Target="../tags/tag54.xml"/><Relationship Id="rId12" Type="http://schemas.openxmlformats.org/officeDocument/2006/relationships/tags" Target="../tags/tag53.xml"/><Relationship Id="rId11" Type="http://schemas.openxmlformats.org/officeDocument/2006/relationships/tags" Target="../tags/tag52.xml"/><Relationship Id="rId10" Type="http://schemas.openxmlformats.org/officeDocument/2006/relationships/tags" Target="../tags/tag5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74.xml"/><Relationship Id="rId16" Type="http://schemas.openxmlformats.org/officeDocument/2006/relationships/tags" Target="../tags/tag73.xml"/><Relationship Id="rId15" Type="http://schemas.openxmlformats.org/officeDocument/2006/relationships/tags" Target="../tags/tag72.xml"/><Relationship Id="rId14" Type="http://schemas.openxmlformats.org/officeDocument/2006/relationships/tags" Target="../tags/tag71.xml"/><Relationship Id="rId13" Type="http://schemas.openxmlformats.org/officeDocument/2006/relationships/tags" Target="../tags/tag70.xml"/><Relationship Id="rId12" Type="http://schemas.openxmlformats.org/officeDocument/2006/relationships/tags" Target="../tags/tag69.xml"/><Relationship Id="rId11" Type="http://schemas.openxmlformats.org/officeDocument/2006/relationships/tags" Target="../tags/tag68.xml"/><Relationship Id="rId10" Type="http://schemas.openxmlformats.org/officeDocument/2006/relationships/tags" Target="../tags/tag67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4289425" cy="6858635"/>
          </a:xfrm>
          <a:prstGeom prst="rect">
            <a:avLst/>
          </a:prstGeom>
          <a:solidFill>
            <a:srgbClr val="2573C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4225" y="38100"/>
            <a:ext cx="1200150" cy="495300"/>
          </a:xfrm>
          <a:prstGeom prst="rect">
            <a:avLst/>
          </a:prstGeom>
        </p:spPr>
      </p:pic>
      <p:sp>
        <p:nvSpPr>
          <p:cNvPr id="18" name="textbox 18"/>
          <p:cNvSpPr/>
          <p:nvPr/>
        </p:nvSpPr>
        <p:spPr>
          <a:xfrm rot="5400000">
            <a:off x="827405" y="2030730"/>
            <a:ext cx="2936875" cy="18973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ctr" rtl="0" eaLnBrk="0"/>
            <a:r>
              <a:rPr sz="54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content</a:t>
            </a:r>
            <a:endParaRPr sz="5400" b="1" kern="0" spc="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rtl="0" eaLnBrk="0"/>
            <a:r>
              <a:rPr lang="zh-CN" altLang="en-US" sz="7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目</a:t>
            </a:r>
            <a:r>
              <a:rPr lang="en-US" altLang="zh-CN" sz="7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7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录</a:t>
            </a:r>
            <a:endParaRPr lang="zh-CN" altLang="en-US" sz="7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20"/>
          <p:cNvSpPr/>
          <p:nvPr>
            <p:custDataLst>
              <p:tags r:id="rId2"/>
            </p:custDataLst>
          </p:nvPr>
        </p:nvSpPr>
        <p:spPr>
          <a:xfrm>
            <a:off x="6486525" y="1866900"/>
            <a:ext cx="5686425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发展现状/Current Development Status</a:t>
            </a:r>
            <a:endParaRPr sz="2400" dirty="0"/>
          </a:p>
        </p:txBody>
      </p:sp>
      <p:sp>
        <p:nvSpPr>
          <p:cNvPr id="17" name="菱形 16"/>
          <p:cNvSpPr/>
          <p:nvPr>
            <p:custDataLst>
              <p:tags r:id="rId3"/>
            </p:custDataLst>
          </p:nvPr>
        </p:nvSpPr>
        <p:spPr>
          <a:xfrm>
            <a:off x="5596255" y="1720850"/>
            <a:ext cx="685800" cy="673100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22" name="textbox 22"/>
          <p:cNvSpPr/>
          <p:nvPr>
            <p:custDataLst>
              <p:tags r:id="rId4"/>
            </p:custDataLst>
          </p:nvPr>
        </p:nvSpPr>
        <p:spPr>
          <a:xfrm>
            <a:off x="5762625" y="1878965"/>
            <a:ext cx="276225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 kern="0" spc="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4"/>
          <p:cNvSpPr/>
          <p:nvPr>
            <p:custDataLst>
              <p:tags r:id="rId5"/>
            </p:custDataLst>
          </p:nvPr>
        </p:nvSpPr>
        <p:spPr>
          <a:xfrm>
            <a:off x="6477000" y="3114675"/>
            <a:ext cx="4362450" cy="40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A6A6A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技术路线/Technical Approach</a:t>
            </a:r>
            <a:endParaRPr sz="2400" dirty="0"/>
          </a:p>
        </p:txBody>
      </p:sp>
      <p:sp>
        <p:nvSpPr>
          <p:cNvPr id="28" name="textbox 28"/>
          <p:cNvSpPr/>
          <p:nvPr>
            <p:custDataLst>
              <p:tags r:id="rId6"/>
            </p:custDataLst>
          </p:nvPr>
        </p:nvSpPr>
        <p:spPr>
          <a:xfrm>
            <a:off x="6515100" y="4448175"/>
            <a:ext cx="4095750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A6A6A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关键技术/Key Technologies</a:t>
            </a:r>
            <a:endParaRPr sz="2400" dirty="0"/>
          </a:p>
        </p:txBody>
      </p:sp>
      <p:sp>
        <p:nvSpPr>
          <p:cNvPr id="32" name="textbox 32"/>
          <p:cNvSpPr/>
          <p:nvPr>
            <p:custDataLst>
              <p:tags r:id="rId7"/>
            </p:custDataLst>
          </p:nvPr>
        </p:nvSpPr>
        <p:spPr>
          <a:xfrm>
            <a:off x="6534150" y="5610225"/>
            <a:ext cx="5191125" cy="40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A6A6A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攻关与挑战/Research &amp; Challenges</a:t>
            </a:r>
            <a:endParaRPr sz="2400" dirty="0"/>
          </a:p>
        </p:txBody>
      </p:sp>
      <p:sp>
        <p:nvSpPr>
          <p:cNvPr id="3" name="矩形 2"/>
          <p:cNvSpPr/>
          <p:nvPr/>
        </p:nvSpPr>
        <p:spPr>
          <a:xfrm>
            <a:off x="1346835" y="1511935"/>
            <a:ext cx="1898015" cy="2936240"/>
          </a:xfrm>
          <a:prstGeom prst="rect">
            <a:avLst/>
          </a:prstGeom>
          <a:noFill/>
          <a:ln w="3810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573C6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>
            <p:custDataLst>
              <p:tags r:id="rId8"/>
            </p:custDataLst>
          </p:nvPr>
        </p:nvCxnSpPr>
        <p:spPr>
          <a:xfrm>
            <a:off x="6433820" y="3695700"/>
            <a:ext cx="3257550" cy="0"/>
          </a:xfrm>
          <a:prstGeom prst="line">
            <a:avLst/>
          </a:prstGeom>
          <a:ln w="1587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9"/>
            </p:custDataLst>
          </p:nvPr>
        </p:nvCxnSpPr>
        <p:spPr>
          <a:xfrm>
            <a:off x="6433820" y="2501900"/>
            <a:ext cx="3257550" cy="0"/>
          </a:xfrm>
          <a:prstGeom prst="line">
            <a:avLst/>
          </a:prstGeom>
          <a:ln w="1587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10"/>
            </p:custDataLst>
          </p:nvPr>
        </p:nvCxnSpPr>
        <p:spPr>
          <a:xfrm>
            <a:off x="6433820" y="5048250"/>
            <a:ext cx="3257550" cy="0"/>
          </a:xfrm>
          <a:prstGeom prst="line">
            <a:avLst/>
          </a:prstGeom>
          <a:ln w="1587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>
            <p:custDataLst>
              <p:tags r:id="rId11"/>
            </p:custDataLst>
          </p:nvPr>
        </p:nvCxnSpPr>
        <p:spPr>
          <a:xfrm>
            <a:off x="6433820" y="6267450"/>
            <a:ext cx="3257550" cy="0"/>
          </a:xfrm>
          <a:prstGeom prst="line">
            <a:avLst/>
          </a:prstGeom>
          <a:ln w="1587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菱形 39"/>
          <p:cNvSpPr/>
          <p:nvPr>
            <p:custDataLst>
              <p:tags r:id="rId12"/>
            </p:custDataLst>
          </p:nvPr>
        </p:nvSpPr>
        <p:spPr>
          <a:xfrm>
            <a:off x="5596255" y="2982595"/>
            <a:ext cx="685800" cy="673100"/>
          </a:xfrm>
          <a:prstGeom prst="diamond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41" name="textbox 22"/>
          <p:cNvSpPr/>
          <p:nvPr>
            <p:custDataLst>
              <p:tags r:id="rId13"/>
            </p:custDataLst>
          </p:nvPr>
        </p:nvSpPr>
        <p:spPr>
          <a:xfrm>
            <a:off x="5762625" y="3140710"/>
            <a:ext cx="276225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sz="2400" b="1" kern="0" spc="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菱形 41"/>
          <p:cNvSpPr/>
          <p:nvPr>
            <p:custDataLst>
              <p:tags r:id="rId14"/>
            </p:custDataLst>
          </p:nvPr>
        </p:nvSpPr>
        <p:spPr>
          <a:xfrm>
            <a:off x="5596255" y="4307205"/>
            <a:ext cx="685800" cy="673100"/>
          </a:xfrm>
          <a:prstGeom prst="diamond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43" name="textbox 22"/>
          <p:cNvSpPr/>
          <p:nvPr>
            <p:custDataLst>
              <p:tags r:id="rId15"/>
            </p:custDataLst>
          </p:nvPr>
        </p:nvSpPr>
        <p:spPr>
          <a:xfrm>
            <a:off x="5762625" y="4465320"/>
            <a:ext cx="276225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sz="2400" b="1" kern="0" spc="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菱形 43"/>
          <p:cNvSpPr/>
          <p:nvPr>
            <p:custDataLst>
              <p:tags r:id="rId16"/>
            </p:custDataLst>
          </p:nvPr>
        </p:nvSpPr>
        <p:spPr>
          <a:xfrm>
            <a:off x="5596255" y="5473700"/>
            <a:ext cx="685800" cy="673100"/>
          </a:xfrm>
          <a:prstGeom prst="diamond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45" name="textbox 22"/>
          <p:cNvSpPr/>
          <p:nvPr>
            <p:custDataLst>
              <p:tags r:id="rId17"/>
            </p:custDataLst>
          </p:nvPr>
        </p:nvSpPr>
        <p:spPr>
          <a:xfrm>
            <a:off x="5762625" y="5631815"/>
            <a:ext cx="276225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en-US" sz="2400" b="1" kern="0" spc="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1010920" y="1633855"/>
            <a:ext cx="4458970" cy="4015740"/>
          </a:xfrm>
          <a:prstGeom prst="rect">
            <a:avLst/>
          </a:prstGeom>
          <a:solidFill>
            <a:srgbClr val="D4E6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6471920" y="1624330"/>
            <a:ext cx="4458970" cy="4015740"/>
          </a:xfrm>
          <a:prstGeom prst="rect">
            <a:avLst/>
          </a:prstGeom>
          <a:solidFill>
            <a:srgbClr val="D4E6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" y="314325"/>
            <a:ext cx="476250" cy="485775"/>
          </a:xfrm>
          <a:prstGeom prst="rect">
            <a:avLst/>
          </a:prstGeom>
        </p:spPr>
      </p:pic>
      <p:sp>
        <p:nvSpPr>
          <p:cNvPr id="44" name="textbox 44"/>
          <p:cNvSpPr/>
          <p:nvPr/>
        </p:nvSpPr>
        <p:spPr>
          <a:xfrm>
            <a:off x="1295400" y="400050"/>
            <a:ext cx="1581150" cy="40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8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发展现状</a:t>
            </a:r>
            <a:endParaRPr sz="2800" dirty="0"/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4225" y="38100"/>
            <a:ext cx="1200150" cy="495300"/>
          </a:xfrm>
          <a:prstGeom prst="rect">
            <a:avLst/>
          </a:prstGeom>
        </p:spPr>
      </p:pic>
      <p:sp>
        <p:nvSpPr>
          <p:cNvPr id="50" name="textbox 50"/>
          <p:cNvSpPr/>
          <p:nvPr>
            <p:custDataLst>
              <p:tags r:id="rId5"/>
            </p:custDataLst>
          </p:nvPr>
        </p:nvSpPr>
        <p:spPr>
          <a:xfrm>
            <a:off x="533400" y="1685925"/>
            <a:ext cx="4686300" cy="1047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lang="en-US" sz="2400" b="1" kern="0" spc="0" dirty="0">
                <a:solidFill>
                  <a:srgbClr val="0F6EC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sz="2400" b="1" kern="0" spc="0" dirty="0">
                <a:solidFill>
                  <a:srgbClr val="0F6EC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海上风电增速显著</a:t>
            </a:r>
            <a:endParaRPr sz="2200" dirty="0"/>
          </a:p>
          <a:p>
            <a:pPr marL="533400" algn="l" rtl="0" eaLnBrk="0"/>
            <a:r>
              <a:rPr sz="2400" b="1" kern="0" spc="0" dirty="0">
                <a:solidFill>
                  <a:srgbClr val="0F6EC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Growth Rate of Offshore</a:t>
            </a:r>
            <a:endParaRPr sz="2400" dirty="0"/>
          </a:p>
          <a:p>
            <a:pPr marL="533400" algn="l" rtl="0" eaLnBrk="0"/>
            <a:r>
              <a:rPr sz="2400" b="1" kern="0" spc="0" dirty="0">
                <a:solidFill>
                  <a:srgbClr val="0F6EC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Wind Power is Remarkable</a:t>
            </a:r>
            <a:endParaRPr sz="2400" dirty="0"/>
          </a:p>
        </p:txBody>
      </p:sp>
      <p:sp>
        <p:nvSpPr>
          <p:cNvPr id="52" name="textbox 52"/>
          <p:cNvSpPr/>
          <p:nvPr>
            <p:custDataLst>
              <p:tags r:id="rId6"/>
            </p:custDataLst>
          </p:nvPr>
        </p:nvSpPr>
        <p:spPr>
          <a:xfrm>
            <a:off x="1047750" y="3057525"/>
            <a:ext cx="4324350" cy="723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全球风电装机容量持续增长，中国占比超40%，</a:t>
            </a:r>
            <a:endParaRPr sz="1600" dirty="0"/>
          </a:p>
          <a:p>
            <a:pPr algn="l" rtl="0" eaLnBrk="0"/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陆上风电主导市场，海上风电增速显著，未来五</a:t>
            </a:r>
            <a:endParaRPr sz="1600" dirty="0"/>
          </a:p>
          <a:p>
            <a:pPr algn="l" rtl="0" eaLnBrk="0"/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年年均增长率预计达12%。</a:t>
            </a:r>
            <a:endParaRPr sz="1600" dirty="0"/>
          </a:p>
        </p:txBody>
      </p:sp>
      <p:sp>
        <p:nvSpPr>
          <p:cNvPr id="54" name="textbox 54"/>
          <p:cNvSpPr/>
          <p:nvPr>
            <p:custDataLst>
              <p:tags r:id="rId7"/>
            </p:custDataLst>
          </p:nvPr>
        </p:nvSpPr>
        <p:spPr>
          <a:xfrm>
            <a:off x="1066800" y="3800475"/>
            <a:ext cx="4238625" cy="1704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global installed wind power capacity</a:t>
            </a:r>
            <a:endParaRPr sz="1600" dirty="0"/>
          </a:p>
          <a:p>
            <a:pPr algn="l" rtl="0" eaLnBrk="0"/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continues to grow, with China accounting</a:t>
            </a:r>
            <a:endParaRPr sz="1600" dirty="0"/>
          </a:p>
          <a:p>
            <a:pPr algn="l" rtl="0" eaLnBrk="0"/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 over 40%. Onshore wind power</a:t>
            </a:r>
            <a:endParaRPr sz="1600" dirty="0"/>
          </a:p>
          <a:p>
            <a:pPr algn="l" rtl="0" eaLnBrk="0"/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dominates the market, while offshore wind</a:t>
            </a:r>
            <a:endParaRPr sz="1600" dirty="0"/>
          </a:p>
          <a:p>
            <a:pPr algn="l" rtl="0" eaLnBrk="0"/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power is showing significant growth, with</a:t>
            </a:r>
            <a:endParaRPr sz="1600" dirty="0"/>
          </a:p>
          <a:p>
            <a:pPr algn="l" rtl="0" eaLnBrk="0"/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 expected average annual growth rate of</a:t>
            </a:r>
            <a:endParaRPr sz="1600" dirty="0"/>
          </a:p>
          <a:p>
            <a:pPr algn="l" rtl="0" eaLnBrk="0"/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12% over the next five years.</a:t>
            </a:r>
            <a:endParaRPr sz="1600" dirty="0"/>
          </a:p>
        </p:txBody>
      </p:sp>
      <p:sp>
        <p:nvSpPr>
          <p:cNvPr id="56" name="textbox 56"/>
          <p:cNvSpPr/>
          <p:nvPr>
            <p:custDataLst>
              <p:tags r:id="rId8"/>
            </p:custDataLst>
          </p:nvPr>
        </p:nvSpPr>
        <p:spPr>
          <a:xfrm>
            <a:off x="5981700" y="1685925"/>
            <a:ext cx="4848225" cy="742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lang="en-US" sz="24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sz="24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机组趋于大型化</a:t>
            </a:r>
            <a:endParaRPr sz="2000" dirty="0"/>
          </a:p>
          <a:p>
            <a:pPr marL="542925" algn="l" rtl="0" eaLnBrk="0"/>
            <a:r>
              <a:rPr sz="24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Size unit is becoming larger</a:t>
            </a:r>
            <a:endParaRPr sz="2400" dirty="0"/>
          </a:p>
        </p:txBody>
      </p:sp>
      <p:sp>
        <p:nvSpPr>
          <p:cNvPr id="58" name="textbox 58"/>
          <p:cNvSpPr/>
          <p:nvPr>
            <p:custDataLst>
              <p:tags r:id="rId9"/>
            </p:custDataLst>
          </p:nvPr>
        </p:nvSpPr>
        <p:spPr>
          <a:xfrm>
            <a:off x="6515100" y="2676525"/>
            <a:ext cx="4305300" cy="485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大兆瓦机组成为主流，齿轮箱高功率密度设计需</a:t>
            </a:r>
            <a:endParaRPr sz="1600" dirty="0"/>
          </a:p>
          <a:p>
            <a:pPr algn="l" rtl="0" eaLnBrk="0"/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求迫切，推动行业降本增效。</a:t>
            </a:r>
            <a:endParaRPr sz="1600" dirty="0"/>
          </a:p>
        </p:txBody>
      </p:sp>
      <p:sp>
        <p:nvSpPr>
          <p:cNvPr id="60" name="textbox 60"/>
          <p:cNvSpPr/>
          <p:nvPr>
            <p:custDataLst>
              <p:tags r:id="rId10"/>
            </p:custDataLst>
          </p:nvPr>
        </p:nvSpPr>
        <p:spPr>
          <a:xfrm>
            <a:off x="6524625" y="3200400"/>
            <a:ext cx="4124325" cy="1190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 large-megawatt units become</a:t>
            </a:r>
            <a:endParaRPr sz="1600" dirty="0"/>
          </a:p>
          <a:p>
            <a:pPr algn="l" rtl="0" eaLnBrk="0"/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mainstream, there is an urgent need for</a:t>
            </a:r>
            <a:endParaRPr sz="1600" dirty="0"/>
          </a:p>
          <a:p>
            <a:pPr algn="l" rtl="0" eaLnBrk="0"/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high-power-density gearbox designs,</a:t>
            </a:r>
            <a:endParaRPr sz="1600" dirty="0"/>
          </a:p>
          <a:p>
            <a:pPr algn="l" rtl="0" eaLnBrk="0"/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driving the industry toward cost reduction</a:t>
            </a:r>
            <a:endParaRPr sz="1600" dirty="0"/>
          </a:p>
          <a:p>
            <a:pPr algn="l" rtl="0" eaLnBrk="0"/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 efficiency improvement.</a:t>
            </a:r>
            <a:endParaRPr sz="1600" dirty="0"/>
          </a:p>
        </p:txBody>
      </p:sp>
      <p:sp>
        <p:nvSpPr>
          <p:cNvPr id="2" name="矩形 1"/>
          <p:cNvSpPr/>
          <p:nvPr>
            <p:custDataLst>
              <p:tags r:id="rId11"/>
            </p:custDataLst>
          </p:nvPr>
        </p:nvSpPr>
        <p:spPr>
          <a:xfrm>
            <a:off x="5855970" y="1624330"/>
            <a:ext cx="615950" cy="556895"/>
          </a:xfrm>
          <a:prstGeom prst="rect">
            <a:avLst/>
          </a:prstGeom>
          <a:solidFill>
            <a:srgbClr val="2573C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>
            <p:custDataLst>
              <p:tags r:id="rId12"/>
            </p:custDataLst>
          </p:nvPr>
        </p:nvSpPr>
        <p:spPr>
          <a:xfrm>
            <a:off x="387350" y="1624330"/>
            <a:ext cx="615950" cy="556895"/>
          </a:xfrm>
          <a:prstGeom prst="rect">
            <a:avLst/>
          </a:prstGeom>
          <a:solidFill>
            <a:srgbClr val="2573C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387350" y="849630"/>
            <a:ext cx="11370945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4289425" cy="6858635"/>
          </a:xfrm>
          <a:prstGeom prst="rect">
            <a:avLst/>
          </a:prstGeom>
          <a:solidFill>
            <a:srgbClr val="2573C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4225" y="38100"/>
            <a:ext cx="1200150" cy="495300"/>
          </a:xfrm>
          <a:prstGeom prst="rect">
            <a:avLst/>
          </a:prstGeom>
        </p:spPr>
      </p:pic>
      <p:sp>
        <p:nvSpPr>
          <p:cNvPr id="18" name="textbox 18"/>
          <p:cNvSpPr/>
          <p:nvPr/>
        </p:nvSpPr>
        <p:spPr>
          <a:xfrm rot="5400000">
            <a:off x="827405" y="2030730"/>
            <a:ext cx="2936875" cy="18973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ctr" rtl="0" eaLnBrk="0"/>
            <a:r>
              <a:rPr sz="54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content</a:t>
            </a:r>
            <a:endParaRPr sz="5400" b="1" kern="0" spc="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rtl="0" eaLnBrk="0"/>
            <a:r>
              <a:rPr lang="zh-CN" altLang="en-US" sz="7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目</a:t>
            </a:r>
            <a:r>
              <a:rPr lang="en-US" altLang="zh-CN" sz="7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7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录</a:t>
            </a:r>
            <a:endParaRPr lang="zh-CN" altLang="en-US" sz="7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20"/>
          <p:cNvSpPr/>
          <p:nvPr>
            <p:custDataLst>
              <p:tags r:id="rId2"/>
            </p:custDataLst>
          </p:nvPr>
        </p:nvSpPr>
        <p:spPr>
          <a:xfrm>
            <a:off x="6486525" y="1866900"/>
            <a:ext cx="5686425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A6A6A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发展现状/Current Development Status</a:t>
            </a:r>
            <a:endParaRPr sz="2400" b="1" kern="0" dirty="0">
              <a:solidFill>
                <a:srgbClr val="A6A6A6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菱形 16"/>
          <p:cNvSpPr/>
          <p:nvPr>
            <p:custDataLst>
              <p:tags r:id="rId3"/>
            </p:custDataLst>
          </p:nvPr>
        </p:nvSpPr>
        <p:spPr>
          <a:xfrm>
            <a:off x="5596255" y="1720850"/>
            <a:ext cx="685800" cy="673100"/>
          </a:xfrm>
          <a:prstGeom prst="diamond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22" name="textbox 22"/>
          <p:cNvSpPr/>
          <p:nvPr>
            <p:custDataLst>
              <p:tags r:id="rId4"/>
            </p:custDataLst>
          </p:nvPr>
        </p:nvSpPr>
        <p:spPr>
          <a:xfrm>
            <a:off x="5762625" y="1878965"/>
            <a:ext cx="276225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 kern="0" spc="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4"/>
          <p:cNvSpPr/>
          <p:nvPr>
            <p:custDataLst>
              <p:tags r:id="rId5"/>
            </p:custDataLst>
          </p:nvPr>
        </p:nvSpPr>
        <p:spPr>
          <a:xfrm>
            <a:off x="6477000" y="3114675"/>
            <a:ext cx="4362450" cy="40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技术路线/Technical Approach</a:t>
            </a:r>
            <a:endParaRPr sz="2400" dirty="0"/>
          </a:p>
        </p:txBody>
      </p:sp>
      <p:sp>
        <p:nvSpPr>
          <p:cNvPr id="28" name="textbox 28"/>
          <p:cNvSpPr/>
          <p:nvPr>
            <p:custDataLst>
              <p:tags r:id="rId6"/>
            </p:custDataLst>
          </p:nvPr>
        </p:nvSpPr>
        <p:spPr>
          <a:xfrm>
            <a:off x="6515100" y="4448175"/>
            <a:ext cx="4095750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A6A6A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关键技术/Key Technologies</a:t>
            </a:r>
            <a:endParaRPr sz="2400" dirty="0"/>
          </a:p>
        </p:txBody>
      </p:sp>
      <p:sp>
        <p:nvSpPr>
          <p:cNvPr id="32" name="textbox 32"/>
          <p:cNvSpPr/>
          <p:nvPr>
            <p:custDataLst>
              <p:tags r:id="rId7"/>
            </p:custDataLst>
          </p:nvPr>
        </p:nvSpPr>
        <p:spPr>
          <a:xfrm>
            <a:off x="6534150" y="5610225"/>
            <a:ext cx="5191125" cy="40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A6A6A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攻关与挑战/Research &amp; Challenges</a:t>
            </a:r>
            <a:endParaRPr sz="2400" dirty="0"/>
          </a:p>
        </p:txBody>
      </p:sp>
      <p:sp>
        <p:nvSpPr>
          <p:cNvPr id="3" name="矩形 2"/>
          <p:cNvSpPr/>
          <p:nvPr/>
        </p:nvSpPr>
        <p:spPr>
          <a:xfrm>
            <a:off x="1346835" y="1511935"/>
            <a:ext cx="1898015" cy="2936240"/>
          </a:xfrm>
          <a:prstGeom prst="rect">
            <a:avLst/>
          </a:prstGeom>
          <a:noFill/>
          <a:ln w="3810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573C6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>
            <p:custDataLst>
              <p:tags r:id="rId8"/>
            </p:custDataLst>
          </p:nvPr>
        </p:nvCxnSpPr>
        <p:spPr>
          <a:xfrm>
            <a:off x="6433820" y="3695700"/>
            <a:ext cx="3257550" cy="0"/>
          </a:xfrm>
          <a:prstGeom prst="line">
            <a:avLst/>
          </a:prstGeom>
          <a:ln w="1587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9"/>
            </p:custDataLst>
          </p:nvPr>
        </p:nvCxnSpPr>
        <p:spPr>
          <a:xfrm>
            <a:off x="6433820" y="2501900"/>
            <a:ext cx="3257550" cy="0"/>
          </a:xfrm>
          <a:prstGeom prst="line">
            <a:avLst/>
          </a:prstGeom>
          <a:ln w="1587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10"/>
            </p:custDataLst>
          </p:nvPr>
        </p:nvCxnSpPr>
        <p:spPr>
          <a:xfrm>
            <a:off x="6433820" y="5048250"/>
            <a:ext cx="3257550" cy="0"/>
          </a:xfrm>
          <a:prstGeom prst="line">
            <a:avLst/>
          </a:prstGeom>
          <a:ln w="1587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>
            <p:custDataLst>
              <p:tags r:id="rId11"/>
            </p:custDataLst>
          </p:nvPr>
        </p:nvCxnSpPr>
        <p:spPr>
          <a:xfrm>
            <a:off x="6433820" y="6267450"/>
            <a:ext cx="3257550" cy="0"/>
          </a:xfrm>
          <a:prstGeom prst="line">
            <a:avLst/>
          </a:prstGeom>
          <a:ln w="1587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菱形 39"/>
          <p:cNvSpPr/>
          <p:nvPr>
            <p:custDataLst>
              <p:tags r:id="rId12"/>
            </p:custDataLst>
          </p:nvPr>
        </p:nvSpPr>
        <p:spPr>
          <a:xfrm>
            <a:off x="5596255" y="2982595"/>
            <a:ext cx="685800" cy="673100"/>
          </a:xfrm>
          <a:prstGeom prst="diamond">
            <a:avLst/>
          </a:prstGeom>
          <a:solidFill>
            <a:srgbClr val="2573C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41" name="textbox 22"/>
          <p:cNvSpPr/>
          <p:nvPr>
            <p:custDataLst>
              <p:tags r:id="rId13"/>
            </p:custDataLst>
          </p:nvPr>
        </p:nvSpPr>
        <p:spPr>
          <a:xfrm>
            <a:off x="5762625" y="3140710"/>
            <a:ext cx="276225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sz="2400" b="1" kern="0" spc="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菱形 41"/>
          <p:cNvSpPr/>
          <p:nvPr>
            <p:custDataLst>
              <p:tags r:id="rId14"/>
            </p:custDataLst>
          </p:nvPr>
        </p:nvSpPr>
        <p:spPr>
          <a:xfrm>
            <a:off x="5596255" y="4307205"/>
            <a:ext cx="685800" cy="673100"/>
          </a:xfrm>
          <a:prstGeom prst="diamond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43" name="textbox 22"/>
          <p:cNvSpPr/>
          <p:nvPr>
            <p:custDataLst>
              <p:tags r:id="rId15"/>
            </p:custDataLst>
          </p:nvPr>
        </p:nvSpPr>
        <p:spPr>
          <a:xfrm>
            <a:off x="5762625" y="4465320"/>
            <a:ext cx="276225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sz="2400" b="1" kern="0" spc="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菱形 43"/>
          <p:cNvSpPr/>
          <p:nvPr>
            <p:custDataLst>
              <p:tags r:id="rId16"/>
            </p:custDataLst>
          </p:nvPr>
        </p:nvSpPr>
        <p:spPr>
          <a:xfrm>
            <a:off x="5596255" y="5473700"/>
            <a:ext cx="685800" cy="673100"/>
          </a:xfrm>
          <a:prstGeom prst="diamond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45" name="textbox 22"/>
          <p:cNvSpPr/>
          <p:nvPr>
            <p:custDataLst>
              <p:tags r:id="rId17"/>
            </p:custDataLst>
          </p:nvPr>
        </p:nvSpPr>
        <p:spPr>
          <a:xfrm>
            <a:off x="5762625" y="5631815"/>
            <a:ext cx="276225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en-US" sz="2400" b="1" kern="0" spc="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>
            <a:stCxn id="2" idx="6"/>
            <a:endCxn id="6" idx="2"/>
          </p:cNvCxnSpPr>
          <p:nvPr/>
        </p:nvCxnSpPr>
        <p:spPr>
          <a:xfrm>
            <a:off x="1295400" y="2105025"/>
            <a:ext cx="9397365" cy="0"/>
          </a:xfrm>
          <a:prstGeom prst="line">
            <a:avLst/>
          </a:prstGeom>
          <a:ln>
            <a:solidFill>
              <a:srgbClr val="A6A6A6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8" name="picture 9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075" y="314325"/>
            <a:ext cx="476250" cy="485775"/>
          </a:xfrm>
          <a:prstGeom prst="rect">
            <a:avLst/>
          </a:prstGeom>
        </p:spPr>
      </p:pic>
      <p:sp>
        <p:nvSpPr>
          <p:cNvPr id="100" name="textbox 100"/>
          <p:cNvSpPr/>
          <p:nvPr/>
        </p:nvSpPr>
        <p:spPr>
          <a:xfrm>
            <a:off x="1295400" y="400050"/>
            <a:ext cx="1581150" cy="40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8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技术路线</a:t>
            </a:r>
            <a:endParaRPr sz="2800" dirty="0"/>
          </a:p>
        </p:txBody>
      </p:sp>
      <p:pic>
        <p:nvPicPr>
          <p:cNvPr id="104" name="picture 1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4225" y="38100"/>
            <a:ext cx="1200150" cy="485775"/>
          </a:xfrm>
          <a:prstGeom prst="rect">
            <a:avLst/>
          </a:prstGeom>
        </p:spPr>
      </p:pic>
      <p:sp>
        <p:nvSpPr>
          <p:cNvPr id="106" name="textbox 106"/>
          <p:cNvSpPr/>
          <p:nvPr/>
        </p:nvSpPr>
        <p:spPr>
          <a:xfrm>
            <a:off x="3476625" y="1990725"/>
            <a:ext cx="152400" cy="180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600" dirty="0"/>
          </a:p>
        </p:txBody>
      </p:sp>
      <p:sp>
        <p:nvSpPr>
          <p:cNvPr id="108" name="textbox 108"/>
          <p:cNvSpPr/>
          <p:nvPr/>
        </p:nvSpPr>
        <p:spPr>
          <a:xfrm>
            <a:off x="5962650" y="1971675"/>
            <a:ext cx="161925" cy="219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spc="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800" dirty="0"/>
          </a:p>
        </p:txBody>
      </p:sp>
      <p:sp>
        <p:nvSpPr>
          <p:cNvPr id="110" name="textbox 110"/>
          <p:cNvSpPr/>
          <p:nvPr/>
        </p:nvSpPr>
        <p:spPr>
          <a:xfrm>
            <a:off x="8467725" y="2000250"/>
            <a:ext cx="152400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3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300" dirty="0"/>
          </a:p>
        </p:txBody>
      </p:sp>
      <p:sp>
        <p:nvSpPr>
          <p:cNvPr id="112" name="textbox 112"/>
          <p:cNvSpPr/>
          <p:nvPr/>
        </p:nvSpPr>
        <p:spPr>
          <a:xfrm>
            <a:off x="10839450" y="1990725"/>
            <a:ext cx="142875" cy="180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1400" dirty="0"/>
          </a:p>
        </p:txBody>
      </p:sp>
      <p:pic>
        <p:nvPicPr>
          <p:cNvPr id="116" name="picture 1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2524125"/>
            <a:ext cx="781050" cy="742950"/>
          </a:xfrm>
          <a:prstGeom prst="rect">
            <a:avLst/>
          </a:prstGeom>
        </p:spPr>
      </p:pic>
      <p:pic>
        <p:nvPicPr>
          <p:cNvPr id="120" name="picture 1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2300" y="2524125"/>
            <a:ext cx="790575" cy="742950"/>
          </a:xfrm>
          <a:prstGeom prst="rect">
            <a:avLst/>
          </a:prstGeom>
        </p:spPr>
      </p:pic>
      <p:pic>
        <p:nvPicPr>
          <p:cNvPr id="124" name="picture 1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7850" y="2524125"/>
            <a:ext cx="781050" cy="742950"/>
          </a:xfrm>
          <a:prstGeom prst="rect">
            <a:avLst/>
          </a:prstGeom>
        </p:spPr>
      </p:pic>
      <p:pic>
        <p:nvPicPr>
          <p:cNvPr id="128" name="picture 1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3875" y="2524125"/>
            <a:ext cx="781050" cy="742950"/>
          </a:xfrm>
          <a:prstGeom prst="rect">
            <a:avLst/>
          </a:prstGeom>
        </p:spPr>
      </p:pic>
      <p:pic>
        <p:nvPicPr>
          <p:cNvPr id="132" name="picture 1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44175" y="2495550"/>
            <a:ext cx="762000" cy="723900"/>
          </a:xfrm>
          <a:prstGeom prst="rect">
            <a:avLst/>
          </a:prstGeom>
        </p:spPr>
      </p:pic>
      <p:sp>
        <p:nvSpPr>
          <p:cNvPr id="134" name="textbox 134"/>
          <p:cNvSpPr/>
          <p:nvPr/>
        </p:nvSpPr>
        <p:spPr>
          <a:xfrm>
            <a:off x="831215" y="3429000"/>
            <a:ext cx="476250" cy="228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200" b="1" kern="0" spc="0" dirty="0">
                <a:solidFill>
                  <a:srgbClr val="29698D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SCD</a:t>
            </a:r>
            <a:endParaRPr sz="2200" dirty="0"/>
          </a:p>
        </p:txBody>
      </p:sp>
      <p:sp>
        <p:nvSpPr>
          <p:cNvPr id="136" name="textbox 136"/>
          <p:cNvSpPr/>
          <p:nvPr/>
        </p:nvSpPr>
        <p:spPr>
          <a:xfrm>
            <a:off x="3105150" y="3467100"/>
            <a:ext cx="971550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spc="0" dirty="0">
                <a:solidFill>
                  <a:srgbClr val="1F69A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传统双馈</a:t>
            </a:r>
            <a:endParaRPr sz="1800" dirty="0"/>
          </a:p>
        </p:txBody>
      </p:sp>
      <p:sp>
        <p:nvSpPr>
          <p:cNvPr id="138" name="textbox 138"/>
          <p:cNvSpPr/>
          <p:nvPr/>
        </p:nvSpPr>
        <p:spPr>
          <a:xfrm>
            <a:off x="5410200" y="3467100"/>
            <a:ext cx="1419225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spc="0" dirty="0">
                <a:solidFill>
                  <a:srgbClr val="246BA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四点支撑中速</a:t>
            </a:r>
            <a:endParaRPr sz="1800" dirty="0"/>
          </a:p>
        </p:txBody>
      </p:sp>
      <p:sp>
        <p:nvSpPr>
          <p:cNvPr id="140" name="textbox 140"/>
          <p:cNvSpPr/>
          <p:nvPr/>
        </p:nvSpPr>
        <p:spPr>
          <a:xfrm>
            <a:off x="7953375" y="3467100"/>
            <a:ext cx="1181100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spc="0" dirty="0">
                <a:solidFill>
                  <a:srgbClr val="054D9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全集成中速</a:t>
            </a:r>
            <a:endParaRPr sz="1800" dirty="0"/>
          </a:p>
        </p:txBody>
      </p:sp>
      <p:sp>
        <p:nvSpPr>
          <p:cNvPr id="142" name="textbox 142"/>
          <p:cNvSpPr/>
          <p:nvPr/>
        </p:nvSpPr>
        <p:spPr>
          <a:xfrm>
            <a:off x="10325100" y="3467100"/>
            <a:ext cx="1171575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700" b="1" kern="0" spc="0" dirty="0">
                <a:solidFill>
                  <a:srgbClr val="15598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前集成双馈</a:t>
            </a:r>
            <a:endParaRPr sz="1700" dirty="0"/>
          </a:p>
        </p:txBody>
      </p:sp>
      <p:sp>
        <p:nvSpPr>
          <p:cNvPr id="144" name="textbox 144"/>
          <p:cNvSpPr/>
          <p:nvPr/>
        </p:nvSpPr>
        <p:spPr>
          <a:xfrm>
            <a:off x="857250" y="3867150"/>
            <a:ext cx="400050" cy="20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>
              <a:buClrTx/>
              <a:buSzTx/>
              <a:buNone/>
            </a:pPr>
            <a:r>
              <a:rPr sz="1400" b="1" kern="0" spc="0" dirty="0">
                <a:solidFill>
                  <a:srgbClr val="2D5481">
                    <a:alpha val="100000"/>
                  </a:srgb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SCD</a:t>
            </a:r>
            <a:endParaRPr sz="1400" b="1" kern="0" dirty="0">
              <a:solidFill>
                <a:srgbClr val="2D5481">
                  <a:alpha val="100000"/>
                </a:srgbClr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46" name="textbox 146"/>
          <p:cNvSpPr/>
          <p:nvPr/>
        </p:nvSpPr>
        <p:spPr>
          <a:xfrm>
            <a:off x="3095625" y="3867150"/>
            <a:ext cx="990600" cy="438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>
              <a:buClrTx/>
              <a:buSzTx/>
              <a:buNone/>
            </a:pPr>
            <a:r>
              <a:rPr sz="1400" b="1" kern="0" spc="0" dirty="0">
                <a:solidFill>
                  <a:srgbClr val="2D5481">
                    <a:alpha val="100000"/>
                  </a:srgb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Traditional</a:t>
            </a:r>
            <a:endParaRPr sz="1400" b="1" kern="0" dirty="0">
              <a:solidFill>
                <a:srgbClr val="2D5481">
                  <a:alpha val="100000"/>
                </a:srgbClr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rtl="0" eaLnBrk="0">
              <a:buClrTx/>
              <a:buSzTx/>
              <a:buNone/>
            </a:pPr>
            <a:r>
              <a:rPr sz="1400" b="1" kern="0" spc="0" dirty="0">
                <a:solidFill>
                  <a:srgbClr val="2D5481">
                    <a:alpha val="100000"/>
                  </a:srgb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Dual Feed</a:t>
            </a:r>
            <a:endParaRPr sz="1400" b="1" kern="0" dirty="0">
              <a:solidFill>
                <a:srgbClr val="2D5481">
                  <a:alpha val="100000"/>
                </a:srgbClr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48" name="textbox 148"/>
          <p:cNvSpPr/>
          <p:nvPr/>
        </p:nvSpPr>
        <p:spPr>
          <a:xfrm>
            <a:off x="5476875" y="3867150"/>
            <a:ext cx="1352550" cy="666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42875" algn="l" rtl="0" eaLnBrk="0"/>
            <a:r>
              <a:rPr sz="1400" b="1" kern="0" spc="0" dirty="0">
                <a:solidFill>
                  <a:srgbClr val="2D5481">
                    <a:alpha val="100000"/>
                  </a:srgb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Four-point</a:t>
            </a:r>
            <a:endParaRPr sz="1400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algn="l" rtl="0" eaLnBrk="0"/>
            <a:r>
              <a:rPr sz="1400" b="1" kern="0" spc="0" dirty="0">
                <a:solidFill>
                  <a:srgbClr val="2D5481">
                    <a:alpha val="100000"/>
                  </a:srgb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Support</a:t>
            </a:r>
            <a:endParaRPr sz="1400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rtl="0" eaLnBrk="0"/>
            <a:r>
              <a:rPr sz="1400" b="1" kern="0" spc="0" dirty="0">
                <a:solidFill>
                  <a:srgbClr val="2D5481">
                    <a:alpha val="100000"/>
                  </a:srgb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Medium Speed</a:t>
            </a:r>
            <a:endParaRPr sz="1400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50" name="textbox 150"/>
          <p:cNvSpPr/>
          <p:nvPr/>
        </p:nvSpPr>
        <p:spPr>
          <a:xfrm>
            <a:off x="7953375" y="3867150"/>
            <a:ext cx="962025" cy="876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19075" algn="ctr" rtl="0" eaLnBrk="0"/>
            <a:r>
              <a:rPr sz="1400" b="1" kern="0" spc="0" dirty="0">
                <a:solidFill>
                  <a:srgbClr val="06487B">
                    <a:alpha val="100000"/>
                  </a:srgb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Fully</a:t>
            </a:r>
            <a:endParaRPr sz="1400" b="1" kern="0" spc="0" dirty="0">
              <a:solidFill>
                <a:srgbClr val="06487B">
                  <a:alpha val="100000"/>
                </a:srgbClr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19075" algn="ctr" rtl="0" eaLnBrk="0"/>
            <a:r>
              <a:rPr sz="1400" b="1" kern="0" spc="0" dirty="0">
                <a:solidFill>
                  <a:srgbClr val="06487B">
                    <a:alpha val="100000"/>
                  </a:srgb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Integrated</a:t>
            </a:r>
            <a:endParaRPr sz="1400" b="1" kern="0" spc="0" dirty="0">
              <a:solidFill>
                <a:srgbClr val="06487B">
                  <a:alpha val="100000"/>
                </a:srgbClr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19075" algn="ctr" rtl="0" eaLnBrk="0"/>
            <a:r>
              <a:rPr sz="1400" b="1" kern="0" spc="0" dirty="0">
                <a:solidFill>
                  <a:srgbClr val="06487B">
                    <a:alpha val="100000"/>
                  </a:srgb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Medium</a:t>
            </a:r>
            <a:endParaRPr sz="1400" b="1" kern="0" spc="0" dirty="0">
              <a:solidFill>
                <a:srgbClr val="06487B">
                  <a:alpha val="100000"/>
                </a:srgbClr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19075" algn="ctr" rtl="0" eaLnBrk="0"/>
            <a:r>
              <a:rPr sz="1400" b="1" kern="0" spc="0" dirty="0">
                <a:solidFill>
                  <a:srgbClr val="06487B">
                    <a:alpha val="100000"/>
                  </a:srgb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Speed</a:t>
            </a:r>
            <a:endParaRPr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10439400" y="3867150"/>
            <a:ext cx="971550" cy="647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ctr" rtl="0" eaLnBrk="0">
              <a:buClrTx/>
              <a:buSzTx/>
              <a:buNone/>
            </a:pPr>
            <a:r>
              <a:rPr sz="1400" b="1" kern="0" spc="0" dirty="0">
                <a:solidFill>
                  <a:srgbClr val="2D5481">
                    <a:alpha val="100000"/>
                  </a:srgb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Pre-</a:t>
            </a:r>
            <a:endParaRPr sz="1400" b="1" kern="0" dirty="0">
              <a:solidFill>
                <a:srgbClr val="2D5481">
                  <a:alpha val="100000"/>
                </a:srgbClr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ctr" rtl="0" eaLnBrk="0">
              <a:buClrTx/>
              <a:buSzTx/>
              <a:buNone/>
            </a:pPr>
            <a:r>
              <a:rPr sz="1400" b="1" kern="0" spc="0" dirty="0">
                <a:solidFill>
                  <a:srgbClr val="2D5481">
                    <a:alpha val="100000"/>
                  </a:srgb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integrated</a:t>
            </a:r>
            <a:endParaRPr sz="1400" b="1" kern="0" dirty="0">
              <a:solidFill>
                <a:srgbClr val="2D5481">
                  <a:alpha val="100000"/>
                </a:srgbClr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ctr" rtl="0" eaLnBrk="0">
              <a:buClrTx/>
              <a:buSzTx/>
              <a:buNone/>
            </a:pPr>
            <a:r>
              <a:rPr sz="1400" b="1" kern="0" spc="0" dirty="0">
                <a:solidFill>
                  <a:srgbClr val="2D5481">
                    <a:alpha val="100000"/>
                  </a:srgb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dual feed</a:t>
            </a:r>
            <a:endParaRPr sz="1400" b="1" kern="0" dirty="0">
              <a:solidFill>
                <a:srgbClr val="2D5481">
                  <a:alpha val="100000"/>
                </a:srgbClr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831215" y="1872615"/>
            <a:ext cx="464185" cy="46418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3" name="椭圆 2"/>
          <p:cNvSpPr/>
          <p:nvPr/>
        </p:nvSpPr>
        <p:spPr>
          <a:xfrm>
            <a:off x="3325495" y="1872615"/>
            <a:ext cx="464185" cy="46418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4" name="椭圆 3"/>
          <p:cNvSpPr/>
          <p:nvPr/>
        </p:nvSpPr>
        <p:spPr>
          <a:xfrm>
            <a:off x="5810250" y="1872615"/>
            <a:ext cx="464185" cy="46418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5" name="椭圆 4"/>
          <p:cNvSpPr/>
          <p:nvPr/>
        </p:nvSpPr>
        <p:spPr>
          <a:xfrm>
            <a:off x="8295005" y="1872615"/>
            <a:ext cx="464185" cy="46418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6" name="椭圆 5"/>
          <p:cNvSpPr/>
          <p:nvPr/>
        </p:nvSpPr>
        <p:spPr>
          <a:xfrm>
            <a:off x="10692765" y="1872615"/>
            <a:ext cx="464185" cy="46418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cxnSp>
        <p:nvCxnSpPr>
          <p:cNvPr id="8" name="直接连接符 7"/>
          <p:cNvCxnSpPr/>
          <p:nvPr/>
        </p:nvCxnSpPr>
        <p:spPr>
          <a:xfrm>
            <a:off x="387350" y="849630"/>
            <a:ext cx="11370945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5366385" y="3776980"/>
            <a:ext cx="1587500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7880985" y="3776980"/>
            <a:ext cx="1388745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0216515" y="3776980"/>
            <a:ext cx="1426210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3071495" y="3776980"/>
            <a:ext cx="1070610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709295" y="3776980"/>
            <a:ext cx="660400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99085" y="1311910"/>
            <a:ext cx="11206480" cy="1381125"/>
          </a:xfrm>
          <a:prstGeom prst="rect">
            <a:avLst/>
          </a:prstGeom>
          <a:solidFill>
            <a:srgbClr val="2573C6"/>
          </a:solidFill>
          <a:ln>
            <a:solidFill>
              <a:srgbClr val="A6A6A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0" name="picture 1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14300"/>
            <a:ext cx="476250" cy="457200"/>
          </a:xfrm>
          <a:prstGeom prst="rect">
            <a:avLst/>
          </a:prstGeom>
        </p:spPr>
      </p:pic>
      <p:sp>
        <p:nvSpPr>
          <p:cNvPr id="162" name="textbox 162"/>
          <p:cNvSpPr/>
          <p:nvPr/>
        </p:nvSpPr>
        <p:spPr>
          <a:xfrm>
            <a:off x="923925" y="190500"/>
            <a:ext cx="4762500" cy="409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8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技术路线/</a:t>
            </a:r>
            <a:r>
              <a:rPr sz="24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Technical Approach</a:t>
            </a:r>
            <a:endParaRPr sz="2800" dirty="0"/>
          </a:p>
        </p:txBody>
      </p:sp>
      <p:pic>
        <p:nvPicPr>
          <p:cNvPr id="166" name="picture 1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9450" y="38100"/>
            <a:ext cx="1304925" cy="533400"/>
          </a:xfrm>
          <a:prstGeom prst="rect">
            <a:avLst/>
          </a:prstGeom>
        </p:spPr>
      </p:pic>
      <p:sp>
        <p:nvSpPr>
          <p:cNvPr id="168" name="textbox 168"/>
          <p:cNvSpPr/>
          <p:nvPr/>
        </p:nvSpPr>
        <p:spPr>
          <a:xfrm>
            <a:off x="247650" y="904875"/>
            <a:ext cx="11410950" cy="314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95275" indent="-295275" algn="l" rtl="0" eaLnBrk="0">
              <a:buAutoNum type="arabicPeriod"/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SCD(Super Compact Drive) 超紧凑风电机组/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SCD (Super Compact Drive) super compact wind turbine</a:t>
            </a:r>
            <a:endParaRPr sz="2000" dirty="0"/>
          </a:p>
        </p:txBody>
      </p:sp>
      <p:sp>
        <p:nvSpPr>
          <p:cNvPr id="170" name="textbox 170"/>
          <p:cNvSpPr/>
          <p:nvPr/>
        </p:nvSpPr>
        <p:spPr>
          <a:xfrm>
            <a:off x="381000" y="1400175"/>
            <a:ext cx="11106150" cy="571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438150" algn="l" rtl="0" eaLnBrk="0"/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由明阳智能和德国aerodyn公司联合开发，其传动链由主轴承、行星齿轮和中速发电机组成。结合了传统中速与直驱型机组的传动链布局</a:t>
            </a:r>
            <a:endParaRPr sz="1400" dirty="0"/>
          </a:p>
          <a:p>
            <a:pPr algn="l" rtl="0" eaLnBrk="0">
              <a:spcBef>
                <a:spcPts val="975"/>
              </a:spcBef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优势，使得整体设计较其余两种中速机组结构更紧凑。</a:t>
            </a:r>
            <a:endParaRPr sz="1400" dirty="0"/>
          </a:p>
        </p:txBody>
      </p:sp>
      <p:sp>
        <p:nvSpPr>
          <p:cNvPr id="172" name="textbox 172"/>
          <p:cNvSpPr/>
          <p:nvPr/>
        </p:nvSpPr>
        <p:spPr>
          <a:xfrm>
            <a:off x="361950" y="2047875"/>
            <a:ext cx="11001375" cy="552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447675" algn="l" rtl="0" eaLnBrk="0"/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drive train integrates medium-speed and direct-drive technologies, achieving superior structural compactness through</a:t>
            </a:r>
            <a:endParaRPr sz="1400" dirty="0"/>
          </a:p>
          <a:p>
            <a:pPr algn="l" rtl="0" eaLnBrk="0">
              <a:spcBef>
                <a:spcPts val="975"/>
              </a:spcBef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its main bearing + planetary gear + medium-speed generator configuration.</a:t>
            </a:r>
            <a:endParaRPr sz="1400" dirty="0"/>
          </a:p>
        </p:txBody>
      </p:sp>
      <p:pic>
        <p:nvPicPr>
          <p:cNvPr id="176" name="picture 1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81300"/>
            <a:ext cx="4772025" cy="3771900"/>
          </a:xfrm>
          <a:prstGeom prst="rect">
            <a:avLst/>
          </a:prstGeom>
        </p:spPr>
      </p:pic>
      <p:graphicFrame>
        <p:nvGraphicFramePr>
          <p:cNvPr id="178" name="table 178"/>
          <p:cNvGraphicFramePr>
            <a:graphicFrameLocks noGrp="1"/>
          </p:cNvGraphicFramePr>
          <p:nvPr/>
        </p:nvGraphicFramePr>
        <p:xfrm>
          <a:off x="6096000" y="2905125"/>
          <a:ext cx="5410200" cy="3648075"/>
        </p:xfrm>
        <a:graphic>
          <a:graphicData uri="http://schemas.openxmlformats.org/drawingml/2006/table">
            <a:tbl>
              <a:tblPr/>
              <a:tblGrid>
                <a:gridCol w="2714625"/>
                <a:gridCol w="2695575"/>
              </a:tblGrid>
              <a:tr h="333375">
                <a:tc gridSpan="2">
                  <a:txBody>
                    <a:bodyPr/>
                    <a:lstStyle/>
                    <a:p>
                      <a:pPr algn="ctr" rtl="0" eaLnBrk="0"/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SCD/Super Compact Drive</a:t>
                      </a:r>
                      <a:endParaRPr sz="12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73C1"/>
                    </a:solidFill>
                  </a:tcPr>
                </a:tc>
                <a:tc hMerge="1">
                  <a:tcPr marL="0" marR="0" marT="0" marB="0" vert="horz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algn="l" rtl="0" eaLnBrk="0"/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输入端行星架连接方式</a:t>
                      </a:r>
                      <a:endParaRPr sz="1200" dirty="0"/>
                    </a:p>
                    <a:p>
                      <a:pPr algn="l" rtl="0" eaLnBrk="0"/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Input planetary gear carrier</a:t>
                      </a:r>
                      <a:endParaRPr sz="1200" dirty="0"/>
                    </a:p>
                    <a:p>
                      <a:pPr algn="l" rtl="0" eaLnBrk="0"/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connection method</a:t>
                      </a:r>
                      <a:endParaRPr sz="12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D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螺栓</a:t>
                      </a:r>
                      <a:endParaRPr sz="1200" dirty="0"/>
                    </a:p>
                    <a:p>
                      <a:pPr algn="l" rtl="0" eaLnBrk="0"/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bolt</a:t>
                      </a:r>
                      <a:endParaRPr sz="1200" dirty="0"/>
                    </a:p>
                  </a:txBody>
                  <a:tcPr marL="0" marR="0" marT="0" marB="0" vert="horz" anchor="t">
                    <a:lnL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A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 rtl="0" eaLnBrk="0"/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箱体连接方式</a:t>
                      </a:r>
                      <a:endParaRPr sz="1200" dirty="0"/>
                    </a:p>
                    <a:p>
                      <a:pPr algn="l" rtl="0" eaLnBrk="0"/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Box connection method</a:t>
                      </a:r>
                      <a:endParaRPr sz="12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螺栓</a:t>
                      </a:r>
                      <a:endParaRPr sz="1200" dirty="0"/>
                    </a:p>
                    <a:p>
                      <a:pPr algn="l" rtl="0" eaLnBrk="0"/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bolt</a:t>
                      </a:r>
                      <a:endParaRPr sz="12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rtl="0" eaLnBrk="0"/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电机连接方式</a:t>
                      </a:r>
                      <a:endParaRPr sz="1200" dirty="0"/>
                    </a:p>
                    <a:p>
                      <a:pPr algn="l" rtl="0" eaLnBrk="0"/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Generator connection method</a:t>
                      </a:r>
                      <a:endParaRPr sz="12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花键</a:t>
                      </a:r>
                      <a:endParaRPr sz="1200" dirty="0"/>
                    </a:p>
                    <a:p>
                      <a:pPr algn="l" rtl="0" eaLnBrk="0"/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spline</a:t>
                      </a:r>
                      <a:endParaRPr sz="12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 rtl="0" eaLnBrk="0"/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齿轮箱传动结构</a:t>
                      </a:r>
                      <a:endParaRPr sz="1200" dirty="0"/>
                    </a:p>
                    <a:p>
                      <a:pPr algn="l" rtl="0" eaLnBrk="0"/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gearbox transmission structure</a:t>
                      </a:r>
                      <a:endParaRPr sz="12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1200" kern="0" spc="0" dirty="0">
                          <a:solidFill>
                            <a:srgbClr val="2626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2P/3P</a:t>
                      </a:r>
                      <a:endParaRPr sz="1200" dirty="0"/>
                    </a:p>
                    <a:p>
                      <a:pPr algn="l" rtl="0" eaLnBrk="0"/>
                      <a:r>
                        <a:rPr sz="1200" kern="0" spc="0" dirty="0">
                          <a:solidFill>
                            <a:srgbClr val="2626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2P/3P</a:t>
                      </a:r>
                      <a:endParaRPr sz="12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rtl="0" eaLnBrk="0"/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行星架轴承</a:t>
                      </a:r>
                      <a:endParaRPr sz="1200" dirty="0"/>
                    </a:p>
                    <a:p>
                      <a:pPr algn="l" rtl="0" eaLnBrk="0"/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planetary bearing</a:t>
                      </a:r>
                      <a:endParaRPr sz="12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1200" kern="0" spc="0" dirty="0">
                          <a:solidFill>
                            <a:srgbClr val="2626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鹦鹉螺</a:t>
                      </a:r>
                      <a:endParaRPr sz="1200" dirty="0"/>
                    </a:p>
                    <a:p>
                      <a:pPr algn="l" rtl="0" eaLnBrk="0"/>
                      <a:r>
                        <a:rPr sz="1200" kern="0" spc="0" dirty="0">
                          <a:solidFill>
                            <a:srgbClr val="2626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nautilus</a:t>
                      </a:r>
                      <a:endParaRPr sz="12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 rtl="0" eaLnBrk="0"/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其它结构</a:t>
                      </a:r>
                      <a:endParaRPr sz="1200" dirty="0"/>
                    </a:p>
                    <a:p>
                      <a:pPr algn="l" rtl="0" eaLnBrk="0"/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Other structures</a:t>
                      </a:r>
                      <a:endParaRPr sz="12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1200" kern="0" spc="0" dirty="0">
                          <a:solidFill>
                            <a:srgbClr val="2626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柔性销</a:t>
                      </a:r>
                      <a:endParaRPr sz="1200" dirty="0"/>
                    </a:p>
                    <a:p>
                      <a:pPr algn="l" rtl="0" eaLnBrk="0"/>
                      <a:r>
                        <a:rPr sz="1200" kern="0" spc="0" dirty="0">
                          <a:solidFill>
                            <a:srgbClr val="2626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flexible pin</a:t>
                      </a:r>
                      <a:endParaRPr sz="12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</a:tr>
            </a:tbl>
          </a:graphicData>
        </a:graphic>
      </p:graphicFrame>
      <p:cxnSp>
        <p:nvCxnSpPr>
          <p:cNvPr id="3" name="直接连接符 2"/>
          <p:cNvCxnSpPr/>
          <p:nvPr/>
        </p:nvCxnSpPr>
        <p:spPr>
          <a:xfrm>
            <a:off x="-6350" y="685800"/>
            <a:ext cx="12217400" cy="0"/>
          </a:xfrm>
          <a:prstGeom prst="line">
            <a:avLst/>
          </a:prstGeom>
          <a:ln w="1587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48285" y="1291590"/>
            <a:ext cx="11257280" cy="1659255"/>
          </a:xfrm>
          <a:prstGeom prst="rect">
            <a:avLst/>
          </a:prstGeom>
          <a:solidFill>
            <a:srgbClr val="2573C6"/>
          </a:solidFill>
          <a:ln>
            <a:solidFill>
              <a:srgbClr val="A6A6A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6" name="picture 18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14300"/>
            <a:ext cx="476250" cy="457200"/>
          </a:xfrm>
          <a:prstGeom prst="rect">
            <a:avLst/>
          </a:prstGeom>
        </p:spPr>
      </p:pic>
      <p:sp>
        <p:nvSpPr>
          <p:cNvPr id="188" name="textbox 188"/>
          <p:cNvSpPr/>
          <p:nvPr/>
        </p:nvSpPr>
        <p:spPr>
          <a:xfrm>
            <a:off x="923925" y="190500"/>
            <a:ext cx="4762500" cy="409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8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技术路线/</a:t>
            </a:r>
            <a:r>
              <a:rPr sz="24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Technical Approach</a:t>
            </a:r>
            <a:endParaRPr sz="2800" dirty="0"/>
          </a:p>
        </p:txBody>
      </p:sp>
      <p:pic>
        <p:nvPicPr>
          <p:cNvPr id="192" name="picture 1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9450" y="38100"/>
            <a:ext cx="1304925" cy="533400"/>
          </a:xfrm>
          <a:prstGeom prst="rect">
            <a:avLst/>
          </a:prstGeom>
        </p:spPr>
      </p:pic>
      <p:sp>
        <p:nvSpPr>
          <p:cNvPr id="194" name="textbox 194"/>
          <p:cNvSpPr/>
          <p:nvPr/>
        </p:nvSpPr>
        <p:spPr>
          <a:xfrm>
            <a:off x="247650" y="914400"/>
            <a:ext cx="4143375" cy="295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14325" indent="-285750" algn="l" rtl="0" eaLnBrk="0">
              <a:buAutoNum type="arabicPeriod" startAt="2"/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传统双馈机组/</a:t>
            </a:r>
            <a:r>
              <a:rPr sz="16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Traditional Dual Feed</a:t>
            </a:r>
            <a:endParaRPr sz="2000" dirty="0"/>
          </a:p>
        </p:txBody>
      </p:sp>
      <p:sp>
        <p:nvSpPr>
          <p:cNvPr id="196" name="textbox 196"/>
          <p:cNvSpPr/>
          <p:nvPr/>
        </p:nvSpPr>
        <p:spPr>
          <a:xfrm>
            <a:off x="428625" y="1362075"/>
            <a:ext cx="11087100" cy="561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81000" algn="l" rtl="0" eaLnBrk="0"/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齿轮箱单独一体，与主轴通过锁紧盘或法兰刚性连接，扭力臂通过弹性支撑固定在机舱上，电机与齿轮箱通过联轴器连接。可维护性能好</a:t>
            </a:r>
            <a:endParaRPr sz="1400" dirty="0"/>
          </a:p>
          <a:p>
            <a:pPr algn="l" rtl="0" eaLnBrk="0">
              <a:spcBef>
                <a:spcPts val="975"/>
              </a:spcBef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，但机组尺寸长，且高速轴轴承随着机组大型化面临着温度、寿命可靠性挑战。</a:t>
            </a:r>
            <a:endParaRPr sz="1400" dirty="0"/>
          </a:p>
        </p:txBody>
      </p:sp>
      <p:sp>
        <p:nvSpPr>
          <p:cNvPr id="198" name="textbox 198"/>
          <p:cNvSpPr/>
          <p:nvPr/>
        </p:nvSpPr>
        <p:spPr>
          <a:xfrm>
            <a:off x="381000" y="2009775"/>
            <a:ext cx="10953750" cy="876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438150" algn="l" rtl="0" eaLnBrk="0"/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gearbox connects directly to the main shaft, with a torque arm anchored to the nacelle. While this standalone design</a:t>
            </a:r>
            <a:endParaRPr sz="1400" dirty="0"/>
          </a:p>
          <a:p>
            <a:pPr algn="l" rtl="0" eaLnBrk="0">
              <a:spcBef>
                <a:spcPts val="975"/>
              </a:spcBef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ensures good maintainability, it increases the overall length of the unit. Additionally,high-speed shaft bearings encounter growing</a:t>
            </a:r>
            <a:endParaRPr sz="1400" dirty="0"/>
          </a:p>
          <a:p>
            <a:pPr algn="l" rtl="0" eaLnBrk="0">
              <a:spcBef>
                <a:spcPts val="975"/>
              </a:spcBef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challenges in temperature management and long-term reliability.</a:t>
            </a:r>
            <a:endParaRPr sz="1400" dirty="0"/>
          </a:p>
        </p:txBody>
      </p:sp>
      <p:pic>
        <p:nvPicPr>
          <p:cNvPr id="202" name="picture 2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2933700"/>
            <a:ext cx="4533900" cy="3352800"/>
          </a:xfrm>
          <a:prstGeom prst="rect">
            <a:avLst/>
          </a:prstGeom>
        </p:spPr>
      </p:pic>
      <p:graphicFrame>
        <p:nvGraphicFramePr>
          <p:cNvPr id="204" name="table 204"/>
          <p:cNvGraphicFramePr>
            <a:graphicFrameLocks noGrp="1"/>
          </p:cNvGraphicFramePr>
          <p:nvPr/>
        </p:nvGraphicFramePr>
        <p:xfrm>
          <a:off x="5934075" y="3048000"/>
          <a:ext cx="5572125" cy="3248025"/>
        </p:xfrm>
        <a:graphic>
          <a:graphicData uri="http://schemas.openxmlformats.org/drawingml/2006/table">
            <a:tbl>
              <a:tblPr/>
              <a:tblGrid>
                <a:gridCol w="2790825"/>
                <a:gridCol w="2781300"/>
              </a:tblGrid>
              <a:tr h="352425">
                <a:tc gridSpan="2">
                  <a:txBody>
                    <a:bodyPr/>
                    <a:lstStyle/>
                    <a:p>
                      <a:pPr algn="ctr" rtl="0" eaLnBrk="0">
                        <a:lnSpc>
                          <a:spcPct val="140000"/>
                        </a:lnSpc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传统双馈/Traditional Dual Feed</a:t>
                      </a:r>
                      <a:endParaRPr sz="1400" dirty="0"/>
                    </a:p>
                  </a:txBody>
                  <a:tcPr marL="0" marR="0" marT="0" marB="0" vert="horz" anchor="t">
                    <a:lnL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72C5"/>
                    </a:solidFill>
                  </a:tcPr>
                </a:tc>
                <a:tc hMerge="1">
                  <a:tcPr marL="0" marR="0" marT="0" marB="0" vert="horz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rtl="0" eaLnBrk="0"/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输入端行星架连接方式</a:t>
                      </a:r>
                      <a:endParaRPr sz="1400" dirty="0"/>
                    </a:p>
                    <a:p>
                      <a:pPr algn="l" rtl="0" eaLnBrk="0"/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Input planetary gear carrier connection method</a:t>
                      </a:r>
                      <a:endParaRPr sz="1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涨套/法兰</a:t>
                      </a:r>
                      <a:endParaRPr sz="1400" dirty="0"/>
                    </a:p>
                    <a:p>
                      <a:pPr algn="l" rtl="0" eaLnBrk="0"/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shrink disk/flange</a:t>
                      </a:r>
                      <a:endParaRPr sz="1400" dirty="0"/>
                    </a:p>
                  </a:txBody>
                  <a:tcPr marL="0" marR="0" marT="0" marB="0" vert="horz" anchor="t">
                    <a:lnL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A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l" rtl="0" eaLnBrk="0"/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箱体连接方式</a:t>
                      </a:r>
                      <a:endParaRPr sz="1400" dirty="0"/>
                    </a:p>
                    <a:p>
                      <a:pPr algn="l" rtl="0" eaLnBrk="0"/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Box connection method</a:t>
                      </a:r>
                      <a:endParaRPr sz="1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弹性支撑</a:t>
                      </a:r>
                      <a:endParaRPr sz="1400" dirty="0"/>
                    </a:p>
                    <a:p>
                      <a:pPr algn="l" rtl="0" eaLnBrk="0"/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elastic support</a:t>
                      </a:r>
                      <a:endParaRPr sz="1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l" rtl="0" eaLnBrk="0"/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电机连接方式</a:t>
                      </a:r>
                      <a:endParaRPr sz="1400" dirty="0"/>
                    </a:p>
                    <a:p>
                      <a:pPr algn="l" rtl="0" eaLnBrk="0"/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Generator connection method</a:t>
                      </a:r>
                      <a:endParaRPr sz="1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联轴器</a:t>
                      </a:r>
                      <a:endParaRPr sz="1400" dirty="0"/>
                    </a:p>
                    <a:p>
                      <a:pPr algn="l" rtl="0" eaLnBrk="0"/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clutch</a:t>
                      </a:r>
                      <a:endParaRPr sz="1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A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l" rtl="0" eaLnBrk="0"/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齿轮箱传动结构</a:t>
                      </a:r>
                      <a:endParaRPr sz="1400" dirty="0"/>
                    </a:p>
                    <a:p>
                      <a:pPr algn="l" rtl="0" eaLnBrk="0"/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gearbox transmission structure</a:t>
                      </a:r>
                      <a:endParaRPr sz="1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2P1H/3P1H</a:t>
                      </a:r>
                      <a:endParaRPr sz="1400" dirty="0"/>
                    </a:p>
                    <a:p>
                      <a:pPr algn="l" rtl="0" eaLnBrk="0"/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2P1-/3P1H</a:t>
                      </a:r>
                      <a:endParaRPr sz="1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l" rtl="0" eaLnBrk="0"/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行星架轴承</a:t>
                      </a:r>
                      <a:endParaRPr sz="1400" dirty="0"/>
                    </a:p>
                    <a:p>
                      <a:pPr algn="l" rtl="0" eaLnBrk="0"/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planetary bearing</a:t>
                      </a:r>
                      <a:endParaRPr sz="1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双CRB/双TRB</a:t>
                      </a:r>
                      <a:endParaRPr sz="1400" dirty="0"/>
                    </a:p>
                    <a:p>
                      <a:pPr algn="l" rtl="0" eaLnBrk="0"/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double CRB/ double TRB</a:t>
                      </a:r>
                      <a:endParaRPr sz="1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9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 rtl="0" eaLnBrk="0"/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其它结构</a:t>
                      </a:r>
                      <a:endParaRPr sz="1400" dirty="0"/>
                    </a:p>
                    <a:p>
                      <a:pPr algn="l" rtl="0" eaLnBrk="0"/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Other structures</a:t>
                      </a:r>
                      <a:endParaRPr sz="1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endParaRPr sz="1400" dirty="0"/>
                    </a:p>
                  </a:txBody>
                  <a:tcPr marL="0" marR="0" marT="0" marB="0" vert="horz" anchor="b">
                    <a:lnL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0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</a:tr>
            </a:tbl>
          </a:graphicData>
        </a:graphic>
      </p:graphicFrame>
      <p:cxnSp>
        <p:nvCxnSpPr>
          <p:cNvPr id="3" name="直接连接符 2"/>
          <p:cNvCxnSpPr/>
          <p:nvPr/>
        </p:nvCxnSpPr>
        <p:spPr>
          <a:xfrm>
            <a:off x="-6350" y="685800"/>
            <a:ext cx="12217400" cy="0"/>
          </a:xfrm>
          <a:prstGeom prst="line">
            <a:avLst/>
          </a:prstGeom>
          <a:ln w="1587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48285" y="1270000"/>
            <a:ext cx="11257280" cy="1680845"/>
          </a:xfrm>
          <a:prstGeom prst="rect">
            <a:avLst/>
          </a:prstGeom>
          <a:solidFill>
            <a:srgbClr val="2573C6"/>
          </a:solidFill>
          <a:ln>
            <a:solidFill>
              <a:srgbClr val="A6A6A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2" name="picture 2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14300"/>
            <a:ext cx="466725" cy="457200"/>
          </a:xfrm>
          <a:prstGeom prst="rect">
            <a:avLst/>
          </a:prstGeom>
        </p:spPr>
      </p:pic>
      <p:sp>
        <p:nvSpPr>
          <p:cNvPr id="214" name="textbox 214"/>
          <p:cNvSpPr/>
          <p:nvPr/>
        </p:nvSpPr>
        <p:spPr>
          <a:xfrm>
            <a:off x="933450" y="190500"/>
            <a:ext cx="4752975" cy="428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8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技术路线/</a:t>
            </a:r>
            <a:r>
              <a:rPr sz="24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Technical Approach</a:t>
            </a:r>
            <a:endParaRPr sz="2800" dirty="0"/>
          </a:p>
        </p:txBody>
      </p:sp>
      <p:pic>
        <p:nvPicPr>
          <p:cNvPr id="218" name="picture 2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9450" y="38100"/>
            <a:ext cx="1304925" cy="533400"/>
          </a:xfrm>
          <a:prstGeom prst="rect">
            <a:avLst/>
          </a:prstGeom>
        </p:spPr>
      </p:pic>
      <p:sp>
        <p:nvSpPr>
          <p:cNvPr id="220" name="textbox 220"/>
          <p:cNvSpPr/>
          <p:nvPr/>
        </p:nvSpPr>
        <p:spPr>
          <a:xfrm>
            <a:off x="266700" y="914400"/>
            <a:ext cx="5924550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04800" indent="-285750" algn="l" rtl="0" eaLnBrk="0">
              <a:buAutoNum type="arabicPeriod" startAt="3"/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四点支撑中速机组/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Four-point Support Medium Speed</a:t>
            </a:r>
            <a:endParaRPr sz="2000" dirty="0"/>
          </a:p>
        </p:txBody>
      </p:sp>
      <p:sp>
        <p:nvSpPr>
          <p:cNvPr id="222" name="textbox 222"/>
          <p:cNvSpPr/>
          <p:nvPr/>
        </p:nvSpPr>
        <p:spPr>
          <a:xfrm>
            <a:off x="361950" y="1343025"/>
            <a:ext cx="11068050" cy="552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457200" algn="l" rtl="0" eaLnBrk="0"/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四点支撑中速机组齿轮箱一般为两级或三级行星。输入端转架主轴一般采用刚性连接的形式，齿轮箱扭力臂通过弹性支撑固定在机舱上。</a:t>
            </a:r>
            <a:endParaRPr sz="1400" dirty="0"/>
          </a:p>
          <a:p>
            <a:pPr algn="l" rtl="0" eaLnBrk="0">
              <a:spcBef>
                <a:spcPts val="900"/>
              </a:spcBef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输出端与发电机刚性连接。全功率变频齿轮箱与主轴内刚外柔，结构较稳定。</a:t>
            </a:r>
            <a:endParaRPr sz="1400" dirty="0"/>
          </a:p>
        </p:txBody>
      </p:sp>
      <p:sp>
        <p:nvSpPr>
          <p:cNvPr id="224" name="textbox 224"/>
          <p:cNvSpPr/>
          <p:nvPr/>
        </p:nvSpPr>
        <p:spPr>
          <a:xfrm>
            <a:off x="342900" y="2000250"/>
            <a:ext cx="11144250" cy="876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476250" algn="l" rtl="0" eaLnBrk="0"/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Four-point medium-speed gearboxes use 2-3 planetary stages. Input is rigidly connected; torque arm elastically mounted.</a:t>
            </a:r>
            <a:endParaRPr sz="1400" dirty="0"/>
          </a:p>
          <a:p>
            <a:pPr algn="l" rtl="0" eaLnBrk="0">
              <a:spcBef>
                <a:spcPts val="900"/>
              </a:spcBef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Output couples rigidly to generator. The full-power variable frequency design ensures stability through internal rigidity and external</a:t>
            </a:r>
            <a:endParaRPr sz="1400" dirty="0"/>
          </a:p>
          <a:p>
            <a:pPr algn="l" rtl="0" eaLnBrk="0">
              <a:spcBef>
                <a:spcPts val="900"/>
              </a:spcBef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flexibility.</a:t>
            </a:r>
            <a:endParaRPr sz="1400" dirty="0"/>
          </a:p>
        </p:txBody>
      </p:sp>
      <p:pic>
        <p:nvPicPr>
          <p:cNvPr id="228" name="picture 2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5" y="2962275"/>
            <a:ext cx="5353050" cy="3438525"/>
          </a:xfrm>
          <a:prstGeom prst="rect">
            <a:avLst/>
          </a:prstGeom>
        </p:spPr>
      </p:pic>
      <p:graphicFrame>
        <p:nvGraphicFramePr>
          <p:cNvPr id="230" name="table 230"/>
          <p:cNvGraphicFramePr>
            <a:graphicFrameLocks noGrp="1"/>
          </p:cNvGraphicFramePr>
          <p:nvPr/>
        </p:nvGraphicFramePr>
        <p:xfrm>
          <a:off x="5924550" y="2990850"/>
          <a:ext cx="5581650" cy="3409950"/>
        </p:xfrm>
        <a:graphic>
          <a:graphicData uri="http://schemas.openxmlformats.org/drawingml/2006/table">
            <a:tbl>
              <a:tblPr/>
              <a:tblGrid>
                <a:gridCol w="2800350"/>
                <a:gridCol w="2781300"/>
              </a:tblGrid>
              <a:tr h="371475">
                <a:tc gridSpan="2">
                  <a:txBody>
                    <a:bodyPr/>
                    <a:lstStyle/>
                    <a:p>
                      <a:pPr algn="ctr" rtl="0" eaLnBrk="0">
                        <a:lnSpc>
                          <a:spcPct val="140000"/>
                        </a:lnSpc>
                      </a:pPr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四点支撑中速/Four-point Support Medium Speed</a:t>
                      </a:r>
                      <a:endParaRPr sz="1300" dirty="0"/>
                    </a:p>
                  </a:txBody>
                  <a:tcPr marL="0" marR="0" marT="0" marB="0" vert="horz" anchor="t">
                    <a:lnL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73C2"/>
                    </a:solidFill>
                  </a:tcPr>
                </a:tc>
                <a:tc hMerge="1">
                  <a:tcPr marL="0" marR="0" marT="0" marB="0" vert="horz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 rtl="0" eaLnBrk="0"/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输入端行星梁连接方式</a:t>
                      </a:r>
                      <a:endParaRPr sz="1000" dirty="0"/>
                    </a:p>
                    <a:p>
                      <a:pPr algn="l" rtl="0" eaLnBrk="0"/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nout side paracary gear frame corr octor</a:t>
                      </a:r>
                      <a:endParaRPr sz="1000" dirty="0"/>
                    </a:p>
                    <a:p>
                      <a:pPr algn="l" rtl="0" eaLnBrk="0"/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methoc</a:t>
                      </a:r>
                      <a:endParaRPr sz="1000" dirty="0"/>
                    </a:p>
                  </a:txBody>
                  <a:tcPr marL="0" marR="0" marT="0" marB="0" vert="horz" anchor="ctr">
                    <a:lnL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法兰/螺栓销</a:t>
                      </a:r>
                      <a:endParaRPr sz="1000" dirty="0"/>
                    </a:p>
                    <a:p>
                      <a:pPr algn="l" rtl="0" eaLnBrk="0"/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flange/bolt p n</a:t>
                      </a:r>
                      <a:endParaRPr sz="1000" dirty="0"/>
                    </a:p>
                  </a:txBody>
                  <a:tcPr marL="0" marR="0" marT="0" marB="0" vert="horz" anchor="t">
                    <a:lnL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A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 rtl="0" eaLnBrk="0"/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箱体连接方式</a:t>
                      </a:r>
                      <a:endParaRPr sz="1000" dirty="0"/>
                    </a:p>
                    <a:p>
                      <a:pPr algn="l" rtl="0" eaLnBrk="0"/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Box connection method</a:t>
                      </a:r>
                      <a:endParaRPr sz="1000" dirty="0"/>
                    </a:p>
                  </a:txBody>
                  <a:tcPr marL="0" marR="0" marT="0" marB="0" vert="horz" anchor="ctr">
                    <a:lnL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弹性支撑</a:t>
                      </a:r>
                      <a:endParaRPr sz="1000" dirty="0"/>
                    </a:p>
                    <a:p>
                      <a:pPr algn="l" rtl="0" eaLnBrk="0"/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elast support</a:t>
                      </a:r>
                      <a:endParaRPr sz="1000" dirty="0"/>
                    </a:p>
                  </a:txBody>
                  <a:tcPr marL="0" marR="0" marT="0" marB="0" vert="horz" anchor="ctr">
                    <a:lnL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rtl="0" eaLnBrk="0"/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电机连接方式</a:t>
                      </a:r>
                      <a:endParaRPr sz="1000" dirty="0"/>
                    </a:p>
                    <a:p>
                      <a:pPr algn="l" rtl="0" eaLnBrk="0"/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Generator connection method</a:t>
                      </a:r>
                      <a:endParaRPr sz="1000" dirty="0"/>
                    </a:p>
                  </a:txBody>
                  <a:tcPr marL="0" marR="0" marT="0" marB="0" vert="horz" anchor="ctr">
                    <a:lnL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与齿轮箱集成，无联轴器</a:t>
                      </a:r>
                      <a:endParaRPr sz="1000" dirty="0"/>
                    </a:p>
                    <a:p>
                      <a:pPr algn="l" rtl="0" eaLnBrk="0"/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Integrated with gearbox</a:t>
                      </a:r>
                      <a:endParaRPr sz="1000" dirty="0"/>
                    </a:p>
                    <a:p>
                      <a:pPr algn="l" rtl="0" eaLnBrk="0"/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ro coupling</a:t>
                      </a:r>
                      <a:endParaRPr sz="1000" dirty="0"/>
                    </a:p>
                  </a:txBody>
                  <a:tcPr marL="0" marR="0" marT="0" marB="0" vert="horz" anchor="ctr">
                    <a:lnL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9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l" rtl="0" eaLnBrk="0"/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齿轮箱传动结构</a:t>
                      </a:r>
                      <a:endParaRPr sz="1000" dirty="0"/>
                    </a:p>
                    <a:p>
                      <a:pPr algn="l" rtl="0" eaLnBrk="0"/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gearbox transmission structure</a:t>
                      </a:r>
                      <a:endParaRPr sz="1000" dirty="0"/>
                    </a:p>
                  </a:txBody>
                  <a:tcPr marL="0" marR="0" marT="0" marB="0" vert="horz" anchor="ctr">
                    <a:lnL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1000" kern="0" spc="0" dirty="0">
                          <a:solidFill>
                            <a:srgbClr val="1C1C1C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2P/3P</a:t>
                      </a:r>
                      <a:endParaRPr sz="1000" dirty="0"/>
                    </a:p>
                    <a:p>
                      <a:pPr algn="l" rtl="0" eaLnBrk="0"/>
                      <a:r>
                        <a:rPr sz="1000" kern="0" spc="0" dirty="0">
                          <a:solidFill>
                            <a:srgbClr val="1C1C1C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2P/3P</a:t>
                      </a:r>
                      <a:endParaRPr sz="1000" dirty="0"/>
                    </a:p>
                  </a:txBody>
                  <a:tcPr marL="0" marR="0" marT="0" marB="0" vert="horz" anchor="ctr">
                    <a:lnL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D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 rtl="0" eaLnBrk="0"/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行星架轴承</a:t>
                      </a:r>
                      <a:endParaRPr sz="1000" dirty="0"/>
                    </a:p>
                    <a:p>
                      <a:pPr algn="l" rtl="0" eaLnBrk="0"/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pletary bearing</a:t>
                      </a:r>
                      <a:endParaRPr sz="1000" dirty="0"/>
                    </a:p>
                  </a:txBody>
                  <a:tcPr marL="0" marR="0" marT="0" marB="0" vert="horz" anchor="ctr">
                    <a:lnL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1000" kern="0" spc="0" dirty="0">
                          <a:solidFill>
                            <a:srgbClr val="1C1C1C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双TRB</a:t>
                      </a:r>
                      <a:endParaRPr sz="1000" dirty="0"/>
                    </a:p>
                    <a:p>
                      <a:pPr algn="l" rtl="0" eaLnBrk="0"/>
                      <a:r>
                        <a:rPr sz="1000" kern="0" spc="0" dirty="0">
                          <a:solidFill>
                            <a:srgbClr val="1C1C1C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</a:t>
                      </a:r>
                      <a:endParaRPr sz="1000" dirty="0"/>
                    </a:p>
                    <a:p>
                      <a:pPr algn="l" rtl="0" eaLnBrk="0"/>
                      <a:r>
                        <a:rPr sz="1000" kern="0" spc="0" dirty="0">
                          <a:solidFill>
                            <a:srgbClr val="1C1C1C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ouple TRB</a:t>
                      </a:r>
                      <a:endParaRPr sz="1000" dirty="0"/>
                    </a:p>
                  </a:txBody>
                  <a:tcPr marL="0" marR="0" marT="0" marB="0" vert="horz" anchor="ctr">
                    <a:lnL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A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 rtl="0" eaLnBrk="0"/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其它结构</a:t>
                      </a:r>
                      <a:endParaRPr sz="1000" dirty="0"/>
                    </a:p>
                    <a:p>
                      <a:pPr algn="l" rtl="0" eaLnBrk="0"/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Other structures</a:t>
                      </a:r>
                      <a:endParaRPr sz="1000" dirty="0"/>
                    </a:p>
                  </a:txBody>
                  <a:tcPr marL="0" marR="0" marT="0" marB="0" vert="horz" anchor="ctr">
                    <a:lnL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1000" kern="0" spc="0" dirty="0">
                          <a:solidFill>
                            <a:srgbClr val="1C1C1C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输出轴密封</a:t>
                      </a:r>
                      <a:endParaRPr sz="1000" dirty="0"/>
                    </a:p>
                    <a:p>
                      <a:pPr algn="l" rtl="0" eaLnBrk="0"/>
                      <a:r>
                        <a:rPr sz="1000" kern="0" spc="0" dirty="0">
                          <a:solidFill>
                            <a:srgbClr val="1C1C1C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output shaft seal</a:t>
                      </a:r>
                      <a:endParaRPr sz="1000" dirty="0"/>
                    </a:p>
                  </a:txBody>
                  <a:tcPr marL="0" marR="0" marT="0" marB="0" vert="horz" anchor="ctr">
                    <a:lnL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</a:tr>
            </a:tbl>
          </a:graphicData>
        </a:graphic>
      </p:graphicFrame>
      <p:cxnSp>
        <p:nvCxnSpPr>
          <p:cNvPr id="3" name="直接连接符 2"/>
          <p:cNvCxnSpPr/>
          <p:nvPr/>
        </p:nvCxnSpPr>
        <p:spPr>
          <a:xfrm>
            <a:off x="-6350" y="685800"/>
            <a:ext cx="12217400" cy="0"/>
          </a:xfrm>
          <a:prstGeom prst="line">
            <a:avLst/>
          </a:prstGeom>
          <a:ln w="1587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8600" y="1433830"/>
            <a:ext cx="11257280" cy="1653540"/>
          </a:xfrm>
          <a:prstGeom prst="rect">
            <a:avLst/>
          </a:prstGeom>
          <a:solidFill>
            <a:srgbClr val="2573C6"/>
          </a:solidFill>
          <a:ln>
            <a:solidFill>
              <a:srgbClr val="A6A6A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8" name="picture 2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14300"/>
            <a:ext cx="466725" cy="447675"/>
          </a:xfrm>
          <a:prstGeom prst="rect">
            <a:avLst/>
          </a:prstGeom>
        </p:spPr>
      </p:pic>
      <p:sp>
        <p:nvSpPr>
          <p:cNvPr id="240" name="textbox 240"/>
          <p:cNvSpPr/>
          <p:nvPr/>
        </p:nvSpPr>
        <p:spPr>
          <a:xfrm>
            <a:off x="923925" y="190500"/>
            <a:ext cx="4762500" cy="428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8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技术路线/</a:t>
            </a:r>
            <a:r>
              <a:rPr sz="24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Technical Approach</a:t>
            </a:r>
            <a:endParaRPr sz="2800" dirty="0"/>
          </a:p>
        </p:txBody>
      </p:sp>
      <p:pic>
        <p:nvPicPr>
          <p:cNvPr id="244" name="picture 2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9450" y="38100"/>
            <a:ext cx="1304925" cy="533400"/>
          </a:xfrm>
          <a:prstGeom prst="rect">
            <a:avLst/>
          </a:prstGeom>
        </p:spPr>
      </p:pic>
      <p:sp>
        <p:nvSpPr>
          <p:cNvPr id="246" name="textbox 246"/>
          <p:cNvSpPr/>
          <p:nvPr/>
        </p:nvSpPr>
        <p:spPr>
          <a:xfrm>
            <a:off x="247650" y="914400"/>
            <a:ext cx="7010400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04800" indent="-295275" algn="l" rtl="0" eaLnBrk="0">
              <a:buAutoNum type="arabicPeriod" startAt="4"/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全集成中速机组--结构介绍/ 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Fully Integrated Medium Speed</a:t>
            </a:r>
            <a:endParaRPr sz="2000" dirty="0"/>
          </a:p>
        </p:txBody>
      </p:sp>
      <p:sp>
        <p:nvSpPr>
          <p:cNvPr id="248" name="textbox 248"/>
          <p:cNvSpPr/>
          <p:nvPr/>
        </p:nvSpPr>
        <p:spPr>
          <a:xfrm>
            <a:off x="295275" y="1524000"/>
            <a:ext cx="11039475" cy="571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447675" algn="l" rtl="0" eaLnBrk="0"/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全集成中速机组齿轮箱一般为三级行星。输入端转架、一级齿圈与主轴、轴承座一般采用直接连接的形式，输出端与发电机的连接形式</a:t>
            </a:r>
            <a:endParaRPr sz="1400" dirty="0"/>
          </a:p>
          <a:p>
            <a:pPr algn="l" rtl="0" eaLnBrk="0">
              <a:spcBef>
                <a:spcPts val="975"/>
              </a:spcBef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与四点支撑中速机组一致。</a:t>
            </a:r>
            <a:endParaRPr sz="1400" dirty="0"/>
          </a:p>
        </p:txBody>
      </p:sp>
      <p:sp>
        <p:nvSpPr>
          <p:cNvPr id="250" name="textbox 250"/>
          <p:cNvSpPr/>
          <p:nvPr/>
        </p:nvSpPr>
        <p:spPr>
          <a:xfrm>
            <a:off x="304800" y="2171700"/>
            <a:ext cx="10991850" cy="876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438150" algn="l" rtl="0" eaLnBrk="0"/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gear box of the fully integrated medium speed generator is usually three-stage planetary gear box. The input end is</a:t>
            </a:r>
            <a:endParaRPr sz="1400" dirty="0"/>
          </a:p>
          <a:p>
            <a:pPr algn="l" rtl="0" eaLnBrk="0">
              <a:spcBef>
                <a:spcPts val="975"/>
              </a:spcBef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directly connected with the main shaft and bearing seat, and the output end is connected with the generator in the same way as</a:t>
            </a:r>
            <a:endParaRPr sz="1400" dirty="0"/>
          </a:p>
          <a:p>
            <a:pPr algn="l" rtl="0" eaLnBrk="0">
              <a:spcBef>
                <a:spcPts val="975"/>
              </a:spcBef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four-point support medium speed generator.</a:t>
            </a:r>
            <a:endParaRPr sz="1400" dirty="0"/>
          </a:p>
        </p:txBody>
      </p:sp>
      <p:pic>
        <p:nvPicPr>
          <p:cNvPr id="254" name="picture 2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75" y="3295650"/>
            <a:ext cx="6181725" cy="2990850"/>
          </a:xfrm>
          <a:prstGeom prst="rect">
            <a:avLst/>
          </a:prstGeom>
        </p:spPr>
      </p:pic>
      <p:graphicFrame>
        <p:nvGraphicFramePr>
          <p:cNvPr id="256" name="table 256"/>
          <p:cNvGraphicFramePr>
            <a:graphicFrameLocks noGrp="1"/>
          </p:cNvGraphicFramePr>
          <p:nvPr/>
        </p:nvGraphicFramePr>
        <p:xfrm>
          <a:off x="6524625" y="3086100"/>
          <a:ext cx="4962525" cy="3678555"/>
        </p:xfrm>
        <a:graphic>
          <a:graphicData uri="http://schemas.openxmlformats.org/drawingml/2006/table">
            <a:tbl>
              <a:tblPr/>
              <a:tblGrid>
                <a:gridCol w="2466975"/>
                <a:gridCol w="2495550"/>
              </a:tblGrid>
              <a:tr h="445770">
                <a:tc gridSpan="2">
                  <a:txBody>
                    <a:bodyPr/>
                    <a:p>
                      <a:pPr algn="ctr" rtl="0" eaLnBrk="0">
                        <a:buNone/>
                      </a:pPr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全集成中速</a:t>
                      </a:r>
                      <a:r>
                        <a:rPr lang="en-US" altLang="zh-CN" sz="1400" dirty="0"/>
                        <a:t>/Fully integrated Medium Speed</a:t>
                      </a:r>
                      <a:endParaRPr lang="en-US" altLang="zh-CN" sz="1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73C6"/>
                    </a:solidFill>
                  </a:tcPr>
                </a:tc>
                <a:tc hMerge="1">
                  <a:tcPr marL="0" marR="0" marT="0" marB="0" vert="horz" anchor="t">
                    <a:lnL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 rtl="0" eaLnBrk="0"/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输入端行星架连接方式</a:t>
                      </a:r>
                      <a:endParaRPr sz="1300" dirty="0"/>
                    </a:p>
                    <a:p>
                      <a:pPr algn="l" rtl="0" eaLnBrk="0"/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Input planetary gear carrier connection method</a:t>
                      </a:r>
                      <a:endParaRPr sz="1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螺栓销</a:t>
                      </a:r>
                      <a:endParaRPr sz="1300" dirty="0"/>
                    </a:p>
                    <a:p>
                      <a:pPr algn="l" rtl="0" eaLnBrk="0"/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00 t air</a:t>
                      </a:r>
                      <a:endParaRPr sz="1300" dirty="0"/>
                    </a:p>
                  </a:txBody>
                  <a:tcPr marL="0" marR="0" marT="0" marB="0" vert="horz" anchor="t">
                    <a:lnL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rtl="0" eaLnBrk="0"/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箱体连接方式</a:t>
                      </a:r>
                      <a:endParaRPr sz="1300" dirty="0"/>
                    </a:p>
                    <a:p>
                      <a:pPr algn="l" rtl="0" eaLnBrk="0"/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Box connection method</a:t>
                      </a:r>
                      <a:endParaRPr sz="13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螺栓销</a:t>
                      </a:r>
                      <a:endParaRPr sz="1300" dirty="0"/>
                    </a:p>
                    <a:p>
                      <a:pPr algn="l" rtl="0" eaLnBrk="0"/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00 t air</a:t>
                      </a:r>
                      <a:endParaRPr sz="13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 rtl="0" eaLnBrk="0"/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幼圆字体"/>
                          <a:ea typeface="幼圆字体"/>
                          <a:cs typeface="幼圆字体"/>
                        </a:rPr>
                        <a:t>电机连接方式</a:t>
                      </a:r>
                      <a:endParaRPr sz="1300" dirty="0"/>
                    </a:p>
                    <a:p>
                      <a:pPr algn="l" rtl="0" eaLnBrk="0"/>
                      <a:r>
                        <a:rPr sz="1200" kern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geabox transmission structure</a:t>
                      </a:r>
                      <a:endParaRPr sz="1200" kern="0" dirty="0">
                        <a:solidFill>
                          <a:srgbClr val="000000">
                            <a:alpha val="100000"/>
                          </a:srgb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与齿轮箱集成，无联轴器</a:t>
                      </a:r>
                      <a:endParaRPr sz="1300" dirty="0"/>
                    </a:p>
                    <a:p>
                      <a:pPr algn="l" rtl="0" eaLnBrk="0"/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Integrated with gearbox co coupling</a:t>
                      </a:r>
                      <a:endParaRPr sz="12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rtl="0" eaLnBrk="0"/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齿轮箱传动结构</a:t>
                      </a:r>
                      <a:endParaRPr sz="1300" dirty="0"/>
                    </a:p>
                    <a:p>
                      <a:pPr algn="l" rtl="0" eaLnBrk="0"/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gearbox transmission structure</a:t>
                      </a:r>
                      <a:endParaRPr sz="13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3P</a:t>
                      </a:r>
                      <a:endParaRPr sz="1300" dirty="0"/>
                    </a:p>
                    <a:p>
                      <a:pPr algn="l" rtl="0" eaLnBrk="0"/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3P</a:t>
                      </a:r>
                      <a:endParaRPr sz="13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 rtl="0" eaLnBrk="0"/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行星架轴承</a:t>
                      </a:r>
                      <a:endParaRPr sz="1300" dirty="0"/>
                    </a:p>
                    <a:p>
                      <a:pPr algn="l" rtl="0" eaLnBrk="0"/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planetary bearing</a:t>
                      </a:r>
                      <a:endParaRPr sz="13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无（主轴双TRB）</a:t>
                      </a:r>
                      <a:endParaRPr sz="1300" dirty="0"/>
                    </a:p>
                    <a:p>
                      <a:pPr algn="l" rtl="0" eaLnBrk="0"/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No (Dual TRB spindle)</a:t>
                      </a:r>
                      <a:endParaRPr sz="13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9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rtl="0" eaLnBrk="0"/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其它结构</a:t>
                      </a:r>
                      <a:endParaRPr sz="1300" dirty="0"/>
                    </a:p>
                    <a:p>
                      <a:pPr algn="l" rtl="0" eaLnBrk="0"/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Other structures</a:t>
                      </a:r>
                      <a:endParaRPr sz="13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输出轴密封</a:t>
                      </a:r>
                      <a:endParaRPr sz="1300" dirty="0"/>
                    </a:p>
                    <a:p>
                      <a:pPr algn="l" rtl="0" eaLnBrk="0"/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output shaft seal</a:t>
                      </a:r>
                      <a:endParaRPr sz="13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C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</a:tr>
            </a:tbl>
          </a:graphicData>
        </a:graphic>
      </p:graphicFrame>
      <p:cxnSp>
        <p:nvCxnSpPr>
          <p:cNvPr id="3" name="直接连接符 2"/>
          <p:cNvCxnSpPr/>
          <p:nvPr/>
        </p:nvCxnSpPr>
        <p:spPr>
          <a:xfrm>
            <a:off x="-6350" y="685800"/>
            <a:ext cx="12217400" cy="0"/>
          </a:xfrm>
          <a:prstGeom prst="line">
            <a:avLst/>
          </a:prstGeom>
          <a:ln w="1587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8600" y="1433830"/>
            <a:ext cx="11257280" cy="1718310"/>
          </a:xfrm>
          <a:prstGeom prst="rect">
            <a:avLst/>
          </a:prstGeom>
          <a:solidFill>
            <a:srgbClr val="2573C6"/>
          </a:solidFill>
          <a:ln>
            <a:solidFill>
              <a:srgbClr val="A6A6A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4" name="picture 26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14300"/>
            <a:ext cx="476250" cy="457200"/>
          </a:xfrm>
          <a:prstGeom prst="rect">
            <a:avLst/>
          </a:prstGeom>
        </p:spPr>
      </p:pic>
      <p:sp>
        <p:nvSpPr>
          <p:cNvPr id="266" name="textbox 266"/>
          <p:cNvSpPr/>
          <p:nvPr/>
        </p:nvSpPr>
        <p:spPr>
          <a:xfrm>
            <a:off x="923925" y="190500"/>
            <a:ext cx="4762500" cy="409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8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技术路线/</a:t>
            </a:r>
            <a:r>
              <a:rPr sz="24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Technical Approach</a:t>
            </a:r>
            <a:endParaRPr sz="2800" dirty="0"/>
          </a:p>
        </p:txBody>
      </p:sp>
      <p:pic>
        <p:nvPicPr>
          <p:cNvPr id="270" name="picture 2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9450" y="38100"/>
            <a:ext cx="1304925" cy="533400"/>
          </a:xfrm>
          <a:prstGeom prst="rect">
            <a:avLst/>
          </a:prstGeom>
        </p:spPr>
      </p:pic>
      <p:sp>
        <p:nvSpPr>
          <p:cNvPr id="272" name="textbox 272"/>
          <p:cNvSpPr/>
          <p:nvPr/>
        </p:nvSpPr>
        <p:spPr>
          <a:xfrm>
            <a:off x="247650" y="904875"/>
            <a:ext cx="6305550" cy="314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14325" indent="-285750" algn="l" rtl="0" eaLnBrk="0">
              <a:buAutoNum type="arabicPeriod" startAt="5"/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前集成双馈机组--结构介绍/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Pre-integrated dual feed</a:t>
            </a:r>
            <a:endParaRPr sz="2000" dirty="0"/>
          </a:p>
        </p:txBody>
      </p:sp>
      <p:sp>
        <p:nvSpPr>
          <p:cNvPr id="274" name="textbox 274"/>
          <p:cNvSpPr/>
          <p:nvPr/>
        </p:nvSpPr>
        <p:spPr>
          <a:xfrm>
            <a:off x="762000" y="1533525"/>
            <a:ext cx="10601325" cy="23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kern="0" spc="0" dirty="0">
                <a:solidFill>
                  <a:srgbClr val="D6F4F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前集成双馈机组齿轮箱一般为三级行星加一级平行级。输入端连接方式与全集成机组一致，输出端与发电机的连接形式与传动机组一致。</a:t>
            </a:r>
            <a:endParaRPr sz="1400" dirty="0"/>
          </a:p>
        </p:txBody>
      </p:sp>
      <p:sp>
        <p:nvSpPr>
          <p:cNvPr id="276" name="textbox 276"/>
          <p:cNvSpPr/>
          <p:nvPr/>
        </p:nvSpPr>
        <p:spPr>
          <a:xfrm>
            <a:off x="304800" y="1847850"/>
            <a:ext cx="10877550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438150" algn="l" rtl="0" eaLnBrk="0"/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gear box of the pre-integrated doubly-fed generator is usually a three-stage planetary gear box plus a parallel stage.</a:t>
            </a:r>
            <a:endParaRPr sz="1400" dirty="0"/>
          </a:p>
          <a:p>
            <a:pPr algn="l" rtl="0" eaLnBrk="0">
              <a:spcBef>
                <a:spcPts val="975"/>
              </a:spcBef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input connection is the same as that of the fully integrated generator, and the output connection is the same as that of the</a:t>
            </a:r>
            <a:endParaRPr sz="1400" dirty="0"/>
          </a:p>
          <a:p>
            <a:pPr algn="l" rtl="0" eaLnBrk="0">
              <a:spcBef>
                <a:spcPts val="975"/>
              </a:spcBef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transmission generator.</a:t>
            </a:r>
            <a:endParaRPr sz="1400" dirty="0"/>
          </a:p>
        </p:txBody>
      </p:sp>
      <p:pic>
        <p:nvPicPr>
          <p:cNvPr id="280" name="picture 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" y="3200400"/>
            <a:ext cx="5810250" cy="3276600"/>
          </a:xfrm>
          <a:prstGeom prst="rect">
            <a:avLst/>
          </a:prstGeom>
        </p:spPr>
      </p:pic>
      <p:graphicFrame>
        <p:nvGraphicFramePr>
          <p:cNvPr id="282" name="table 282"/>
          <p:cNvGraphicFramePr>
            <a:graphicFrameLocks noGrp="1"/>
          </p:cNvGraphicFramePr>
          <p:nvPr/>
        </p:nvGraphicFramePr>
        <p:xfrm>
          <a:off x="6543675" y="3209925"/>
          <a:ext cx="4962525" cy="3267075"/>
        </p:xfrm>
        <a:graphic>
          <a:graphicData uri="http://schemas.openxmlformats.org/drawingml/2006/table">
            <a:tbl>
              <a:tblPr/>
              <a:tblGrid>
                <a:gridCol w="2495550"/>
                <a:gridCol w="2466975"/>
              </a:tblGrid>
              <a:tr h="361950">
                <a:tc gridSpan="2">
                  <a:txBody>
                    <a:bodyPr/>
                    <a:lstStyle/>
                    <a:p>
                      <a:pPr algn="ctr" rtl="0" eaLnBrk="0">
                        <a:lnSpc>
                          <a:spcPct val="140000"/>
                        </a:lnSpc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前集成双馈/Pre-integrated dual feed</a:t>
                      </a:r>
                      <a:endParaRPr sz="1400" dirty="0"/>
                    </a:p>
                  </a:txBody>
                  <a:tcPr marL="0" marR="0" marT="0" marB="0" vert="horz" anchor="t">
                    <a:lnL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73C3"/>
                    </a:solidFill>
                  </a:tcPr>
                </a:tc>
                <a:tc hMerge="1">
                  <a:tcPr marL="0" marR="0" marT="0" marB="0" vert="horz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rtl="0" eaLnBrk="0"/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输入端行星架连接方式</a:t>
                      </a:r>
                      <a:endParaRPr sz="1400" dirty="0"/>
                    </a:p>
                    <a:p>
                      <a:pPr algn="l" rtl="0" eaLnBrk="0"/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In/out planetary gear carrier connection method</a:t>
                      </a:r>
                      <a:endParaRPr sz="1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螺栓销</a:t>
                      </a:r>
                      <a:endParaRPr sz="1400" dirty="0"/>
                    </a:p>
                    <a:p>
                      <a:pPr algn="l" rtl="0" eaLnBrk="0"/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bolt pin</a:t>
                      </a:r>
                      <a:endParaRPr sz="1400" dirty="0"/>
                    </a:p>
                  </a:txBody>
                  <a:tcPr marL="0" marR="0" marT="0" marB="0" vert="horz" anchor="t">
                    <a:lnL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rtl="0" eaLnBrk="0"/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箱体连接方式</a:t>
                      </a:r>
                      <a:endParaRPr sz="1400" dirty="0"/>
                    </a:p>
                    <a:p>
                      <a:pPr algn="l" rtl="0" eaLnBrk="0"/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Box connection method</a:t>
                      </a:r>
                      <a:endParaRPr sz="1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螺栓销</a:t>
                      </a:r>
                      <a:endParaRPr sz="1400" dirty="0"/>
                    </a:p>
                    <a:p>
                      <a:pPr algn="l" rtl="0" eaLnBrk="0"/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bolt pin</a:t>
                      </a:r>
                      <a:endParaRPr sz="1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l" rtl="0" eaLnBrk="0"/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电机连接方式</a:t>
                      </a:r>
                      <a:endParaRPr sz="1400" dirty="0"/>
                    </a:p>
                    <a:p>
                      <a:pPr algn="l" rtl="0" eaLnBrk="0"/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gearbox transmission structure</a:t>
                      </a:r>
                      <a:endParaRPr sz="1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联轴器</a:t>
                      </a:r>
                      <a:endParaRPr sz="1400" dirty="0"/>
                    </a:p>
                    <a:p>
                      <a:pPr algn="l" rtl="0" eaLnBrk="0"/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cluction</a:t>
                      </a:r>
                      <a:endParaRPr sz="1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rtl="0" eaLnBrk="0"/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齿轮箱传动结构</a:t>
                      </a:r>
                      <a:endParaRPr sz="1400" dirty="0"/>
                    </a:p>
                    <a:p>
                      <a:pPr algn="l" rtl="0" eaLnBrk="0"/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gearbox transmission structure</a:t>
                      </a:r>
                      <a:endParaRPr sz="1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1400" kern="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3P1H</a:t>
                      </a:r>
                      <a:endParaRPr sz="1400" dirty="0"/>
                    </a:p>
                    <a:p>
                      <a:pPr algn="l" rtl="0" eaLnBrk="0"/>
                      <a:r>
                        <a:rPr sz="1400" kern="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3P1F</a:t>
                      </a:r>
                      <a:endParaRPr sz="1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 rtl="0" eaLnBrk="0"/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行星架轴承</a:t>
                      </a:r>
                      <a:endParaRPr sz="1400" dirty="0"/>
                    </a:p>
                    <a:p>
                      <a:pPr algn="l" rtl="0" eaLnBrk="0"/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planetary gearing</a:t>
                      </a:r>
                      <a:endParaRPr sz="1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1400" kern="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无（主轴双TRB）</a:t>
                      </a:r>
                      <a:endParaRPr sz="1400" dirty="0"/>
                    </a:p>
                    <a:p>
                      <a:pPr algn="l" rtl="0" eaLnBrk="0"/>
                      <a:r>
                        <a:rPr sz="1400" kern="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No (Dual TRB spindle)</a:t>
                      </a:r>
                      <a:endParaRPr sz="1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9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 rtl="0" eaLnBrk="0"/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其它结构</a:t>
                      </a:r>
                      <a:endParaRPr sz="1400" dirty="0"/>
                    </a:p>
                    <a:p>
                      <a:pPr algn="l" rtl="0" eaLnBrk="0"/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Other structures</a:t>
                      </a:r>
                      <a:endParaRPr sz="1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1400" kern="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 /</a:t>
                      </a:r>
                      <a:endParaRPr sz="1400" dirty="0"/>
                    </a:p>
                  </a:txBody>
                  <a:tcPr marL="0" marR="0" marT="0" marB="0" vert="horz" anchor="b">
                    <a:lnL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</a:tr>
            </a:tbl>
          </a:graphicData>
        </a:graphic>
      </p:graphicFrame>
      <p:cxnSp>
        <p:nvCxnSpPr>
          <p:cNvPr id="3" name="直接连接符 2"/>
          <p:cNvCxnSpPr/>
          <p:nvPr/>
        </p:nvCxnSpPr>
        <p:spPr>
          <a:xfrm>
            <a:off x="-6350" y="685800"/>
            <a:ext cx="12217400" cy="0"/>
          </a:xfrm>
          <a:prstGeom prst="line">
            <a:avLst/>
          </a:prstGeom>
          <a:ln w="1587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picture 29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14300"/>
            <a:ext cx="476250" cy="457200"/>
          </a:xfrm>
          <a:prstGeom prst="rect">
            <a:avLst/>
          </a:prstGeom>
        </p:spPr>
      </p:pic>
      <p:sp>
        <p:nvSpPr>
          <p:cNvPr id="292" name="textbox 292"/>
          <p:cNvSpPr/>
          <p:nvPr/>
        </p:nvSpPr>
        <p:spPr>
          <a:xfrm>
            <a:off x="914400" y="190500"/>
            <a:ext cx="4772025" cy="428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8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技术路线/</a:t>
            </a:r>
            <a:r>
              <a:rPr sz="24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Technical Approach</a:t>
            </a:r>
            <a:endParaRPr sz="2800" dirty="0"/>
          </a:p>
        </p:txBody>
      </p:sp>
      <p:pic>
        <p:nvPicPr>
          <p:cNvPr id="296" name="picture 2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9450" y="38100"/>
            <a:ext cx="1304925" cy="533400"/>
          </a:xfrm>
          <a:prstGeom prst="rect">
            <a:avLst/>
          </a:prstGeom>
        </p:spPr>
      </p:pic>
      <p:sp>
        <p:nvSpPr>
          <p:cNvPr id="298" name="textbox 298"/>
          <p:cNvSpPr/>
          <p:nvPr/>
        </p:nvSpPr>
        <p:spPr>
          <a:xfrm>
            <a:off x="247650" y="904875"/>
            <a:ext cx="2381250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14325" indent="-276225" algn="l" rtl="0" eaLnBrk="0">
              <a:buAutoNum type="arabicPeriod" startAt="6"/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总结/Conclusion</a:t>
            </a:r>
            <a:endParaRPr sz="2000" dirty="0"/>
          </a:p>
        </p:txBody>
      </p:sp>
      <p:graphicFrame>
        <p:nvGraphicFramePr>
          <p:cNvPr id="300" name="table 300"/>
          <p:cNvGraphicFramePr>
            <a:graphicFrameLocks noGrp="1"/>
          </p:cNvGraphicFramePr>
          <p:nvPr/>
        </p:nvGraphicFramePr>
        <p:xfrm>
          <a:off x="838200" y="1362075"/>
          <a:ext cx="11137265" cy="4781550"/>
        </p:xfrm>
        <a:graphic>
          <a:graphicData uri="http://schemas.openxmlformats.org/drawingml/2006/table">
            <a:tbl>
              <a:tblPr/>
              <a:tblGrid>
                <a:gridCol w="2203450"/>
                <a:gridCol w="1195070"/>
                <a:gridCol w="1545590"/>
                <a:gridCol w="1556385"/>
                <a:gridCol w="1545590"/>
                <a:gridCol w="1545590"/>
                <a:gridCol w="1545590"/>
              </a:tblGrid>
              <a:tr h="876300">
                <a:tc>
                  <a:txBody>
                    <a:bodyPr/>
                    <a:lstStyle/>
                    <a:p>
                      <a:pPr algn="ctr" rtl="0" eaLnBrk="0"/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路线名称</a:t>
                      </a:r>
                      <a:endParaRPr sz="1800" dirty="0"/>
                    </a:p>
                    <a:p>
                      <a:pPr algn="ctr" rtl="0" eaLnBrk="0"/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Route Name</a:t>
                      </a:r>
                      <a:endParaRPr sz="1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>
                        <a:buClrTx/>
                        <a:buSzTx/>
                        <a:buNone/>
                      </a:pP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技术可靠性</a:t>
                      </a:r>
                      <a:endParaRPr sz="1800" kern="0" dirty="0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 rtl="0" eaLnBrk="0">
                        <a:buClrTx/>
                        <a:buSzTx/>
                        <a:buNone/>
                      </a:pP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Technical</a:t>
                      </a:r>
                      <a:endParaRPr sz="1800" kern="0" dirty="0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 rtl="0" eaLnBrk="0">
                        <a:buClrTx/>
                        <a:buSzTx/>
                        <a:buNone/>
                      </a:pP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Reliability</a:t>
                      </a:r>
                      <a:endParaRPr sz="1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7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>
                        <a:buClrTx/>
                        <a:buSzTx/>
                        <a:buNone/>
                      </a:pP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易制造性</a:t>
                      </a:r>
                      <a:endParaRPr sz="1800" kern="0" dirty="0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 rtl="0" eaLnBrk="0">
                        <a:buClrTx/>
                        <a:buSzTx/>
                        <a:buNone/>
                      </a:pP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Manufactur</a:t>
                      </a:r>
                      <a:endParaRPr sz="1800" kern="0" dirty="0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 rtl="0" eaLnBrk="0">
                        <a:buClrTx/>
                        <a:buSzTx/>
                        <a:buNone/>
                      </a:pP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ability</a:t>
                      </a:r>
                      <a:endParaRPr sz="1800" kern="0" dirty="0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F7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>
                        <a:buClrTx/>
                        <a:buSzTx/>
                        <a:buNone/>
                      </a:pP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紧凑型</a:t>
                      </a:r>
                      <a:endParaRPr sz="1800" kern="0" dirty="0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 rtl="0" eaLnBrk="0">
                        <a:buClrTx/>
                        <a:buSzTx/>
                        <a:buNone/>
                      </a:pP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Compactne</a:t>
                      </a:r>
                      <a:endParaRPr sz="1800" kern="0" dirty="0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 rtl="0" eaLnBrk="0">
                        <a:buClrTx/>
                        <a:buSzTx/>
                        <a:buNone/>
                      </a:pP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ss</a:t>
                      </a:r>
                      <a:endParaRPr sz="1800" kern="0" dirty="0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E7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>
                        <a:buClrTx/>
                        <a:buSzTx/>
                        <a:buNone/>
                      </a:pP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可维护性</a:t>
                      </a:r>
                      <a:endParaRPr sz="1800" kern="0" dirty="0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 rtl="0" eaLnBrk="0">
                        <a:buClrTx/>
                        <a:buSzTx/>
                        <a:buNone/>
                      </a:pP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Maintainability</a:t>
                      </a:r>
                      <a:endParaRPr sz="1800" kern="0" dirty="0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7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整机成本</a:t>
                      </a:r>
                      <a:endParaRPr sz="1800" dirty="0"/>
                    </a:p>
                    <a:p>
                      <a:pPr algn="ctr" rtl="0" eaLnBrk="0"/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Total Cost</a:t>
                      </a:r>
                      <a:endParaRPr sz="1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C8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综合</a:t>
                      </a:r>
                      <a:endParaRPr sz="1800" dirty="0"/>
                    </a:p>
                    <a:p>
                      <a:pPr algn="ctr" rtl="0" eaLnBrk="0"/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Overall</a:t>
                      </a:r>
                      <a:endParaRPr sz="1800" dirty="0"/>
                    </a:p>
                    <a:p>
                      <a:pPr algn="ctr" rtl="0" eaLnBrk="0"/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Rating</a:t>
                      </a:r>
                      <a:endParaRPr sz="1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7D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ctr" rtl="0" eaLnBrk="0"/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SCD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14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A"/>
                    </a:solidFill>
                  </a:tcPr>
                </a:tc>
              </a:tr>
              <a:tr h="901700">
                <a:tc>
                  <a:txBody>
                    <a:bodyPr/>
                    <a:lstStyle/>
                    <a:p>
                      <a:pPr algn="ctr" rtl="0" eaLnBrk="0">
                        <a:lnSpc>
                          <a:spcPct val="90000"/>
                        </a:lnSpc>
                      </a:pPr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传统双馈</a:t>
                      </a:r>
                      <a:endParaRPr sz="2000" dirty="0"/>
                    </a:p>
                    <a:p>
                      <a:pPr algn="ctr" rtl="0" eaLnBrk="0">
                        <a:lnSpc>
                          <a:spcPct val="90000"/>
                        </a:lnSpc>
                      </a:pPr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Traditional Dual</a:t>
                      </a:r>
                      <a:endParaRPr sz="2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 rtl="0" eaLnBrk="0">
                        <a:lnSpc>
                          <a:spcPct val="90000"/>
                        </a:lnSpc>
                      </a:pPr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 Feed</a:t>
                      </a:r>
                      <a:endParaRPr sz="2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000" kern="0" spc="0" dirty="0">
                          <a:solidFill>
                            <a:srgbClr val="262626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3.5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18.5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</a:tr>
              <a:tr h="998220">
                <a:tc>
                  <a:txBody>
                    <a:bodyPr/>
                    <a:lstStyle/>
                    <a:p>
                      <a:pPr algn="ctr" rtl="0" eaLnBrk="0">
                        <a:lnSpc>
                          <a:spcPct val="80000"/>
                        </a:lnSpc>
                      </a:pPr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四点支撑中速</a:t>
                      </a:r>
                      <a:endParaRPr sz="2000" dirty="0"/>
                    </a:p>
                    <a:p>
                      <a:pPr algn="ctr" rtl="0" eaLnBrk="0">
                        <a:lnSpc>
                          <a:spcPct val="80000"/>
                        </a:lnSpc>
                      </a:pPr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Four-point</a:t>
                      </a:r>
                      <a:endParaRPr sz="2000" kern="0" dirty="0">
                        <a:solidFill>
                          <a:srgbClr val="000000">
                            <a:alpha val="100000"/>
                          </a:srgbClr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  <a:p>
                      <a:pPr algn="ctr" rtl="0" eaLnBrk="0">
                        <a:lnSpc>
                          <a:spcPct val="80000"/>
                        </a:lnSpc>
                      </a:pPr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 Support at</a:t>
                      </a:r>
                      <a:endParaRPr sz="2000" kern="0" dirty="0">
                        <a:solidFill>
                          <a:srgbClr val="000000">
                            <a:alpha val="100000"/>
                          </a:srgbClr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  <a:p>
                      <a:pPr algn="ctr" rtl="0" eaLnBrk="0">
                        <a:lnSpc>
                          <a:spcPct val="80000"/>
                        </a:lnSpc>
                      </a:pPr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 Medium Speed</a:t>
                      </a:r>
                      <a:endParaRPr sz="2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D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4.5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000" kern="0" spc="0" dirty="0">
                          <a:solidFill>
                            <a:srgbClr val="262626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19.5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A"/>
                    </a:solidFill>
                  </a:tcPr>
                </a:tc>
              </a:tr>
              <a:tr h="901700">
                <a:tc>
                  <a:txBody>
                    <a:bodyPr/>
                    <a:lstStyle/>
                    <a:p>
                      <a:pPr algn="ctr" rtl="0" eaLnBrk="0">
                        <a:lnSpc>
                          <a:spcPct val="90000"/>
                        </a:lnSpc>
                      </a:pPr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全集成中速</a:t>
                      </a:r>
                      <a:endParaRPr sz="2000" dirty="0"/>
                    </a:p>
                    <a:p>
                      <a:pPr algn="ctr" rtl="0" eaLnBrk="0">
                        <a:lnSpc>
                          <a:spcPct val="90000"/>
                        </a:lnSpc>
                      </a:pPr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Fully Integrated</a:t>
                      </a:r>
                      <a:endParaRPr sz="2000" kern="0" dirty="0">
                        <a:solidFill>
                          <a:srgbClr val="000000">
                            <a:alpha val="100000"/>
                          </a:srgbClr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  <a:p>
                      <a:pPr algn="ctr" rtl="0" eaLnBrk="0">
                        <a:lnSpc>
                          <a:spcPct val="90000"/>
                        </a:lnSpc>
                      </a:pPr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 Medium speed</a:t>
                      </a:r>
                      <a:endParaRPr sz="2000" kern="0" dirty="0">
                        <a:solidFill>
                          <a:srgbClr val="000000">
                            <a:alpha val="100000"/>
                          </a:srgbClr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000" kern="0" spc="0" dirty="0">
                          <a:solidFill>
                            <a:srgbClr val="262626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4.5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4.5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EC"/>
                    </a:solidFill>
                  </a:tcPr>
                </a:tc>
              </a:tr>
              <a:tr h="788670">
                <a:tc>
                  <a:txBody>
                    <a:bodyPr/>
                    <a:lstStyle/>
                    <a:p>
                      <a:pPr algn="ctr" rtl="0" eaLnBrk="0">
                        <a:lnSpc>
                          <a:spcPct val="80000"/>
                        </a:lnSpc>
                      </a:pPr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前集成双馈</a:t>
                      </a:r>
                      <a:endParaRPr sz="1800" dirty="0"/>
                    </a:p>
                    <a:p>
                      <a:pPr algn="ctr" rtl="0" eaLnBrk="0">
                        <a:lnSpc>
                          <a:spcPct val="80000"/>
                        </a:lnSpc>
                      </a:pPr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pre-integrated</a:t>
                      </a:r>
                      <a:endParaRPr sz="2000" kern="0" dirty="0">
                        <a:solidFill>
                          <a:srgbClr val="000000">
                            <a:alpha val="100000"/>
                          </a:srgbClr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  <a:p>
                      <a:pPr algn="ctr" rtl="0" eaLnBrk="0">
                        <a:lnSpc>
                          <a:spcPct val="80000"/>
                        </a:lnSpc>
                      </a:pPr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 dual feed</a:t>
                      </a:r>
                      <a:endParaRPr sz="2000" kern="0" dirty="0">
                        <a:solidFill>
                          <a:srgbClr val="000000">
                            <a:alpha val="100000"/>
                          </a:srgbClr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D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3.5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000" kern="0" spc="0" dirty="0">
                          <a:solidFill>
                            <a:srgbClr val="262626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19.5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A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DA"/>
                    </a:solidFill>
                  </a:tcPr>
                </a:tc>
              </a:tr>
            </a:tbl>
          </a:graphicData>
        </a:graphic>
      </p:graphicFrame>
      <p:sp>
        <p:nvSpPr>
          <p:cNvPr id="302" name="textbox 302"/>
          <p:cNvSpPr/>
          <p:nvPr/>
        </p:nvSpPr>
        <p:spPr>
          <a:xfrm>
            <a:off x="838200" y="6162675"/>
            <a:ext cx="2190750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一家之言，仅供参考。</a:t>
            </a:r>
            <a:endParaRPr sz="1800" kern="0" spc="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304" name="textbox 304"/>
          <p:cNvSpPr/>
          <p:nvPr/>
        </p:nvSpPr>
        <p:spPr>
          <a:xfrm>
            <a:off x="838200" y="6448425"/>
            <a:ext cx="3324225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This is just one persons opinion.</a:t>
            </a:r>
            <a:endParaRPr sz="1800" dirty="0"/>
          </a:p>
        </p:txBody>
      </p:sp>
      <p:cxnSp>
        <p:nvCxnSpPr>
          <p:cNvPr id="3" name="直接连接符 2"/>
          <p:cNvCxnSpPr/>
          <p:nvPr/>
        </p:nvCxnSpPr>
        <p:spPr>
          <a:xfrm>
            <a:off x="-6350" y="685800"/>
            <a:ext cx="12217400" cy="0"/>
          </a:xfrm>
          <a:prstGeom prst="line">
            <a:avLst/>
          </a:prstGeom>
          <a:ln w="1587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635"/>
            <a:ext cx="4289425" cy="6858635"/>
          </a:xfrm>
          <a:prstGeom prst="rect">
            <a:avLst/>
          </a:prstGeom>
          <a:solidFill>
            <a:srgbClr val="2573C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4225" y="38100"/>
            <a:ext cx="1200150" cy="495300"/>
          </a:xfrm>
          <a:prstGeom prst="rect">
            <a:avLst/>
          </a:prstGeom>
        </p:spPr>
      </p:pic>
      <p:sp>
        <p:nvSpPr>
          <p:cNvPr id="18" name="textbox 18"/>
          <p:cNvSpPr/>
          <p:nvPr/>
        </p:nvSpPr>
        <p:spPr>
          <a:xfrm rot="5400000">
            <a:off x="827405" y="2030730"/>
            <a:ext cx="2936875" cy="18973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ctr" rtl="0" eaLnBrk="0"/>
            <a:r>
              <a:rPr sz="54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content</a:t>
            </a:r>
            <a:endParaRPr sz="5400" b="1" kern="0" spc="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rtl="0" eaLnBrk="0"/>
            <a:r>
              <a:rPr lang="zh-CN" altLang="en-US" sz="7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目</a:t>
            </a:r>
            <a:r>
              <a:rPr lang="en-US" altLang="zh-CN" sz="7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7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录</a:t>
            </a:r>
            <a:endParaRPr lang="zh-CN" altLang="en-US" sz="7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20"/>
          <p:cNvSpPr/>
          <p:nvPr>
            <p:custDataLst>
              <p:tags r:id="rId2"/>
            </p:custDataLst>
          </p:nvPr>
        </p:nvSpPr>
        <p:spPr>
          <a:xfrm>
            <a:off x="6486525" y="1866900"/>
            <a:ext cx="5686425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A6A6A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发展现状/Current Development Status</a:t>
            </a:r>
            <a:endParaRPr sz="2400" b="1" kern="0" dirty="0">
              <a:solidFill>
                <a:srgbClr val="A6A6A6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菱形 16"/>
          <p:cNvSpPr/>
          <p:nvPr>
            <p:custDataLst>
              <p:tags r:id="rId3"/>
            </p:custDataLst>
          </p:nvPr>
        </p:nvSpPr>
        <p:spPr>
          <a:xfrm>
            <a:off x="5596255" y="1720850"/>
            <a:ext cx="685800" cy="673100"/>
          </a:xfrm>
          <a:prstGeom prst="diamond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22" name="textbox 22"/>
          <p:cNvSpPr/>
          <p:nvPr>
            <p:custDataLst>
              <p:tags r:id="rId4"/>
            </p:custDataLst>
          </p:nvPr>
        </p:nvSpPr>
        <p:spPr>
          <a:xfrm>
            <a:off x="5762625" y="1878965"/>
            <a:ext cx="276225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 kern="0" spc="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4"/>
          <p:cNvSpPr/>
          <p:nvPr>
            <p:custDataLst>
              <p:tags r:id="rId5"/>
            </p:custDataLst>
          </p:nvPr>
        </p:nvSpPr>
        <p:spPr>
          <a:xfrm>
            <a:off x="6477000" y="3114675"/>
            <a:ext cx="4362450" cy="40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A6A6A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技术路线/Technical Approach</a:t>
            </a:r>
            <a:endParaRPr sz="2400" b="1" kern="0" dirty="0">
              <a:solidFill>
                <a:srgbClr val="A6A6A6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8"/>
          <p:cNvSpPr/>
          <p:nvPr>
            <p:custDataLst>
              <p:tags r:id="rId6"/>
            </p:custDataLst>
          </p:nvPr>
        </p:nvSpPr>
        <p:spPr>
          <a:xfrm>
            <a:off x="6515100" y="4448175"/>
            <a:ext cx="4095750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关键技术/Key Technologies</a:t>
            </a:r>
            <a:endParaRPr sz="2400" b="1" kern="0" dirty="0">
              <a:solidFill>
                <a:srgbClr val="262626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2"/>
          <p:cNvSpPr/>
          <p:nvPr>
            <p:custDataLst>
              <p:tags r:id="rId7"/>
            </p:custDataLst>
          </p:nvPr>
        </p:nvSpPr>
        <p:spPr>
          <a:xfrm>
            <a:off x="6534150" y="5610225"/>
            <a:ext cx="5191125" cy="40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A6A6A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攻关与挑战/Research &amp; Challenges</a:t>
            </a:r>
            <a:endParaRPr sz="2400" dirty="0"/>
          </a:p>
        </p:txBody>
      </p:sp>
      <p:sp>
        <p:nvSpPr>
          <p:cNvPr id="3" name="矩形 2"/>
          <p:cNvSpPr/>
          <p:nvPr/>
        </p:nvSpPr>
        <p:spPr>
          <a:xfrm>
            <a:off x="1346835" y="1511935"/>
            <a:ext cx="1898015" cy="2936240"/>
          </a:xfrm>
          <a:prstGeom prst="rect">
            <a:avLst/>
          </a:prstGeom>
          <a:noFill/>
          <a:ln w="3810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573C6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>
            <p:custDataLst>
              <p:tags r:id="rId8"/>
            </p:custDataLst>
          </p:nvPr>
        </p:nvCxnSpPr>
        <p:spPr>
          <a:xfrm>
            <a:off x="6433820" y="3695700"/>
            <a:ext cx="3257550" cy="0"/>
          </a:xfrm>
          <a:prstGeom prst="line">
            <a:avLst/>
          </a:prstGeom>
          <a:ln w="1587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9"/>
            </p:custDataLst>
          </p:nvPr>
        </p:nvCxnSpPr>
        <p:spPr>
          <a:xfrm>
            <a:off x="6433820" y="2501900"/>
            <a:ext cx="3257550" cy="0"/>
          </a:xfrm>
          <a:prstGeom prst="line">
            <a:avLst/>
          </a:prstGeom>
          <a:ln w="1587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10"/>
            </p:custDataLst>
          </p:nvPr>
        </p:nvCxnSpPr>
        <p:spPr>
          <a:xfrm>
            <a:off x="6433820" y="5048250"/>
            <a:ext cx="3257550" cy="0"/>
          </a:xfrm>
          <a:prstGeom prst="line">
            <a:avLst/>
          </a:prstGeom>
          <a:ln w="1587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>
            <p:custDataLst>
              <p:tags r:id="rId11"/>
            </p:custDataLst>
          </p:nvPr>
        </p:nvCxnSpPr>
        <p:spPr>
          <a:xfrm>
            <a:off x="6433820" y="6267450"/>
            <a:ext cx="3257550" cy="0"/>
          </a:xfrm>
          <a:prstGeom prst="line">
            <a:avLst/>
          </a:prstGeom>
          <a:ln w="1587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菱形 39"/>
          <p:cNvSpPr/>
          <p:nvPr>
            <p:custDataLst>
              <p:tags r:id="rId12"/>
            </p:custDataLst>
          </p:nvPr>
        </p:nvSpPr>
        <p:spPr>
          <a:xfrm>
            <a:off x="5596255" y="2982595"/>
            <a:ext cx="685800" cy="673100"/>
          </a:xfrm>
          <a:prstGeom prst="diamond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41" name="textbox 22"/>
          <p:cNvSpPr/>
          <p:nvPr>
            <p:custDataLst>
              <p:tags r:id="rId13"/>
            </p:custDataLst>
          </p:nvPr>
        </p:nvSpPr>
        <p:spPr>
          <a:xfrm>
            <a:off x="5762625" y="3140710"/>
            <a:ext cx="276225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sz="2400" b="1" kern="0" spc="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菱形 41"/>
          <p:cNvSpPr/>
          <p:nvPr>
            <p:custDataLst>
              <p:tags r:id="rId14"/>
            </p:custDataLst>
          </p:nvPr>
        </p:nvSpPr>
        <p:spPr>
          <a:xfrm>
            <a:off x="5596255" y="4307205"/>
            <a:ext cx="685800" cy="673100"/>
          </a:xfrm>
          <a:prstGeom prst="diamond">
            <a:avLst/>
          </a:prstGeom>
          <a:solidFill>
            <a:srgbClr val="2573C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43" name="textbox 22"/>
          <p:cNvSpPr/>
          <p:nvPr>
            <p:custDataLst>
              <p:tags r:id="rId15"/>
            </p:custDataLst>
          </p:nvPr>
        </p:nvSpPr>
        <p:spPr>
          <a:xfrm>
            <a:off x="5762625" y="4465320"/>
            <a:ext cx="276225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sz="2400" b="1" kern="0" spc="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菱形 43"/>
          <p:cNvSpPr/>
          <p:nvPr>
            <p:custDataLst>
              <p:tags r:id="rId16"/>
            </p:custDataLst>
          </p:nvPr>
        </p:nvSpPr>
        <p:spPr>
          <a:xfrm>
            <a:off x="5596255" y="5473700"/>
            <a:ext cx="685800" cy="673100"/>
          </a:xfrm>
          <a:prstGeom prst="diamond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45" name="textbox 22"/>
          <p:cNvSpPr/>
          <p:nvPr>
            <p:custDataLst>
              <p:tags r:id="rId17"/>
            </p:custDataLst>
          </p:nvPr>
        </p:nvSpPr>
        <p:spPr>
          <a:xfrm>
            <a:off x="5762625" y="5631815"/>
            <a:ext cx="276225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en-US" sz="2400" b="1" kern="0" spc="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picture 3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46" name="picture 3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323850"/>
            <a:ext cx="476250" cy="466725"/>
          </a:xfrm>
          <a:prstGeom prst="rect">
            <a:avLst/>
          </a:prstGeom>
        </p:spPr>
      </p:pic>
      <p:sp>
        <p:nvSpPr>
          <p:cNvPr id="348" name="textbox 348"/>
          <p:cNvSpPr/>
          <p:nvPr/>
        </p:nvSpPr>
        <p:spPr>
          <a:xfrm>
            <a:off x="1304925" y="400050"/>
            <a:ext cx="4457700" cy="428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8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关键技术/</a:t>
            </a:r>
            <a:r>
              <a:rPr sz="27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Key Technologies</a:t>
            </a:r>
            <a:endParaRPr sz="2800" dirty="0"/>
          </a:p>
        </p:txBody>
      </p:sp>
      <p:pic>
        <p:nvPicPr>
          <p:cNvPr id="352" name="picture 3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4225" y="47625"/>
            <a:ext cx="1190625" cy="476250"/>
          </a:xfrm>
          <a:prstGeom prst="rect">
            <a:avLst/>
          </a:prstGeom>
        </p:spPr>
      </p:pic>
      <p:sp>
        <p:nvSpPr>
          <p:cNvPr id="354" name="textbox 354"/>
          <p:cNvSpPr/>
          <p:nvPr/>
        </p:nvSpPr>
        <p:spPr>
          <a:xfrm>
            <a:off x="1733550" y="1133475"/>
            <a:ext cx="8096250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900" b="1" kern="0" spc="0" dirty="0">
                <a:solidFill>
                  <a:srgbClr val="1768A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轴系与齿轮箱集成是必然趋势，目前最大前集成双馈齿轮箱已至20MW。</a:t>
            </a:r>
            <a:endParaRPr sz="1900" dirty="0"/>
          </a:p>
        </p:txBody>
      </p:sp>
      <p:sp>
        <p:nvSpPr>
          <p:cNvPr id="356" name="textbox 356"/>
          <p:cNvSpPr/>
          <p:nvPr/>
        </p:nvSpPr>
        <p:spPr>
          <a:xfrm>
            <a:off x="1724025" y="1524000"/>
            <a:ext cx="7610475" cy="219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900" b="1" u="sng" kern="0" spc="0" dirty="0">
                <a:solidFill>
                  <a:srgbClr val="40749B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integration of the shaft system with the gearbox is an inevitable trend.</a:t>
            </a:r>
            <a:endParaRPr sz="1900" dirty="0"/>
          </a:p>
        </p:txBody>
      </p:sp>
      <p:sp>
        <p:nvSpPr>
          <p:cNvPr id="358" name="textbox 358"/>
          <p:cNvSpPr/>
          <p:nvPr/>
        </p:nvSpPr>
        <p:spPr>
          <a:xfrm>
            <a:off x="1733550" y="1885950"/>
            <a:ext cx="7991475" cy="228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u="sng" kern="0" spc="0" dirty="0">
                <a:solidFill>
                  <a:srgbClr val="40749B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Currently, the largest front-integrated doubly-fed gearbox has reached 20MW.</a:t>
            </a:r>
            <a:endParaRPr sz="1800" dirty="0"/>
          </a:p>
        </p:txBody>
      </p:sp>
      <p:sp>
        <p:nvSpPr>
          <p:cNvPr id="360" name="textbox 360"/>
          <p:cNvSpPr/>
          <p:nvPr/>
        </p:nvSpPr>
        <p:spPr>
          <a:xfrm>
            <a:off x="2914650" y="2571750"/>
            <a:ext cx="5848350" cy="257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kern="0" spc="0" dirty="0">
                <a:solidFill>
                  <a:srgbClr val="898989">
                    <a:alpha val="100000"/>
                  </a:srgbClr>
                </a:solidFill>
                <a:latin typeface="Garamond" panose="02020404030301010803"/>
                <a:ea typeface="Garamond" panose="02020404030301010803"/>
                <a:cs typeface="Garamond" panose="02020404030301010803"/>
              </a:rPr>
              <a:t>10MW前集成齿轮箱（相对于三点支撑）降本金额25万元</a:t>
            </a:r>
            <a:endParaRPr kern="0" dirty="0">
              <a:solidFill>
                <a:srgbClr val="898989">
                  <a:alpha val="100000"/>
                </a:srgbClr>
              </a:solidFill>
              <a:latin typeface="Garamond" panose="02020404030301010803"/>
              <a:ea typeface="Garamond" panose="02020404030301010803"/>
              <a:cs typeface="Garamond" panose="02020404030301010803"/>
            </a:endParaRPr>
          </a:p>
        </p:txBody>
      </p:sp>
      <p:sp>
        <p:nvSpPr>
          <p:cNvPr id="362" name="textbox 362"/>
          <p:cNvSpPr/>
          <p:nvPr/>
        </p:nvSpPr>
        <p:spPr>
          <a:xfrm>
            <a:off x="2219325" y="2981325"/>
            <a:ext cx="7229475" cy="533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kern="0" spc="0" dirty="0">
                <a:solidFill>
                  <a:srgbClr val="898989">
                    <a:alpha val="100000"/>
                  </a:srgbClr>
                </a:solidFill>
                <a:latin typeface="Garamond" panose="02020404030301010803"/>
                <a:ea typeface="Garamond" panose="02020404030301010803"/>
                <a:cs typeface="Garamond" panose="02020404030301010803"/>
              </a:rPr>
              <a:t>The 10MW pre-integrated gearbox (compared to three-point support) reduces costs by</a:t>
            </a:r>
            <a:endParaRPr sz="1600" dirty="0"/>
          </a:p>
          <a:p>
            <a:pPr marL="3009900" algn="l" rtl="0" eaLnBrk="0">
              <a:spcBef>
                <a:spcPts val="675"/>
              </a:spcBef>
            </a:pPr>
            <a:r>
              <a:rPr sz="1600" kern="0" spc="0" dirty="0">
                <a:solidFill>
                  <a:srgbClr val="898989">
                    <a:alpha val="100000"/>
                  </a:srgbClr>
                </a:solidFill>
                <a:latin typeface="Garamond" panose="02020404030301010803"/>
                <a:ea typeface="Garamond" panose="02020404030301010803"/>
                <a:cs typeface="Garamond" panose="02020404030301010803"/>
              </a:rPr>
              <a:t>250,000 yuan</a:t>
            </a:r>
            <a:endParaRPr sz="1600" dirty="0"/>
          </a:p>
        </p:txBody>
      </p:sp>
      <p:pic>
        <p:nvPicPr>
          <p:cNvPr id="366" name="picture 3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825" y="3609975"/>
            <a:ext cx="9010650" cy="2533650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387350" y="849630"/>
            <a:ext cx="11370945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picture 3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025" y="314325"/>
            <a:ext cx="495300" cy="485775"/>
          </a:xfrm>
          <a:prstGeom prst="rect">
            <a:avLst/>
          </a:prstGeom>
        </p:spPr>
      </p:pic>
      <p:sp>
        <p:nvSpPr>
          <p:cNvPr id="376" name="textbox 376"/>
          <p:cNvSpPr/>
          <p:nvPr/>
        </p:nvSpPr>
        <p:spPr>
          <a:xfrm>
            <a:off x="1295400" y="400050"/>
            <a:ext cx="4467225" cy="438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8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关键技术/Key Technologies</a:t>
            </a:r>
            <a:endParaRPr sz="2800" dirty="0"/>
          </a:p>
        </p:txBody>
      </p:sp>
      <p:pic>
        <p:nvPicPr>
          <p:cNvPr id="380" name="picture 3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4225" y="38100"/>
            <a:ext cx="1200150" cy="485775"/>
          </a:xfrm>
          <a:prstGeom prst="rect">
            <a:avLst/>
          </a:prstGeom>
        </p:spPr>
      </p:pic>
      <p:pic>
        <p:nvPicPr>
          <p:cNvPr id="384" name="picture 384"/>
          <p:cNvPicPr>
            <a:picLocks noChangeAspect="1"/>
          </p:cNvPicPr>
          <p:nvPr/>
        </p:nvPicPr>
        <p:blipFill>
          <a:blip r:embed="rId3"/>
          <a:srcRect t="35702" r="87755" b="36270"/>
          <a:stretch>
            <a:fillRect/>
          </a:stretch>
        </p:blipFill>
        <p:spPr>
          <a:xfrm>
            <a:off x="514350" y="3400425"/>
            <a:ext cx="1428750" cy="1503045"/>
          </a:xfrm>
          <a:prstGeom prst="rect">
            <a:avLst/>
          </a:prstGeom>
        </p:spPr>
      </p:pic>
      <p:sp>
        <p:nvSpPr>
          <p:cNvPr id="386" name="textbox 386"/>
          <p:cNvSpPr/>
          <p:nvPr/>
        </p:nvSpPr>
        <p:spPr>
          <a:xfrm>
            <a:off x="1609725" y="1466850"/>
            <a:ext cx="942975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1F74AD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1~2MW</a:t>
            </a:r>
            <a:endParaRPr sz="2000" dirty="0"/>
          </a:p>
        </p:txBody>
      </p:sp>
      <p:sp>
        <p:nvSpPr>
          <p:cNvPr id="388" name="textbox 388"/>
          <p:cNvSpPr/>
          <p:nvPr/>
        </p:nvSpPr>
        <p:spPr>
          <a:xfrm>
            <a:off x="7105650" y="1600200"/>
            <a:ext cx="1847850" cy="466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800" b="1" kern="0" spc="0" dirty="0">
                <a:solidFill>
                  <a:srgbClr val="3376A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多行星应用</a:t>
            </a:r>
            <a:endParaRPr sz="2800" dirty="0"/>
          </a:p>
        </p:txBody>
      </p:sp>
      <p:sp>
        <p:nvSpPr>
          <p:cNvPr id="390" name="textbox 390"/>
          <p:cNvSpPr/>
          <p:nvPr/>
        </p:nvSpPr>
        <p:spPr>
          <a:xfrm>
            <a:off x="1333500" y="1781175"/>
            <a:ext cx="1504950" cy="228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多为3、4个行星轮</a:t>
            </a:r>
            <a:endParaRPr sz="1400" dirty="0"/>
          </a:p>
        </p:txBody>
      </p:sp>
      <p:sp>
        <p:nvSpPr>
          <p:cNvPr id="392" name="textbox 392"/>
          <p:cNvSpPr/>
          <p:nvPr/>
        </p:nvSpPr>
        <p:spPr>
          <a:xfrm>
            <a:off x="1152525" y="2009775"/>
            <a:ext cx="1876425" cy="228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200" kern="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Most of them are 3 or 4</a:t>
            </a:r>
            <a:endParaRPr sz="1200" dirty="0"/>
          </a:p>
        </p:txBody>
      </p:sp>
      <p:sp>
        <p:nvSpPr>
          <p:cNvPr id="394" name="textbox 394"/>
          <p:cNvSpPr/>
          <p:nvPr/>
        </p:nvSpPr>
        <p:spPr>
          <a:xfrm>
            <a:off x="3295650" y="2038350"/>
            <a:ext cx="952500" cy="314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1F74AD">
                    <a:alpha val="100000"/>
                  </a:srgb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5~6MW</a:t>
            </a:r>
            <a:endParaRPr sz="2000" dirty="0"/>
          </a:p>
        </p:txBody>
      </p:sp>
      <p:sp>
        <p:nvSpPr>
          <p:cNvPr id="396" name="textbox 396"/>
          <p:cNvSpPr/>
          <p:nvPr/>
        </p:nvSpPr>
        <p:spPr>
          <a:xfrm>
            <a:off x="7134225" y="2076450"/>
            <a:ext cx="4295775" cy="438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u="sng" kern="0" spc="0" dirty="0">
                <a:solidFill>
                  <a:srgbClr val="2E75B6">
                    <a:alpha val="100000"/>
                  </a:srgbClr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Multi-planet Application</a:t>
            </a:r>
            <a:endParaRPr sz="3200" dirty="0"/>
          </a:p>
        </p:txBody>
      </p:sp>
      <p:sp>
        <p:nvSpPr>
          <p:cNvPr id="398" name="textbox 398"/>
          <p:cNvSpPr/>
          <p:nvPr/>
        </p:nvSpPr>
        <p:spPr>
          <a:xfrm>
            <a:off x="1371600" y="2209800"/>
            <a:ext cx="1428750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300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planetary wheel</a:t>
            </a:r>
            <a:endParaRPr sz="1300" dirty="0"/>
          </a:p>
        </p:txBody>
      </p:sp>
      <p:sp>
        <p:nvSpPr>
          <p:cNvPr id="400" name="textbox 400"/>
          <p:cNvSpPr/>
          <p:nvPr/>
        </p:nvSpPr>
        <p:spPr>
          <a:xfrm>
            <a:off x="3057525" y="2324100"/>
            <a:ext cx="1457325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kern="0" spc="0" dirty="0">
                <a:solidFill>
                  <a:srgbClr val="5F5F5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多为4~7个行星轮</a:t>
            </a:r>
            <a:endParaRPr sz="1400" dirty="0"/>
          </a:p>
        </p:txBody>
      </p:sp>
      <p:sp>
        <p:nvSpPr>
          <p:cNvPr id="402" name="textbox 402"/>
          <p:cNvSpPr/>
          <p:nvPr/>
        </p:nvSpPr>
        <p:spPr>
          <a:xfrm>
            <a:off x="2714625" y="2581275"/>
            <a:ext cx="2143125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kern="0" spc="0" dirty="0">
                <a:solidFill>
                  <a:srgbClr val="73737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Roboto"/>
              </a:rPr>
              <a:t>Most have 4 to 7 planetary</a:t>
            </a:r>
            <a:endParaRPr sz="1400" kern="0" spc="0" dirty="0">
              <a:solidFill>
                <a:srgbClr val="737373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Roboto"/>
            </a:endParaRPr>
          </a:p>
        </p:txBody>
      </p:sp>
      <p:sp>
        <p:nvSpPr>
          <p:cNvPr id="404" name="textbox 404"/>
          <p:cNvSpPr/>
          <p:nvPr/>
        </p:nvSpPr>
        <p:spPr>
          <a:xfrm>
            <a:off x="5257800" y="2638425"/>
            <a:ext cx="1114425" cy="295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1D6295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8~10MW</a:t>
            </a:r>
            <a:endParaRPr sz="2000" dirty="0"/>
          </a:p>
        </p:txBody>
      </p:sp>
      <p:sp>
        <p:nvSpPr>
          <p:cNvPr id="406" name="textbox 406"/>
          <p:cNvSpPr/>
          <p:nvPr/>
        </p:nvSpPr>
        <p:spPr>
          <a:xfrm>
            <a:off x="3562350" y="2809875"/>
            <a:ext cx="457200" cy="23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300" kern="0" spc="0" dirty="0">
                <a:solidFill>
                  <a:srgbClr val="1D1D1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rings</a:t>
            </a:r>
            <a:endParaRPr sz="1300" dirty="0"/>
          </a:p>
        </p:txBody>
      </p:sp>
      <p:sp>
        <p:nvSpPr>
          <p:cNvPr id="408" name="textbox 408"/>
          <p:cNvSpPr/>
          <p:nvPr/>
        </p:nvSpPr>
        <p:spPr>
          <a:xfrm>
            <a:off x="5038725" y="2962275"/>
            <a:ext cx="1609725" cy="23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一级多为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1~8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行星轮</a:t>
            </a:r>
            <a:endParaRPr sz="1400" dirty="0"/>
          </a:p>
        </p:txBody>
      </p:sp>
      <p:sp>
        <p:nvSpPr>
          <p:cNvPr id="410" name="textbox 410"/>
          <p:cNvSpPr/>
          <p:nvPr/>
        </p:nvSpPr>
        <p:spPr>
          <a:xfrm>
            <a:off x="4772025" y="3171825"/>
            <a:ext cx="2143125" cy="23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primary is usually a 7-</a:t>
            </a:r>
            <a:endParaRPr sz="1200" dirty="0"/>
          </a:p>
        </p:txBody>
      </p:sp>
      <p:sp>
        <p:nvSpPr>
          <p:cNvPr id="412" name="textbox 412"/>
          <p:cNvSpPr/>
          <p:nvPr/>
        </p:nvSpPr>
        <p:spPr>
          <a:xfrm>
            <a:off x="7353300" y="3238500"/>
            <a:ext cx="1219200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1F69A7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14~18MW</a:t>
            </a:r>
            <a:endParaRPr sz="2000" dirty="0"/>
          </a:p>
        </p:txBody>
      </p:sp>
      <p:sp>
        <p:nvSpPr>
          <p:cNvPr id="414" name="textbox 414"/>
          <p:cNvSpPr/>
          <p:nvPr/>
        </p:nvSpPr>
        <p:spPr>
          <a:xfrm>
            <a:off x="5200650" y="3400425"/>
            <a:ext cx="1285875" cy="228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300" kern="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planet wheel</a:t>
            </a:r>
            <a:endParaRPr sz="1300" dirty="0"/>
          </a:p>
        </p:txBody>
      </p:sp>
      <p:sp>
        <p:nvSpPr>
          <p:cNvPr id="416" name="textbox 416"/>
          <p:cNvSpPr/>
          <p:nvPr/>
        </p:nvSpPr>
        <p:spPr>
          <a:xfrm>
            <a:off x="6915150" y="3552825"/>
            <a:ext cx="2124075" cy="23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一级行星轮个数达到8~9个</a:t>
            </a:r>
            <a:endParaRPr sz="1400" dirty="0"/>
          </a:p>
        </p:txBody>
      </p:sp>
      <p:sp>
        <p:nvSpPr>
          <p:cNvPr id="418" name="textbox 418"/>
          <p:cNvSpPr/>
          <p:nvPr/>
        </p:nvSpPr>
        <p:spPr>
          <a:xfrm>
            <a:off x="7019925" y="3781425"/>
            <a:ext cx="1914525" cy="23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kern="0" spc="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number of primary</a:t>
            </a:r>
            <a:endParaRPr sz="1400" dirty="0"/>
          </a:p>
        </p:txBody>
      </p:sp>
      <p:sp>
        <p:nvSpPr>
          <p:cNvPr id="420" name="textbox 420"/>
          <p:cNvSpPr/>
          <p:nvPr/>
        </p:nvSpPr>
        <p:spPr>
          <a:xfrm>
            <a:off x="7010400" y="4000500"/>
            <a:ext cx="1943100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kern="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planetary gears reaches</a:t>
            </a:r>
            <a:endParaRPr sz="1400" dirty="0"/>
          </a:p>
        </p:txBody>
      </p:sp>
      <p:sp>
        <p:nvSpPr>
          <p:cNvPr id="422" name="textbox 422"/>
          <p:cNvSpPr/>
          <p:nvPr/>
        </p:nvSpPr>
        <p:spPr>
          <a:xfrm>
            <a:off x="9886950" y="4029075"/>
            <a:ext cx="1276350" cy="314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236998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18MW以上</a:t>
            </a:r>
            <a:endParaRPr sz="2000" dirty="0"/>
          </a:p>
        </p:txBody>
      </p:sp>
      <p:sp>
        <p:nvSpPr>
          <p:cNvPr id="424" name="textbox 424"/>
          <p:cNvSpPr/>
          <p:nvPr/>
        </p:nvSpPr>
        <p:spPr>
          <a:xfrm>
            <a:off x="7772400" y="4219575"/>
            <a:ext cx="400050" cy="200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kern="0" spc="225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8~9.</a:t>
            </a:r>
            <a:endParaRPr sz="1400" dirty="0"/>
          </a:p>
        </p:txBody>
      </p:sp>
      <p:sp>
        <p:nvSpPr>
          <p:cNvPr id="426" name="textbox 426"/>
          <p:cNvSpPr/>
          <p:nvPr/>
        </p:nvSpPr>
        <p:spPr>
          <a:xfrm>
            <a:off x="9572625" y="4343400"/>
            <a:ext cx="1943100" cy="23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kern="0" spc="0" dirty="0">
                <a:solidFill>
                  <a:srgbClr val="4D4D4D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一级行星轮</a:t>
            </a:r>
            <a:r>
              <a:rPr sz="1400" kern="0" spc="0" dirty="0">
                <a:solidFill>
                  <a:srgbClr val="5F5F5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个数突破9个</a:t>
            </a:r>
            <a:endParaRPr sz="1400" dirty="0"/>
          </a:p>
        </p:txBody>
      </p:sp>
      <p:sp>
        <p:nvSpPr>
          <p:cNvPr id="428" name="textbox 428"/>
          <p:cNvSpPr/>
          <p:nvPr/>
        </p:nvSpPr>
        <p:spPr>
          <a:xfrm>
            <a:off x="9677400" y="4572000"/>
            <a:ext cx="1733550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300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Number of Planetary</a:t>
            </a:r>
            <a:endParaRPr sz="1300" dirty="0"/>
          </a:p>
        </p:txBody>
      </p:sp>
      <p:sp>
        <p:nvSpPr>
          <p:cNvPr id="430" name="textbox 430"/>
          <p:cNvSpPr/>
          <p:nvPr/>
        </p:nvSpPr>
        <p:spPr>
          <a:xfrm>
            <a:off x="9601200" y="4772025"/>
            <a:ext cx="1905000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Wheel of Primary Stage</a:t>
            </a:r>
            <a:endParaRPr sz="1600" dirty="0"/>
          </a:p>
        </p:txBody>
      </p:sp>
      <p:sp>
        <p:nvSpPr>
          <p:cNvPr id="432" name="textbox 432"/>
          <p:cNvSpPr/>
          <p:nvPr/>
        </p:nvSpPr>
        <p:spPr>
          <a:xfrm>
            <a:off x="10172700" y="5000625"/>
            <a:ext cx="771525" cy="23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Breaks 9</a:t>
            </a:r>
            <a:endParaRPr sz="1300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387350" y="849630"/>
            <a:ext cx="11370945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任意多边形 1"/>
          <p:cNvSpPr/>
          <p:nvPr/>
        </p:nvSpPr>
        <p:spPr>
          <a:xfrm rot="11400000">
            <a:off x="800515" y="3941475"/>
            <a:ext cx="11849100" cy="2741295"/>
          </a:xfrm>
          <a:custGeom>
            <a:avLst/>
            <a:gdLst>
              <a:gd name="connsiteX0" fmla="*/ 0 w 18660"/>
              <a:gd name="connsiteY0" fmla="*/ 2969 h 4317"/>
              <a:gd name="connsiteX1" fmla="*/ 461 w 18660"/>
              <a:gd name="connsiteY1" fmla="*/ 0 h 4317"/>
              <a:gd name="connsiteX2" fmla="*/ 18660 w 18660"/>
              <a:gd name="connsiteY2" fmla="*/ 4317 h 4317"/>
              <a:gd name="connsiteX3" fmla="*/ 0 w 18660"/>
              <a:gd name="connsiteY3" fmla="*/ 2969 h 4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60" h="4317">
                <a:moveTo>
                  <a:pt x="0" y="2969"/>
                </a:moveTo>
                <a:lnTo>
                  <a:pt x="461" y="0"/>
                </a:lnTo>
                <a:lnTo>
                  <a:pt x="18660" y="4317"/>
                </a:lnTo>
                <a:lnTo>
                  <a:pt x="0" y="2969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30000">
                <a:schemeClr val="accent1">
                  <a:lumMod val="45000"/>
                  <a:lumOff val="55000"/>
                  <a:alpha val="97000"/>
                </a:schemeClr>
              </a:gs>
              <a:gs pos="53000">
                <a:srgbClr val="2573C6"/>
              </a:gs>
              <a:gs pos="74000">
                <a:srgbClr val="95B3DF"/>
              </a:gs>
              <a:gs pos="100000">
                <a:srgbClr val="D4E6FE"/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0" name="直接连接符 29"/>
          <p:cNvCxnSpPr>
            <a:stCxn id="9" idx="0"/>
          </p:cNvCxnSpPr>
          <p:nvPr/>
        </p:nvCxnSpPr>
        <p:spPr>
          <a:xfrm flipH="1" flipV="1">
            <a:off x="2080895" y="2470785"/>
            <a:ext cx="2540" cy="73914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椭圆 3"/>
          <p:cNvSpPr/>
          <p:nvPr/>
        </p:nvSpPr>
        <p:spPr>
          <a:xfrm>
            <a:off x="7205980" y="5020310"/>
            <a:ext cx="1327150" cy="231140"/>
          </a:xfrm>
          <a:prstGeom prst="ellipse">
            <a:avLst/>
          </a:prstGeom>
          <a:noFill/>
          <a:ln w="7620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9495790" y="5788660"/>
            <a:ext cx="1567815" cy="273050"/>
          </a:xfrm>
          <a:prstGeom prst="ellipse">
            <a:avLst/>
          </a:prstGeom>
          <a:noFill/>
          <a:ln w="7620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5059680" y="4309110"/>
            <a:ext cx="1108075" cy="193040"/>
          </a:xfrm>
          <a:prstGeom prst="ellipse">
            <a:avLst/>
          </a:prstGeom>
          <a:noFill/>
          <a:ln w="5715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3268980" y="3684270"/>
            <a:ext cx="772160" cy="134620"/>
          </a:xfrm>
          <a:prstGeom prst="ellipse">
            <a:avLst/>
          </a:prstGeom>
          <a:noFill/>
          <a:ln w="3810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946910" y="3209925"/>
            <a:ext cx="272415" cy="76200"/>
          </a:xfrm>
          <a:prstGeom prst="ellipse">
            <a:avLst/>
          </a:prstGeom>
          <a:noFill/>
          <a:ln w="1270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 rot="20220000">
            <a:off x="9151620" y="5387340"/>
            <a:ext cx="186690" cy="12973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 rot="16200000">
            <a:off x="10053955" y="4184650"/>
            <a:ext cx="97790" cy="2481580"/>
          </a:xfrm>
          <a:custGeom>
            <a:avLst/>
            <a:gdLst>
              <a:gd name="connsiteX0" fmla="*/ 12 w 181"/>
              <a:gd name="connsiteY0" fmla="*/ 73 h 3908"/>
              <a:gd name="connsiteX1" fmla="*/ 181 w 181"/>
              <a:gd name="connsiteY1" fmla="*/ 0 h 3908"/>
              <a:gd name="connsiteX2" fmla="*/ 181 w 181"/>
              <a:gd name="connsiteY2" fmla="*/ 3908 h 3908"/>
              <a:gd name="connsiteX3" fmla="*/ 0 w 181"/>
              <a:gd name="connsiteY3" fmla="*/ 3908 h 3908"/>
              <a:gd name="connsiteX4" fmla="*/ 12 w 181"/>
              <a:gd name="connsiteY4" fmla="*/ 73 h 3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1" h="3908">
                <a:moveTo>
                  <a:pt x="12" y="73"/>
                </a:moveTo>
                <a:lnTo>
                  <a:pt x="181" y="0"/>
                </a:lnTo>
                <a:lnTo>
                  <a:pt x="181" y="3908"/>
                </a:lnTo>
                <a:lnTo>
                  <a:pt x="0" y="3908"/>
                </a:lnTo>
                <a:lnTo>
                  <a:pt x="12" y="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6503670" y="4732020"/>
            <a:ext cx="2140585" cy="1316355"/>
            <a:chOff x="13563" y="8536"/>
            <a:chExt cx="3908" cy="2403"/>
          </a:xfrm>
        </p:grpSpPr>
        <p:sp>
          <p:nvSpPr>
            <p:cNvPr id="18" name="矩形 17"/>
            <p:cNvSpPr/>
            <p:nvPr/>
          </p:nvSpPr>
          <p:spPr>
            <a:xfrm rot="20220000">
              <a:off x="14090" y="8539"/>
              <a:ext cx="294" cy="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/>
          </p:nvSpPr>
          <p:spPr>
            <a:xfrm rot="16200000">
              <a:off x="15427" y="6672"/>
              <a:ext cx="181" cy="3908"/>
            </a:xfrm>
            <a:custGeom>
              <a:avLst/>
              <a:gdLst>
                <a:gd name="connsiteX0" fmla="*/ 12 w 181"/>
                <a:gd name="connsiteY0" fmla="*/ 73 h 3908"/>
                <a:gd name="connsiteX1" fmla="*/ 181 w 181"/>
                <a:gd name="connsiteY1" fmla="*/ 0 h 3908"/>
                <a:gd name="connsiteX2" fmla="*/ 181 w 181"/>
                <a:gd name="connsiteY2" fmla="*/ 3908 h 3908"/>
                <a:gd name="connsiteX3" fmla="*/ 0 w 181"/>
                <a:gd name="connsiteY3" fmla="*/ 3908 h 3908"/>
                <a:gd name="connsiteX4" fmla="*/ 12 w 181"/>
                <a:gd name="connsiteY4" fmla="*/ 73 h 3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" h="3908">
                  <a:moveTo>
                    <a:pt x="12" y="73"/>
                  </a:moveTo>
                  <a:lnTo>
                    <a:pt x="181" y="0"/>
                  </a:lnTo>
                  <a:lnTo>
                    <a:pt x="181" y="3908"/>
                  </a:lnTo>
                  <a:lnTo>
                    <a:pt x="0" y="3908"/>
                  </a:lnTo>
                  <a:lnTo>
                    <a:pt x="12" y="7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319905" y="3976370"/>
            <a:ext cx="1914525" cy="1177290"/>
            <a:chOff x="13563" y="8536"/>
            <a:chExt cx="3908" cy="2403"/>
          </a:xfrm>
        </p:grpSpPr>
        <p:sp>
          <p:nvSpPr>
            <p:cNvPr id="21" name="矩形 20"/>
            <p:cNvSpPr/>
            <p:nvPr/>
          </p:nvSpPr>
          <p:spPr>
            <a:xfrm rot="20220000">
              <a:off x="14090" y="8539"/>
              <a:ext cx="294" cy="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" name="任意多边形 21"/>
            <p:cNvSpPr/>
            <p:nvPr/>
          </p:nvSpPr>
          <p:spPr>
            <a:xfrm rot="16200000">
              <a:off x="15427" y="6672"/>
              <a:ext cx="181" cy="3908"/>
            </a:xfrm>
            <a:custGeom>
              <a:avLst/>
              <a:gdLst>
                <a:gd name="connsiteX0" fmla="*/ 12 w 181"/>
                <a:gd name="connsiteY0" fmla="*/ 73 h 3908"/>
                <a:gd name="connsiteX1" fmla="*/ 181 w 181"/>
                <a:gd name="connsiteY1" fmla="*/ 0 h 3908"/>
                <a:gd name="connsiteX2" fmla="*/ 181 w 181"/>
                <a:gd name="connsiteY2" fmla="*/ 3908 h 3908"/>
                <a:gd name="connsiteX3" fmla="*/ 0 w 181"/>
                <a:gd name="connsiteY3" fmla="*/ 3908 h 3908"/>
                <a:gd name="connsiteX4" fmla="*/ 12 w 181"/>
                <a:gd name="connsiteY4" fmla="*/ 73 h 3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" h="3908">
                  <a:moveTo>
                    <a:pt x="12" y="73"/>
                  </a:moveTo>
                  <a:lnTo>
                    <a:pt x="181" y="0"/>
                  </a:lnTo>
                  <a:lnTo>
                    <a:pt x="181" y="3908"/>
                  </a:lnTo>
                  <a:lnTo>
                    <a:pt x="0" y="3908"/>
                  </a:lnTo>
                  <a:lnTo>
                    <a:pt x="12" y="7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2432050" y="3355975"/>
            <a:ext cx="1609090" cy="989330"/>
            <a:chOff x="13563" y="8536"/>
            <a:chExt cx="3908" cy="2403"/>
          </a:xfrm>
        </p:grpSpPr>
        <p:sp>
          <p:nvSpPr>
            <p:cNvPr id="24" name="矩形 23"/>
            <p:cNvSpPr/>
            <p:nvPr/>
          </p:nvSpPr>
          <p:spPr>
            <a:xfrm rot="20220000">
              <a:off x="14090" y="8539"/>
              <a:ext cx="294" cy="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任意多边形 24"/>
            <p:cNvSpPr/>
            <p:nvPr/>
          </p:nvSpPr>
          <p:spPr>
            <a:xfrm rot="16200000">
              <a:off x="15427" y="6672"/>
              <a:ext cx="181" cy="3908"/>
            </a:xfrm>
            <a:custGeom>
              <a:avLst/>
              <a:gdLst>
                <a:gd name="connsiteX0" fmla="*/ 12 w 181"/>
                <a:gd name="connsiteY0" fmla="*/ 73 h 3908"/>
                <a:gd name="connsiteX1" fmla="*/ 181 w 181"/>
                <a:gd name="connsiteY1" fmla="*/ 0 h 3908"/>
                <a:gd name="connsiteX2" fmla="*/ 181 w 181"/>
                <a:gd name="connsiteY2" fmla="*/ 3908 h 3908"/>
                <a:gd name="connsiteX3" fmla="*/ 0 w 181"/>
                <a:gd name="connsiteY3" fmla="*/ 3908 h 3908"/>
                <a:gd name="connsiteX4" fmla="*/ 12 w 181"/>
                <a:gd name="connsiteY4" fmla="*/ 73 h 3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" h="3908">
                  <a:moveTo>
                    <a:pt x="12" y="73"/>
                  </a:moveTo>
                  <a:lnTo>
                    <a:pt x="181" y="0"/>
                  </a:lnTo>
                  <a:lnTo>
                    <a:pt x="181" y="3908"/>
                  </a:lnTo>
                  <a:lnTo>
                    <a:pt x="0" y="3908"/>
                  </a:lnTo>
                  <a:lnTo>
                    <a:pt x="12" y="7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27" name="picture 384"/>
          <p:cNvPicPr>
            <a:picLocks noChangeAspect="1"/>
          </p:cNvPicPr>
          <p:nvPr/>
        </p:nvPicPr>
        <p:blipFill>
          <a:blip r:embed="rId3"/>
          <a:srcRect l="13916" t="50977" r="74754" b="24180"/>
          <a:stretch>
            <a:fillRect/>
          </a:stretch>
        </p:blipFill>
        <p:spPr>
          <a:xfrm>
            <a:off x="2166620" y="4219575"/>
            <a:ext cx="1322070" cy="1332230"/>
          </a:xfrm>
          <a:prstGeom prst="rect">
            <a:avLst/>
          </a:prstGeom>
        </p:spPr>
      </p:pic>
      <p:pic>
        <p:nvPicPr>
          <p:cNvPr id="28" name="picture 384"/>
          <p:cNvPicPr>
            <a:picLocks noChangeAspect="1"/>
          </p:cNvPicPr>
          <p:nvPr/>
        </p:nvPicPr>
        <p:blipFill>
          <a:blip r:embed="rId3"/>
          <a:srcRect l="28109" t="61101" r="59837" b="12066"/>
          <a:stretch>
            <a:fillRect/>
          </a:stretch>
        </p:blipFill>
        <p:spPr>
          <a:xfrm>
            <a:off x="3794125" y="4772025"/>
            <a:ext cx="1406525" cy="1438910"/>
          </a:xfrm>
          <a:prstGeom prst="rect">
            <a:avLst/>
          </a:prstGeom>
        </p:spPr>
      </p:pic>
      <p:pic>
        <p:nvPicPr>
          <p:cNvPr id="29" name="picture 384"/>
          <p:cNvPicPr>
            <a:picLocks noChangeAspect="1"/>
          </p:cNvPicPr>
          <p:nvPr/>
        </p:nvPicPr>
        <p:blipFill>
          <a:blip r:embed="rId3"/>
          <a:srcRect l="44000" t="74719" r="44484"/>
          <a:stretch>
            <a:fillRect/>
          </a:stretch>
        </p:blipFill>
        <p:spPr>
          <a:xfrm>
            <a:off x="5571490" y="5502275"/>
            <a:ext cx="1343660" cy="1355725"/>
          </a:xfrm>
          <a:prstGeom prst="rect">
            <a:avLst/>
          </a:prstGeom>
        </p:spPr>
      </p:pic>
      <p:cxnSp>
        <p:nvCxnSpPr>
          <p:cNvPr id="31" name="直接连接符 30"/>
          <p:cNvCxnSpPr/>
          <p:nvPr/>
        </p:nvCxnSpPr>
        <p:spPr>
          <a:xfrm flipH="1" flipV="1">
            <a:off x="3653790" y="2933700"/>
            <a:ext cx="2540" cy="73914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>
            <a:stCxn id="7" idx="0"/>
          </p:cNvCxnSpPr>
          <p:nvPr/>
        </p:nvCxnSpPr>
        <p:spPr>
          <a:xfrm flipH="1" flipV="1">
            <a:off x="5612765" y="3552825"/>
            <a:ext cx="1270" cy="756285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H="1" flipV="1">
            <a:off x="7816850" y="4264025"/>
            <a:ext cx="1270" cy="756285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 flipH="1" flipV="1">
            <a:off x="10278745" y="5000625"/>
            <a:ext cx="1270" cy="756285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空心弧 13"/>
          <p:cNvSpPr/>
          <p:nvPr/>
        </p:nvSpPr>
        <p:spPr>
          <a:xfrm>
            <a:off x="3779520" y="2491105"/>
            <a:ext cx="4466590" cy="3611880"/>
          </a:xfrm>
          <a:prstGeom prst="blockArc">
            <a:avLst>
              <a:gd name="adj1" fmla="val 10800000"/>
              <a:gd name="adj2" fmla="val 25528"/>
              <a:gd name="adj3" fmla="val 541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40" name="picture 4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075" y="314325"/>
            <a:ext cx="476250" cy="485775"/>
          </a:xfrm>
          <a:prstGeom prst="rect">
            <a:avLst/>
          </a:prstGeom>
        </p:spPr>
      </p:pic>
      <p:sp>
        <p:nvSpPr>
          <p:cNvPr id="442" name="textbox 442"/>
          <p:cNvSpPr/>
          <p:nvPr/>
        </p:nvSpPr>
        <p:spPr>
          <a:xfrm>
            <a:off x="1295400" y="400050"/>
            <a:ext cx="4467225" cy="438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8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关键技术/Key Technologies</a:t>
            </a:r>
            <a:endParaRPr sz="2800" dirty="0"/>
          </a:p>
        </p:txBody>
      </p:sp>
      <p:pic>
        <p:nvPicPr>
          <p:cNvPr id="446" name="picture 4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4225" y="38100"/>
            <a:ext cx="1200150" cy="485775"/>
          </a:xfrm>
          <a:prstGeom prst="rect">
            <a:avLst/>
          </a:prstGeom>
        </p:spPr>
      </p:pic>
      <p:sp>
        <p:nvSpPr>
          <p:cNvPr id="448" name="textbox 448"/>
          <p:cNvSpPr/>
          <p:nvPr/>
        </p:nvSpPr>
        <p:spPr>
          <a:xfrm>
            <a:off x="4838700" y="1152525"/>
            <a:ext cx="2724150" cy="314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spc="0" dirty="0">
                <a:solidFill>
                  <a:srgbClr val="406FA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减重/redution of weight</a:t>
            </a:r>
            <a:endParaRPr sz="1800" dirty="0"/>
          </a:p>
        </p:txBody>
      </p:sp>
      <p:sp>
        <p:nvSpPr>
          <p:cNvPr id="450" name="textbox 450"/>
          <p:cNvSpPr/>
          <p:nvPr/>
        </p:nvSpPr>
        <p:spPr>
          <a:xfrm>
            <a:off x="1838325" y="1543050"/>
            <a:ext cx="8572500" cy="742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343025" algn="l" rtl="0" eaLnBrk="0"/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齿轮箱一级增加一个行星轮，以7行星轮到8行星轮为例，重量可较原方案重量降低约5%左右</a:t>
            </a:r>
            <a:endParaRPr sz="1400" dirty="0"/>
          </a:p>
          <a:p>
            <a:pPr algn="l" rtl="0" eaLnBrk="0">
              <a:spcBef>
                <a:spcPts val="525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By adding a planetary gear to the first stage of the gearbox, the weight can be reduced by approximately 5%</a:t>
            </a:r>
            <a:endParaRPr sz="1400" dirty="0"/>
          </a:p>
          <a:p>
            <a:pPr marL="1438275" algn="l" rtl="0" eaLnBrk="0">
              <a:spcBef>
                <a:spcPts val="525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compared to the original design, as exemplified by upgrading from 7 to 8 planetary gears.</a:t>
            </a:r>
            <a:endParaRPr sz="1400" dirty="0"/>
          </a:p>
        </p:txBody>
      </p:sp>
      <p:sp>
        <p:nvSpPr>
          <p:cNvPr id="452" name="textbox 452"/>
          <p:cNvSpPr/>
          <p:nvPr/>
        </p:nvSpPr>
        <p:spPr>
          <a:xfrm>
            <a:off x="571500" y="3609975"/>
            <a:ext cx="2600325" cy="571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spc="0" dirty="0">
                <a:solidFill>
                  <a:srgbClr val="246BA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零件直径减小/reduction</a:t>
            </a:r>
            <a:endParaRPr sz="1800" dirty="0"/>
          </a:p>
          <a:p>
            <a:pPr marL="666750" algn="l" rtl="0" eaLnBrk="0"/>
            <a:r>
              <a:rPr sz="1800" b="1" kern="0" spc="0" dirty="0">
                <a:solidFill>
                  <a:srgbClr val="246BA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of part diameter</a:t>
            </a:r>
            <a:endParaRPr sz="1800" dirty="0"/>
          </a:p>
        </p:txBody>
      </p:sp>
      <p:sp>
        <p:nvSpPr>
          <p:cNvPr id="454" name="textbox 454"/>
          <p:cNvSpPr/>
          <p:nvPr/>
        </p:nvSpPr>
        <p:spPr>
          <a:xfrm>
            <a:off x="723900" y="4238625"/>
            <a:ext cx="2371725" cy="723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内齿圈、箱体、行星架直径减</a:t>
            </a:r>
            <a:endParaRPr sz="1400" dirty="0"/>
          </a:p>
          <a:p>
            <a:pPr algn="l" rtl="0" eaLnBrk="0">
              <a:spcBef>
                <a:spcPts val="375"/>
              </a:spcBef>
            </a:pP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小，延缓对机床最大加工范围</a:t>
            </a:r>
            <a:endParaRPr sz="1400" dirty="0"/>
          </a:p>
          <a:p>
            <a:pPr marL="1390650" algn="l" rtl="0" eaLnBrk="0">
              <a:spcBef>
                <a:spcPts val="375"/>
              </a:spcBef>
            </a:pP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扩大的需求</a:t>
            </a:r>
            <a:endParaRPr sz="1400" dirty="0"/>
          </a:p>
        </p:txBody>
      </p:sp>
      <p:sp>
        <p:nvSpPr>
          <p:cNvPr id="456" name="textbox 456"/>
          <p:cNvSpPr/>
          <p:nvPr/>
        </p:nvSpPr>
        <p:spPr>
          <a:xfrm>
            <a:off x="733425" y="5019675"/>
            <a:ext cx="2371725" cy="1724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42875" algn="l" rtl="0" eaLnBrk="0"/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The inner gear ring, the box</a:t>
            </a:r>
            <a:endParaRPr sz="1400" dirty="0"/>
          </a:p>
          <a:p>
            <a:pPr marL="419100" algn="l" rtl="0" eaLnBrk="0">
              <a:spcBef>
                <a:spcPts val="450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and the diameter of the</a:t>
            </a:r>
            <a:endParaRPr sz="1400" dirty="0"/>
          </a:p>
          <a:p>
            <a:pPr algn="l" rtl="0" eaLnBrk="0">
              <a:spcBef>
                <a:spcPts val="450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planetary carrier are reduced</a:t>
            </a:r>
            <a:endParaRPr sz="1400" dirty="0"/>
          </a:p>
          <a:p>
            <a:pPr marL="457200" algn="l" rtl="0" eaLnBrk="0">
              <a:spcBef>
                <a:spcPts val="450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to delay the demand of</a:t>
            </a:r>
            <a:endParaRPr sz="1400" dirty="0"/>
          </a:p>
          <a:p>
            <a:pPr marL="314325" algn="l" rtl="0" eaLnBrk="0">
              <a:spcBef>
                <a:spcPts val="450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expanding the maximum</a:t>
            </a:r>
            <a:endParaRPr sz="1400" dirty="0"/>
          </a:p>
          <a:p>
            <a:pPr marL="457200" algn="l" rtl="0" eaLnBrk="0">
              <a:spcBef>
                <a:spcPts val="450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machining range of the</a:t>
            </a:r>
            <a:endParaRPr sz="1400" dirty="0"/>
          </a:p>
          <a:p>
            <a:pPr marL="1219200" algn="l" rtl="0" eaLnBrk="0">
              <a:spcBef>
                <a:spcPts val="450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machine tool.</a:t>
            </a:r>
            <a:endParaRPr sz="1400" dirty="0"/>
          </a:p>
        </p:txBody>
      </p:sp>
      <p:sp>
        <p:nvSpPr>
          <p:cNvPr id="462" name="textbox 462"/>
          <p:cNvSpPr/>
          <p:nvPr/>
        </p:nvSpPr>
        <p:spPr>
          <a:xfrm>
            <a:off x="5915025" y="2733675"/>
            <a:ext cx="419100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endParaRPr sz="2000" dirty="0"/>
          </a:p>
        </p:txBody>
      </p:sp>
      <p:sp>
        <p:nvSpPr>
          <p:cNvPr id="464" name="textbox 464"/>
          <p:cNvSpPr/>
          <p:nvPr/>
        </p:nvSpPr>
        <p:spPr>
          <a:xfrm>
            <a:off x="5372100" y="3743325"/>
            <a:ext cx="1381125" cy="323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多行星优势</a:t>
            </a:r>
            <a:endParaRPr sz="1800" dirty="0"/>
          </a:p>
        </p:txBody>
      </p:sp>
      <p:sp>
        <p:nvSpPr>
          <p:cNvPr id="466" name="textbox 466"/>
          <p:cNvSpPr/>
          <p:nvPr/>
        </p:nvSpPr>
        <p:spPr>
          <a:xfrm>
            <a:off x="3667125" y="4695825"/>
            <a:ext cx="219075" cy="295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4678A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endParaRPr sz="2000" dirty="0"/>
          </a:p>
        </p:txBody>
      </p:sp>
      <p:sp>
        <p:nvSpPr>
          <p:cNvPr id="468" name="textbox 468"/>
          <p:cNvSpPr/>
          <p:nvPr/>
        </p:nvSpPr>
        <p:spPr>
          <a:xfrm>
            <a:off x="7924800" y="4743450"/>
            <a:ext cx="552450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186092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280</a:t>
            </a:r>
            <a:endParaRPr sz="2400" dirty="0"/>
          </a:p>
        </p:txBody>
      </p:sp>
      <p:sp>
        <p:nvSpPr>
          <p:cNvPr id="470" name="textbox 470"/>
          <p:cNvSpPr/>
          <p:nvPr/>
        </p:nvSpPr>
        <p:spPr>
          <a:xfrm>
            <a:off x="9067800" y="4248150"/>
            <a:ext cx="1847850" cy="581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spc="0" dirty="0">
                <a:solidFill>
                  <a:srgbClr val="2980B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扭矩密度/torque</a:t>
            </a:r>
            <a:endParaRPr sz="1800" dirty="0"/>
          </a:p>
          <a:p>
            <a:pPr algn="l" rtl="0" eaLnBrk="0"/>
            <a:r>
              <a:rPr sz="1800" b="1" kern="0" spc="0" dirty="0">
                <a:solidFill>
                  <a:srgbClr val="2980B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density</a:t>
            </a:r>
            <a:endParaRPr sz="1800" dirty="0"/>
          </a:p>
        </p:txBody>
      </p:sp>
      <p:sp>
        <p:nvSpPr>
          <p:cNvPr id="472" name="textbox 472"/>
          <p:cNvSpPr/>
          <p:nvPr/>
        </p:nvSpPr>
        <p:spPr>
          <a:xfrm>
            <a:off x="9077325" y="4914900"/>
            <a:ext cx="2486025" cy="176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kern="0" spc="0" dirty="0">
                <a:solidFill>
                  <a:srgbClr val="6666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前集成双馈方案，9行星以上齿</a:t>
            </a:r>
            <a:endParaRPr sz="1400" dirty="0"/>
          </a:p>
          <a:p>
            <a:pPr algn="l" rtl="0" eaLnBrk="0">
              <a:spcBef>
                <a:spcPts val="450"/>
              </a:spcBef>
            </a:pPr>
            <a:r>
              <a:rPr sz="1400" kern="0" spc="0" dirty="0">
                <a:solidFill>
                  <a:srgbClr val="6666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轮箱，扭矩密度可达280kNm/t</a:t>
            </a:r>
            <a:endParaRPr sz="1400" dirty="0"/>
          </a:p>
          <a:p>
            <a:pPr algn="l" rtl="0" eaLnBrk="0">
              <a:spcBef>
                <a:spcPts val="450"/>
              </a:spcBef>
            </a:pPr>
            <a:r>
              <a:rPr sz="1400" kern="0" spc="0" dirty="0">
                <a:solidFill>
                  <a:srgbClr val="6666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pre-integrated doubly-fed</a:t>
            </a:r>
            <a:endParaRPr sz="1400" dirty="0"/>
          </a:p>
          <a:p>
            <a:pPr algn="l" rtl="0" eaLnBrk="0">
              <a:spcBef>
                <a:spcPts val="450"/>
              </a:spcBef>
            </a:pPr>
            <a:r>
              <a:rPr sz="1400" kern="0" spc="0" dirty="0">
                <a:solidFill>
                  <a:srgbClr val="6666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system features a gearbox with</a:t>
            </a:r>
            <a:endParaRPr sz="1400" dirty="0"/>
          </a:p>
          <a:p>
            <a:pPr algn="l" rtl="0" eaLnBrk="0">
              <a:spcBef>
                <a:spcPts val="450"/>
              </a:spcBef>
            </a:pPr>
            <a:r>
              <a:rPr sz="1400" kern="0" spc="0" dirty="0">
                <a:solidFill>
                  <a:srgbClr val="6666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over 9 planetary gears,</a:t>
            </a:r>
            <a:endParaRPr sz="1400" dirty="0"/>
          </a:p>
          <a:p>
            <a:pPr algn="l" rtl="0" eaLnBrk="0">
              <a:spcBef>
                <a:spcPts val="450"/>
              </a:spcBef>
            </a:pPr>
            <a:r>
              <a:rPr sz="1400" kern="0" spc="0" dirty="0">
                <a:solidFill>
                  <a:srgbClr val="6666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delivering a torque density of</a:t>
            </a:r>
            <a:endParaRPr sz="1400" dirty="0"/>
          </a:p>
          <a:p>
            <a:pPr algn="l" rtl="0" eaLnBrk="0">
              <a:spcBef>
                <a:spcPts val="450"/>
              </a:spcBef>
            </a:pPr>
            <a:r>
              <a:rPr sz="1400" kern="0" spc="0" dirty="0">
                <a:solidFill>
                  <a:srgbClr val="6666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up to 280 kNm/t.</a:t>
            </a:r>
            <a:endParaRPr sz="1400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387350" y="899160"/>
            <a:ext cx="11370945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椭圆 1"/>
          <p:cNvSpPr/>
          <p:nvPr/>
        </p:nvSpPr>
        <p:spPr>
          <a:xfrm>
            <a:off x="3206115" y="4293235"/>
            <a:ext cx="1204595" cy="1204595"/>
          </a:xfrm>
          <a:prstGeom prst="ellipse">
            <a:avLst/>
          </a:prstGeom>
          <a:solidFill>
            <a:srgbClr val="D4E5FD"/>
          </a:solidFill>
          <a:ln>
            <a:solidFill>
              <a:srgbClr val="D4E6F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sz="2000" b="1" kern="0" dirty="0">
                <a:solidFill>
                  <a:srgbClr val="4678A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endParaRPr lang="en-US" altLang="zh-CN"/>
          </a:p>
        </p:txBody>
      </p:sp>
      <p:sp>
        <p:nvSpPr>
          <p:cNvPr id="7" name="空心弧 6"/>
          <p:cNvSpPr/>
          <p:nvPr/>
        </p:nvSpPr>
        <p:spPr>
          <a:xfrm rot="5400000">
            <a:off x="3206750" y="4293870"/>
            <a:ext cx="1203960" cy="1203960"/>
          </a:xfrm>
          <a:prstGeom prst="blockArc">
            <a:avLst>
              <a:gd name="adj1" fmla="val 10800000"/>
              <a:gd name="adj2" fmla="val 119008"/>
              <a:gd name="adj3" fmla="val 9591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548630" y="2276475"/>
            <a:ext cx="1204595" cy="1204595"/>
          </a:xfrm>
          <a:prstGeom prst="ellipse">
            <a:avLst/>
          </a:prstGeom>
          <a:solidFill>
            <a:srgbClr val="D4E5FD"/>
          </a:solidFill>
          <a:ln>
            <a:solidFill>
              <a:srgbClr val="D4E6F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000" b="1" kern="0" dirty="0">
                <a:solidFill>
                  <a:srgbClr val="4678A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5%</a:t>
            </a:r>
            <a:endParaRPr lang="en-US" sz="2000" b="1" kern="0" dirty="0">
              <a:solidFill>
                <a:srgbClr val="4678A3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空心弧 10"/>
          <p:cNvSpPr/>
          <p:nvPr/>
        </p:nvSpPr>
        <p:spPr>
          <a:xfrm rot="5400000">
            <a:off x="5549265" y="2277110"/>
            <a:ext cx="1203960" cy="1203960"/>
          </a:xfrm>
          <a:prstGeom prst="blockArc">
            <a:avLst>
              <a:gd name="adj1" fmla="val 10800000"/>
              <a:gd name="adj2" fmla="val 3243292"/>
              <a:gd name="adj3" fmla="val 9477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7629525" y="4338320"/>
            <a:ext cx="1204595" cy="1204595"/>
          </a:xfrm>
          <a:prstGeom prst="ellipse">
            <a:avLst/>
          </a:prstGeom>
          <a:solidFill>
            <a:srgbClr val="D4E5FD"/>
          </a:solidFill>
          <a:ln>
            <a:solidFill>
              <a:srgbClr val="D4E6F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000" b="1" kern="0" dirty="0">
                <a:solidFill>
                  <a:srgbClr val="4678A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280</a:t>
            </a:r>
            <a:endParaRPr lang="en-US" sz="2000" b="1" kern="0" dirty="0">
              <a:solidFill>
                <a:srgbClr val="4678A3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空心弧 12"/>
          <p:cNvSpPr/>
          <p:nvPr/>
        </p:nvSpPr>
        <p:spPr>
          <a:xfrm rot="5400000">
            <a:off x="7630160" y="4338955"/>
            <a:ext cx="1203960" cy="1203960"/>
          </a:xfrm>
          <a:prstGeom prst="blockArc">
            <a:avLst>
              <a:gd name="adj1" fmla="val 10800000"/>
              <a:gd name="adj2" fmla="val 5373454"/>
              <a:gd name="adj3" fmla="val 9017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4289425" cy="6858635"/>
          </a:xfrm>
          <a:prstGeom prst="rect">
            <a:avLst/>
          </a:prstGeom>
          <a:solidFill>
            <a:srgbClr val="2573C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4225" y="38100"/>
            <a:ext cx="1200150" cy="495300"/>
          </a:xfrm>
          <a:prstGeom prst="rect">
            <a:avLst/>
          </a:prstGeom>
        </p:spPr>
      </p:pic>
      <p:sp>
        <p:nvSpPr>
          <p:cNvPr id="18" name="textbox 18"/>
          <p:cNvSpPr/>
          <p:nvPr/>
        </p:nvSpPr>
        <p:spPr>
          <a:xfrm rot="5400000">
            <a:off x="827405" y="2030730"/>
            <a:ext cx="2936875" cy="18973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ctr" rtl="0" eaLnBrk="0"/>
            <a:r>
              <a:rPr sz="54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content</a:t>
            </a:r>
            <a:endParaRPr sz="5400" b="1" kern="0" spc="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rtl="0" eaLnBrk="0"/>
            <a:r>
              <a:rPr lang="zh-CN" altLang="en-US" sz="7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目</a:t>
            </a:r>
            <a:r>
              <a:rPr lang="en-US" altLang="zh-CN" sz="7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7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录</a:t>
            </a:r>
            <a:endParaRPr lang="zh-CN" altLang="en-US" sz="7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20"/>
          <p:cNvSpPr/>
          <p:nvPr>
            <p:custDataLst>
              <p:tags r:id="rId2"/>
            </p:custDataLst>
          </p:nvPr>
        </p:nvSpPr>
        <p:spPr>
          <a:xfrm>
            <a:off x="6486525" y="1866900"/>
            <a:ext cx="5686425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A6A6A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发展现状/Current Development Status</a:t>
            </a:r>
            <a:endParaRPr sz="2400" b="1" kern="0" dirty="0">
              <a:solidFill>
                <a:srgbClr val="A6A6A6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菱形 16"/>
          <p:cNvSpPr/>
          <p:nvPr>
            <p:custDataLst>
              <p:tags r:id="rId3"/>
            </p:custDataLst>
          </p:nvPr>
        </p:nvSpPr>
        <p:spPr>
          <a:xfrm>
            <a:off x="5596255" y="1720850"/>
            <a:ext cx="685800" cy="673100"/>
          </a:xfrm>
          <a:prstGeom prst="diamond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22" name="textbox 22"/>
          <p:cNvSpPr/>
          <p:nvPr>
            <p:custDataLst>
              <p:tags r:id="rId4"/>
            </p:custDataLst>
          </p:nvPr>
        </p:nvSpPr>
        <p:spPr>
          <a:xfrm>
            <a:off x="5762625" y="1878965"/>
            <a:ext cx="276225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 kern="0" spc="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4"/>
          <p:cNvSpPr/>
          <p:nvPr>
            <p:custDataLst>
              <p:tags r:id="rId5"/>
            </p:custDataLst>
          </p:nvPr>
        </p:nvSpPr>
        <p:spPr>
          <a:xfrm>
            <a:off x="6477000" y="3114675"/>
            <a:ext cx="4362450" cy="40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A6A6A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技术路线/Technical Approach</a:t>
            </a:r>
            <a:endParaRPr sz="2400" b="1" kern="0" dirty="0">
              <a:solidFill>
                <a:srgbClr val="A6A6A6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8"/>
          <p:cNvSpPr/>
          <p:nvPr>
            <p:custDataLst>
              <p:tags r:id="rId6"/>
            </p:custDataLst>
          </p:nvPr>
        </p:nvSpPr>
        <p:spPr>
          <a:xfrm>
            <a:off x="6515100" y="4448175"/>
            <a:ext cx="4095750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A6A6A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关键技术/Key Technologies</a:t>
            </a:r>
            <a:endParaRPr sz="2400" dirty="0"/>
          </a:p>
        </p:txBody>
      </p:sp>
      <p:sp>
        <p:nvSpPr>
          <p:cNvPr id="32" name="textbox 32"/>
          <p:cNvSpPr/>
          <p:nvPr>
            <p:custDataLst>
              <p:tags r:id="rId7"/>
            </p:custDataLst>
          </p:nvPr>
        </p:nvSpPr>
        <p:spPr>
          <a:xfrm>
            <a:off x="6534150" y="5610225"/>
            <a:ext cx="5191125" cy="40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攻关与挑战/Research &amp; Challenges</a:t>
            </a:r>
            <a:endParaRPr sz="2400" b="1" kern="0" dirty="0">
              <a:solidFill>
                <a:srgbClr val="262626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46835" y="1511935"/>
            <a:ext cx="1898015" cy="2936240"/>
          </a:xfrm>
          <a:prstGeom prst="rect">
            <a:avLst/>
          </a:prstGeom>
          <a:noFill/>
          <a:ln w="3810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573C6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>
            <p:custDataLst>
              <p:tags r:id="rId8"/>
            </p:custDataLst>
          </p:nvPr>
        </p:nvCxnSpPr>
        <p:spPr>
          <a:xfrm>
            <a:off x="6433820" y="3695700"/>
            <a:ext cx="3257550" cy="0"/>
          </a:xfrm>
          <a:prstGeom prst="line">
            <a:avLst/>
          </a:prstGeom>
          <a:ln w="1587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9"/>
            </p:custDataLst>
          </p:nvPr>
        </p:nvCxnSpPr>
        <p:spPr>
          <a:xfrm>
            <a:off x="6433820" y="2501900"/>
            <a:ext cx="3257550" cy="0"/>
          </a:xfrm>
          <a:prstGeom prst="line">
            <a:avLst/>
          </a:prstGeom>
          <a:ln w="1587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10"/>
            </p:custDataLst>
          </p:nvPr>
        </p:nvCxnSpPr>
        <p:spPr>
          <a:xfrm>
            <a:off x="6433820" y="5048250"/>
            <a:ext cx="3257550" cy="0"/>
          </a:xfrm>
          <a:prstGeom prst="line">
            <a:avLst/>
          </a:prstGeom>
          <a:ln w="1587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>
            <p:custDataLst>
              <p:tags r:id="rId11"/>
            </p:custDataLst>
          </p:nvPr>
        </p:nvCxnSpPr>
        <p:spPr>
          <a:xfrm>
            <a:off x="6433820" y="6267450"/>
            <a:ext cx="3257550" cy="0"/>
          </a:xfrm>
          <a:prstGeom prst="line">
            <a:avLst/>
          </a:prstGeom>
          <a:ln w="1587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菱形 39"/>
          <p:cNvSpPr/>
          <p:nvPr>
            <p:custDataLst>
              <p:tags r:id="rId12"/>
            </p:custDataLst>
          </p:nvPr>
        </p:nvSpPr>
        <p:spPr>
          <a:xfrm>
            <a:off x="5596255" y="2982595"/>
            <a:ext cx="685800" cy="673100"/>
          </a:xfrm>
          <a:prstGeom prst="diamond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41" name="textbox 22"/>
          <p:cNvSpPr/>
          <p:nvPr>
            <p:custDataLst>
              <p:tags r:id="rId13"/>
            </p:custDataLst>
          </p:nvPr>
        </p:nvSpPr>
        <p:spPr>
          <a:xfrm>
            <a:off x="5762625" y="3140710"/>
            <a:ext cx="276225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sz="2400" b="1" kern="0" spc="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菱形 41"/>
          <p:cNvSpPr/>
          <p:nvPr>
            <p:custDataLst>
              <p:tags r:id="rId14"/>
            </p:custDataLst>
          </p:nvPr>
        </p:nvSpPr>
        <p:spPr>
          <a:xfrm>
            <a:off x="5596255" y="4307205"/>
            <a:ext cx="685800" cy="673100"/>
          </a:xfrm>
          <a:prstGeom prst="diamond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43" name="textbox 22"/>
          <p:cNvSpPr/>
          <p:nvPr>
            <p:custDataLst>
              <p:tags r:id="rId15"/>
            </p:custDataLst>
          </p:nvPr>
        </p:nvSpPr>
        <p:spPr>
          <a:xfrm>
            <a:off x="5762625" y="4465320"/>
            <a:ext cx="276225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sz="2400" b="1" kern="0" spc="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菱形 43"/>
          <p:cNvSpPr/>
          <p:nvPr>
            <p:custDataLst>
              <p:tags r:id="rId16"/>
            </p:custDataLst>
          </p:nvPr>
        </p:nvSpPr>
        <p:spPr>
          <a:xfrm>
            <a:off x="5596255" y="5473700"/>
            <a:ext cx="685800" cy="673100"/>
          </a:xfrm>
          <a:prstGeom prst="diamond">
            <a:avLst/>
          </a:prstGeom>
          <a:solidFill>
            <a:srgbClr val="2573C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45" name="textbox 22"/>
          <p:cNvSpPr/>
          <p:nvPr>
            <p:custDataLst>
              <p:tags r:id="rId17"/>
            </p:custDataLst>
          </p:nvPr>
        </p:nvSpPr>
        <p:spPr>
          <a:xfrm>
            <a:off x="5762625" y="5631815"/>
            <a:ext cx="276225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en-US" sz="2400" b="1" kern="0" spc="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picture 5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10" name="picture 5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314325"/>
            <a:ext cx="476250" cy="485775"/>
          </a:xfrm>
          <a:prstGeom prst="rect">
            <a:avLst/>
          </a:prstGeom>
        </p:spPr>
      </p:pic>
      <p:sp>
        <p:nvSpPr>
          <p:cNvPr id="512" name="textbox 512"/>
          <p:cNvSpPr/>
          <p:nvPr/>
        </p:nvSpPr>
        <p:spPr>
          <a:xfrm>
            <a:off x="1304925" y="400050"/>
            <a:ext cx="5648325" cy="40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800" b="1" kern="0" spc="0" dirty="0">
                <a:solidFill>
                  <a:srgbClr val="22222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攻关与挑战/Research &amp; Challenges</a:t>
            </a:r>
            <a:endParaRPr sz="2800" dirty="0"/>
          </a:p>
        </p:txBody>
      </p:sp>
      <p:pic>
        <p:nvPicPr>
          <p:cNvPr id="516" name="picture 5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4225" y="38100"/>
            <a:ext cx="1200150" cy="485775"/>
          </a:xfrm>
          <a:prstGeom prst="rect">
            <a:avLst/>
          </a:prstGeom>
        </p:spPr>
      </p:pic>
      <p:sp>
        <p:nvSpPr>
          <p:cNvPr id="518" name="textbox 518"/>
          <p:cNvSpPr/>
          <p:nvPr/>
        </p:nvSpPr>
        <p:spPr>
          <a:xfrm>
            <a:off x="2209800" y="990600"/>
            <a:ext cx="7934325" cy="23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轴系变形对齿轮箱的影响/The Influence of Shaft System Deformation on Gearbox</a:t>
            </a:r>
            <a:endParaRPr sz="1600" dirty="0"/>
          </a:p>
        </p:txBody>
      </p:sp>
      <p:sp>
        <p:nvSpPr>
          <p:cNvPr id="520" name="textbox 520"/>
          <p:cNvSpPr/>
          <p:nvPr/>
        </p:nvSpPr>
        <p:spPr>
          <a:xfrm>
            <a:off x="2257425" y="1409700"/>
            <a:ext cx="5943600" cy="19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幼圆字体"/>
                <a:ea typeface="幼圆字体"/>
                <a:cs typeface="幼圆字体"/>
              </a:rPr>
              <a:t>对齿轮箱一级行星级甚至丁二级行星级吻合的影响、对一二级注滞环的影响、对二级行星架轴承的影响等。</a:t>
            </a:r>
            <a:endParaRPr sz="1000" dirty="0"/>
          </a:p>
        </p:txBody>
      </p:sp>
      <p:sp>
        <p:nvSpPr>
          <p:cNvPr id="522" name="textbox 522"/>
          <p:cNvSpPr/>
          <p:nvPr/>
        </p:nvSpPr>
        <p:spPr>
          <a:xfrm>
            <a:off x="2266950" y="1733550"/>
            <a:ext cx="7600950" cy="409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The influence on the meshing of the gearbox first, and even second planetary gear, the 'influence on the oil ring of the first and second</a:t>
            </a:r>
            <a:endParaRPr sz="1000" dirty="0"/>
          </a:p>
          <a:p>
            <a:pPr algn="l" rtl="0" eaLnBrk="0">
              <a:spcBef>
                <a:spcPts val="750"/>
              </a:spcBef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planetary gear, the influence on the bearing of the second planetary carrier, etc.</a:t>
            </a:r>
            <a:endParaRPr sz="1000" dirty="0"/>
          </a:p>
        </p:txBody>
      </p:sp>
      <p:sp>
        <p:nvSpPr>
          <p:cNvPr id="524" name="textbox 524"/>
          <p:cNvSpPr/>
          <p:nvPr/>
        </p:nvSpPr>
        <p:spPr>
          <a:xfrm>
            <a:off x="228600" y="2286000"/>
            <a:ext cx="3638550" cy="504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多行星均载的控制/control of multiple</a:t>
            </a:r>
            <a:endParaRPr sz="1600" dirty="0"/>
          </a:p>
          <a:p>
            <a:pPr marL="1009650" algn="l" rtl="0" eaLnBrk="0"/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planets with uniform load</a:t>
            </a:r>
            <a:endParaRPr sz="1600" dirty="0"/>
          </a:p>
        </p:txBody>
      </p:sp>
      <p:sp>
        <p:nvSpPr>
          <p:cNvPr id="526" name="textbox 526"/>
          <p:cNvSpPr/>
          <p:nvPr/>
        </p:nvSpPr>
        <p:spPr>
          <a:xfrm>
            <a:off x="85725" y="2990850"/>
            <a:ext cx="3705225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行星架销轴孔的位置度、行星轮的精度一致性、行星轮轴承的一致</a:t>
            </a:r>
            <a:endParaRPr sz="1000" dirty="0"/>
          </a:p>
          <a:p>
            <a:pPr algn="l" rtl="0" eaLnBrk="0">
              <a:spcBef>
                <a:spcPts val="600"/>
              </a:spcBef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件、轴承座及大轮箱壳体刚度、轴承座及内轮箱壳体的精度等。</a:t>
            </a:r>
            <a:endParaRPr sz="1000" dirty="0"/>
          </a:p>
        </p:txBody>
      </p:sp>
      <p:sp>
        <p:nvSpPr>
          <p:cNvPr id="528" name="textbox 528"/>
          <p:cNvSpPr/>
          <p:nvPr/>
        </p:nvSpPr>
        <p:spPr>
          <a:xfrm>
            <a:off x="76200" y="3524250"/>
            <a:ext cx="3724275" cy="1095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Garamond" panose="02020404030301010803"/>
                <a:ea typeface="Garamond" panose="02020404030301010803"/>
                <a:cs typeface="Garamond" panose="02020404030301010803"/>
              </a:rPr>
              <a:t>The position of the pin hole of the planetary frame, the precision</a:t>
            </a:r>
            <a:endParaRPr sz="1000" dirty="0"/>
          </a:p>
          <a:p>
            <a:pPr algn="l" rtl="0" eaLnBrk="0">
              <a:spcBef>
                <a:spcPts val="675"/>
              </a:spcBef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Garamond" panose="02020404030301010803"/>
                <a:ea typeface="Garamond" panose="02020404030301010803"/>
                <a:cs typeface="Garamond" panose="02020404030301010803"/>
              </a:rPr>
              <a:t>consistency of the planetary wheel, the consistency of the</a:t>
            </a:r>
            <a:endParaRPr sz="1000" dirty="0"/>
          </a:p>
          <a:p>
            <a:pPr algn="l" rtl="0" eaLnBrk="0">
              <a:spcBef>
                <a:spcPts val="675"/>
              </a:spcBef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Garamond" panose="02020404030301010803"/>
                <a:ea typeface="Garamond" panose="02020404030301010803"/>
                <a:cs typeface="Garamond" panose="02020404030301010803"/>
              </a:rPr>
              <a:t>planetary wheel bearing, the stiffness of the bearing seat and the</a:t>
            </a:r>
            <a:endParaRPr sz="1000" dirty="0"/>
          </a:p>
          <a:p>
            <a:pPr algn="l" rtl="0" eaLnBrk="0">
              <a:spcBef>
                <a:spcPts val="675"/>
              </a:spcBef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Garamond" panose="02020404030301010803"/>
                <a:ea typeface="Garamond" panose="02020404030301010803"/>
                <a:cs typeface="Garamond" panose="02020404030301010803"/>
              </a:rPr>
              <a:t>gearbox housing, the precision of the bearing seat and the</a:t>
            </a:r>
            <a:endParaRPr sz="1000" dirty="0"/>
          </a:p>
          <a:p>
            <a:pPr algn="l" rtl="0" eaLnBrk="0">
              <a:spcBef>
                <a:spcPts val="675"/>
              </a:spcBef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Garamond" panose="02020404030301010803"/>
                <a:ea typeface="Garamond" panose="02020404030301010803"/>
                <a:cs typeface="Garamond" panose="02020404030301010803"/>
              </a:rPr>
              <a:t>gearbox housing, etc.</a:t>
            </a:r>
            <a:endParaRPr sz="1000" dirty="0"/>
          </a:p>
        </p:txBody>
      </p:sp>
      <p:sp>
        <p:nvSpPr>
          <p:cNvPr id="530" name="textbox 530"/>
          <p:cNvSpPr/>
          <p:nvPr/>
        </p:nvSpPr>
        <p:spPr>
          <a:xfrm>
            <a:off x="1990725" y="4772025"/>
            <a:ext cx="2981325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装配及测试/</a:t>
            </a:r>
            <a:r>
              <a:rPr sz="1600" b="1" i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assembly 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 test</a:t>
            </a:r>
            <a:endParaRPr sz="1600" dirty="0"/>
          </a:p>
        </p:txBody>
      </p:sp>
      <p:sp>
        <p:nvSpPr>
          <p:cNvPr id="532" name="textbox 532"/>
          <p:cNvSpPr/>
          <p:nvPr/>
        </p:nvSpPr>
        <p:spPr>
          <a:xfrm>
            <a:off x="161925" y="5143500"/>
            <a:ext cx="5133975" cy="409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齿轮箱与轴系整体发运成本太高，而齿轮箱与轴系分体发运又会导致齿轮箱与轴系或者二表</a:t>
            </a:r>
            <a:endParaRPr sz="1000" dirty="0"/>
          </a:p>
          <a:p>
            <a:pPr algn="l" rtl="0" eaLnBrk="0">
              <a:spcBef>
                <a:spcPts val="675"/>
              </a:spcBef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轴系的重复装拆从而带来清洁度、防锈、齿面砸碰、销孔拉伤等一系列风险。</a:t>
            </a:r>
            <a:endParaRPr sz="1000" dirty="0"/>
          </a:p>
        </p:txBody>
      </p:sp>
      <p:pic>
        <p:nvPicPr>
          <p:cNvPr id="536" name="picture 5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800" y="2371725"/>
            <a:ext cx="4705350" cy="3057525"/>
          </a:xfrm>
          <a:prstGeom prst="rect">
            <a:avLst/>
          </a:prstGeom>
        </p:spPr>
      </p:pic>
      <p:sp>
        <p:nvSpPr>
          <p:cNvPr id="538" name="textbox 538"/>
          <p:cNvSpPr/>
          <p:nvPr/>
        </p:nvSpPr>
        <p:spPr>
          <a:xfrm>
            <a:off x="8448675" y="2286000"/>
            <a:ext cx="1514475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运维/operation</a:t>
            </a:r>
            <a:endParaRPr sz="1600" dirty="0"/>
          </a:p>
        </p:txBody>
      </p:sp>
      <p:sp>
        <p:nvSpPr>
          <p:cNvPr id="540" name="textbox 540"/>
          <p:cNvSpPr/>
          <p:nvPr/>
        </p:nvSpPr>
        <p:spPr>
          <a:xfrm>
            <a:off x="8391525" y="2686050"/>
            <a:ext cx="2943225" cy="40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丙轮箱单独早装难度增大，需提前标定齿轮箱与轮毂</a:t>
            </a:r>
            <a:endParaRPr sz="1000" dirty="0"/>
          </a:p>
          <a:p>
            <a:pPr algn="l" rtl="0" eaLnBrk="0">
              <a:spcBef>
                <a:spcPts val="675"/>
              </a:spcBef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链的相对位置，且齿轮箱一旦卡死只能更换传动链。</a:t>
            </a:r>
            <a:endParaRPr sz="1000" dirty="0"/>
          </a:p>
        </p:txBody>
      </p:sp>
      <p:sp>
        <p:nvSpPr>
          <p:cNvPr id="542" name="textbox 542"/>
          <p:cNvSpPr/>
          <p:nvPr/>
        </p:nvSpPr>
        <p:spPr>
          <a:xfrm>
            <a:off x="8391525" y="3219450"/>
            <a:ext cx="2924175" cy="1085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The difficulty of lifting the gearbox separately</a:t>
            </a:r>
            <a:endParaRPr sz="1000" dirty="0"/>
          </a:p>
          <a:p>
            <a:pPr algn="l" rtl="0" eaLnBrk="0">
              <a:spcBef>
                <a:spcPts val="675"/>
              </a:spcBef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increases, requiring advance calibration of the</a:t>
            </a:r>
            <a:endParaRPr sz="1000" dirty="0"/>
          </a:p>
          <a:p>
            <a:pPr algn="l" rtl="0" eaLnBrk="0">
              <a:spcBef>
                <a:spcPts val="675"/>
              </a:spcBef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relative position between the gearbox and the hub</a:t>
            </a:r>
            <a:endParaRPr sz="1000" dirty="0"/>
          </a:p>
          <a:p>
            <a:pPr algn="l" rtl="0" eaLnBrk="0">
              <a:spcBef>
                <a:spcPts val="675"/>
              </a:spcBef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lock. Once the gearbox gets stuck, only the</a:t>
            </a:r>
            <a:endParaRPr sz="1000" dirty="0"/>
          </a:p>
          <a:p>
            <a:pPr algn="l" rtl="0" eaLnBrk="0">
              <a:spcBef>
                <a:spcPts val="675"/>
              </a:spcBef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transmission chain car be replaced.</a:t>
            </a:r>
            <a:endParaRPr sz="1000" dirty="0"/>
          </a:p>
        </p:txBody>
      </p:sp>
      <p:sp>
        <p:nvSpPr>
          <p:cNvPr id="544" name="textbox 544"/>
          <p:cNvSpPr/>
          <p:nvPr/>
        </p:nvSpPr>
        <p:spPr>
          <a:xfrm>
            <a:off x="6848475" y="5114925"/>
            <a:ext cx="4676775" cy="504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电机与齿轮箱集成的影响/The Influence of Motor</a:t>
            </a:r>
            <a:endParaRPr sz="1600" dirty="0"/>
          </a:p>
          <a:p>
            <a:pPr algn="l" rtl="0" eaLnBrk="0"/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 Gearbox Integration</a:t>
            </a:r>
            <a:endParaRPr sz="1600" dirty="0"/>
          </a:p>
        </p:txBody>
      </p:sp>
      <p:sp>
        <p:nvSpPr>
          <p:cNvPr id="546" name="textbox 546"/>
          <p:cNvSpPr/>
          <p:nvPr/>
        </p:nvSpPr>
        <p:spPr>
          <a:xfrm>
            <a:off x="161925" y="5676900"/>
            <a:ext cx="5133975" cy="876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The overall shipping cost of gearbox and shaft system is too high, while the separate</a:t>
            </a:r>
            <a:endParaRPr sz="1000" dirty="0"/>
          </a:p>
          <a:p>
            <a:pPr algn="l" rtl="0" eaLnBrk="0">
              <a:spcBef>
                <a:spcPts val="750"/>
              </a:spcBef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shipping of gearbox and shef: system will lead to repeated assembly and disassembly of</a:t>
            </a:r>
            <a:endParaRPr sz="1000" dirty="0"/>
          </a:p>
          <a:p>
            <a:pPr algn="l" rtl="0" eaLnBrk="0">
              <a:spcBef>
                <a:spcPts val="750"/>
              </a:spcBef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gear box and shaft system or tooling shaft system, which will bring a series of risks such as</a:t>
            </a:r>
            <a:endParaRPr sz="1000" dirty="0"/>
          </a:p>
          <a:p>
            <a:pPr algn="l" rtl="0" eaLnBrk="0">
              <a:spcBef>
                <a:spcPts val="750"/>
              </a:spcBef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clearliress, rus, prevention, tooth surface collision, p'n holc scratch and so on.</a:t>
            </a:r>
            <a:endParaRPr sz="1000" dirty="0"/>
          </a:p>
        </p:txBody>
      </p:sp>
      <p:sp>
        <p:nvSpPr>
          <p:cNvPr id="548" name="textbox 548"/>
          <p:cNvSpPr/>
          <p:nvPr/>
        </p:nvSpPr>
        <p:spPr>
          <a:xfrm>
            <a:off x="6848475" y="5734050"/>
            <a:ext cx="942975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车电流如何期待</a:t>
            </a:r>
            <a:endParaRPr sz="1000" dirty="0"/>
          </a:p>
        </p:txBody>
      </p:sp>
      <p:sp>
        <p:nvSpPr>
          <p:cNvPr id="550" name="textbox 550"/>
          <p:cNvSpPr/>
          <p:nvPr/>
        </p:nvSpPr>
        <p:spPr>
          <a:xfrm>
            <a:off x="6848475" y="6038850"/>
            <a:ext cx="1438275" cy="171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齿轮箱输出端密封可靠性</a:t>
            </a:r>
            <a:endParaRPr sz="1000" dirty="0"/>
          </a:p>
        </p:txBody>
      </p:sp>
      <p:sp>
        <p:nvSpPr>
          <p:cNvPr id="552" name="textbox 552"/>
          <p:cNvSpPr/>
          <p:nvPr/>
        </p:nvSpPr>
        <p:spPr>
          <a:xfrm>
            <a:off x="6848475" y="6353175"/>
            <a:ext cx="1609725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How to avoid axial currents</a:t>
            </a:r>
            <a:endParaRPr sz="1000" dirty="0"/>
          </a:p>
        </p:txBody>
      </p:sp>
      <p:sp>
        <p:nvSpPr>
          <p:cNvPr id="554" name="textbox 554"/>
          <p:cNvSpPr/>
          <p:nvPr/>
        </p:nvSpPr>
        <p:spPr>
          <a:xfrm>
            <a:off x="6848475" y="6638925"/>
            <a:ext cx="3114675" cy="19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Reliability of the seal at the output end of the gearbox</a:t>
            </a:r>
            <a:endParaRPr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8" name="picture 5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62" name="picture 5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4700" y="38100"/>
            <a:ext cx="1247775" cy="514350"/>
          </a:xfrm>
          <a:prstGeom prst="rect">
            <a:avLst/>
          </a:prstGeom>
        </p:spPr>
      </p:pic>
      <p:sp>
        <p:nvSpPr>
          <p:cNvPr id="564" name="textbox 564"/>
          <p:cNvSpPr/>
          <p:nvPr/>
        </p:nvSpPr>
        <p:spPr>
          <a:xfrm>
            <a:off x="6677025" y="2247900"/>
            <a:ext cx="4829175" cy="781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5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感谢您的聆听！</a:t>
            </a:r>
            <a:endParaRPr sz="5400" dirty="0"/>
          </a:p>
        </p:txBody>
      </p:sp>
      <p:sp>
        <p:nvSpPr>
          <p:cNvPr id="566" name="textbox 566"/>
          <p:cNvSpPr/>
          <p:nvPr/>
        </p:nvSpPr>
        <p:spPr>
          <a:xfrm>
            <a:off x="6753225" y="3257550"/>
            <a:ext cx="4486275" cy="371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12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 H A N K Y O U</a:t>
            </a:r>
            <a:endParaRPr sz="2400" dirty="0"/>
          </a:p>
        </p:txBody>
      </p:sp>
      <p:sp>
        <p:nvSpPr>
          <p:cNvPr id="568" name="textbox 568"/>
          <p:cNvSpPr/>
          <p:nvPr/>
        </p:nvSpPr>
        <p:spPr>
          <a:xfrm>
            <a:off x="962025" y="5334000"/>
            <a:ext cx="1590675" cy="314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236B9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汇报人：沈健</a:t>
            </a:r>
            <a:endParaRPr sz="2000" dirty="0"/>
          </a:p>
        </p:txBody>
      </p:sp>
      <p:sp>
        <p:nvSpPr>
          <p:cNvPr id="570" name="textbox 570"/>
          <p:cNvSpPr/>
          <p:nvPr/>
        </p:nvSpPr>
        <p:spPr>
          <a:xfrm>
            <a:off x="962025" y="5753100"/>
            <a:ext cx="2809875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1F74A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汇报时间：2025.12.03</a:t>
            </a:r>
            <a:endParaRPr sz="20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2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3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4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5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6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7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8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9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10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11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12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13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14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15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16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17.xml><?xml version="1.0" encoding="utf-8"?>
<p:tagLst xmlns:p="http://schemas.openxmlformats.org/presentationml/2006/main">
  <p:tag name="KSO_WM_DIAGRAM_VIRTUALLY_FRAME" val="{&quot;height&quot;:316.95,&quot;left&quot;:30.5,&quot;top&quot;:127.9,&quot;width&quot;:830.2}"/>
</p:tagLst>
</file>

<file path=ppt/tags/tag18.xml><?xml version="1.0" encoding="utf-8"?>
<p:tagLst xmlns:p="http://schemas.openxmlformats.org/presentationml/2006/main">
  <p:tag name="KSO_WM_DIAGRAM_VIRTUALLY_FRAME" val="{&quot;height&quot;:316.95,&quot;left&quot;:30.5,&quot;top&quot;:127.9,&quot;width&quot;:830.2}"/>
</p:tagLst>
</file>

<file path=ppt/tags/tag19.xml><?xml version="1.0" encoding="utf-8"?>
<p:tagLst xmlns:p="http://schemas.openxmlformats.org/presentationml/2006/main">
  <p:tag name="KSO_WM_DIAGRAM_VIRTUALLY_FRAME" val="{&quot;height&quot;:316.95,&quot;left&quot;:30.5,&quot;top&quot;:127.9,&quot;width&quot;:830.2}"/>
</p:tagLst>
</file>

<file path=ppt/tags/tag20.xml><?xml version="1.0" encoding="utf-8"?>
<p:tagLst xmlns:p="http://schemas.openxmlformats.org/presentationml/2006/main">
  <p:tag name="KSO_WM_DIAGRAM_VIRTUALLY_FRAME" val="{&quot;height&quot;:316.95,&quot;left&quot;:30.5,&quot;top&quot;:127.9,&quot;width&quot;:830.2}"/>
</p:tagLst>
</file>

<file path=ppt/tags/tag21.xml><?xml version="1.0" encoding="utf-8"?>
<p:tagLst xmlns:p="http://schemas.openxmlformats.org/presentationml/2006/main">
  <p:tag name="KSO_WM_DIAGRAM_VIRTUALLY_FRAME" val="{&quot;height&quot;:316.95,&quot;left&quot;:30.5,&quot;top&quot;:127.9,&quot;width&quot;:830.2}"/>
</p:tagLst>
</file>

<file path=ppt/tags/tag22.xml><?xml version="1.0" encoding="utf-8"?>
<p:tagLst xmlns:p="http://schemas.openxmlformats.org/presentationml/2006/main">
  <p:tag name="KSO_WM_DIAGRAM_VIRTUALLY_FRAME" val="{&quot;height&quot;:316.95,&quot;left&quot;:30.5,&quot;top&quot;:127.9,&quot;width&quot;:830.2}"/>
</p:tagLst>
</file>

<file path=ppt/tags/tag23.xml><?xml version="1.0" encoding="utf-8"?>
<p:tagLst xmlns:p="http://schemas.openxmlformats.org/presentationml/2006/main">
  <p:tag name="KSO_WM_DIAGRAM_VIRTUALLY_FRAME" val="{&quot;height&quot;:316.95,&quot;left&quot;:30.5,&quot;top&quot;:127.9,&quot;width&quot;:830.2}"/>
</p:tagLst>
</file>

<file path=ppt/tags/tag24.xml><?xml version="1.0" encoding="utf-8"?>
<p:tagLst xmlns:p="http://schemas.openxmlformats.org/presentationml/2006/main">
  <p:tag name="KSO_WM_DIAGRAM_VIRTUALLY_FRAME" val="{&quot;height&quot;:316.95,&quot;left&quot;:30.5,&quot;top&quot;:127.9,&quot;width&quot;:830.2}"/>
</p:tagLst>
</file>

<file path=ppt/tags/tag25.xml><?xml version="1.0" encoding="utf-8"?>
<p:tagLst xmlns:p="http://schemas.openxmlformats.org/presentationml/2006/main">
  <p:tag name="KSO_WM_DIAGRAM_VIRTUALLY_FRAME" val="{&quot;height&quot;:316.95,&quot;left&quot;:30.5,&quot;top&quot;:127.9,&quot;width&quot;:830.2}"/>
</p:tagLst>
</file>

<file path=ppt/tags/tag26.xml><?xml version="1.0" encoding="utf-8"?>
<p:tagLst xmlns:p="http://schemas.openxmlformats.org/presentationml/2006/main">
  <p:tag name="KSO_WM_DIAGRAM_VIRTUALLY_FRAME" val="{&quot;height&quot;:316.95,&quot;left&quot;:30.5,&quot;top&quot;:127.9,&quot;width&quot;:830.2}"/>
</p:tagLst>
</file>

<file path=ppt/tags/tag27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28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29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30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31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32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33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34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35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36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37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38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39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40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41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42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43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44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45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46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47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48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49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50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51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52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53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54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55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56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57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58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59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60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61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62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63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64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65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66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67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68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69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70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71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72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73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ags/tag74.xml><?xml version="1.0" encoding="utf-8"?>
<p:tagLst xmlns:p="http://schemas.openxmlformats.org/presentationml/2006/main">
  <p:tag name="KSO_WM_DIAGRAM_VIRTUALLY_FRAME" val="{&quot;height&quot;:359.50751373606334,&quot;left&quot;:438.84248626393656,&quot;top&quot;:133.99248626393663,&quot;width&quot;:519.6575137360635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8522</Words>
  <Application>WPS 演示</Application>
  <PresentationFormat/>
  <Paragraphs>695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4" baseType="lpstr">
      <vt:lpstr>Arial</vt:lpstr>
      <vt:lpstr>宋体</vt:lpstr>
      <vt:lpstr>Wingdings</vt:lpstr>
      <vt:lpstr>Times New Roman</vt:lpstr>
      <vt:lpstr>微软雅黑</vt:lpstr>
      <vt:lpstr>Calibri</vt:lpstr>
      <vt:lpstr>Arial</vt:lpstr>
      <vt:lpstr>幼圆字体</vt:lpstr>
      <vt:lpstr>AMGDT</vt:lpstr>
      <vt:lpstr>等线</vt:lpstr>
      <vt:lpstr>Garamond</vt:lpstr>
      <vt:lpstr>黑体</vt:lpstr>
      <vt:lpstr>华文新魏</vt:lpstr>
      <vt:lpstr>Segoe UI</vt:lpstr>
      <vt:lpstr>Roboto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WPS_1779984719</cp:lastModifiedBy>
  <cp:revision>3</cp:revision>
  <dcterms:created xsi:type="dcterms:W3CDTF">2026-10-14T09:52:00Z</dcterms:created>
  <dcterms:modified xsi:type="dcterms:W3CDTF">2026-10-16T03:16:25Z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EN">
    <vt:lpwstr>V1BTLUFJLUVuZ2luZQ</vt:lpwstr>
  </property>
  <property fmtid="{D5CDD505-2E9C-101B-9397-08002B2CF9AE}" pid="3" name="KSOProductBuildVer">
    <vt:lpwstr>2052-12.1.0.29161</vt:lpwstr>
  </property>
  <property fmtid="{D5CDD505-2E9C-101B-9397-08002B2CF9AE}" pid="4" name="ICV">
    <vt:lpwstr>D53B7600EF42454B842251A51F921412_12</vt:lpwstr>
  </property>
</Properties>
</file>