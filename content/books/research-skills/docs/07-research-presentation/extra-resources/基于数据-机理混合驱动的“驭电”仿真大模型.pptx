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  <p:sldMasterId id="2147483662" r:id="rId4"/>
    <p:sldMasterId id="2147483664" r:id="rId5"/>
  </p:sldMasterIdLst>
  <p:notesMasterIdLst>
    <p:notesMasterId r:id="rId7"/>
  </p:notesMasterIdLst>
  <p:handoutMasterIdLst>
    <p:handoutMasterId r:id="rId29"/>
  </p:handoutMasterIdLst>
  <p:sldIdLst>
    <p:sldId id="281" r:id="rId6"/>
    <p:sldId id="282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1031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9" Type="http://schemas.openxmlformats.org/officeDocument/2006/relationships/handoutMaster" Target="handoutMasters/handoutMaster1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90"/>
            </a:lvl1pPr>
          </a:lstStyle>
          <a:p>
            <a:endParaRPr lang="zh-CN" altLang="en-US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167998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90"/>
            </a:lvl1pPr>
          </a:lstStyle>
          <a:p>
            <a:fld id="{0F9B84EA-7D68-4D60-9CB1-D50884785D1C}" type="datetimeFigureOut">
              <a:rPr lang="zh-CN" altLang="en-US" smtClean="0"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90"/>
            </a:lvl1pPr>
          </a:lstStyle>
          <a:p>
            <a:endParaRPr lang="zh-CN" altLang="en-US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167998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90"/>
            </a:lvl1pPr>
          </a:lstStyle>
          <a:p>
            <a:fld id="{8D4E0FC9-F1F8-4FAE-9988-3BA365CFD46F}" type="slidenum">
              <a:rPr lang="zh-CN" altLang="en-US" smtClean="0"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charset="-122"/>
        <a:cs typeface="微软雅黑" panose="020B050302020402020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charset="-122"/>
        <a:cs typeface="微软雅黑" panose="020B050302020402020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charset="-122"/>
        <a:cs typeface="微软雅黑" panose="020B050302020402020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charset="-122"/>
        <a:cs typeface="微软雅黑" panose="020B050302020402020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charset="-122"/>
        <a:cs typeface="微软雅黑" panose="020B050302020402020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84" y="482457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556" y="1524000"/>
            <a:ext cx="10972888" cy="47244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457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84" y="1523857"/>
            <a:ext cx="5257842" cy="47244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22060" y="1524000"/>
            <a:ext cx="5266690" cy="4724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601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7060" y="1524000"/>
            <a:ext cx="5257842" cy="914407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540000"/>
            <a:ext cx="5257800" cy="37084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324411" y="1523712"/>
            <a:ext cx="5257842" cy="914407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324600" y="2540000"/>
            <a:ext cx="5257800" cy="37084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9" name="日期占位符 18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20" name="页脚占位符 19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" name="灯片编号占位符 20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300" y="6314440"/>
            <a:ext cx="2709545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473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84" y="609457"/>
            <a:ext cx="355602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772660" y="609600"/>
            <a:ext cx="6807254" cy="5638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2311400"/>
            <a:ext cx="3556000" cy="3937031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0" name="页脚占位符 29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2" name="日期占位符 3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547860" y="609600"/>
            <a:ext cx="2032016" cy="563884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636069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609600"/>
            <a:ext cx="10973435" cy="5638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1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cs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cs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56" y="482473"/>
            <a:ext cx="10972888" cy="7112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56" y="1524000"/>
            <a:ext cx="10972888" cy="47244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616585" rtl="0" eaLnBrk="1" latinLnBrk="0" hangingPunct="1">
        <a:lnSpc>
          <a:spcPct val="90000"/>
        </a:lnSpc>
        <a:spcBef>
          <a:spcPct val="0"/>
        </a:spcBef>
        <a:buNone/>
        <a:defRPr sz="29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4305" indent="-154305" algn="l" defTabSz="616585" rtl="0" eaLnBrk="1" latinLnBrk="0" hangingPunct="1">
        <a:lnSpc>
          <a:spcPct val="90000"/>
        </a:lnSpc>
        <a:spcBef>
          <a:spcPct val="135000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62280" indent="-154305" algn="l" defTabSz="616585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770255" indent="-154305" algn="l" defTabSz="616585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78865" indent="-154305" algn="l" defTabSz="616585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386840" indent="-154305" algn="l" defTabSz="616585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695450" indent="-154305" algn="l" defTabSz="616585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2003425" indent="-154305" algn="l" defTabSz="616585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311400" indent="-154305" algn="l" defTabSz="616585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620010" indent="-154305" algn="l" defTabSz="616585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1658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7975" algn="l" defTabSz="61658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6585" algn="l" defTabSz="61658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4560" algn="l" defTabSz="61658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3170" algn="l" defTabSz="61658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1145" algn="l" defTabSz="61658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49120" algn="l" defTabSz="61658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57730" algn="l" defTabSz="61658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5705" algn="l" defTabSz="61658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39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image" Target="../media/image12.jpeg"/><Relationship Id="rId10" Type="http://schemas.openxmlformats.org/officeDocument/2006/relationships/slideLayout" Target="../slideLayouts/slideLayout13.xml"/><Relationship Id="rId1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0.png"/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15.png"/><Relationship Id="rId4" Type="http://schemas.openxmlformats.org/officeDocument/2006/relationships/image" Target="../media/image19.jpeg"/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image" Target="../media/image16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0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image" Target="../media/image24.jpeg"/><Relationship Id="rId10" Type="http://schemas.openxmlformats.org/officeDocument/2006/relationships/slideLayout" Target="../slideLayouts/slideLayout13.xml"/><Relationship Id="rId1" Type="http://schemas.openxmlformats.org/officeDocument/2006/relationships/image" Target="../media/image2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0.png"/><Relationship Id="rId1" Type="http://schemas.openxmlformats.org/officeDocument/2006/relationships/image" Target="../media/image25.jpe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jpe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image" Target="../media/image31.jpe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5" Type="http://schemas.openxmlformats.org/officeDocument/2006/relationships/image" Target="../media/image38.jpeg"/><Relationship Id="rId4" Type="http://schemas.openxmlformats.org/officeDocument/2006/relationships/hyperlink" Target="infer.py" TargetMode="External"/><Relationship Id="rId3" Type="http://schemas.openxmlformats.org/officeDocument/2006/relationships/hyperlink" Target="train.py" TargetMode="External"/><Relationship Id="rId2" Type="http://schemas.openxmlformats.org/officeDocument/2006/relationships/image" Target="../media/image37.jpeg"/><Relationship Id="rId1" Type="http://schemas.openxmlformats.org/officeDocument/2006/relationships/image" Target="../media/image36.jpe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5" Type="http://schemas.openxmlformats.org/officeDocument/2006/relationships/image" Target="../media/image15.png"/><Relationship Id="rId4" Type="http://schemas.openxmlformats.org/officeDocument/2006/relationships/image" Target="../media/image42.jpeg"/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0.png"/><Relationship Id="rId1" Type="http://schemas.openxmlformats.org/officeDocument/2006/relationships/image" Target="../media/image43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tags" Target="../tags/tag57.xml"/><Relationship Id="rId7" Type="http://schemas.openxmlformats.org/officeDocument/2006/relationships/tags" Target="../tags/tag56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image" Target="../media/image45.jpeg"/><Relationship Id="rId10" Type="http://schemas.openxmlformats.org/officeDocument/2006/relationships/slideLayout" Target="../slideLayouts/slideLayout13.xml"/><Relationship Id="rId1" Type="http://schemas.openxmlformats.org/officeDocument/2006/relationships/image" Target="../media/image44.jpe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10.png"/><Relationship Id="rId4" Type="http://schemas.openxmlformats.org/officeDocument/2006/relationships/image" Target="../media/image48.png"/><Relationship Id="rId3" Type="http://schemas.openxmlformats.org/officeDocument/2006/relationships/image" Target="../media/image47.png"/><Relationship Id="rId2" Type="http://schemas.openxmlformats.org/officeDocument/2006/relationships/image" Target="../media/image15.png"/><Relationship Id="rId1" Type="http://schemas.openxmlformats.org/officeDocument/2006/relationships/image" Target="../media/image46.jpe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3" Type="http://schemas.openxmlformats.org/officeDocument/2006/relationships/image" Target="../media/image15.png"/><Relationship Id="rId2" Type="http://schemas.openxmlformats.org/officeDocument/2006/relationships/image" Target="../media/image50.jpeg"/><Relationship Id="rId1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15.png"/><Relationship Id="rId7" Type="http://schemas.openxmlformats.org/officeDocument/2006/relationships/image" Target="../media/image59.jpeg"/><Relationship Id="rId6" Type="http://schemas.openxmlformats.org/officeDocument/2006/relationships/image" Target="../media/image58.jpeg"/><Relationship Id="rId5" Type="http://schemas.openxmlformats.org/officeDocument/2006/relationships/image" Target="../media/image57.jpeg"/><Relationship Id="rId4" Type="http://schemas.openxmlformats.org/officeDocument/2006/relationships/image" Target="../media/image56.jpeg"/><Relationship Id="rId3" Type="http://schemas.openxmlformats.org/officeDocument/2006/relationships/image" Target="../media/image55.jpeg"/><Relationship Id="rId2" Type="http://schemas.openxmlformats.org/officeDocument/2006/relationships/image" Target="../media/image54.jpeg"/><Relationship Id="rId10" Type="http://schemas.openxmlformats.org/officeDocument/2006/relationships/slideLayout" Target="../slideLayouts/slideLayout13.xml"/><Relationship Id="rId1" Type="http://schemas.openxmlformats.org/officeDocument/2006/relationships/image" Target="../media/image53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0.png"/><Relationship Id="rId2" Type="http://schemas.openxmlformats.org/officeDocument/2006/relationships/image" Target="../media/image61.png"/><Relationship Id="rId1" Type="http://schemas.openxmlformats.org/officeDocument/2006/relationships/image" Target="../media/image60.jpe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0.png"/><Relationship Id="rId2" Type="http://schemas.openxmlformats.org/officeDocument/2006/relationships/image" Target="../media/image63.png"/><Relationship Id="rId1" Type="http://schemas.openxmlformats.org/officeDocument/2006/relationships/image" Target="../media/image62.jpe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0.png"/><Relationship Id="rId3" Type="http://schemas.openxmlformats.org/officeDocument/2006/relationships/image" Target="../media/image15.png"/><Relationship Id="rId2" Type="http://schemas.openxmlformats.org/officeDocument/2006/relationships/image" Target="../media/image65.jpeg"/><Relationship Id="rId1" Type="http://schemas.openxmlformats.org/officeDocument/2006/relationships/image" Target="../media/image64.jpe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15.png"/><Relationship Id="rId4" Type="http://schemas.openxmlformats.org/officeDocument/2006/relationships/image" Target="../media/image69.jpeg"/><Relationship Id="rId3" Type="http://schemas.openxmlformats.org/officeDocument/2006/relationships/image" Target="../media/image68.jpeg"/><Relationship Id="rId2" Type="http://schemas.openxmlformats.org/officeDocument/2006/relationships/image" Target="../media/image67.jpeg"/><Relationship Id="rId1" Type="http://schemas.openxmlformats.org/officeDocument/2006/relationships/image" Target="../media/image66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0.png"/><Relationship Id="rId1" Type="http://schemas.openxmlformats.org/officeDocument/2006/relationships/image" Target="../media/image7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0" y="3333750"/>
            <a:ext cx="12192000" cy="3187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233" y="0"/>
            <a:ext cx="3946525" cy="73025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0"/>
            <a:ext cx="12192635" cy="157480"/>
          </a:xfrm>
          <a:prstGeom prst="rect">
            <a:avLst/>
          </a:prstGeom>
          <a:solidFill>
            <a:srgbClr val="365D9E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0" name="图片 39" descr="ai_picture_ai_change_1784201566847"/>
          <p:cNvPicPr>
            <a:picLocks noChangeAspect="1"/>
          </p:cNvPicPr>
          <p:nvPr/>
        </p:nvPicPr>
        <p:blipFill>
          <a:blip r:embed="rId3">
            <a:clrChange>
              <a:clrFrom>
                <a:srgbClr val="044497">
                  <a:alpha val="100000"/>
                </a:srgbClr>
              </a:clrFrom>
              <a:clrTo>
                <a:srgbClr val="044497">
                  <a:alpha val="100000"/>
                  <a:alpha val="0"/>
                </a:srgbClr>
              </a:clrTo>
            </a:clrChange>
          </a:blip>
          <a:srcRect l="19403" t="32152" r="19217" b="32152"/>
          <a:stretch>
            <a:fillRect/>
          </a:stretch>
        </p:blipFill>
        <p:spPr>
          <a:xfrm>
            <a:off x="4434205" y="-156845"/>
            <a:ext cx="2452370" cy="1043940"/>
          </a:xfrm>
          <a:prstGeom prst="rect">
            <a:avLst/>
          </a:prstGeom>
        </p:spPr>
      </p:pic>
      <p:sp>
        <p:nvSpPr>
          <p:cNvPr id="10" name="textbox 2"/>
          <p:cNvSpPr/>
          <p:nvPr/>
        </p:nvSpPr>
        <p:spPr>
          <a:xfrm>
            <a:off x="-81280" y="1968500"/>
            <a:ext cx="11483340" cy="10820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ctr" rtl="0" eaLnBrk="0">
              <a:lnSpc>
                <a:spcPct val="84000"/>
              </a:lnSpc>
            </a:pPr>
            <a:r>
              <a:rPr sz="6000" b="1" kern="0" spc="40" dirty="0">
                <a:solidFill>
                  <a:srgbClr val="104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基于数据-机理混合驱动的</a:t>
            </a:r>
            <a:endParaRPr sz="6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079500" algn="ctr" rtl="0" eaLnBrk="0">
              <a:lnSpc>
                <a:spcPts val="6015"/>
              </a:lnSpc>
            </a:pPr>
            <a:r>
              <a:rPr sz="6000" b="1" kern="0" spc="-170" dirty="0">
                <a:solidFill>
                  <a:srgbClr val="104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“驭电”仿真大模型</a:t>
            </a:r>
            <a:endParaRPr lang="zh-CN" altLang="en-US" sz="6000" b="1" kern="0" spc="-190" dirty="0">
              <a:solidFill>
                <a:srgbClr val="FF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4"/>
          <p:cNvSpPr/>
          <p:nvPr/>
        </p:nvSpPr>
        <p:spPr>
          <a:xfrm>
            <a:off x="3638550" y="4518660"/>
            <a:ext cx="6683375" cy="9601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000"/>
              </a:lnSpc>
            </a:pPr>
            <a:endParaRPr sz="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196465" indent="-2183765" algn="l" rtl="0" eaLnBrk="0">
              <a:lnSpc>
                <a:spcPct val="90000"/>
              </a:lnSpc>
            </a:pPr>
            <a:r>
              <a:rPr sz="3400" b="1" kern="0" spc="2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</a:t>
            </a:r>
            <a:r>
              <a:rPr sz="3400" kern="0" spc="2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3400" b="1" kern="0" spc="2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师：</a:t>
            </a:r>
            <a:r>
              <a:rPr lang="zh-CN" sz="3400" b="1" kern="0" spc="2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肖钊</a:t>
            </a:r>
            <a:endParaRPr lang="zh-CN" sz="3400" b="1" kern="0" spc="24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6"/>
          <p:cNvSpPr/>
          <p:nvPr/>
        </p:nvSpPr>
        <p:spPr>
          <a:xfrm>
            <a:off x="4214495" y="6387465"/>
            <a:ext cx="3126740" cy="431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83000"/>
              </a:lnSpc>
            </a:pPr>
            <a:r>
              <a:rPr sz="3100" b="1" kern="0" spc="20" dirty="0">
                <a:solidFill>
                  <a:srgbClr val="305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2026年</a:t>
            </a:r>
            <a:r>
              <a:rPr lang="en-US" sz="3100" b="1" kern="0" spc="20" dirty="0">
                <a:solidFill>
                  <a:srgbClr val="305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sz="3100" b="1" kern="0" spc="20" dirty="0">
                <a:solidFill>
                  <a:srgbClr val="305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月1</a:t>
            </a:r>
            <a:r>
              <a:rPr lang="en-US" sz="3100" b="1" kern="0" spc="20" dirty="0">
                <a:solidFill>
                  <a:srgbClr val="305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3100" b="1" kern="0" spc="20" dirty="0">
                <a:solidFill>
                  <a:srgbClr val="305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</a:t>
            </a:r>
            <a:endParaRPr lang="zh-CN" altLang="en-US" sz="3100" b="1" kern="0" spc="20" dirty="0">
              <a:solidFill>
                <a:srgbClr val="30509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3651250" y="5717540"/>
            <a:ext cx="4396105" cy="431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rtl="0" eaLnBrk="0">
              <a:lnSpc>
                <a:spcPct val="86000"/>
              </a:lnSpc>
            </a:pPr>
            <a:r>
              <a:rPr sz="3100" b="1" kern="0" spc="20" dirty="0">
                <a:solidFill>
                  <a:srgbClr val="305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湖南科技大学学机电学院</a:t>
            </a:r>
            <a:endParaRPr sz="3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6"/>
          <p:cNvSpPr/>
          <p:nvPr/>
        </p:nvSpPr>
        <p:spPr>
          <a:xfrm>
            <a:off x="3651361" y="3815237"/>
            <a:ext cx="3054350" cy="4851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86000"/>
              </a:lnSpc>
            </a:pPr>
            <a:r>
              <a:rPr sz="3500" b="1" kern="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</a:t>
            </a:r>
            <a:r>
              <a:rPr sz="3500" kern="0" spc="-7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3500" b="1" kern="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辩</a:t>
            </a:r>
            <a:r>
              <a:rPr sz="3500" kern="0" spc="-7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3500" b="1" kern="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r>
              <a:rPr sz="3500" kern="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600" kern="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600" kern="0" spc="-4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3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/>
          <p:nvPr/>
        </p:nvSpPr>
        <p:spPr>
          <a:xfrm>
            <a:off x="877570" y="6393815"/>
            <a:ext cx="4899660" cy="237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97000"/>
              </a:lnSpc>
            </a:pPr>
            <a:r>
              <a:rPr sz="1200" kern="0" spc="-50" dirty="0">
                <a:solidFill>
                  <a:srgbClr val="306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⑥CSG 2026.All Rights Reserved  </a:t>
            </a:r>
            <a:r>
              <a:rPr sz="1080" kern="0" spc="10" dirty="0">
                <a:solidFill>
                  <a:srgbClr val="405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</a:t>
            </a:r>
            <a:r>
              <a:rPr sz="1080" kern="0" spc="0" dirty="0">
                <a:solidFill>
                  <a:srgbClr val="405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</a:t>
            </a:r>
            <a:endParaRPr sz="3440" baseline="-1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4574540"/>
            <a:ext cx="1729105" cy="16878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0024745" y="4567555"/>
            <a:ext cx="2167255" cy="16929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4241165" y="4566920"/>
            <a:ext cx="3012440" cy="169481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28470" y="4575175"/>
            <a:ext cx="2491740" cy="168719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7274560" y="4566920"/>
            <a:ext cx="2772410" cy="1694180"/>
          </a:xfrm>
          <a:prstGeom prst="rect">
            <a:avLst/>
          </a:prstGeom>
        </p:spPr>
      </p:pic>
      <p:sp>
        <p:nvSpPr>
          <p:cNvPr id="15" name="textbox 2"/>
          <p:cNvSpPr/>
          <p:nvPr/>
        </p:nvSpPr>
        <p:spPr>
          <a:xfrm>
            <a:off x="2586726" y="1690098"/>
            <a:ext cx="6983730" cy="13919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84000"/>
              </a:lnSpc>
            </a:pPr>
            <a:r>
              <a:rPr sz="4700" b="1" kern="0" spc="40" dirty="0">
                <a:solidFill>
                  <a:srgbClr val="104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基于数据-机理混合驱动的</a:t>
            </a:r>
            <a:endParaRPr sz="4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079500" algn="l" rtl="0" eaLnBrk="0">
              <a:lnSpc>
                <a:spcPts val="6015"/>
              </a:lnSpc>
            </a:pPr>
            <a:r>
              <a:rPr sz="4700" b="1" kern="0" spc="-170" dirty="0">
                <a:solidFill>
                  <a:srgbClr val="104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“驭电”仿真大模型</a:t>
            </a:r>
            <a:endParaRPr sz="4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6"/>
          <p:cNvSpPr/>
          <p:nvPr/>
        </p:nvSpPr>
        <p:spPr>
          <a:xfrm>
            <a:off x="4411345" y="3430270"/>
            <a:ext cx="3369310" cy="3657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ctr" rtl="0" eaLnBrk="0">
              <a:lnSpc>
                <a:spcPct val="79000"/>
              </a:lnSpc>
            </a:pPr>
            <a:r>
              <a:rPr lang="zh-CN" sz="2600" b="1" kern="0" spc="-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湖南科技大学机电学</a:t>
            </a:r>
            <a:r>
              <a:rPr sz="2600" b="1" kern="0" spc="-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院</a:t>
            </a:r>
            <a:endParaRPr sz="2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0"/>
          <p:cNvSpPr/>
          <p:nvPr/>
        </p:nvSpPr>
        <p:spPr>
          <a:xfrm>
            <a:off x="5268595" y="3888105"/>
            <a:ext cx="2006600" cy="3670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2600" b="1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2026年</a:t>
            </a:r>
            <a:r>
              <a:rPr lang="en-US" sz="2600" b="1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sz="2600" b="1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endParaRPr sz="2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" name="图片 18"/>
          <p:cNvPicPr/>
          <p:nvPr/>
        </p:nvPicPr>
        <p:blipFill>
          <a:blip r:embed="rId7"/>
          <a:stretch>
            <a:fillRect/>
          </a:stretch>
        </p:blipFill>
        <p:spPr>
          <a:xfrm>
            <a:off x="11050270" y="69850"/>
            <a:ext cx="896620" cy="8997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365260" y="1981207"/>
            <a:ext cx="9969519" cy="2851145"/>
          </a:xfrm>
          <a:prstGeom prst="rect">
            <a:avLst/>
          </a:prstGeom>
          <a:noFill/>
          <a:ln w="0" cap="flat">
            <a:noFill/>
            <a:prstDash val="solid"/>
            <a:miter lim="0"/>
            <a:headEnd/>
            <a:tailEnd/>
          </a:ln>
        </p:spPr>
      </p:pic>
      <p:sp>
        <p:nvSpPr>
          <p:cNvPr id="20" name="rect 20"/>
          <p:cNvSpPr/>
          <p:nvPr/>
        </p:nvSpPr>
        <p:spPr>
          <a:xfrm>
            <a:off x="158739" y="6184887"/>
            <a:ext cx="9131319" cy="463532"/>
          </a:xfrm>
          <a:prstGeom prst="rect">
            <a:avLst/>
          </a:prstGeom>
          <a:solidFill>
            <a:srgbClr val="0F376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1592567" y="2606670"/>
            <a:ext cx="651510" cy="16484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65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50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</a:t>
            </a:r>
            <a:r>
              <a:rPr sz="5000" kern="0" spc="2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0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录</a:t>
            </a:r>
            <a:endParaRPr sz="5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4"/>
          <p:cNvSpPr/>
          <p:nvPr>
            <p:custDataLst>
              <p:tags r:id="rId3"/>
            </p:custDataLst>
          </p:nvPr>
        </p:nvSpPr>
        <p:spPr>
          <a:xfrm>
            <a:off x="5121274" y="3248439"/>
            <a:ext cx="3373120" cy="276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algn="l" rtl="0" eaLnBrk="0">
              <a:lnSpc>
                <a:spcPct val="87000"/>
              </a:lnSpc>
            </a:pPr>
            <a:r>
              <a:rPr sz="1900" b="1" kern="0" spc="120" dirty="0">
                <a:solidFill>
                  <a:srgbClr val="707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“驭电”仿真大模型研发情况</a:t>
            </a:r>
            <a:endParaRPr sz="1900" b="1" kern="0" spc="120" dirty="0">
              <a:solidFill>
                <a:srgbClr val="70707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6"/>
          <p:cNvSpPr/>
          <p:nvPr>
            <p:custDataLst>
              <p:tags r:id="rId4"/>
            </p:custDataLst>
          </p:nvPr>
        </p:nvSpPr>
        <p:spPr>
          <a:xfrm>
            <a:off x="5114935" y="4264383"/>
            <a:ext cx="3364865" cy="276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algn="l" rtl="0" eaLnBrk="0">
              <a:lnSpc>
                <a:spcPct val="87000"/>
              </a:lnSpc>
            </a:pPr>
            <a:r>
              <a:rPr sz="1900" b="1" kern="0" spc="120" dirty="0">
                <a:solidFill>
                  <a:srgbClr val="707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“驭电”仿真大模型应用效果</a:t>
            </a:r>
            <a:endParaRPr sz="1900" b="1" kern="0" spc="120" dirty="0">
              <a:solidFill>
                <a:srgbClr val="70707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1104940" y="6389604"/>
            <a:ext cx="2054860" cy="19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algn="r" rtl="0" eaLnBrk="0">
              <a:lnSpc>
                <a:spcPct val="98000"/>
              </a:lnSpc>
            </a:pPr>
            <a:r>
              <a:rPr sz="1100" kern="0" dirty="0">
                <a:solidFill>
                  <a:srgbClr val="B0D0E0">
                    <a:alpha val="100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CCSG 2026.All Rights Reserve</a:t>
            </a:r>
            <a:r>
              <a:rPr sz="1100" kern="0" dirty="0">
                <a:solidFill>
                  <a:srgbClr val="B0D0E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d</a:t>
            </a:r>
            <a:endParaRPr sz="1100" kern="0" dirty="0">
              <a:solidFill>
                <a:srgbClr val="B0D0E0">
                  <a:alpha val="100000"/>
                </a:srgbClr>
              </a:solidFill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34" name="textbox 34"/>
          <p:cNvSpPr/>
          <p:nvPr>
            <p:custDataLst>
              <p:tags r:id="rId5"/>
            </p:custDataLst>
          </p:nvPr>
        </p:nvSpPr>
        <p:spPr>
          <a:xfrm>
            <a:off x="3492500" y="2264179"/>
            <a:ext cx="1083945" cy="274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900" kern="0" spc="18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第一部分</a:t>
            </a:r>
            <a:endParaRPr sz="1900" kern="0" spc="180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6"/>
          <p:cNvSpPr/>
          <p:nvPr>
            <p:custDataLst>
              <p:tags r:id="rId6"/>
            </p:custDataLst>
          </p:nvPr>
        </p:nvSpPr>
        <p:spPr>
          <a:xfrm>
            <a:off x="3492500" y="4283448"/>
            <a:ext cx="1083945" cy="274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900" kern="0" spc="18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第三部分</a:t>
            </a:r>
            <a:endParaRPr sz="1900" kern="0" spc="180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8"/>
          <p:cNvSpPr/>
          <p:nvPr>
            <p:custDataLst>
              <p:tags r:id="rId7"/>
            </p:custDataLst>
          </p:nvPr>
        </p:nvSpPr>
        <p:spPr>
          <a:xfrm>
            <a:off x="3492500" y="3273814"/>
            <a:ext cx="1071245" cy="274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900" kern="0" spc="1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第二部分</a:t>
            </a:r>
            <a:endParaRPr sz="1900" kern="0" spc="150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40"/>
          <p:cNvSpPr/>
          <p:nvPr>
            <p:custDataLst>
              <p:tags r:id="rId8"/>
            </p:custDataLst>
          </p:nvPr>
        </p:nvSpPr>
        <p:spPr>
          <a:xfrm>
            <a:off x="5293142" y="2241572"/>
            <a:ext cx="1066165" cy="2755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900" b="1" kern="0" spc="130" dirty="0">
                <a:solidFill>
                  <a:srgbClr val="204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研发背景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" name="图片 10"/>
          <p:cNvPicPr/>
          <p:nvPr/>
        </p:nvPicPr>
        <p:blipFill>
          <a:blip r:embed="rId9"/>
          <a:stretch>
            <a:fillRect/>
          </a:stretch>
        </p:blipFill>
        <p:spPr>
          <a:xfrm>
            <a:off x="11050270" y="0"/>
            <a:ext cx="896620" cy="8997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17479" y="3517879"/>
            <a:ext cx="11525220" cy="3340120"/>
          </a:xfrm>
          <a:prstGeom prst="rect">
            <a:avLst/>
          </a:prstGeom>
        </p:spPr>
      </p:pic>
      <p:sp>
        <p:nvSpPr>
          <p:cNvPr id="46" name="textbox 46"/>
          <p:cNvSpPr/>
          <p:nvPr/>
        </p:nvSpPr>
        <p:spPr>
          <a:xfrm>
            <a:off x="241279" y="1022322"/>
            <a:ext cx="11792585" cy="2439035"/>
          </a:xfrm>
          <a:prstGeom prst="rect">
            <a:avLst/>
          </a:prstGeom>
          <a:solidFill>
            <a:srgbClr val="EBEBE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7000"/>
              </a:lnSpc>
            </a:pPr>
            <a:endParaRPr sz="10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386715" algn="l" rtl="0" eaLnBrk="0">
              <a:lnSpc>
                <a:spcPct val="85000"/>
              </a:lnSpc>
            </a:pP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仿真分析</a:t>
            </a: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是保障电力系统安全稳定运</a:t>
            </a:r>
            <a:r>
              <a:rPr sz="19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行的基础。</a:t>
            </a: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传统电网</a:t>
            </a:r>
            <a:r>
              <a:rPr sz="19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所有发电都可以提前计划，根据夏季、冬季、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86715" algn="l" rtl="0" eaLnBrk="0">
              <a:lnSpc>
                <a:spcPts val="3650"/>
              </a:lnSpc>
            </a:pP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和负荷高峰、低谷组合</a:t>
            </a:r>
            <a:r>
              <a:rPr sz="19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若干</a:t>
            </a: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典型运行方式，</a:t>
            </a:r>
            <a:r>
              <a:rPr sz="19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完成安全校核后基本满足全年日常运行的需要。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86715" indent="3175" algn="l" rtl="0" eaLnBrk="0">
              <a:lnSpc>
                <a:spcPct val="158000"/>
              </a:lnSpc>
              <a:spcBef>
                <a:spcPts val="210"/>
              </a:spcBef>
            </a:pPr>
            <a:r>
              <a:rPr sz="1900" b="1" kern="0" spc="3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新型电力系统</a:t>
            </a:r>
            <a:r>
              <a:rPr sz="19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背景下，</a:t>
            </a:r>
            <a:r>
              <a:rPr sz="1900" kern="0" spc="-5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大量新能源机</a:t>
            </a:r>
            <a:r>
              <a:rPr sz="19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组发电强随机波动性，</a:t>
            </a:r>
            <a:r>
              <a:rPr sz="1900" kern="0" spc="6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不仅使运行方式去典型化，</a:t>
            </a:r>
            <a:r>
              <a:rPr sz="1900" kern="0" spc="7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需要分析</a:t>
            </a: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海量组合场景 ，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而且新能源超短期发电预测和现货市场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实时交易，对</a:t>
            </a: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仿真分析时效性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提出很高要求，传统</a:t>
            </a:r>
            <a:r>
              <a:rPr sz="19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方法难以为继， 已成为新型电力系统建设尤其是新能源消纳的</a:t>
            </a: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一大卡点。</a:t>
            </a:r>
            <a:endParaRPr sz="1900" b="1" kern="0" spc="70" dirty="0">
              <a:solidFill>
                <a:srgbClr val="C0202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483235" y="233680"/>
            <a:ext cx="6928485" cy="5257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000"/>
              </a:lnSpc>
            </a:pPr>
            <a:r>
              <a:rPr sz="3800" b="1" kern="0" spc="-180" dirty="0">
                <a:solidFill>
                  <a:srgbClr val="406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传统数值仿真计算分析的痛点</a:t>
            </a:r>
            <a:endParaRPr sz="3800" b="1" kern="0" spc="-180" dirty="0">
              <a:solidFill>
                <a:srgbClr val="40608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1532890" y="3605530"/>
            <a:ext cx="9841230" cy="234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500" b="1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超大系统规模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        </a:t>
            </a: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     </a:t>
            </a:r>
            <a:r>
              <a:rPr lang="en-US" sz="1500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           </a:t>
            </a:r>
            <a:r>
              <a:rPr sz="1600" b="1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海量运行场景</a:t>
            </a:r>
            <a:r>
              <a:rPr sz="1600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            </a:t>
            </a:r>
            <a:r>
              <a:rPr lang="en-US" sz="1600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        </a:t>
            </a:r>
            <a:r>
              <a:rPr sz="1600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</a:t>
            </a:r>
            <a:r>
              <a:rPr sz="1500" b="1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高阶数学模型</a:t>
            </a: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              </a:t>
            </a:r>
            <a:r>
              <a:rPr lang="en-US" sz="1500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          </a:t>
            </a:r>
            <a:r>
              <a:rPr sz="1600" b="1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更快决策要求</a:t>
            </a:r>
            <a:endParaRPr sz="16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1422420" y="3949700"/>
            <a:ext cx="4230370" cy="203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1900" kern="0" spc="40" baseline="3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系统规模</a:t>
            </a:r>
            <a:r>
              <a:rPr sz="1400" b="1" kern="0" spc="1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十倍级</a:t>
            </a:r>
            <a:r>
              <a:rPr sz="1900" kern="0" spc="40" baseline="3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扩展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         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    </a:t>
            </a:r>
            <a:r>
              <a:rPr sz="1900" kern="0" spc="30" baseline="-3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分析场景</a:t>
            </a:r>
            <a:r>
              <a:rPr sz="1400" b="1" kern="0" spc="1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千倍级</a:t>
            </a:r>
            <a:r>
              <a:rPr sz="1900" kern="0" spc="30" baseline="-3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增长</a:t>
            </a:r>
            <a:endParaRPr sz="1900" baseline="-30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56" name="textbox 56"/>
          <p:cNvSpPr/>
          <p:nvPr/>
        </p:nvSpPr>
        <p:spPr>
          <a:xfrm>
            <a:off x="8610580" y="6277787"/>
            <a:ext cx="1426210" cy="5340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indent="215900" algn="l" rtl="0" eaLnBrk="0">
              <a:lnSpc>
                <a:spcPct val="90000"/>
              </a:lnSpc>
            </a:pPr>
            <a:r>
              <a:rPr b="1" kern="0" spc="8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海量</a:t>
            </a:r>
            <a:r>
              <a:rPr sz="1800" b="1" kern="0" spc="8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</a:t>
            </a:r>
            <a:r>
              <a:rPr sz="1800" b="1" kern="0" spc="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b="1" kern="0" spc="-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无法自动分析</a:t>
            </a:r>
            <a:endParaRPr sz="19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textbox 58"/>
          <p:cNvSpPr/>
          <p:nvPr/>
        </p:nvSpPr>
        <p:spPr>
          <a:xfrm>
            <a:off x="5400587" y="6292912"/>
            <a:ext cx="1418590" cy="5149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2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241300" indent="-228600" algn="l" rtl="0" eaLnBrk="0">
              <a:lnSpc>
                <a:spcPct val="96000"/>
              </a:lnSpc>
            </a:pPr>
            <a:r>
              <a:rPr sz="1700" b="1" kern="0" spc="11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海量运行方式</a:t>
            </a:r>
            <a:r>
              <a:rPr sz="1700" b="1" kern="0" spc="13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难以生成</a:t>
            </a:r>
            <a:endParaRPr sz="17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60" name="textbox 60"/>
          <p:cNvSpPr/>
          <p:nvPr/>
        </p:nvSpPr>
        <p:spPr>
          <a:xfrm>
            <a:off x="1108028" y="6251969"/>
            <a:ext cx="1152118" cy="2965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2600" b="1" kern="0" spc="90" baseline="-2000" dirty="0">
                <a:solidFill>
                  <a:srgbClr val="D0102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三大痛点</a:t>
            </a:r>
            <a:r>
              <a:rPr sz="1600" kern="0" spc="70" dirty="0">
                <a:solidFill>
                  <a:srgbClr val="D0102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       </a:t>
            </a:r>
            <a:endParaRPr sz="3000" baseline="30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64" name="textbox 64"/>
          <p:cNvSpPr/>
          <p:nvPr/>
        </p:nvSpPr>
        <p:spPr>
          <a:xfrm>
            <a:off x="9575820" y="3974020"/>
            <a:ext cx="1664335" cy="207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从小时级向</a:t>
            </a:r>
            <a:r>
              <a:rPr sz="1400" b="1" kern="0" spc="1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分钟级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转换</a:t>
            </a:r>
            <a:endParaRPr sz="12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66" name="textbox 66"/>
          <p:cNvSpPr/>
          <p:nvPr/>
        </p:nvSpPr>
        <p:spPr>
          <a:xfrm>
            <a:off x="6915160" y="3961333"/>
            <a:ext cx="1499870" cy="208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模型阶数</a:t>
            </a:r>
            <a:r>
              <a:rPr sz="1400" b="1" kern="0" spc="1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十倍级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增长</a:t>
            </a:r>
            <a:endParaRPr sz="12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68" name="textbox 68"/>
          <p:cNvSpPr/>
          <p:nvPr/>
        </p:nvSpPr>
        <p:spPr>
          <a:xfrm>
            <a:off x="450742" y="4128442"/>
            <a:ext cx="271145" cy="11404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3000"/>
              </a:lnSpc>
            </a:pPr>
            <a:r>
              <a:rPr sz="1900" kern="0" spc="2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四大特征</a:t>
            </a:r>
            <a:endParaRPr sz="19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70" name="textbox 70"/>
          <p:cNvSpPr/>
          <p:nvPr/>
        </p:nvSpPr>
        <p:spPr>
          <a:xfrm>
            <a:off x="5049561" y="5311014"/>
            <a:ext cx="1030605" cy="2876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390" rIns="0" bIns="0"/>
          <a:lstStyle/>
          <a:p>
            <a:pPr marL="12700" algn="l" rtl="0" eaLnBrk="0">
              <a:lnSpc>
                <a:spcPct val="120000"/>
              </a:lnSpc>
              <a:spcBef>
                <a:spcPts val="5"/>
              </a:spcBef>
            </a:pPr>
            <a:r>
              <a:rPr sz="700" b="1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15</a:t>
            </a:r>
            <a:r>
              <a:rPr sz="7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min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 </a:t>
            </a:r>
            <a:r>
              <a:rPr sz="700" b="1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内拓扑变化次数</a:t>
            </a:r>
            <a:r>
              <a:rPr sz="8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省域电网</a:t>
            </a:r>
            <a:r>
              <a:rPr sz="800" kern="0" spc="-2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&gt;</a:t>
            </a:r>
            <a:r>
              <a:rPr sz="800" kern="0" spc="-3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</a:t>
            </a:r>
            <a:r>
              <a:rPr sz="800" b="1" kern="0" spc="-20" dirty="0">
                <a:solidFill>
                  <a:srgbClr val="E0101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3</a:t>
            </a:r>
            <a:r>
              <a:rPr sz="800" kern="0" spc="-120" dirty="0">
                <a:solidFill>
                  <a:srgbClr val="E0101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</a:t>
            </a:r>
            <a:r>
              <a:rPr sz="800" b="1" kern="0" spc="-20" dirty="0">
                <a:solidFill>
                  <a:srgbClr val="E0101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0</a:t>
            </a:r>
            <a:r>
              <a:rPr sz="800" kern="0" spc="-120" dirty="0">
                <a:solidFill>
                  <a:srgbClr val="E0101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</a:t>
            </a:r>
            <a:r>
              <a:rPr sz="800" b="1" kern="0" spc="-20" dirty="0">
                <a:solidFill>
                  <a:srgbClr val="E0101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0</a:t>
            </a:r>
            <a:r>
              <a:rPr sz="800" kern="0" spc="-90" dirty="0">
                <a:solidFill>
                  <a:srgbClr val="E0101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</a:t>
            </a:r>
            <a:r>
              <a:rPr sz="800" b="1" kern="0" spc="-20" dirty="0">
                <a:solidFill>
                  <a:srgbClr val="E0101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次</a:t>
            </a:r>
            <a:endParaRPr sz="8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72" name="textbox 72"/>
          <p:cNvSpPr/>
          <p:nvPr/>
        </p:nvSpPr>
        <p:spPr>
          <a:xfrm>
            <a:off x="5073680" y="4510675"/>
            <a:ext cx="1009650" cy="282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indent="1270" algn="l" rtl="0" eaLnBrk="0">
              <a:lnSpc>
                <a:spcPct val="117000"/>
              </a:lnSpc>
            </a:pPr>
            <a:r>
              <a:rPr sz="700" b="1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考虑新能源出力波动的</a:t>
            </a:r>
            <a:r>
              <a:rPr sz="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1h</a:t>
            </a:r>
            <a:r>
              <a:rPr sz="800" kern="0" spc="-1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</a:t>
            </a:r>
            <a:r>
              <a:rPr sz="8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运行工况</a:t>
            </a:r>
            <a:endParaRPr sz="8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74" name="textbox 74"/>
          <p:cNvSpPr/>
          <p:nvPr/>
        </p:nvSpPr>
        <p:spPr>
          <a:xfrm>
            <a:off x="9538840" y="4294688"/>
            <a:ext cx="2018665" cy="1403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ts val="905"/>
              </a:lnSpc>
            </a:pPr>
            <a:r>
              <a:rPr sz="1000" b="1" kern="0" spc="-10" baseline="15000" dirty="0">
                <a:solidFill>
                  <a:srgbClr val="20709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禁事</a:t>
            </a:r>
            <a:r>
              <a:rPr sz="1000" b="1" kern="0" spc="-10" baseline="15000" dirty="0">
                <a:solidFill>
                  <a:srgbClr val="2080B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风险</a:t>
            </a:r>
            <a:r>
              <a:rPr sz="600" kern="0" spc="50" dirty="0">
                <a:solidFill>
                  <a:srgbClr val="2080B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  </a:t>
            </a:r>
            <a:r>
              <a:rPr sz="1000" b="1" kern="0" spc="-10" baseline="4000" dirty="0">
                <a:solidFill>
                  <a:srgbClr val="10405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功</a:t>
            </a:r>
            <a:r>
              <a:rPr sz="600" kern="0" spc="-140" dirty="0">
                <a:solidFill>
                  <a:srgbClr val="10405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</a:t>
            </a:r>
            <a:r>
              <a:rPr sz="1000" b="1" kern="0" spc="-10" baseline="4000" dirty="0">
                <a:solidFill>
                  <a:srgbClr val="20709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角</a:t>
            </a:r>
            <a:r>
              <a:rPr sz="600" kern="0" spc="100" dirty="0">
                <a:solidFill>
                  <a:srgbClr val="20709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 </a:t>
            </a:r>
            <a:r>
              <a:rPr sz="1000" b="1" kern="0" spc="-10" baseline="4000" dirty="0">
                <a:solidFill>
                  <a:srgbClr val="20709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险</a:t>
            </a:r>
            <a:r>
              <a:rPr sz="600" kern="0" spc="-10" dirty="0">
                <a:solidFill>
                  <a:srgbClr val="20709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    </a:t>
            </a:r>
            <a:r>
              <a:rPr sz="1100" b="1" kern="0" spc="-10" baseline="-6000" dirty="0">
                <a:solidFill>
                  <a:srgbClr val="20709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电压风堕</a:t>
            </a:r>
            <a:r>
              <a:rPr sz="700" kern="0" spc="-10" dirty="0">
                <a:solidFill>
                  <a:srgbClr val="20709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  </a:t>
            </a:r>
            <a:r>
              <a:rPr sz="1000" b="1" kern="0" spc="-10" baseline="-6000" dirty="0">
                <a:solidFill>
                  <a:srgbClr val="20709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宽梦粥</a:t>
            </a:r>
            <a:r>
              <a:rPr sz="1000" b="1" kern="0" spc="-20" baseline="-6000" dirty="0">
                <a:solidFill>
                  <a:srgbClr val="20709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落风险</a:t>
            </a:r>
            <a:endParaRPr sz="1000" baseline="-60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78" name="textbox 78"/>
          <p:cNvSpPr/>
          <p:nvPr/>
        </p:nvSpPr>
        <p:spPr>
          <a:xfrm>
            <a:off x="2752101" y="6209728"/>
            <a:ext cx="1016951" cy="447463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r>
              <a:rPr lang="zh-CN" altLang="en-US" sz="1700" b="1" kern="0" spc="15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仿真</a:t>
            </a:r>
            <a:endParaRPr lang="zh-CN" altLang="en-US" sz="1700" b="1" kern="0" spc="150" dirty="0">
              <a:solidFill>
                <a:srgbClr val="C02020">
                  <a:alpha val="100000"/>
                </a:srgbClr>
              </a:solidFill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algn="l" rtl="0" eaLnBrk="0">
              <a:lnSpc>
                <a:spcPct val="86000"/>
              </a:lnSpc>
            </a:pPr>
            <a:r>
              <a:rPr sz="1700" b="1" kern="0" spc="15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速度慢</a:t>
            </a:r>
            <a:endParaRPr sz="17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80" name="textbox 80"/>
          <p:cNvSpPr/>
          <p:nvPr/>
        </p:nvSpPr>
        <p:spPr>
          <a:xfrm>
            <a:off x="5049743" y="5591924"/>
            <a:ext cx="1031239" cy="1828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algn="r" rtl="0" eaLnBrk="0">
              <a:lnSpc>
                <a:spcPct val="86000"/>
              </a:lnSpc>
            </a:pPr>
            <a:r>
              <a:rPr sz="8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金国范围</a:t>
            </a: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内</a:t>
            </a:r>
            <a:r>
              <a:rPr sz="1200" b="1" kern="0" spc="-10" dirty="0">
                <a:solidFill>
                  <a:srgbClr val="C0103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&gt;1万次</a:t>
            </a:r>
            <a:endParaRPr sz="12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82" name="textbox 82"/>
          <p:cNvSpPr/>
          <p:nvPr/>
        </p:nvSpPr>
        <p:spPr>
          <a:xfrm>
            <a:off x="2752062" y="5572953"/>
            <a:ext cx="609600" cy="2057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400" b="1" kern="0" spc="110" dirty="0">
                <a:solidFill>
                  <a:srgbClr val="F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干万级</a:t>
            </a:r>
            <a:endParaRPr sz="14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84" name="textbox 84"/>
          <p:cNvSpPr/>
          <p:nvPr/>
        </p:nvSpPr>
        <p:spPr>
          <a:xfrm>
            <a:off x="9188480" y="5230568"/>
            <a:ext cx="320675" cy="342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8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4605" indent="-1905" algn="l" rtl="0" eaLnBrk="0">
              <a:lnSpc>
                <a:spcPct val="92000"/>
              </a:lnSpc>
            </a:pPr>
            <a:r>
              <a:rPr sz="1200" kern="0" spc="-50" dirty="0">
                <a:solidFill>
                  <a:srgbClr val="D0102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平</a:t>
            </a:r>
            <a:r>
              <a:rPr sz="1200" b="1" kern="0" spc="-50" dirty="0">
                <a:solidFill>
                  <a:srgbClr val="F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衡</a:t>
            </a:r>
            <a:r>
              <a:rPr sz="1100" b="1" kern="0" spc="-30" dirty="0">
                <a:solidFill>
                  <a:srgbClr val="F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风险</a:t>
            </a:r>
            <a:endParaRPr sz="1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86" name="textbox 86"/>
          <p:cNvSpPr/>
          <p:nvPr/>
        </p:nvSpPr>
        <p:spPr>
          <a:xfrm>
            <a:off x="7926142" y="5349526"/>
            <a:ext cx="954405" cy="120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700" b="1" kern="0" spc="100" dirty="0">
                <a:solidFill>
                  <a:srgbClr val="D0102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宽距蜜落涉及的设备</a:t>
            </a:r>
            <a:endParaRPr sz="7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88" name="textbox 88"/>
          <p:cNvSpPr/>
          <p:nvPr/>
        </p:nvSpPr>
        <p:spPr>
          <a:xfrm>
            <a:off x="6643421" y="4148709"/>
            <a:ext cx="941705" cy="120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700" b="1" kern="0" spc="90" dirty="0">
                <a:solidFill>
                  <a:srgbClr val="20A0E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模型结构和控制系烧</a:t>
            </a:r>
            <a:endParaRPr sz="7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90" name="textbox 90"/>
          <p:cNvSpPr/>
          <p:nvPr/>
        </p:nvSpPr>
        <p:spPr>
          <a:xfrm>
            <a:off x="7970642" y="4580489"/>
            <a:ext cx="935355" cy="120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700" b="1" kern="0" spc="80" dirty="0">
                <a:solidFill>
                  <a:srgbClr val="D0201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包含数干个开关元件</a:t>
            </a:r>
            <a:endParaRPr sz="7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92" name="textbox 92"/>
          <p:cNvSpPr/>
          <p:nvPr/>
        </p:nvSpPr>
        <p:spPr>
          <a:xfrm>
            <a:off x="3938563" y="4295384"/>
            <a:ext cx="814070" cy="133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800" b="1" kern="0" spc="80" dirty="0">
                <a:solidFill>
                  <a:srgbClr val="20A0D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断能源波动刷烈</a:t>
            </a:r>
            <a:endParaRPr sz="8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94" name="textbox 94"/>
          <p:cNvSpPr/>
          <p:nvPr/>
        </p:nvSpPr>
        <p:spPr>
          <a:xfrm>
            <a:off x="3995791" y="5223313"/>
            <a:ext cx="687705" cy="146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900" b="1" kern="0" spc="-40" dirty="0">
                <a:solidFill>
                  <a:srgbClr val="20A0E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拓扑快速切换</a:t>
            </a:r>
            <a:endParaRPr sz="9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96" name="textbox 96"/>
          <p:cNvSpPr/>
          <p:nvPr/>
        </p:nvSpPr>
        <p:spPr>
          <a:xfrm>
            <a:off x="5075860" y="4804489"/>
            <a:ext cx="542290" cy="183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b="1" kern="0" spc="8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8760个</a:t>
            </a:r>
            <a:endParaRPr sz="12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98" name="textbox 98"/>
          <p:cNvSpPr/>
          <p:nvPr/>
        </p:nvSpPr>
        <p:spPr>
          <a:xfrm>
            <a:off x="8065862" y="4466521"/>
            <a:ext cx="741680" cy="120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700" b="1" kern="0" spc="90" dirty="0">
                <a:solidFill>
                  <a:srgbClr val="F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单个直流换流阀</a:t>
            </a:r>
            <a:endParaRPr sz="7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100" name="textbox 100"/>
          <p:cNvSpPr/>
          <p:nvPr/>
        </p:nvSpPr>
        <p:spPr>
          <a:xfrm>
            <a:off x="6745102" y="5005959"/>
            <a:ext cx="727075" cy="120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700" b="1" kern="0" spc="80" dirty="0">
                <a:solidFill>
                  <a:srgbClr val="20A0E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设督询配罐据荡</a:t>
            </a:r>
            <a:endParaRPr sz="7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102" name="textbox 102"/>
          <p:cNvSpPr/>
          <p:nvPr/>
        </p:nvSpPr>
        <p:spPr>
          <a:xfrm>
            <a:off x="8078542" y="5476155"/>
            <a:ext cx="640080" cy="120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700" b="1" kern="0" spc="90" dirty="0">
                <a:solidFill>
                  <a:srgbClr val="F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担互作用复杂</a:t>
            </a:r>
            <a:endParaRPr sz="7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104" name="textbox 104"/>
          <p:cNvSpPr/>
          <p:nvPr/>
        </p:nvSpPr>
        <p:spPr>
          <a:xfrm>
            <a:off x="2897338" y="5103194"/>
            <a:ext cx="385445" cy="165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algn="r" rtl="0" eaLnBrk="0">
              <a:lnSpc>
                <a:spcPct val="92000"/>
              </a:lnSpc>
            </a:pPr>
            <a:r>
              <a:rPr sz="1000" b="1" kern="0" spc="-70" dirty="0">
                <a:solidFill>
                  <a:srgbClr val="E0101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百万级</a:t>
            </a:r>
            <a:endParaRPr sz="10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106" name="textbox 106"/>
          <p:cNvSpPr/>
          <p:nvPr/>
        </p:nvSpPr>
        <p:spPr>
          <a:xfrm>
            <a:off x="2897195" y="4626393"/>
            <a:ext cx="360045" cy="146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9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十万级</a:t>
            </a:r>
            <a:endParaRPr sz="9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108" name="textbox 108"/>
          <p:cNvSpPr/>
          <p:nvPr/>
        </p:nvSpPr>
        <p:spPr>
          <a:xfrm>
            <a:off x="9158658" y="4372395"/>
            <a:ext cx="299085" cy="168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100" b="1" kern="0" spc="-30" dirty="0">
                <a:solidFill>
                  <a:srgbClr val="F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稳定</a:t>
            </a:r>
            <a:endParaRPr sz="1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110" name="textbox 110"/>
          <p:cNvSpPr/>
          <p:nvPr/>
        </p:nvSpPr>
        <p:spPr>
          <a:xfrm>
            <a:off x="9164996" y="4525338"/>
            <a:ext cx="299085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100" b="1" kern="0" spc="-30" dirty="0">
                <a:solidFill>
                  <a:srgbClr val="D0102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风险</a:t>
            </a:r>
            <a:endParaRPr sz="1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112" name="textbox 112"/>
          <p:cNvSpPr/>
          <p:nvPr/>
        </p:nvSpPr>
        <p:spPr>
          <a:xfrm>
            <a:off x="9704225" y="5654296"/>
            <a:ext cx="399415" cy="120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700" b="1" kern="0" spc="20" dirty="0">
                <a:solidFill>
                  <a:srgbClr val="80903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能婚风险</a:t>
            </a:r>
            <a:endParaRPr sz="7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114" name="textbox 114"/>
          <p:cNvSpPr/>
          <p:nvPr/>
        </p:nvSpPr>
        <p:spPr>
          <a:xfrm>
            <a:off x="9208744" y="4924056"/>
            <a:ext cx="370205" cy="120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700" b="1" kern="0" spc="-30" dirty="0">
                <a:solidFill>
                  <a:srgbClr val="E0101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德行轨渣</a:t>
            </a:r>
            <a:endParaRPr sz="7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116" name="textbox 116"/>
          <p:cNvSpPr/>
          <p:nvPr/>
        </p:nvSpPr>
        <p:spPr>
          <a:xfrm>
            <a:off x="11944360" y="6434872"/>
            <a:ext cx="112395" cy="222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5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3</a:t>
            </a:r>
            <a:endParaRPr sz="1500" b="1" kern="0" spc="-1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pic>
        <p:nvPicPr>
          <p:cNvPr id="2" name="图片 1" descr="post_object_image_28872366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55" y="1249491"/>
            <a:ext cx="294184" cy="294184"/>
          </a:xfrm>
          <a:prstGeom prst="rect">
            <a:avLst/>
          </a:prstGeom>
        </p:spPr>
      </p:pic>
      <p:pic>
        <p:nvPicPr>
          <p:cNvPr id="3" name="图片 2" descr="post_object_image_28872366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55" y="2165705"/>
            <a:ext cx="294184" cy="294184"/>
          </a:xfrm>
          <a:prstGeom prst="rect">
            <a:avLst/>
          </a:prstGeom>
        </p:spPr>
      </p:pic>
      <p:pic>
        <p:nvPicPr>
          <p:cNvPr id="11" name="图片 10"/>
          <p:cNvPicPr/>
          <p:nvPr/>
        </p:nvPicPr>
        <p:blipFill>
          <a:blip r:embed="rId4"/>
          <a:stretch>
            <a:fillRect/>
          </a:stretch>
        </p:blipFill>
        <p:spPr>
          <a:xfrm>
            <a:off x="11050270" y="0"/>
            <a:ext cx="896620" cy="8997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picture 1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81000" y="2489179"/>
            <a:ext cx="6788140" cy="4095803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21600000">
            <a:off x="7620000" y="2978155"/>
            <a:ext cx="4140159" cy="3492505"/>
            <a:chOff x="0" y="0"/>
            <a:chExt cx="4140159" cy="3492505"/>
          </a:xfrm>
        </p:grpSpPr>
        <p:pic>
          <p:nvPicPr>
            <p:cNvPr id="120" name="picture 1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4140159" cy="3492505"/>
            </a:xfrm>
            <a:prstGeom prst="rect">
              <a:avLst/>
            </a:prstGeom>
          </p:spPr>
        </p:pic>
        <p:sp>
          <p:nvSpPr>
            <p:cNvPr id="122" name="textbox 122"/>
            <p:cNvSpPr/>
            <p:nvPr/>
          </p:nvSpPr>
          <p:spPr>
            <a:xfrm>
              <a:off x="1647676" y="83963"/>
              <a:ext cx="849630" cy="2349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000"/>
                </a:lnSpc>
              </a:pPr>
              <a:endParaRPr sz="100" dirty="0">
                <a:latin typeface="微软雅黑" panose="020B0503020204020204" charset="-122"/>
                <a:ea typeface="+mn-ea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86000"/>
                </a:lnSpc>
              </a:pPr>
              <a:r>
                <a:rPr sz="1600" b="1" kern="0" spc="10" dirty="0">
                  <a:solidFill>
                    <a:srgbClr val="0040D0">
                      <a:alpha val="100000"/>
                    </a:srgbClr>
                  </a:solidFill>
                  <a:latin typeface="微软雅黑" panose="020B0503020204020204" charset="-122"/>
                  <a:ea typeface="+mn-ea"/>
                  <a:cs typeface="微软雅黑" panose="020B0503020204020204" charset="-122"/>
                </a:rPr>
                <a:t>二维拟合</a:t>
              </a:r>
              <a:endParaRPr sz="1600" dirty="0">
                <a:latin typeface="微软雅黑" panose="020B0503020204020204" charset="-122"/>
                <a:ea typeface="+mn-ea"/>
                <a:cs typeface="微软雅黑" panose="020B0503020204020204" charset="-122"/>
              </a:endParaRPr>
            </a:p>
          </p:txBody>
        </p:sp>
        <p:sp>
          <p:nvSpPr>
            <p:cNvPr id="124" name="textbox 124"/>
            <p:cNvSpPr/>
            <p:nvPr/>
          </p:nvSpPr>
          <p:spPr>
            <a:xfrm>
              <a:off x="1625660" y="1944276"/>
              <a:ext cx="859789" cy="23558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6000"/>
                </a:lnSpc>
              </a:pPr>
              <a:endParaRPr sz="100" dirty="0">
                <a:latin typeface="微软雅黑" panose="020B0503020204020204" charset="-122"/>
                <a:ea typeface="+mn-ea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86000"/>
                </a:lnSpc>
              </a:pPr>
              <a:r>
                <a:rPr sz="1600" b="1" kern="0" spc="10" dirty="0">
                  <a:solidFill>
                    <a:srgbClr val="0040D0">
                      <a:alpha val="100000"/>
                    </a:srgbClr>
                  </a:solidFill>
                  <a:latin typeface="微软雅黑" panose="020B0503020204020204" charset="-122"/>
                  <a:ea typeface="+mn-ea"/>
                  <a:cs typeface="微软雅黑" panose="020B0503020204020204" charset="-122"/>
                </a:rPr>
                <a:t>高维拟合</a:t>
              </a:r>
              <a:endParaRPr sz="1600" b="1" kern="0" spc="10" dirty="0">
                <a:solidFill>
                  <a:srgbClr val="0040D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endParaRPr>
            </a:p>
          </p:txBody>
        </p:sp>
      </p:grpSp>
      <p:sp>
        <p:nvSpPr>
          <p:cNvPr id="126" name="textbox 126"/>
          <p:cNvSpPr/>
          <p:nvPr/>
        </p:nvSpPr>
        <p:spPr>
          <a:xfrm>
            <a:off x="158739" y="1066831"/>
            <a:ext cx="11849735" cy="1061085"/>
          </a:xfrm>
          <a:prstGeom prst="rect">
            <a:avLst/>
          </a:prstGeom>
          <a:solidFill>
            <a:srgbClr val="ECECE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9000"/>
              </a:lnSpc>
            </a:pPr>
            <a:endParaRPr sz="10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457200" algn="l" rtl="0" eaLnBrk="0">
              <a:lnSpc>
                <a:spcPct val="85000"/>
              </a:lnSpc>
            </a:pP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大模型</a:t>
            </a: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凭借强大的数据规律拟合能力，可在</a:t>
            </a: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离线预训练</a:t>
            </a: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中将数据规律嵌入学习参数。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algn="l" rtl="0" eaLnBrk="0">
              <a:lnSpc>
                <a:spcPts val="3520"/>
              </a:lnSpc>
            </a:pP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在线推理应用</a:t>
            </a: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时，基于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GPU</a:t>
            </a: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NPU</a:t>
            </a:r>
            <a:r>
              <a:rPr sz="1900" kern="0" spc="4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并行的前向计算，</a:t>
            </a: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快速完成复杂计算和结果预测。</a:t>
            </a:r>
            <a:endParaRPr sz="1900" b="1" kern="0" spc="70" dirty="0">
              <a:solidFill>
                <a:srgbClr val="C0202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8" name="textbox 128"/>
          <p:cNvSpPr/>
          <p:nvPr/>
        </p:nvSpPr>
        <p:spPr>
          <a:xfrm>
            <a:off x="432472" y="234846"/>
            <a:ext cx="3882390" cy="5257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000"/>
              </a:lnSpc>
            </a:pPr>
            <a:r>
              <a:rPr sz="3800" b="1" kern="0" spc="-180" dirty="0">
                <a:solidFill>
                  <a:srgbClr val="406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2.AI大模型的特点</a:t>
            </a:r>
            <a:endParaRPr sz="3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0" name="textbox 130"/>
          <p:cNvSpPr/>
          <p:nvPr/>
        </p:nvSpPr>
        <p:spPr>
          <a:xfrm>
            <a:off x="2857540" y="5728977"/>
            <a:ext cx="2225675" cy="5721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3000"/>
              </a:lnSpc>
            </a:pPr>
            <a:r>
              <a:rPr sz="15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2</a:t>
            </a:r>
            <a:r>
              <a:rPr sz="1500" kern="0" spc="-2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</a:t>
            </a:r>
            <a:r>
              <a:rPr sz="15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4</a:t>
            </a:r>
            <a:r>
              <a:rPr sz="1500"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</a:t>
            </a:r>
            <a:r>
              <a:rPr sz="15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层</a:t>
            </a:r>
            <a:endParaRPr sz="15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algn="r" rtl="0" eaLnBrk="0">
              <a:lnSpc>
                <a:spcPts val="2800"/>
              </a:lnSpc>
            </a:pPr>
            <a:r>
              <a:rPr sz="17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反向传播</a:t>
            </a:r>
            <a:endParaRPr sz="17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grpSp>
        <p:nvGrpSpPr>
          <p:cNvPr id="4" name="group 4"/>
          <p:cNvGrpSpPr/>
          <p:nvPr/>
        </p:nvGrpSpPr>
        <p:grpSpPr>
          <a:xfrm rot="21600000">
            <a:off x="8274101" y="2489179"/>
            <a:ext cx="2990819" cy="393717"/>
            <a:chOff x="0" y="0"/>
            <a:chExt cx="2990819" cy="393717"/>
          </a:xfrm>
        </p:grpSpPr>
        <p:pic>
          <p:nvPicPr>
            <p:cNvPr id="132" name="picture 13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2990819" cy="393717"/>
            </a:xfrm>
            <a:prstGeom prst="rect">
              <a:avLst/>
            </a:prstGeom>
          </p:spPr>
        </p:pic>
        <p:sp>
          <p:nvSpPr>
            <p:cNvPr id="134" name="textbox 134"/>
            <p:cNvSpPr/>
            <p:nvPr/>
          </p:nvSpPr>
          <p:spPr>
            <a:xfrm>
              <a:off x="184077" y="40963"/>
              <a:ext cx="2615565" cy="27686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7000"/>
                </a:lnSpc>
              </a:pPr>
              <a:endParaRPr sz="100" dirty="0">
                <a:latin typeface="微软雅黑" panose="020B0503020204020204" charset="-122"/>
                <a:ea typeface="+mn-ea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87000"/>
                </a:lnSpc>
              </a:pPr>
              <a:r>
                <a:rPr sz="1900" b="1" kern="0" spc="1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+mn-ea"/>
                  <a:cs typeface="微软雅黑" panose="020B0503020204020204" charset="-122"/>
                </a:rPr>
                <a:t>利用拟合函数快速计算</a:t>
              </a:r>
              <a:endParaRPr sz="1900" b="1" dirty="0">
                <a:latin typeface="微软雅黑" panose="020B0503020204020204" charset="-122"/>
                <a:ea typeface="+mn-ea"/>
                <a:cs typeface="微软雅黑" panose="020B0503020204020204" charset="-122"/>
              </a:endParaRPr>
            </a:p>
          </p:txBody>
        </p:sp>
      </p:grpSp>
      <p:sp>
        <p:nvSpPr>
          <p:cNvPr id="138" name="textbox 138"/>
          <p:cNvSpPr/>
          <p:nvPr/>
        </p:nvSpPr>
        <p:spPr>
          <a:xfrm>
            <a:off x="2470200" y="2530887"/>
            <a:ext cx="2355215" cy="2755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900" b="1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基于海量数据预训练</a:t>
            </a:r>
            <a:endParaRPr sz="1900" b="1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142" name="textbox 142"/>
          <p:cNvSpPr/>
          <p:nvPr/>
        </p:nvSpPr>
        <p:spPr>
          <a:xfrm>
            <a:off x="2134073" y="3935694"/>
            <a:ext cx="321310" cy="9340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3000"/>
              </a:lnSpc>
            </a:pP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编码层</a:t>
            </a:r>
            <a:endParaRPr sz="23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144" name="textbox 144"/>
          <p:cNvSpPr/>
          <p:nvPr/>
        </p:nvSpPr>
        <p:spPr>
          <a:xfrm>
            <a:off x="5905540" y="6193569"/>
            <a:ext cx="962025" cy="2482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700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损失函数</a:t>
            </a:r>
            <a:endParaRPr sz="17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148" name="textbox 148"/>
          <p:cNvSpPr/>
          <p:nvPr/>
        </p:nvSpPr>
        <p:spPr>
          <a:xfrm>
            <a:off x="513972" y="4003161"/>
            <a:ext cx="257809" cy="867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3000"/>
              </a:lnSpc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你</a:t>
            </a:r>
            <a:r>
              <a:rPr sz="1800"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是</a:t>
            </a:r>
            <a:r>
              <a:rPr sz="1800"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谁</a:t>
            </a:r>
            <a:endParaRPr sz="18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150" name="textbox 150"/>
          <p:cNvSpPr/>
          <p:nvPr/>
        </p:nvSpPr>
        <p:spPr>
          <a:xfrm>
            <a:off x="4463692" y="3984096"/>
            <a:ext cx="257809" cy="8591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3000"/>
              </a:lnSpc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模</a:t>
            </a:r>
            <a:r>
              <a:rPr sz="1800" kern="0" spc="-3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型</a:t>
            </a:r>
            <a:r>
              <a:rPr sz="1800" kern="0" spc="-3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头</a:t>
            </a:r>
            <a:endParaRPr sz="18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152" name="textbox 152"/>
          <p:cNvSpPr/>
          <p:nvPr/>
        </p:nvSpPr>
        <p:spPr>
          <a:xfrm>
            <a:off x="3735184" y="3989560"/>
            <a:ext cx="257175" cy="866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3000"/>
              </a:lnSpc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编</a:t>
            </a:r>
            <a:r>
              <a:rPr sz="1800"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码</a:t>
            </a:r>
            <a:r>
              <a:rPr sz="1800" kern="0" spc="-2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层</a:t>
            </a:r>
            <a:endParaRPr sz="18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154" name="textbox 154"/>
          <p:cNvSpPr/>
          <p:nvPr/>
        </p:nvSpPr>
        <p:spPr>
          <a:xfrm>
            <a:off x="2858883" y="3983182"/>
            <a:ext cx="257175" cy="860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3000"/>
              </a:lnSpc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编</a:t>
            </a:r>
            <a:r>
              <a:rPr sz="1800" kern="0" spc="-3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码</a:t>
            </a:r>
            <a:r>
              <a:rPr sz="1800" kern="0" spc="-3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层</a:t>
            </a:r>
            <a:endParaRPr sz="18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156" name="textbox 156"/>
          <p:cNvSpPr/>
          <p:nvPr/>
        </p:nvSpPr>
        <p:spPr>
          <a:xfrm>
            <a:off x="5177592" y="4000647"/>
            <a:ext cx="256540" cy="8045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3000"/>
              </a:lnSpc>
            </a:pPr>
            <a:r>
              <a:rPr sz="1800" kern="0" spc="2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解码器</a:t>
            </a:r>
            <a:endParaRPr sz="18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158" name="textbox 158"/>
          <p:cNvSpPr/>
          <p:nvPr/>
        </p:nvSpPr>
        <p:spPr>
          <a:xfrm>
            <a:off x="1285543" y="4009471"/>
            <a:ext cx="258445" cy="8020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3000"/>
              </a:lnSpc>
            </a:pPr>
            <a:r>
              <a:rPr sz="1800" kern="0" spc="2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输入层</a:t>
            </a:r>
            <a:endParaRPr sz="18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160" name="textbox 160"/>
          <p:cNvSpPr/>
          <p:nvPr/>
        </p:nvSpPr>
        <p:spPr>
          <a:xfrm>
            <a:off x="1632000" y="4179765"/>
            <a:ext cx="421005" cy="2089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400" kern="0" spc="1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升维</a:t>
            </a:r>
            <a:endParaRPr sz="14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162" name="textbox 162"/>
          <p:cNvSpPr/>
          <p:nvPr/>
        </p:nvSpPr>
        <p:spPr>
          <a:xfrm>
            <a:off x="1193800" y="5745480"/>
            <a:ext cx="457200" cy="1949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69000"/>
              </a:lnSpc>
            </a:pPr>
            <a:r>
              <a:rPr sz="1600" kern="0" spc="-20" dirty="0">
                <a:solidFill>
                  <a:srgbClr val="1040C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LL</a:t>
            </a:r>
            <a:r>
              <a:rPr sz="1600" kern="0" spc="-360" dirty="0">
                <a:solidFill>
                  <a:srgbClr val="1040C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</a:t>
            </a:r>
            <a:r>
              <a:rPr sz="1600" kern="0" spc="-20" dirty="0">
                <a:solidFill>
                  <a:srgbClr val="1040C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M</a:t>
            </a:r>
            <a:endParaRPr sz="16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164" name="textbox 164"/>
          <p:cNvSpPr/>
          <p:nvPr/>
        </p:nvSpPr>
        <p:spPr>
          <a:xfrm>
            <a:off x="6242040" y="4323186"/>
            <a:ext cx="237490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7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我</a:t>
            </a:r>
            <a:endParaRPr sz="17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166" name="textbox 166"/>
          <p:cNvSpPr/>
          <p:nvPr/>
        </p:nvSpPr>
        <p:spPr>
          <a:xfrm>
            <a:off x="11946903" y="6451237"/>
            <a:ext cx="108585" cy="203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3000"/>
              </a:lnSpc>
            </a:pP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4</a:t>
            </a:r>
            <a:endParaRPr sz="14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pic>
        <p:nvPicPr>
          <p:cNvPr id="3" name="图片 2" descr="post_object_image_28872366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455" y="1249491"/>
            <a:ext cx="294184" cy="294184"/>
          </a:xfrm>
          <a:prstGeom prst="rect">
            <a:avLst/>
          </a:prstGeom>
        </p:spPr>
      </p:pic>
      <p:pic>
        <p:nvPicPr>
          <p:cNvPr id="5" name="图片 4" descr="post_object_image_28872366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500" y="1662241"/>
            <a:ext cx="294184" cy="294184"/>
          </a:xfrm>
          <a:prstGeom prst="rect">
            <a:avLst/>
          </a:prstGeom>
        </p:spPr>
      </p:pic>
      <p:pic>
        <p:nvPicPr>
          <p:cNvPr id="11" name="图片 10"/>
          <p:cNvPicPr/>
          <p:nvPr/>
        </p:nvPicPr>
        <p:blipFill>
          <a:blip r:embed="rId6"/>
          <a:stretch>
            <a:fillRect/>
          </a:stretch>
        </p:blipFill>
        <p:spPr>
          <a:xfrm>
            <a:off x="11050270" y="0"/>
            <a:ext cx="896620" cy="8997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box 176"/>
          <p:cNvSpPr/>
          <p:nvPr/>
        </p:nvSpPr>
        <p:spPr>
          <a:xfrm>
            <a:off x="279440" y="1155710"/>
            <a:ext cx="11626850" cy="1041400"/>
          </a:xfrm>
          <a:prstGeom prst="rect">
            <a:avLst/>
          </a:prstGeom>
          <a:solidFill>
            <a:srgbClr val="ECECE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9000"/>
              </a:lnSpc>
            </a:pPr>
            <a:endParaRPr sz="2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87630" indent="-5715" algn="l" rtl="0" eaLnBrk="0">
              <a:lnSpc>
                <a:spcPct val="155000"/>
              </a:lnSpc>
              <a:spcBef>
                <a:spcPts val="0"/>
              </a:spcBef>
            </a:pP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通用大模型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擅长处理基于</a:t>
            </a:r>
            <a:r>
              <a:rPr sz="1900" b="1" kern="0" spc="9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概率推理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的语言、</a:t>
            </a:r>
            <a:r>
              <a:rPr sz="1900" kern="0" spc="-4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图像数据，但预测准确率不高，没法满足电力系统安全分析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这种严肃生产场景， 只有采用</a:t>
            </a: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专用大模型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才能满足精度要求。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8" name="textbox 178"/>
          <p:cNvSpPr/>
          <p:nvPr/>
        </p:nvSpPr>
        <p:spPr>
          <a:xfrm>
            <a:off x="521352" y="330035"/>
            <a:ext cx="4270375" cy="5257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000"/>
              </a:lnSpc>
            </a:pPr>
            <a:r>
              <a:rPr sz="3800" b="1" kern="0" spc="-180" dirty="0">
                <a:solidFill>
                  <a:srgbClr val="406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3.专用大模型的优势</a:t>
            </a:r>
            <a:endParaRPr sz="38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202" name="textbox 202"/>
          <p:cNvSpPr/>
          <p:nvPr/>
        </p:nvSpPr>
        <p:spPr>
          <a:xfrm>
            <a:off x="8147039" y="4912477"/>
            <a:ext cx="150495" cy="95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5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(MPF</a:t>
            </a:r>
            <a:endParaRPr sz="5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8054340" y="2309495"/>
            <a:ext cx="2381250" cy="428625"/>
          </a:xfrm>
          <a:prstGeom prst="rect">
            <a:avLst/>
          </a:prstGeom>
          <a:solidFill>
            <a:srgbClr val="98D8F9">
              <a:alpha val="100000"/>
            </a:srgb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rPr>
              <a:t>专用大模型</a:t>
            </a:r>
            <a:endParaRPr lang="zh-CN" altLang="en-US" b="1">
              <a:solidFill>
                <a:schemeClr val="tx1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549559" y="2309455"/>
            <a:ext cx="2381250" cy="428625"/>
          </a:xfrm>
          <a:prstGeom prst="rect">
            <a:avLst/>
          </a:prstGeom>
          <a:solidFill>
            <a:srgbClr val="98D8F9">
              <a:alpha val="100000"/>
            </a:srgb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rPr>
              <a:t>通用大模型</a:t>
            </a:r>
            <a:endParaRPr lang="zh-CN" altLang="en-US" b="1">
              <a:solidFill>
                <a:schemeClr val="tx1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33" y="2845237"/>
            <a:ext cx="5633729" cy="38010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9206" y="2938960"/>
            <a:ext cx="4531519" cy="3613743"/>
          </a:xfrm>
          <a:prstGeom prst="rect">
            <a:avLst/>
          </a:prstGeom>
        </p:spPr>
      </p:pic>
      <p:pic>
        <p:nvPicPr>
          <p:cNvPr id="11" name="图片 10"/>
          <p:cNvPicPr/>
          <p:nvPr/>
        </p:nvPicPr>
        <p:blipFill>
          <a:blip r:embed="rId4"/>
          <a:stretch>
            <a:fillRect/>
          </a:stretch>
        </p:blipFill>
        <p:spPr>
          <a:xfrm>
            <a:off x="11050270" y="0"/>
            <a:ext cx="896620" cy="899795"/>
          </a:xfrm>
          <a:prstGeom prst="rect">
            <a:avLst/>
          </a:prstGeom>
        </p:spPr>
      </p:pic>
      <p:sp>
        <p:nvSpPr>
          <p:cNvPr id="2" name="textbox 116"/>
          <p:cNvSpPr/>
          <p:nvPr/>
        </p:nvSpPr>
        <p:spPr>
          <a:xfrm>
            <a:off x="11944360" y="6434872"/>
            <a:ext cx="112395" cy="222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lang="en-US" sz="15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5</a:t>
            </a:r>
            <a:endParaRPr lang="en-US" sz="1500" b="1" kern="0" spc="-1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picture 2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371600" y="1981207"/>
            <a:ext cx="9963180" cy="2851145"/>
          </a:xfrm>
          <a:prstGeom prst="rect">
            <a:avLst/>
          </a:prstGeom>
        </p:spPr>
      </p:pic>
      <p:sp>
        <p:nvSpPr>
          <p:cNvPr id="206" name="textbox 206"/>
          <p:cNvSpPr/>
          <p:nvPr/>
        </p:nvSpPr>
        <p:spPr>
          <a:xfrm>
            <a:off x="1589397" y="2619357"/>
            <a:ext cx="651510" cy="16427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65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50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</a:t>
            </a:r>
            <a:r>
              <a:rPr sz="5000" kern="0" spc="2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0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录</a:t>
            </a:r>
            <a:endParaRPr sz="5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8" name="textbox 208"/>
          <p:cNvSpPr/>
          <p:nvPr>
            <p:custDataLst>
              <p:tags r:id="rId3"/>
            </p:custDataLst>
          </p:nvPr>
        </p:nvSpPr>
        <p:spPr>
          <a:xfrm>
            <a:off x="5099457" y="3257584"/>
            <a:ext cx="3385184" cy="276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r>
              <a:rPr sz="1900" b="1" kern="0" spc="40" dirty="0">
                <a:solidFill>
                  <a:srgbClr val="20406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“驭电”</a:t>
            </a:r>
            <a:r>
              <a:rPr sz="1900" b="1" kern="0" spc="40" dirty="0">
                <a:solidFill>
                  <a:srgbClr val="104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仿真大模型研发情况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0" name="textbox 210"/>
          <p:cNvSpPr/>
          <p:nvPr>
            <p:custDataLst>
              <p:tags r:id="rId4"/>
            </p:custDataLst>
          </p:nvPr>
        </p:nvSpPr>
        <p:spPr>
          <a:xfrm>
            <a:off x="5118476" y="4260841"/>
            <a:ext cx="3357245" cy="276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r>
              <a:rPr sz="1900" b="1" kern="0" spc="30" dirty="0">
                <a:solidFill>
                  <a:srgbClr val="60605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“驭电”仿真大模型应用效</a:t>
            </a:r>
            <a:r>
              <a:rPr sz="1900" b="1" kern="0" spc="20" dirty="0">
                <a:solidFill>
                  <a:srgbClr val="60605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果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6" name="textbox 216"/>
          <p:cNvSpPr/>
          <p:nvPr>
            <p:custDataLst>
              <p:tags r:id="rId5"/>
            </p:custDataLst>
          </p:nvPr>
        </p:nvSpPr>
        <p:spPr>
          <a:xfrm>
            <a:off x="3492500" y="2197123"/>
            <a:ext cx="1085215" cy="342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algn="r" rtl="0" eaLnBrk="0">
              <a:lnSpc>
                <a:spcPct val="95000"/>
              </a:lnSpc>
            </a:pPr>
            <a:r>
              <a:rPr sz="2200" kern="0" spc="-1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</a:t>
            </a:r>
            <a:r>
              <a:rPr sz="2200" kern="0" spc="-1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</a:t>
            </a:r>
            <a:r>
              <a:rPr sz="2200" kern="0" spc="-10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</a:t>
            </a:r>
            <a:endParaRPr sz="2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8" name="textbox 218"/>
          <p:cNvSpPr/>
          <p:nvPr/>
        </p:nvSpPr>
        <p:spPr>
          <a:xfrm>
            <a:off x="1111280" y="6395913"/>
            <a:ext cx="2042160" cy="19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algn="r" rtl="0" eaLnBrk="0">
              <a:lnSpc>
                <a:spcPct val="98000"/>
              </a:lnSpc>
            </a:pPr>
            <a:r>
              <a:rPr sz="1100" kern="0" spc="0" dirty="0">
                <a:solidFill>
                  <a:srgbClr val="B0D0E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CCSG 2026.All Rights</a:t>
            </a:r>
            <a:r>
              <a:rPr sz="1100" kern="0" spc="-10" dirty="0">
                <a:solidFill>
                  <a:srgbClr val="B0D0E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Reserved</a:t>
            </a:r>
            <a:endParaRPr sz="1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220" name="textbox 220"/>
          <p:cNvSpPr/>
          <p:nvPr>
            <p:custDataLst>
              <p:tags r:id="rId6"/>
            </p:custDataLst>
          </p:nvPr>
        </p:nvSpPr>
        <p:spPr>
          <a:xfrm>
            <a:off x="5299481" y="2228884"/>
            <a:ext cx="1059815" cy="2755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900" b="1" kern="0" spc="120" dirty="0">
                <a:solidFill>
                  <a:srgbClr val="707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研发背景</a:t>
            </a:r>
            <a:endParaRPr sz="1900" b="1" kern="0" spc="120" dirty="0">
              <a:solidFill>
                <a:srgbClr val="70707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2" name="textbox 222"/>
          <p:cNvSpPr/>
          <p:nvPr>
            <p:custDataLst>
              <p:tags r:id="rId7"/>
            </p:custDataLst>
          </p:nvPr>
        </p:nvSpPr>
        <p:spPr>
          <a:xfrm>
            <a:off x="3496041" y="3270272"/>
            <a:ext cx="1057910" cy="274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900" b="1" kern="0" spc="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第二部分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4" name="textbox 224"/>
          <p:cNvSpPr/>
          <p:nvPr>
            <p:custDataLst>
              <p:tags r:id="rId8"/>
            </p:custDataLst>
          </p:nvPr>
        </p:nvSpPr>
        <p:spPr>
          <a:xfrm>
            <a:off x="3496041" y="4286285"/>
            <a:ext cx="1057910" cy="274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900" b="1" kern="0" spc="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第三部分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8" name="textbox 228"/>
          <p:cNvSpPr/>
          <p:nvPr/>
        </p:nvSpPr>
        <p:spPr>
          <a:xfrm>
            <a:off x="2533599" y="3304281"/>
            <a:ext cx="143510" cy="266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3000"/>
              </a:lnSpc>
            </a:pPr>
            <a:r>
              <a:rPr sz="1900" kern="0" spc="-10" dirty="0">
                <a:solidFill>
                  <a:srgbClr val="4070C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m</a:t>
            </a:r>
            <a:endParaRPr sz="19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pic>
        <p:nvPicPr>
          <p:cNvPr id="11" name="图片 10"/>
          <p:cNvPicPr/>
          <p:nvPr/>
        </p:nvPicPr>
        <p:blipFill>
          <a:blip r:embed="rId9"/>
          <a:stretch>
            <a:fillRect/>
          </a:stretch>
        </p:blipFill>
        <p:spPr>
          <a:xfrm>
            <a:off x="11050270" y="0"/>
            <a:ext cx="896620" cy="8997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extbox 230"/>
          <p:cNvSpPr/>
          <p:nvPr/>
        </p:nvSpPr>
        <p:spPr>
          <a:xfrm>
            <a:off x="177759" y="1016012"/>
            <a:ext cx="11868785" cy="1117600"/>
          </a:xfrm>
          <a:prstGeom prst="rect">
            <a:avLst/>
          </a:prstGeom>
          <a:solidFill>
            <a:srgbClr val="ECECE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2000"/>
              </a:lnSpc>
            </a:pPr>
            <a:endParaRPr sz="10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90500" algn="l" rtl="0" eaLnBrk="0">
              <a:lnSpc>
                <a:spcPct val="85000"/>
              </a:lnSpc>
            </a:pP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“驭电”仿真大模型研发包括</a:t>
            </a: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三个阶段：</a:t>
            </a:r>
            <a:r>
              <a:rPr sz="19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V1.0</a:t>
            </a:r>
            <a:r>
              <a:rPr sz="1900" kern="0" spc="4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具备</a:t>
            </a: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潮流生成和分析</a:t>
            </a:r>
            <a:r>
              <a:rPr sz="19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</a:t>
            </a:r>
            <a:r>
              <a:rPr sz="1900" kern="0" spc="-1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</a:t>
            </a:r>
            <a:r>
              <a:rPr sz="1900" kern="0" spc="-3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，V2.0 具备</a:t>
            </a: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机电暂态仿真</a:t>
            </a:r>
            <a:r>
              <a:rPr sz="19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分析功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01600" algn="l" rtl="0" eaLnBrk="0">
              <a:lnSpc>
                <a:spcPts val="3555"/>
              </a:lnSpc>
            </a:pP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</a:t>
            </a:r>
            <a:r>
              <a:rPr sz="1900" kern="0" spc="4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，V3.0 具备</a:t>
            </a: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电磁暂态仿真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分析功能。核心技术是</a:t>
            </a: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利用神经网络求解非线性方程组和高阶微分方程组。</a:t>
            </a:r>
            <a:endParaRPr sz="1900" b="1" kern="0" spc="70" dirty="0">
              <a:solidFill>
                <a:srgbClr val="C0202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2" name="textbox 232"/>
          <p:cNvSpPr/>
          <p:nvPr/>
        </p:nvSpPr>
        <p:spPr>
          <a:xfrm>
            <a:off x="482600" y="247650"/>
            <a:ext cx="7373620" cy="5257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000"/>
              </a:lnSpc>
            </a:pPr>
            <a:r>
              <a:rPr sz="3800" b="1" kern="0" spc="-180" dirty="0">
                <a:solidFill>
                  <a:srgbClr val="406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1.“驭电”大模型的研发内容体系</a:t>
            </a:r>
            <a:endParaRPr sz="3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34" name="table 234"/>
          <p:cNvGraphicFramePr>
            <a:graphicFrameLocks noGrp="1"/>
          </p:cNvGraphicFramePr>
          <p:nvPr/>
        </p:nvGraphicFramePr>
        <p:xfrm>
          <a:off x="4879524" y="4581165"/>
          <a:ext cx="2285365" cy="859789"/>
        </p:xfrm>
        <a:graphic>
          <a:graphicData uri="http://schemas.openxmlformats.org/drawingml/2006/table">
            <a:tbl>
              <a:tblPr/>
              <a:tblGrid>
                <a:gridCol w="570230"/>
                <a:gridCol w="1715135"/>
              </a:tblGrid>
              <a:tr h="8597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6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V2.0:机电</a:t>
                      </a:r>
                      <a:endParaRPr sz="15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85000"/>
                        </a:lnSpc>
                        <a:spcBef>
                          <a:spcPts val="90"/>
                        </a:spcBef>
                      </a:pPr>
                      <a:r>
                        <a:rPr sz="16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稳定</a:t>
                      </a:r>
                      <a:endParaRPr sz="15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80000"/>
                        </a:lnSpc>
                        <a:spcBef>
                          <a:spcPts val="335"/>
                        </a:spcBef>
                      </a:pPr>
                      <a:r>
                        <a:rPr sz="16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分析</a:t>
                      </a:r>
                      <a:endParaRPr sz="16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</a:txBody>
                  <a:tcPr marL="0" marR="0" marT="305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4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marL="131445" algn="l" rtl="0" eaLnBrk="0">
                        <a:lnSpc>
                          <a:spcPct val="83000"/>
                        </a:lnSpc>
                      </a:pPr>
                      <a:r>
                        <a:rPr sz="15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机电振荡稳定分析</a:t>
                      </a:r>
                      <a:endParaRPr sz="15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marL="321945" algn="l" rtl="0" eaLnBrk="0">
                        <a:lnSpc>
                          <a:spcPts val="2450"/>
                        </a:lnSpc>
                      </a:pPr>
                      <a:r>
                        <a:rPr sz="15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机电暂态分析</a:t>
                      </a:r>
                      <a:endParaRPr sz="15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26000"/>
                        </a:lnSpc>
                      </a:pPr>
                      <a:endParaRPr sz="3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r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4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(功角、电压、频率)</a:t>
                      </a:r>
                      <a:endParaRPr sz="14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36" name="textbox 236"/>
          <p:cNvSpPr/>
          <p:nvPr/>
        </p:nvSpPr>
        <p:spPr>
          <a:xfrm>
            <a:off x="1542999" y="3087344"/>
            <a:ext cx="9226868" cy="222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5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规划网架+源荷8760小时数据                   规划网架+源荷8760小时数据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               </a:t>
            </a:r>
            <a:r>
              <a:rPr sz="15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规划网架</a:t>
            </a:r>
            <a:r>
              <a:rPr sz="15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+源荷8760小时数据</a:t>
            </a:r>
            <a:endParaRPr sz="15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238" name="textbox 238"/>
          <p:cNvSpPr/>
          <p:nvPr/>
        </p:nvSpPr>
        <p:spPr>
          <a:xfrm>
            <a:off x="8667761" y="6211575"/>
            <a:ext cx="1675722" cy="271521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774065" indent="-761365" algn="l" rtl="0" eaLnBrk="0">
              <a:lnSpc>
                <a:spcPct val="93000"/>
              </a:lnSpc>
            </a:pPr>
            <a:r>
              <a:rPr sz="1500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海量场景自动分析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                          </a:t>
            </a:r>
            <a:endParaRPr sz="2300" baseline="20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graphicFrame>
        <p:nvGraphicFramePr>
          <p:cNvPr id="240" name="table 240"/>
          <p:cNvGraphicFramePr>
            <a:graphicFrameLocks noGrp="1"/>
          </p:cNvGraphicFramePr>
          <p:nvPr/>
        </p:nvGraphicFramePr>
        <p:xfrm>
          <a:off x="8257321" y="4795408"/>
          <a:ext cx="2385060" cy="588010"/>
        </p:xfrm>
        <a:graphic>
          <a:graphicData uri="http://schemas.openxmlformats.org/drawingml/2006/table">
            <a:tbl>
              <a:tblPr/>
              <a:tblGrid>
                <a:gridCol w="668020"/>
                <a:gridCol w="1717040"/>
              </a:tblGrid>
              <a:tr h="5880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3000"/>
                        </a:lnSpc>
                        <a:spcBef>
                          <a:spcPts val="5"/>
                        </a:spcBef>
                      </a:pPr>
                      <a:r>
                        <a:rPr sz="16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V2.0:</a:t>
                      </a:r>
                      <a:endParaRPr sz="16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91000"/>
                        </a:lnSpc>
                        <a:spcBef>
                          <a:spcPts val="0"/>
                        </a:spcBef>
                      </a:pPr>
                      <a:r>
                        <a:rPr sz="16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机电稳</a:t>
                      </a:r>
                      <a:endParaRPr sz="13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80000"/>
                        </a:lnSpc>
                        <a:spcBef>
                          <a:spcPts val="215"/>
                        </a:spcBef>
                      </a:pPr>
                      <a:r>
                        <a:rPr sz="16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定分析</a:t>
                      </a:r>
                      <a:endParaRPr sz="1600" b="1" kern="0" spc="-20" dirty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</a:txBody>
                  <a:tcPr marL="0" marR="0" marT="628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3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r" rtl="0" eaLnBrk="0">
                        <a:lnSpc>
                          <a:spcPct val="83000"/>
                        </a:lnSpc>
                        <a:spcBef>
                          <a:spcPts val="5"/>
                        </a:spcBef>
                      </a:pPr>
                      <a:r>
                        <a:rPr sz="14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V3.0</a:t>
                      </a:r>
                      <a:r>
                        <a:rPr sz="1400" kern="0" spc="-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 </a:t>
                      </a:r>
                      <a:r>
                        <a:rPr sz="14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: </a:t>
                      </a:r>
                      <a:r>
                        <a:rPr sz="2300" kern="0" spc="-40" baseline="23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电磁稳定分析</a:t>
                      </a:r>
                      <a:endParaRPr sz="14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marL="383540" algn="l" rtl="0" eaLnBrk="0">
                        <a:lnSpc>
                          <a:spcPts val="2265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宽频振荡分析</a:t>
                      </a:r>
                      <a:endParaRPr sz="14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242" name="table 242"/>
          <p:cNvGraphicFramePr>
            <a:graphicFrameLocks noGrp="1"/>
          </p:cNvGraphicFramePr>
          <p:nvPr/>
        </p:nvGraphicFramePr>
        <p:xfrm>
          <a:off x="1526540" y="4475480"/>
          <a:ext cx="2108200" cy="662305"/>
        </p:xfrm>
        <a:graphic>
          <a:graphicData uri="http://schemas.openxmlformats.org/drawingml/2006/table">
            <a:tbl>
              <a:tblPr/>
              <a:tblGrid>
                <a:gridCol w="530860"/>
                <a:gridCol w="1577340"/>
              </a:tblGrid>
              <a:tr h="6623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"/>
                        </a:lnSpc>
                      </a:pPr>
                      <a:endParaRPr sz="1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85000"/>
                        </a:lnSpc>
                      </a:pPr>
                      <a:r>
                        <a:rPr sz="16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潮流</a:t>
                      </a:r>
                      <a:endParaRPr sz="15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86000"/>
                        </a:lnSpc>
                        <a:spcBef>
                          <a:spcPts val="65"/>
                        </a:spcBef>
                      </a:pPr>
                      <a:r>
                        <a:rPr sz="16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生成</a:t>
                      </a:r>
                      <a:endParaRPr sz="15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86000"/>
                        </a:lnSpc>
                        <a:spcBef>
                          <a:spcPts val="200"/>
                        </a:spcBef>
                      </a:pPr>
                      <a:r>
                        <a:rPr sz="16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分析</a:t>
                      </a:r>
                      <a:endParaRPr sz="16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r>
                        <a:rPr sz="15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潮流收敛性调整</a:t>
                      </a:r>
                      <a:endParaRPr sz="15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marL="168275" algn="l" rtl="0" eaLnBrk="0">
                        <a:lnSpc>
                          <a:spcPts val="3160"/>
                        </a:lnSpc>
                      </a:pPr>
                      <a:r>
                        <a:rPr sz="15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静态安全分析</a:t>
                      </a:r>
                      <a:endParaRPr sz="15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46" name="textbox 246"/>
          <p:cNvSpPr/>
          <p:nvPr/>
        </p:nvSpPr>
        <p:spPr>
          <a:xfrm>
            <a:off x="4670229" y="2494126"/>
            <a:ext cx="2773680" cy="2489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700" b="1" kern="0" spc="-5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机电暂态尺度的稳定分析功能</a:t>
            </a:r>
            <a:endParaRPr sz="17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248" name="textbox 248"/>
          <p:cNvSpPr/>
          <p:nvPr/>
        </p:nvSpPr>
        <p:spPr>
          <a:xfrm>
            <a:off x="7959646" y="2494126"/>
            <a:ext cx="2760980" cy="2489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700" b="1" kern="0" spc="-6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电磁暂态尺度的稳定分析功能</a:t>
            </a:r>
            <a:endParaRPr sz="17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250" name="textbox 250"/>
          <p:cNvSpPr/>
          <p:nvPr/>
        </p:nvSpPr>
        <p:spPr>
          <a:xfrm>
            <a:off x="1571532" y="2488395"/>
            <a:ext cx="2360930" cy="2482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700" b="1" kern="0" spc="-4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具备潮流生成和分析功能</a:t>
            </a:r>
            <a:endParaRPr sz="17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252" name="textbox 252"/>
          <p:cNvSpPr/>
          <p:nvPr/>
        </p:nvSpPr>
        <p:spPr>
          <a:xfrm>
            <a:off x="1514387" y="4154937"/>
            <a:ext cx="1569085" cy="3308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ts val="2405"/>
              </a:lnSpc>
            </a:pPr>
            <a:r>
              <a:rPr sz="16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V1.0:</a:t>
            </a:r>
            <a:r>
              <a:rPr sz="1600" kern="0" spc="3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 </a:t>
            </a:r>
            <a:r>
              <a:rPr lang="en-US" sz="1600" kern="0" spc="3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</a:t>
            </a:r>
            <a:r>
              <a:rPr sz="2300" kern="0" spc="-40" baseline="23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无功配置</a:t>
            </a:r>
            <a:endParaRPr sz="2300" baseline="230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256" name="textbox 256"/>
          <p:cNvSpPr/>
          <p:nvPr/>
        </p:nvSpPr>
        <p:spPr>
          <a:xfrm>
            <a:off x="5133975" y="4066540"/>
            <a:ext cx="2031365" cy="241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algn="r" rtl="0" eaLnBrk="0">
              <a:lnSpc>
                <a:spcPct val="84000"/>
              </a:lnSpc>
            </a:pPr>
            <a:r>
              <a:rPr sz="16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V1.0:</a:t>
            </a:r>
            <a:r>
              <a:rPr sz="1300" kern="0" spc="2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</a:t>
            </a:r>
            <a:r>
              <a:rPr sz="2300" kern="0" spc="-40" baseline="23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潮流生成与分析</a:t>
            </a:r>
            <a:endParaRPr sz="15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258" name="textbox 258"/>
          <p:cNvSpPr/>
          <p:nvPr/>
        </p:nvSpPr>
        <p:spPr>
          <a:xfrm>
            <a:off x="8477199" y="5786105"/>
            <a:ext cx="1781810" cy="222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稳定分析(数值仿真)</a:t>
            </a:r>
            <a:endParaRPr sz="15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260" name="textbox 260"/>
          <p:cNvSpPr/>
          <p:nvPr/>
        </p:nvSpPr>
        <p:spPr>
          <a:xfrm>
            <a:off x="5137200" y="5728977"/>
            <a:ext cx="1775460" cy="222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5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稳定分析(数值仿真)</a:t>
            </a:r>
            <a:endParaRPr sz="15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262" name="textbox 262"/>
          <p:cNvSpPr/>
          <p:nvPr/>
        </p:nvSpPr>
        <p:spPr>
          <a:xfrm>
            <a:off x="1771599" y="5544840"/>
            <a:ext cx="1762760" cy="222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稳定分析(数值仿真)</a:t>
            </a:r>
            <a:endParaRPr sz="15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264" name="textbox 264"/>
          <p:cNvSpPr/>
          <p:nvPr/>
        </p:nvSpPr>
        <p:spPr>
          <a:xfrm>
            <a:off x="8458200" y="4100195"/>
            <a:ext cx="2035810" cy="2089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6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V1.0:</a:t>
            </a:r>
            <a:r>
              <a:rPr sz="1400" kern="0" spc="4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</a:t>
            </a:r>
            <a:r>
              <a:rPr sz="2300" kern="0" spc="-40" baseline="23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潮流生成与分析</a:t>
            </a:r>
            <a:endParaRPr sz="14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266" name="textbox 266"/>
          <p:cNvSpPr/>
          <p:nvPr/>
        </p:nvSpPr>
        <p:spPr>
          <a:xfrm>
            <a:off x="1955820" y="6192510"/>
            <a:ext cx="1487805" cy="2216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5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海量场景自动分析</a:t>
            </a:r>
            <a:endParaRPr sz="15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268" name="textbox 268"/>
          <p:cNvSpPr/>
          <p:nvPr/>
        </p:nvSpPr>
        <p:spPr>
          <a:xfrm>
            <a:off x="5314959" y="6211575"/>
            <a:ext cx="1487805" cy="2216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5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海量场景自动分析</a:t>
            </a:r>
            <a:endParaRPr sz="15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272" name="textbox 272"/>
          <p:cNvSpPr/>
          <p:nvPr/>
        </p:nvSpPr>
        <p:spPr>
          <a:xfrm>
            <a:off x="6076960" y="5486654"/>
            <a:ext cx="1247140" cy="1962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300" kern="0" spc="70" dirty="0">
                <a:solidFill>
                  <a:srgbClr val="20A0E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高风险稳定场景</a:t>
            </a:r>
            <a:endParaRPr sz="13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274" name="textbox 274"/>
          <p:cNvSpPr/>
          <p:nvPr/>
        </p:nvSpPr>
        <p:spPr>
          <a:xfrm>
            <a:off x="5591148" y="2191663"/>
            <a:ext cx="1030288" cy="2470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700" b="1" kern="0" spc="10" dirty="0">
                <a:solidFill>
                  <a:srgbClr val="2060A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驭电V2. </a:t>
            </a:r>
            <a:r>
              <a:rPr sz="1700" b="1" kern="0" spc="10" dirty="0">
                <a:solidFill>
                  <a:srgbClr val="2060A0">
                    <a:alpha val="100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0</a:t>
            </a:r>
            <a:endParaRPr sz="1700" b="1" kern="0" spc="10" dirty="0">
              <a:solidFill>
                <a:srgbClr val="2060A0">
                  <a:alpha val="100000"/>
                </a:srgbClr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6" name="textbox 276"/>
          <p:cNvSpPr/>
          <p:nvPr/>
        </p:nvSpPr>
        <p:spPr>
          <a:xfrm>
            <a:off x="9442438" y="5524784"/>
            <a:ext cx="1170305" cy="1962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300" kern="0" spc="-20" dirty="0">
                <a:solidFill>
                  <a:srgbClr val="20A0E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高风险稳定场景</a:t>
            </a:r>
            <a:endParaRPr sz="13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278" name="textbox 278"/>
          <p:cNvSpPr/>
          <p:nvPr/>
        </p:nvSpPr>
        <p:spPr>
          <a:xfrm>
            <a:off x="2749519" y="5873994"/>
            <a:ext cx="1170305" cy="1962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300" kern="0" spc="-20" dirty="0">
                <a:solidFill>
                  <a:srgbClr val="20C0E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高风险稳定场景</a:t>
            </a:r>
            <a:endParaRPr sz="13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280" name="textbox 280"/>
          <p:cNvSpPr/>
          <p:nvPr/>
        </p:nvSpPr>
        <p:spPr>
          <a:xfrm>
            <a:off x="8867775" y="2210435"/>
            <a:ext cx="1038225" cy="2470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700" b="1" kern="0" spc="10" dirty="0">
                <a:solidFill>
                  <a:srgbClr val="2060A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驭电</a:t>
            </a:r>
            <a:r>
              <a:rPr sz="1700" b="1" kern="0" spc="10" dirty="0">
                <a:solidFill>
                  <a:srgbClr val="2060A0">
                    <a:alpha val="100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V3.0</a:t>
            </a:r>
            <a:endParaRPr sz="1700" b="1" kern="0" spc="10" dirty="0">
              <a:solidFill>
                <a:srgbClr val="2060A0">
                  <a:alpha val="100000"/>
                </a:srgbClr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2" name="textbox 282"/>
          <p:cNvSpPr/>
          <p:nvPr/>
        </p:nvSpPr>
        <p:spPr>
          <a:xfrm>
            <a:off x="2308086" y="2210729"/>
            <a:ext cx="1034713" cy="2470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700" b="1" kern="0" spc="-10" dirty="0">
                <a:solidFill>
                  <a:srgbClr val="2060A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驭电V1</a:t>
            </a:r>
            <a:r>
              <a:rPr sz="1700" b="1" kern="0" spc="-10" dirty="0">
                <a:solidFill>
                  <a:srgbClr val="2060A0">
                    <a:alpha val="100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.0</a:t>
            </a:r>
            <a:endParaRPr sz="1700" b="1" kern="0" spc="-10" dirty="0">
              <a:solidFill>
                <a:srgbClr val="2060A0">
                  <a:alpha val="100000"/>
                </a:srgbClr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4" name="textbox 284"/>
          <p:cNvSpPr/>
          <p:nvPr/>
        </p:nvSpPr>
        <p:spPr>
          <a:xfrm>
            <a:off x="6108659" y="6483106"/>
            <a:ext cx="1162685" cy="183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kern="0" spc="70" dirty="0">
                <a:solidFill>
                  <a:srgbClr val="20A0E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新能源承载能力</a:t>
            </a:r>
            <a:endParaRPr sz="12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286" name="textbox 286"/>
          <p:cNvSpPr/>
          <p:nvPr/>
        </p:nvSpPr>
        <p:spPr>
          <a:xfrm>
            <a:off x="2762199" y="6476728"/>
            <a:ext cx="1149985" cy="183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kern="0" spc="60" dirty="0">
                <a:solidFill>
                  <a:srgbClr val="20A0E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新能源承载能力</a:t>
            </a:r>
            <a:endParaRPr sz="12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288" name="textbox 288"/>
          <p:cNvSpPr/>
          <p:nvPr/>
        </p:nvSpPr>
        <p:spPr>
          <a:xfrm>
            <a:off x="5676940" y="3538951"/>
            <a:ext cx="779780" cy="2216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有功配置</a:t>
            </a:r>
            <a:endParaRPr sz="15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290" name="textbox 290"/>
          <p:cNvSpPr/>
          <p:nvPr/>
        </p:nvSpPr>
        <p:spPr>
          <a:xfrm>
            <a:off x="9010599" y="3538951"/>
            <a:ext cx="779780" cy="2216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有功配置</a:t>
            </a:r>
            <a:endParaRPr sz="15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292" name="textbox 292"/>
          <p:cNvSpPr/>
          <p:nvPr/>
        </p:nvSpPr>
        <p:spPr>
          <a:xfrm>
            <a:off x="2304999" y="3558017"/>
            <a:ext cx="762635" cy="2216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5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有功配置</a:t>
            </a:r>
            <a:endParaRPr sz="15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294" name="textbox 294"/>
          <p:cNvSpPr/>
          <p:nvPr/>
        </p:nvSpPr>
        <p:spPr>
          <a:xfrm>
            <a:off x="2717820" y="5283451"/>
            <a:ext cx="783590" cy="1955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300" kern="0" spc="180" dirty="0">
                <a:solidFill>
                  <a:srgbClr val="10A0F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潮流场景</a:t>
            </a:r>
            <a:endParaRPr sz="13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296" name="textbox 296"/>
          <p:cNvSpPr/>
          <p:nvPr/>
        </p:nvSpPr>
        <p:spPr>
          <a:xfrm>
            <a:off x="6178520" y="4324634"/>
            <a:ext cx="680085" cy="1955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300" kern="0" spc="-20" dirty="0">
                <a:solidFill>
                  <a:srgbClr val="20A0E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潮流场景</a:t>
            </a:r>
            <a:endParaRPr sz="13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298" name="textbox 298"/>
          <p:cNvSpPr/>
          <p:nvPr/>
        </p:nvSpPr>
        <p:spPr>
          <a:xfrm>
            <a:off x="6153160" y="3816593"/>
            <a:ext cx="678815" cy="1955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300" kern="0" spc="-20" dirty="0">
                <a:solidFill>
                  <a:srgbClr val="20A0E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有功场景</a:t>
            </a:r>
            <a:endParaRPr sz="13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300" name="textbox 300"/>
          <p:cNvSpPr/>
          <p:nvPr/>
        </p:nvSpPr>
        <p:spPr>
          <a:xfrm>
            <a:off x="9461460" y="3822971"/>
            <a:ext cx="678815" cy="1955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300" kern="0" spc="-20" dirty="0">
                <a:solidFill>
                  <a:srgbClr val="20A0E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有功场景</a:t>
            </a:r>
            <a:endParaRPr sz="13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302" name="textbox 302"/>
          <p:cNvSpPr/>
          <p:nvPr/>
        </p:nvSpPr>
        <p:spPr>
          <a:xfrm>
            <a:off x="2794020" y="3829281"/>
            <a:ext cx="678815" cy="1955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300" kern="0" spc="-20" dirty="0">
                <a:solidFill>
                  <a:srgbClr val="20A0E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有功场景</a:t>
            </a:r>
            <a:endParaRPr sz="13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2" name="textbox 284"/>
          <p:cNvSpPr/>
          <p:nvPr/>
        </p:nvSpPr>
        <p:spPr>
          <a:xfrm>
            <a:off x="9557988" y="6483096"/>
            <a:ext cx="1162685" cy="183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kern="0" spc="70" dirty="0">
                <a:solidFill>
                  <a:srgbClr val="20A0E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新能源承载能力</a:t>
            </a:r>
            <a:endParaRPr sz="12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pic>
        <p:nvPicPr>
          <p:cNvPr id="11" name="图片 10"/>
          <p:cNvPicPr/>
          <p:nvPr/>
        </p:nvPicPr>
        <p:blipFill>
          <a:blip r:embed="rId2"/>
          <a:stretch>
            <a:fillRect/>
          </a:stretch>
        </p:blipFill>
        <p:spPr>
          <a:xfrm>
            <a:off x="11050270" y="0"/>
            <a:ext cx="896620" cy="899795"/>
          </a:xfrm>
          <a:prstGeom prst="rect">
            <a:avLst/>
          </a:prstGeom>
        </p:spPr>
      </p:pic>
      <p:sp>
        <p:nvSpPr>
          <p:cNvPr id="116" name="textbox 116"/>
          <p:cNvSpPr/>
          <p:nvPr/>
        </p:nvSpPr>
        <p:spPr>
          <a:xfrm>
            <a:off x="11944360" y="6434872"/>
            <a:ext cx="112395" cy="222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lang="en-US" sz="15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7</a:t>
            </a:r>
            <a:endParaRPr lang="en-US" sz="1500" b="1" kern="0" spc="-1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4" name="table 304"/>
          <p:cNvGraphicFramePr>
            <a:graphicFrameLocks noGrp="1"/>
          </p:cNvGraphicFramePr>
          <p:nvPr/>
        </p:nvGraphicFramePr>
        <p:xfrm>
          <a:off x="1079479" y="2713763"/>
          <a:ext cx="9948545" cy="3789271"/>
        </p:xfrm>
        <a:graphic>
          <a:graphicData uri="http://schemas.openxmlformats.org/drawingml/2006/table">
            <a:tbl>
              <a:tblPr/>
              <a:tblGrid>
                <a:gridCol w="9948545"/>
              </a:tblGrid>
              <a:tr h="455929">
                <a:tc>
                  <a:txBody>
                    <a:bodyPr/>
                    <a:lstStyle/>
                    <a:p>
                      <a:pPr marL="1054100" algn="l" rtl="0" eaLnBrk="0">
                        <a:lnSpc>
                          <a:spcPct val="93000"/>
                        </a:lnSpc>
                        <a:spcBef>
                          <a:spcPts val="0"/>
                        </a:spcBef>
                      </a:pPr>
                      <a:r>
                        <a:rPr sz="1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潮流初始值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</a:t>
                      </a:r>
                      <a:r>
                        <a:rPr lang="en-US"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</a:t>
                      </a:r>
                      <a:r>
                        <a:rPr sz="1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潮流编码器</a:t>
                      </a: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</a:t>
                      </a:r>
                      <a:r>
                        <a:rPr lang="en-US"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</a:t>
                      </a:r>
                      <a:r>
                        <a:rPr sz="1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潮流解码器      </a:t>
                      </a:r>
                      <a:r>
                        <a:rPr sz="17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</a:t>
                      </a:r>
                      <a:r>
                        <a:rPr lang="en-US" sz="17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</a:t>
                      </a:r>
                      <a:r>
                        <a:rPr sz="17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600" kern="0" spc="100" baseline="4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潮流解</a:t>
                      </a:r>
                      <a:endParaRPr sz="2600" baseline="4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36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359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1000"/>
                        </a:lnSpc>
                      </a:pP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495550" algn="l" rtl="0" eaLnBrk="0">
                        <a:lnSpc>
                          <a:spcPct val="94000"/>
                        </a:lnSpc>
                        <a:spcBef>
                          <a:spcPts val="5"/>
                        </a:spcBef>
                      </a:pPr>
                      <a:r>
                        <a:rPr sz="2600" b="1" kern="0" spc="140" baseline="4000" dirty="0">
                          <a:solidFill>
                            <a:srgbClr val="3070A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提供知识经验</a:t>
                      </a:r>
                      <a:r>
                        <a:rPr sz="1600" kern="0" spc="20" dirty="0">
                          <a:solidFill>
                            <a:srgbClr val="3070A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</a:t>
                      </a:r>
                      <a:r>
                        <a:rPr sz="1600" kern="0" spc="10" dirty="0">
                          <a:solidFill>
                            <a:srgbClr val="3070A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</a:t>
                      </a:r>
                      <a:r>
                        <a:rPr lang="en-US" sz="1600" kern="0" spc="10" dirty="0">
                          <a:solidFill>
                            <a:srgbClr val="3070A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</a:t>
                      </a:r>
                      <a:r>
                        <a:rPr sz="2600" b="1" kern="0" spc="140" baseline="-4000" dirty="0">
                          <a:solidFill>
                            <a:srgbClr val="C0202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促进框架完善</a:t>
                      </a:r>
                      <a:endParaRPr sz="2600" b="1" kern="0" spc="140" baseline="-4000" dirty="0">
                        <a:solidFill>
                          <a:srgbClr val="C0202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148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49530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1700" b="1" kern="0" spc="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下游任务1:稳态潮流场景生成</a:t>
                      </a: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    </a:t>
                      </a:r>
                      <a:r>
                        <a:rPr sz="17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en-US" sz="17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</a:t>
                      </a:r>
                      <a:r>
                        <a:rPr sz="1700" b="1" kern="0" spc="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下</a:t>
                      </a:r>
                      <a:r>
                        <a:rPr sz="1700" b="1" kern="0" spc="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游任务2:静态安全分析</a:t>
                      </a:r>
                      <a:endParaRPr sz="17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</a:pP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8094980" indent="-1751965" algn="l" rtl="0" eaLnBrk="0">
                        <a:lnSpc>
                          <a:spcPct val="121000"/>
                        </a:lnSpc>
                        <a:spcBef>
                          <a:spcPts val="5"/>
                        </a:spcBef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                                 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32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52000"/>
                        </a:lnSpc>
                      </a:pPr>
                      <a:endParaRPr sz="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5352415" algn="l" rtl="0" eaLnBrk="0">
                        <a:lnSpc>
                          <a:spcPct val="85000"/>
                        </a:lnSpc>
                      </a:pP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338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679450" algn="l" rtl="0" eaLnBrk="0">
                        <a:lnSpc>
                          <a:spcPct val="90000"/>
                        </a:lnSpc>
                        <a:spcBef>
                          <a:spcPts val="5"/>
                        </a:spcBef>
                      </a:pPr>
                      <a:r>
                        <a:rPr sz="1700" b="1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下游任务3:机电暂态分析</a:t>
                      </a:r>
                      <a:r>
                        <a:rPr sz="17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    </a:t>
                      </a:r>
                      <a:r>
                        <a:rPr lang="en-US" sz="17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</a:t>
                      </a:r>
                      <a:r>
                        <a:rPr sz="17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700" b="1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下游任务4:电磁暂态分析</a:t>
                      </a:r>
                      <a:endParaRPr sz="1700" b="1" kern="0" spc="160" dirty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6598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800" kern="0" spc="60" dirty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065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"/>
                        </a:lnSpc>
                      </a:pPr>
                      <a:endParaRPr sz="1300" baseline="8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59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1300" baseline="-5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76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1300" baseline="-4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pSp>
        <p:nvGrpSpPr>
          <p:cNvPr id="10" name="group 10"/>
          <p:cNvGrpSpPr/>
          <p:nvPr/>
        </p:nvGrpSpPr>
        <p:grpSpPr>
          <a:xfrm rot="21600000">
            <a:off x="190560" y="996947"/>
            <a:ext cx="11842700" cy="1504727"/>
            <a:chOff x="0" y="0"/>
            <a:chExt cx="11842700" cy="1504727"/>
          </a:xfrm>
        </p:grpSpPr>
        <p:sp>
          <p:nvSpPr>
            <p:cNvPr id="306" name="rect 306"/>
            <p:cNvSpPr/>
            <p:nvPr/>
          </p:nvSpPr>
          <p:spPr>
            <a:xfrm>
              <a:off x="0" y="0"/>
              <a:ext cx="11842700" cy="1054074"/>
            </a:xfrm>
            <a:prstGeom prst="rect">
              <a:avLst/>
            </a:prstGeom>
            <a:solidFill>
              <a:srgbClr val="EDECED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08" name="textbox 308"/>
            <p:cNvSpPr/>
            <p:nvPr/>
          </p:nvSpPr>
          <p:spPr>
            <a:xfrm>
              <a:off x="76179" y="241299"/>
              <a:ext cx="11689715" cy="7334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2000"/>
                </a:lnSpc>
              </a:pPr>
              <a:endParaRPr sz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85000"/>
                </a:lnSpc>
              </a:pPr>
              <a:r>
                <a:rPr sz="1900" kern="0" spc="1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驭电采用</a:t>
              </a:r>
              <a:r>
                <a:rPr sz="1900" b="1" kern="0" spc="70" dirty="0">
                  <a:solidFill>
                    <a:srgbClr val="C0202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预训练+微调</a:t>
              </a:r>
              <a:r>
                <a:rPr sz="1900" kern="0" spc="1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的范式，</a:t>
              </a:r>
              <a:r>
                <a:rPr sz="1900" kern="0" spc="-4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900" kern="0" spc="1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构建以</a:t>
              </a:r>
              <a:r>
                <a:rPr sz="1900" b="1" kern="0" spc="70" dirty="0">
                  <a:solidFill>
                    <a:srgbClr val="C0202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电力系统潮流高维表征</a:t>
              </a:r>
              <a:r>
                <a:rPr sz="1900" kern="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为核心的</a:t>
              </a:r>
              <a:r>
                <a:rPr sz="1900" b="1" kern="0" spc="70" dirty="0">
                  <a:solidFill>
                    <a:srgbClr val="C0202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基础模型，</a:t>
              </a:r>
              <a:r>
                <a:rPr sz="1900" kern="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预训练与四个下游任务</a:t>
              </a:r>
              <a:endParaRPr sz="1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8415" algn="l" rtl="0" eaLnBrk="0">
                <a:lnSpc>
                  <a:spcPts val="3620"/>
                </a:lnSpc>
              </a:pPr>
              <a:r>
                <a:rPr sz="1900" kern="0" spc="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并行推进、相互促进。</a:t>
              </a:r>
              <a:endParaRPr sz="1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10" name="textbox 310"/>
            <p:cNvSpPr/>
            <p:nvPr/>
          </p:nvSpPr>
          <p:spPr>
            <a:xfrm>
              <a:off x="4194521" y="1244625"/>
              <a:ext cx="2835275" cy="27686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7000"/>
                </a:lnSpc>
              </a:pPr>
              <a:endParaRPr sz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87000"/>
                </a:lnSpc>
              </a:pPr>
              <a:r>
                <a:rPr sz="1900" b="1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电力系统预训练基础模型</a:t>
              </a:r>
              <a:endParaRPr sz="1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312" name="textbox 312"/>
          <p:cNvSpPr/>
          <p:nvPr/>
        </p:nvSpPr>
        <p:spPr>
          <a:xfrm>
            <a:off x="438150" y="234950"/>
            <a:ext cx="9960610" cy="5257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000"/>
              </a:lnSpc>
            </a:pPr>
            <a:r>
              <a:rPr sz="3800" b="1" kern="0" spc="-180" dirty="0">
                <a:solidFill>
                  <a:srgbClr val="406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sz="3800" b="1" kern="0" spc="-180" dirty="0">
                <a:solidFill>
                  <a:srgbClr val="406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“驭电”大模型的总体框架</a:t>
            </a:r>
            <a:endParaRPr sz="3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564" y="4064355"/>
            <a:ext cx="4643512" cy="124345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524" y="5636506"/>
            <a:ext cx="4643557" cy="109826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5233" y="4064318"/>
            <a:ext cx="4988625" cy="131347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0315" y="5636538"/>
            <a:ext cx="4963597" cy="1124565"/>
          </a:xfrm>
          <a:prstGeom prst="rect">
            <a:avLst/>
          </a:prstGeom>
        </p:spPr>
      </p:pic>
      <p:pic>
        <p:nvPicPr>
          <p:cNvPr id="11" name="图片 10"/>
          <p:cNvPicPr/>
          <p:nvPr/>
        </p:nvPicPr>
        <p:blipFill>
          <a:blip r:embed="rId6"/>
          <a:stretch>
            <a:fillRect/>
          </a:stretch>
        </p:blipFill>
        <p:spPr>
          <a:xfrm>
            <a:off x="11050270" y="0"/>
            <a:ext cx="896620" cy="899795"/>
          </a:xfrm>
          <a:prstGeom prst="rect">
            <a:avLst/>
          </a:prstGeom>
        </p:spPr>
      </p:pic>
      <p:sp>
        <p:nvSpPr>
          <p:cNvPr id="116" name="textbox 116"/>
          <p:cNvSpPr/>
          <p:nvPr/>
        </p:nvSpPr>
        <p:spPr>
          <a:xfrm>
            <a:off x="11944360" y="6434872"/>
            <a:ext cx="112395" cy="222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lang="en-US" sz="15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lang="en-US" sz="1500" b="1" kern="0" spc="-1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2"/>
          <p:cNvGrpSpPr/>
          <p:nvPr/>
        </p:nvGrpSpPr>
        <p:grpSpPr>
          <a:xfrm rot="21600000">
            <a:off x="406359" y="2266980"/>
            <a:ext cx="11544360" cy="4032229"/>
            <a:chOff x="0" y="0"/>
            <a:chExt cx="11544360" cy="4032229"/>
          </a:xfrm>
        </p:grpSpPr>
        <p:pic>
          <p:nvPicPr>
            <p:cNvPr id="342" name="picture 34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11544360" cy="4032229"/>
            </a:xfrm>
            <a:prstGeom prst="rect">
              <a:avLst/>
            </a:prstGeom>
          </p:spPr>
        </p:pic>
        <p:sp>
          <p:nvSpPr>
            <p:cNvPr id="344" name="textbox 344"/>
            <p:cNvSpPr/>
            <p:nvPr/>
          </p:nvSpPr>
          <p:spPr>
            <a:xfrm>
              <a:off x="3206750" y="605155"/>
              <a:ext cx="6484620" cy="266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000"/>
                </a:lnSpc>
              </a:pPr>
              <a:endParaRPr sz="100" dirty="0">
                <a:latin typeface="微软雅黑" panose="020B0503020204020204" charset="-122"/>
                <a:ea typeface="+mn-ea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99000"/>
                </a:lnSpc>
              </a:pPr>
              <a:r>
                <a:rPr sz="1500" kern="0" spc="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+mn-ea"/>
                  <a:cs typeface="微软雅黑" panose="020B0503020204020204" charset="-122"/>
                </a:rPr>
                <a:t>节点特征掩码</a:t>
              </a:r>
              <a:r>
                <a:rPr sz="1500" kern="0" spc="1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+mn-ea"/>
                  <a:cs typeface="微软雅黑" panose="020B0503020204020204" charset="-122"/>
                </a:rPr>
                <a:t>          </a:t>
              </a:r>
              <a:r>
                <a:rPr sz="1600" kern="0" spc="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+mn-ea"/>
                  <a:cs typeface="微软雅黑" panose="020B0503020204020204" charset="-122"/>
                </a:rPr>
                <a:t>潮流编码器</a:t>
              </a:r>
              <a:r>
                <a:rPr sz="1600" kern="0" spc="1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+mn-ea"/>
                  <a:cs typeface="微软雅黑" panose="020B0503020204020204" charset="-122"/>
                </a:rPr>
                <a:t>          </a:t>
              </a:r>
              <a:r>
                <a:rPr sz="2400" kern="0" spc="80" baseline="-40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+mn-ea"/>
                  <a:cs typeface="微软雅黑" panose="020B0503020204020204" charset="-122"/>
                </a:rPr>
                <a:t>潮流解码器</a:t>
              </a:r>
              <a:r>
                <a:rPr sz="1500" kern="0" spc="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+mn-ea"/>
                  <a:cs typeface="微软雅黑" panose="020B0503020204020204" charset="-122"/>
                </a:rPr>
                <a:t>            </a:t>
              </a:r>
              <a:r>
                <a:rPr sz="15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+mn-ea"/>
                  <a:cs typeface="微软雅黑" panose="020B0503020204020204" charset="-122"/>
                </a:rPr>
                <a:t>    </a:t>
              </a:r>
              <a:r>
                <a:rPr sz="2400" kern="0" spc="80" baseline="70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+mn-ea"/>
                  <a:cs typeface="微软雅黑" panose="020B0503020204020204" charset="-122"/>
                </a:rPr>
                <a:t>潮流</a:t>
              </a:r>
              <a:r>
                <a:rPr sz="2400" kern="0" spc="70" baseline="70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+mn-ea"/>
                  <a:cs typeface="微软雅黑" panose="020B0503020204020204" charset="-122"/>
                </a:rPr>
                <a:t>解</a:t>
              </a:r>
              <a:endParaRPr sz="2400" baseline="7000" dirty="0">
                <a:latin typeface="微软雅黑" panose="020B0503020204020204" charset="-122"/>
                <a:ea typeface="+mn-ea"/>
                <a:cs typeface="微软雅黑" panose="020B0503020204020204" charset="-122"/>
              </a:endParaRPr>
            </a:p>
          </p:txBody>
        </p:sp>
        <p:sp>
          <p:nvSpPr>
            <p:cNvPr id="346" name="textbox 346"/>
            <p:cNvSpPr/>
            <p:nvPr/>
          </p:nvSpPr>
          <p:spPr>
            <a:xfrm>
              <a:off x="8248720" y="1596103"/>
              <a:ext cx="2675890" cy="2489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6000"/>
                </a:lnSpc>
              </a:pPr>
              <a:endParaRPr sz="100" dirty="0">
                <a:latin typeface="微软雅黑" panose="020B0503020204020204" charset="-122"/>
                <a:ea typeface="+mn-ea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86000"/>
                </a:lnSpc>
              </a:pPr>
              <a:r>
                <a:rPr sz="1700" b="1" kern="0" spc="1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+mn-ea"/>
                  <a:cs typeface="微软雅黑" panose="020B0503020204020204" charset="-122"/>
                </a:rPr>
                <a:t>节点-支路双通道输出</a:t>
              </a:r>
              <a:r>
                <a:rPr sz="1700" b="1" kern="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+mn-ea"/>
                  <a:cs typeface="微软雅黑" panose="020B0503020204020204" charset="-122"/>
                </a:rPr>
                <a:t>模块</a:t>
              </a:r>
              <a:endParaRPr sz="1700" b="1" dirty="0">
                <a:latin typeface="微软雅黑" panose="020B0503020204020204" charset="-122"/>
                <a:ea typeface="+mn-ea"/>
                <a:cs typeface="微软雅黑" panose="020B0503020204020204" charset="-122"/>
              </a:endParaRPr>
            </a:p>
          </p:txBody>
        </p:sp>
        <p:sp>
          <p:nvSpPr>
            <p:cNvPr id="348" name="textbox 348"/>
            <p:cNvSpPr/>
            <p:nvPr/>
          </p:nvSpPr>
          <p:spPr>
            <a:xfrm>
              <a:off x="4527601" y="1608790"/>
              <a:ext cx="2332990" cy="2489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6000"/>
                </a:lnSpc>
              </a:pPr>
              <a:endParaRPr sz="100" dirty="0">
                <a:latin typeface="微软雅黑" panose="020B0503020204020204" charset="-122"/>
                <a:ea typeface="+mn-ea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86000"/>
                </a:lnSpc>
              </a:pPr>
              <a:r>
                <a:rPr sz="1700" b="1" kern="0" spc="1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+mn-ea"/>
                  <a:cs typeface="微软雅黑" panose="020B0503020204020204" charset="-122"/>
                </a:rPr>
                <a:t>图注意力神经网络模块</a:t>
              </a:r>
              <a:endParaRPr sz="1700" b="1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endParaRPr>
            </a:p>
          </p:txBody>
        </p:sp>
        <p:sp>
          <p:nvSpPr>
            <p:cNvPr id="352" name="textbox 352"/>
            <p:cNvSpPr/>
            <p:nvPr/>
          </p:nvSpPr>
          <p:spPr>
            <a:xfrm>
              <a:off x="4556048" y="100783"/>
              <a:ext cx="2110105" cy="2489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6000"/>
                </a:lnSpc>
              </a:pPr>
              <a:endParaRPr sz="100" dirty="0">
                <a:latin typeface="微软雅黑" panose="020B0503020204020204" charset="-122"/>
                <a:ea typeface="+mn-ea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86000"/>
                </a:lnSpc>
              </a:pPr>
              <a:r>
                <a:rPr sz="1700" b="1" kern="0" spc="1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+mn-ea"/>
                  <a:cs typeface="微软雅黑" panose="020B0503020204020204" charset="-122"/>
                </a:rPr>
                <a:t>预训练基础模型结构</a:t>
              </a:r>
              <a:endParaRPr sz="1700" dirty="0">
                <a:latin typeface="微软雅黑" panose="020B0503020204020204" charset="-122"/>
                <a:ea typeface="+mn-ea"/>
                <a:cs typeface="微软雅黑" panose="020B0503020204020204" charset="-122"/>
              </a:endParaRPr>
            </a:p>
          </p:txBody>
        </p:sp>
        <p:sp>
          <p:nvSpPr>
            <p:cNvPr id="356" name="textbox 356"/>
            <p:cNvSpPr/>
            <p:nvPr/>
          </p:nvSpPr>
          <p:spPr>
            <a:xfrm>
              <a:off x="1069989" y="1592367"/>
              <a:ext cx="1428750" cy="2489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6000"/>
                </a:lnSpc>
              </a:pPr>
              <a:endParaRPr sz="100" dirty="0">
                <a:latin typeface="微软雅黑" panose="020B0503020204020204" charset="-122"/>
                <a:ea typeface="+mn-ea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86000"/>
                </a:lnSpc>
              </a:pPr>
              <a:r>
                <a:rPr sz="1700" b="1" kern="0" spc="1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+mn-ea"/>
                  <a:cs typeface="微软雅黑" panose="020B0503020204020204" charset="-122"/>
                </a:rPr>
                <a:t>多重掩码机制</a:t>
              </a:r>
              <a:endParaRPr sz="1700" dirty="0">
                <a:latin typeface="微软雅黑" panose="020B0503020204020204" charset="-122"/>
                <a:ea typeface="+mn-ea"/>
                <a:cs typeface="微软雅黑" panose="020B0503020204020204" charset="-122"/>
              </a:endParaRPr>
            </a:p>
          </p:txBody>
        </p:sp>
        <p:sp>
          <p:nvSpPr>
            <p:cNvPr id="358" name="textbox 358"/>
            <p:cNvSpPr/>
            <p:nvPr/>
          </p:nvSpPr>
          <p:spPr>
            <a:xfrm>
              <a:off x="1562140" y="623539"/>
              <a:ext cx="1055370" cy="22288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6000"/>
                </a:lnSpc>
              </a:pPr>
              <a:endParaRPr sz="100" dirty="0">
                <a:latin typeface="微软雅黑" panose="020B0503020204020204" charset="-122"/>
                <a:ea typeface="+mn-ea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86000"/>
                </a:lnSpc>
              </a:pPr>
              <a:r>
                <a:rPr sz="1500" kern="0" spc="1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+mn-ea"/>
                  <a:cs typeface="微软雅黑" panose="020B0503020204020204" charset="-122"/>
                </a:rPr>
                <a:t>潮流初始值</a:t>
              </a:r>
              <a:endParaRPr sz="1500" dirty="0">
                <a:latin typeface="微软雅黑" panose="020B0503020204020204" charset="-122"/>
                <a:ea typeface="+mn-ea"/>
                <a:cs typeface="微软雅黑" panose="020B0503020204020204" charset="-122"/>
              </a:endParaRPr>
            </a:p>
          </p:txBody>
        </p:sp>
        <p:sp>
          <p:nvSpPr>
            <p:cNvPr id="396" name="textbox 396"/>
            <p:cNvSpPr/>
            <p:nvPr/>
          </p:nvSpPr>
          <p:spPr>
            <a:xfrm>
              <a:off x="9550460" y="3523464"/>
              <a:ext cx="273050" cy="1555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5000"/>
                </a:lnSpc>
              </a:pPr>
              <a:endParaRPr sz="100" dirty="0">
                <a:latin typeface="微软雅黑" panose="020B0503020204020204" charset="-122"/>
                <a:ea typeface="+mn-ea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85000"/>
                </a:lnSpc>
              </a:pPr>
              <a:r>
                <a:rPr sz="1000" kern="0" spc="-4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+mn-ea"/>
                  <a:cs typeface="微软雅黑" panose="020B0503020204020204" charset="-122"/>
                </a:rPr>
                <a:t>分解</a:t>
              </a:r>
              <a:endParaRPr sz="1000" dirty="0">
                <a:latin typeface="微软雅黑" panose="020B0503020204020204" charset="-122"/>
                <a:ea typeface="+mn-ea"/>
                <a:cs typeface="微软雅黑" panose="020B0503020204020204" charset="-122"/>
              </a:endParaRPr>
            </a:p>
          </p:txBody>
        </p:sp>
      </p:grpSp>
      <p:sp>
        <p:nvSpPr>
          <p:cNvPr id="406" name="textbox 406"/>
          <p:cNvSpPr/>
          <p:nvPr/>
        </p:nvSpPr>
        <p:spPr>
          <a:xfrm>
            <a:off x="190560" y="1066831"/>
            <a:ext cx="11830050" cy="1028700"/>
          </a:xfrm>
          <a:prstGeom prst="rect">
            <a:avLst/>
          </a:prstGeom>
          <a:solidFill>
            <a:srgbClr val="EBEBE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9000"/>
              </a:lnSpc>
            </a:pPr>
            <a:endParaRPr sz="10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88265" algn="l" rtl="0" eaLnBrk="0">
              <a:lnSpc>
                <a:spcPct val="85000"/>
              </a:lnSpc>
              <a:spcBef>
                <a:spcPts val="5"/>
              </a:spcBef>
            </a:pP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</a:t>
            </a: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“编码器-解码器”为基本架构，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</a:t>
            </a: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图注意力神经网络，引入物理信息神经网络(PINN)</a:t>
            </a:r>
            <a:r>
              <a:rPr sz="1900" kern="0" spc="30" dirty="0">
                <a:solidFill>
                  <a:srgbClr val="E0101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技术，在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6200" algn="l" rtl="0" eaLnBrk="0">
              <a:lnSpc>
                <a:spcPts val="3620"/>
              </a:lnSpc>
            </a:pPr>
            <a:r>
              <a:rPr sz="19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前向计算和损失函数中加入电力系统规律约束，实现</a:t>
            </a: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数据-机理深度混合驱动。</a:t>
            </a:r>
            <a:endParaRPr sz="1900" b="1" kern="0" spc="70" dirty="0">
              <a:solidFill>
                <a:srgbClr val="C0202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8" name="textbox 408"/>
          <p:cNvSpPr/>
          <p:nvPr/>
        </p:nvSpPr>
        <p:spPr>
          <a:xfrm>
            <a:off x="406991" y="253843"/>
            <a:ext cx="4837430" cy="5257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000"/>
              </a:lnSpc>
            </a:pPr>
            <a:r>
              <a:rPr sz="3800" b="1" kern="0" spc="-180" dirty="0">
                <a:solidFill>
                  <a:srgbClr val="406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3.基础模型的技术架构</a:t>
            </a:r>
            <a:endParaRPr sz="3800" b="1" kern="0" spc="-180" dirty="0">
              <a:solidFill>
                <a:srgbClr val="40608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6" name="textbox 416"/>
          <p:cNvSpPr/>
          <p:nvPr/>
        </p:nvSpPr>
        <p:spPr>
          <a:xfrm>
            <a:off x="11947085" y="6439127"/>
            <a:ext cx="113029" cy="215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3000"/>
              </a:lnSpc>
            </a:pPr>
            <a:r>
              <a:rPr sz="15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9</a:t>
            </a:r>
            <a:endParaRPr sz="15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4189452"/>
            <a:ext cx="3594453" cy="210978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1222" y="4189452"/>
            <a:ext cx="4002681" cy="210978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3865" y="4189452"/>
            <a:ext cx="4031276" cy="2138099"/>
          </a:xfrm>
          <a:prstGeom prst="rect">
            <a:avLst/>
          </a:prstGeom>
        </p:spPr>
      </p:pic>
      <p:pic>
        <p:nvPicPr>
          <p:cNvPr id="11" name="图片 10"/>
          <p:cNvPicPr/>
          <p:nvPr/>
        </p:nvPicPr>
        <p:blipFill>
          <a:blip r:embed="rId6"/>
          <a:stretch>
            <a:fillRect/>
          </a:stretch>
        </p:blipFill>
        <p:spPr>
          <a:xfrm>
            <a:off x="11050270" y="0"/>
            <a:ext cx="896620" cy="8997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 rot="21600000">
            <a:off x="165079" y="3365495"/>
            <a:ext cx="6438960" cy="2940024"/>
            <a:chOff x="0" y="0"/>
            <a:chExt cx="6438960" cy="2940024"/>
          </a:xfrm>
        </p:grpSpPr>
        <p:pic>
          <p:nvPicPr>
            <p:cNvPr id="418" name="picture 4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6438960" cy="2940024"/>
            </a:xfrm>
            <a:prstGeom prst="rect">
              <a:avLst/>
            </a:prstGeom>
          </p:spPr>
        </p:pic>
        <p:sp>
          <p:nvSpPr>
            <p:cNvPr id="420" name="textbox 420"/>
            <p:cNvSpPr/>
            <p:nvPr/>
          </p:nvSpPr>
          <p:spPr>
            <a:xfrm>
              <a:off x="2901919" y="1465899"/>
              <a:ext cx="559435" cy="2984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7000"/>
                </a:lnSpc>
              </a:pPr>
              <a:endParaRPr sz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r" rtl="0" eaLnBrk="0">
                <a:lnSpc>
                  <a:spcPct val="85000"/>
                </a:lnSpc>
              </a:pPr>
              <a:r>
                <a:rPr sz="2100" b="1" kern="0" spc="-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项目</a:t>
              </a:r>
              <a:endParaRPr sz="21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22" name="textbox 422"/>
            <p:cNvSpPr/>
            <p:nvPr/>
          </p:nvSpPr>
          <p:spPr>
            <a:xfrm>
              <a:off x="5226050" y="69215"/>
              <a:ext cx="1050290" cy="1701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5000"/>
                </a:lnSpc>
              </a:pPr>
              <a:endParaRPr sz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86000"/>
                </a:lnSpc>
              </a:pPr>
              <a:r>
                <a:rPr sz="1100" kern="0" spc="-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HN8760</a:t>
              </a:r>
              <a:r>
                <a:rPr sz="1100" kern="0" spc="34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100" kern="0" spc="-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数据集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24" name="textbox 424"/>
            <p:cNvSpPr/>
            <p:nvPr/>
          </p:nvSpPr>
          <p:spPr>
            <a:xfrm>
              <a:off x="5226080" y="1980471"/>
              <a:ext cx="944880" cy="1695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000"/>
                </a:lnSpc>
              </a:pPr>
              <a:endParaRPr sz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86000"/>
                </a:lnSpc>
              </a:pPr>
              <a:r>
                <a:rPr sz="1100" kern="0" spc="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数据类</a:t>
              </a:r>
              <a:r>
                <a:rPr sz="11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dataset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26" name="textbox 426"/>
            <p:cNvSpPr/>
            <p:nvPr/>
          </p:nvSpPr>
          <p:spPr>
            <a:xfrm>
              <a:off x="5226050" y="405765"/>
              <a:ext cx="1021080" cy="1701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5000"/>
                </a:lnSpc>
              </a:pPr>
              <a:endParaRPr sz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86000"/>
                </a:lnSpc>
              </a:pPr>
              <a:r>
                <a:rPr sz="1100" kern="0" spc="-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YN4700</a:t>
              </a:r>
              <a:r>
                <a:rPr sz="1100" kern="0" spc="24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100" kern="0" spc="-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数据集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28" name="textbox 428"/>
            <p:cNvSpPr/>
            <p:nvPr/>
          </p:nvSpPr>
          <p:spPr>
            <a:xfrm>
              <a:off x="5486379" y="859203"/>
              <a:ext cx="836930" cy="1778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000"/>
                </a:lnSpc>
              </a:pPr>
              <a:endParaRPr sz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r" rtl="0" eaLnBrk="0">
                <a:lnSpc>
                  <a:spcPct val="91000"/>
                </a:lnSpc>
              </a:pPr>
              <a:r>
                <a:rPr sz="1100" kern="0" spc="-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训练</a:t>
              </a:r>
              <a:r>
                <a:rPr sz="1100" kern="0" spc="-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100" kern="0" spc="-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hlinkClick r:id="rId3">
                    <a:extLst>
                      <a:ext uri="{DAF060AB-1E55-43B9-8AAB-6FB025537F2F}">
                        <wpsdc:hlinkClr xmlns:wpsdc="http://www.wps.cn/officeDocument/2017/drawingmlCustomData" val="000000"/>
                        <wpsdc:folHlinkClr xmlns:wpsdc="http://www.wps.cn/officeDocument/2017/drawingmlCustomData" val="000000"/>
                        <wpsdc:hlinkUnderline xmlns:wpsdc="http://www.wps.cn/officeDocument/2017/drawingmlCustomData" val="0"/>
                      </a:ext>
                    </a:extLst>
                  </a:hlinkClick>
                </a:rPr>
                <a:t>train.py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30" name="textbox 430"/>
            <p:cNvSpPr/>
            <p:nvPr/>
          </p:nvSpPr>
          <p:spPr>
            <a:xfrm>
              <a:off x="5226080" y="2317274"/>
              <a:ext cx="868680" cy="1714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000"/>
                </a:lnSpc>
              </a:pPr>
              <a:endParaRPr sz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87000"/>
                </a:lnSpc>
              </a:pPr>
              <a:r>
                <a:rPr sz="11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损失函数loss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32" name="textbox 432"/>
            <p:cNvSpPr/>
            <p:nvPr/>
          </p:nvSpPr>
          <p:spPr>
            <a:xfrm>
              <a:off x="5492719" y="1195793"/>
              <a:ext cx="817880" cy="1778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000"/>
                </a:lnSpc>
              </a:pPr>
              <a:endParaRPr sz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r" rtl="0" eaLnBrk="0">
                <a:lnSpc>
                  <a:spcPct val="91000"/>
                </a:lnSpc>
              </a:pPr>
              <a:r>
                <a:rPr sz="1100" kern="0" spc="-4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推理</a:t>
              </a:r>
              <a:r>
                <a:rPr sz="1100" kern="0" spc="-4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hlinkClick r:id="rId4">
                    <a:extLst>
                      <a:ext uri="{DAF060AB-1E55-43B9-8AAB-6FB025537F2F}">
                        <wpsdc:hlinkClr xmlns:wpsdc="http://www.wps.cn/officeDocument/2017/drawingmlCustomData" val="000000"/>
                        <wpsdc:folHlinkClr xmlns:wpsdc="http://www.wps.cn/officeDocument/2017/drawingmlCustomData" val="000000"/>
                        <wpsdc:hlinkUnderline xmlns:wpsdc="http://www.wps.cn/officeDocument/2017/drawingmlCustomData" val="0"/>
                      </a:ext>
                    </a:extLst>
                  </a:hlinkClick>
                </a:rPr>
                <a:t>infer.py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34" name="textbox 434"/>
            <p:cNvSpPr/>
            <p:nvPr/>
          </p:nvSpPr>
          <p:spPr>
            <a:xfrm>
              <a:off x="2899410" y="1068705"/>
              <a:ext cx="646430" cy="2749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000"/>
                </a:lnSpc>
              </a:pPr>
              <a:endParaRPr sz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86000"/>
                </a:lnSpc>
              </a:pPr>
              <a:r>
                <a:rPr sz="2100" b="1" kern="0" spc="-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驭电</a:t>
              </a:r>
              <a:endParaRPr sz="21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36" name="textbox 436"/>
            <p:cNvSpPr/>
            <p:nvPr/>
          </p:nvSpPr>
          <p:spPr>
            <a:xfrm>
              <a:off x="5226050" y="2653665"/>
              <a:ext cx="1050290" cy="1695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000"/>
                </a:lnSpc>
              </a:pPr>
              <a:endParaRPr sz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86000"/>
                </a:lnSpc>
              </a:pPr>
              <a:r>
                <a:rPr sz="1100" kern="0" spc="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低秩微调</a:t>
              </a:r>
              <a:r>
                <a:rPr sz="11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LoRA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38" name="textbox 438"/>
            <p:cNvSpPr/>
            <p:nvPr/>
          </p:nvSpPr>
          <p:spPr>
            <a:xfrm>
              <a:off x="95321" y="2405872"/>
              <a:ext cx="857250" cy="1689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000"/>
                </a:lnSpc>
              </a:pPr>
              <a:endParaRPr sz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85000"/>
                </a:lnSpc>
              </a:pPr>
              <a:r>
                <a:rPr sz="1100" kern="0" spc="-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自适应归一化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40" name="textbox 440"/>
            <p:cNvSpPr/>
            <p:nvPr/>
          </p:nvSpPr>
          <p:spPr>
            <a:xfrm>
              <a:off x="120680" y="158026"/>
              <a:ext cx="831850" cy="1695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000"/>
                </a:lnSpc>
              </a:pPr>
              <a:endParaRPr sz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86000"/>
                </a:lnSpc>
              </a:pPr>
              <a:r>
                <a:rPr sz="1100" kern="0" spc="-4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训练配置文件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42" name="textbox 442"/>
            <p:cNvSpPr/>
            <p:nvPr/>
          </p:nvSpPr>
          <p:spPr>
            <a:xfrm>
              <a:off x="101660" y="500925"/>
              <a:ext cx="831850" cy="1695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000"/>
                </a:lnSpc>
              </a:pPr>
              <a:endParaRPr sz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86000"/>
                </a:lnSpc>
              </a:pPr>
              <a:r>
                <a:rPr sz="1100" kern="0" spc="-4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推理配置文件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44" name="textbox 444"/>
            <p:cNvSpPr/>
            <p:nvPr/>
          </p:nvSpPr>
          <p:spPr>
            <a:xfrm>
              <a:off x="5226050" y="1644015"/>
              <a:ext cx="903605" cy="1701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5000"/>
                </a:lnSpc>
              </a:pPr>
              <a:endParaRPr sz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86000"/>
                </a:lnSpc>
              </a:pPr>
              <a:r>
                <a:rPr sz="1100" kern="0" spc="-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主模型</a:t>
              </a:r>
              <a:r>
                <a:rPr sz="1100" kern="0" spc="-3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100" kern="0" spc="-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model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46" name="textbox 446"/>
            <p:cNvSpPr/>
            <p:nvPr/>
          </p:nvSpPr>
          <p:spPr>
            <a:xfrm>
              <a:off x="234919" y="2069350"/>
              <a:ext cx="718820" cy="1701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5000"/>
                </a:lnSpc>
              </a:pPr>
              <a:endParaRPr sz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86000"/>
                </a:lnSpc>
              </a:pPr>
              <a:r>
                <a:rPr sz="1100" kern="0" spc="-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全局注意力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48" name="textbox 448"/>
            <p:cNvSpPr/>
            <p:nvPr/>
          </p:nvSpPr>
          <p:spPr>
            <a:xfrm>
              <a:off x="234919" y="1287873"/>
              <a:ext cx="716915" cy="1689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000"/>
                </a:lnSpc>
              </a:pPr>
              <a:endParaRPr sz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85000"/>
                </a:lnSpc>
              </a:pPr>
              <a:r>
                <a:rPr sz="1100" kern="0" spc="-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分布式通信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50" name="textbox 450"/>
            <p:cNvSpPr/>
            <p:nvPr/>
          </p:nvSpPr>
          <p:spPr>
            <a:xfrm>
              <a:off x="4288319" y="1159843"/>
              <a:ext cx="716915" cy="1695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000"/>
                </a:lnSpc>
              </a:pPr>
              <a:endParaRPr sz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86000"/>
                </a:lnSpc>
              </a:pPr>
              <a:r>
                <a:rPr sz="1100" b="1" kern="0" spc="-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训练与推理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52" name="textbox 452"/>
            <p:cNvSpPr/>
            <p:nvPr/>
          </p:nvSpPr>
          <p:spPr>
            <a:xfrm>
              <a:off x="234919" y="1726450"/>
              <a:ext cx="704215" cy="1701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5000"/>
                </a:lnSpc>
              </a:pPr>
              <a:endParaRPr sz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86000"/>
                </a:lnSpc>
              </a:pPr>
              <a:r>
                <a:rPr sz="1100" kern="0" spc="-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邻域注意力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54" name="textbox 454"/>
            <p:cNvSpPr/>
            <p:nvPr/>
          </p:nvSpPr>
          <p:spPr>
            <a:xfrm>
              <a:off x="234919" y="951771"/>
              <a:ext cx="700405" cy="1701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5000"/>
                </a:lnSpc>
              </a:pPr>
              <a:endParaRPr sz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86000"/>
                </a:lnSpc>
              </a:pPr>
              <a:r>
                <a:rPr sz="1100" kern="0" spc="-4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学习率调度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56" name="textbox 456"/>
            <p:cNvSpPr/>
            <p:nvPr/>
          </p:nvSpPr>
          <p:spPr>
            <a:xfrm>
              <a:off x="1430757" y="2194363"/>
              <a:ext cx="579755" cy="1701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5000"/>
                </a:lnSpc>
              </a:pPr>
              <a:endParaRPr sz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86000"/>
                </a:lnSpc>
                <a:buClrTx/>
                <a:buSzTx/>
                <a:buFontTx/>
              </a:pPr>
              <a:r>
                <a:rPr sz="1100" b="1" kern="0" spc="-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模型文件</a:t>
              </a:r>
              <a:endParaRPr sz="11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58" name="textbox 458"/>
            <p:cNvSpPr/>
            <p:nvPr/>
          </p:nvSpPr>
          <p:spPr>
            <a:xfrm>
              <a:off x="1430757" y="460798"/>
              <a:ext cx="579120" cy="1695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000"/>
                </a:lnSpc>
              </a:pPr>
              <a:endParaRPr sz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86000"/>
                </a:lnSpc>
              </a:pPr>
              <a:r>
                <a:rPr sz="1100" b="1" kern="0" spc="-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配置文件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60" name="textbox 460"/>
            <p:cNvSpPr/>
            <p:nvPr/>
          </p:nvSpPr>
          <p:spPr>
            <a:xfrm>
              <a:off x="1430757" y="1241855"/>
              <a:ext cx="577215" cy="1695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000"/>
                </a:lnSpc>
              </a:pPr>
              <a:endParaRPr sz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86000"/>
                </a:lnSpc>
              </a:pPr>
              <a:r>
                <a:rPr sz="1100" b="1" kern="0" spc="-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工具代码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62" name="textbox 462"/>
            <p:cNvSpPr/>
            <p:nvPr/>
          </p:nvSpPr>
          <p:spPr>
            <a:xfrm>
              <a:off x="4286320" y="2271262"/>
              <a:ext cx="444500" cy="1714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000"/>
                </a:lnSpc>
              </a:pPr>
              <a:endParaRPr sz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86000"/>
                </a:lnSpc>
                <a:buClrTx/>
                <a:buSzTx/>
                <a:buFontTx/>
              </a:pPr>
              <a:r>
                <a:rPr sz="1100" b="1" kern="0" spc="-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主程序</a:t>
              </a:r>
              <a:endParaRPr sz="11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64" name="textbox 464"/>
            <p:cNvSpPr/>
            <p:nvPr/>
          </p:nvSpPr>
          <p:spPr>
            <a:xfrm>
              <a:off x="4286320" y="373915"/>
              <a:ext cx="438150" cy="1701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5000"/>
                </a:lnSpc>
              </a:pPr>
              <a:endParaRPr sz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86000"/>
                </a:lnSpc>
              </a:pPr>
              <a:r>
                <a:rPr sz="1100" b="1" kern="0" spc="-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数据集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466" name="textbox 466"/>
          <p:cNvSpPr/>
          <p:nvPr/>
        </p:nvSpPr>
        <p:spPr>
          <a:xfrm>
            <a:off x="127040" y="1003325"/>
            <a:ext cx="11817350" cy="1568450"/>
          </a:xfrm>
          <a:prstGeom prst="rect">
            <a:avLst/>
          </a:prstGeom>
          <a:solidFill>
            <a:srgbClr val="ECEBE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1000"/>
              </a:lnSpc>
            </a:pP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7165" algn="l" rtl="0" eaLnBrk="0">
              <a:lnSpc>
                <a:spcPct val="85000"/>
              </a:lnSpc>
            </a:pPr>
            <a:r>
              <a:rPr sz="19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“驭电”大模型的</a:t>
            </a: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源代码体系</a:t>
            </a:r>
            <a:r>
              <a:rPr sz="19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包括训练推理启动程序、数据集、工具代码、配置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文件、核心模块、模型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7465" indent="25400" algn="l" rtl="0" eaLnBrk="0">
              <a:lnSpc>
                <a:spcPct val="165000"/>
              </a:lnSpc>
              <a:spcBef>
                <a:spcPts val="5"/>
              </a:spcBef>
            </a:pPr>
            <a:r>
              <a:rPr sz="19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</a:t>
            </a:r>
            <a:r>
              <a:rPr sz="1900" kern="0" spc="-4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件</a:t>
            </a: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六类文件，</a:t>
            </a:r>
            <a:r>
              <a:rPr sz="19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可完成训练启动、配置加载、数据集构建、模</a:t>
            </a:r>
            <a:r>
              <a:rPr sz="19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型构建、损失与训练控制、测试评估等预</a:t>
            </a: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训练和推理功能。</a:t>
            </a:r>
            <a:r>
              <a:rPr sz="1900" kern="0" spc="1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驭</a:t>
            </a:r>
            <a:r>
              <a:rPr sz="1900" kern="0" spc="1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电最新版本</a:t>
            </a: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核心模型代码共有1760行。</a:t>
            </a:r>
            <a:endParaRPr sz="1900" b="1" kern="0" spc="70" dirty="0">
              <a:solidFill>
                <a:srgbClr val="C0202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6" name="group 16"/>
          <p:cNvGrpSpPr/>
          <p:nvPr/>
        </p:nvGrpSpPr>
        <p:grpSpPr>
          <a:xfrm rot="21600000">
            <a:off x="6819839" y="3187666"/>
            <a:ext cx="4984821" cy="3467130"/>
            <a:chOff x="0" y="0"/>
            <a:chExt cx="4984821" cy="3467130"/>
          </a:xfrm>
        </p:grpSpPr>
        <p:pic>
          <p:nvPicPr>
            <p:cNvPr id="468" name="picture 46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4984821" cy="3467130"/>
            </a:xfrm>
            <a:prstGeom prst="rect">
              <a:avLst/>
            </a:prstGeom>
          </p:spPr>
        </p:pic>
        <p:sp>
          <p:nvSpPr>
            <p:cNvPr id="470" name="textbox 470"/>
            <p:cNvSpPr/>
            <p:nvPr/>
          </p:nvSpPr>
          <p:spPr>
            <a:xfrm>
              <a:off x="960755" y="1103630"/>
              <a:ext cx="1317625" cy="3124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7000"/>
                </a:lnSpc>
              </a:pPr>
              <a:endParaRPr sz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indent="177165" algn="l" rtl="0" eaLnBrk="0">
                <a:lnSpc>
                  <a:spcPct val="94000"/>
                </a:lnSpc>
              </a:pPr>
              <a:endParaRPr sz="11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72" name="textbox 472"/>
            <p:cNvSpPr/>
            <p:nvPr/>
          </p:nvSpPr>
          <p:spPr>
            <a:xfrm>
              <a:off x="1212961" y="2945803"/>
              <a:ext cx="799465" cy="3454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834" rIns="0" bIns="0"/>
            <a:lstStyle/>
            <a:p>
              <a:pPr marL="12700" indent="335915" algn="l" rtl="0" eaLnBrk="0">
                <a:lnSpc>
                  <a:spcPct val="145000"/>
                </a:lnSpc>
                <a:spcBef>
                  <a:spcPts val="5"/>
                </a:spcBef>
              </a:pPr>
              <a:r>
                <a:rPr sz="600" kern="0" spc="-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↓</a:t>
              </a:r>
              <a:r>
                <a:rPr sz="600" kern="0" spc="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600" kern="0" spc="-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是</a:t>
              </a:r>
              <a:r>
                <a:rPr sz="6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</a:t>
              </a:r>
              <a:endParaRPr sz="6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indent="335915" algn="ctr" rtl="0" eaLnBrk="0">
                <a:lnSpc>
                  <a:spcPct val="145000"/>
                </a:lnSpc>
                <a:spcBef>
                  <a:spcPts val="5"/>
                </a:spcBef>
              </a:pP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74" name="textbox 474"/>
            <p:cNvSpPr/>
            <p:nvPr/>
          </p:nvSpPr>
          <p:spPr>
            <a:xfrm>
              <a:off x="1022350" y="1667510"/>
              <a:ext cx="1326515" cy="1460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000"/>
                </a:lnSpc>
              </a:pPr>
              <a:endParaRPr sz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88000"/>
                </a:lnSpc>
              </a:pPr>
              <a:r>
                <a:rPr sz="1100" kern="0" spc="-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每10轮测试评估一次</a:t>
              </a:r>
              <a:endParaRPr sz="11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76" name="textbox 476"/>
            <p:cNvSpPr/>
            <p:nvPr/>
          </p:nvSpPr>
          <p:spPr>
            <a:xfrm>
              <a:off x="1212960" y="2610262"/>
              <a:ext cx="817880" cy="1695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000"/>
                </a:lnSpc>
              </a:pPr>
              <a:endParaRPr sz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86000"/>
                </a:lnSpc>
              </a:pPr>
              <a:r>
                <a:rPr sz="1100" kern="0" spc="-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测试误差更小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78" name="textbox 478"/>
            <p:cNvSpPr/>
            <p:nvPr/>
          </p:nvSpPr>
          <p:spPr>
            <a:xfrm>
              <a:off x="1212960" y="2138939"/>
              <a:ext cx="802005" cy="1460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000"/>
                </a:lnSpc>
              </a:pPr>
              <a:endParaRPr sz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88000"/>
                </a:lnSpc>
              </a:pPr>
              <a:r>
                <a:rPr sz="1100" kern="0" spc="-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记录训练 日志</a:t>
              </a:r>
              <a:endParaRPr sz="11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80" name="textbox 480"/>
            <p:cNvSpPr/>
            <p:nvPr/>
          </p:nvSpPr>
          <p:spPr>
            <a:xfrm>
              <a:off x="1212960" y="576341"/>
              <a:ext cx="798830" cy="1460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000"/>
                </a:lnSpc>
              </a:pPr>
              <a:endParaRPr sz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88000"/>
                </a:lnSpc>
              </a:pPr>
              <a:r>
                <a:rPr sz="1100" kern="0" spc="-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达到调练轮次</a:t>
              </a:r>
              <a:endParaRPr sz="11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82" name="textbox 482"/>
            <p:cNvSpPr/>
            <p:nvPr/>
          </p:nvSpPr>
          <p:spPr>
            <a:xfrm>
              <a:off x="3653086" y="574616"/>
              <a:ext cx="670560" cy="1460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000"/>
                </a:lnSpc>
              </a:pPr>
              <a:endParaRPr sz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86000"/>
                </a:lnSpc>
                <a:buClrTx/>
                <a:buSzTx/>
                <a:buFontTx/>
              </a:pPr>
              <a:r>
                <a:rPr sz="1100" b="1" kern="0" spc="-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加载批数据</a:t>
              </a:r>
              <a:endParaRPr sz="1100" b="1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84" name="textbox 484"/>
            <p:cNvSpPr/>
            <p:nvPr/>
          </p:nvSpPr>
          <p:spPr>
            <a:xfrm>
              <a:off x="1068626" y="111084"/>
              <a:ext cx="669925" cy="1460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000"/>
                </a:lnSpc>
              </a:pPr>
              <a:endParaRPr sz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88000"/>
                </a:lnSpc>
              </a:pPr>
              <a:r>
                <a:rPr sz="900" b="1" kern="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训练主循环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86" name="textbox 486"/>
            <p:cNvSpPr/>
            <p:nvPr/>
          </p:nvSpPr>
          <p:spPr>
            <a:xfrm>
              <a:off x="3697610" y="1959408"/>
              <a:ext cx="544195" cy="1701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5000"/>
                </a:lnSpc>
              </a:pPr>
              <a:endParaRPr sz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86000"/>
                </a:lnSpc>
              </a:pPr>
              <a:r>
                <a:rPr sz="1100" b="1" kern="0" spc="-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计算梯度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88" name="textbox 488"/>
            <p:cNvSpPr/>
            <p:nvPr/>
          </p:nvSpPr>
          <p:spPr>
            <a:xfrm>
              <a:off x="3697606" y="1495876"/>
              <a:ext cx="542290" cy="1701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5000"/>
                </a:lnSpc>
              </a:pPr>
              <a:endParaRPr sz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86000"/>
                </a:lnSpc>
              </a:pPr>
              <a:r>
                <a:rPr sz="1100" b="1" kern="0" spc="-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损失计算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90" name="textbox 490"/>
            <p:cNvSpPr/>
            <p:nvPr/>
          </p:nvSpPr>
          <p:spPr>
            <a:xfrm>
              <a:off x="3697465" y="1051387"/>
              <a:ext cx="553720" cy="1460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000"/>
                </a:lnSpc>
              </a:pPr>
              <a:endParaRPr sz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88000"/>
                </a:lnSpc>
              </a:pPr>
              <a:r>
                <a:rPr sz="1100" b="1" kern="0" spc="-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前馈推理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92" name="textbox 492"/>
            <p:cNvSpPr/>
            <p:nvPr/>
          </p:nvSpPr>
          <p:spPr>
            <a:xfrm>
              <a:off x="235040" y="989124"/>
              <a:ext cx="552450" cy="1460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000"/>
                </a:lnSpc>
              </a:pPr>
              <a:endParaRPr sz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88000"/>
                </a:lnSpc>
              </a:pPr>
              <a:r>
                <a:rPr sz="1100" kern="0" spc="-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训练结束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94" name="textbox 494"/>
            <p:cNvSpPr/>
            <p:nvPr/>
          </p:nvSpPr>
          <p:spPr>
            <a:xfrm>
              <a:off x="3697465" y="2441501"/>
              <a:ext cx="542290" cy="1460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000"/>
                </a:lnSpc>
              </a:pPr>
              <a:endParaRPr sz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88000"/>
                </a:lnSpc>
              </a:pPr>
              <a:r>
                <a:rPr sz="1100" b="1" kern="0" spc="-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梯度裁剪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96" name="textbox 496"/>
            <p:cNvSpPr/>
            <p:nvPr/>
          </p:nvSpPr>
          <p:spPr>
            <a:xfrm>
              <a:off x="3697465" y="111084"/>
              <a:ext cx="541655" cy="1460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000"/>
                </a:lnSpc>
              </a:pPr>
              <a:endParaRPr sz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88000"/>
                </a:lnSpc>
              </a:pPr>
              <a:r>
                <a:rPr sz="900" b="1" kern="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梯度优化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98" name="textbox 498"/>
            <p:cNvSpPr/>
            <p:nvPr/>
          </p:nvSpPr>
          <p:spPr>
            <a:xfrm>
              <a:off x="3697605" y="2885440"/>
              <a:ext cx="664210" cy="1460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000"/>
                </a:lnSpc>
              </a:pPr>
              <a:endParaRPr sz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88000"/>
                </a:lnSpc>
              </a:pPr>
              <a:r>
                <a:rPr sz="1100" b="1" kern="0" spc="-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反向传播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00" name="textbox 500"/>
            <p:cNvSpPr/>
            <p:nvPr/>
          </p:nvSpPr>
          <p:spPr>
            <a:xfrm>
              <a:off x="2482880" y="2579588"/>
              <a:ext cx="191135" cy="2051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6000"/>
                </a:lnSpc>
              </a:pPr>
              <a:endParaRPr sz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r" rtl="0" eaLnBrk="0">
                <a:lnSpc>
                  <a:spcPct val="84000"/>
                </a:lnSpc>
              </a:pPr>
              <a:r>
                <a:rPr sz="1400" kern="0" spc="-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否</a:t>
              </a:r>
              <a:endParaRPr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02" name="textbox 502"/>
            <p:cNvSpPr/>
            <p:nvPr/>
          </p:nvSpPr>
          <p:spPr>
            <a:xfrm>
              <a:off x="1555799" y="832243"/>
              <a:ext cx="167640" cy="1797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6000"/>
                </a:lnSpc>
              </a:pPr>
              <a:endParaRPr sz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r" rtl="0" eaLnBrk="0">
                <a:lnSpc>
                  <a:spcPct val="84000"/>
                </a:lnSpc>
              </a:pP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否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504" name="textbox 504"/>
          <p:cNvSpPr/>
          <p:nvPr/>
        </p:nvSpPr>
        <p:spPr>
          <a:xfrm>
            <a:off x="438150" y="241300"/>
            <a:ext cx="6616065" cy="5257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000"/>
              </a:lnSpc>
            </a:pPr>
            <a:r>
              <a:rPr sz="3800" b="1" kern="0" spc="-180" dirty="0">
                <a:solidFill>
                  <a:srgbClr val="406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4.“驭电”大模型：源代码体系</a:t>
            </a:r>
            <a:endParaRPr sz="3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6" name="rect 506"/>
          <p:cNvSpPr/>
          <p:nvPr/>
        </p:nvSpPr>
        <p:spPr>
          <a:xfrm>
            <a:off x="7442240" y="2774952"/>
            <a:ext cx="3752819" cy="400027"/>
          </a:xfrm>
          <a:prstGeom prst="rect">
            <a:avLst/>
          </a:prstGeom>
          <a:solidFill>
            <a:srgbClr val="94DDF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8" name="textbox 508"/>
          <p:cNvSpPr/>
          <p:nvPr/>
        </p:nvSpPr>
        <p:spPr>
          <a:xfrm>
            <a:off x="2785245" y="2807367"/>
            <a:ext cx="7202169" cy="301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2100" b="1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代码结构</a:t>
            </a:r>
            <a:r>
              <a:rPr sz="21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</a:t>
            </a:r>
            <a:r>
              <a:rPr sz="21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</a:t>
            </a:r>
            <a:r>
              <a:rPr lang="en-US" sz="21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</a:t>
            </a:r>
            <a:r>
              <a:rPr sz="1900" b="1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预训练流程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" name="图片 10"/>
          <p:cNvPicPr/>
          <p:nvPr/>
        </p:nvPicPr>
        <p:blipFill>
          <a:blip r:embed="rId6"/>
          <a:stretch>
            <a:fillRect/>
          </a:stretch>
        </p:blipFill>
        <p:spPr>
          <a:xfrm>
            <a:off x="11050270" y="0"/>
            <a:ext cx="896620" cy="899795"/>
          </a:xfrm>
          <a:prstGeom prst="rect">
            <a:avLst/>
          </a:prstGeom>
        </p:spPr>
      </p:pic>
      <p:sp>
        <p:nvSpPr>
          <p:cNvPr id="116" name="textbox 116"/>
          <p:cNvSpPr/>
          <p:nvPr/>
        </p:nvSpPr>
        <p:spPr>
          <a:xfrm>
            <a:off x="11899900" y="6435090"/>
            <a:ext cx="387350" cy="222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lang="en-US" sz="15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lang="en-US" sz="1500" b="1" kern="0" spc="-1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861300" y="6273800"/>
            <a:ext cx="1308100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11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保存模型参数</a:t>
            </a:r>
            <a:endParaRPr sz="1100" kern="0" spc="-6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870825" y="4262755"/>
            <a:ext cx="1202055" cy="5784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2700" indent="177165" algn="l" rtl="0" eaLnBrk="0">
              <a:lnSpc>
                <a:spcPct val="94000"/>
              </a:lnSpc>
            </a:pPr>
            <a:r>
              <a:rPr sz="11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加载数据 </a:t>
            </a:r>
            <a:r>
              <a:rPr lang="en-US" sz="11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</a:t>
            </a:r>
            <a:r>
              <a:rPr sz="11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开始新一轮训练</a:t>
            </a:r>
            <a:endParaRPr sz="1100" kern="0" spc="-6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100" kern="0" spc="-6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textbox 518"/>
          <p:cNvSpPr/>
          <p:nvPr/>
        </p:nvSpPr>
        <p:spPr>
          <a:xfrm>
            <a:off x="165079" y="977882"/>
            <a:ext cx="11849735" cy="2025650"/>
          </a:xfrm>
          <a:prstGeom prst="rect">
            <a:avLst/>
          </a:prstGeom>
          <a:solidFill>
            <a:srgbClr val="ECECE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86000"/>
              </a:lnSpc>
            </a:pP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algn="l" rtl="0" eaLnBrk="0">
              <a:lnSpc>
                <a:spcPct val="85000"/>
              </a:lnSpc>
              <a:spcBef>
                <a:spcPts val="5"/>
              </a:spcBef>
            </a:pP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2024年上半年，</a:t>
            </a:r>
            <a:r>
              <a:rPr sz="1900" kern="0" spc="7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标准39节点系统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开展研发和实验， 使用100万数据训练、20万数据测试；</a:t>
            </a:r>
            <a:r>
              <a:rPr sz="1900" kern="0" spc="7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下半年，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algn="l" rtl="0" eaLnBrk="0">
              <a:lnSpc>
                <a:spcPts val="3600"/>
              </a:lnSpc>
            </a:pP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300节点系统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拓展验证，</a:t>
            </a:r>
            <a:r>
              <a:rPr sz="1900" kern="0" spc="-1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使用100万数据训练、20万数据测试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algn="l" rtl="0" eaLnBrk="0">
              <a:lnSpc>
                <a:spcPct val="156000"/>
              </a:lnSpc>
              <a:spcBef>
                <a:spcPts val="280"/>
              </a:spcBef>
            </a:pPr>
            <a:r>
              <a:rPr sz="19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实验证明</a:t>
            </a: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驭电大模型能高效准确开展潮流计算。</a:t>
            </a:r>
            <a:r>
              <a:rPr sz="19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与传统数值仿真相比，</a:t>
            </a: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计算速度提升千倍量级，平均误差小于1.5%。</a:t>
            </a:r>
            <a:endParaRPr sz="1900" b="1" kern="0" spc="70" dirty="0">
              <a:solidFill>
                <a:srgbClr val="C0202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20" name="picture 5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705380" y="5194318"/>
            <a:ext cx="2914619" cy="1517606"/>
          </a:xfrm>
          <a:prstGeom prst="rect">
            <a:avLst/>
          </a:prstGeom>
        </p:spPr>
      </p:pic>
      <p:pic>
        <p:nvPicPr>
          <p:cNvPr id="522" name="picture 5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358920" y="3498883"/>
            <a:ext cx="2832079" cy="1530294"/>
          </a:xfrm>
          <a:prstGeom prst="rect">
            <a:avLst/>
          </a:prstGeom>
        </p:spPr>
      </p:pic>
      <p:pic>
        <p:nvPicPr>
          <p:cNvPr id="524" name="picture 5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365260" y="5226070"/>
            <a:ext cx="2863901" cy="1498610"/>
          </a:xfrm>
          <a:prstGeom prst="rect">
            <a:avLst/>
          </a:prstGeom>
        </p:spPr>
      </p:pic>
      <p:graphicFrame>
        <p:nvGraphicFramePr>
          <p:cNvPr id="526" name="table 526"/>
          <p:cNvGraphicFramePr>
            <a:graphicFrameLocks noGrp="1"/>
          </p:cNvGraphicFramePr>
          <p:nvPr/>
        </p:nvGraphicFramePr>
        <p:xfrm>
          <a:off x="7896265" y="3736972"/>
          <a:ext cx="2933065" cy="1167765"/>
        </p:xfrm>
        <a:graphic>
          <a:graphicData uri="http://schemas.openxmlformats.org/drawingml/2006/table">
            <a:tbl>
              <a:tblPr/>
              <a:tblGrid>
                <a:gridCol w="878839"/>
                <a:gridCol w="514350"/>
                <a:gridCol w="501650"/>
                <a:gridCol w="558800"/>
                <a:gridCol w="479425"/>
              </a:tblGrid>
              <a:tr h="3143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75895" algn="l" rtl="0" eaLnBrk="0">
                        <a:lnSpc>
                          <a:spcPct val="89000"/>
                        </a:lnSpc>
                        <a:spcBef>
                          <a:spcPts val="0"/>
                        </a:spcBef>
                      </a:pPr>
                      <a:r>
                        <a:rPr sz="10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标准系统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3000"/>
                        </a:lnSpc>
                      </a:pPr>
                      <a:endParaRPr sz="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10490" algn="l" rtl="0" eaLnBrk="0">
                        <a:lnSpc>
                          <a:spcPct val="89000"/>
                        </a:lnSpc>
                      </a:pPr>
                      <a:r>
                        <a:rPr sz="10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有功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08585" algn="l" rtl="0" eaLnBrk="0">
                        <a:lnSpc>
                          <a:spcPct val="88000"/>
                        </a:lnSpc>
                        <a:spcBef>
                          <a:spcPts val="10"/>
                        </a:spcBef>
                      </a:pPr>
                      <a:r>
                        <a:rPr sz="10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功率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7000"/>
                        </a:lnSpc>
                      </a:pPr>
                      <a:endParaRPr sz="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78105" algn="l" rtl="0" eaLnBrk="0">
                        <a:lnSpc>
                          <a:spcPct val="88000"/>
                        </a:lnSpc>
                      </a:pPr>
                      <a:r>
                        <a:rPr sz="1000" b="1" kern="0" spc="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无功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78105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1000" b="1" kern="0" spc="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功率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87000"/>
                        </a:lnSpc>
                      </a:pPr>
                      <a:endParaRPr sz="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604520" indent="-520065" algn="l" rtl="0" eaLnBrk="0">
                        <a:lnSpc>
                          <a:spcPct val="89000"/>
                        </a:lnSpc>
                      </a:pPr>
                      <a:r>
                        <a:rPr sz="800" b="1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电压</a:t>
                      </a:r>
                      <a:r>
                        <a:rPr sz="8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</a:t>
                      </a:r>
                      <a:r>
                        <a:rPr sz="800" b="1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电压</a:t>
                      </a:r>
                      <a:r>
                        <a:rPr sz="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800" b="1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相角</a:t>
                      </a:r>
                      <a:endParaRPr sz="8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150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8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7145" algn="l" rtl="0" eaLnBrk="0">
                        <a:lnSpc>
                          <a:spcPct val="89000"/>
                        </a:lnSpc>
                      </a:pPr>
                      <a:r>
                        <a:rPr sz="10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39节点系统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52000"/>
                        </a:lnSpc>
                      </a:pP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28000"/>
                        </a:lnSpc>
                      </a:pPr>
                      <a:endParaRPr sz="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7145" algn="l" rtl="0" eaLnBrk="0">
                        <a:lnSpc>
                          <a:spcPct val="89000"/>
                        </a:lnSpc>
                        <a:spcBef>
                          <a:spcPts val="0"/>
                        </a:spcBef>
                      </a:pPr>
                      <a:r>
                        <a:rPr sz="10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300节点系统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82550" algn="l" rtl="0" eaLnBrk="0">
                        <a:lnSpc>
                          <a:spcPct val="89000"/>
                        </a:lnSpc>
                      </a:pP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0.016</a:t>
                      </a:r>
                      <a:r>
                        <a:rPr sz="10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0.539   0.016   0.313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5290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0805" algn="l" rtl="0" eaLnBrk="0">
                        <a:lnSpc>
                          <a:spcPct val="89000"/>
                        </a:lnSpc>
                        <a:spcBef>
                          <a:spcPts val="5"/>
                        </a:spcBef>
                      </a:pPr>
                      <a:r>
                        <a:rPr sz="10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0.948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82550" algn="l" rtl="0" eaLnBrk="0">
                        <a:lnSpc>
                          <a:spcPct val="89000"/>
                        </a:lnSpc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1.656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07950" algn="l" rtl="0" eaLnBrk="0">
                        <a:lnSpc>
                          <a:spcPct val="89000"/>
                        </a:lnSpc>
                        <a:spcBef>
                          <a:spcPts val="5"/>
                        </a:spcBef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0.039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69850" algn="l" rtl="0" eaLnBrk="0">
                        <a:lnSpc>
                          <a:spcPct val="89000"/>
                        </a:lnSpc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1.559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28" name="table 528"/>
          <p:cNvGraphicFramePr>
            <a:graphicFrameLocks noGrp="1"/>
          </p:cNvGraphicFramePr>
          <p:nvPr/>
        </p:nvGraphicFramePr>
        <p:xfrm>
          <a:off x="7946984" y="5375280"/>
          <a:ext cx="2889250" cy="1158875"/>
        </p:xfrm>
        <a:graphic>
          <a:graphicData uri="http://schemas.openxmlformats.org/drawingml/2006/table">
            <a:tbl>
              <a:tblPr/>
              <a:tblGrid>
                <a:gridCol w="987425"/>
                <a:gridCol w="1009650"/>
                <a:gridCol w="892175"/>
              </a:tblGrid>
              <a:tr h="3079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</a:pPr>
                      <a:endParaRPr sz="5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27330" algn="l" rtl="0" eaLnBrk="0">
                        <a:lnSpc>
                          <a:spcPct val="89000"/>
                        </a:lnSpc>
                        <a:spcBef>
                          <a:spcPts val="0"/>
                        </a:spcBef>
                      </a:pPr>
                      <a:r>
                        <a:rPr sz="10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标准系统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</a:pPr>
                      <a:endParaRPr sz="5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36855" algn="l" rtl="0" eaLnBrk="0">
                        <a:lnSpc>
                          <a:spcPct val="89000"/>
                        </a:lnSpc>
                        <a:spcBef>
                          <a:spcPts val="5"/>
                        </a:spcBef>
                      </a:pPr>
                      <a:r>
                        <a:rPr sz="10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有功功率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</a:pPr>
                      <a:endParaRPr sz="5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79705" algn="l" rtl="0" eaLnBrk="0">
                        <a:lnSpc>
                          <a:spcPct val="89000"/>
                        </a:lnSpc>
                        <a:spcBef>
                          <a:spcPts val="5"/>
                        </a:spcBef>
                      </a:pPr>
                      <a:r>
                        <a:rPr sz="10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无功功率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63195" algn="l" rtl="0" eaLnBrk="0">
                        <a:lnSpc>
                          <a:spcPct val="89000"/>
                        </a:lnSpc>
                        <a:spcBef>
                          <a:spcPts val="0"/>
                        </a:spcBef>
                      </a:pPr>
                      <a:r>
                        <a:rPr sz="10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39节点系统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49250" algn="l" rtl="0" eaLnBrk="0">
                        <a:lnSpc>
                          <a:spcPct val="89000"/>
                        </a:lnSpc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0.041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91465" algn="l" rtl="0" eaLnBrk="0">
                        <a:lnSpc>
                          <a:spcPct val="89000"/>
                        </a:lnSpc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0.124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25730" algn="l" rtl="0" eaLnBrk="0">
                        <a:lnSpc>
                          <a:spcPct val="89000"/>
                        </a:lnSpc>
                        <a:spcBef>
                          <a:spcPts val="5"/>
                        </a:spcBef>
                      </a:pPr>
                      <a:r>
                        <a:rPr sz="10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300节点系统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61950" algn="l" rtl="0" eaLnBrk="0">
                        <a:lnSpc>
                          <a:spcPct val="89000"/>
                        </a:lnSpc>
                        <a:spcBef>
                          <a:spcPts val="5"/>
                        </a:spcBef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0.330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73050" algn="l" rtl="0" eaLnBrk="0">
                        <a:lnSpc>
                          <a:spcPct val="89000"/>
                        </a:lnSpc>
                        <a:spcBef>
                          <a:spcPts val="5"/>
                        </a:spcBef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0.425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530" name="table 530"/>
          <p:cNvGraphicFramePr>
            <a:graphicFrameLocks noGrp="1"/>
          </p:cNvGraphicFramePr>
          <p:nvPr/>
        </p:nvGraphicFramePr>
        <p:xfrm>
          <a:off x="4797425" y="3794099"/>
          <a:ext cx="2761615" cy="1142365"/>
        </p:xfrm>
        <a:graphic>
          <a:graphicData uri="http://schemas.openxmlformats.org/drawingml/2006/table">
            <a:tbl>
              <a:tblPr/>
              <a:tblGrid>
                <a:gridCol w="1094740"/>
                <a:gridCol w="838200"/>
                <a:gridCol w="828675"/>
              </a:tblGrid>
              <a:tr h="3016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81280" algn="l" rtl="0" eaLnBrk="0">
                        <a:lnSpc>
                          <a:spcPct val="86000"/>
                        </a:lnSpc>
                      </a:pPr>
                      <a:r>
                        <a:rPr sz="11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系统规模</a:t>
                      </a:r>
                      <a:endParaRPr sz="1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12090" algn="l" rtl="0" eaLnBrk="0">
                        <a:lnSpc>
                          <a:spcPct val="85000"/>
                        </a:lnSpc>
                      </a:pPr>
                      <a:r>
                        <a:rPr sz="11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39节点</a:t>
                      </a:r>
                      <a:endParaRPr sz="1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67640" algn="l" rtl="0" eaLnBrk="0">
                        <a:lnSpc>
                          <a:spcPct val="85000"/>
                        </a:lnSpc>
                      </a:pPr>
                      <a:r>
                        <a:rPr sz="11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300节点</a:t>
                      </a:r>
                      <a:endParaRPr sz="1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350"/>
                        </a:lnSpc>
                      </a:pPr>
                      <a:endParaRPr sz="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79400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1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2100</a:t>
                      </a:r>
                      <a:endParaRPr sz="1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34950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1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85000</a:t>
                      </a:r>
                      <a:endParaRPr sz="1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68000"/>
                        </a:lnSpc>
                      </a:pPr>
                      <a:endParaRPr sz="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48590" indent="-107315" algn="l" rtl="0" eaLnBrk="0">
                        <a:lnSpc>
                          <a:spcPct val="92000"/>
                        </a:lnSpc>
                      </a:pPr>
                      <a:r>
                        <a:rPr sz="11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传统数值方法耗</a:t>
                      </a:r>
                      <a:r>
                        <a:rPr sz="1100" kern="0" spc="50" dirty="0">
                          <a:solidFill>
                            <a:srgbClr val="78708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时(毫秒)</a:t>
                      </a:r>
                      <a:endParaRPr sz="1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9000"/>
                        </a:lnSpc>
                      </a:pPr>
                      <a:endParaRPr sz="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49530" algn="l" rtl="0" eaLnBrk="0">
                        <a:lnSpc>
                          <a:spcPct val="85000"/>
                        </a:lnSpc>
                      </a:pPr>
                      <a:r>
                        <a:rPr sz="11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驭电大模型耗时</a:t>
                      </a:r>
                      <a:endParaRPr sz="1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13690" algn="l" rtl="0" eaLnBrk="0">
                        <a:lnSpc>
                          <a:spcPct val="86000"/>
                        </a:lnSpc>
                        <a:spcBef>
                          <a:spcPts val="245"/>
                        </a:spcBef>
                      </a:pPr>
                      <a:r>
                        <a:rPr sz="1100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(毫秒)</a:t>
                      </a:r>
                      <a:endParaRPr sz="1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4988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80</a:t>
                      </a:r>
                      <a:endParaRPr sz="1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04800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11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</a:t>
                      </a:r>
                      <a:endParaRPr sz="1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32" name="textbox 532"/>
          <p:cNvSpPr/>
          <p:nvPr/>
        </p:nvSpPr>
        <p:spPr>
          <a:xfrm>
            <a:off x="438785" y="236855"/>
            <a:ext cx="5527040" cy="5257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000"/>
              </a:lnSpc>
            </a:pPr>
            <a:r>
              <a:rPr sz="3800" b="1" kern="0" spc="-180" dirty="0">
                <a:solidFill>
                  <a:srgbClr val="406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5.实验室阶段的研发验证</a:t>
            </a:r>
            <a:endParaRPr sz="3800" b="1" kern="0" spc="-180" dirty="0">
              <a:solidFill>
                <a:srgbClr val="40608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4" name="textbox 534"/>
          <p:cNvSpPr/>
          <p:nvPr/>
        </p:nvSpPr>
        <p:spPr>
          <a:xfrm>
            <a:off x="7804099" y="3035282"/>
            <a:ext cx="3131185" cy="673735"/>
          </a:xfrm>
          <a:prstGeom prst="rect">
            <a:avLst/>
          </a:prstGeom>
          <a:solidFill>
            <a:srgbClr val="F5F5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9000"/>
              </a:lnSpc>
            </a:pPr>
            <a:endParaRPr sz="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8890" algn="l" rtl="0" eaLnBrk="0">
              <a:lnSpc>
                <a:spcPct val="86000"/>
              </a:lnSpc>
              <a:spcBef>
                <a:spcPts val="0"/>
              </a:spcBef>
            </a:pPr>
            <a:r>
              <a:rPr sz="1400" b="1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精度高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51000"/>
              </a:lnSpc>
            </a:pP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41000"/>
              </a:lnSpc>
            </a:pPr>
            <a:endParaRPr sz="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6305" algn="l" rtl="0" eaLnBrk="0">
              <a:lnSpc>
                <a:spcPct val="86000"/>
              </a:lnSpc>
              <a:spcBef>
                <a:spcPts val="0"/>
              </a:spcBef>
            </a:pPr>
            <a:r>
              <a:rPr sz="1100" b="1" kern="0" spc="80" dirty="0">
                <a:solidFill>
                  <a:srgbClr val="3060A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节点潮流计算误差(%)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2" name="textbox 542"/>
          <p:cNvSpPr/>
          <p:nvPr/>
        </p:nvSpPr>
        <p:spPr>
          <a:xfrm>
            <a:off x="5056645" y="3565544"/>
            <a:ext cx="2240280" cy="1701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100" b="1" kern="0" spc="-20" dirty="0">
                <a:solidFill>
                  <a:srgbClr val="2060B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驭电大模型与传统数值方法耗时对比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4" name="textbox 544"/>
          <p:cNvSpPr/>
          <p:nvPr/>
        </p:nvSpPr>
        <p:spPr>
          <a:xfrm>
            <a:off x="8726945" y="5128392"/>
            <a:ext cx="1508760" cy="1828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b="1" kern="0" spc="-80" dirty="0">
                <a:solidFill>
                  <a:srgbClr val="3060A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节点不平衡功率占比</a:t>
            </a:r>
            <a:r>
              <a:rPr sz="1200" kern="0" spc="-80" dirty="0">
                <a:solidFill>
                  <a:srgbClr val="3060A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sz="1200" kern="0" spc="-90" dirty="0">
                <a:solidFill>
                  <a:srgbClr val="3060A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%)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8" name="textbox 548"/>
          <p:cNvSpPr/>
          <p:nvPr/>
        </p:nvSpPr>
        <p:spPr>
          <a:xfrm>
            <a:off x="2390304" y="3123512"/>
            <a:ext cx="941070" cy="2216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500" b="1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预训练过程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0" name="textbox 550"/>
          <p:cNvSpPr/>
          <p:nvPr/>
        </p:nvSpPr>
        <p:spPr>
          <a:xfrm>
            <a:off x="5819203" y="3110461"/>
            <a:ext cx="598170" cy="209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400" b="1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速度快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 descr="post_object_image_28872366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394" y="1185991"/>
            <a:ext cx="294184" cy="294184"/>
          </a:xfrm>
          <a:prstGeom prst="rect">
            <a:avLst/>
          </a:prstGeom>
        </p:spPr>
      </p:pic>
      <p:pic>
        <p:nvPicPr>
          <p:cNvPr id="3" name="图片 2" descr="post_object_image_28872366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394" y="2127908"/>
            <a:ext cx="294184" cy="294184"/>
          </a:xfrm>
          <a:prstGeom prst="rect">
            <a:avLst/>
          </a:prstGeom>
        </p:spPr>
      </p:pic>
      <p:pic>
        <p:nvPicPr>
          <p:cNvPr id="11" name="图片 10"/>
          <p:cNvPicPr/>
          <p:nvPr/>
        </p:nvPicPr>
        <p:blipFill>
          <a:blip r:embed="rId6"/>
          <a:stretch>
            <a:fillRect/>
          </a:stretch>
        </p:blipFill>
        <p:spPr>
          <a:xfrm>
            <a:off x="11050270" y="0"/>
            <a:ext cx="896620" cy="899795"/>
          </a:xfrm>
          <a:prstGeom prst="rect">
            <a:avLst/>
          </a:prstGeom>
        </p:spPr>
      </p:pic>
      <p:sp>
        <p:nvSpPr>
          <p:cNvPr id="116" name="textbox 116"/>
          <p:cNvSpPr/>
          <p:nvPr/>
        </p:nvSpPr>
        <p:spPr>
          <a:xfrm>
            <a:off x="11832590" y="6435090"/>
            <a:ext cx="224155" cy="222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lang="en-US" sz="15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lang="en-US" sz="1500" b="1" kern="0" spc="-1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textbox 552"/>
          <p:cNvSpPr/>
          <p:nvPr/>
        </p:nvSpPr>
        <p:spPr>
          <a:xfrm>
            <a:off x="114360" y="1092205"/>
            <a:ext cx="11899900" cy="527050"/>
          </a:xfrm>
          <a:prstGeom prst="rect">
            <a:avLst/>
          </a:prstGeom>
          <a:solidFill>
            <a:srgbClr val="ECECE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</a:pPr>
            <a:endParaRPr sz="8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52400" algn="l" rtl="0" eaLnBrk="0">
              <a:lnSpc>
                <a:spcPct val="87000"/>
              </a:lnSpc>
              <a:spcBef>
                <a:spcPts val="5"/>
              </a:spcBef>
            </a:pP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以珠海实际电网为原型进行验证，</a:t>
            </a:r>
            <a:r>
              <a:rPr sz="19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“驭电”模型充分体现出</a:t>
            </a: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计算神速、实用好用</a:t>
            </a:r>
            <a:r>
              <a:rPr sz="19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的特点。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4" name="textbox 554"/>
          <p:cNvSpPr/>
          <p:nvPr/>
        </p:nvSpPr>
        <p:spPr>
          <a:xfrm>
            <a:off x="445152" y="241155"/>
            <a:ext cx="3422650" cy="5257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000"/>
              </a:lnSpc>
            </a:pPr>
            <a:r>
              <a:rPr sz="3800" b="1" kern="0" spc="-180" dirty="0">
                <a:solidFill>
                  <a:srgbClr val="406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6.模型验证案例</a:t>
            </a:r>
            <a:endParaRPr sz="3800" b="1" kern="0" spc="-180" dirty="0">
              <a:solidFill>
                <a:srgbClr val="40608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0" name="textbox 560"/>
          <p:cNvSpPr/>
          <p:nvPr/>
        </p:nvSpPr>
        <p:spPr>
          <a:xfrm>
            <a:off x="5391160" y="1790946"/>
            <a:ext cx="1468120" cy="1962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300" kern="0" spc="-40" dirty="0">
                <a:solidFill>
                  <a:srgbClr val="6090C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"</a:t>
            </a:r>
            <a:r>
              <a:rPr sz="1300" kern="0" spc="-280" dirty="0">
                <a:solidFill>
                  <a:srgbClr val="6090C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</a:t>
            </a:r>
            <a:r>
              <a:rPr sz="1300" kern="0" spc="-40" dirty="0">
                <a:solidFill>
                  <a:srgbClr val="6090C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驭</a:t>
            </a:r>
            <a:r>
              <a:rPr sz="1300" kern="0" spc="-130" dirty="0">
                <a:solidFill>
                  <a:srgbClr val="6090C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</a:t>
            </a:r>
            <a:r>
              <a:rPr sz="1300" kern="0" spc="-40" dirty="0">
                <a:solidFill>
                  <a:srgbClr val="6090C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电</a:t>
            </a:r>
            <a:r>
              <a:rPr sz="1300" kern="0" spc="-240" dirty="0">
                <a:solidFill>
                  <a:srgbClr val="6090C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</a:t>
            </a:r>
            <a:r>
              <a:rPr sz="1300" kern="0" spc="-40" dirty="0">
                <a:solidFill>
                  <a:srgbClr val="6090C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"</a:t>
            </a:r>
            <a:r>
              <a:rPr sz="1300" kern="0" spc="-40" dirty="0">
                <a:solidFill>
                  <a:srgbClr val="4080C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智能仿真器</a:t>
            </a:r>
            <a:endParaRPr sz="13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564" name="textbox 564"/>
          <p:cNvSpPr/>
          <p:nvPr/>
        </p:nvSpPr>
        <p:spPr>
          <a:xfrm>
            <a:off x="11832590" y="6426200"/>
            <a:ext cx="358775" cy="223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r>
              <a:rPr sz="1500" b="1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12</a:t>
            </a:r>
            <a:endParaRPr sz="15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pic>
        <p:nvPicPr>
          <p:cNvPr id="11" name="图片 10"/>
          <p:cNvPicPr/>
          <p:nvPr/>
        </p:nvPicPr>
        <p:blipFill>
          <a:blip r:embed="rId2"/>
          <a:stretch>
            <a:fillRect/>
          </a:stretch>
        </p:blipFill>
        <p:spPr>
          <a:xfrm>
            <a:off x="11050270" y="0"/>
            <a:ext cx="896620" cy="8997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6" name="picture 5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371600" y="1981207"/>
            <a:ext cx="9963180" cy="2851145"/>
          </a:xfrm>
          <a:prstGeom prst="rect">
            <a:avLst/>
          </a:prstGeom>
        </p:spPr>
      </p:pic>
      <p:sp>
        <p:nvSpPr>
          <p:cNvPr id="568" name="textbox 568"/>
          <p:cNvSpPr/>
          <p:nvPr/>
        </p:nvSpPr>
        <p:spPr>
          <a:xfrm>
            <a:off x="158739" y="6191265"/>
            <a:ext cx="8814435" cy="444500"/>
          </a:xfrm>
          <a:prstGeom prst="rect">
            <a:avLst/>
          </a:prstGeom>
          <a:solidFill>
            <a:srgbClr val="0F376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8000"/>
              </a:lnSpc>
            </a:pPr>
            <a:endParaRPr sz="10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958850" algn="l" rtl="0" eaLnBrk="0">
              <a:lnSpc>
                <a:spcPct val="98000"/>
              </a:lnSpc>
            </a:pPr>
            <a:r>
              <a:rPr sz="1100" kern="0" dirty="0">
                <a:solidFill>
                  <a:srgbClr val="B0D0E0">
                    <a:alpha val="100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CCSG 2026.All Rights Reserved</a:t>
            </a:r>
            <a:endParaRPr sz="1100" kern="0" dirty="0">
              <a:solidFill>
                <a:srgbClr val="B0D0E0">
                  <a:alpha val="100000"/>
                </a:srgbClr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0" name="textbox 570"/>
          <p:cNvSpPr/>
          <p:nvPr/>
        </p:nvSpPr>
        <p:spPr>
          <a:xfrm>
            <a:off x="1589397" y="2600292"/>
            <a:ext cx="651510" cy="1655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65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50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目</a:t>
            </a:r>
            <a:r>
              <a:rPr sz="5000" kern="0" spc="3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</a:t>
            </a:r>
            <a:r>
              <a:rPr sz="50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录</a:t>
            </a:r>
            <a:endParaRPr sz="50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572" name="textbox 572"/>
          <p:cNvSpPr/>
          <p:nvPr>
            <p:custDataLst>
              <p:tags r:id="rId3"/>
            </p:custDataLst>
          </p:nvPr>
        </p:nvSpPr>
        <p:spPr>
          <a:xfrm>
            <a:off x="5095915" y="4270761"/>
            <a:ext cx="3395980" cy="276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r>
              <a:rPr sz="1900" b="1" kern="0" spc="40" dirty="0">
                <a:solidFill>
                  <a:srgbClr val="104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“驭电”仿真大模型应用效果</a:t>
            </a:r>
            <a:endParaRPr sz="1900" b="1" kern="0" spc="40" dirty="0">
              <a:solidFill>
                <a:srgbClr val="10407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4" name="textbox 574"/>
          <p:cNvSpPr/>
          <p:nvPr>
            <p:custDataLst>
              <p:tags r:id="rId4"/>
            </p:custDataLst>
          </p:nvPr>
        </p:nvSpPr>
        <p:spPr>
          <a:xfrm>
            <a:off x="5114935" y="3248439"/>
            <a:ext cx="3360420" cy="276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r>
              <a:rPr sz="1900" b="1" kern="0" spc="120" dirty="0">
                <a:solidFill>
                  <a:srgbClr val="707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“驭电”仿真大模型研发情况</a:t>
            </a:r>
            <a:endParaRPr sz="1900" b="1" kern="0" spc="120" dirty="0">
              <a:solidFill>
                <a:srgbClr val="70707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0" name="textbox 580"/>
          <p:cNvSpPr/>
          <p:nvPr>
            <p:custDataLst>
              <p:tags r:id="rId5"/>
            </p:custDataLst>
          </p:nvPr>
        </p:nvSpPr>
        <p:spPr>
          <a:xfrm>
            <a:off x="3492500" y="2178834"/>
            <a:ext cx="1085215" cy="4006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algn="r" rtl="0" eaLnBrk="0">
              <a:lnSpc>
                <a:spcPts val="2950"/>
              </a:lnSpc>
            </a:pPr>
            <a:r>
              <a:rPr sz="2200" kern="0" spc="-1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</a:t>
            </a:r>
            <a:r>
              <a:rPr sz="2200" kern="0" spc="-1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</a:t>
            </a:r>
            <a:r>
              <a:rPr sz="2200" kern="0" spc="-10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</a:t>
            </a:r>
            <a:endParaRPr sz="2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2" name="textbox 582"/>
          <p:cNvSpPr/>
          <p:nvPr>
            <p:custDataLst>
              <p:tags r:id="rId6"/>
            </p:custDataLst>
          </p:nvPr>
        </p:nvSpPr>
        <p:spPr>
          <a:xfrm>
            <a:off x="3492500" y="3273814"/>
            <a:ext cx="1083945" cy="274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900" kern="0" spc="18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第二部分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4" name="textbox 584"/>
          <p:cNvSpPr/>
          <p:nvPr>
            <p:custDataLst>
              <p:tags r:id="rId7"/>
            </p:custDataLst>
          </p:nvPr>
        </p:nvSpPr>
        <p:spPr>
          <a:xfrm>
            <a:off x="3492500" y="4283448"/>
            <a:ext cx="1083945" cy="274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900" kern="0" spc="18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第三部分</a:t>
            </a:r>
            <a:endParaRPr sz="1900" kern="0" spc="180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6" name="textbox 586"/>
          <p:cNvSpPr/>
          <p:nvPr>
            <p:custDataLst>
              <p:tags r:id="rId8"/>
            </p:custDataLst>
          </p:nvPr>
        </p:nvSpPr>
        <p:spPr>
          <a:xfrm>
            <a:off x="5299481" y="2228884"/>
            <a:ext cx="1059815" cy="2755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900" b="1" kern="0" spc="120" dirty="0">
                <a:solidFill>
                  <a:srgbClr val="707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研发背景</a:t>
            </a:r>
            <a:endParaRPr sz="1900" b="1" kern="0" spc="120" dirty="0">
              <a:solidFill>
                <a:srgbClr val="70707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0" name="textbox 590"/>
          <p:cNvSpPr/>
          <p:nvPr/>
        </p:nvSpPr>
        <p:spPr>
          <a:xfrm>
            <a:off x="2533599" y="3293371"/>
            <a:ext cx="149860" cy="279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3000"/>
              </a:lnSpc>
            </a:pPr>
            <a:r>
              <a:rPr sz="2000" kern="0" spc="-10" dirty="0">
                <a:solidFill>
                  <a:srgbClr val="4060C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m</a:t>
            </a:r>
            <a:endParaRPr sz="20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pic>
        <p:nvPicPr>
          <p:cNvPr id="11" name="图片 10"/>
          <p:cNvPicPr/>
          <p:nvPr/>
        </p:nvPicPr>
        <p:blipFill>
          <a:blip r:embed="rId9"/>
          <a:stretch>
            <a:fillRect/>
          </a:stretch>
        </p:blipFill>
        <p:spPr>
          <a:xfrm>
            <a:off x="11050270" y="0"/>
            <a:ext cx="896620" cy="89979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textbox 592"/>
          <p:cNvSpPr/>
          <p:nvPr/>
        </p:nvSpPr>
        <p:spPr>
          <a:xfrm>
            <a:off x="171419" y="1028700"/>
            <a:ext cx="11837035" cy="2565400"/>
          </a:xfrm>
          <a:prstGeom prst="rect">
            <a:avLst/>
          </a:prstGeom>
          <a:solidFill>
            <a:srgbClr val="ECECE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3000"/>
              </a:lnSpc>
            </a:pP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algn="l" rtl="0" eaLnBrk="0">
              <a:lnSpc>
                <a:spcPct val="83000"/>
              </a:lnSpc>
              <a:spcBef>
                <a:spcPts val="5"/>
              </a:spcBef>
            </a:pPr>
            <a:r>
              <a:rPr sz="19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云南电网新能源渗透率已达70%且还在不断升高，</a:t>
            </a:r>
            <a:r>
              <a:rPr sz="1900" kern="0" spc="6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加之与南方主网</a:t>
            </a:r>
            <a:r>
              <a:rPr sz="19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异步联网，</a:t>
            </a:r>
            <a:r>
              <a:rPr sz="1900" kern="0" spc="8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电网安全分析尤为重要，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algn="l" rtl="0" eaLnBrk="0">
              <a:lnSpc>
                <a:spcPct val="163000"/>
              </a:lnSpc>
              <a:spcBef>
                <a:spcPts val="30"/>
              </a:spcBef>
            </a:pP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迫切需要智能高效的仿真工具，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解决年度方式“算得不多却很费力”、</a:t>
            </a:r>
            <a:r>
              <a:rPr sz="1900" kern="0" spc="8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日前方式“人员高度紧张”、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高渗透率场景“安全态势心中没底”等业务痛点。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6565" algn="l" rtl="0" eaLnBrk="0">
              <a:lnSpc>
                <a:spcPct val="154000"/>
              </a:lnSpc>
              <a:spcBef>
                <a:spcPts val="215"/>
              </a:spcBef>
            </a:pP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南方电网公司高度重视，</a:t>
            </a:r>
            <a:r>
              <a:rPr sz="19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支持将“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驭电”仿真大模型优先在云南部署示范应用。</a:t>
            </a: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云南电网公司积极主动，与南网科研院成立联合工作组，</a:t>
            </a:r>
            <a:r>
              <a:rPr sz="1900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2025年务实推进“驭电”大模型的工程化开发和应用。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4" name="textbox 594"/>
          <p:cNvSpPr/>
          <p:nvPr/>
        </p:nvSpPr>
        <p:spPr>
          <a:xfrm>
            <a:off x="469900" y="249555"/>
            <a:ext cx="6153785" cy="5245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r>
              <a:rPr sz="3800" b="1" kern="0" spc="-180" dirty="0">
                <a:solidFill>
                  <a:srgbClr val="406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1.在云南电网开展工程化应用</a:t>
            </a:r>
            <a:endParaRPr sz="3800" b="1" kern="0" spc="-180" dirty="0">
              <a:solidFill>
                <a:srgbClr val="40608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4" name="textbox 624"/>
          <p:cNvSpPr/>
          <p:nvPr/>
        </p:nvSpPr>
        <p:spPr>
          <a:xfrm>
            <a:off x="11781155" y="6440170"/>
            <a:ext cx="246380" cy="215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algn="r" rtl="0" eaLnBrk="0">
              <a:lnSpc>
                <a:spcPct val="83000"/>
              </a:lnSpc>
            </a:pPr>
            <a:r>
              <a:rPr sz="1500" b="1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14</a:t>
            </a:r>
            <a:endParaRPr sz="15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pic>
        <p:nvPicPr>
          <p:cNvPr id="2" name="图片 1" descr="post_object_image_28872366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55" y="1249491"/>
            <a:ext cx="294184" cy="294184"/>
          </a:xfrm>
          <a:prstGeom prst="rect">
            <a:avLst/>
          </a:prstGeom>
        </p:spPr>
      </p:pic>
      <p:pic>
        <p:nvPicPr>
          <p:cNvPr id="3" name="图片 2" descr="post_object_image_28872366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0" y="2635908"/>
            <a:ext cx="294184" cy="29418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369" y="3594140"/>
            <a:ext cx="4298280" cy="306204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274" y="3665577"/>
            <a:ext cx="4488470" cy="3062049"/>
          </a:xfrm>
          <a:prstGeom prst="rect">
            <a:avLst/>
          </a:prstGeom>
        </p:spPr>
      </p:pic>
      <p:pic>
        <p:nvPicPr>
          <p:cNvPr id="11" name="图片 10"/>
          <p:cNvPicPr/>
          <p:nvPr/>
        </p:nvPicPr>
        <p:blipFill>
          <a:blip r:embed="rId5"/>
          <a:stretch>
            <a:fillRect/>
          </a:stretch>
        </p:blipFill>
        <p:spPr>
          <a:xfrm>
            <a:off x="11050270" y="0"/>
            <a:ext cx="896620" cy="8997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textbox 626"/>
          <p:cNvSpPr/>
          <p:nvPr/>
        </p:nvSpPr>
        <p:spPr>
          <a:xfrm>
            <a:off x="177759" y="1092205"/>
            <a:ext cx="11830685" cy="2025650"/>
          </a:xfrm>
          <a:prstGeom prst="rect">
            <a:avLst/>
          </a:prstGeom>
          <a:solidFill>
            <a:srgbClr val="ECECE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5000"/>
              </a:lnSpc>
            </a:pPr>
            <a:endParaRPr sz="10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546100" algn="l" rtl="0" eaLnBrk="0">
              <a:lnSpc>
                <a:spcPct val="85000"/>
              </a:lnSpc>
            </a:pP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2900节点：</a:t>
            </a:r>
            <a:r>
              <a:rPr sz="1900" kern="0" spc="120" dirty="0">
                <a:solidFill>
                  <a:srgbClr val="D01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基于云南电网春节期间等值方式构造33万训练数据，</a:t>
            </a:r>
            <a:r>
              <a:rPr sz="1900" kern="0" spc="6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完成4千万(44M)</a:t>
            </a:r>
            <a:r>
              <a:rPr sz="1900" kern="0" spc="7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参数的模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型训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46100" algn="l" rtl="0" eaLnBrk="0">
              <a:lnSpc>
                <a:spcPts val="3550"/>
              </a:lnSpc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练，潮流计算平均误差在2%以内。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46100" algn="l" rtl="0" eaLnBrk="0">
              <a:lnSpc>
                <a:spcPct val="153000"/>
              </a:lnSpc>
              <a:spcBef>
                <a:spcPts val="430"/>
              </a:spcBef>
            </a:pP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4700节点：</a:t>
            </a:r>
            <a:r>
              <a:rPr sz="1900" kern="0" spc="80" dirty="0">
                <a:solidFill>
                  <a:srgbClr val="E0101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基础模型使用111万数据，</a:t>
            </a:r>
            <a:r>
              <a:rPr sz="1900" kern="0" spc="6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用20P</a:t>
            </a:r>
            <a:r>
              <a:rPr sz="1900" kern="0" spc="-5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算力训练，</a:t>
            </a:r>
            <a:r>
              <a:rPr sz="1900" kern="0" spc="-1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计算平均误差进</a:t>
            </a:r>
            <a:r>
              <a:rPr sz="19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一步缩小到1.5%以内。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9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更重要的是， 在海量场景生成中，</a:t>
            </a: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潮流收敛率接近100%,</a:t>
            </a: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极大提高了可行方式的生成效率。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2" name="textbox 632"/>
          <p:cNvSpPr/>
          <p:nvPr/>
        </p:nvSpPr>
        <p:spPr>
          <a:xfrm>
            <a:off x="431800" y="234950"/>
            <a:ext cx="5777230" cy="5245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r>
              <a:rPr sz="3800" b="1" kern="0" spc="-180" dirty="0">
                <a:solidFill>
                  <a:srgbClr val="406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2.面向工程应用的场景升级</a:t>
            </a:r>
            <a:endParaRPr sz="3800" b="1" kern="0" spc="-180" dirty="0">
              <a:solidFill>
                <a:srgbClr val="40608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4" name="textbox 634"/>
          <p:cNvSpPr/>
          <p:nvPr/>
        </p:nvSpPr>
        <p:spPr>
          <a:xfrm>
            <a:off x="1701759" y="3359116"/>
            <a:ext cx="3747134" cy="381635"/>
          </a:xfrm>
          <a:prstGeom prst="rect">
            <a:avLst/>
          </a:prstGeom>
          <a:solidFill>
            <a:srgbClr val="97D8F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</a:pPr>
            <a:endParaRPr sz="3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571500" algn="l" rtl="0" eaLnBrk="0">
              <a:lnSpc>
                <a:spcPct val="87000"/>
              </a:lnSpc>
              <a:spcBef>
                <a:spcPts val="5"/>
              </a:spcBef>
            </a:pPr>
            <a:r>
              <a:rPr sz="1900" b="1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2900节点潮流计算性能</a:t>
            </a:r>
            <a:endParaRPr sz="1900" b="1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grpSp>
        <p:nvGrpSpPr>
          <p:cNvPr id="18" name="group 18"/>
          <p:cNvGrpSpPr/>
          <p:nvPr/>
        </p:nvGrpSpPr>
        <p:grpSpPr>
          <a:xfrm rot="21600000">
            <a:off x="7556480" y="3359116"/>
            <a:ext cx="3746479" cy="381030"/>
            <a:chOff x="0" y="0"/>
            <a:chExt cx="3746479" cy="381030"/>
          </a:xfrm>
        </p:grpSpPr>
        <p:pic>
          <p:nvPicPr>
            <p:cNvPr id="636" name="picture 63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3746479" cy="381030"/>
            </a:xfrm>
            <a:prstGeom prst="rect">
              <a:avLst/>
            </a:prstGeom>
          </p:spPr>
        </p:pic>
        <p:sp>
          <p:nvSpPr>
            <p:cNvPr id="638" name="textbox 638"/>
            <p:cNvSpPr/>
            <p:nvPr/>
          </p:nvSpPr>
          <p:spPr>
            <a:xfrm>
              <a:off x="558800" y="17145"/>
              <a:ext cx="2894330" cy="27559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0000"/>
                </a:lnSpc>
              </a:pPr>
              <a:endParaRPr sz="100" dirty="0">
                <a:latin typeface="微软雅黑" panose="020B0503020204020204" charset="-122"/>
                <a:ea typeface="+mn-ea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86000"/>
                </a:lnSpc>
              </a:pPr>
              <a:r>
                <a:rPr sz="1900" b="1" kern="0" spc="1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+mn-ea"/>
                  <a:cs typeface="微软雅黑" panose="020B0503020204020204" charset="-122"/>
                </a:rPr>
                <a:t>4700节点无功配置性能</a:t>
              </a:r>
              <a:endParaRPr sz="1900" b="1" dirty="0">
                <a:latin typeface="微软雅黑" panose="020B0503020204020204" charset="-122"/>
                <a:ea typeface="+mn-ea"/>
                <a:cs typeface="微软雅黑" panose="020B0503020204020204" charset="-122"/>
              </a:endParaRPr>
            </a:p>
          </p:txBody>
        </p:sp>
      </p:grpSp>
      <p:sp>
        <p:nvSpPr>
          <p:cNvPr id="646" name="textbox 646"/>
          <p:cNvSpPr/>
          <p:nvPr/>
        </p:nvSpPr>
        <p:spPr>
          <a:xfrm>
            <a:off x="11882755" y="6449060"/>
            <a:ext cx="309245" cy="203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3000"/>
              </a:lnSpc>
            </a:pPr>
            <a:r>
              <a:rPr sz="1400" b="1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15</a:t>
            </a:r>
            <a:endParaRPr sz="14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pic>
        <p:nvPicPr>
          <p:cNvPr id="2" name="图片 1" descr="post_object_image_28872366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55" y="1249491"/>
            <a:ext cx="294184" cy="294184"/>
          </a:xfrm>
          <a:prstGeom prst="rect">
            <a:avLst/>
          </a:prstGeom>
        </p:spPr>
      </p:pic>
      <p:pic>
        <p:nvPicPr>
          <p:cNvPr id="3" name="图片 2" descr="post_object_image_28872366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" y="2233741"/>
            <a:ext cx="294184" cy="29418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206" y="3748603"/>
            <a:ext cx="5994923" cy="279673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8027" y="3748564"/>
            <a:ext cx="4967704" cy="2796778"/>
          </a:xfrm>
          <a:prstGeom prst="rect">
            <a:avLst/>
          </a:prstGeom>
        </p:spPr>
      </p:pic>
      <p:pic>
        <p:nvPicPr>
          <p:cNvPr id="11" name="图片 10"/>
          <p:cNvPicPr/>
          <p:nvPr/>
        </p:nvPicPr>
        <p:blipFill>
          <a:blip r:embed="rId6"/>
          <a:stretch>
            <a:fillRect/>
          </a:stretch>
        </p:blipFill>
        <p:spPr>
          <a:xfrm>
            <a:off x="11050270" y="0"/>
            <a:ext cx="896620" cy="899795"/>
          </a:xfrm>
          <a:prstGeom prst="rect">
            <a:avLst/>
          </a:prstGeom>
        </p:spPr>
      </p:pic>
      <p:pic>
        <p:nvPicPr>
          <p:cNvPr id="6" name="图片 5" descr="post_object_image_28872366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" y="2608391"/>
            <a:ext cx="294184" cy="29418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textbox 648"/>
          <p:cNvSpPr/>
          <p:nvPr/>
        </p:nvSpPr>
        <p:spPr>
          <a:xfrm>
            <a:off x="196900" y="1117579"/>
            <a:ext cx="11798300" cy="2439035"/>
          </a:xfrm>
          <a:prstGeom prst="rect">
            <a:avLst/>
          </a:prstGeom>
          <a:solidFill>
            <a:srgbClr val="ECECE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5000"/>
              </a:lnSpc>
            </a:pPr>
            <a:endParaRPr sz="10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533400" algn="l" rtl="0" eaLnBrk="0">
              <a:lnSpc>
                <a:spcPct val="85000"/>
              </a:lnSpc>
            </a:pPr>
            <a:r>
              <a:rPr sz="19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融</a:t>
            </a:r>
            <a:r>
              <a:rPr sz="1900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</a:t>
            </a: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“驭电”仿真大模型和DSP 仿真工具，</a:t>
            </a:r>
            <a:r>
              <a:rPr sz="19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集成开发了</a:t>
            </a: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驭电智能仿真系统，</a:t>
            </a:r>
            <a:r>
              <a:rPr sz="19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具备场景构建、方式生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58165" algn="l" rtl="0" eaLnBrk="0">
              <a:lnSpc>
                <a:spcPts val="3595"/>
              </a:lnSpc>
            </a:pP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成、智能仿真、结果分析等功能，可通</a:t>
            </a:r>
            <a:r>
              <a:rPr sz="19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过自然语言对话实现基本功能调用。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33400" algn="l" rtl="0" eaLnBrk="0">
              <a:lnSpc>
                <a:spcPct val="158000"/>
              </a:lnSpc>
              <a:spcBef>
                <a:spcPts val="300"/>
              </a:spcBef>
            </a:pPr>
            <a:r>
              <a:rPr sz="1900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</a:t>
            </a: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面向云南中调和大理地调应用</a:t>
            </a:r>
            <a:r>
              <a:rPr sz="1900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需求，应对新能源出力随机波动、开停机频繁、线路故</a:t>
            </a:r>
            <a:r>
              <a:rPr sz="19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障检修等</a:t>
            </a:r>
            <a:r>
              <a:rPr sz="19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因素带来的运行工况复杂多变的实际难题，</a:t>
            </a:r>
            <a:r>
              <a:rPr sz="1900" kern="0" spc="6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有效支撑了云南</a:t>
            </a: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中调年度、月度、 日前、 日内方式计算和大理地调稳态潮流计算、检修转供方案智能化生成。</a:t>
            </a:r>
            <a:endParaRPr sz="1900" b="1" kern="0" spc="70" dirty="0">
              <a:solidFill>
                <a:srgbClr val="C0202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650" name="table 650"/>
          <p:cNvGraphicFramePr>
            <a:graphicFrameLocks noGrp="1"/>
          </p:cNvGraphicFramePr>
          <p:nvPr/>
        </p:nvGraphicFramePr>
        <p:xfrm>
          <a:off x="1051685" y="3791640"/>
          <a:ext cx="9637395" cy="828040"/>
        </p:xfrm>
        <a:graphic>
          <a:graphicData uri="http://schemas.openxmlformats.org/drawingml/2006/table">
            <a:tbl>
              <a:tblPr/>
              <a:tblGrid>
                <a:gridCol w="2200910"/>
                <a:gridCol w="2663825"/>
                <a:gridCol w="4772660"/>
              </a:tblGrid>
              <a:tr h="41338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51000"/>
                        </a:lnSpc>
                      </a:pPr>
                      <a:endParaRPr sz="1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86000"/>
                        </a:lnSpc>
                      </a:pPr>
                      <a:r>
                        <a:rPr sz="21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2900节点训练</a:t>
                      </a:r>
                      <a:endParaRPr sz="21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8000"/>
                        </a:lnSpc>
                      </a:pPr>
                      <a:endParaRPr sz="1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marL="52514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2100" b="1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驭电上线应用</a:t>
                      </a:r>
                      <a:endParaRPr sz="2100" b="1" kern="0" spc="130" dirty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"/>
                        </a:lnSpc>
                      </a:pPr>
                      <a:endParaRPr sz="1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</a:pPr>
                      <a:r>
                        <a:rPr sz="21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4700节点训练</a:t>
                      </a:r>
                      <a:r>
                        <a:rPr sz="21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     </a:t>
                      </a:r>
                      <a:r>
                        <a:rPr sz="21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年月日方</a:t>
                      </a:r>
                      <a:r>
                        <a:rPr sz="21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式计算</a:t>
                      </a:r>
                      <a:endParaRPr sz="21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465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8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marL="13970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900" kern="0" spc="2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2025年3月</a:t>
                      </a:r>
                      <a:endParaRPr sz="21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marL="614045" algn="l" rtl="0" eaLnBrk="0">
                        <a:lnSpc>
                          <a:spcPct val="83000"/>
                        </a:lnSpc>
                        <a:spcBef>
                          <a:spcPts val="5"/>
                        </a:spcBef>
                      </a:pPr>
                      <a:r>
                        <a:rPr sz="1900" kern="0" spc="2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2025年4月</a:t>
                      </a:r>
                      <a:endParaRPr sz="19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marL="693420" algn="l" rtl="0" eaLnBrk="0">
                        <a:lnSpc>
                          <a:spcPct val="83000"/>
                        </a:lnSpc>
                        <a:spcBef>
                          <a:spcPts val="5"/>
                        </a:spcBef>
                      </a:pPr>
                      <a:r>
                        <a:rPr sz="1900" kern="0" spc="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2025年10月</a:t>
                      </a:r>
                      <a:r>
                        <a:rPr sz="1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        </a:t>
                      </a:r>
                      <a:r>
                        <a:rPr sz="1900" kern="0" spc="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2025年11月</a:t>
                      </a:r>
                      <a:endParaRPr sz="19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52" name="textbox 652"/>
          <p:cNvSpPr/>
          <p:nvPr/>
        </p:nvSpPr>
        <p:spPr>
          <a:xfrm>
            <a:off x="438812" y="152372"/>
            <a:ext cx="9270365" cy="6089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</a:pPr>
            <a:endParaRPr sz="6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  <a:spcBef>
                <a:spcPts val="5"/>
              </a:spcBef>
            </a:pPr>
            <a:r>
              <a:rPr sz="3800" b="1" kern="0" spc="-180" dirty="0">
                <a:solidFill>
                  <a:srgbClr val="406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3.以“驭电”大模型为核心开发集成系统</a:t>
            </a:r>
            <a:r>
              <a:rPr sz="3800" b="1" kern="0" spc="-180" dirty="0">
                <a:solidFill>
                  <a:srgbClr val="40608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</a:t>
            </a:r>
            <a:r>
              <a:rPr sz="3800" kern="0" spc="0" dirty="0">
                <a:solidFill>
                  <a:srgbClr val="30509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</a:t>
            </a:r>
            <a:endParaRPr sz="38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pic>
        <p:nvPicPr>
          <p:cNvPr id="656" name="picture 6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127699" y="4921232"/>
            <a:ext cx="1955840" cy="1746252"/>
          </a:xfrm>
          <a:prstGeom prst="rect">
            <a:avLst/>
          </a:prstGeom>
        </p:spPr>
      </p:pic>
      <p:pic>
        <p:nvPicPr>
          <p:cNvPr id="658" name="picture 6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8160" y="4927610"/>
            <a:ext cx="1962058" cy="1739874"/>
          </a:xfrm>
          <a:prstGeom prst="rect">
            <a:avLst/>
          </a:prstGeom>
        </p:spPr>
      </p:pic>
      <p:pic>
        <p:nvPicPr>
          <p:cNvPr id="660" name="picture 6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063739" y="4940297"/>
            <a:ext cx="1974860" cy="1727187"/>
          </a:xfrm>
          <a:prstGeom prst="rect">
            <a:avLst/>
          </a:prstGeom>
        </p:spPr>
      </p:pic>
      <p:pic>
        <p:nvPicPr>
          <p:cNvPr id="662" name="picture 66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108460" y="4927610"/>
            <a:ext cx="1949501" cy="1739874"/>
          </a:xfrm>
          <a:prstGeom prst="rect">
            <a:avLst/>
          </a:prstGeom>
        </p:spPr>
      </p:pic>
      <p:pic>
        <p:nvPicPr>
          <p:cNvPr id="664" name="picture 66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0185440" y="4921232"/>
            <a:ext cx="1955719" cy="1714500"/>
          </a:xfrm>
          <a:prstGeom prst="rect">
            <a:avLst/>
          </a:prstGeom>
        </p:spPr>
      </p:pic>
      <p:pic>
        <p:nvPicPr>
          <p:cNvPr id="666" name="picture 66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191561" y="5016490"/>
            <a:ext cx="1905000" cy="1485922"/>
          </a:xfrm>
          <a:prstGeom prst="rect">
            <a:avLst/>
          </a:prstGeom>
        </p:spPr>
      </p:pic>
      <p:pic>
        <p:nvPicPr>
          <p:cNvPr id="2" name="图片 1" descr="post_object_image_288723664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7500" y="1323574"/>
            <a:ext cx="294184" cy="294184"/>
          </a:xfrm>
          <a:prstGeom prst="rect">
            <a:avLst/>
          </a:prstGeom>
        </p:spPr>
      </p:pic>
      <p:pic>
        <p:nvPicPr>
          <p:cNvPr id="3" name="图片 2" descr="post_object_image_288723664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7500" y="2190026"/>
            <a:ext cx="294184" cy="294184"/>
          </a:xfrm>
          <a:prstGeom prst="rect">
            <a:avLst/>
          </a:prstGeom>
        </p:spPr>
      </p:pic>
      <p:pic>
        <p:nvPicPr>
          <p:cNvPr id="11" name="图片 10"/>
          <p:cNvPicPr/>
          <p:nvPr/>
        </p:nvPicPr>
        <p:blipFill>
          <a:blip r:embed="rId9"/>
          <a:stretch>
            <a:fillRect/>
          </a:stretch>
        </p:blipFill>
        <p:spPr>
          <a:xfrm>
            <a:off x="11050270" y="0"/>
            <a:ext cx="896620" cy="899795"/>
          </a:xfrm>
          <a:prstGeom prst="rect">
            <a:avLst/>
          </a:prstGeom>
        </p:spPr>
      </p:pic>
      <p:sp>
        <p:nvSpPr>
          <p:cNvPr id="116" name="textbox 116"/>
          <p:cNvSpPr/>
          <p:nvPr/>
        </p:nvSpPr>
        <p:spPr>
          <a:xfrm>
            <a:off x="11944350" y="6435090"/>
            <a:ext cx="248285" cy="222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lang="en-US" sz="15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16</a:t>
            </a:r>
            <a:endParaRPr lang="en-US" sz="1500" b="1" kern="0" spc="-1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2" name="table 672"/>
          <p:cNvGraphicFramePr>
            <a:graphicFrameLocks noGrp="1"/>
          </p:cNvGraphicFramePr>
          <p:nvPr/>
        </p:nvGraphicFramePr>
        <p:xfrm>
          <a:off x="330159" y="2241393"/>
          <a:ext cx="11409045" cy="4413250"/>
        </p:xfrm>
        <a:graphic>
          <a:graphicData uri="http://schemas.openxmlformats.org/drawingml/2006/table">
            <a:tbl>
              <a:tblPr/>
              <a:tblGrid>
                <a:gridCol w="655320"/>
                <a:gridCol w="768350"/>
                <a:gridCol w="3640455"/>
                <a:gridCol w="467360"/>
                <a:gridCol w="1535430"/>
                <a:gridCol w="461010"/>
                <a:gridCol w="1866265"/>
                <a:gridCol w="607695"/>
                <a:gridCol w="1407160"/>
              </a:tblGrid>
              <a:tr h="24999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42000"/>
                        </a:lnSpc>
                      </a:pPr>
                      <a:endParaRPr sz="1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marL="3175" algn="l" rtl="0" eaLnBrk="0">
                        <a:lnSpc>
                          <a:spcPct val="92000"/>
                        </a:lnSpc>
                      </a:pPr>
                      <a:r>
                        <a:rPr sz="2100" b="1" kern="0" spc="-10" dirty="0">
                          <a:solidFill>
                            <a:srgbClr val="3060B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传统</a:t>
                      </a:r>
                      <a:r>
                        <a:rPr sz="2100" b="1" kern="0" spc="-30" dirty="0">
                          <a:solidFill>
                            <a:srgbClr val="3060B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工作</a:t>
                      </a:r>
                      <a:r>
                        <a:rPr sz="2100" b="1" kern="0" spc="-50" dirty="0">
                          <a:solidFill>
                            <a:srgbClr val="3060B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模式</a:t>
                      </a:r>
                      <a:endParaRPr sz="21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marL="125730" algn="l" rtl="0" eaLnBrk="0">
                        <a:lnSpc>
                          <a:spcPct val="108000"/>
                        </a:lnSpc>
                        <a:spcBef>
                          <a:spcPts val="0"/>
                        </a:spcBef>
                      </a:pPr>
                      <a:r>
                        <a:rPr sz="18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年度/月度</a:t>
                      </a:r>
                      <a:endParaRPr sz="17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marL="125730" algn="l" rtl="0" eaLnBrk="0">
                        <a:lnSpc>
                          <a:spcPct val="83000"/>
                        </a:lnSpc>
                        <a:spcBef>
                          <a:spcPts val="5"/>
                        </a:spcBef>
                      </a:pPr>
                      <a:r>
                        <a:rPr sz="17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负荷预测数据</a:t>
                      </a:r>
                      <a:endParaRPr sz="17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marL="214630" algn="l" rtl="0" eaLnBrk="0">
                        <a:lnSpc>
                          <a:spcPts val="2250"/>
                        </a:lnSpc>
                      </a:pPr>
                      <a:r>
                        <a:rPr sz="1700" kern="0" spc="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(典型方式)</a:t>
                      </a:r>
                      <a:endParaRPr sz="17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37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marL="2202180" algn="l" rtl="0" eaLnBrk="0">
                        <a:lnSpc>
                          <a:spcPct val="86000"/>
                        </a:lnSpc>
                        <a:spcBef>
                          <a:spcPts val="510"/>
                        </a:spcBef>
                      </a:pPr>
                      <a:r>
                        <a:rPr sz="1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电网检修计划</a:t>
                      </a:r>
                      <a:endParaRPr sz="17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78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marL="157480" algn="l" rtl="0" eaLnBrk="0">
                        <a:lnSpc>
                          <a:spcPct val="83000"/>
                        </a:lnSpc>
                        <a:spcBef>
                          <a:spcPts val="510"/>
                        </a:spcBef>
                      </a:pPr>
                      <a:r>
                        <a:rPr sz="1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新能源功率/负</a:t>
                      </a:r>
                      <a:endParaRPr sz="17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marL="157480" algn="l" rtl="0" eaLnBrk="0">
                        <a:lnSpc>
                          <a:spcPts val="2200"/>
                        </a:lnSpc>
                      </a:pPr>
                      <a:r>
                        <a:rPr sz="1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荷预测数据-典</a:t>
                      </a:r>
                      <a:endParaRPr sz="17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marL="563245" algn="l" rtl="0" eaLnBrk="0">
                        <a:lnSpc>
                          <a:spcPts val="2225"/>
                        </a:lnSpc>
                      </a:pPr>
                      <a:r>
                        <a:rPr sz="17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型区间</a:t>
                      </a:r>
                      <a:endParaRPr sz="17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marL="7302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600" kern="0" spc="15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→</a:t>
                      </a:r>
                      <a:endParaRPr sz="6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69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marL="119316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17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典型运行方式</a:t>
                      </a:r>
                      <a:endParaRPr sz="17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29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29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30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marL="354965" algn="l" rtl="0" eaLnBrk="0">
                        <a:lnSpc>
                          <a:spcPct val="85000"/>
                        </a:lnSpc>
                        <a:spcBef>
                          <a:spcPts val="510"/>
                        </a:spcBef>
                      </a:pPr>
                      <a:r>
                        <a:rPr sz="1700" kern="0" spc="110" dirty="0">
                          <a:solidFill>
                            <a:srgbClr val="C0102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海量场景</a:t>
                      </a:r>
                      <a:endParaRPr sz="17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27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marL="145415" algn="l" rtl="0" eaLnBrk="0">
                        <a:lnSpc>
                          <a:spcPct val="85000"/>
                        </a:lnSpc>
                        <a:spcBef>
                          <a:spcPts val="575"/>
                        </a:spcBef>
                      </a:pPr>
                      <a:r>
                        <a:rPr sz="19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8760/720小</a:t>
                      </a:r>
                      <a:endParaRPr sz="19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marL="240665" algn="l" rtl="0" eaLnBrk="0">
                        <a:lnSpc>
                          <a:spcPts val="2165"/>
                        </a:lnSpc>
                      </a:pPr>
                      <a:r>
                        <a:rPr sz="1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时潮流方式</a:t>
                      </a:r>
                      <a:endParaRPr sz="17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marL="1726565" algn="l" rtl="0" eaLnBrk="0">
                        <a:lnSpc>
                          <a:spcPts val="1115"/>
                        </a:lnSpc>
                        <a:spcBef>
                          <a:spcPts val="325"/>
                        </a:spcBef>
                      </a:pPr>
                      <a:endParaRPr sz="19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marL="136525" algn="l" rtl="0" eaLnBrk="0">
                        <a:lnSpc>
                          <a:spcPct val="84000"/>
                        </a:lnSpc>
                      </a:pPr>
                      <a:r>
                        <a:rPr sz="600" kern="0" spc="15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→</a:t>
                      </a:r>
                      <a:endParaRPr sz="6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4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marL="323215" algn="l" rtl="0" eaLnBrk="0">
                        <a:lnSpc>
                          <a:spcPct val="86000"/>
                        </a:lnSpc>
                      </a:pPr>
                      <a:r>
                        <a:rPr sz="17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安全校核</a:t>
                      </a:r>
                      <a:endParaRPr sz="17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670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marL="381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2100" b="1" kern="0" spc="-10" dirty="0">
                          <a:solidFill>
                            <a:srgbClr val="E070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全新</a:t>
                      </a:r>
                      <a:endParaRPr sz="2100" b="1" kern="0" spc="-10" dirty="0">
                        <a:solidFill>
                          <a:srgbClr val="E07030">
                            <a:alpha val="100000"/>
                          </a:srgbClr>
                        </a:solidFill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87000"/>
                        </a:lnSpc>
                        <a:spcBef>
                          <a:spcPts val="345"/>
                        </a:spcBef>
                      </a:pPr>
                      <a:r>
                        <a:rPr sz="2100" b="1" kern="0" spc="-10" dirty="0">
                          <a:solidFill>
                            <a:srgbClr val="E070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工作</a:t>
                      </a:r>
                      <a:endParaRPr sz="2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marL="144780" algn="l" rtl="0" eaLnBrk="0">
                        <a:lnSpc>
                          <a:spcPct val="86000"/>
                        </a:lnSpc>
                      </a:pPr>
                      <a:r>
                        <a:rPr sz="18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日前</a:t>
                      </a:r>
                      <a:endParaRPr sz="19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marL="99695" algn="l" rtl="0" eaLnBrk="0">
                        <a:lnSpc>
                          <a:spcPct val="83000"/>
                        </a:lnSpc>
                        <a:spcBef>
                          <a:spcPts val="5"/>
                        </a:spcBef>
                      </a:pPr>
                      <a:r>
                        <a:rPr sz="17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日前96点新能源</a:t>
                      </a:r>
                      <a:endParaRPr sz="17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marL="436880" algn="l" rtl="0" eaLnBrk="0">
                        <a:lnSpc>
                          <a:spcPts val="2145"/>
                        </a:lnSpc>
                      </a:pPr>
                      <a:r>
                        <a:rPr sz="17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功率预测</a:t>
                      </a:r>
                      <a:endParaRPr sz="17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marL="431165" indent="-222250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</a:pPr>
                      <a:r>
                        <a:rPr sz="17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日前96点运行方式</a:t>
                      </a:r>
                      <a:endParaRPr sz="17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marL="101600" algn="l" rtl="0" eaLnBrk="0">
                        <a:lnSpc>
                          <a:spcPct val="84000"/>
                        </a:lnSpc>
                      </a:pPr>
                      <a:r>
                        <a:rPr sz="600" kern="0" spc="15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→</a:t>
                      </a:r>
                      <a:endParaRPr sz="6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7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marL="358140" indent="-247015" algn="l" rtl="0" eaLnBrk="0">
                        <a:lnSpc>
                          <a:spcPct val="98000"/>
                        </a:lnSpc>
                      </a:pPr>
                      <a:r>
                        <a:rPr sz="17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新能源高渗透风</a:t>
                      </a:r>
                      <a:r>
                        <a:rPr sz="17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险场景筛选</a:t>
                      </a:r>
                      <a:endParaRPr sz="17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7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marL="310515" algn="l" rtl="0" eaLnBrk="0">
                        <a:lnSpc>
                          <a:spcPct val="86000"/>
                        </a:lnSpc>
                      </a:pPr>
                      <a:r>
                        <a:rPr sz="17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安全校核</a:t>
                      </a:r>
                      <a:endParaRPr sz="17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461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1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marL="3810" algn="l" rtl="0" eaLnBrk="0">
                        <a:lnSpc>
                          <a:spcPct val="86000"/>
                        </a:lnSpc>
                      </a:pPr>
                      <a:r>
                        <a:rPr sz="2100" b="1" kern="0" spc="-10" dirty="0">
                          <a:solidFill>
                            <a:srgbClr val="E070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模式</a:t>
                      </a:r>
                      <a:endParaRPr sz="21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32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32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marL="157480" algn="l" rtl="0" eaLnBrk="0">
                        <a:lnSpc>
                          <a:spcPct val="86000"/>
                        </a:lnSpc>
                      </a:pPr>
                      <a:r>
                        <a:rPr sz="18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日内</a:t>
                      </a:r>
                      <a:endParaRPr sz="19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marL="157480" algn="l" rtl="0" eaLnBrk="0">
                        <a:lnSpc>
                          <a:spcPct val="86000"/>
                        </a:lnSpc>
                      </a:pPr>
                      <a:r>
                        <a:rPr sz="17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未来2小时内每</a:t>
                      </a:r>
                      <a:endParaRPr sz="17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marL="87630" algn="l" rtl="0" eaLnBrk="0">
                        <a:lnSpc>
                          <a:spcPts val="1700"/>
                        </a:lnSpc>
                        <a:spcBef>
                          <a:spcPts val="450"/>
                        </a:spcBef>
                      </a:pPr>
                      <a:r>
                        <a:rPr sz="17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15分钟新能源功 </a:t>
                      </a:r>
                      <a:r>
                        <a:rPr sz="3900" kern="0" spc="120" baseline="-9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→</a:t>
                      </a:r>
                      <a:endParaRPr sz="3900" baseline="-9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marL="341630" algn="l" rtl="0" eaLnBrk="0">
                        <a:lnSpc>
                          <a:spcPts val="2195"/>
                        </a:lnSpc>
                      </a:pPr>
                      <a:r>
                        <a:rPr sz="17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率滚动预测</a:t>
                      </a:r>
                      <a:endParaRPr sz="17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2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42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marL="538480" indent="-386715" algn="l" rtl="0" eaLnBrk="0">
                        <a:lnSpc>
                          <a:spcPct val="115000"/>
                        </a:lnSpc>
                        <a:spcBef>
                          <a:spcPts val="5"/>
                        </a:spcBef>
                      </a:pPr>
                      <a:r>
                        <a:rPr sz="17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日内8个运行</a:t>
                      </a:r>
                      <a:r>
                        <a:rPr sz="17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方</a:t>
                      </a:r>
                      <a:r>
                        <a:rPr sz="1700" kern="0" spc="-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 </a:t>
                      </a:r>
                      <a:r>
                        <a:rPr sz="17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式</a:t>
                      </a:r>
                      <a:endParaRPr sz="17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marL="191135" algn="l" rtl="0" eaLnBrk="0">
                        <a:lnSpc>
                          <a:spcPct val="83000"/>
                        </a:lnSpc>
                        <a:spcBef>
                          <a:spcPts val="5"/>
                        </a:spcBef>
                      </a:pPr>
                      <a:endParaRPr sz="19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marL="173990" algn="l" rtl="0" eaLnBrk="0">
                        <a:lnSpc>
                          <a:spcPct val="86000"/>
                        </a:lnSpc>
                      </a:pPr>
                      <a:r>
                        <a:rPr sz="1700" kern="0" spc="0" dirty="0">
                          <a:gradFill>
                            <a:gsLst>
                              <a:gs pos="50000">
                                <a:schemeClr val="accent1"/>
                              </a:gs>
                              <a:gs pos="0">
                                <a:schemeClr val="accent1">
                                  <a:lumMod val="25000"/>
                                  <a:lumOff val="75000"/>
                                </a:schemeClr>
                              </a:gs>
                              <a:gs pos="100000">
                                <a:schemeClr val="accent1">
                                  <a:lumMod val="85000"/>
                                </a:schemeClr>
                              </a:gs>
                            </a:gsLst>
                            <a:lin ang="5400000" scaled="1"/>
                          </a:gra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“驭电”大模型</a:t>
                      </a:r>
                      <a:endParaRPr sz="1700" kern="0" spc="0" dirty="0">
                        <a:gradFill>
                          <a:gsLst>
                            <a:gs pos="50000">
                              <a:schemeClr val="accent1"/>
                            </a:gs>
                            <a:gs pos="0">
                              <a:schemeClr val="accent1">
                                <a:lumMod val="25000"/>
                                <a:lumOff val="75000"/>
                              </a:schemeClr>
                            </a:gs>
                            <a:gs pos="100000">
                              <a:schemeClr val="accent1">
                                <a:lumMod val="85000"/>
                              </a:schemeClr>
                            </a:gs>
                          </a:gsLst>
                          <a:lin ang="5400000" scaled="1"/>
                        </a:gradFill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marL="221615" algn="l" rtl="0" eaLnBrk="0">
                        <a:lnSpc>
                          <a:spcPct val="86000"/>
                        </a:lnSpc>
                      </a:pPr>
                      <a:r>
                        <a:rPr sz="2000" kern="0" spc="-100" dirty="0">
                          <a:gradFill>
                            <a:gsLst>
                              <a:gs pos="50000">
                                <a:schemeClr val="accent1"/>
                              </a:gs>
                              <a:gs pos="0">
                                <a:schemeClr val="accent1">
                                  <a:lumMod val="25000"/>
                                  <a:lumOff val="75000"/>
                                </a:schemeClr>
                              </a:gs>
                              <a:gs pos="100000">
                                <a:schemeClr val="accent1">
                                  <a:lumMod val="85000"/>
                                </a:schemeClr>
                              </a:gs>
                            </a:gsLst>
                            <a:lin ang="5400000" scaled="1"/>
                          </a:gradFill>
                          <a:latin typeface="微软雅黑" panose="020B0503020204020204" charset="-122"/>
                          <a:ea typeface="+mn-ea"/>
                          <a:cs typeface="微软雅黑" panose="020B0503020204020204" charset="-122"/>
                        </a:rPr>
                        <a:t>驭电/DSP</a:t>
                      </a:r>
                      <a:endParaRPr sz="2000" dirty="0">
                        <a:gradFill>
                          <a:gsLst>
                            <a:gs pos="50000">
                              <a:schemeClr val="accent1"/>
                            </a:gs>
                            <a:gs pos="0">
                              <a:schemeClr val="accent1">
                                <a:lumMod val="25000"/>
                                <a:lumOff val="75000"/>
                              </a:schemeClr>
                            </a:gs>
                            <a:gs pos="100000">
                              <a:schemeClr val="accent1">
                                <a:lumMod val="85000"/>
                              </a:schemeClr>
                            </a:gs>
                          </a:gsLst>
                          <a:lin ang="5400000" scaled="1"/>
                        </a:gradFill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</a:pPr>
                      <a:endParaRPr sz="3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  <a:p>
                      <a:pPr algn="r" rtl="0" eaLnBrk="0">
                        <a:lnSpc>
                          <a:spcPct val="83000"/>
                        </a:lnSpc>
                        <a:spcBef>
                          <a:spcPts val="5"/>
                        </a:spcBef>
                      </a:pPr>
                      <a:endParaRPr sz="1400" dirty="0">
                        <a:latin typeface="微软雅黑" panose="020B0503020204020204" charset="-122"/>
                        <a:ea typeface="+mn-ea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74" name="textbox 674"/>
          <p:cNvSpPr/>
          <p:nvPr/>
        </p:nvSpPr>
        <p:spPr>
          <a:xfrm>
            <a:off x="260400" y="1246432"/>
            <a:ext cx="11696065" cy="7251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8415" algn="l" rtl="0" eaLnBrk="0">
              <a:lnSpc>
                <a:spcPct val="85000"/>
              </a:lnSpc>
            </a:pPr>
            <a:r>
              <a:rPr sz="19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驭电智能仿真系统的部署应用，</a:t>
            </a:r>
            <a:r>
              <a:rPr sz="1900" kern="0" spc="6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深刻改变了调度运行方式分析的工作模式和效率，</a:t>
            </a:r>
            <a:r>
              <a:rPr sz="1900" kern="0" spc="6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计算分析</a:t>
            </a: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耗时大幅压</a:t>
            </a:r>
            <a:endParaRPr sz="1900" b="1" kern="0" spc="70" dirty="0">
              <a:solidFill>
                <a:srgbClr val="C0202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3555"/>
              </a:lnSpc>
            </a:pP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缩，工作效率显著提高，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成为解决高比例新能源系统安全分析工作痛点的</a:t>
            </a: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核心工具。</a:t>
            </a:r>
            <a:endParaRPr sz="1900" b="1" kern="0" spc="70" dirty="0">
              <a:solidFill>
                <a:srgbClr val="C0202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6" name="textbox 676"/>
          <p:cNvSpPr/>
          <p:nvPr/>
        </p:nvSpPr>
        <p:spPr>
          <a:xfrm>
            <a:off x="438812" y="152372"/>
            <a:ext cx="9270365" cy="6337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8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3800" b="1" kern="0" spc="-180" dirty="0">
                <a:solidFill>
                  <a:srgbClr val="406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4.深刻改变调度运行方式分析工作模式 </a:t>
            </a:r>
            <a:r>
              <a:rPr sz="3800" kern="0" spc="0" dirty="0">
                <a:solidFill>
                  <a:srgbClr val="3060B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 </a:t>
            </a:r>
            <a:endParaRPr sz="38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682" name="textbox 682"/>
          <p:cNvSpPr/>
          <p:nvPr/>
        </p:nvSpPr>
        <p:spPr>
          <a:xfrm>
            <a:off x="4083080" y="3870325"/>
            <a:ext cx="1201420" cy="5689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240665" indent="-227965" algn="l" rtl="0" eaLnBrk="0">
              <a:lnSpc>
                <a:spcPct val="107000"/>
              </a:lnSpc>
            </a:pPr>
            <a:r>
              <a:rPr sz="1700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常规电厂出</a:t>
            </a:r>
            <a:r>
              <a:rPr sz="17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力安排</a:t>
            </a:r>
            <a:endParaRPr sz="17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684" name="textbox 684"/>
          <p:cNvSpPr/>
          <p:nvPr/>
        </p:nvSpPr>
        <p:spPr>
          <a:xfrm>
            <a:off x="4083080" y="5996676"/>
            <a:ext cx="1214120" cy="5219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893" rIns="0" bIns="0"/>
          <a:lstStyle/>
          <a:p>
            <a:pPr marL="240665" indent="-227965" algn="l" rtl="0" eaLnBrk="0">
              <a:lnSpc>
                <a:spcPct val="98000"/>
              </a:lnSpc>
              <a:spcBef>
                <a:spcPts val="5"/>
              </a:spcBef>
            </a:pPr>
            <a:r>
              <a:rPr sz="1700" kern="0" spc="1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实时市场出</a:t>
            </a:r>
            <a:r>
              <a:rPr sz="1700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清结果</a:t>
            </a:r>
            <a:endParaRPr sz="17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686" name="textbox 686"/>
          <p:cNvSpPr/>
          <p:nvPr/>
        </p:nvSpPr>
        <p:spPr>
          <a:xfrm>
            <a:off x="4025899" y="2358163"/>
            <a:ext cx="1171575" cy="528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9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222250" indent="-209550" algn="l" rtl="0" eaLnBrk="0">
              <a:lnSpc>
                <a:spcPct val="99000"/>
              </a:lnSpc>
            </a:pP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电厂出力计</a:t>
            </a:r>
            <a:r>
              <a:rPr sz="17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划安排</a:t>
            </a:r>
            <a:endParaRPr sz="17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688" name="textbox 688"/>
          <p:cNvSpPr/>
          <p:nvPr/>
        </p:nvSpPr>
        <p:spPr>
          <a:xfrm>
            <a:off x="4114779" y="4910849"/>
            <a:ext cx="1182370" cy="5219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893" rIns="0" bIns="0"/>
          <a:lstStyle/>
          <a:p>
            <a:pPr marL="209550" indent="-196850" algn="l" rtl="0" eaLnBrk="0">
              <a:lnSpc>
                <a:spcPct val="98000"/>
              </a:lnSpc>
              <a:spcBef>
                <a:spcPts val="5"/>
              </a:spcBef>
            </a:pPr>
            <a:r>
              <a:rPr sz="17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日前市场出</a:t>
            </a:r>
            <a:r>
              <a:rPr sz="1700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清结果</a:t>
            </a:r>
            <a:endParaRPr sz="17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692" name="textbox 692"/>
          <p:cNvSpPr/>
          <p:nvPr/>
        </p:nvSpPr>
        <p:spPr>
          <a:xfrm>
            <a:off x="8312120" y="4040911"/>
            <a:ext cx="956310" cy="2489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700" kern="0" spc="120" dirty="0">
                <a:solidFill>
                  <a:srgbClr val="C0102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高速计算</a:t>
            </a:r>
            <a:endParaRPr sz="17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694" name="textbox 694"/>
          <p:cNvSpPr/>
          <p:nvPr/>
        </p:nvSpPr>
        <p:spPr>
          <a:xfrm>
            <a:off x="3486160" y="2603026"/>
            <a:ext cx="299720" cy="1022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4000"/>
              </a:lnSpc>
            </a:pPr>
            <a:r>
              <a:rPr sz="600" kern="0" spc="15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→</a:t>
            </a:r>
            <a:endParaRPr sz="6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696" name="textbox 696"/>
          <p:cNvSpPr/>
          <p:nvPr/>
        </p:nvSpPr>
        <p:spPr>
          <a:xfrm>
            <a:off x="3606860" y="4120633"/>
            <a:ext cx="299720" cy="1022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4000"/>
              </a:lnSpc>
            </a:pPr>
            <a:r>
              <a:rPr sz="600" kern="0" spc="15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→</a:t>
            </a:r>
            <a:endParaRPr sz="6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698" name="textbox 698"/>
          <p:cNvSpPr/>
          <p:nvPr/>
        </p:nvSpPr>
        <p:spPr>
          <a:xfrm>
            <a:off x="3606860" y="5123958"/>
            <a:ext cx="299720" cy="1022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4000"/>
              </a:lnSpc>
            </a:pPr>
            <a:r>
              <a:rPr sz="600" kern="0" spc="15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→</a:t>
            </a:r>
            <a:endParaRPr sz="6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pic>
        <p:nvPicPr>
          <p:cNvPr id="4" name="图片 3" descr="6cde40784377123e03ac5bc6573903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5535" y="5871210"/>
            <a:ext cx="390525" cy="400050"/>
          </a:xfrm>
          <a:prstGeom prst="rect">
            <a:avLst/>
          </a:prstGeom>
        </p:spPr>
      </p:pic>
      <p:pic>
        <p:nvPicPr>
          <p:cNvPr id="5" name="图片 4" descr="6cde40784377123e03ac5bc6573903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60000">
            <a:off x="3467100" y="2479675"/>
            <a:ext cx="338455" cy="346710"/>
          </a:xfrm>
          <a:prstGeom prst="rect">
            <a:avLst/>
          </a:prstGeom>
        </p:spPr>
      </p:pic>
      <p:pic>
        <p:nvPicPr>
          <p:cNvPr id="7" name="图片 6" descr="6cde40784377123e03ac5bc6573903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60000">
            <a:off x="5417820" y="2482850"/>
            <a:ext cx="338455" cy="346710"/>
          </a:xfrm>
          <a:prstGeom prst="rect">
            <a:avLst/>
          </a:prstGeom>
        </p:spPr>
      </p:pic>
      <p:pic>
        <p:nvPicPr>
          <p:cNvPr id="8" name="图片 7" descr="6cde40784377123e03ac5bc6573903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60000">
            <a:off x="9813290" y="2420620"/>
            <a:ext cx="338455" cy="346710"/>
          </a:xfrm>
          <a:prstGeom prst="rect">
            <a:avLst/>
          </a:prstGeom>
        </p:spPr>
      </p:pic>
      <p:pic>
        <p:nvPicPr>
          <p:cNvPr id="9" name="图片 8" descr="6cde40784377123e03ac5bc6573903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60000">
            <a:off x="7520940" y="4973320"/>
            <a:ext cx="338455" cy="346710"/>
          </a:xfrm>
          <a:prstGeom prst="rect">
            <a:avLst/>
          </a:prstGeom>
        </p:spPr>
      </p:pic>
      <p:pic>
        <p:nvPicPr>
          <p:cNvPr id="10" name="图片 9" descr="6cde40784377123e03ac5bc6573903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720000">
            <a:off x="7619365" y="4107180"/>
            <a:ext cx="390525" cy="400050"/>
          </a:xfrm>
          <a:prstGeom prst="rect">
            <a:avLst/>
          </a:prstGeom>
        </p:spPr>
      </p:pic>
      <p:pic>
        <p:nvPicPr>
          <p:cNvPr id="11" name="图片 10"/>
          <p:cNvPicPr/>
          <p:nvPr/>
        </p:nvPicPr>
        <p:blipFill>
          <a:blip r:embed="rId3"/>
          <a:stretch>
            <a:fillRect/>
          </a:stretch>
        </p:blipFill>
        <p:spPr>
          <a:xfrm>
            <a:off x="11050270" y="0"/>
            <a:ext cx="896620" cy="899795"/>
          </a:xfrm>
          <a:prstGeom prst="rect">
            <a:avLst/>
          </a:prstGeom>
        </p:spPr>
      </p:pic>
      <p:sp>
        <p:nvSpPr>
          <p:cNvPr id="116" name="textbox 116"/>
          <p:cNvSpPr/>
          <p:nvPr/>
        </p:nvSpPr>
        <p:spPr>
          <a:xfrm>
            <a:off x="11887835" y="6435090"/>
            <a:ext cx="257175" cy="222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lang="en-US" sz="15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17</a:t>
            </a:r>
            <a:endParaRPr lang="en-US" sz="1500" b="1" kern="0" spc="-1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0" name="picture 7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77759" y="1060452"/>
            <a:ext cx="11830141" cy="5797547"/>
          </a:xfrm>
          <a:prstGeom prst="rect">
            <a:avLst/>
          </a:prstGeom>
        </p:spPr>
      </p:pic>
      <p:sp>
        <p:nvSpPr>
          <p:cNvPr id="702" name="textbox 702"/>
          <p:cNvSpPr/>
          <p:nvPr/>
        </p:nvSpPr>
        <p:spPr>
          <a:xfrm>
            <a:off x="615919" y="2232426"/>
            <a:ext cx="11271885" cy="12211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900" kern="0" spc="1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应用于</a:t>
            </a: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云南电网2026年运行方式计算，</a:t>
            </a:r>
            <a:r>
              <a:rPr sz="1900" kern="0" spc="1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原来5人60天的工作量，</a:t>
            </a:r>
            <a:r>
              <a:rPr sz="1900" kern="0" spc="8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1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现在1个人3天即完成，</a:t>
            </a:r>
            <a:r>
              <a:rPr sz="1900" b="1" kern="0" spc="1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效率提升</a:t>
            </a:r>
            <a:endParaRPr sz="19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163000"/>
              </a:lnSpc>
              <a:spcBef>
                <a:spcPts val="30"/>
              </a:spcBef>
            </a:pP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100倍 ，</a:t>
            </a:r>
            <a:r>
              <a:rPr sz="1900" kern="0" spc="2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分析场景的全面性较典型方式提升</a:t>
            </a:r>
            <a:r>
              <a:rPr sz="1900" kern="0" spc="2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上千倍。而且还精准发现14条线路、40台变压器的全</a:t>
            </a:r>
            <a:r>
              <a:rPr sz="19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年存在时段性过载风险，</a:t>
            </a:r>
            <a:r>
              <a:rPr sz="1900" kern="0" spc="6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弥补了人工研判漏洞</a:t>
            </a:r>
            <a:r>
              <a:rPr sz="19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4" name="textbox 704"/>
          <p:cNvSpPr/>
          <p:nvPr/>
        </p:nvSpPr>
        <p:spPr>
          <a:xfrm>
            <a:off x="615919" y="1317980"/>
            <a:ext cx="11278870" cy="7169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在年度、月度方式分析中，利用模型强大的海量运行方式高效生成和潮</a:t>
            </a:r>
            <a:r>
              <a:rPr sz="19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流自动调整收敛功能，</a:t>
            </a:r>
            <a:r>
              <a:rPr sz="1900" kern="0" spc="6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实现小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3495"/>
              </a:lnSpc>
            </a:pP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时级的运行方式精细化分析。</a:t>
            </a:r>
            <a:endParaRPr sz="1900" b="1" kern="0" spc="70" dirty="0">
              <a:solidFill>
                <a:srgbClr val="C0202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6" name="textbox 706"/>
          <p:cNvSpPr/>
          <p:nvPr/>
        </p:nvSpPr>
        <p:spPr>
          <a:xfrm>
            <a:off x="438812" y="253843"/>
            <a:ext cx="7240269" cy="5257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000"/>
              </a:lnSpc>
            </a:pPr>
            <a:r>
              <a:rPr sz="3800" b="1" kern="0" spc="-180" dirty="0">
                <a:solidFill>
                  <a:srgbClr val="406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5.中调年度/月度运行方式应用效果</a:t>
            </a:r>
            <a:endParaRPr sz="3800" b="1" kern="0" spc="-180" dirty="0">
              <a:solidFill>
                <a:srgbClr val="406080">
                  <a:alpha val="100000"/>
                </a:srgbClr>
              </a:solidFill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708" name="textbox 708"/>
          <p:cNvSpPr/>
          <p:nvPr/>
        </p:nvSpPr>
        <p:spPr>
          <a:xfrm>
            <a:off x="7518421" y="4072382"/>
            <a:ext cx="3629659" cy="7772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5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indent="438150" algn="l" rtl="0" eaLnBrk="0">
              <a:lnSpc>
                <a:spcPct val="104000"/>
              </a:lnSpc>
              <a:tabLst>
                <a:tab pos="418465" algn="l"/>
              </a:tabLst>
            </a:pPr>
            <a:r>
              <a:rPr sz="16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从年度的4个典型方式细化为</a:t>
            </a:r>
            <a:r>
              <a:rPr sz="16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   </a:t>
            </a:r>
            <a:r>
              <a:rPr sz="16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8760/720个方式，风险</a:t>
            </a:r>
            <a:r>
              <a:rPr sz="16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揭示更全面，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	</a:t>
            </a:r>
            <a:r>
              <a:rPr sz="16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火电、检修计划安排更加清</a:t>
            </a:r>
            <a:r>
              <a:rPr sz="16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晰</a:t>
            </a:r>
            <a:endParaRPr sz="16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710" name="textbox 710"/>
          <p:cNvSpPr/>
          <p:nvPr/>
        </p:nvSpPr>
        <p:spPr>
          <a:xfrm>
            <a:off x="4578319" y="5100305"/>
            <a:ext cx="1848485" cy="12217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0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indent="95250" algn="l" rtl="0" eaLnBrk="0">
              <a:lnSpc>
                <a:spcPct val="104000"/>
              </a:lnSpc>
            </a:pPr>
            <a:r>
              <a:rPr sz="1500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学习灵敏度、电气</a:t>
            </a:r>
            <a:r>
              <a:rPr sz="1500" kern="0" spc="2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距离和拓扑距离等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多种无功调压方法，</a:t>
            </a:r>
            <a:r>
              <a:rPr sz="1500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辅</a:t>
            </a:r>
            <a:r>
              <a:rPr sz="1500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</a:t>
            </a:r>
            <a:r>
              <a:rPr sz="1500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助N-1</a:t>
            </a:r>
            <a:r>
              <a:rPr sz="1500" kern="0" spc="-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</a:t>
            </a:r>
            <a:r>
              <a:rPr sz="1500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过载的有</a:t>
            </a:r>
            <a:r>
              <a:rPr sz="1500" kern="0" spc="2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功调控方法，合理</a:t>
            </a:r>
            <a:endParaRPr sz="15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712" name="textbox 712"/>
          <p:cNvSpPr/>
          <p:nvPr/>
        </p:nvSpPr>
        <p:spPr>
          <a:xfrm>
            <a:off x="2692460" y="5088112"/>
            <a:ext cx="1663700" cy="12338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6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102000"/>
              </a:lnSpc>
            </a:pP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实现基于电力电量</a:t>
            </a:r>
            <a:r>
              <a:rPr sz="16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平衡分析(生产运</a:t>
            </a:r>
            <a:r>
              <a:rPr sz="16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行模拟或电力市场</a:t>
            </a:r>
            <a:r>
              <a:rPr sz="1500" kern="0" spc="3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仿真)的8760小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时运行方式自动生</a:t>
            </a:r>
            <a:endParaRPr sz="15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714" name="textbox 714"/>
          <p:cNvSpPr/>
          <p:nvPr/>
        </p:nvSpPr>
        <p:spPr>
          <a:xfrm>
            <a:off x="7480300" y="5894705"/>
            <a:ext cx="3724275" cy="12439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9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16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提升针对新能源高渗透率场景的系统分</a:t>
            </a:r>
            <a:r>
              <a:rPr sz="1600" kern="0" spc="1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析能力，尽量减少新能源弃电量(十</a:t>
            </a:r>
            <a:r>
              <a:rPr sz="1600" kern="0" spc="1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五</a:t>
            </a:r>
            <a:endParaRPr sz="1600" kern="0" spc="15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98000"/>
              </a:lnSpc>
            </a:pPr>
            <a:r>
              <a:rPr lang="zh-CN" sz="1600" dirty="0">
                <a:latin typeface="微软雅黑" panose="020B0503020204020204" charset="-122"/>
                <a:ea typeface="+mn-ea"/>
                <a:cs typeface="微软雅黑" panose="020B0503020204020204" charset="-122"/>
              </a:rPr>
              <a:t>五期间约</a:t>
            </a:r>
            <a:r>
              <a:rPr lang="en-US" altLang="zh-CN" sz="1600" dirty="0">
                <a:latin typeface="微软雅黑" panose="020B0503020204020204" charset="-122"/>
                <a:ea typeface="+mn-ea"/>
                <a:cs typeface="微软雅黑" panose="020B0503020204020204" charset="-122"/>
              </a:rPr>
              <a:t>180~300</a:t>
            </a:r>
            <a:r>
              <a:rPr lang="zh-CN" altLang="en-US" sz="1600" dirty="0">
                <a:latin typeface="微软雅黑" panose="020B0503020204020204" charset="-122"/>
                <a:ea typeface="+mn-ea"/>
                <a:cs typeface="微软雅黑" panose="020B0503020204020204" charset="-122"/>
              </a:rPr>
              <a:t>千</a:t>
            </a:r>
            <a:r>
              <a:rPr lang="zh-CN" altLang="en-US" sz="1600" dirty="0">
                <a:latin typeface="微软雅黑" panose="020B0503020204020204" charset="-122"/>
                <a:ea typeface="+mn-ea"/>
                <a:cs typeface="微软雅黑" panose="020B0503020204020204" charset="-122"/>
              </a:rPr>
              <a:t>瓦时）</a:t>
            </a:r>
            <a:endParaRPr lang="zh-CN" altLang="en-US" sz="16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716" name="textbox 716"/>
          <p:cNvSpPr/>
          <p:nvPr/>
        </p:nvSpPr>
        <p:spPr>
          <a:xfrm>
            <a:off x="6743740" y="5087503"/>
            <a:ext cx="4451350" cy="2387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ts val="1680"/>
              </a:lnSpc>
            </a:pPr>
            <a:r>
              <a:rPr sz="3600" kern="0" spc="50" baseline="-11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→</a:t>
            </a:r>
            <a:r>
              <a:rPr sz="2300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 </a:t>
            </a:r>
            <a:r>
              <a:rPr lang="en-US" sz="2300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  </a:t>
            </a:r>
            <a:r>
              <a:rPr sz="2300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</a:t>
            </a:r>
            <a:r>
              <a:rPr sz="1600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可提前一年动态揭示小时尺度的线路</a:t>
            </a:r>
            <a:r>
              <a:rPr sz="16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、</a:t>
            </a:r>
            <a:endParaRPr sz="16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720" name="textbox 720"/>
          <p:cNvSpPr/>
          <p:nvPr/>
        </p:nvSpPr>
        <p:spPr>
          <a:xfrm>
            <a:off x="2692461" y="4233382"/>
            <a:ext cx="1678304" cy="539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488315" indent="-475615" algn="l" rtl="0" eaLnBrk="0">
              <a:lnSpc>
                <a:spcPct val="89000"/>
              </a:lnSpc>
            </a:pPr>
            <a:r>
              <a:rPr sz="1700" b="1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海量运行方式自动构建</a:t>
            </a:r>
            <a:endParaRPr sz="1700" b="1" kern="0" spc="11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724" name="textbox 724"/>
          <p:cNvSpPr/>
          <p:nvPr/>
        </p:nvSpPr>
        <p:spPr>
          <a:xfrm>
            <a:off x="3054350" y="3723640"/>
            <a:ext cx="3208655" cy="248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700" b="1" kern="0" spc="1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8760/720小时潮流生成方式</a:t>
            </a:r>
            <a:endParaRPr sz="1700" b="1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726" name="textbox 726"/>
          <p:cNvSpPr/>
          <p:nvPr/>
        </p:nvSpPr>
        <p:spPr>
          <a:xfrm>
            <a:off x="615919" y="5061873"/>
            <a:ext cx="1195070" cy="5187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3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3190" indent="-110490" algn="l" rtl="0" eaLnBrk="0">
              <a:lnSpc>
                <a:spcPct val="97000"/>
              </a:lnSpc>
            </a:pPr>
            <a:endParaRPr sz="17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728" name="textbox 728"/>
          <p:cNvSpPr/>
          <p:nvPr/>
        </p:nvSpPr>
        <p:spPr>
          <a:xfrm>
            <a:off x="5044946" y="4253714"/>
            <a:ext cx="962025" cy="514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6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indent="5715" algn="l" rtl="0" eaLnBrk="0">
              <a:lnSpc>
                <a:spcPct val="96000"/>
              </a:lnSpc>
            </a:pPr>
            <a:r>
              <a:rPr sz="1700" b="1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潮流自动调整收敛</a:t>
            </a:r>
            <a:endParaRPr sz="17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732" name="textbox 732"/>
          <p:cNvSpPr/>
          <p:nvPr/>
        </p:nvSpPr>
        <p:spPr>
          <a:xfrm>
            <a:off x="8369300" y="5374698"/>
            <a:ext cx="2008504" cy="2355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6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主变重过载风险隐患</a:t>
            </a:r>
            <a:endParaRPr sz="16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734" name="textbox 734"/>
          <p:cNvSpPr/>
          <p:nvPr/>
        </p:nvSpPr>
        <p:spPr>
          <a:xfrm>
            <a:off x="708660" y="4768215"/>
            <a:ext cx="1200150" cy="9899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r>
              <a:rPr sz="1800" b="1" kern="0" spc="-1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“</a:t>
            </a:r>
            <a:r>
              <a:rPr sz="1800" b="1" kern="0" spc="-1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驭电”</a:t>
            </a:r>
            <a:r>
              <a:rPr sz="1800" b="1" kern="0" spc="-1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与</a:t>
            </a:r>
            <a:r>
              <a:rPr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DSP</a:t>
            </a:r>
            <a:r>
              <a:rPr kern="0" spc="3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b="1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融合的智能仿真</a:t>
            </a:r>
            <a:endParaRPr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algn="r" rtl="0" eaLnBrk="0">
              <a:lnSpc>
                <a:spcPct val="88000"/>
              </a:lnSpc>
            </a:pPr>
            <a:endParaRPr sz="18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736" name="textbox 736"/>
          <p:cNvSpPr/>
          <p:nvPr/>
        </p:nvSpPr>
        <p:spPr>
          <a:xfrm>
            <a:off x="4794239" y="6313904"/>
            <a:ext cx="1468120" cy="2216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化自动生成方式</a:t>
            </a:r>
            <a:endParaRPr sz="15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740" name="textbox 740"/>
          <p:cNvSpPr/>
          <p:nvPr/>
        </p:nvSpPr>
        <p:spPr>
          <a:xfrm>
            <a:off x="9099601" y="3687518"/>
            <a:ext cx="509269" cy="2755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9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成效</a:t>
            </a:r>
            <a:endParaRPr sz="1900" b="1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742" name="textbox 742"/>
          <p:cNvSpPr/>
          <p:nvPr/>
        </p:nvSpPr>
        <p:spPr>
          <a:xfrm>
            <a:off x="3416300" y="6321641"/>
            <a:ext cx="219075" cy="231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成</a:t>
            </a:r>
            <a:endParaRPr sz="16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744" name="textbox 744"/>
          <p:cNvSpPr/>
          <p:nvPr/>
        </p:nvSpPr>
        <p:spPr>
          <a:xfrm>
            <a:off x="2038360" y="5155711"/>
            <a:ext cx="299720" cy="1022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4000"/>
              </a:lnSpc>
            </a:pPr>
            <a:r>
              <a:rPr sz="600" kern="0" spc="15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→</a:t>
            </a:r>
            <a:endParaRPr sz="6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pic>
        <p:nvPicPr>
          <p:cNvPr id="11" name="图片 10"/>
          <p:cNvPicPr/>
          <p:nvPr/>
        </p:nvPicPr>
        <p:blipFill>
          <a:blip r:embed="rId3"/>
          <a:stretch>
            <a:fillRect/>
          </a:stretch>
        </p:blipFill>
        <p:spPr>
          <a:xfrm>
            <a:off x="11050270" y="0"/>
            <a:ext cx="896620" cy="899795"/>
          </a:xfrm>
          <a:prstGeom prst="rect">
            <a:avLst/>
          </a:prstGeom>
        </p:spPr>
      </p:pic>
      <p:sp>
        <p:nvSpPr>
          <p:cNvPr id="2" name="textbox 116"/>
          <p:cNvSpPr/>
          <p:nvPr/>
        </p:nvSpPr>
        <p:spPr>
          <a:xfrm>
            <a:off x="11887835" y="6435090"/>
            <a:ext cx="257175" cy="222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lang="en-US" sz="15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18</a:t>
            </a:r>
            <a:endParaRPr lang="en-US" sz="1500" b="1" kern="0" spc="-1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6" name="picture 7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79440" y="3117852"/>
            <a:ext cx="11296621" cy="3683020"/>
          </a:xfrm>
          <a:prstGeom prst="rect">
            <a:avLst/>
          </a:prstGeom>
        </p:spPr>
      </p:pic>
      <p:sp>
        <p:nvSpPr>
          <p:cNvPr id="748" name="textbox 748"/>
          <p:cNvSpPr/>
          <p:nvPr/>
        </p:nvSpPr>
        <p:spPr>
          <a:xfrm>
            <a:off x="184099" y="1016013"/>
            <a:ext cx="11830685" cy="1987550"/>
          </a:xfrm>
          <a:prstGeom prst="rect">
            <a:avLst/>
          </a:prstGeom>
          <a:solidFill>
            <a:srgbClr val="ECECE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9000"/>
              </a:lnSpc>
            </a:pPr>
            <a:endParaRPr sz="10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438150" algn="l" rtl="0" eaLnBrk="0">
              <a:lnSpc>
                <a:spcPct val="85000"/>
              </a:lnSpc>
            </a:pPr>
            <a:r>
              <a:rPr sz="19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日前方式、</a:t>
            </a:r>
            <a:r>
              <a:rPr sz="1900" kern="0" spc="-3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日内调度业务场景中， 实现</a:t>
            </a: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日前对次日96点电力市场出清结果、 日内每15分钟对未来2小</a:t>
            </a:r>
            <a:endParaRPr sz="1900" b="1" kern="0" spc="70" dirty="0">
              <a:solidFill>
                <a:srgbClr val="C0202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38150" algn="l" rtl="0" eaLnBrk="0">
              <a:lnSpc>
                <a:spcPts val="3600"/>
              </a:lnSpc>
            </a:pP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时8个点运行态势的自动分析研判。</a:t>
            </a:r>
            <a:endParaRPr sz="19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38150" algn="l" rtl="0" eaLnBrk="0">
              <a:lnSpc>
                <a:spcPct val="159000"/>
              </a:lnSpc>
              <a:spcBef>
                <a:spcPts val="365"/>
              </a:spcBef>
            </a:pP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利用新能源15分钟高精度预测结果，自 动生成方式并进行安全校核， 支撑实时市场出清和安稳策略在线优化，</a:t>
            </a:r>
            <a:r>
              <a:rPr sz="1900" kern="0" spc="-390" dirty="0">
                <a:solidFill>
                  <a:srgbClr val="E0101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确保系统运行在安全稳定区域。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0" name="textbox 750"/>
          <p:cNvSpPr/>
          <p:nvPr/>
        </p:nvSpPr>
        <p:spPr>
          <a:xfrm>
            <a:off x="445135" y="266700"/>
            <a:ext cx="7395210" cy="5257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000"/>
              </a:lnSpc>
            </a:pPr>
            <a:r>
              <a:rPr sz="3800" b="1" kern="0" spc="-180" dirty="0">
                <a:solidFill>
                  <a:srgbClr val="406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6.中调日前/日内调度运行应用效果</a:t>
            </a:r>
            <a:endParaRPr sz="3800" b="1" kern="0" spc="-180" dirty="0">
              <a:solidFill>
                <a:srgbClr val="406080">
                  <a:alpha val="100000"/>
                </a:srgbClr>
              </a:solidFill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752" name="textbox 752"/>
          <p:cNvSpPr/>
          <p:nvPr/>
        </p:nvSpPr>
        <p:spPr>
          <a:xfrm>
            <a:off x="1847799" y="4847343"/>
            <a:ext cx="2360930" cy="1339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5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711200" indent="-698500" algn="l" rtl="0" eaLnBrk="0">
              <a:lnSpc>
                <a:spcPct val="95000"/>
              </a:lnSpc>
            </a:pPr>
            <a:r>
              <a:rPr sz="3600" kern="0" spc="90" baseline="-14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→</a:t>
            </a:r>
            <a:r>
              <a:rPr sz="2300" kern="0" spc="5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 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集成到云南在线生产仿真系统，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实现潮流收敛性</a:t>
            </a:r>
            <a:r>
              <a:rPr sz="17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调整、静态安全</a:t>
            </a:r>
            <a:r>
              <a:rPr sz="17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稳定分析等功能</a:t>
            </a:r>
            <a:endParaRPr sz="17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754" name="textbox 754"/>
          <p:cNvSpPr/>
          <p:nvPr/>
        </p:nvSpPr>
        <p:spPr>
          <a:xfrm>
            <a:off x="7442221" y="4179961"/>
            <a:ext cx="3694430" cy="508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9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589915" indent="-577215" algn="l" rtl="0" eaLnBrk="0">
              <a:lnSpc>
                <a:spcPct val="95000"/>
              </a:lnSpc>
            </a:pP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实现短周期时间尺度的滚动校核，为系统精细化运行提供支撑</a:t>
            </a:r>
            <a:endParaRPr sz="17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756" name="textbox 756"/>
          <p:cNvSpPr/>
          <p:nvPr/>
        </p:nvSpPr>
        <p:spPr>
          <a:xfrm>
            <a:off x="7435880" y="5628401"/>
            <a:ext cx="3711575" cy="501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469900" indent="-457200" algn="l" rtl="0" eaLnBrk="0">
              <a:lnSpc>
                <a:spcPct val="94000"/>
              </a:lnSpc>
            </a:pPr>
            <a:r>
              <a:rPr sz="17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动态刻画系统运行安全裕度，从仿真分析能力上支撑新能源消纳</a:t>
            </a:r>
            <a:endParaRPr sz="17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758" name="textbox 758"/>
          <p:cNvSpPr/>
          <p:nvPr/>
        </p:nvSpPr>
        <p:spPr>
          <a:xfrm>
            <a:off x="4508500" y="4701540"/>
            <a:ext cx="1661795" cy="1670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7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105000"/>
              </a:lnSpc>
            </a:pPr>
            <a:r>
              <a:rPr sz="17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当前使用驭电快速筛出高静态风</a:t>
            </a:r>
            <a:r>
              <a:rPr sz="1700" kern="0" spc="3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险情况，使用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DSP</a:t>
            </a:r>
            <a:r>
              <a:rPr sz="1700" kern="0" spc="4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</a:t>
            </a:r>
            <a:r>
              <a:rPr sz="17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进行安全计</a:t>
            </a:r>
            <a:r>
              <a:rPr sz="1700" kern="0" spc="-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算 (</a:t>
            </a:r>
            <a:r>
              <a:rPr sz="1700" kern="0" spc="-2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700" kern="0" spc="-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驭 电V2.0</a:t>
            </a:r>
            <a:r>
              <a:rPr sz="1700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700" kern="0" spc="-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可</a:t>
            </a:r>
            <a:r>
              <a:rPr sz="17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覆</a:t>
            </a:r>
            <a:r>
              <a:rPr sz="1700" kern="0" spc="-3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7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盖</a:t>
            </a:r>
            <a:r>
              <a:rPr sz="1700" kern="0" spc="-3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7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endParaRPr sz="17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105000"/>
              </a:lnSpc>
            </a:pPr>
            <a:endParaRPr sz="17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760" name="textbox 760"/>
          <p:cNvSpPr/>
          <p:nvPr/>
        </p:nvSpPr>
        <p:spPr>
          <a:xfrm>
            <a:off x="3073460" y="3230364"/>
            <a:ext cx="6471920" cy="2755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日前、</a:t>
            </a:r>
            <a:r>
              <a:rPr sz="1700" b="1" kern="0" spc="-2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日内96点运行方式</a:t>
            </a:r>
            <a:r>
              <a:rPr sz="1700" b="1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             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                </a:t>
            </a:r>
            <a:r>
              <a:rPr lang="en-US" sz="17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                    </a:t>
            </a:r>
            <a:r>
              <a:rPr sz="1900" b="1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成效</a:t>
            </a:r>
            <a:endParaRPr sz="1900" b="1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762" name="textbox 762"/>
          <p:cNvSpPr/>
          <p:nvPr/>
        </p:nvSpPr>
        <p:spPr>
          <a:xfrm>
            <a:off x="2546401" y="3973291"/>
            <a:ext cx="1665604" cy="613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475615" indent="-462915" algn="l" rtl="0" eaLnBrk="0">
              <a:lnSpc>
                <a:spcPct val="109000"/>
              </a:lnSpc>
            </a:pPr>
            <a:r>
              <a:rPr sz="19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在线运行方式自</a:t>
            </a:r>
            <a:r>
              <a:rPr sz="1700" kern="0" spc="1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动生成</a:t>
            </a:r>
            <a:endParaRPr sz="17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764" name="textbox 764"/>
          <p:cNvSpPr/>
          <p:nvPr/>
        </p:nvSpPr>
        <p:spPr>
          <a:xfrm>
            <a:off x="4508459" y="3833594"/>
            <a:ext cx="1678304" cy="577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1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488950" indent="-476250" algn="l" rtl="0" eaLnBrk="0">
              <a:lnSpc>
                <a:spcPct val="97000"/>
              </a:lnSpc>
            </a:pPr>
            <a:r>
              <a:rPr sz="19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在线运行方式自</a:t>
            </a:r>
            <a:r>
              <a:rPr sz="19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动校核</a:t>
            </a:r>
            <a:endParaRPr sz="19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766" name="textbox 766"/>
          <p:cNvSpPr/>
          <p:nvPr/>
        </p:nvSpPr>
        <p:spPr>
          <a:xfrm>
            <a:off x="4508459" y="5799851"/>
            <a:ext cx="1660525" cy="571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7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495300" indent="-482600" algn="l" rtl="0" eaLnBrk="0">
              <a:lnSpc>
                <a:spcPct val="107000"/>
              </a:lnSpc>
            </a:pPr>
            <a:endParaRPr sz="17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780" name="textbox 780"/>
          <p:cNvSpPr/>
          <p:nvPr/>
        </p:nvSpPr>
        <p:spPr>
          <a:xfrm>
            <a:off x="11553190" y="6451600"/>
            <a:ext cx="513715" cy="215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algn="r" rtl="0" eaLnBrk="0">
              <a:lnSpc>
                <a:spcPct val="83000"/>
              </a:lnSpc>
            </a:pPr>
            <a:r>
              <a:rPr sz="1500" b="1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19</a:t>
            </a:r>
            <a:endParaRPr sz="15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782" name="textbox 782"/>
          <p:cNvSpPr/>
          <p:nvPr/>
        </p:nvSpPr>
        <p:spPr>
          <a:xfrm>
            <a:off x="6591340" y="4952508"/>
            <a:ext cx="299720" cy="1022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4000"/>
              </a:lnSpc>
            </a:pPr>
            <a:r>
              <a:rPr sz="600" kern="0" spc="15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→</a:t>
            </a:r>
            <a:endParaRPr sz="6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pic>
        <p:nvPicPr>
          <p:cNvPr id="2" name="图片 1" descr="post_object_image_28872366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" y="1238908"/>
            <a:ext cx="294184" cy="294184"/>
          </a:xfrm>
          <a:prstGeom prst="rect">
            <a:avLst/>
          </a:prstGeom>
        </p:spPr>
      </p:pic>
      <p:pic>
        <p:nvPicPr>
          <p:cNvPr id="3" name="图片 2" descr="post_object_image_28872366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" y="2136342"/>
            <a:ext cx="294184" cy="294184"/>
          </a:xfrm>
          <a:prstGeom prst="rect">
            <a:avLst/>
          </a:prstGeom>
        </p:spPr>
      </p:pic>
      <p:sp>
        <p:nvSpPr>
          <p:cNvPr id="734" name="textbox 734"/>
          <p:cNvSpPr/>
          <p:nvPr/>
        </p:nvSpPr>
        <p:spPr>
          <a:xfrm>
            <a:off x="544195" y="4586605"/>
            <a:ext cx="1200150" cy="9899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r>
              <a:rPr sz="1800" b="1" kern="0" spc="-1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“</a:t>
            </a:r>
            <a:r>
              <a:rPr sz="1800" b="1" kern="0" spc="-1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驭电”</a:t>
            </a:r>
            <a:r>
              <a:rPr sz="1800" b="1" kern="0" spc="-1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与</a:t>
            </a:r>
            <a:r>
              <a:rPr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DSP</a:t>
            </a:r>
            <a:r>
              <a:rPr kern="0" spc="3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b="1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融合的智能仿真</a:t>
            </a:r>
            <a:endParaRPr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algn="r" rtl="0" eaLnBrk="0">
              <a:lnSpc>
                <a:spcPct val="88000"/>
              </a:lnSpc>
            </a:pPr>
            <a:endParaRPr sz="18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pic>
        <p:nvPicPr>
          <p:cNvPr id="11" name="图片 10"/>
          <p:cNvPicPr/>
          <p:nvPr/>
        </p:nvPicPr>
        <p:blipFill>
          <a:blip r:embed="rId4"/>
          <a:stretch>
            <a:fillRect/>
          </a:stretch>
        </p:blipFill>
        <p:spPr>
          <a:xfrm>
            <a:off x="11050270" y="0"/>
            <a:ext cx="896620" cy="89979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textbox 784"/>
          <p:cNvSpPr/>
          <p:nvPr/>
        </p:nvSpPr>
        <p:spPr>
          <a:xfrm>
            <a:off x="184099" y="1104892"/>
            <a:ext cx="11811000" cy="2432685"/>
          </a:xfrm>
          <a:prstGeom prst="rect">
            <a:avLst/>
          </a:prstGeom>
          <a:solidFill>
            <a:srgbClr val="ECEBE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9000"/>
              </a:lnSpc>
            </a:pPr>
            <a:endParaRPr sz="10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552450" algn="l" rtl="0" eaLnBrk="0">
              <a:lnSpc>
                <a:spcPct val="85000"/>
              </a:lnSpc>
            </a:pP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“驭电”仿真大模型</a:t>
            </a:r>
            <a:r>
              <a:rPr sz="19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实现了神经网络求解大型电力非线性代数方程组</a:t>
            </a: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“从0到1”</a:t>
            </a:r>
            <a:r>
              <a:rPr sz="19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的突破，</a:t>
            </a:r>
            <a:r>
              <a:rPr sz="1900" kern="0" spc="-5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实现在超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44500" algn="l" rtl="0" eaLnBrk="0">
              <a:lnSpc>
                <a:spcPct val="163000"/>
              </a:lnSpc>
              <a:spcBef>
                <a:spcPts val="30"/>
              </a:spcBef>
            </a:pPr>
            <a:r>
              <a:rPr sz="19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4700节点规模省级电网仿真的工程应用，</a:t>
            </a:r>
            <a:r>
              <a:rPr sz="1900" kern="0" spc="6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为在确定电网安全前提下最大限度利用新能源提供了强大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的分析工具，</a:t>
            </a:r>
            <a:r>
              <a:rPr sz="1900" kern="0" spc="-3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也为国资央企推动人工智能技术特别是专用</a:t>
            </a: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大模型行业应用做出了示范。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44500" algn="l" rtl="0" eaLnBrk="0">
              <a:lnSpc>
                <a:spcPct val="85000"/>
              </a:lnSpc>
              <a:spcBef>
                <a:spcPts val="1320"/>
              </a:spcBef>
            </a:pPr>
            <a:r>
              <a:rPr sz="1900" kern="0" spc="1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先后获得了世界人工智能大会</a:t>
            </a: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最高奖SAIL 奖 、</a:t>
            </a:r>
            <a:r>
              <a:rPr sz="1900" kern="0" spc="1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央企十大</a:t>
            </a: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“国之重器”</a:t>
            </a:r>
            <a:r>
              <a:rPr sz="1900" kern="0" spc="1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,研发团队被南方电网公司</a:t>
            </a:r>
            <a:r>
              <a:rPr sz="1900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授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44500" algn="l" rtl="0" eaLnBrk="0">
              <a:lnSpc>
                <a:spcPts val="3680"/>
              </a:lnSpc>
            </a:pPr>
            <a:r>
              <a:rPr sz="19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予</a:t>
            </a:r>
            <a:r>
              <a:rPr sz="1900" b="1" kern="0" spc="7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集体一等功</a:t>
            </a:r>
            <a:r>
              <a:rPr sz="19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86" name="picture 7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025920" y="3727460"/>
            <a:ext cx="3708441" cy="2463805"/>
          </a:xfrm>
          <a:prstGeom prst="rect">
            <a:avLst/>
          </a:prstGeom>
        </p:spPr>
      </p:pic>
      <p:pic>
        <p:nvPicPr>
          <p:cNvPr id="788" name="picture 7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810561" y="3797274"/>
            <a:ext cx="3816340" cy="2343172"/>
          </a:xfrm>
          <a:prstGeom prst="rect">
            <a:avLst/>
          </a:prstGeom>
        </p:spPr>
      </p:pic>
      <p:pic>
        <p:nvPicPr>
          <p:cNvPr id="790" name="picture 79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44520" y="3797274"/>
            <a:ext cx="3536899" cy="2387612"/>
          </a:xfrm>
          <a:prstGeom prst="rect">
            <a:avLst/>
          </a:prstGeom>
        </p:spPr>
      </p:pic>
      <p:sp>
        <p:nvSpPr>
          <p:cNvPr id="792" name="textbox 792"/>
          <p:cNvSpPr/>
          <p:nvPr/>
        </p:nvSpPr>
        <p:spPr>
          <a:xfrm>
            <a:off x="444500" y="234950"/>
            <a:ext cx="6640830" cy="5257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000"/>
              </a:lnSpc>
            </a:pPr>
            <a:r>
              <a:rPr sz="3800" b="1" kern="0" spc="-180" dirty="0">
                <a:solidFill>
                  <a:srgbClr val="406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7.“驭电”仿真大模型成果认证</a:t>
            </a:r>
            <a:endParaRPr sz="3800" b="1" kern="0" spc="-180" dirty="0">
              <a:solidFill>
                <a:srgbClr val="40608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4" name="textbox 794"/>
          <p:cNvSpPr/>
          <p:nvPr/>
        </p:nvSpPr>
        <p:spPr>
          <a:xfrm>
            <a:off x="936304" y="6488559"/>
            <a:ext cx="10900137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1600" b="1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人工智能领域最高奖</a:t>
            </a:r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SAIL</a:t>
            </a:r>
            <a:r>
              <a:rPr sz="1600" kern="0" spc="-3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</a:t>
            </a:r>
            <a:r>
              <a:rPr sz="1600" b="1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奖</a:t>
            </a:r>
            <a:r>
              <a:rPr sz="16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    </a:t>
            </a:r>
            <a:r>
              <a:rPr sz="16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                     </a:t>
            </a:r>
            <a:r>
              <a:rPr sz="1600" b="1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央企十大国之重器</a:t>
            </a:r>
            <a:r>
              <a:rPr sz="16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           </a:t>
            </a:r>
            <a:r>
              <a:rPr sz="16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                    </a:t>
            </a:r>
            <a:r>
              <a:rPr sz="2400" b="1" kern="0" spc="20" baseline="-4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南方电网公司集体一等功</a:t>
            </a:r>
            <a:endParaRPr sz="2400" baseline="-40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798" name="textbox 798"/>
          <p:cNvSpPr/>
          <p:nvPr/>
        </p:nvSpPr>
        <p:spPr>
          <a:xfrm>
            <a:off x="8235919" y="3905260"/>
            <a:ext cx="3300095" cy="1892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1300" kern="0" spc="20" baseline="-400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中国南方电</a:t>
            </a:r>
            <a:r>
              <a:rPr sz="1300" kern="0" spc="20" baseline="-4000" dirty="0">
                <a:solidFill>
                  <a:srgbClr val="E0809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网</a:t>
            </a:r>
            <a:r>
              <a:rPr sz="800" kern="0" spc="20" dirty="0">
                <a:solidFill>
                  <a:srgbClr val="E0809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                </a:t>
            </a:r>
            <a:r>
              <a:rPr sz="1200" kern="0" spc="20" dirty="0">
                <a:solidFill>
                  <a:srgbClr val="E0802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公司2025</a:t>
            </a:r>
            <a:r>
              <a:rPr sz="1200" kern="0" spc="10" dirty="0">
                <a:solidFill>
                  <a:srgbClr val="E0802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年度集体</a:t>
            </a:r>
            <a:r>
              <a:rPr sz="1200" kern="0" spc="10" dirty="0">
                <a:solidFill>
                  <a:srgbClr val="B0D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一等功</a:t>
            </a:r>
            <a:endParaRPr sz="12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802" name="textbox 802"/>
          <p:cNvSpPr/>
          <p:nvPr/>
        </p:nvSpPr>
        <p:spPr>
          <a:xfrm>
            <a:off x="8867825" y="4292882"/>
            <a:ext cx="1701165" cy="1917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algn="r" rtl="0" eaLnBrk="0">
              <a:lnSpc>
                <a:spcPct val="91000"/>
              </a:lnSpc>
            </a:pPr>
            <a:r>
              <a:rPr sz="1100" kern="0" spc="-50" dirty="0">
                <a:solidFill>
                  <a:srgbClr val="FF001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“</a:t>
            </a:r>
            <a:r>
              <a:rPr sz="1100" kern="0" spc="-50" dirty="0">
                <a:solidFill>
                  <a:srgbClr val="E0A04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驭</a:t>
            </a:r>
            <a:r>
              <a:rPr sz="1100" kern="0" spc="-50" dirty="0">
                <a:solidFill>
                  <a:srgbClr val="E0C03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电</a:t>
            </a:r>
            <a:r>
              <a:rPr sz="1100" kern="0" spc="-250" dirty="0">
                <a:solidFill>
                  <a:srgbClr val="E0C03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</a:t>
            </a:r>
            <a:r>
              <a:rPr sz="1100" kern="0" spc="-50" dirty="0">
                <a:solidFill>
                  <a:srgbClr val="E0101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”</a:t>
            </a:r>
            <a:r>
              <a:rPr sz="1200" kern="0" spc="-50" dirty="0">
                <a:solidFill>
                  <a:srgbClr val="F0B02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仿真大模型团队</a:t>
            </a:r>
            <a:endParaRPr sz="12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808" name="textbox 808"/>
          <p:cNvSpPr/>
          <p:nvPr/>
        </p:nvSpPr>
        <p:spPr>
          <a:xfrm>
            <a:off x="8280420" y="5057366"/>
            <a:ext cx="569595" cy="95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500" kern="0" spc="50" dirty="0">
                <a:solidFill>
                  <a:srgbClr val="D0C01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能</a:t>
            </a:r>
            <a:r>
              <a:rPr sz="500" kern="0" spc="-30" dirty="0">
                <a:solidFill>
                  <a:srgbClr val="D0C01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</a:t>
            </a:r>
            <a:r>
              <a:rPr sz="500" kern="0" spc="50" dirty="0">
                <a:solidFill>
                  <a:srgbClr val="D0C01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挑</a:t>
            </a:r>
            <a:r>
              <a:rPr sz="500" kern="0" spc="-60" dirty="0">
                <a:solidFill>
                  <a:srgbClr val="D0C01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 </a:t>
            </a:r>
            <a:r>
              <a:rPr sz="500" kern="0" spc="50" dirty="0">
                <a:solidFill>
                  <a:srgbClr val="D0C01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北</a:t>
            </a:r>
            <a:r>
              <a:rPr sz="500" kern="0" spc="50" dirty="0">
                <a:solidFill>
                  <a:srgbClr val="E0802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京明院院</a:t>
            </a:r>
            <a:endParaRPr sz="5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pic>
        <p:nvPicPr>
          <p:cNvPr id="2" name="图片 1" descr="post_object_image_28872366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394" y="1312991"/>
            <a:ext cx="294184" cy="294184"/>
          </a:xfrm>
          <a:prstGeom prst="rect">
            <a:avLst/>
          </a:prstGeom>
        </p:spPr>
      </p:pic>
      <p:pic>
        <p:nvPicPr>
          <p:cNvPr id="3" name="图片 2" descr="post_object_image_28872366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411" y="2699408"/>
            <a:ext cx="294184" cy="294184"/>
          </a:xfrm>
          <a:prstGeom prst="rect">
            <a:avLst/>
          </a:prstGeom>
        </p:spPr>
      </p:pic>
      <p:pic>
        <p:nvPicPr>
          <p:cNvPr id="11" name="图片 10"/>
          <p:cNvPicPr/>
          <p:nvPr/>
        </p:nvPicPr>
        <p:blipFill>
          <a:blip r:embed="rId6"/>
          <a:stretch>
            <a:fillRect/>
          </a:stretch>
        </p:blipFill>
        <p:spPr>
          <a:xfrm>
            <a:off x="11050270" y="0"/>
            <a:ext cx="896620" cy="899795"/>
          </a:xfrm>
          <a:prstGeom prst="rect">
            <a:avLst/>
          </a:prstGeom>
        </p:spPr>
      </p:pic>
      <p:sp>
        <p:nvSpPr>
          <p:cNvPr id="116" name="textbox 116"/>
          <p:cNvSpPr/>
          <p:nvPr/>
        </p:nvSpPr>
        <p:spPr>
          <a:xfrm>
            <a:off x="11887835" y="6435090"/>
            <a:ext cx="257175" cy="222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lang="en-US" sz="15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20</a:t>
            </a:r>
            <a:endParaRPr lang="en-US" sz="1500" b="1" kern="0" spc="-1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textbox 810"/>
          <p:cNvSpPr/>
          <p:nvPr/>
        </p:nvSpPr>
        <p:spPr>
          <a:xfrm>
            <a:off x="802961" y="2430620"/>
            <a:ext cx="10552430" cy="22625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algn="r" rtl="0" eaLnBrk="0">
              <a:lnSpc>
                <a:spcPct val="84000"/>
              </a:lnSpc>
            </a:pPr>
            <a:r>
              <a:rPr sz="3400" b="1" kern="0" spc="-110" dirty="0">
                <a:solidFill>
                  <a:srgbClr val="205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下一步，团队将加快</a:t>
            </a:r>
            <a:r>
              <a:rPr sz="3400" b="1" kern="0" spc="-120" dirty="0">
                <a:solidFill>
                  <a:srgbClr val="205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“驭电”仿真大模型功能的迭代</a:t>
            </a:r>
            <a:endParaRPr sz="3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" indent="5715" algn="l" rtl="0" eaLnBrk="0">
              <a:lnSpc>
                <a:spcPct val="115000"/>
              </a:lnSpc>
              <a:spcBef>
                <a:spcPts val="90"/>
              </a:spcBef>
            </a:pPr>
            <a:r>
              <a:rPr sz="3400" b="1" kern="0" spc="-120" dirty="0">
                <a:solidFill>
                  <a:srgbClr val="205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升级，加大在调度运行分析控制、电力市场出清和电网规</a:t>
            </a:r>
            <a:r>
              <a:rPr sz="3400" b="1" kern="0" spc="-110" dirty="0">
                <a:solidFill>
                  <a:srgbClr val="205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划优化等领域的拓展应用，构建真正驾驭新型电力系统的</a:t>
            </a:r>
            <a:r>
              <a:rPr sz="3400" b="1" kern="0" spc="-120" dirty="0">
                <a:solidFill>
                  <a:srgbClr val="C020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“超级大脑”</a:t>
            </a:r>
            <a:r>
              <a:rPr sz="3400" b="1" kern="0" spc="-120" dirty="0">
                <a:solidFill>
                  <a:srgbClr val="205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,服务我国双碳目标实现和全球能源转</a:t>
            </a:r>
            <a:r>
              <a:rPr sz="3400" b="1" kern="0" spc="-130" dirty="0">
                <a:solidFill>
                  <a:srgbClr val="205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型!</a:t>
            </a:r>
            <a:endParaRPr sz="3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2" name="textbox 812"/>
          <p:cNvSpPr/>
          <p:nvPr/>
        </p:nvSpPr>
        <p:spPr>
          <a:xfrm>
            <a:off x="5247931" y="326380"/>
            <a:ext cx="1626235" cy="679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algn="r" rtl="0" eaLnBrk="0">
              <a:lnSpc>
                <a:spcPct val="86000"/>
              </a:lnSpc>
            </a:pPr>
            <a:r>
              <a:rPr sz="5000" b="1" kern="0" spc="-260" dirty="0">
                <a:solidFill>
                  <a:srgbClr val="204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</a:t>
            </a:r>
            <a:r>
              <a:rPr sz="5000" kern="0" spc="510" dirty="0">
                <a:solidFill>
                  <a:srgbClr val="204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000" b="1" kern="0" spc="-220" dirty="0">
                <a:solidFill>
                  <a:srgbClr val="1040A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</a:t>
            </a:r>
            <a:endParaRPr sz="5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14" name="picture 8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1441483"/>
            <a:ext cx="12179320" cy="12687"/>
          </a:xfrm>
          <a:prstGeom prst="rect">
            <a:avLst/>
          </a:prstGeom>
        </p:spPr>
      </p:pic>
      <p:pic>
        <p:nvPicPr>
          <p:cNvPr id="11" name="图片 10"/>
          <p:cNvPicPr/>
          <p:nvPr/>
        </p:nvPicPr>
        <p:blipFill>
          <a:blip r:embed="rId2"/>
          <a:stretch>
            <a:fillRect/>
          </a:stretch>
        </p:blipFill>
        <p:spPr>
          <a:xfrm>
            <a:off x="11050270" y="0"/>
            <a:ext cx="896620" cy="899795"/>
          </a:xfrm>
          <a:prstGeom prst="rect">
            <a:avLst/>
          </a:prstGeom>
        </p:spPr>
      </p:pic>
      <p:sp>
        <p:nvSpPr>
          <p:cNvPr id="116" name="textbox 116"/>
          <p:cNvSpPr/>
          <p:nvPr/>
        </p:nvSpPr>
        <p:spPr>
          <a:xfrm>
            <a:off x="11887835" y="6435090"/>
            <a:ext cx="257175" cy="222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12700" algn="l" rtl="0" eaLnBrk="0">
              <a:lnSpc>
                <a:spcPct val="86000"/>
              </a:lnSpc>
            </a:pPr>
            <a:r>
              <a:rPr lang="en-US" sz="15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rPr>
              <a:t>21</a:t>
            </a:r>
            <a:endParaRPr lang="en-US" sz="1500" b="1" kern="0" spc="-1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40.xml><?xml version="1.0" encoding="utf-8"?>
<p:tagLst xmlns:p="http://schemas.openxmlformats.org/presentationml/2006/main">
  <p:tag name="KSO_WM_DIAGRAM_VIRTUALLY_FRAME" val="{&quot;height&quot;:182.4276377952756,&quot;left&quot;:275,&quot;top&quot;:176.50173228346458,&quot;width&quot;:393.84992125984246}"/>
</p:tagLst>
</file>

<file path=ppt/tags/tag41.xml><?xml version="1.0" encoding="utf-8"?>
<p:tagLst xmlns:p="http://schemas.openxmlformats.org/presentationml/2006/main">
  <p:tag name="KSO_WM_DIAGRAM_VIRTUALLY_FRAME" val="{&quot;height&quot;:182.4276377952756,&quot;left&quot;:275,&quot;top&quot;:176.50173228346458,&quot;width&quot;:393.84992125984246}"/>
</p:tagLst>
</file>

<file path=ppt/tags/tag42.xml><?xml version="1.0" encoding="utf-8"?>
<p:tagLst xmlns:p="http://schemas.openxmlformats.org/presentationml/2006/main">
  <p:tag name="KSO_WM_DIAGRAM_VIRTUALLY_FRAME" val="{&quot;height&quot;:182.4276377952756,&quot;left&quot;:275,&quot;top&quot;:176.50173228346458,&quot;width&quot;:393.84992125984246}"/>
</p:tagLst>
</file>

<file path=ppt/tags/tag43.xml><?xml version="1.0" encoding="utf-8"?>
<p:tagLst xmlns:p="http://schemas.openxmlformats.org/presentationml/2006/main">
  <p:tag name="KSO_WM_DIAGRAM_VIRTUALLY_FRAME" val="{&quot;height&quot;:182.4276377952756,&quot;left&quot;:275,&quot;top&quot;:176.50173228346458,&quot;width&quot;:393.84992125984246}"/>
</p:tagLst>
</file>

<file path=ppt/tags/tag44.xml><?xml version="1.0" encoding="utf-8"?>
<p:tagLst xmlns:p="http://schemas.openxmlformats.org/presentationml/2006/main">
  <p:tag name="KSO_WM_DIAGRAM_VIRTUALLY_FRAME" val="{&quot;height&quot;:182.4276377952756,&quot;left&quot;:275,&quot;top&quot;:176.50173228346458,&quot;width&quot;:393.84992125984246}"/>
</p:tagLst>
</file>

<file path=ppt/tags/tag45.xml><?xml version="1.0" encoding="utf-8"?>
<p:tagLst xmlns:p="http://schemas.openxmlformats.org/presentationml/2006/main">
  <p:tag name="KSO_WM_DIAGRAM_VIRTUALLY_FRAME" val="{&quot;height&quot;:182.4276377952756,&quot;left&quot;:275,&quot;top&quot;:176.50173228346458,&quot;width&quot;:393.84992125984246}"/>
</p:tagLst>
</file>

<file path=ppt/tags/tag46.xml><?xml version="1.0" encoding="utf-8"?>
<p:tagLst xmlns:p="http://schemas.openxmlformats.org/presentationml/2006/main">
  <p:tag name="KSO_WM_DIAGRAM_VIRTUALLY_FRAME" val="{&quot;height&quot;:186.15094488188976,&quot;left&quot;:275,&quot;top&quot;:173.00181102362205,&quot;width&quot;:393.081968503937}"/>
</p:tagLst>
</file>

<file path=ppt/tags/tag47.xml><?xml version="1.0" encoding="utf-8"?>
<p:tagLst xmlns:p="http://schemas.openxmlformats.org/presentationml/2006/main">
  <p:tag name="KSO_WM_DIAGRAM_VIRTUALLY_FRAME" val="{&quot;height&quot;:186.15094488188976,&quot;left&quot;:275,&quot;top&quot;:173.00181102362205,&quot;width&quot;:393.081968503937}"/>
</p:tagLst>
</file>

<file path=ppt/tags/tag48.xml><?xml version="1.0" encoding="utf-8"?>
<p:tagLst xmlns:p="http://schemas.openxmlformats.org/presentationml/2006/main">
  <p:tag name="KSO_WM_DIAGRAM_VIRTUALLY_FRAME" val="{&quot;height&quot;:186.15094488188976,&quot;left&quot;:275,&quot;top&quot;:173.00181102362205,&quot;width&quot;:393.081968503937}"/>
</p:tagLst>
</file>

<file path=ppt/tags/tag49.xml><?xml version="1.0" encoding="utf-8"?>
<p:tagLst xmlns:p="http://schemas.openxmlformats.org/presentationml/2006/main">
  <p:tag name="KSO_WM_DIAGRAM_VIRTUALLY_FRAME" val="{&quot;height&quot;:186.15094488188976,&quot;left&quot;:275,&quot;top&quot;:173.00181102362205,&quot;width&quot;:393.081968503937}"/>
</p:tagLst>
</file>

<file path=ppt/tags/tag50.xml><?xml version="1.0" encoding="utf-8"?>
<p:tagLst xmlns:p="http://schemas.openxmlformats.org/presentationml/2006/main">
  <p:tag name="KSO_WM_DIAGRAM_VIRTUALLY_FRAME" val="{&quot;height&quot;:186.15094488188976,&quot;left&quot;:275,&quot;top&quot;:173.00181102362205,&quot;width&quot;:393.081968503937}"/>
</p:tagLst>
</file>

<file path=ppt/tags/tag51.xml><?xml version="1.0" encoding="utf-8"?>
<p:tagLst xmlns:p="http://schemas.openxmlformats.org/presentationml/2006/main">
  <p:tag name="KSO_WM_DIAGRAM_VIRTUALLY_FRAME" val="{&quot;height&quot;:186.15094488188976,&quot;left&quot;:275,&quot;top&quot;:173.00181102362205,&quot;width&quot;:393.081968503937}"/>
</p:tagLst>
</file>

<file path=ppt/tags/tag52.xml><?xml version="1.0" encoding="utf-8"?>
<p:tagLst xmlns:p="http://schemas.openxmlformats.org/presentationml/2006/main">
  <p:tag name="KSO_WM_DIAGRAM_VIRTUALLY_FRAME" val="{&quot;height&quot;:187.36763779527558,&quot;left&quot;:275,&quot;top&quot;:171.56173228346455,&quot;width&quot;:393.6531496062992}"/>
</p:tagLst>
</file>

<file path=ppt/tags/tag53.xml><?xml version="1.0" encoding="utf-8"?>
<p:tagLst xmlns:p="http://schemas.openxmlformats.org/presentationml/2006/main">
  <p:tag name="KSO_WM_DIAGRAM_VIRTUALLY_FRAME" val="{&quot;height&quot;:187.36763779527558,&quot;left&quot;:275,&quot;top&quot;:171.56173228346455,&quot;width&quot;:393.6531496062992}"/>
</p:tagLst>
</file>

<file path=ppt/tags/tag54.xml><?xml version="1.0" encoding="utf-8"?>
<p:tagLst xmlns:p="http://schemas.openxmlformats.org/presentationml/2006/main">
  <p:tag name="KSO_WM_DIAGRAM_VIRTUALLY_FRAME" val="{&quot;height&quot;:187.36763779527558,&quot;left&quot;:275,&quot;top&quot;:171.56173228346455,&quot;width&quot;:393.6531496062992}"/>
</p:tagLst>
</file>

<file path=ppt/tags/tag55.xml><?xml version="1.0" encoding="utf-8"?>
<p:tagLst xmlns:p="http://schemas.openxmlformats.org/presentationml/2006/main">
  <p:tag name="KSO_WM_DIAGRAM_VIRTUALLY_FRAME" val="{&quot;height&quot;:187.36763779527558,&quot;left&quot;:275,&quot;top&quot;:171.56173228346455,&quot;width&quot;:393.6531496062992}"/>
</p:tagLst>
</file>

<file path=ppt/tags/tag56.xml><?xml version="1.0" encoding="utf-8"?>
<p:tagLst xmlns:p="http://schemas.openxmlformats.org/presentationml/2006/main">
  <p:tag name="KSO_WM_DIAGRAM_VIRTUALLY_FRAME" val="{&quot;height&quot;:187.36763779527558,&quot;left&quot;:275,&quot;top&quot;:171.56173228346455,&quot;width&quot;:393.6531496062992}"/>
</p:tagLst>
</file>

<file path=ppt/tags/tag57.xml><?xml version="1.0" encoding="utf-8"?>
<p:tagLst xmlns:p="http://schemas.openxmlformats.org/presentationml/2006/main">
  <p:tag name="KSO_WM_DIAGRAM_VIRTUALLY_FRAME" val="{&quot;height&quot;:187.36763779527558,&quot;left&quot;:275,&quot;top&quot;:171.56173228346455,&quot;width&quot;:393.6531496062992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经典黑体">
      <a:majorFont>
        <a:latin typeface="微软雅黑"/>
        <a:ea typeface="微软雅黑"/>
        <a:cs typeface=""/>
      </a:majorFont>
      <a:minorFont>
        <a:latin typeface="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6144</Words>
  <Application>WPS 演示</Application>
  <PresentationFormat>宽屏</PresentationFormat>
  <Paragraphs>826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22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Arial Unicode MS</vt:lpstr>
      <vt:lpstr>Calibri</vt:lpstr>
      <vt:lpstr>Office 主题</vt:lpstr>
      <vt:lpstr>Office theme</vt:lpstr>
      <vt:lpstr>1_Office theme</vt:lpstr>
      <vt:lpstr>2_Office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WPS_1779984719</cp:lastModifiedBy>
  <cp:revision>7</cp:revision>
  <dcterms:created xsi:type="dcterms:W3CDTF">2026-07-17T10:48:00Z</dcterms:created>
  <dcterms:modified xsi:type="dcterms:W3CDTF">2026-09-09T07:39:53Z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3DDF1D63760CB4F8B292596AEE0FBF1F_42</vt:lpwstr>
  </property>
</Properties>
</file>