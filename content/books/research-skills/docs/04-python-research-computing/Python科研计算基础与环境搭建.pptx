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6" r:id="rId22"/>
    <p:sldId id="287" r:id="rId23"/>
    <p:sldId id="288" r:id="rId24"/>
    <p:sldId id="277" r:id="rId25"/>
    <p:sldId id="285" r:id="rId26"/>
    <p:sldId id="281" r:id="rId27"/>
    <p:sldId id="282" r:id="rId28"/>
    <p:sldId id="28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1" userDrawn="1">
          <p15:clr>
            <a:srgbClr val="A4A3A4"/>
          </p15:clr>
        </p15:guide>
        <p15:guide id="2" pos="38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00558199" initials="8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29F"/>
    <a:srgbClr val="0070C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11"/>
        <p:guide pos="38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109.xml"/><Relationship Id="rId36" Type="http://schemas.openxmlformats.org/officeDocument/2006/relationships/tags" Target="../tags/tag108.xml"/><Relationship Id="rId35" Type="http://schemas.openxmlformats.org/officeDocument/2006/relationships/tags" Target="../tags/tag107.xml"/><Relationship Id="rId34" Type="http://schemas.openxmlformats.org/officeDocument/2006/relationships/tags" Target="../tags/tag106.xml"/><Relationship Id="rId33" Type="http://schemas.openxmlformats.org/officeDocument/2006/relationships/tags" Target="../tags/tag105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149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13a141b950d4600b212b1470d59730b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图形 2"/>
          <p:cNvGrpSpPr/>
          <p:nvPr/>
        </p:nvGrpSpPr>
        <p:grpSpPr>
          <a:xfrm>
            <a:off x="0" y="4099223"/>
            <a:ext cx="12192000" cy="2183876"/>
            <a:chOff x="0" y="4099223"/>
            <a:chExt cx="12192000" cy="2183876"/>
          </a:xfrm>
          <a:gradFill>
            <a:gsLst>
              <a:gs pos="100000">
                <a:schemeClr val="accent1"/>
              </a:gs>
              <a:gs pos="0">
                <a:schemeClr val="accent1">
                  <a:alpha val="16000"/>
                </a:schemeClr>
              </a:gs>
            </a:gsLst>
            <a:lin ang="5400000" scaled="1"/>
          </a:gradFill>
        </p:grpSpPr>
        <p:sp>
          <p:nvSpPr>
            <p:cNvPr id="9" name="任意多边形: 形状 8"/>
            <p:cNvSpPr/>
            <p:nvPr/>
          </p:nvSpPr>
          <p:spPr>
            <a:xfrm>
              <a:off x="6275734" y="4099223"/>
              <a:ext cx="5916265" cy="2166662"/>
            </a:xfrm>
            <a:custGeom>
              <a:avLst/>
              <a:gdLst>
                <a:gd name="connsiteX0" fmla="*/ 5916266 w 5916265"/>
                <a:gd name="connsiteY0" fmla="*/ 142576 h 2166662"/>
                <a:gd name="connsiteX1" fmla="*/ 5720861 w 5916265"/>
                <a:gd name="connsiteY1" fmla="*/ 408141 h 2166662"/>
                <a:gd name="connsiteX2" fmla="*/ 4988867 w 5916265"/>
                <a:gd name="connsiteY2" fmla="*/ 888461 h 2166662"/>
                <a:gd name="connsiteX3" fmla="*/ 4027159 w 5916265"/>
                <a:gd name="connsiteY3" fmla="*/ 1169221 h 2166662"/>
                <a:gd name="connsiteX4" fmla="*/ 3358321 w 5916265"/>
                <a:gd name="connsiteY4" fmla="*/ 1246386 h 2166662"/>
                <a:gd name="connsiteX5" fmla="*/ 2559251 w 5916265"/>
                <a:gd name="connsiteY5" fmla="*/ 1274284 h 2166662"/>
                <a:gd name="connsiteX6" fmla="*/ 1959742 w 5916265"/>
                <a:gd name="connsiteY6" fmla="*/ 1337678 h 2166662"/>
                <a:gd name="connsiteX7" fmla="*/ 1175988 w 5916265"/>
                <a:gd name="connsiteY7" fmla="*/ 1508152 h 2166662"/>
                <a:gd name="connsiteX8" fmla="*/ 239447 w 5916265"/>
                <a:gd name="connsiteY8" fmla="*/ 1963067 h 2166662"/>
                <a:gd name="connsiteX9" fmla="*/ 11634 w 5916265"/>
                <a:gd name="connsiteY9" fmla="*/ 2166663 h 2166662"/>
                <a:gd name="connsiteX10" fmla="*/ 0 w 5916265"/>
                <a:gd name="connsiteY10" fmla="*/ 2155147 h 2166662"/>
                <a:gd name="connsiteX11" fmla="*/ 229950 w 5916265"/>
                <a:gd name="connsiteY11" fmla="*/ 1934575 h 2166662"/>
                <a:gd name="connsiteX12" fmla="*/ 1053830 w 5916265"/>
                <a:gd name="connsiteY12" fmla="*/ 1490582 h 2166662"/>
                <a:gd name="connsiteX13" fmla="*/ 1928757 w 5916265"/>
                <a:gd name="connsiteY13" fmla="*/ 1271316 h 2166662"/>
                <a:gd name="connsiteX14" fmla="*/ 2913971 w 5916265"/>
                <a:gd name="connsiteY14" fmla="*/ 1198188 h 2166662"/>
                <a:gd name="connsiteX15" fmla="*/ 3775247 w 5916265"/>
                <a:gd name="connsiteY15" fmla="*/ 1132895 h 2166662"/>
                <a:gd name="connsiteX16" fmla="*/ 4869321 w 5916265"/>
                <a:gd name="connsiteY16" fmla="*/ 846436 h 2166662"/>
                <a:gd name="connsiteX17" fmla="*/ 5619598 w 5916265"/>
                <a:gd name="connsiteY17" fmla="*/ 392352 h 2166662"/>
                <a:gd name="connsiteX18" fmla="*/ 5888250 w 5916265"/>
                <a:gd name="connsiteY18" fmla="*/ 34902 h 2166662"/>
                <a:gd name="connsiteX19" fmla="*/ 5916266 w 5916265"/>
                <a:gd name="connsiteY19" fmla="*/ 0 h 2166662"/>
                <a:gd name="connsiteX20" fmla="*/ 5916266 w 5916265"/>
                <a:gd name="connsiteY20" fmla="*/ 142576 h 216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16265" h="2166662">
                  <a:moveTo>
                    <a:pt x="5916266" y="142576"/>
                  </a:moveTo>
                  <a:cubicBezTo>
                    <a:pt x="5851566" y="231494"/>
                    <a:pt x="5794583" y="327415"/>
                    <a:pt x="5720861" y="408141"/>
                  </a:cubicBezTo>
                  <a:cubicBezTo>
                    <a:pt x="5518572" y="629663"/>
                    <a:pt x="5260724" y="770696"/>
                    <a:pt x="4988867" y="888461"/>
                  </a:cubicBezTo>
                  <a:cubicBezTo>
                    <a:pt x="4680090" y="1022253"/>
                    <a:pt x="4357304" y="1111763"/>
                    <a:pt x="4027159" y="1169221"/>
                  </a:cubicBezTo>
                  <a:cubicBezTo>
                    <a:pt x="3806350" y="1207685"/>
                    <a:pt x="3582097" y="1231665"/>
                    <a:pt x="3358321" y="1246386"/>
                  </a:cubicBezTo>
                  <a:cubicBezTo>
                    <a:pt x="3092518" y="1263837"/>
                    <a:pt x="2825172" y="1258614"/>
                    <a:pt x="2559251" y="1274284"/>
                  </a:cubicBezTo>
                  <a:cubicBezTo>
                    <a:pt x="2358861" y="1286155"/>
                    <a:pt x="2159302" y="1314172"/>
                    <a:pt x="1959742" y="1337678"/>
                  </a:cubicBezTo>
                  <a:cubicBezTo>
                    <a:pt x="1693109" y="1369137"/>
                    <a:pt x="1432411" y="1429682"/>
                    <a:pt x="1175988" y="1508152"/>
                  </a:cubicBezTo>
                  <a:cubicBezTo>
                    <a:pt x="840262" y="1610840"/>
                    <a:pt x="520445" y="1748431"/>
                    <a:pt x="239447" y="1963067"/>
                  </a:cubicBezTo>
                  <a:cubicBezTo>
                    <a:pt x="158722" y="2024680"/>
                    <a:pt x="87374" y="2098402"/>
                    <a:pt x="11634" y="2166663"/>
                  </a:cubicBezTo>
                  <a:cubicBezTo>
                    <a:pt x="7716" y="2162864"/>
                    <a:pt x="3799" y="2158946"/>
                    <a:pt x="0" y="2155147"/>
                  </a:cubicBezTo>
                  <a:cubicBezTo>
                    <a:pt x="76333" y="2081307"/>
                    <a:pt x="148275" y="2002005"/>
                    <a:pt x="229950" y="1934575"/>
                  </a:cubicBezTo>
                  <a:cubicBezTo>
                    <a:pt x="474621" y="1732167"/>
                    <a:pt x="757281" y="1597544"/>
                    <a:pt x="1053830" y="1490582"/>
                  </a:cubicBezTo>
                  <a:cubicBezTo>
                    <a:pt x="1338033" y="1388131"/>
                    <a:pt x="1630665" y="1318565"/>
                    <a:pt x="1928757" y="1271316"/>
                  </a:cubicBezTo>
                  <a:cubicBezTo>
                    <a:pt x="2255104" y="1219556"/>
                    <a:pt x="2583588" y="1197238"/>
                    <a:pt x="2913971" y="1198188"/>
                  </a:cubicBezTo>
                  <a:cubicBezTo>
                    <a:pt x="3202685" y="1199019"/>
                    <a:pt x="3489262" y="1173970"/>
                    <a:pt x="3775247" y="1132895"/>
                  </a:cubicBezTo>
                  <a:cubicBezTo>
                    <a:pt x="4151216" y="1078761"/>
                    <a:pt x="4517214" y="989962"/>
                    <a:pt x="4869321" y="846436"/>
                  </a:cubicBezTo>
                  <a:cubicBezTo>
                    <a:pt x="5143434" y="734607"/>
                    <a:pt x="5400688" y="595473"/>
                    <a:pt x="5619598" y="392352"/>
                  </a:cubicBezTo>
                  <a:cubicBezTo>
                    <a:pt x="5730715" y="289308"/>
                    <a:pt x="5823788" y="173086"/>
                    <a:pt x="5888250" y="34902"/>
                  </a:cubicBezTo>
                  <a:cubicBezTo>
                    <a:pt x="5894423" y="21725"/>
                    <a:pt x="5906768" y="11634"/>
                    <a:pt x="5916266" y="0"/>
                  </a:cubicBezTo>
                  <a:cubicBezTo>
                    <a:pt x="5916266" y="47605"/>
                    <a:pt x="5916266" y="95091"/>
                    <a:pt x="5916266" y="14257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0" y="4134956"/>
              <a:ext cx="5895728" cy="2148142"/>
            </a:xfrm>
            <a:custGeom>
              <a:avLst/>
              <a:gdLst>
                <a:gd name="connsiteX0" fmla="*/ 0 w 5895728"/>
                <a:gd name="connsiteY0" fmla="*/ 0 h 2148142"/>
                <a:gd name="connsiteX1" fmla="*/ 169762 w 5895728"/>
                <a:gd name="connsiteY1" fmla="*/ 247283 h 2148142"/>
                <a:gd name="connsiteX2" fmla="*/ 689851 w 5895728"/>
                <a:gd name="connsiteY2" fmla="*/ 652694 h 2148142"/>
                <a:gd name="connsiteX3" fmla="*/ 1524653 w 5895728"/>
                <a:gd name="connsiteY3" fmla="*/ 977497 h 2148142"/>
                <a:gd name="connsiteX4" fmla="*/ 2495858 w 5895728"/>
                <a:gd name="connsiteY4" fmla="*/ 1139424 h 2148142"/>
                <a:gd name="connsiteX5" fmla="*/ 3117211 w 5895728"/>
                <a:gd name="connsiteY5" fmla="*/ 1164117 h 2148142"/>
                <a:gd name="connsiteX6" fmla="*/ 3906663 w 5895728"/>
                <a:gd name="connsiteY6" fmla="*/ 1229647 h 2148142"/>
                <a:gd name="connsiteX7" fmla="*/ 4922861 w 5895728"/>
                <a:gd name="connsiteY7" fmla="*/ 1486665 h 2148142"/>
                <a:gd name="connsiteX8" fmla="*/ 5769416 w 5895728"/>
                <a:gd name="connsiteY8" fmla="*/ 1993814 h 2148142"/>
                <a:gd name="connsiteX9" fmla="*/ 5895729 w 5895728"/>
                <a:gd name="connsiteY9" fmla="*/ 2148143 h 2148142"/>
                <a:gd name="connsiteX10" fmla="*/ 5763362 w 5895728"/>
                <a:gd name="connsiteY10" fmla="*/ 2021118 h 2148142"/>
                <a:gd name="connsiteX11" fmla="*/ 5046800 w 5895728"/>
                <a:gd name="connsiteY11" fmla="*/ 1590659 h 2148142"/>
                <a:gd name="connsiteX12" fmla="*/ 4040336 w 5895728"/>
                <a:gd name="connsiteY12" fmla="*/ 1317259 h 2148142"/>
                <a:gd name="connsiteX13" fmla="*/ 3045388 w 5895728"/>
                <a:gd name="connsiteY13" fmla="*/ 1234396 h 2148142"/>
                <a:gd name="connsiteX14" fmla="*/ 2013401 w 5895728"/>
                <a:gd name="connsiteY14" fmla="*/ 1159606 h 2148142"/>
                <a:gd name="connsiteX15" fmla="*/ 661241 w 5895728"/>
                <a:gd name="connsiteY15" fmla="*/ 736387 h 2148142"/>
                <a:gd name="connsiteX16" fmla="*/ 114560 w 5895728"/>
                <a:gd name="connsiteY16" fmla="*/ 308777 h 2148142"/>
                <a:gd name="connsiteX17" fmla="*/ 0 w 5895728"/>
                <a:gd name="connsiteY17" fmla="*/ 130586 h 2148142"/>
                <a:gd name="connsiteX18" fmla="*/ 0 w 5895728"/>
                <a:gd name="connsiteY18" fmla="*/ 0 h 214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895728" h="2148142">
                  <a:moveTo>
                    <a:pt x="0" y="0"/>
                  </a:moveTo>
                  <a:cubicBezTo>
                    <a:pt x="56152" y="82744"/>
                    <a:pt x="106725" y="170118"/>
                    <a:pt x="169762" y="247283"/>
                  </a:cubicBezTo>
                  <a:cubicBezTo>
                    <a:pt x="311864" y="421200"/>
                    <a:pt x="495040" y="545257"/>
                    <a:pt x="689851" y="652694"/>
                  </a:cubicBezTo>
                  <a:cubicBezTo>
                    <a:pt x="953517" y="798119"/>
                    <a:pt x="1233921" y="900095"/>
                    <a:pt x="1524653" y="977497"/>
                  </a:cubicBezTo>
                  <a:cubicBezTo>
                    <a:pt x="1843521" y="1062378"/>
                    <a:pt x="2167137" y="1117462"/>
                    <a:pt x="2495858" y="1139424"/>
                  </a:cubicBezTo>
                  <a:cubicBezTo>
                    <a:pt x="2702659" y="1153314"/>
                    <a:pt x="2910054" y="1160080"/>
                    <a:pt x="3117211" y="1164117"/>
                  </a:cubicBezTo>
                  <a:cubicBezTo>
                    <a:pt x="3381945" y="1169221"/>
                    <a:pt x="3644304" y="1192133"/>
                    <a:pt x="3906663" y="1229647"/>
                  </a:cubicBezTo>
                  <a:cubicBezTo>
                    <a:pt x="4255210" y="1279389"/>
                    <a:pt x="4594615" y="1361183"/>
                    <a:pt x="4922861" y="1486665"/>
                  </a:cubicBezTo>
                  <a:cubicBezTo>
                    <a:pt x="5234369" y="1605735"/>
                    <a:pt x="5526882" y="1759115"/>
                    <a:pt x="5769416" y="1993814"/>
                  </a:cubicBezTo>
                  <a:cubicBezTo>
                    <a:pt x="5817021" y="2039875"/>
                    <a:pt x="5858452" y="2092228"/>
                    <a:pt x="5895729" y="2148143"/>
                  </a:cubicBezTo>
                  <a:cubicBezTo>
                    <a:pt x="5851686" y="2105762"/>
                    <a:pt x="5808592" y="2062194"/>
                    <a:pt x="5763362" y="2021118"/>
                  </a:cubicBezTo>
                  <a:cubicBezTo>
                    <a:pt x="5552999" y="1830344"/>
                    <a:pt x="5307972" y="1697502"/>
                    <a:pt x="5046800" y="1590659"/>
                  </a:cubicBezTo>
                  <a:cubicBezTo>
                    <a:pt x="4722471" y="1458054"/>
                    <a:pt x="4385559" y="1372817"/>
                    <a:pt x="4040336" y="1317259"/>
                  </a:cubicBezTo>
                  <a:cubicBezTo>
                    <a:pt x="3710784" y="1264312"/>
                    <a:pt x="3379689" y="1233446"/>
                    <a:pt x="3045388" y="1234396"/>
                  </a:cubicBezTo>
                  <a:cubicBezTo>
                    <a:pt x="2699810" y="1235345"/>
                    <a:pt x="2354706" y="1214927"/>
                    <a:pt x="2013401" y="1159606"/>
                  </a:cubicBezTo>
                  <a:cubicBezTo>
                    <a:pt x="1543054" y="1083272"/>
                    <a:pt x="1085052" y="963133"/>
                    <a:pt x="661241" y="736387"/>
                  </a:cubicBezTo>
                  <a:cubicBezTo>
                    <a:pt x="454440" y="625864"/>
                    <a:pt x="262241" y="494566"/>
                    <a:pt x="114560" y="308777"/>
                  </a:cubicBezTo>
                  <a:cubicBezTo>
                    <a:pt x="70873" y="253693"/>
                    <a:pt x="37870" y="190181"/>
                    <a:pt x="0" y="130586"/>
                  </a:cubicBezTo>
                  <a:cubicBezTo>
                    <a:pt x="0" y="87018"/>
                    <a:pt x="0" y="4356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图形 4"/>
          <p:cNvSpPr/>
          <p:nvPr/>
        </p:nvSpPr>
        <p:spPr>
          <a:xfrm>
            <a:off x="-118" y="4982545"/>
            <a:ext cx="12191999" cy="1875810"/>
          </a:xfrm>
          <a:custGeom>
            <a:avLst/>
            <a:gdLst>
              <a:gd name="connsiteX0" fmla="*/ 119 w 12191999"/>
              <a:gd name="connsiteY0" fmla="*/ 23506 h 1875810"/>
              <a:gd name="connsiteX1" fmla="*/ 330502 w 12191999"/>
              <a:gd name="connsiteY1" fmla="*/ 276843 h 1875810"/>
              <a:gd name="connsiteX2" fmla="*/ 1372223 w 12191999"/>
              <a:gd name="connsiteY2" fmla="*/ 597016 h 1875810"/>
              <a:gd name="connsiteX3" fmla="*/ 2274811 w 12191999"/>
              <a:gd name="connsiteY3" fmla="*/ 716918 h 1875810"/>
              <a:gd name="connsiteX4" fmla="*/ 2979739 w 12191999"/>
              <a:gd name="connsiteY4" fmla="*/ 742917 h 1875810"/>
              <a:gd name="connsiteX5" fmla="*/ 3908800 w 12191999"/>
              <a:gd name="connsiteY5" fmla="*/ 787909 h 1875810"/>
              <a:gd name="connsiteX6" fmla="*/ 4855550 w 12191999"/>
              <a:gd name="connsiteY6" fmla="*/ 932266 h 1875810"/>
              <a:gd name="connsiteX7" fmla="*/ 5504801 w 12191999"/>
              <a:gd name="connsiteY7" fmla="*/ 1131114 h 1875810"/>
              <a:gd name="connsiteX8" fmla="*/ 5962802 w 12191999"/>
              <a:gd name="connsiteY8" fmla="*/ 1416860 h 1875810"/>
              <a:gd name="connsiteX9" fmla="*/ 6046615 w 12191999"/>
              <a:gd name="connsiteY9" fmla="*/ 1537593 h 1875810"/>
              <a:gd name="connsiteX10" fmla="*/ 6082230 w 12191999"/>
              <a:gd name="connsiteY10" fmla="*/ 1594338 h 1875810"/>
              <a:gd name="connsiteX11" fmla="*/ 6131852 w 12191999"/>
              <a:gd name="connsiteY11" fmla="*/ 1519548 h 1875810"/>
              <a:gd name="connsiteX12" fmla="*/ 6475175 w 12191999"/>
              <a:gd name="connsiteY12" fmla="*/ 1219675 h 1875810"/>
              <a:gd name="connsiteX13" fmla="*/ 7236611 w 12191999"/>
              <a:gd name="connsiteY13" fmla="*/ 951023 h 1875810"/>
              <a:gd name="connsiteX14" fmla="*/ 7874703 w 12191999"/>
              <a:gd name="connsiteY14" fmla="*/ 826136 h 1875810"/>
              <a:gd name="connsiteX15" fmla="*/ 8221587 w 12191999"/>
              <a:gd name="connsiteY15" fmla="*/ 788147 h 1875810"/>
              <a:gd name="connsiteX16" fmla="*/ 9613279 w 12191999"/>
              <a:gd name="connsiteY16" fmla="*/ 733657 h 1875810"/>
              <a:gd name="connsiteX17" fmla="*/ 10438465 w 12191999"/>
              <a:gd name="connsiteY17" fmla="*/ 657561 h 1875810"/>
              <a:gd name="connsiteX18" fmla="*/ 11318022 w 12191999"/>
              <a:gd name="connsiteY18" fmla="*/ 477352 h 1875810"/>
              <a:gd name="connsiteX19" fmla="*/ 11977482 w 12191999"/>
              <a:gd name="connsiteY19" fmla="*/ 192555 h 1875810"/>
              <a:gd name="connsiteX20" fmla="*/ 12192000 w 12191999"/>
              <a:gd name="connsiteY20" fmla="*/ 0 h 1875810"/>
              <a:gd name="connsiteX21" fmla="*/ 12192000 w 12191999"/>
              <a:gd name="connsiteY21" fmla="*/ 1875811 h 1875810"/>
              <a:gd name="connsiteX22" fmla="*/ 0 w 12191999"/>
              <a:gd name="connsiteY22" fmla="*/ 1875811 h 1875810"/>
              <a:gd name="connsiteX23" fmla="*/ 119 w 12191999"/>
              <a:gd name="connsiteY23" fmla="*/ 23506 h 187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1999" h="1875810">
                <a:moveTo>
                  <a:pt x="119" y="23506"/>
                </a:moveTo>
                <a:cubicBezTo>
                  <a:pt x="86306" y="139134"/>
                  <a:pt x="205258" y="212618"/>
                  <a:pt x="330502" y="276843"/>
                </a:cubicBezTo>
                <a:cubicBezTo>
                  <a:pt x="658748" y="444824"/>
                  <a:pt x="1010737" y="539202"/>
                  <a:pt x="1372223" y="597016"/>
                </a:cubicBezTo>
                <a:cubicBezTo>
                  <a:pt x="1671859" y="644858"/>
                  <a:pt x="1972801" y="688426"/>
                  <a:pt x="2274811" y="716918"/>
                </a:cubicBezTo>
                <a:cubicBezTo>
                  <a:pt x="2508561" y="738999"/>
                  <a:pt x="2744803" y="732944"/>
                  <a:pt x="2979739" y="742917"/>
                </a:cubicBezTo>
                <a:cubicBezTo>
                  <a:pt x="3289466" y="755975"/>
                  <a:pt x="3599193" y="770340"/>
                  <a:pt x="3908800" y="787909"/>
                </a:cubicBezTo>
                <a:cubicBezTo>
                  <a:pt x="4228737" y="806073"/>
                  <a:pt x="4545230" y="853915"/>
                  <a:pt x="4855550" y="932266"/>
                </a:cubicBezTo>
                <a:cubicBezTo>
                  <a:pt x="5074816" y="987587"/>
                  <a:pt x="5292539" y="1053355"/>
                  <a:pt x="5504801" y="1131114"/>
                </a:cubicBezTo>
                <a:cubicBezTo>
                  <a:pt x="5674919" y="1193439"/>
                  <a:pt x="5835540" y="1282000"/>
                  <a:pt x="5962802" y="1416860"/>
                </a:cubicBezTo>
                <a:cubicBezTo>
                  <a:pt x="5996043" y="1452118"/>
                  <a:pt x="6019192" y="1496874"/>
                  <a:pt x="6046615" y="1537593"/>
                </a:cubicBezTo>
                <a:cubicBezTo>
                  <a:pt x="6057181" y="1553263"/>
                  <a:pt x="6066678" y="1569527"/>
                  <a:pt x="6082230" y="1594338"/>
                </a:cubicBezTo>
                <a:cubicBezTo>
                  <a:pt x="6102648" y="1563710"/>
                  <a:pt x="6118912" y="1542579"/>
                  <a:pt x="6131852" y="1519548"/>
                </a:cubicBezTo>
                <a:cubicBezTo>
                  <a:pt x="6211035" y="1379109"/>
                  <a:pt x="6339010" y="1293397"/>
                  <a:pt x="6475175" y="1219675"/>
                </a:cubicBezTo>
                <a:cubicBezTo>
                  <a:pt x="6714504" y="1090157"/>
                  <a:pt x="6971640" y="1007769"/>
                  <a:pt x="7236611" y="951023"/>
                </a:cubicBezTo>
                <a:cubicBezTo>
                  <a:pt x="7448517" y="905674"/>
                  <a:pt x="7661254" y="863293"/>
                  <a:pt x="7874703" y="826136"/>
                </a:cubicBezTo>
                <a:cubicBezTo>
                  <a:pt x="7989025" y="806191"/>
                  <a:pt x="8105840" y="799543"/>
                  <a:pt x="8221587" y="788147"/>
                </a:cubicBezTo>
                <a:cubicBezTo>
                  <a:pt x="8684456" y="742917"/>
                  <a:pt x="9149105" y="746715"/>
                  <a:pt x="9613279" y="733657"/>
                </a:cubicBezTo>
                <a:cubicBezTo>
                  <a:pt x="9888816" y="725940"/>
                  <a:pt x="10163403" y="683915"/>
                  <a:pt x="10438465" y="657561"/>
                </a:cubicBezTo>
                <a:cubicBezTo>
                  <a:pt x="10738101" y="628832"/>
                  <a:pt x="11030020" y="560689"/>
                  <a:pt x="11318022" y="477352"/>
                </a:cubicBezTo>
                <a:cubicBezTo>
                  <a:pt x="11549278" y="410397"/>
                  <a:pt x="11779111" y="334894"/>
                  <a:pt x="11977482" y="192555"/>
                </a:cubicBezTo>
                <a:cubicBezTo>
                  <a:pt x="12055122" y="136878"/>
                  <a:pt x="12120890" y="64700"/>
                  <a:pt x="12192000" y="0"/>
                </a:cubicBezTo>
                <a:cubicBezTo>
                  <a:pt x="12192000" y="625270"/>
                  <a:pt x="12192000" y="1250541"/>
                  <a:pt x="12192000" y="1875811"/>
                </a:cubicBezTo>
                <a:cubicBezTo>
                  <a:pt x="8128040" y="1875811"/>
                  <a:pt x="4063961" y="1875811"/>
                  <a:pt x="0" y="1875811"/>
                </a:cubicBezTo>
                <a:cubicBezTo>
                  <a:pt x="119" y="1258138"/>
                  <a:pt x="119" y="640822"/>
                  <a:pt x="119" y="23506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90000"/>
                </a:schemeClr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8946" y="2829852"/>
            <a:ext cx="114896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b="1" spc="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Python</a:t>
            </a:r>
            <a:r>
              <a:rPr lang="zh-CN" altLang="en-US" sz="5400" b="1" spc="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科研计算基础与环境搭建</a:t>
            </a:r>
            <a:endParaRPr lang="zh-CN" altLang="en-US" sz="5400" b="1" spc="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488912" y="4516894"/>
            <a:ext cx="0" cy="35949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05" y="155575"/>
            <a:ext cx="4081780" cy="1129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7158" y="451485"/>
            <a:ext cx="11554772" cy="824669"/>
          </a:xfrm>
          <a:prstGeom prst="rect">
            <a:avLst/>
          </a:prstGeom>
          <a:solidFill>
            <a:srgbClr val="003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 flipV="1">
            <a:off x="316523" y="1276488"/>
            <a:ext cx="11554772" cy="36000"/>
          </a:xfrm>
          <a:prstGeom prst="rect">
            <a:avLst/>
          </a:prstGeom>
          <a:solidFill>
            <a:schemeClr val="accent1"/>
          </a:solidFill>
          <a:ln w="47625" cap="flat" cmpd="sng">
            <a:noFill/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05872" y="646551"/>
            <a:ext cx="3545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235835" y="646439"/>
            <a:ext cx="3545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906461" y="2086264"/>
            <a:ext cx="10332771" cy="3036570"/>
            <a:chOff x="559868" y="2108566"/>
            <a:chExt cx="10644432" cy="3036570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617433" y="2108566"/>
              <a:ext cx="1996519" cy="3036570"/>
            </a:xfrm>
            <a:prstGeom prst="rect">
              <a:avLst/>
            </a:prstGeom>
            <a:noFill/>
            <a:ln>
              <a:gradFill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5400000" scaled="1"/>
                    <a:tileRect/>
                  </a:gra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5"/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1022526" y="2757413"/>
              <a:ext cx="10700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5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559868" y="3680402"/>
              <a:ext cx="199651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任务要求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5"/>
              </p:custDataLst>
            </p:nvPr>
          </p:nvSpPr>
          <p:spPr>
            <a:xfrm>
              <a:off x="5041803" y="2108566"/>
              <a:ext cx="1996519" cy="3036570"/>
            </a:xfrm>
            <a:prstGeom prst="rect">
              <a:avLst/>
            </a:prstGeom>
            <a:noFill/>
            <a:ln>
              <a:gradFill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5400000" scaled="1"/>
                    <a:tileRect/>
                  </a:gra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5"/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5439700" y="2757413"/>
              <a:ext cx="10700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5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5041803" y="3680402"/>
              <a:ext cx="199651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工具简介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8"/>
              </p:custDataLst>
            </p:nvPr>
          </p:nvSpPr>
          <p:spPr>
            <a:xfrm>
              <a:off x="9207781" y="2108566"/>
              <a:ext cx="1996519" cy="3036570"/>
            </a:xfrm>
            <a:prstGeom prst="rect">
              <a:avLst/>
            </a:prstGeom>
            <a:noFill/>
            <a:ln>
              <a:gradFill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5400000" scaled="1"/>
                    <a:tileRect/>
                  </a:gra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5"/>
            </a:p>
          </p:txBody>
        </p:sp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9671094" y="2757413"/>
              <a:ext cx="10700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5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9207781" y="3680402"/>
              <a:ext cx="1996519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详细</a:t>
              </a:r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操作步骤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6523" y="3317631"/>
            <a:ext cx="11554772" cy="3024554"/>
          </a:xfrm>
          <a:prstGeom prst="rect">
            <a:avLst/>
          </a:prstGeom>
          <a:solidFill>
            <a:srgbClr val="00329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>
                        <a:alpha val="7000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6690" y="4099873"/>
            <a:ext cx="354598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zh-CN" altLang="en-US" sz="4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4142" y="4990068"/>
            <a:ext cx="39754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cap="all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assignment</a:t>
            </a:r>
            <a:endParaRPr lang="en-US" altLang="zh-CN" cap="all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96340" y="5854455"/>
            <a:ext cx="1001331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183755" y="1236297"/>
            <a:ext cx="508889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b="1" spc="-270">
                <a:gradFill>
                  <a:gsLst>
                    <a:gs pos="88000">
                      <a:schemeClr val="bg1"/>
                    </a:gs>
                    <a:gs pos="25000">
                      <a:schemeClr val="accent1"/>
                    </a:gs>
                    <a:gs pos="0">
                      <a:schemeClr val="accent1"/>
                    </a:gs>
                  </a:gsLst>
                  <a:lin ang="5400000" scaled="1"/>
                </a:gradFill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26000" b="1" spc="-270">
              <a:solidFill>
                <a:srgbClr val="00329F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 flipV="1">
            <a:off x="316523" y="1276488"/>
            <a:ext cx="11554772" cy="36000"/>
          </a:xfrm>
          <a:prstGeom prst="rect">
            <a:avLst/>
          </a:prstGeom>
          <a:solidFill>
            <a:schemeClr val="accent1"/>
          </a:solidFill>
          <a:ln w="47625" cap="flat" cmpd="sng">
            <a:noFill/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形 3" descr="C:/Users/Administrator/Desktop/fill_w720_h480_g0_mark_2025070617270286.pngfill_w720_h480_g0_mark_2025070617270286"/>
          <p:cNvPicPr>
            <a:picLocks noChangeAspect="1"/>
          </p:cNvPicPr>
          <p:nvPr/>
        </p:nvPicPr>
        <p:blipFill>
          <a:blip r:embed="rId1"/>
          <a:srcRect l="20290" t="38752" r="16296" b="36906"/>
          <a:stretch>
            <a:fillRect/>
          </a:stretch>
        </p:blipFill>
        <p:spPr>
          <a:xfrm>
            <a:off x="386715" y="393700"/>
            <a:ext cx="3291840" cy="842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1.1 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目的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20675" y="1271270"/>
            <a:ext cx="2742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本视频将完成以下目标：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1918932" y="1818634"/>
            <a:ext cx="8157687" cy="4660994"/>
          </a:xfrm>
          <a:prstGeom prst="roundRect">
            <a:avLst>
              <a:gd name="adj" fmla="val 6164"/>
            </a:avLst>
          </a:prstGeom>
          <a:solidFill>
            <a:srgbClr val="FCF6E8"/>
          </a:solidFill>
          <a:ln w="25400">
            <a:solidFill>
              <a:schemeClr val="tx1"/>
            </a:solidFill>
          </a:ln>
          <a:effectLst>
            <a:outerShdw dist="508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524766" y="2076053"/>
            <a:ext cx="274961" cy="274961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2158296" y="2076053"/>
            <a:ext cx="274961" cy="274961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7430" y="2350770"/>
            <a:ext cx="7588885" cy="3896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理解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Anaconda、PyCharm、Jupyter Notebook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三者分别解决什么问题。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Windows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系统完成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Anaconda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安装。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掌握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Conda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虚拟环境的创建、激活、查看和切换。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能够启动和使用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Jupyter Notebook。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能够让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Jupyter Notebook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使用指定的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Conda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虚拟环境。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完成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PyCharm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安装，并在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PyCharm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中运行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Python/Jupyter Notebook。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PyCharm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中配置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Conda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环境作为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Python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解释器和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Jupyter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内核。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完成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NumPy、pandas、Matplotlib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的基础导入与运行。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1.2 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最终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目标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20675" y="1271270"/>
            <a:ext cx="4670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视频看完，至少能够独立完成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31"/>
          <p:cNvSpPr/>
          <p:nvPr/>
        </p:nvSpPr>
        <p:spPr>
          <a:xfrm>
            <a:off x="648969" y="2771448"/>
            <a:ext cx="11275060" cy="2376169"/>
          </a:xfrm>
          <a:custGeom>
            <a:avLst/>
            <a:gdLst>
              <a:gd name="connsiteX0" fmla="*/ 11186160 w 11275060"/>
              <a:gd name="connsiteY0" fmla="*/ 690880 h 2376169"/>
              <a:gd name="connsiteX1" fmla="*/ 10777220 w 11275060"/>
              <a:gd name="connsiteY1" fmla="*/ 193040 h 2376169"/>
              <a:gd name="connsiteX2" fmla="*/ 10144760 w 11275060"/>
              <a:gd name="connsiteY2" fmla="*/ 0 h 2376169"/>
              <a:gd name="connsiteX3" fmla="*/ 0 w 11275060"/>
              <a:gd name="connsiteY3" fmla="*/ 0 h 2376169"/>
              <a:gd name="connsiteX4" fmla="*/ 0 w 11275060"/>
              <a:gd name="connsiteY4" fmla="*/ 381000 h 2376169"/>
              <a:gd name="connsiteX5" fmla="*/ 0 w 11275060"/>
              <a:gd name="connsiteY5" fmla="*/ 381000 h 2376169"/>
              <a:gd name="connsiteX6" fmla="*/ 10144760 w 11275060"/>
              <a:gd name="connsiteY6" fmla="*/ 381000 h 2376169"/>
              <a:gd name="connsiteX7" fmla="*/ 10436860 w 11275060"/>
              <a:gd name="connsiteY7" fmla="*/ 439420 h 2376169"/>
              <a:gd name="connsiteX8" fmla="*/ 10767060 w 11275060"/>
              <a:gd name="connsiteY8" fmla="*/ 711200 h 2376169"/>
              <a:gd name="connsiteX9" fmla="*/ 10861040 w 11275060"/>
              <a:gd name="connsiteY9" fmla="*/ 906780 h 2376169"/>
              <a:gd name="connsiteX10" fmla="*/ 10895330 w 11275060"/>
              <a:gd name="connsiteY10" fmla="*/ 1130300 h 2376169"/>
              <a:gd name="connsiteX11" fmla="*/ 10895330 w 11275060"/>
              <a:gd name="connsiteY11" fmla="*/ 1130300 h 2376169"/>
              <a:gd name="connsiteX12" fmla="*/ 10836910 w 11275060"/>
              <a:gd name="connsiteY12" fmla="*/ 1422400 h 2376169"/>
              <a:gd name="connsiteX13" fmla="*/ 10565130 w 11275060"/>
              <a:gd name="connsiteY13" fmla="*/ 1752600 h 2376169"/>
              <a:gd name="connsiteX14" fmla="*/ 10369550 w 11275060"/>
              <a:gd name="connsiteY14" fmla="*/ 1846580 h 2376169"/>
              <a:gd name="connsiteX15" fmla="*/ 10146030 w 11275060"/>
              <a:gd name="connsiteY15" fmla="*/ 1880870 h 2376169"/>
              <a:gd name="connsiteX16" fmla="*/ 278130 w 11275060"/>
              <a:gd name="connsiteY16" fmla="*/ 1880870 h 2376169"/>
              <a:gd name="connsiteX17" fmla="*/ 278130 w 11275060"/>
              <a:gd name="connsiteY17" fmla="*/ 1766570 h 2376169"/>
              <a:gd name="connsiteX18" fmla="*/ 0 w 11275060"/>
              <a:gd name="connsiteY18" fmla="*/ 2071370 h 2376169"/>
              <a:gd name="connsiteX19" fmla="*/ 0 w 11275060"/>
              <a:gd name="connsiteY19" fmla="*/ 2071370 h 2376169"/>
              <a:gd name="connsiteX20" fmla="*/ 0 w 11275060"/>
              <a:gd name="connsiteY20" fmla="*/ 2071370 h 2376169"/>
              <a:gd name="connsiteX21" fmla="*/ 278130 w 11275060"/>
              <a:gd name="connsiteY21" fmla="*/ 2376170 h 2376169"/>
              <a:gd name="connsiteX22" fmla="*/ 278130 w 11275060"/>
              <a:gd name="connsiteY22" fmla="*/ 2261870 h 2376169"/>
              <a:gd name="connsiteX23" fmla="*/ 10143490 w 11275060"/>
              <a:gd name="connsiteY23" fmla="*/ 2261870 h 2376169"/>
              <a:gd name="connsiteX24" fmla="*/ 10584180 w 11275060"/>
              <a:gd name="connsiteY24" fmla="*/ 2172970 h 2376169"/>
              <a:gd name="connsiteX25" fmla="*/ 11082020 w 11275060"/>
              <a:gd name="connsiteY25" fmla="*/ 1764030 h 2376169"/>
              <a:gd name="connsiteX26" fmla="*/ 11275060 w 11275060"/>
              <a:gd name="connsiteY26" fmla="*/ 1131570 h 2376169"/>
              <a:gd name="connsiteX27" fmla="*/ 11275060 w 11275060"/>
              <a:gd name="connsiteY27" fmla="*/ 1131570 h 2376169"/>
              <a:gd name="connsiteX28" fmla="*/ 11186160 w 11275060"/>
              <a:gd name="connsiteY28" fmla="*/ 690880 h 2376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275060" h="2376169">
                <a:moveTo>
                  <a:pt x="11186160" y="690880"/>
                </a:moveTo>
                <a:cubicBezTo>
                  <a:pt x="11099800" y="487680"/>
                  <a:pt x="10957560" y="314960"/>
                  <a:pt x="10777220" y="193040"/>
                </a:cubicBezTo>
                <a:cubicBezTo>
                  <a:pt x="10596880" y="71120"/>
                  <a:pt x="10378440" y="0"/>
                  <a:pt x="10144760" y="0"/>
                </a:cubicBezTo>
                <a:lnTo>
                  <a:pt x="0" y="0"/>
                </a:lnTo>
                <a:lnTo>
                  <a:pt x="0" y="381000"/>
                </a:lnTo>
                <a:lnTo>
                  <a:pt x="0" y="381000"/>
                </a:lnTo>
                <a:lnTo>
                  <a:pt x="10144760" y="381000"/>
                </a:lnTo>
                <a:cubicBezTo>
                  <a:pt x="10248900" y="381000"/>
                  <a:pt x="10346690" y="402590"/>
                  <a:pt x="10436860" y="439420"/>
                </a:cubicBezTo>
                <a:cubicBezTo>
                  <a:pt x="10571480" y="496570"/>
                  <a:pt x="10685780" y="591820"/>
                  <a:pt x="10767060" y="711200"/>
                </a:cubicBezTo>
                <a:cubicBezTo>
                  <a:pt x="10807700" y="770890"/>
                  <a:pt x="10839450" y="836930"/>
                  <a:pt x="10861040" y="906780"/>
                </a:cubicBezTo>
                <a:cubicBezTo>
                  <a:pt x="10882630" y="976630"/>
                  <a:pt x="10895330" y="1051560"/>
                  <a:pt x="10895330" y="1130300"/>
                </a:cubicBezTo>
                <a:lnTo>
                  <a:pt x="10895330" y="1130300"/>
                </a:lnTo>
                <a:cubicBezTo>
                  <a:pt x="10895330" y="1234440"/>
                  <a:pt x="10873740" y="1332230"/>
                  <a:pt x="10836910" y="1422400"/>
                </a:cubicBezTo>
                <a:cubicBezTo>
                  <a:pt x="10779760" y="1557020"/>
                  <a:pt x="10684510" y="1671320"/>
                  <a:pt x="10565130" y="1752600"/>
                </a:cubicBezTo>
                <a:cubicBezTo>
                  <a:pt x="10505440" y="1793240"/>
                  <a:pt x="10439400" y="1824990"/>
                  <a:pt x="10369550" y="1846580"/>
                </a:cubicBezTo>
                <a:cubicBezTo>
                  <a:pt x="10299700" y="1868170"/>
                  <a:pt x="10224770" y="1880870"/>
                  <a:pt x="10146030" y="1880870"/>
                </a:cubicBezTo>
                <a:lnTo>
                  <a:pt x="278130" y="1880870"/>
                </a:lnTo>
                <a:lnTo>
                  <a:pt x="278130" y="1766570"/>
                </a:lnTo>
                <a:lnTo>
                  <a:pt x="0" y="2071370"/>
                </a:lnTo>
                <a:lnTo>
                  <a:pt x="0" y="2071370"/>
                </a:lnTo>
                <a:lnTo>
                  <a:pt x="0" y="2071370"/>
                </a:lnTo>
                <a:lnTo>
                  <a:pt x="278130" y="2376170"/>
                </a:lnTo>
                <a:lnTo>
                  <a:pt x="278130" y="2261870"/>
                </a:lnTo>
                <a:lnTo>
                  <a:pt x="10143490" y="2261870"/>
                </a:lnTo>
                <a:cubicBezTo>
                  <a:pt x="10299700" y="2261870"/>
                  <a:pt x="10448290" y="2230120"/>
                  <a:pt x="10584180" y="2172970"/>
                </a:cubicBezTo>
                <a:cubicBezTo>
                  <a:pt x="10787380" y="2086610"/>
                  <a:pt x="10960100" y="1944370"/>
                  <a:pt x="11082020" y="1764030"/>
                </a:cubicBezTo>
                <a:cubicBezTo>
                  <a:pt x="11203940" y="1583690"/>
                  <a:pt x="11275060" y="1365250"/>
                  <a:pt x="11275060" y="1131570"/>
                </a:cubicBezTo>
                <a:lnTo>
                  <a:pt x="11275060" y="1131570"/>
                </a:lnTo>
                <a:cubicBezTo>
                  <a:pt x="11275060" y="975360"/>
                  <a:pt x="11243310" y="825500"/>
                  <a:pt x="11186160" y="690880"/>
                </a:cubicBezTo>
                <a:close/>
              </a:path>
            </a:pathLst>
          </a:custGeom>
          <a:solidFill>
            <a:srgbClr val="00329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形状 24"/>
          <p:cNvSpPr/>
          <p:nvPr/>
        </p:nvSpPr>
        <p:spPr>
          <a:xfrm>
            <a:off x="2230400" y="269901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0" name="任意形状 18"/>
          <p:cNvSpPr/>
          <p:nvPr/>
        </p:nvSpPr>
        <p:spPr>
          <a:xfrm>
            <a:off x="5714264" y="269901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1" name="任意形状 19"/>
          <p:cNvSpPr/>
          <p:nvPr/>
        </p:nvSpPr>
        <p:spPr>
          <a:xfrm>
            <a:off x="9198128" y="269901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2" name="任意形状 20"/>
          <p:cNvSpPr/>
          <p:nvPr/>
        </p:nvSpPr>
        <p:spPr>
          <a:xfrm>
            <a:off x="2230400" y="457353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六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3" name="任意形状 21"/>
          <p:cNvSpPr/>
          <p:nvPr/>
        </p:nvSpPr>
        <p:spPr>
          <a:xfrm>
            <a:off x="5714264" y="457353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五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4" name="任意形状 22"/>
          <p:cNvSpPr/>
          <p:nvPr/>
        </p:nvSpPr>
        <p:spPr>
          <a:xfrm>
            <a:off x="9198128" y="4573532"/>
            <a:ext cx="857960" cy="529925"/>
          </a:xfrm>
          <a:custGeom>
            <a:avLst/>
            <a:gdLst>
              <a:gd name="connsiteX0" fmla="*/ 518160 w 628650"/>
              <a:gd name="connsiteY0" fmla="*/ 628650 h 628650"/>
              <a:gd name="connsiteX1" fmla="*/ 110490 w 628650"/>
              <a:gd name="connsiteY1" fmla="*/ 628650 h 628650"/>
              <a:gd name="connsiteX2" fmla="*/ 0 w 628650"/>
              <a:gd name="connsiteY2" fmla="*/ 518160 h 628650"/>
              <a:gd name="connsiteX3" fmla="*/ 0 w 628650"/>
              <a:gd name="connsiteY3" fmla="*/ 110490 h 628650"/>
              <a:gd name="connsiteX4" fmla="*/ 110490 w 628650"/>
              <a:gd name="connsiteY4" fmla="*/ 0 h 628650"/>
              <a:gd name="connsiteX5" fmla="*/ 518160 w 628650"/>
              <a:gd name="connsiteY5" fmla="*/ 0 h 628650"/>
              <a:gd name="connsiteX6" fmla="*/ 628650 w 628650"/>
              <a:gd name="connsiteY6" fmla="*/ 110490 h 628650"/>
              <a:gd name="connsiteX7" fmla="*/ 628650 w 628650"/>
              <a:gd name="connsiteY7" fmla="*/ 518160 h 628650"/>
              <a:gd name="connsiteX8" fmla="*/ 518160 w 628650"/>
              <a:gd name="connsiteY8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50" h="628650">
                <a:moveTo>
                  <a:pt x="518160" y="628650"/>
                </a:moveTo>
                <a:lnTo>
                  <a:pt x="110490" y="628650"/>
                </a:lnTo>
                <a:cubicBezTo>
                  <a:pt x="49530" y="628650"/>
                  <a:pt x="0" y="579120"/>
                  <a:pt x="0" y="518160"/>
                </a:cubicBezTo>
                <a:lnTo>
                  <a:pt x="0" y="110490"/>
                </a:lnTo>
                <a:cubicBezTo>
                  <a:pt x="0" y="49530"/>
                  <a:pt x="49530" y="0"/>
                  <a:pt x="110490" y="0"/>
                </a:cubicBezTo>
                <a:lnTo>
                  <a:pt x="518160" y="0"/>
                </a:lnTo>
                <a:cubicBezTo>
                  <a:pt x="579120" y="0"/>
                  <a:pt x="628650" y="49530"/>
                  <a:pt x="628650" y="110490"/>
                </a:cubicBezTo>
                <a:lnTo>
                  <a:pt x="628650" y="518160"/>
                </a:lnTo>
                <a:cubicBezTo>
                  <a:pt x="628650" y="579120"/>
                  <a:pt x="579120" y="628650"/>
                  <a:pt x="518160" y="628650"/>
                </a:cubicBezTo>
                <a:close/>
              </a:path>
            </a:pathLst>
          </a:custGeom>
          <a:solidFill>
            <a:srgbClr val="00329F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四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cxnSp>
        <p:nvCxnSpPr>
          <p:cNvPr id="37" name="直线箭头连接符 54"/>
          <p:cNvCxnSpPr/>
          <p:nvPr/>
        </p:nvCxnSpPr>
        <p:spPr>
          <a:xfrm flipV="1">
            <a:off x="2659380" y="2268618"/>
            <a:ext cx="0" cy="430394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55"/>
          <p:cNvCxnSpPr/>
          <p:nvPr/>
        </p:nvCxnSpPr>
        <p:spPr>
          <a:xfrm flipV="1">
            <a:off x="6143244" y="2268618"/>
            <a:ext cx="0" cy="430394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56"/>
          <p:cNvCxnSpPr/>
          <p:nvPr/>
        </p:nvCxnSpPr>
        <p:spPr>
          <a:xfrm flipV="1">
            <a:off x="9627108" y="2268618"/>
            <a:ext cx="0" cy="430394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58"/>
          <p:cNvCxnSpPr/>
          <p:nvPr/>
        </p:nvCxnSpPr>
        <p:spPr>
          <a:xfrm>
            <a:off x="2659380" y="5103457"/>
            <a:ext cx="0" cy="424903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59"/>
          <p:cNvCxnSpPr/>
          <p:nvPr/>
        </p:nvCxnSpPr>
        <p:spPr>
          <a:xfrm>
            <a:off x="6143244" y="5103457"/>
            <a:ext cx="0" cy="424903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60"/>
          <p:cNvCxnSpPr/>
          <p:nvPr/>
        </p:nvCxnSpPr>
        <p:spPr>
          <a:xfrm>
            <a:off x="9627108" y="5103457"/>
            <a:ext cx="0" cy="424903"/>
          </a:xfrm>
          <a:prstGeom prst="straightConnector1">
            <a:avLst/>
          </a:prstGeom>
          <a:solidFill>
            <a:srgbClr val="00329F"/>
          </a:solidFill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535430" y="1757680"/>
            <a:ext cx="23456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Anaconda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13655" y="1617345"/>
            <a:ext cx="2345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创建科研环境并安装核心库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53755" y="1617345"/>
            <a:ext cx="2345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启动并运行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Jupyter Notebook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53755" y="5528945"/>
            <a:ext cx="2345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并配置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解释器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13655" y="5589270"/>
            <a:ext cx="2345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导入科学计算库并验证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535430" y="5528310"/>
            <a:ext cx="2345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运行科研数据分析代码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6523" y="3317631"/>
            <a:ext cx="11554772" cy="3024554"/>
          </a:xfrm>
          <a:prstGeom prst="rect">
            <a:avLst/>
          </a:prstGeom>
          <a:solidFill>
            <a:srgbClr val="00329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>
                        <a:alpha val="7000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6690" y="4099873"/>
            <a:ext cx="354598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工具简介</a:t>
            </a:r>
            <a:endParaRPr lang="zh-CN" altLang="en-US" sz="4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4142" y="4990068"/>
            <a:ext cx="39754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cap="all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Tool Overview</a:t>
            </a:r>
            <a:endParaRPr lang="en-US" altLang="zh-CN" cap="all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96340" y="5854455"/>
            <a:ext cx="1001331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183755" y="1236297"/>
            <a:ext cx="508889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b="1" spc="-270">
                <a:gradFill>
                  <a:gsLst>
                    <a:gs pos="88000">
                      <a:schemeClr val="bg1"/>
                    </a:gs>
                    <a:gs pos="25000">
                      <a:schemeClr val="accent1"/>
                    </a:gs>
                    <a:gs pos="0">
                      <a:schemeClr val="accent1"/>
                    </a:gs>
                  </a:gsLst>
                  <a:lin ang="5400000" scaled="1"/>
                </a:gradFill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26000" b="1" spc="-270">
              <a:solidFill>
                <a:srgbClr val="00329F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 flipV="1">
            <a:off x="316523" y="1276488"/>
            <a:ext cx="11554772" cy="36000"/>
          </a:xfrm>
          <a:prstGeom prst="rect">
            <a:avLst/>
          </a:prstGeom>
          <a:solidFill>
            <a:schemeClr val="accent1"/>
          </a:solidFill>
          <a:ln w="47625" cap="flat" cmpd="sng">
            <a:noFill/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形 3" descr="C:/Users/Administrator/Desktop/fill_w720_h480_g0_mark_2025070617270286.pngfill_w720_h480_g0_mark_2025070617270286"/>
          <p:cNvPicPr>
            <a:picLocks noChangeAspect="1"/>
          </p:cNvPicPr>
          <p:nvPr/>
        </p:nvPicPr>
        <p:blipFill>
          <a:blip r:embed="rId1"/>
          <a:srcRect l="20290" t="38752" r="16296" b="36906"/>
          <a:stretch>
            <a:fillRect/>
          </a:stretch>
        </p:blipFill>
        <p:spPr>
          <a:xfrm>
            <a:off x="386715" y="393700"/>
            <a:ext cx="3291840" cy="842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安装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3" y="537952"/>
            <a:ext cx="3112422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Anaconda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简介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15" y="1220470"/>
            <a:ext cx="1122553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3" y="537952"/>
            <a:ext cx="3112422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Anaconda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简介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>
            <p:custDataLst>
              <p:tags r:id="rId3"/>
            </p:custDataLst>
          </p:nvPr>
        </p:nvGrpSpPr>
        <p:grpSpPr>
          <a:xfrm>
            <a:off x="627380" y="1304608"/>
            <a:ext cx="11152371" cy="678056"/>
            <a:chOff x="660400" y="2062798"/>
            <a:chExt cx="11152371" cy="678056"/>
          </a:xfrm>
        </p:grpSpPr>
        <p:sp>
          <p:nvSpPr>
            <p:cNvPr id="37" name="ComponentBackground1"/>
            <p:cNvSpPr/>
            <p:nvPr>
              <p:custDataLst>
                <p:tags r:id="rId4"/>
              </p:custDataLst>
            </p:nvPr>
          </p:nvSpPr>
          <p:spPr>
            <a:xfrm>
              <a:off x="660400" y="2062799"/>
              <a:ext cx="2890520" cy="67805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779820" y="2153762"/>
              <a:ext cx="496130" cy="496128"/>
              <a:chOff x="4961470" y="7196086"/>
              <a:chExt cx="410200" cy="410198"/>
            </a:xfrm>
          </p:grpSpPr>
          <p:sp>
            <p:nvSpPr>
              <p:cNvPr id="42" name="IconBackground1"/>
              <p:cNvSpPr/>
              <p:nvPr>
                <p:custDataLst>
                  <p:tags r:id="rId5"/>
                </p:custDataLst>
              </p:nvPr>
            </p:nvSpPr>
            <p:spPr>
              <a:xfrm>
                <a:off x="4961470" y="7196086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Icon1"/>
              <p:cNvSpPr/>
              <p:nvPr>
                <p:custDataLst>
                  <p:tags r:id="rId6"/>
                </p:custDataLst>
              </p:nvPr>
            </p:nvSpPr>
            <p:spPr>
              <a:xfrm>
                <a:off x="5077570" y="7334435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9" name="Bullet1"/>
            <p:cNvSpPr txBox="1"/>
            <p:nvPr>
              <p:custDataLst>
                <p:tags r:id="rId7"/>
              </p:custDataLst>
            </p:nvPr>
          </p:nvSpPr>
          <p:spPr>
            <a:xfrm>
              <a:off x="1275951" y="2221175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方便安装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" name="Shape1"/>
            <p:cNvSpPr/>
            <p:nvPr>
              <p:custDataLst>
                <p:tags r:id="rId8"/>
              </p:custDataLst>
            </p:nvPr>
          </p:nvSpPr>
          <p:spPr>
            <a:xfrm>
              <a:off x="3700224" y="2153763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" name="Text1"/>
            <p:cNvSpPr/>
            <p:nvPr>
              <p:custDataLst>
                <p:tags r:id="rId9"/>
              </p:custDataLst>
            </p:nvPr>
          </p:nvSpPr>
          <p:spPr>
            <a:xfrm>
              <a:off x="4417252" y="2062798"/>
              <a:ext cx="7395519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就像安装一个应用程序一样简单，它为您预先安装好了许多常用的工具，无需单独配置</a:t>
              </a:r>
              <a:r>
                <a:rPr kumimoji="1" lang="zh-CN" altLang="en-US" sz="1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627380" y="2265761"/>
            <a:ext cx="11152371" cy="701526"/>
            <a:chOff x="660400" y="3581915"/>
            <a:chExt cx="11152371" cy="701526"/>
          </a:xfrm>
        </p:grpSpPr>
        <p:grpSp>
          <p:nvGrpSpPr>
            <p:cNvPr id="29" name="组合 28"/>
            <p:cNvGrpSpPr/>
            <p:nvPr/>
          </p:nvGrpSpPr>
          <p:grpSpPr>
            <a:xfrm>
              <a:off x="660400" y="3605388"/>
              <a:ext cx="2890520" cy="678053"/>
              <a:chOff x="1964602" y="1769935"/>
              <a:chExt cx="3883326" cy="910943"/>
            </a:xfrm>
          </p:grpSpPr>
          <p:sp>
            <p:nvSpPr>
              <p:cNvPr id="33" name="ComponentBackground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35" name="IconBackground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Icon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0" name="Bullet2"/>
            <p:cNvSpPr txBox="1"/>
            <p:nvPr>
              <p:custDataLst>
                <p:tags r:id="rId14"/>
              </p:custDataLst>
            </p:nvPr>
          </p:nvSpPr>
          <p:spPr>
            <a:xfrm>
              <a:off x="1275951" y="3763764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包管理器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1" name="Shape2"/>
            <p:cNvSpPr/>
            <p:nvPr>
              <p:custDataLst>
                <p:tags r:id="rId15"/>
              </p:custDataLst>
            </p:nvPr>
          </p:nvSpPr>
          <p:spPr>
            <a:xfrm>
              <a:off x="3700224" y="3664770"/>
              <a:ext cx="567724" cy="49612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2" name="Text2"/>
            <p:cNvSpPr/>
            <p:nvPr>
              <p:custDataLst>
                <p:tags r:id="rId16"/>
              </p:custDataLst>
            </p:nvPr>
          </p:nvSpPr>
          <p:spPr>
            <a:xfrm>
              <a:off x="4417253" y="3581915"/>
              <a:ext cx="7395518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包含一个名为 </a:t>
              </a:r>
              <a:r>
                <a:rPr kumimoji="1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Conda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的包管理器，用于安装、更新和管理软件包。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7"/>
            </p:custDataLst>
          </p:nvPr>
        </p:nvGrpSpPr>
        <p:grpSpPr>
          <a:xfrm>
            <a:off x="627380" y="3417552"/>
            <a:ext cx="11152371" cy="678056"/>
            <a:chOff x="660400" y="5116394"/>
            <a:chExt cx="11152371" cy="678056"/>
          </a:xfrm>
        </p:grpSpPr>
        <p:grpSp>
          <p:nvGrpSpPr>
            <p:cNvPr id="21" name="组合 20"/>
            <p:cNvGrpSpPr/>
            <p:nvPr/>
          </p:nvGrpSpPr>
          <p:grpSpPr>
            <a:xfrm>
              <a:off x="660400" y="5116397"/>
              <a:ext cx="2890520" cy="678053"/>
              <a:chOff x="1964602" y="1769935"/>
              <a:chExt cx="3883326" cy="910943"/>
            </a:xfrm>
          </p:grpSpPr>
          <p:sp>
            <p:nvSpPr>
              <p:cNvPr id="25" name="ComponentBackground3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27" name="IconBackground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Icon3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2" name="Bullet3"/>
            <p:cNvSpPr txBox="1"/>
            <p:nvPr>
              <p:custDataLst>
                <p:tags r:id="rId21"/>
              </p:custDataLst>
            </p:nvPr>
          </p:nvSpPr>
          <p:spPr>
            <a:xfrm>
              <a:off x="1275951" y="5274773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环境管理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Shape3"/>
            <p:cNvSpPr/>
            <p:nvPr>
              <p:custDataLst>
                <p:tags r:id="rId22"/>
              </p:custDataLst>
            </p:nvPr>
          </p:nvSpPr>
          <p:spPr>
            <a:xfrm>
              <a:off x="3700224" y="5207360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4" name="Text3"/>
            <p:cNvSpPr/>
            <p:nvPr>
              <p:custDataLst>
                <p:tags r:id="rId23"/>
              </p:custDataLst>
            </p:nvPr>
          </p:nvSpPr>
          <p:spPr>
            <a:xfrm>
              <a:off x="4417253" y="5116394"/>
              <a:ext cx="7395518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可以轻松地创建和管理多个独立的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Python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环境，比如可以安装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python2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和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python3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环境，实现自由切换。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4"/>
            </p:custDataLst>
          </p:nvPr>
        </p:nvGrpSpPr>
        <p:grpSpPr>
          <a:xfrm>
            <a:off x="627281" y="4486869"/>
            <a:ext cx="10937438" cy="701526"/>
            <a:chOff x="660400" y="3581915"/>
            <a:chExt cx="10937438" cy="701526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3605388"/>
              <a:ext cx="2890520" cy="678053"/>
              <a:chOff x="1964602" y="1769935"/>
              <a:chExt cx="3883326" cy="910943"/>
            </a:xfrm>
          </p:grpSpPr>
          <p:sp>
            <p:nvSpPr>
              <p:cNvPr id="5" name="ComponentBackground2"/>
              <p:cNvSpPr/>
              <p:nvPr>
                <p:custDataLst>
                  <p:tags r:id="rId25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7" name="IconBackground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Icon2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Bullet2"/>
            <p:cNvSpPr txBox="1"/>
            <p:nvPr>
              <p:custDataLst>
                <p:tags r:id="rId28"/>
              </p:custDataLst>
            </p:nvPr>
          </p:nvSpPr>
          <p:spPr>
            <a:xfrm>
              <a:off x="1275951" y="3763764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 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集成工具和库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Shape2"/>
            <p:cNvSpPr/>
            <p:nvPr>
              <p:custDataLst>
                <p:tags r:id="rId29"/>
              </p:custDataLst>
            </p:nvPr>
          </p:nvSpPr>
          <p:spPr>
            <a:xfrm>
              <a:off x="3700224" y="3664770"/>
              <a:ext cx="567724" cy="49612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" name="Text2"/>
            <p:cNvSpPr/>
            <p:nvPr>
              <p:custDataLst>
                <p:tags r:id="rId30"/>
              </p:custDataLst>
            </p:nvPr>
          </p:nvSpPr>
          <p:spPr>
            <a:xfrm>
              <a:off x="4417253" y="3581915"/>
              <a:ext cx="7180585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捆绑了许多用于数据科学、机器学习和科学计算的重要工具和库，如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NumPy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、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Pandas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、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Matplotlib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、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SciPy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、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Scikit-learn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等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31"/>
            </p:custDataLst>
          </p:nvPr>
        </p:nvGrpSpPr>
        <p:grpSpPr>
          <a:xfrm>
            <a:off x="627298" y="5621865"/>
            <a:ext cx="10706763" cy="678056"/>
            <a:chOff x="660400" y="5116394"/>
            <a:chExt cx="10706763" cy="678056"/>
          </a:xfrm>
        </p:grpSpPr>
        <p:grpSp>
          <p:nvGrpSpPr>
            <p:cNvPr id="13" name="组合 12"/>
            <p:cNvGrpSpPr/>
            <p:nvPr/>
          </p:nvGrpSpPr>
          <p:grpSpPr>
            <a:xfrm>
              <a:off x="660400" y="5116397"/>
              <a:ext cx="2890520" cy="678053"/>
              <a:chOff x="1964602" y="1769935"/>
              <a:chExt cx="3883326" cy="910943"/>
            </a:xfrm>
          </p:grpSpPr>
          <p:sp>
            <p:nvSpPr>
              <p:cNvPr id="14" name="ComponentBackground3"/>
              <p:cNvSpPr/>
              <p:nvPr>
                <p:custDataLst>
                  <p:tags r:id="rId32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16" name="IconBackground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Icon3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4" name="Bullet3"/>
            <p:cNvSpPr txBox="1"/>
            <p:nvPr>
              <p:custDataLst>
                <p:tags r:id="rId35"/>
              </p:custDataLst>
            </p:nvPr>
          </p:nvSpPr>
          <p:spPr>
            <a:xfrm>
              <a:off x="1275951" y="5274773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跨平台性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" name="Shape3"/>
            <p:cNvSpPr/>
            <p:nvPr>
              <p:custDataLst>
                <p:tags r:id="rId36"/>
              </p:custDataLst>
            </p:nvPr>
          </p:nvSpPr>
          <p:spPr>
            <a:xfrm>
              <a:off x="3700224" y="5207360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" name="Text3"/>
            <p:cNvSpPr/>
            <p:nvPr>
              <p:custDataLst>
                <p:tags r:id="rId37"/>
              </p:custDataLst>
            </p:nvPr>
          </p:nvSpPr>
          <p:spPr>
            <a:xfrm>
              <a:off x="4342822" y="5116394"/>
              <a:ext cx="7024341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可在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Windows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、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macOS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和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Linux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等操作系统上运行，使其成为一个跨平台的解决方案。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5059680" cy="1269942"/>
              <a:chOff x="766969" y="2489885"/>
              <a:chExt cx="5059680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17159" y="2626410"/>
                <a:ext cx="4809490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2.2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Jupyter Notebook</a:t>
                </a:r>
                <a:endParaRPr lang="en-US" altLang="zh-CN" sz="24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392049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329F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Jupyter Notebook</a:t>
            </a:r>
            <a:r>
              <a:rPr lang="zh-CN" altLang="en-US" sz="2400" b="1" kern="100" dirty="0">
                <a:solidFill>
                  <a:srgbClr val="00329F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简介</a:t>
            </a:r>
            <a:endParaRPr lang="zh-CN" altLang="en-US" sz="2400" b="1" kern="100" dirty="0">
              <a:solidFill>
                <a:srgbClr val="00329F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785486" y="1610194"/>
            <a:ext cx="8234223" cy="4436749"/>
          </a:xfrm>
          <a:prstGeom prst="roundRect">
            <a:avLst>
              <a:gd name="adj" fmla="val 6164"/>
            </a:avLst>
          </a:prstGeom>
          <a:solidFill>
            <a:srgbClr val="FCF6E8"/>
          </a:solidFill>
          <a:ln w="25400">
            <a:solidFill>
              <a:schemeClr val="tx1"/>
            </a:solidFill>
          </a:ln>
          <a:effectLst>
            <a:outerShdw dist="508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是一个开源的交互式计算环境，广泛应用于数据科学、机器学习、科学研究等领域，主要组件有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Notebook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Lab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JupyterLab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作为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Notebook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的继承者，提供了更现代化和功能丰富的界面。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JupyterLab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的多文档界面、内置协作功能和扩展系统使其成为数据科学家和研究人员的首选。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5059680" cy="1269942"/>
              <a:chOff x="766969" y="2489885"/>
              <a:chExt cx="5059680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17159" y="2626410"/>
                <a:ext cx="4809490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2.2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Jupyter Notebook</a:t>
                </a:r>
                <a:endParaRPr lang="en-US" altLang="zh-CN" sz="24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392049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329F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Jupyter Notebook</a:t>
            </a:r>
            <a:r>
              <a:rPr lang="zh-CN" altLang="en-US" sz="2400" b="1" kern="100" dirty="0">
                <a:solidFill>
                  <a:srgbClr val="00329F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简介</a:t>
            </a:r>
            <a:endParaRPr lang="zh-CN" altLang="en-US" sz="2400" b="1" kern="100" dirty="0">
              <a:solidFill>
                <a:srgbClr val="00329F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8" name="组合 17"/>
          <p:cNvGrpSpPr/>
          <p:nvPr>
            <p:custDataLst>
              <p:tags r:id="rId3"/>
            </p:custDataLst>
          </p:nvPr>
        </p:nvGrpSpPr>
        <p:grpSpPr>
          <a:xfrm>
            <a:off x="627380" y="1304608"/>
            <a:ext cx="11152371" cy="678056"/>
            <a:chOff x="660400" y="2062798"/>
            <a:chExt cx="11152371" cy="678056"/>
          </a:xfrm>
        </p:grpSpPr>
        <p:sp>
          <p:nvSpPr>
            <p:cNvPr id="37" name="ComponentBackground1"/>
            <p:cNvSpPr/>
            <p:nvPr>
              <p:custDataLst>
                <p:tags r:id="rId4"/>
              </p:custDataLst>
            </p:nvPr>
          </p:nvSpPr>
          <p:spPr>
            <a:xfrm>
              <a:off x="660400" y="2062799"/>
              <a:ext cx="2890520" cy="67805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779820" y="2153762"/>
              <a:ext cx="496130" cy="496128"/>
              <a:chOff x="4961470" y="7196086"/>
              <a:chExt cx="410200" cy="410198"/>
            </a:xfrm>
          </p:grpSpPr>
          <p:sp>
            <p:nvSpPr>
              <p:cNvPr id="42" name="IconBackground1"/>
              <p:cNvSpPr/>
              <p:nvPr>
                <p:custDataLst>
                  <p:tags r:id="rId5"/>
                </p:custDataLst>
              </p:nvPr>
            </p:nvSpPr>
            <p:spPr>
              <a:xfrm>
                <a:off x="4961470" y="7196086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Icon1"/>
              <p:cNvSpPr/>
              <p:nvPr>
                <p:custDataLst>
                  <p:tags r:id="rId6"/>
                </p:custDataLst>
              </p:nvPr>
            </p:nvSpPr>
            <p:spPr>
              <a:xfrm>
                <a:off x="5077570" y="7334435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9" name="Bullet1"/>
            <p:cNvSpPr txBox="1"/>
            <p:nvPr>
              <p:custDataLst>
                <p:tags r:id="rId7"/>
              </p:custDataLst>
            </p:nvPr>
          </p:nvSpPr>
          <p:spPr>
            <a:xfrm>
              <a:off x="1275951" y="2221175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交互式计算环境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" name="Shape1"/>
            <p:cNvSpPr/>
            <p:nvPr>
              <p:custDataLst>
                <p:tags r:id="rId8"/>
              </p:custDataLst>
            </p:nvPr>
          </p:nvSpPr>
          <p:spPr>
            <a:xfrm>
              <a:off x="3700224" y="2153763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" name="Text1"/>
            <p:cNvSpPr/>
            <p:nvPr>
              <p:custDataLst>
                <p:tags r:id="rId9"/>
              </p:custDataLst>
            </p:nvPr>
          </p:nvSpPr>
          <p:spPr>
            <a:xfrm>
              <a:off x="4417252" y="2062798"/>
              <a:ext cx="7395519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基于浏览器的交互式编程环境，支持代码、文本、公式和图表混排，无需复杂配置即可使用。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627380" y="2265761"/>
            <a:ext cx="11152371" cy="701526"/>
            <a:chOff x="660400" y="3581915"/>
            <a:chExt cx="11152371" cy="701526"/>
          </a:xfrm>
        </p:grpSpPr>
        <p:grpSp>
          <p:nvGrpSpPr>
            <p:cNvPr id="29" name="组合 28"/>
            <p:cNvGrpSpPr/>
            <p:nvPr/>
          </p:nvGrpSpPr>
          <p:grpSpPr>
            <a:xfrm>
              <a:off x="660400" y="3605388"/>
              <a:ext cx="2890520" cy="678053"/>
              <a:chOff x="1964602" y="1769935"/>
              <a:chExt cx="3883326" cy="910943"/>
            </a:xfrm>
          </p:grpSpPr>
          <p:sp>
            <p:nvSpPr>
              <p:cNvPr id="33" name="ComponentBackground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35" name="IconBackground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Icon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0" name="Bullet2"/>
            <p:cNvSpPr txBox="1"/>
            <p:nvPr>
              <p:custDataLst>
                <p:tags r:id="rId14"/>
              </p:custDataLst>
            </p:nvPr>
          </p:nvSpPr>
          <p:spPr>
            <a:xfrm>
              <a:off x="1275951" y="3763764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内核支持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1" name="Shape2"/>
            <p:cNvSpPr/>
            <p:nvPr>
              <p:custDataLst>
                <p:tags r:id="rId15"/>
              </p:custDataLst>
            </p:nvPr>
          </p:nvSpPr>
          <p:spPr>
            <a:xfrm>
              <a:off x="3700224" y="3664770"/>
              <a:ext cx="567724" cy="49612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2" name="Text2"/>
            <p:cNvSpPr/>
            <p:nvPr>
              <p:custDataLst>
                <p:tags r:id="rId16"/>
              </p:custDataLst>
            </p:nvPr>
          </p:nvSpPr>
          <p:spPr>
            <a:xfrm>
              <a:off x="4417253" y="3581915"/>
              <a:ext cx="7395518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支持多种编程语言内核（如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Python、R、Julia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等），通过切换内核即可使用不同语言。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7"/>
            </p:custDataLst>
          </p:nvPr>
        </p:nvGrpSpPr>
        <p:grpSpPr>
          <a:xfrm>
            <a:off x="627380" y="3364847"/>
            <a:ext cx="11152371" cy="678056"/>
            <a:chOff x="660400" y="5116394"/>
            <a:chExt cx="11152371" cy="678056"/>
          </a:xfrm>
        </p:grpSpPr>
        <p:grpSp>
          <p:nvGrpSpPr>
            <p:cNvPr id="21" name="组合 20"/>
            <p:cNvGrpSpPr/>
            <p:nvPr/>
          </p:nvGrpSpPr>
          <p:grpSpPr>
            <a:xfrm>
              <a:off x="660400" y="5116397"/>
              <a:ext cx="2890520" cy="678053"/>
              <a:chOff x="1964602" y="1769935"/>
              <a:chExt cx="3883326" cy="910943"/>
            </a:xfrm>
          </p:grpSpPr>
          <p:sp>
            <p:nvSpPr>
              <p:cNvPr id="25" name="ComponentBackground3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27" name="IconBackground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Icon3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2" name="Bullet3"/>
            <p:cNvSpPr txBox="1"/>
            <p:nvPr>
              <p:custDataLst>
                <p:tags r:id="rId21"/>
              </p:custDataLst>
            </p:nvPr>
          </p:nvSpPr>
          <p:spPr>
            <a:xfrm>
              <a:off x="1275951" y="5274773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代码分块执行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Shape3"/>
            <p:cNvSpPr/>
            <p:nvPr>
              <p:custDataLst>
                <p:tags r:id="rId22"/>
              </p:custDataLst>
            </p:nvPr>
          </p:nvSpPr>
          <p:spPr>
            <a:xfrm>
              <a:off x="3700224" y="5207360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4" name="Text3"/>
            <p:cNvSpPr/>
            <p:nvPr>
              <p:custDataLst>
                <p:tags r:id="rId23"/>
              </p:custDataLst>
            </p:nvPr>
          </p:nvSpPr>
          <p:spPr>
            <a:xfrm>
              <a:off x="4417253" y="5116394"/>
              <a:ext cx="7395518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可将代码拆分为独立单元格并逐块执行，便于分段调试和逐步分析。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24"/>
            </p:custDataLst>
          </p:nvPr>
        </p:nvGrpSpPr>
        <p:grpSpPr>
          <a:xfrm>
            <a:off x="627281" y="4486869"/>
            <a:ext cx="10937438" cy="701526"/>
            <a:chOff x="660400" y="3581915"/>
            <a:chExt cx="10937438" cy="701526"/>
          </a:xfrm>
        </p:grpSpPr>
        <p:grpSp>
          <p:nvGrpSpPr>
            <p:cNvPr id="11" name="组合 10"/>
            <p:cNvGrpSpPr/>
            <p:nvPr/>
          </p:nvGrpSpPr>
          <p:grpSpPr>
            <a:xfrm>
              <a:off x="660400" y="3605388"/>
              <a:ext cx="2890520" cy="678053"/>
              <a:chOff x="1964602" y="1769935"/>
              <a:chExt cx="3883326" cy="910943"/>
            </a:xfrm>
          </p:grpSpPr>
          <p:sp>
            <p:nvSpPr>
              <p:cNvPr id="12" name="ComponentBackground2"/>
              <p:cNvSpPr/>
              <p:nvPr>
                <p:custDataLst>
                  <p:tags r:id="rId25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14" name="IconBackground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Icon2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6" name="Bullet2"/>
            <p:cNvSpPr txBox="1"/>
            <p:nvPr>
              <p:custDataLst>
                <p:tags r:id="rId28"/>
              </p:custDataLst>
            </p:nvPr>
          </p:nvSpPr>
          <p:spPr>
            <a:xfrm>
              <a:off x="1275951" y="3763764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 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集成工具和库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Shape2"/>
            <p:cNvSpPr/>
            <p:nvPr>
              <p:custDataLst>
                <p:tags r:id="rId29"/>
              </p:custDataLst>
            </p:nvPr>
          </p:nvSpPr>
          <p:spPr>
            <a:xfrm>
              <a:off x="3700224" y="3664770"/>
              <a:ext cx="567724" cy="49612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" name="Text2"/>
            <p:cNvSpPr/>
            <p:nvPr>
              <p:custDataLst>
                <p:tags r:id="rId30"/>
              </p:custDataLst>
            </p:nvPr>
          </p:nvSpPr>
          <p:spPr>
            <a:xfrm>
              <a:off x="4417253" y="3581915"/>
              <a:ext cx="7180585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与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NumPy、pandas、Matplotlib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等科学计算库无缝集成，可直接在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Notebook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中进行数据分析与可视化。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31"/>
            </p:custDataLst>
          </p:nvPr>
        </p:nvGrpSpPr>
        <p:grpSpPr>
          <a:xfrm>
            <a:off x="627298" y="5621865"/>
            <a:ext cx="10706763" cy="678056"/>
            <a:chOff x="660400" y="5116394"/>
            <a:chExt cx="10706763" cy="678056"/>
          </a:xfrm>
        </p:grpSpPr>
        <p:grpSp>
          <p:nvGrpSpPr>
            <p:cNvPr id="46" name="组合 45"/>
            <p:cNvGrpSpPr/>
            <p:nvPr/>
          </p:nvGrpSpPr>
          <p:grpSpPr>
            <a:xfrm>
              <a:off x="660400" y="5116397"/>
              <a:ext cx="2890520" cy="678053"/>
              <a:chOff x="1964602" y="1769935"/>
              <a:chExt cx="3883326" cy="910943"/>
            </a:xfrm>
          </p:grpSpPr>
          <p:sp>
            <p:nvSpPr>
              <p:cNvPr id="47" name="ComponentBackground3"/>
              <p:cNvSpPr/>
              <p:nvPr>
                <p:custDataLst>
                  <p:tags r:id="rId32"/>
                </p:custDataLst>
              </p:nvPr>
            </p:nvSpPr>
            <p:spPr>
              <a:xfrm>
                <a:off x="1964602" y="1769935"/>
                <a:ext cx="3883326" cy="91094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2125039" y="1892141"/>
                <a:ext cx="666536" cy="666533"/>
                <a:chOff x="4961470" y="7196086"/>
                <a:chExt cx="410200" cy="410198"/>
              </a:xfrm>
            </p:grpSpPr>
            <p:sp>
              <p:nvSpPr>
                <p:cNvPr id="49" name="IconBackground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4961470" y="7196086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Icon3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5077570" y="7334435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51" name="Bullet3"/>
            <p:cNvSpPr txBox="1"/>
            <p:nvPr>
              <p:custDataLst>
                <p:tags r:id="rId35"/>
              </p:custDataLst>
            </p:nvPr>
          </p:nvSpPr>
          <p:spPr>
            <a:xfrm>
              <a:off x="1275951" y="5274773"/>
              <a:ext cx="2091500" cy="38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跨平台性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2" name="Shape3"/>
            <p:cNvSpPr/>
            <p:nvPr>
              <p:custDataLst>
                <p:tags r:id="rId36"/>
              </p:custDataLst>
            </p:nvPr>
          </p:nvSpPr>
          <p:spPr>
            <a:xfrm>
              <a:off x="3700224" y="5207360"/>
              <a:ext cx="567724" cy="49612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3" name="Text3"/>
            <p:cNvSpPr/>
            <p:nvPr>
              <p:custDataLst>
                <p:tags r:id="rId37"/>
              </p:custDataLst>
            </p:nvPr>
          </p:nvSpPr>
          <p:spPr>
            <a:xfrm>
              <a:off x="4342822" y="5116394"/>
              <a:ext cx="7024341" cy="678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基于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Web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浏览器，可在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Windows、macOS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和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Linux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等操作系统上运行，无需额外适配。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6523" y="3317631"/>
            <a:ext cx="11554772" cy="3024554"/>
          </a:xfrm>
          <a:prstGeom prst="rect">
            <a:avLst/>
          </a:prstGeom>
          <a:solidFill>
            <a:srgbClr val="00329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>
                        <a:alpha val="7000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6495" y="4099560"/>
            <a:ext cx="5868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详细安装与配置步骤</a:t>
            </a:r>
            <a:endParaRPr lang="zh-CN" altLang="en-US" sz="4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4435" y="4989830"/>
            <a:ext cx="4537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cap="all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Detailed installation and configuration steps</a:t>
            </a:r>
            <a:endParaRPr lang="en-US" altLang="zh-CN" cap="all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96340" y="5854455"/>
            <a:ext cx="1001331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183755" y="1236297"/>
            <a:ext cx="508889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b="1" spc="-270">
                <a:gradFill>
                  <a:gsLst>
                    <a:gs pos="88000">
                      <a:schemeClr val="bg1"/>
                    </a:gs>
                    <a:gs pos="25000">
                      <a:schemeClr val="accent1"/>
                    </a:gs>
                    <a:gs pos="0">
                      <a:schemeClr val="accent1"/>
                    </a:gs>
                  </a:gsLst>
                  <a:lin ang="5400000" scaled="1"/>
                </a:gradFill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26000" b="1" spc="-270">
              <a:solidFill>
                <a:srgbClr val="00329F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 flipV="1">
            <a:off x="316523" y="1276488"/>
            <a:ext cx="11554772" cy="36000"/>
          </a:xfrm>
          <a:prstGeom prst="rect">
            <a:avLst/>
          </a:prstGeom>
          <a:solidFill>
            <a:schemeClr val="accent1"/>
          </a:solidFill>
          <a:ln w="47625" cap="flat" cmpd="sng">
            <a:noFill/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形 3" descr="C:/Users/Administrator/Desktop/fill_w720_h480_g0_mark_2025070617270286.pngfill_w720_h480_g0_mark_2025070617270286"/>
          <p:cNvPicPr>
            <a:picLocks noChangeAspect="1"/>
          </p:cNvPicPr>
          <p:nvPr/>
        </p:nvPicPr>
        <p:blipFill>
          <a:blip r:embed="rId1"/>
          <a:srcRect l="20290" t="38752" r="16296" b="36906"/>
          <a:stretch>
            <a:fillRect/>
          </a:stretch>
        </p:blipFill>
        <p:spPr>
          <a:xfrm>
            <a:off x="386715" y="393700"/>
            <a:ext cx="3291840" cy="842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安装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下载与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安装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366520" y="1334770"/>
            <a:ext cx="9605645" cy="5179060"/>
          </a:xfrm>
          <a:prstGeom prst="roundRect">
            <a:avLst>
              <a:gd name="adj" fmla="val 6164"/>
            </a:avLst>
          </a:prstGeom>
          <a:solidFill>
            <a:srgbClr val="FCF6E8"/>
          </a:solidFill>
          <a:ln w="25400">
            <a:solidFill>
              <a:schemeClr val="tx1"/>
            </a:solidFill>
          </a:ln>
          <a:effectLst>
            <a:outerShdw dist="508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 descr="b7d13cf0ab2bc7ade7640686f21d6c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645" y="1994535"/>
            <a:ext cx="9367520" cy="44780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957060" y="3281680"/>
            <a:ext cx="2343150" cy="403860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061710" y="3624580"/>
            <a:ext cx="895350" cy="9334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532890" y="1472565"/>
            <a:ext cx="5565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进入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Anaconda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官网点击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下载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安装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下载与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安装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366520" y="1334770"/>
            <a:ext cx="9605645" cy="5179060"/>
          </a:xfrm>
          <a:prstGeom prst="roundRect">
            <a:avLst>
              <a:gd name="adj" fmla="val 6164"/>
            </a:avLst>
          </a:prstGeom>
          <a:solidFill>
            <a:srgbClr val="FCF6E8"/>
          </a:solidFill>
          <a:ln w="25400">
            <a:solidFill>
              <a:schemeClr val="tx1"/>
            </a:solidFill>
          </a:ln>
          <a:effectLst>
            <a:outerShdw dist="508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 descr="1f4502d4323ffb93fe0d9f9cf9302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20" y="1946910"/>
            <a:ext cx="9453245" cy="4519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42720" y="1424940"/>
            <a:ext cx="8211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选择适合自己电脑系统的版本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进行下载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安装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下载与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安装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366520" y="1334770"/>
            <a:ext cx="9605645" cy="5179060"/>
          </a:xfrm>
          <a:prstGeom prst="roundRect">
            <a:avLst>
              <a:gd name="adj" fmla="val 6164"/>
            </a:avLst>
          </a:prstGeom>
          <a:solidFill>
            <a:srgbClr val="FCF6E8"/>
          </a:solidFill>
          <a:ln w="25400">
            <a:solidFill>
              <a:schemeClr val="tx1"/>
            </a:solidFill>
          </a:ln>
          <a:effectLst>
            <a:outerShdw dist="508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490" y="2976245"/>
            <a:ext cx="8669020" cy="18954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81885" y="1807210"/>
            <a:ext cx="7059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下载完成后，点击如图安装包进行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031146" cy="1269942"/>
              <a:chOff x="766969" y="2489885"/>
              <a:chExt cx="4031146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064682" y="2626696"/>
                <a:ext cx="3733433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3.1 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Anaconda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安装</a:t>
                </a:r>
                <a:endParaRPr lang="zh-CN" altLang="en-US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安装与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验证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98830" y="1925320"/>
            <a:ext cx="1788160" cy="68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83920" y="2084705"/>
            <a:ext cx="178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安装程序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35500" y="1237615"/>
            <a:ext cx="1788160" cy="68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706620" y="1299210"/>
            <a:ext cx="17881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选择安装路径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\Anaconda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28180" y="1240155"/>
            <a:ext cx="1778000" cy="68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159625" y="1299210"/>
            <a:ext cx="170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验证安装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conda-version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菱形 43"/>
          <p:cNvSpPr/>
          <p:nvPr/>
        </p:nvSpPr>
        <p:spPr>
          <a:xfrm>
            <a:off x="9301480" y="938530"/>
            <a:ext cx="1098550" cy="1262380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523730" y="1237615"/>
            <a:ext cx="656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验证</a:t>
            </a:r>
            <a:r>
              <a:rPr lang="zh-CN" altLang="en-US"/>
              <a:t>通过？</a:t>
            </a:r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038340" y="3429000"/>
            <a:ext cx="1788160" cy="68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120255" y="3573780"/>
            <a:ext cx="178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环境变量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400030" y="3009265"/>
            <a:ext cx="1788160" cy="68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0636885" y="3168650"/>
            <a:ext cx="1314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137015" y="5408930"/>
            <a:ext cx="1500505" cy="56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9322435" y="5518150"/>
            <a:ext cx="1314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曲线连接符 54"/>
          <p:cNvCxnSpPr>
            <a:stCxn id="38" idx="0"/>
            <a:endCxn id="40" idx="1"/>
          </p:cNvCxnSpPr>
          <p:nvPr/>
        </p:nvCxnSpPr>
        <p:spPr>
          <a:xfrm rot="16200000">
            <a:off x="2992120" y="281940"/>
            <a:ext cx="344170" cy="294259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6494780" y="1483995"/>
            <a:ext cx="533400" cy="43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44" idx="1"/>
          </p:cNvCxnSpPr>
          <p:nvPr/>
        </p:nvCxnSpPr>
        <p:spPr>
          <a:xfrm>
            <a:off x="8778240" y="1483995"/>
            <a:ext cx="523240" cy="85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曲线连接符 58"/>
          <p:cNvCxnSpPr>
            <a:endCxn id="47" idx="0"/>
          </p:cNvCxnSpPr>
          <p:nvPr/>
        </p:nvCxnSpPr>
        <p:spPr>
          <a:xfrm rot="10800000" flipV="1">
            <a:off x="7931785" y="1846580"/>
            <a:ext cx="1593215" cy="15817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曲线连接符 60"/>
          <p:cNvCxnSpPr>
            <a:stCxn id="44" idx="3"/>
            <a:endCxn id="50" idx="0"/>
          </p:cNvCxnSpPr>
          <p:nvPr/>
        </p:nvCxnSpPr>
        <p:spPr>
          <a:xfrm>
            <a:off x="10400030" y="1569720"/>
            <a:ext cx="894080" cy="143954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曲线连接符 61"/>
          <p:cNvCxnSpPr>
            <a:stCxn id="50" idx="2"/>
            <a:endCxn id="52" idx="3"/>
          </p:cNvCxnSpPr>
          <p:nvPr/>
        </p:nvCxnSpPr>
        <p:spPr>
          <a:xfrm rot="5400000">
            <a:off x="9967913" y="4365943"/>
            <a:ext cx="1995805" cy="65659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 rot="840000">
            <a:off x="4445000" y="3261360"/>
            <a:ext cx="11010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重新配置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 rot="19740000">
            <a:off x="8405495" y="2176145"/>
            <a:ext cx="453390" cy="250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 rot="3960000">
            <a:off x="11067415" y="2124710"/>
            <a:ext cx="453390" cy="250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2" name="曲线连接符 71"/>
          <p:cNvCxnSpPr>
            <a:stCxn id="47" idx="1"/>
            <a:endCxn id="38" idx="2"/>
          </p:cNvCxnSpPr>
          <p:nvPr/>
        </p:nvCxnSpPr>
        <p:spPr>
          <a:xfrm rot="10800000">
            <a:off x="1692910" y="2612390"/>
            <a:ext cx="5345430" cy="1160145"/>
          </a:xfrm>
          <a:prstGeom prst="curvedConnector2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6873240" y="5414645"/>
            <a:ext cx="1500505" cy="56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6741160" y="5408930"/>
            <a:ext cx="1765300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Anaconda Prompt</a:t>
            </a:r>
            <a:endParaRPr lang="en-US" altLang="zh-CN"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424045" y="4288790"/>
            <a:ext cx="1500505" cy="56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4291965" y="4313555"/>
            <a:ext cx="1765300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--version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424680" y="5212715"/>
            <a:ext cx="1500505" cy="56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4292600" y="5261610"/>
            <a:ext cx="1765300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--version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424680" y="6197600"/>
            <a:ext cx="1500505" cy="56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4292600" y="6222365"/>
            <a:ext cx="1765300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where python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直接箭头连接符 83"/>
          <p:cNvCxnSpPr>
            <a:stCxn id="52" idx="1"/>
          </p:cNvCxnSpPr>
          <p:nvPr/>
        </p:nvCxnSpPr>
        <p:spPr>
          <a:xfrm flipH="1">
            <a:off x="8402320" y="5692140"/>
            <a:ext cx="734695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曲线连接符 85"/>
          <p:cNvCxnSpPr>
            <a:endCxn id="76" idx="3"/>
          </p:cNvCxnSpPr>
          <p:nvPr/>
        </p:nvCxnSpPr>
        <p:spPr>
          <a:xfrm rot="16200000" flipV="1">
            <a:off x="5917565" y="4724400"/>
            <a:ext cx="1094740" cy="8159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 flipV="1">
            <a:off x="5967730" y="5524500"/>
            <a:ext cx="909320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曲线连接符 87"/>
          <p:cNvCxnSpPr>
            <a:endCxn id="80" idx="3"/>
          </p:cNvCxnSpPr>
          <p:nvPr/>
        </p:nvCxnSpPr>
        <p:spPr>
          <a:xfrm rot="5400000">
            <a:off x="5993130" y="5629275"/>
            <a:ext cx="929005" cy="79883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1816735" y="4288790"/>
            <a:ext cx="1575435" cy="56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1816735" y="5212715"/>
            <a:ext cx="1575435" cy="56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1816735" y="6197600"/>
            <a:ext cx="1575435" cy="56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9" name="直接箭头连接符 98"/>
          <p:cNvCxnSpPr>
            <a:endCxn id="89" idx="3"/>
          </p:cNvCxnSpPr>
          <p:nvPr/>
        </p:nvCxnSpPr>
        <p:spPr>
          <a:xfrm flipH="1">
            <a:off x="3392170" y="4571365"/>
            <a:ext cx="1032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H="1">
            <a:off x="3392170" y="5518150"/>
            <a:ext cx="1032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3391535" y="6493510"/>
            <a:ext cx="1032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3695065" y="4313555"/>
            <a:ext cx="505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输</a:t>
            </a:r>
            <a:r>
              <a:rPr lang="zh-CN" altLang="en-US" sz="1200"/>
              <a:t>出</a:t>
            </a:r>
            <a:endParaRPr lang="zh-CN" altLang="en-US" sz="1200"/>
          </a:p>
        </p:txBody>
      </p:sp>
      <p:sp>
        <p:nvSpPr>
          <p:cNvPr id="104" name="文本框 103"/>
          <p:cNvSpPr txBox="1"/>
          <p:nvPr/>
        </p:nvSpPr>
        <p:spPr>
          <a:xfrm>
            <a:off x="3695065" y="5212715"/>
            <a:ext cx="505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输出</a:t>
            </a:r>
            <a:endParaRPr lang="zh-CN" altLang="en-US" sz="1200"/>
          </a:p>
        </p:txBody>
      </p:sp>
      <p:sp>
        <p:nvSpPr>
          <p:cNvPr id="105" name="文本框 104"/>
          <p:cNvSpPr txBox="1"/>
          <p:nvPr/>
        </p:nvSpPr>
        <p:spPr>
          <a:xfrm>
            <a:off x="3695065" y="6197600"/>
            <a:ext cx="505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输出</a:t>
            </a:r>
            <a:endParaRPr lang="zh-CN" altLang="en-US" sz="1200"/>
          </a:p>
        </p:txBody>
      </p:sp>
      <p:sp>
        <p:nvSpPr>
          <p:cNvPr id="106" name="文本框 105"/>
          <p:cNvSpPr txBox="1"/>
          <p:nvPr/>
        </p:nvSpPr>
        <p:spPr>
          <a:xfrm>
            <a:off x="1746250" y="4313555"/>
            <a:ext cx="157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conda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25.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x.x)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816735" y="5257165"/>
            <a:ext cx="157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python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x.x)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873250" y="6222365"/>
            <a:ext cx="1373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检查当前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3.2 </a:t>
                </a:r>
                <a:r>
                  <a:rPr lang="en-US" sz="24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Jupyter Notebook</a:t>
                </a:r>
                <a:endParaRPr lang="en-US" sz="24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启动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Jupyter Notebook</a:t>
            </a:r>
            <a:endParaRPr lang="en-US" altLang="zh-CN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2720" y="1822450"/>
            <a:ext cx="588899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启动方式：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Anaconda Prompt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中输入：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jupyter notebook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浏览器自动打开，地址：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http://localhost:8888/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096000" y="998220"/>
            <a:ext cx="5894705" cy="33591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574b46a368546c2c228b3faa74bff0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445" y="998220"/>
            <a:ext cx="4504055" cy="33489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341360" y="1352550"/>
            <a:ext cx="798195" cy="1314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564120" y="1504315"/>
            <a:ext cx="908685" cy="5454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140970" y="3498850"/>
            <a:ext cx="5894705" cy="33591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79378ae2d787b385928e4295d8951be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" y="3499485"/>
            <a:ext cx="4610100" cy="33058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01715" y="5053965"/>
            <a:ext cx="588899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输入后按回车运行代码，会自动跳转至左图的网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3.2 </a:t>
                </a:r>
                <a:r>
                  <a:rPr lang="en-US" sz="24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Jupyter Notebook</a:t>
                </a:r>
                <a:endParaRPr lang="en-US" sz="24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Jupyter Notebook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界面介绍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2720" y="2458085"/>
            <a:ext cx="4178935" cy="292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界面介绍：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新建按钮（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New）→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创建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Notebook、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文本文件、文件夹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上传按钮（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Upload）→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上传已有的 .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ipynb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文件列表 → 显示当前目录下的所有文件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781ea9782cabf43d40bc586d72eca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0515" y="1259205"/>
            <a:ext cx="7979410" cy="548386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331335" y="1736725"/>
            <a:ext cx="293370" cy="13081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endCxn id="12" idx="1"/>
          </p:cNvCxnSpPr>
          <p:nvPr/>
        </p:nvCxnSpPr>
        <p:spPr>
          <a:xfrm flipV="1">
            <a:off x="2150110" y="1802130"/>
            <a:ext cx="2181225" cy="11061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296650" y="2136775"/>
            <a:ext cx="443865" cy="1206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 flipV="1">
            <a:off x="2169795" y="2197100"/>
            <a:ext cx="9126855" cy="150876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362075" y="4605020"/>
            <a:ext cx="6070600" cy="103060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3.2 </a:t>
                </a:r>
                <a:r>
                  <a:rPr lang="en-US" sz="24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  <a:sym typeface="+mn-ea"/>
                  </a:rPr>
                  <a:t>Jupyter Notebook</a:t>
                </a:r>
                <a:endParaRPr lang="en-US" sz="24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4226560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Notebook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基本操作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334770"/>
            <a:ext cx="4064635" cy="2189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新建与重命名：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新建：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New → Python 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重命名：点击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Untitled →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修改为有意义名称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58d44c36318e6d4346376d8ccdac213f"/>
          <p:cNvPicPr>
            <a:picLocks noChangeAspect="1"/>
          </p:cNvPicPr>
          <p:nvPr/>
        </p:nvPicPr>
        <p:blipFill>
          <a:blip r:embed="rId1"/>
          <a:srcRect r="13130"/>
          <a:stretch>
            <a:fillRect/>
          </a:stretch>
        </p:blipFill>
        <p:spPr>
          <a:xfrm>
            <a:off x="4009390" y="1148715"/>
            <a:ext cx="3928110" cy="2561590"/>
          </a:xfrm>
          <a:prstGeom prst="rect">
            <a:avLst/>
          </a:prstGeom>
        </p:spPr>
      </p:pic>
      <p:pic>
        <p:nvPicPr>
          <p:cNvPr id="5" name="图片 4" descr="007e82a0c287a534dc295858dcdf957f"/>
          <p:cNvPicPr>
            <a:picLocks noChangeAspect="1"/>
          </p:cNvPicPr>
          <p:nvPr/>
        </p:nvPicPr>
        <p:blipFill>
          <a:blip r:embed="rId2"/>
          <a:srcRect r="16086"/>
          <a:stretch>
            <a:fillRect/>
          </a:stretch>
        </p:blipFill>
        <p:spPr>
          <a:xfrm>
            <a:off x="8469630" y="1011555"/>
            <a:ext cx="3482975" cy="292671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412105" y="1827530"/>
            <a:ext cx="424815" cy="13017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765040" y="1957705"/>
            <a:ext cx="647065" cy="37401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947910" y="3166110"/>
            <a:ext cx="889000" cy="2628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 flipV="1">
            <a:off x="8988425" y="3297555"/>
            <a:ext cx="959485" cy="5454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3848735" y="997585"/>
            <a:ext cx="4249420" cy="307213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8225155" y="868680"/>
            <a:ext cx="3972560" cy="320103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140970" y="4332605"/>
          <a:ext cx="4878705" cy="178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  <a:gridCol w="1319530"/>
                <a:gridCol w="1932940"/>
              </a:tblGrid>
              <a:tr h="5003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</a:t>
                      </a:r>
                      <a:r>
                        <a:rPr lang="zh-CN" altLang="en-US"/>
                        <a:t>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快捷键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用途</a:t>
                      </a:r>
                      <a:endParaRPr lang="zh-CN" altLang="en-US"/>
                    </a:p>
                  </a:txBody>
                  <a:tcPr/>
                </a:tc>
              </a:tr>
              <a:tr h="337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Code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Esc + Y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编写 </a:t>
                      </a:r>
                      <a:r>
                        <a:rPr lang="en-US" altLang="zh-CN"/>
                        <a:t>Python </a:t>
                      </a:r>
                      <a:r>
                        <a:rPr lang="zh-CN" altLang="en-US"/>
                        <a:t>代码</a:t>
                      </a:r>
                      <a:endParaRPr lang="zh-CN" altLang="en-US"/>
                    </a:p>
                  </a:txBody>
                  <a:tcPr/>
                </a:tc>
              </a:tr>
              <a:tr h="467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Markdown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Esc + M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编写文字说明、标题、公式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2" name="图片 21" descr="4741c6561c67e56fd05c20ada5255b9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255" y="4209415"/>
            <a:ext cx="6983730" cy="1343025"/>
          </a:xfrm>
          <a:prstGeom prst="rect">
            <a:avLst/>
          </a:prstGeom>
        </p:spPr>
      </p:pic>
      <p:pic>
        <p:nvPicPr>
          <p:cNvPr id="23" name="图片 22" descr="5437ad4225a603add570a67c8873bdb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620" y="5552440"/>
            <a:ext cx="6984365" cy="116649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5019040" y="4140200"/>
            <a:ext cx="7172960" cy="269748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353050" y="5059680"/>
            <a:ext cx="1202055" cy="31305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>
            <a:endCxn id="25" idx="1"/>
          </p:cNvCxnSpPr>
          <p:nvPr/>
        </p:nvCxnSpPr>
        <p:spPr>
          <a:xfrm flipV="1">
            <a:off x="4525010" y="5216525"/>
            <a:ext cx="828040" cy="26733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403850" y="6332220"/>
            <a:ext cx="1363345" cy="2527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 flipV="1">
            <a:off x="4706620" y="6458585"/>
            <a:ext cx="697230" cy="27813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</a:t>
                </a:r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yCharm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517588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下载与安装 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PyCharm</a:t>
            </a:r>
            <a:endParaRPr lang="en-US" altLang="zh-CN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2233930"/>
            <a:ext cx="4509770" cy="346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内容要点：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进入官方下载页面：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https://www.jetbrains.com/pycharm/download/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当前版本为统一版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PyCharm，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免费版已包含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Jupyter Notebook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下载对应操作系统的安装程序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按默认流程完成安装即可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626610" y="1069975"/>
            <a:ext cx="7403465" cy="24955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627245" y="3919855"/>
            <a:ext cx="7442835" cy="2736215"/>
          </a:xfrm>
          <a:prstGeom prst="roundRect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c16a5f6080a2be5b0b0dbbffa8d50d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115" y="1069975"/>
            <a:ext cx="5111750" cy="244348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837680" y="2776855"/>
            <a:ext cx="979805" cy="4241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 flipV="1">
            <a:off x="5181600" y="2988945"/>
            <a:ext cx="1656080" cy="3333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图片 18" descr="4e50f7caea94e20cbff3d09c25f15e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3919855"/>
            <a:ext cx="3792220" cy="27362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PyCharm 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710501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PyCharm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conda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环境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391160" y="1334770"/>
            <a:ext cx="3023235" cy="552323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18795" y="1524635"/>
            <a:ext cx="3032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第一步：新建项目时配置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391795" y="2354580"/>
            <a:ext cx="3021965" cy="450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2400"/>
              <a:t>New Project → </a:t>
            </a:r>
            <a:r>
              <a:rPr lang="zh-CN" altLang="en-US" sz="2400"/>
              <a:t>解释器</a:t>
            </a:r>
            <a:r>
              <a:rPr lang="zh-CN" altLang="en-US" sz="2400"/>
              <a:t>类型选择基础</a:t>
            </a:r>
            <a:r>
              <a:rPr lang="en-US" altLang="zh-CN" sz="2400"/>
              <a:t>conda</a:t>
            </a:r>
            <a:r>
              <a:rPr lang="zh-CN" altLang="en-US" sz="2400"/>
              <a:t>或者自定义环境中选择</a:t>
            </a:r>
            <a:r>
              <a:rPr lang="en-US" altLang="zh-CN" sz="2400"/>
              <a:t>conda</a:t>
            </a:r>
            <a:r>
              <a:rPr lang="zh-CN" altLang="en-US" sz="2400"/>
              <a:t>类型</a:t>
            </a:r>
            <a:r>
              <a:rPr lang="en-US" altLang="zh-CN" sz="2400"/>
              <a:t> </a:t>
            </a:r>
            <a:r>
              <a:rPr lang="zh-CN" altLang="en-US" sz="2400"/>
              <a:t>作为解释器类型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Python </a:t>
            </a:r>
            <a:r>
              <a:rPr lang="zh-CN" altLang="en-US" sz="2400"/>
              <a:t>版本选择 3.</a:t>
            </a:r>
            <a:r>
              <a:rPr lang="en-US" altLang="zh-CN" sz="2400"/>
              <a:t>xx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环境位置建议放在项目目录下的 .</a:t>
            </a:r>
            <a:r>
              <a:rPr lang="en-US" altLang="zh-CN" sz="2400"/>
              <a:t>conda </a:t>
            </a:r>
            <a:r>
              <a:rPr lang="zh-CN" altLang="en-US" sz="2400"/>
              <a:t>文件夹</a:t>
            </a:r>
            <a:endParaRPr lang="zh-CN" altLang="en-US" sz="2400"/>
          </a:p>
        </p:txBody>
      </p:sp>
      <p:sp>
        <p:nvSpPr>
          <p:cNvPr id="22" name="矩形 21"/>
          <p:cNvSpPr/>
          <p:nvPr/>
        </p:nvSpPr>
        <p:spPr>
          <a:xfrm>
            <a:off x="3881120" y="998220"/>
            <a:ext cx="8197215" cy="5797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331710" y="2145665"/>
            <a:ext cx="1503680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137910" y="2821940"/>
            <a:ext cx="1368425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137910" y="3883025"/>
            <a:ext cx="2062480" cy="2032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610350" y="1670685"/>
            <a:ext cx="721360" cy="5384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25" idx="1"/>
          </p:cNvCxnSpPr>
          <p:nvPr/>
        </p:nvCxnSpPr>
        <p:spPr>
          <a:xfrm flipV="1">
            <a:off x="5365750" y="3002280"/>
            <a:ext cx="772160" cy="345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27" idx="1"/>
          </p:cNvCxnSpPr>
          <p:nvPr/>
        </p:nvCxnSpPr>
        <p:spPr>
          <a:xfrm flipV="1">
            <a:off x="5294630" y="3984625"/>
            <a:ext cx="843280" cy="487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PyCharm 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710501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PyCharm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conda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环境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450215" y="1524635"/>
            <a:ext cx="31470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第二步：配置 </a:t>
            </a:r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Conda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50215" y="2444115"/>
            <a:ext cx="2671445" cy="407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/>
              <a:t>创建新环境：指定 </a:t>
            </a:r>
            <a:r>
              <a:rPr lang="en-US" altLang="zh-CN" sz="2400"/>
              <a:t>Python </a:t>
            </a:r>
            <a:r>
              <a:rPr lang="zh-CN" altLang="en-US" sz="2400"/>
              <a:t>版本（ 3.12），环境名称自定义</a:t>
            </a:r>
            <a:endParaRPr lang="zh-CN" altLang="en-US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/>
              <a:t>或者可</a:t>
            </a:r>
            <a:r>
              <a:rPr lang="zh-CN" altLang="en-US" sz="2400"/>
              <a:t>选择使用</a:t>
            </a:r>
            <a:r>
              <a:rPr lang="zh-CN" altLang="en-US" sz="2400"/>
              <a:t>现有环境</a:t>
            </a:r>
            <a:endParaRPr lang="en-US" altLang="zh-CN" sz="2400"/>
          </a:p>
        </p:txBody>
      </p:sp>
      <p:sp>
        <p:nvSpPr>
          <p:cNvPr id="2" name="圆角矩形 1"/>
          <p:cNvSpPr/>
          <p:nvPr>
            <p:custDataLst>
              <p:tags r:id="rId5"/>
            </p:custDataLst>
          </p:nvPr>
        </p:nvSpPr>
        <p:spPr>
          <a:xfrm>
            <a:off x="391160" y="1334770"/>
            <a:ext cx="3023235" cy="552323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81120" y="998220"/>
            <a:ext cx="8144510" cy="56324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78525" y="2582545"/>
            <a:ext cx="802640" cy="2133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49110" y="2521585"/>
            <a:ext cx="619760" cy="27432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endCxn id="4" idx="1"/>
          </p:cNvCxnSpPr>
          <p:nvPr/>
        </p:nvCxnSpPr>
        <p:spPr>
          <a:xfrm flipV="1">
            <a:off x="5236845" y="2689225"/>
            <a:ext cx="74168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7" idx="3"/>
          </p:cNvCxnSpPr>
          <p:nvPr/>
        </p:nvCxnSpPr>
        <p:spPr>
          <a:xfrm flipH="1" flipV="1">
            <a:off x="7468870" y="2658745"/>
            <a:ext cx="701040" cy="695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PyCharm 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>
              <p:custDataLst>
                <p:tags r:id="rId2"/>
              </p:custDataLst>
            </p:nvPr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710501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PyCharm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conda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环境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48970" y="1527810"/>
            <a:ext cx="27654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第三步：确认解释器与安装库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391160" y="1334770"/>
            <a:ext cx="3023235" cy="552323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450215" y="2444115"/>
            <a:ext cx="2671445" cy="407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/>
              <a:t>项目完成后，</a:t>
            </a:r>
            <a:r>
              <a:rPr lang="zh-CN" altLang="en-US" sz="2400"/>
              <a:t>进入：</a:t>
            </a:r>
            <a:endParaRPr lang="zh-CN" altLang="en-US" sz="2400"/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1400"/>
              <a:t>     </a:t>
            </a:r>
            <a:r>
              <a:rPr lang="zh-CN" altLang="en-US" sz="1400"/>
              <a:t>文件</a:t>
            </a:r>
            <a:r>
              <a:rPr lang="en-US" altLang="zh-CN" sz="1400"/>
              <a:t>→</a:t>
            </a:r>
            <a:r>
              <a:rPr lang="zh-CN" altLang="en-US" sz="1400"/>
              <a:t>设置</a:t>
            </a:r>
            <a:r>
              <a:rPr lang="en-US" altLang="zh-CN" sz="1400"/>
              <a:t>→</a:t>
            </a:r>
            <a:r>
              <a:rPr lang="zh-CN" altLang="en-US" sz="1400"/>
              <a:t>项目</a:t>
            </a:r>
            <a:r>
              <a:rPr lang="en-US" altLang="zh-CN" sz="1400"/>
              <a:t>→</a:t>
            </a:r>
            <a:r>
              <a:rPr lang="zh-CN" altLang="en-US" sz="1400"/>
              <a:t>解释器</a:t>
            </a:r>
            <a:endParaRPr lang="zh-CN" altLang="en-US" sz="140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/>
              <a:t>确认解释器路径指向目标</a:t>
            </a:r>
            <a:r>
              <a:rPr lang="en-US" altLang="zh-CN" sz="2400"/>
              <a:t>conda</a:t>
            </a:r>
            <a:r>
              <a:rPr lang="zh-CN" altLang="en-US" sz="2400"/>
              <a:t>环境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/>
              <a:t>在终端中</a:t>
            </a:r>
            <a:r>
              <a:rPr lang="zh-CN" altLang="en-US" sz="2400"/>
              <a:t>执行：</a:t>
            </a:r>
            <a:endParaRPr lang="zh-CN" altLang="en-US" sz="2400"/>
          </a:p>
          <a:p>
            <a:pPr indent="0" algn="l">
              <a:buFont typeface="Arial" panose="020B0604020202020204" pitchFamily="34" charset="0"/>
              <a:buNone/>
            </a:pPr>
            <a:endParaRPr lang="zh-CN" altLang="en-US" sz="240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/>
              <a:t>验证：</a:t>
            </a:r>
            <a:endParaRPr lang="zh-CN" altLang="en-US" sz="2400"/>
          </a:p>
        </p:txBody>
      </p:sp>
      <p:pic>
        <p:nvPicPr>
          <p:cNvPr id="4" name="图片 3" descr="ae5c9cbace17ec500f4a415d2db09a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" y="4958080"/>
            <a:ext cx="3010535" cy="354965"/>
          </a:xfrm>
          <a:prstGeom prst="rect">
            <a:avLst/>
          </a:prstGeom>
        </p:spPr>
      </p:pic>
      <p:pic>
        <p:nvPicPr>
          <p:cNvPr id="7" name="图片 6" descr="6e31ab2974ef433b4a8f6671988452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590" y="5589905"/>
            <a:ext cx="2238375" cy="1133475"/>
          </a:xfrm>
          <a:prstGeom prst="rect">
            <a:avLst/>
          </a:prstGeom>
        </p:spPr>
      </p:pic>
      <p:pic>
        <p:nvPicPr>
          <p:cNvPr id="10" name="图片 9" descr="9ace88a0c9a64347cf44e06d12f3ced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25" y="926465"/>
            <a:ext cx="6353810" cy="3841750"/>
          </a:xfrm>
          <a:prstGeom prst="rect">
            <a:avLst/>
          </a:prstGeom>
        </p:spPr>
      </p:pic>
      <p:pic>
        <p:nvPicPr>
          <p:cNvPr id="12" name="图片 11" descr="aecf6abf7e103344893aa11c72bfd1a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8405" y="4801870"/>
            <a:ext cx="7365365" cy="19215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061710" y="1437640"/>
            <a:ext cx="3650615" cy="2597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00525" y="6483985"/>
            <a:ext cx="3281680" cy="1422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6061710" y="1697355"/>
            <a:ext cx="1005840" cy="833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844925" y="5234305"/>
            <a:ext cx="1361440" cy="12293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PyCharm 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710501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PyCharm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中新建 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Jupyter Notebook 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并运行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2720" y="1680210"/>
            <a:ext cx="4178935" cy="4820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第一步：创建项目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New Project →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项目名称：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第二步：新建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Notebook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右键 →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New → Jupyter Notebook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第三步：运行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点击运行按钮或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Shift+Enter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4d9efa16046c29fdb87774bdce4899f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700" y="998855"/>
            <a:ext cx="7012305" cy="23025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251960" y="998855"/>
            <a:ext cx="7677150" cy="230314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136390" y="3402965"/>
            <a:ext cx="7909560" cy="16973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屏幕截图 2026-08-24 235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215" y="3429635"/>
            <a:ext cx="4971415" cy="16738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787765" y="3625215"/>
            <a:ext cx="1029970" cy="1212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endCxn id="11" idx="1"/>
          </p:cNvCxnSpPr>
          <p:nvPr/>
        </p:nvCxnSpPr>
        <p:spPr>
          <a:xfrm flipV="1">
            <a:off x="5009515" y="3686175"/>
            <a:ext cx="3778250" cy="91884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4251960" y="5220970"/>
            <a:ext cx="7798435" cy="16167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 descr="55cf00d40fa25c5fd893ddf5e3c6bfc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25" y="5231130"/>
            <a:ext cx="7339330" cy="152146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4848225" y="6109970"/>
            <a:ext cx="1515110" cy="6165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endCxn id="20" idx="1"/>
          </p:cNvCxnSpPr>
          <p:nvPr/>
        </p:nvCxnSpPr>
        <p:spPr>
          <a:xfrm flipV="1">
            <a:off x="3646170" y="6418580"/>
            <a:ext cx="1202055" cy="2774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163" y="34043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4449445" cy="1269942"/>
              <a:chOff x="766969" y="2489885"/>
              <a:chExt cx="4449445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3881371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907939" y="2625775"/>
                <a:ext cx="4308475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3.3 PyCharm </a:t>
                </a:r>
                <a:endParaRPr lang="en-US" altLang="zh-CN" sz="28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009390" y="537845"/>
            <a:ext cx="7105015" cy="4603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Numpy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pandas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rgbClr val="00329F"/>
                </a:solidFill>
                <a:sym typeface="Arial" panose="020B0604020202020204" pitchFamily="34" charset="0"/>
              </a:rPr>
              <a:t>Matplotlib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的导入与运行</a:t>
            </a:r>
            <a:r>
              <a:rPr lang="zh-CN" altLang="en-US" sz="2400" b="1" dirty="0">
                <a:solidFill>
                  <a:srgbClr val="00329F"/>
                </a:solidFill>
                <a:sym typeface="Arial" panose="020B0604020202020204" pitchFamily="34" charset="0"/>
              </a:rPr>
              <a:t>验证</a:t>
            </a:r>
            <a:endParaRPr lang="zh-CN" altLang="en-US" sz="2400" b="1" dirty="0">
              <a:solidFill>
                <a:srgbClr val="00329F"/>
              </a:solidFill>
              <a:sym typeface="Arial" panose="020B0604020202020204" pitchFamily="34" charset="0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1073785" y="1903730"/>
            <a:ext cx="2326640" cy="1925955"/>
          </a:xfrm>
          <a:prstGeom prst="wedgeRoundRectCallout">
            <a:avLst/>
          </a:prstGeom>
          <a:solidFill>
            <a:srgbClr val="00329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标注 11"/>
          <p:cNvSpPr/>
          <p:nvPr/>
        </p:nvSpPr>
        <p:spPr>
          <a:xfrm>
            <a:off x="4735830" y="1903095"/>
            <a:ext cx="2326640" cy="1925955"/>
          </a:xfrm>
          <a:prstGeom prst="wedgeRoundRectCallout">
            <a:avLst/>
          </a:prstGeom>
          <a:solidFill>
            <a:srgbClr val="00329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标注 13"/>
          <p:cNvSpPr/>
          <p:nvPr/>
        </p:nvSpPr>
        <p:spPr>
          <a:xfrm>
            <a:off x="8620125" y="1903730"/>
            <a:ext cx="2326640" cy="1925955"/>
          </a:xfrm>
          <a:prstGeom prst="wedgeRoundRectCallout">
            <a:avLst/>
          </a:prstGeom>
          <a:solidFill>
            <a:srgbClr val="00329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03885" y="4263390"/>
            <a:ext cx="3405505" cy="127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92930" y="4263390"/>
            <a:ext cx="3405505" cy="127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181975" y="4263390"/>
            <a:ext cx="3405505" cy="127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b1a106973ba0962f5cbac0725d1310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70" y="4351020"/>
            <a:ext cx="3287395" cy="1096010"/>
          </a:xfrm>
          <a:prstGeom prst="rect">
            <a:avLst/>
          </a:prstGeom>
        </p:spPr>
      </p:pic>
      <p:pic>
        <p:nvPicPr>
          <p:cNvPr id="24" name="图片 23" descr="214464d8be48d24c6e16778b96096db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45" y="4351020"/>
            <a:ext cx="3300095" cy="1096010"/>
          </a:xfrm>
          <a:prstGeom prst="rect">
            <a:avLst/>
          </a:prstGeom>
        </p:spPr>
      </p:pic>
      <p:pic>
        <p:nvPicPr>
          <p:cNvPr id="25" name="图片 24" descr="3331bd8183a970593380809c759e4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4351020"/>
            <a:ext cx="3240405" cy="109601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167765" y="2172970"/>
            <a:ext cx="2161540" cy="148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numpy as np</a:t>
            </a:r>
            <a:endParaRPr lang="en-US" alt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按提示安装之后即可运行成功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18380" y="2172970"/>
            <a:ext cx="2161540" cy="148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 as pd</a:t>
            </a:r>
            <a:endParaRPr lang="en-US" alt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按提示安装之后即可运行成功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22995" y="2172970"/>
            <a:ext cx="2161540" cy="148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matplotlib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 plt</a:t>
            </a:r>
            <a:endParaRPr lang="en-US" alt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按提示安装之后即可运行成功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8940" y="5728335"/>
            <a:ext cx="11515725" cy="993775"/>
          </a:xfrm>
          <a:prstGeom prst="rect">
            <a:avLst/>
          </a:prstGeom>
          <a:solidFill>
            <a:srgbClr val="00329F"/>
          </a:solidFill>
          <a:ln>
            <a:solidFill>
              <a:srgbClr val="0032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105535" y="4570730"/>
            <a:ext cx="1659890" cy="3479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1362075" y="2633980"/>
            <a:ext cx="286385" cy="191643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4947920" y="4570730"/>
            <a:ext cx="1966595" cy="37909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5316855" y="2654935"/>
            <a:ext cx="307340" cy="188468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8851265" y="4672965"/>
            <a:ext cx="2561590" cy="2971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9465945" y="2665095"/>
            <a:ext cx="307340" cy="20078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06120" y="590232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运行后出现</a:t>
            </a:r>
            <a:r>
              <a:rPr lang="en-US" altLang="zh-CN" b="1">
                <a:solidFill>
                  <a:schemeClr val="bg1"/>
                </a:solidFill>
              </a:rPr>
              <a:t>     </a:t>
            </a:r>
            <a:r>
              <a:rPr lang="zh-CN" altLang="en-US" b="1">
                <a:solidFill>
                  <a:schemeClr val="bg1"/>
                </a:solidFill>
              </a:rPr>
              <a:t>，表示</a:t>
            </a:r>
            <a:r>
              <a:rPr lang="en-US" altLang="zh-CN" b="1">
                <a:solidFill>
                  <a:schemeClr val="bg1"/>
                </a:solidFill>
              </a:rPr>
              <a:t>NumPy、pandas、Matplotlib </a:t>
            </a:r>
            <a:r>
              <a:rPr lang="zh-CN" altLang="en-US" b="1">
                <a:solidFill>
                  <a:schemeClr val="bg1"/>
                </a:solidFill>
              </a:rPr>
              <a:t>均已成功导入，环境配置完成，可进入数据分析实战阶段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39" name="图片 38" descr="66e0a0d44d91cb856dd09293893cb22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470" y="5967730"/>
            <a:ext cx="255905" cy="2425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21753" y="15247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3612619" cy="1269942"/>
              <a:chOff x="766969" y="2489885"/>
              <a:chExt cx="3612619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2821480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285027" y="2565726"/>
                <a:ext cx="3094561" cy="6451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zh-CN" altLang="en-US" sz="36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常见</a:t>
                </a:r>
                <a:r>
                  <a:rPr lang="zh-CN" altLang="en-US" sz="36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问题</a:t>
                </a:r>
                <a:endParaRPr lang="zh-CN" altLang="en-US" sz="36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67335" y="1146810"/>
            <a:ext cx="291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Q1：Jupyter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找不到内核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7815" y="1554480"/>
            <a:ext cx="11540490" cy="15570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2430" y="1635125"/>
            <a:ext cx="112318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在正确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环境中启动：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activate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环境名 →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jupyter notebook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安装/注册内核：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install ipykernel → python -m ipykernel install --user --name=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环境名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Notebook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中切换：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→ Change kernel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7815" y="3243580"/>
            <a:ext cx="3060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Q2：Matplotlib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中文乱码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11150" y="1170940"/>
            <a:ext cx="2778125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11150" y="3277870"/>
            <a:ext cx="2875280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71145" y="3686175"/>
            <a:ext cx="11605895" cy="9842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2590" y="3797300"/>
            <a:ext cx="11050270" cy="826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需要设置中文字体，如 `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plt.rcParams['font.family'] = ['Microsoft YaHei']`（Windows）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`['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SimHei']`  Linux/macOS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需安装相应字体并设置正确路径。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4000" y="4771390"/>
            <a:ext cx="3384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Q3：Pandas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7815" y="4795520"/>
            <a:ext cx="3235960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0505" y="5201285"/>
            <a:ext cx="11687175" cy="11004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02590" y="5351145"/>
            <a:ext cx="11050270" cy="82677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需要安装 `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openpyxl`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`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xlrd`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库。可用 `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install openpyxl`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`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 install openpyxl`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解决。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>
            <p:custDataLst>
              <p:tags r:id="rId1"/>
            </p:custDataLst>
          </p:nvPr>
        </p:nvGrpSpPr>
        <p:grpSpPr>
          <a:xfrm>
            <a:off x="-21753" y="15247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3612619" cy="1269942"/>
              <a:chOff x="766969" y="2489885"/>
              <a:chExt cx="3612619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2821480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285027" y="2565726"/>
                <a:ext cx="3094561" cy="6451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zh-CN" altLang="en-US" sz="36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常见</a:t>
                </a:r>
                <a:r>
                  <a:rPr lang="zh-CN" altLang="en-US" sz="36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问题</a:t>
                </a:r>
                <a:endParaRPr lang="zh-CN" altLang="en-US" sz="36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>
                <p:custDataLst>
                  <p:tags r:id="rId2"/>
                </p:custDataLst>
              </p:nvPr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267335" y="1146810"/>
            <a:ext cx="385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Q4：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R²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很高但实际效果差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7815" y="1554480"/>
            <a:ext cx="11540490" cy="13176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2430" y="1635125"/>
            <a:ext cx="11231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可能原因：过拟合、特征选择不当、数据泄露、样本量不足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对策：交叉验证、正则化、简化模型、特征选择、增加数据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71145" y="3007360"/>
            <a:ext cx="434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Q5：Conda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环境管理混乱，如何清理？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311150" y="1170940"/>
            <a:ext cx="3327400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6"/>
            </p:custDataLst>
          </p:nvPr>
        </p:nvSpPr>
        <p:spPr>
          <a:xfrm>
            <a:off x="311150" y="3012440"/>
            <a:ext cx="4147820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71145" y="3429000"/>
            <a:ext cx="11605895" cy="12414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2590" y="3540760"/>
            <a:ext cx="11050270" cy="108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env list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remove -n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环境名 --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清理缓存：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clean -a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54000" y="4771390"/>
            <a:ext cx="4283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Q6：PyCharm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无法识别已安装库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>
          <a:xfrm>
            <a:off x="297815" y="4795520"/>
            <a:ext cx="3578860" cy="333375"/>
          </a:xfrm>
          <a:prstGeom prst="roundRect">
            <a:avLst/>
          </a:prstGeom>
          <a:noFill/>
          <a:ln w="19050"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0505" y="5201285"/>
            <a:ext cx="11687175" cy="11004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92430" y="5280660"/>
            <a:ext cx="11050270" cy="9671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检查解释器：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 → Settings → Project → Python Interpreter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手动添加 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环境（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Existing environment）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-21753" y="152471"/>
            <a:ext cx="6228059" cy="1269942"/>
            <a:chOff x="766969" y="2489885"/>
            <a:chExt cx="6228059" cy="1269942"/>
          </a:xfrm>
        </p:grpSpPr>
        <p:grpSp>
          <p:nvGrpSpPr>
            <p:cNvPr id="94" name="组合 93"/>
            <p:cNvGrpSpPr/>
            <p:nvPr/>
          </p:nvGrpSpPr>
          <p:grpSpPr>
            <a:xfrm>
              <a:off x="766969" y="2489885"/>
              <a:ext cx="3743429" cy="1269942"/>
              <a:chOff x="766969" y="2489885"/>
              <a:chExt cx="3743429" cy="1269942"/>
            </a:xfrm>
          </p:grpSpPr>
          <p:sp>
            <p:nvSpPr>
              <p:cNvPr id="96" name="Rounded Rectangle 8_2"/>
              <p:cNvSpPr/>
              <p:nvPr/>
            </p:nvSpPr>
            <p:spPr>
              <a:xfrm>
                <a:off x="766969" y="2489885"/>
                <a:ext cx="2821480" cy="78252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415837" y="2565726"/>
                <a:ext cx="3094561" cy="6451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zh-CN" altLang="en-US" sz="36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小结</a:t>
                </a:r>
                <a:endParaRPr lang="zh-CN" altLang="en-US" sz="36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Freeform 33"/>
              <p:cNvSpPr/>
              <p:nvPr/>
            </p:nvSpPr>
            <p:spPr>
              <a:xfrm>
                <a:off x="1158504" y="3484421"/>
                <a:ext cx="257499" cy="275406"/>
              </a:xfrm>
              <a:custGeom>
                <a:avLst/>
                <a:gdLst>
                  <a:gd name="T0" fmla="*/ 6100 w 6373"/>
                  <a:gd name="T1" fmla="*/ 0 h 6827"/>
                  <a:gd name="T2" fmla="*/ 272 w 6373"/>
                  <a:gd name="T3" fmla="*/ 0 h 6827"/>
                  <a:gd name="T4" fmla="*/ 0 w 6373"/>
                  <a:gd name="T5" fmla="*/ 272 h 6827"/>
                  <a:gd name="T6" fmla="*/ 0 w 6373"/>
                  <a:gd name="T7" fmla="*/ 6554 h 6827"/>
                  <a:gd name="T8" fmla="*/ 272 w 6373"/>
                  <a:gd name="T9" fmla="*/ 6827 h 6827"/>
                  <a:gd name="T10" fmla="*/ 5283 w 6373"/>
                  <a:gd name="T11" fmla="*/ 6827 h 6827"/>
                  <a:gd name="T12" fmla="*/ 5555 w 6373"/>
                  <a:gd name="T13" fmla="*/ 6554 h 6827"/>
                  <a:gd name="T14" fmla="*/ 5555 w 6373"/>
                  <a:gd name="T15" fmla="*/ 1747 h 6827"/>
                  <a:gd name="T16" fmla="*/ 6100 w 6373"/>
                  <a:gd name="T17" fmla="*/ 1747 h 6827"/>
                  <a:gd name="T18" fmla="*/ 6373 w 6373"/>
                  <a:gd name="T19" fmla="*/ 1474 h 6827"/>
                  <a:gd name="T20" fmla="*/ 6373 w 6373"/>
                  <a:gd name="T21" fmla="*/ 272 h 6827"/>
                  <a:gd name="T22" fmla="*/ 6100 w 6373"/>
                  <a:gd name="T23" fmla="*/ 0 h 6827"/>
                  <a:gd name="T24" fmla="*/ 2097 w 6373"/>
                  <a:gd name="T25" fmla="*/ 1786 h 6827"/>
                  <a:gd name="T26" fmla="*/ 2505 w 6373"/>
                  <a:gd name="T27" fmla="*/ 1786 h 6827"/>
                  <a:gd name="T28" fmla="*/ 2505 w 6373"/>
                  <a:gd name="T29" fmla="*/ 1378 h 6827"/>
                  <a:gd name="T30" fmla="*/ 2778 w 6373"/>
                  <a:gd name="T31" fmla="*/ 1106 h 6827"/>
                  <a:gd name="T32" fmla="*/ 3050 w 6373"/>
                  <a:gd name="T33" fmla="*/ 1378 h 6827"/>
                  <a:gd name="T34" fmla="*/ 3050 w 6373"/>
                  <a:gd name="T35" fmla="*/ 1786 h 6827"/>
                  <a:gd name="T36" fmla="*/ 3458 w 6373"/>
                  <a:gd name="T37" fmla="*/ 1786 h 6827"/>
                  <a:gd name="T38" fmla="*/ 3730 w 6373"/>
                  <a:gd name="T39" fmla="*/ 2059 h 6827"/>
                  <a:gd name="T40" fmla="*/ 3458 w 6373"/>
                  <a:gd name="T41" fmla="*/ 2331 h 6827"/>
                  <a:gd name="T42" fmla="*/ 3050 w 6373"/>
                  <a:gd name="T43" fmla="*/ 2331 h 6827"/>
                  <a:gd name="T44" fmla="*/ 3050 w 6373"/>
                  <a:gd name="T45" fmla="*/ 2739 h 6827"/>
                  <a:gd name="T46" fmla="*/ 2778 w 6373"/>
                  <a:gd name="T47" fmla="*/ 3011 h 6827"/>
                  <a:gd name="T48" fmla="*/ 2505 w 6373"/>
                  <a:gd name="T49" fmla="*/ 2739 h 6827"/>
                  <a:gd name="T50" fmla="*/ 2505 w 6373"/>
                  <a:gd name="T51" fmla="*/ 2331 h 6827"/>
                  <a:gd name="T52" fmla="*/ 2097 w 6373"/>
                  <a:gd name="T53" fmla="*/ 2331 h 6827"/>
                  <a:gd name="T54" fmla="*/ 1825 w 6373"/>
                  <a:gd name="T55" fmla="*/ 2059 h 6827"/>
                  <a:gd name="T56" fmla="*/ 2097 w 6373"/>
                  <a:gd name="T57" fmla="*/ 1786 h 6827"/>
                  <a:gd name="T58" fmla="*/ 4294 w 6373"/>
                  <a:gd name="T59" fmla="*/ 5803 h 6827"/>
                  <a:gd name="T60" fmla="*/ 1261 w 6373"/>
                  <a:gd name="T61" fmla="*/ 5803 h 6827"/>
                  <a:gd name="T62" fmla="*/ 989 w 6373"/>
                  <a:gd name="T63" fmla="*/ 5531 h 6827"/>
                  <a:gd name="T64" fmla="*/ 1261 w 6373"/>
                  <a:gd name="T65" fmla="*/ 5258 h 6827"/>
                  <a:gd name="T66" fmla="*/ 4294 w 6373"/>
                  <a:gd name="T67" fmla="*/ 5258 h 6827"/>
                  <a:gd name="T68" fmla="*/ 4567 w 6373"/>
                  <a:gd name="T69" fmla="*/ 5531 h 6827"/>
                  <a:gd name="T70" fmla="*/ 4294 w 6373"/>
                  <a:gd name="T71" fmla="*/ 5803 h 6827"/>
                  <a:gd name="T72" fmla="*/ 4294 w 6373"/>
                  <a:gd name="T73" fmla="*/ 4967 h 6827"/>
                  <a:gd name="T74" fmla="*/ 1261 w 6373"/>
                  <a:gd name="T75" fmla="*/ 4967 h 6827"/>
                  <a:gd name="T76" fmla="*/ 989 w 6373"/>
                  <a:gd name="T77" fmla="*/ 4695 h 6827"/>
                  <a:gd name="T78" fmla="*/ 1261 w 6373"/>
                  <a:gd name="T79" fmla="*/ 4423 h 6827"/>
                  <a:gd name="T80" fmla="*/ 4294 w 6373"/>
                  <a:gd name="T81" fmla="*/ 4423 h 6827"/>
                  <a:gd name="T82" fmla="*/ 4567 w 6373"/>
                  <a:gd name="T83" fmla="*/ 4695 h 6827"/>
                  <a:gd name="T84" fmla="*/ 4294 w 6373"/>
                  <a:gd name="T85" fmla="*/ 4967 h 6827"/>
                  <a:gd name="T86" fmla="*/ 4294 w 6373"/>
                  <a:gd name="T87" fmla="*/ 4131 h 6827"/>
                  <a:gd name="T88" fmla="*/ 1261 w 6373"/>
                  <a:gd name="T89" fmla="*/ 4131 h 6827"/>
                  <a:gd name="T90" fmla="*/ 989 w 6373"/>
                  <a:gd name="T91" fmla="*/ 3859 h 6827"/>
                  <a:gd name="T92" fmla="*/ 1261 w 6373"/>
                  <a:gd name="T93" fmla="*/ 3587 h 6827"/>
                  <a:gd name="T94" fmla="*/ 4294 w 6373"/>
                  <a:gd name="T95" fmla="*/ 3587 h 6827"/>
                  <a:gd name="T96" fmla="*/ 4567 w 6373"/>
                  <a:gd name="T97" fmla="*/ 3859 h 6827"/>
                  <a:gd name="T98" fmla="*/ 4294 w 6373"/>
                  <a:gd name="T99" fmla="*/ 4131 h 6827"/>
                  <a:gd name="T100" fmla="*/ 5828 w 6373"/>
                  <a:gd name="T101" fmla="*/ 1202 h 6827"/>
                  <a:gd name="T102" fmla="*/ 5555 w 6373"/>
                  <a:gd name="T103" fmla="*/ 1202 h 6827"/>
                  <a:gd name="T104" fmla="*/ 5555 w 6373"/>
                  <a:gd name="T105" fmla="*/ 545 h 6827"/>
                  <a:gd name="T106" fmla="*/ 5828 w 6373"/>
                  <a:gd name="T107" fmla="*/ 545 h 6827"/>
                  <a:gd name="T108" fmla="*/ 5828 w 6373"/>
                  <a:gd name="T109" fmla="*/ 120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373" h="6827">
                    <a:moveTo>
                      <a:pt x="6100" y="0"/>
                    </a:moveTo>
                    <a:lnTo>
                      <a:pt x="272" y="0"/>
                    </a:lnTo>
                    <a:cubicBezTo>
                      <a:pt x="122" y="0"/>
                      <a:pt x="0" y="122"/>
                      <a:pt x="0" y="272"/>
                    </a:cubicBezTo>
                    <a:lnTo>
                      <a:pt x="0" y="6554"/>
                    </a:lnTo>
                    <a:cubicBezTo>
                      <a:pt x="0" y="6705"/>
                      <a:pt x="122" y="6827"/>
                      <a:pt x="272" y="6827"/>
                    </a:cubicBezTo>
                    <a:lnTo>
                      <a:pt x="5283" y="6827"/>
                    </a:lnTo>
                    <a:cubicBezTo>
                      <a:pt x="5433" y="6827"/>
                      <a:pt x="5555" y="6705"/>
                      <a:pt x="5555" y="6554"/>
                    </a:cubicBezTo>
                    <a:lnTo>
                      <a:pt x="5555" y="1747"/>
                    </a:lnTo>
                    <a:lnTo>
                      <a:pt x="6100" y="1747"/>
                    </a:lnTo>
                    <a:cubicBezTo>
                      <a:pt x="6251" y="1747"/>
                      <a:pt x="6373" y="1625"/>
                      <a:pt x="6373" y="1474"/>
                    </a:cubicBezTo>
                    <a:lnTo>
                      <a:pt x="6373" y="272"/>
                    </a:lnTo>
                    <a:cubicBezTo>
                      <a:pt x="6373" y="122"/>
                      <a:pt x="6251" y="0"/>
                      <a:pt x="6100" y="0"/>
                    </a:cubicBezTo>
                    <a:close/>
                    <a:moveTo>
                      <a:pt x="2097" y="1786"/>
                    </a:moveTo>
                    <a:lnTo>
                      <a:pt x="2505" y="1786"/>
                    </a:lnTo>
                    <a:lnTo>
                      <a:pt x="2505" y="1378"/>
                    </a:lnTo>
                    <a:cubicBezTo>
                      <a:pt x="2505" y="1228"/>
                      <a:pt x="2627" y="1106"/>
                      <a:pt x="2778" y="1106"/>
                    </a:cubicBezTo>
                    <a:cubicBezTo>
                      <a:pt x="2928" y="1106"/>
                      <a:pt x="3050" y="1228"/>
                      <a:pt x="3050" y="1378"/>
                    </a:cubicBezTo>
                    <a:lnTo>
                      <a:pt x="3050" y="1786"/>
                    </a:lnTo>
                    <a:lnTo>
                      <a:pt x="3458" y="1786"/>
                    </a:lnTo>
                    <a:cubicBezTo>
                      <a:pt x="3608" y="1786"/>
                      <a:pt x="3730" y="1908"/>
                      <a:pt x="3730" y="2059"/>
                    </a:cubicBezTo>
                    <a:cubicBezTo>
                      <a:pt x="3730" y="2209"/>
                      <a:pt x="3609" y="2331"/>
                      <a:pt x="3458" y="2331"/>
                    </a:cubicBezTo>
                    <a:lnTo>
                      <a:pt x="3050" y="2331"/>
                    </a:lnTo>
                    <a:lnTo>
                      <a:pt x="3050" y="2739"/>
                    </a:lnTo>
                    <a:cubicBezTo>
                      <a:pt x="3050" y="2889"/>
                      <a:pt x="2928" y="3011"/>
                      <a:pt x="2778" y="3011"/>
                    </a:cubicBezTo>
                    <a:cubicBezTo>
                      <a:pt x="2627" y="3011"/>
                      <a:pt x="2505" y="2889"/>
                      <a:pt x="2505" y="2739"/>
                    </a:cubicBezTo>
                    <a:lnTo>
                      <a:pt x="2505" y="2331"/>
                    </a:lnTo>
                    <a:lnTo>
                      <a:pt x="2097" y="2331"/>
                    </a:lnTo>
                    <a:cubicBezTo>
                      <a:pt x="1947" y="2331"/>
                      <a:pt x="1825" y="2209"/>
                      <a:pt x="1825" y="2059"/>
                    </a:cubicBezTo>
                    <a:cubicBezTo>
                      <a:pt x="1825" y="1908"/>
                      <a:pt x="1947" y="1786"/>
                      <a:pt x="2097" y="1786"/>
                    </a:cubicBezTo>
                    <a:close/>
                    <a:moveTo>
                      <a:pt x="4294" y="5803"/>
                    </a:moveTo>
                    <a:lnTo>
                      <a:pt x="1261" y="5803"/>
                    </a:lnTo>
                    <a:cubicBezTo>
                      <a:pt x="1111" y="5803"/>
                      <a:pt x="989" y="5681"/>
                      <a:pt x="989" y="5531"/>
                    </a:cubicBezTo>
                    <a:cubicBezTo>
                      <a:pt x="989" y="5380"/>
                      <a:pt x="1111" y="5258"/>
                      <a:pt x="1261" y="5258"/>
                    </a:cubicBezTo>
                    <a:lnTo>
                      <a:pt x="4294" y="5258"/>
                    </a:lnTo>
                    <a:cubicBezTo>
                      <a:pt x="4445" y="5258"/>
                      <a:pt x="4567" y="5380"/>
                      <a:pt x="4567" y="5531"/>
                    </a:cubicBezTo>
                    <a:cubicBezTo>
                      <a:pt x="4567" y="5681"/>
                      <a:pt x="4445" y="5803"/>
                      <a:pt x="4294" y="5803"/>
                    </a:cubicBezTo>
                    <a:close/>
                    <a:moveTo>
                      <a:pt x="4294" y="4967"/>
                    </a:moveTo>
                    <a:lnTo>
                      <a:pt x="1261" y="4967"/>
                    </a:lnTo>
                    <a:cubicBezTo>
                      <a:pt x="1111" y="4967"/>
                      <a:pt x="989" y="4845"/>
                      <a:pt x="989" y="4695"/>
                    </a:cubicBezTo>
                    <a:cubicBezTo>
                      <a:pt x="989" y="4544"/>
                      <a:pt x="1111" y="4423"/>
                      <a:pt x="1261" y="4423"/>
                    </a:cubicBezTo>
                    <a:lnTo>
                      <a:pt x="4294" y="4423"/>
                    </a:lnTo>
                    <a:cubicBezTo>
                      <a:pt x="4445" y="4423"/>
                      <a:pt x="4567" y="4544"/>
                      <a:pt x="4567" y="4695"/>
                    </a:cubicBezTo>
                    <a:cubicBezTo>
                      <a:pt x="4567" y="4845"/>
                      <a:pt x="4445" y="4967"/>
                      <a:pt x="4294" y="4967"/>
                    </a:cubicBezTo>
                    <a:close/>
                    <a:moveTo>
                      <a:pt x="4294" y="4131"/>
                    </a:moveTo>
                    <a:lnTo>
                      <a:pt x="1261" y="4131"/>
                    </a:lnTo>
                    <a:cubicBezTo>
                      <a:pt x="1111" y="4131"/>
                      <a:pt x="989" y="4009"/>
                      <a:pt x="989" y="3859"/>
                    </a:cubicBezTo>
                    <a:cubicBezTo>
                      <a:pt x="989" y="3709"/>
                      <a:pt x="1111" y="3587"/>
                      <a:pt x="1261" y="3587"/>
                    </a:cubicBezTo>
                    <a:lnTo>
                      <a:pt x="4294" y="3587"/>
                    </a:lnTo>
                    <a:cubicBezTo>
                      <a:pt x="4445" y="3587"/>
                      <a:pt x="4567" y="3709"/>
                      <a:pt x="4567" y="3859"/>
                    </a:cubicBezTo>
                    <a:cubicBezTo>
                      <a:pt x="4567" y="4009"/>
                      <a:pt x="4445" y="4131"/>
                      <a:pt x="4294" y="4131"/>
                    </a:cubicBezTo>
                    <a:close/>
                    <a:moveTo>
                      <a:pt x="5828" y="1202"/>
                    </a:moveTo>
                    <a:lnTo>
                      <a:pt x="5555" y="1202"/>
                    </a:lnTo>
                    <a:lnTo>
                      <a:pt x="5555" y="545"/>
                    </a:lnTo>
                    <a:lnTo>
                      <a:pt x="5828" y="545"/>
                    </a:lnTo>
                    <a:lnTo>
                      <a:pt x="5828" y="12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5" name="Freeform 52"/>
            <p:cNvSpPr/>
            <p:nvPr/>
          </p:nvSpPr>
          <p:spPr>
            <a:xfrm>
              <a:off x="6828626" y="3484421"/>
              <a:ext cx="166402" cy="2754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6587" h="606722">
                  <a:moveTo>
                    <a:pt x="0" y="522185"/>
                  </a:moveTo>
                  <a:lnTo>
                    <a:pt x="366587" y="522185"/>
                  </a:lnTo>
                  <a:lnTo>
                    <a:pt x="366587" y="606722"/>
                  </a:lnTo>
                  <a:lnTo>
                    <a:pt x="0" y="606722"/>
                  </a:lnTo>
                  <a:close/>
                  <a:moveTo>
                    <a:pt x="167850" y="321355"/>
                  </a:moveTo>
                  <a:lnTo>
                    <a:pt x="198738" y="321355"/>
                  </a:lnTo>
                  <a:lnTo>
                    <a:pt x="198738" y="359314"/>
                  </a:lnTo>
                  <a:lnTo>
                    <a:pt x="236747" y="359314"/>
                  </a:lnTo>
                  <a:lnTo>
                    <a:pt x="236747" y="390162"/>
                  </a:lnTo>
                  <a:lnTo>
                    <a:pt x="198738" y="390162"/>
                  </a:lnTo>
                  <a:lnTo>
                    <a:pt x="198738" y="428121"/>
                  </a:lnTo>
                  <a:lnTo>
                    <a:pt x="167850" y="428121"/>
                  </a:lnTo>
                  <a:lnTo>
                    <a:pt x="167850" y="390162"/>
                  </a:lnTo>
                  <a:lnTo>
                    <a:pt x="129840" y="390162"/>
                  </a:lnTo>
                  <a:lnTo>
                    <a:pt x="129840" y="359314"/>
                  </a:lnTo>
                  <a:lnTo>
                    <a:pt x="167850" y="359314"/>
                  </a:lnTo>
                  <a:close/>
                  <a:moveTo>
                    <a:pt x="131719" y="285388"/>
                  </a:moveTo>
                  <a:lnTo>
                    <a:pt x="131719" y="323242"/>
                  </a:lnTo>
                  <a:lnTo>
                    <a:pt x="93716" y="323242"/>
                  </a:lnTo>
                  <a:lnTo>
                    <a:pt x="93716" y="426233"/>
                  </a:lnTo>
                  <a:lnTo>
                    <a:pt x="131719" y="426233"/>
                  </a:lnTo>
                  <a:lnTo>
                    <a:pt x="131719" y="464087"/>
                  </a:lnTo>
                  <a:lnTo>
                    <a:pt x="234869" y="464087"/>
                  </a:lnTo>
                  <a:lnTo>
                    <a:pt x="234869" y="426233"/>
                  </a:lnTo>
                  <a:lnTo>
                    <a:pt x="272782" y="426233"/>
                  </a:lnTo>
                  <a:lnTo>
                    <a:pt x="272782" y="323242"/>
                  </a:lnTo>
                  <a:lnTo>
                    <a:pt x="234869" y="323242"/>
                  </a:lnTo>
                  <a:lnTo>
                    <a:pt x="234869" y="285388"/>
                  </a:lnTo>
                  <a:close/>
                  <a:moveTo>
                    <a:pt x="0" y="263350"/>
                  </a:moveTo>
                  <a:lnTo>
                    <a:pt x="366587" y="263350"/>
                  </a:lnTo>
                  <a:lnTo>
                    <a:pt x="366587" y="486125"/>
                  </a:lnTo>
                  <a:lnTo>
                    <a:pt x="0" y="486125"/>
                  </a:lnTo>
                  <a:close/>
                  <a:moveTo>
                    <a:pt x="63901" y="94769"/>
                  </a:moveTo>
                  <a:lnTo>
                    <a:pt x="99946" y="94769"/>
                  </a:lnTo>
                  <a:lnTo>
                    <a:pt x="266552" y="94769"/>
                  </a:lnTo>
                  <a:lnTo>
                    <a:pt x="302686" y="94769"/>
                  </a:lnTo>
                  <a:lnTo>
                    <a:pt x="302686" y="110670"/>
                  </a:lnTo>
                  <a:cubicBezTo>
                    <a:pt x="302686" y="114046"/>
                    <a:pt x="303932" y="117244"/>
                    <a:pt x="306157" y="119820"/>
                  </a:cubicBezTo>
                  <a:lnTo>
                    <a:pt x="350745" y="170366"/>
                  </a:lnTo>
                  <a:cubicBezTo>
                    <a:pt x="360891" y="182004"/>
                    <a:pt x="366587" y="196839"/>
                    <a:pt x="366587" y="212296"/>
                  </a:cubicBezTo>
                  <a:lnTo>
                    <a:pt x="366587" y="227220"/>
                  </a:lnTo>
                  <a:lnTo>
                    <a:pt x="0" y="227220"/>
                  </a:lnTo>
                  <a:lnTo>
                    <a:pt x="0" y="212296"/>
                  </a:lnTo>
                  <a:cubicBezTo>
                    <a:pt x="0" y="196839"/>
                    <a:pt x="5607" y="182004"/>
                    <a:pt x="15842" y="170366"/>
                  </a:cubicBezTo>
                  <a:lnTo>
                    <a:pt x="60430" y="119820"/>
                  </a:lnTo>
                  <a:cubicBezTo>
                    <a:pt x="62655" y="117244"/>
                    <a:pt x="63901" y="114046"/>
                    <a:pt x="63901" y="110670"/>
                  </a:cubicBezTo>
                  <a:close/>
                  <a:moveTo>
                    <a:pt x="37823" y="0"/>
                  </a:moveTo>
                  <a:lnTo>
                    <a:pt x="83479" y="0"/>
                  </a:lnTo>
                  <a:lnTo>
                    <a:pt x="83479" y="58640"/>
                  </a:lnTo>
                  <a:lnTo>
                    <a:pt x="73867" y="58640"/>
                  </a:lnTo>
                  <a:lnTo>
                    <a:pt x="63900" y="58640"/>
                  </a:lnTo>
                  <a:lnTo>
                    <a:pt x="37823" y="58640"/>
                  </a:lnTo>
                  <a:close/>
                  <a:moveTo>
                    <a:pt x="201323" y="0"/>
                  </a:moveTo>
                  <a:lnTo>
                    <a:pt x="246979" y="0"/>
                  </a:lnTo>
                  <a:lnTo>
                    <a:pt x="246979" y="58640"/>
                  </a:lnTo>
                  <a:lnTo>
                    <a:pt x="201323" y="58640"/>
                  </a:lnTo>
                  <a:close/>
                  <a:moveTo>
                    <a:pt x="119538" y="0"/>
                  </a:moveTo>
                  <a:lnTo>
                    <a:pt x="165264" y="0"/>
                  </a:lnTo>
                  <a:lnTo>
                    <a:pt x="165264" y="58640"/>
                  </a:lnTo>
                  <a:lnTo>
                    <a:pt x="119538" y="58640"/>
                  </a:lnTo>
                  <a:close/>
                  <a:moveTo>
                    <a:pt x="283108" y="0"/>
                  </a:moveTo>
                  <a:lnTo>
                    <a:pt x="328764" y="0"/>
                  </a:lnTo>
                  <a:lnTo>
                    <a:pt x="328764" y="58640"/>
                  </a:lnTo>
                  <a:lnTo>
                    <a:pt x="302688" y="58640"/>
                  </a:lnTo>
                  <a:lnTo>
                    <a:pt x="292631" y="58640"/>
                  </a:lnTo>
                  <a:lnTo>
                    <a:pt x="283108" y="5864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606961" y="967411"/>
            <a:ext cx="10878598" cy="4380865"/>
            <a:chOff x="673100" y="1400770"/>
            <a:chExt cx="10878598" cy="4380865"/>
          </a:xfrm>
        </p:grpSpPr>
        <p:grpSp>
          <p:nvGrpSpPr>
            <p:cNvPr id="139" name="组合 138"/>
            <p:cNvGrpSpPr/>
            <p:nvPr/>
          </p:nvGrpSpPr>
          <p:grpSpPr>
            <a:xfrm>
              <a:off x="673100" y="1400770"/>
              <a:ext cx="5280660" cy="4380865"/>
              <a:chOff x="673100" y="1400770"/>
              <a:chExt cx="5280660" cy="4380865"/>
            </a:xfrm>
          </p:grpSpPr>
          <p:sp>
            <p:nvSpPr>
              <p:cNvPr id="151" name="Rounded Rectangle 8_2"/>
              <p:cNvSpPr/>
              <p:nvPr/>
            </p:nvSpPr>
            <p:spPr>
              <a:xfrm>
                <a:off x="673100" y="1400770"/>
                <a:ext cx="5280660" cy="438086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52" name="Rounded Rectangle 8_1"/>
              <p:cNvSpPr/>
              <p:nvPr/>
            </p:nvSpPr>
            <p:spPr>
              <a:xfrm>
                <a:off x="759460" y="3759795"/>
                <a:ext cx="5107940" cy="1885315"/>
              </a:xfrm>
              <a:prstGeom prst="roundRect">
                <a:avLst>
                  <a:gd name="adj" fmla="val 362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文本框 153"/>
              <p:cNvSpPr txBox="1"/>
              <p:nvPr/>
            </p:nvSpPr>
            <p:spPr>
              <a:xfrm>
                <a:off x="1054049" y="1456454"/>
                <a:ext cx="42982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kern="100" dirty="0">
                    <a:solidFill>
                      <a:schemeClr val="bg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数据分析的完整流程</a:t>
                </a:r>
                <a:endParaRPr lang="zh-CN" altLang="en-US" sz="2800" b="1" kern="1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55" name="Bullet"/>
              <p:cNvSpPr/>
              <p:nvPr/>
            </p:nvSpPr>
            <p:spPr>
              <a:xfrm>
                <a:off x="959485" y="2129115"/>
                <a:ext cx="4907915" cy="123380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数据收集→数据清洗→</a:t>
                </a:r>
                <a:endPara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          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数据分析→数据可视化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6271038" y="1400770"/>
              <a:ext cx="5280660" cy="4380865"/>
              <a:chOff x="6271038" y="1400770"/>
              <a:chExt cx="5280660" cy="4380865"/>
            </a:xfrm>
          </p:grpSpPr>
          <p:sp>
            <p:nvSpPr>
              <p:cNvPr id="141" name="矩形: 圆角 140"/>
              <p:cNvSpPr/>
              <p:nvPr/>
            </p:nvSpPr>
            <p:spPr>
              <a:xfrm>
                <a:off x="6271038" y="1400770"/>
                <a:ext cx="5280660" cy="4380865"/>
              </a:xfrm>
              <a:prstGeom prst="roundRect">
                <a:avLst>
                  <a:gd name="adj" fmla="val 3624"/>
                </a:avLst>
              </a:prstGeom>
              <a:solidFill>
                <a:srgbClr val="00329F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42" name="Rounded Rectangle 9_1"/>
              <p:cNvSpPr/>
              <p:nvPr/>
            </p:nvSpPr>
            <p:spPr>
              <a:xfrm>
                <a:off x="6357398" y="2240875"/>
                <a:ext cx="5107940" cy="3404235"/>
              </a:xfrm>
              <a:prstGeom prst="roundRect">
                <a:avLst>
                  <a:gd name="adj" fmla="val 362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6654749" y="1674259"/>
                <a:ext cx="4406951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240"/>
                  </a:spcBef>
                  <a:spcAft>
                    <a:spcPts val="240"/>
                  </a:spcAft>
                </a:pPr>
                <a:r>
                  <a:rPr lang="zh-CN" altLang="en-US" sz="2800" b="1" kern="100" dirty="0">
                    <a:solidFill>
                      <a:schemeClr val="bg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工具安装与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配置</a:t>
                </a:r>
                <a:endParaRPr lang="zh-CN" altLang="en-US" sz="2800" b="1" kern="1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50" name="Freeform 52"/>
              <p:cNvSpPr/>
              <p:nvPr/>
            </p:nvSpPr>
            <p:spPr>
              <a:xfrm>
                <a:off x="6828626" y="3484421"/>
                <a:ext cx="166402" cy="275406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366587" h="606722">
                    <a:moveTo>
                      <a:pt x="0" y="522185"/>
                    </a:moveTo>
                    <a:lnTo>
                      <a:pt x="366587" y="522185"/>
                    </a:lnTo>
                    <a:lnTo>
                      <a:pt x="366587" y="606722"/>
                    </a:lnTo>
                    <a:lnTo>
                      <a:pt x="0" y="606722"/>
                    </a:lnTo>
                    <a:close/>
                    <a:moveTo>
                      <a:pt x="167850" y="321355"/>
                    </a:moveTo>
                    <a:lnTo>
                      <a:pt x="198738" y="321355"/>
                    </a:lnTo>
                    <a:lnTo>
                      <a:pt x="198738" y="359314"/>
                    </a:lnTo>
                    <a:lnTo>
                      <a:pt x="236747" y="359314"/>
                    </a:lnTo>
                    <a:lnTo>
                      <a:pt x="236747" y="390162"/>
                    </a:lnTo>
                    <a:lnTo>
                      <a:pt x="198738" y="390162"/>
                    </a:lnTo>
                    <a:lnTo>
                      <a:pt x="198738" y="428121"/>
                    </a:lnTo>
                    <a:lnTo>
                      <a:pt x="167850" y="428121"/>
                    </a:lnTo>
                    <a:lnTo>
                      <a:pt x="167850" y="390162"/>
                    </a:lnTo>
                    <a:lnTo>
                      <a:pt x="129840" y="390162"/>
                    </a:lnTo>
                    <a:lnTo>
                      <a:pt x="129840" y="359314"/>
                    </a:lnTo>
                    <a:lnTo>
                      <a:pt x="167850" y="359314"/>
                    </a:lnTo>
                    <a:close/>
                    <a:moveTo>
                      <a:pt x="131719" y="285388"/>
                    </a:moveTo>
                    <a:lnTo>
                      <a:pt x="131719" y="323242"/>
                    </a:lnTo>
                    <a:lnTo>
                      <a:pt x="93716" y="323242"/>
                    </a:lnTo>
                    <a:lnTo>
                      <a:pt x="93716" y="426233"/>
                    </a:lnTo>
                    <a:lnTo>
                      <a:pt x="131719" y="426233"/>
                    </a:lnTo>
                    <a:lnTo>
                      <a:pt x="131719" y="464087"/>
                    </a:lnTo>
                    <a:lnTo>
                      <a:pt x="234869" y="464087"/>
                    </a:lnTo>
                    <a:lnTo>
                      <a:pt x="234869" y="426233"/>
                    </a:lnTo>
                    <a:lnTo>
                      <a:pt x="272782" y="426233"/>
                    </a:lnTo>
                    <a:lnTo>
                      <a:pt x="272782" y="323242"/>
                    </a:lnTo>
                    <a:lnTo>
                      <a:pt x="234869" y="323242"/>
                    </a:lnTo>
                    <a:lnTo>
                      <a:pt x="234869" y="285388"/>
                    </a:lnTo>
                    <a:close/>
                    <a:moveTo>
                      <a:pt x="0" y="263350"/>
                    </a:moveTo>
                    <a:lnTo>
                      <a:pt x="366587" y="263350"/>
                    </a:lnTo>
                    <a:lnTo>
                      <a:pt x="366587" y="486125"/>
                    </a:lnTo>
                    <a:lnTo>
                      <a:pt x="0" y="486125"/>
                    </a:lnTo>
                    <a:close/>
                    <a:moveTo>
                      <a:pt x="63901" y="94769"/>
                    </a:moveTo>
                    <a:lnTo>
                      <a:pt x="99946" y="94769"/>
                    </a:lnTo>
                    <a:lnTo>
                      <a:pt x="266552" y="94769"/>
                    </a:lnTo>
                    <a:lnTo>
                      <a:pt x="302686" y="94769"/>
                    </a:lnTo>
                    <a:lnTo>
                      <a:pt x="302686" y="110670"/>
                    </a:lnTo>
                    <a:cubicBezTo>
                      <a:pt x="302686" y="114046"/>
                      <a:pt x="303932" y="117244"/>
                      <a:pt x="306157" y="119820"/>
                    </a:cubicBezTo>
                    <a:lnTo>
                      <a:pt x="350745" y="170366"/>
                    </a:lnTo>
                    <a:cubicBezTo>
                      <a:pt x="360891" y="182004"/>
                      <a:pt x="366587" y="196839"/>
                      <a:pt x="366587" y="212296"/>
                    </a:cubicBezTo>
                    <a:lnTo>
                      <a:pt x="366587" y="227220"/>
                    </a:lnTo>
                    <a:lnTo>
                      <a:pt x="0" y="227220"/>
                    </a:lnTo>
                    <a:lnTo>
                      <a:pt x="0" y="212296"/>
                    </a:lnTo>
                    <a:cubicBezTo>
                      <a:pt x="0" y="196839"/>
                      <a:pt x="5607" y="182004"/>
                      <a:pt x="15842" y="170366"/>
                    </a:cubicBezTo>
                    <a:lnTo>
                      <a:pt x="60430" y="119820"/>
                    </a:lnTo>
                    <a:cubicBezTo>
                      <a:pt x="62655" y="117244"/>
                      <a:pt x="63901" y="114046"/>
                      <a:pt x="63901" y="110670"/>
                    </a:cubicBezTo>
                    <a:close/>
                    <a:moveTo>
                      <a:pt x="37823" y="0"/>
                    </a:moveTo>
                    <a:lnTo>
                      <a:pt x="83479" y="0"/>
                    </a:lnTo>
                    <a:lnTo>
                      <a:pt x="83479" y="58640"/>
                    </a:lnTo>
                    <a:lnTo>
                      <a:pt x="73867" y="58640"/>
                    </a:lnTo>
                    <a:lnTo>
                      <a:pt x="63900" y="58640"/>
                    </a:lnTo>
                    <a:lnTo>
                      <a:pt x="37823" y="58640"/>
                    </a:lnTo>
                    <a:close/>
                    <a:moveTo>
                      <a:pt x="201323" y="0"/>
                    </a:moveTo>
                    <a:lnTo>
                      <a:pt x="246979" y="0"/>
                    </a:lnTo>
                    <a:lnTo>
                      <a:pt x="246979" y="58640"/>
                    </a:lnTo>
                    <a:lnTo>
                      <a:pt x="201323" y="58640"/>
                    </a:lnTo>
                    <a:close/>
                    <a:moveTo>
                      <a:pt x="119538" y="0"/>
                    </a:moveTo>
                    <a:lnTo>
                      <a:pt x="165264" y="0"/>
                    </a:lnTo>
                    <a:lnTo>
                      <a:pt x="165264" y="58640"/>
                    </a:lnTo>
                    <a:lnTo>
                      <a:pt x="119538" y="58640"/>
                    </a:lnTo>
                    <a:close/>
                    <a:moveTo>
                      <a:pt x="283108" y="0"/>
                    </a:moveTo>
                    <a:lnTo>
                      <a:pt x="328764" y="0"/>
                    </a:lnTo>
                    <a:lnTo>
                      <a:pt x="328764" y="58640"/>
                    </a:lnTo>
                    <a:lnTo>
                      <a:pt x="302688" y="58640"/>
                    </a:lnTo>
                    <a:lnTo>
                      <a:pt x="292631" y="58640"/>
                    </a:lnTo>
                    <a:lnTo>
                      <a:pt x="283108" y="586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63" name="文本框 162"/>
          <p:cNvSpPr txBox="1"/>
          <p:nvPr/>
        </p:nvSpPr>
        <p:spPr>
          <a:xfrm>
            <a:off x="893761" y="3491204"/>
            <a:ext cx="3254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数据分析核心三件套</a:t>
            </a:r>
            <a:endParaRPr lang="zh-CN" altLang="en-US" sz="2400" dirty="0"/>
          </a:p>
        </p:txBody>
      </p:sp>
      <p:sp>
        <p:nvSpPr>
          <p:cNvPr id="164" name="文本框 163"/>
          <p:cNvSpPr txBox="1"/>
          <p:nvPr/>
        </p:nvSpPr>
        <p:spPr>
          <a:xfrm>
            <a:off x="829394" y="4389086"/>
            <a:ext cx="1538743" cy="574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Numpy</a:t>
            </a:r>
            <a:endParaRPr lang="en-US" altLang="zh-CN" sz="2400" b="1" dirty="0" err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2368093" y="4389420"/>
            <a:ext cx="1538743" cy="574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Pandas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3808095" y="4389755"/>
            <a:ext cx="1993265" cy="57467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Matplotlib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178" y="2150730"/>
            <a:ext cx="4418593" cy="748914"/>
          </a:xfrm>
          <a:prstGeom prst="rect">
            <a:avLst/>
          </a:prstGeom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242" y="3429106"/>
            <a:ext cx="1214834" cy="14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300" y="3326735"/>
            <a:ext cx="1405723" cy="140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/>
          <p:cNvSpPr/>
          <p:nvPr/>
        </p:nvSpPr>
        <p:spPr>
          <a:xfrm>
            <a:off x="615950" y="5441315"/>
            <a:ext cx="10868660" cy="1376045"/>
          </a:xfrm>
          <a:prstGeom prst="roundRect">
            <a:avLst/>
          </a:prstGeom>
          <a:solidFill>
            <a:srgbClr val="00329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57885" y="5554345"/>
            <a:ext cx="4252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验证标准（三连自查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8060" y="5897880"/>
            <a:ext cx="9585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环境确认  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env list →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当前激活环境前显示 * （如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research）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代码检测  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numpy / pandas / matplotlib →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无报错即通过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路径核对  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print(sys.executable) →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输出指向 .../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envs/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你的环境名/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python.exe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4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5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6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7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8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69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70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71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72.xml><?xml version="1.0" encoding="utf-8"?>
<p:tagLst xmlns:p="http://schemas.openxmlformats.org/presentationml/2006/main">
  <p:tag name="KSO_WM_DIAGRAM_VIRTUALLY_FRAME" val="{&quot;height&quot;:239.1,&quot;left&quot;:43.17488188976376,&quot;top&quot;:164.27275590551181,&quot;width&quot;:873.3208661417324}"/>
</p:tagLst>
</file>

<file path=ppt/tags/tag7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7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8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9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0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1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2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39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0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1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2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3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4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5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6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7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8.xml><?xml version="1.0" encoding="utf-8"?>
<p:tagLst xmlns:p="http://schemas.openxmlformats.org/presentationml/2006/main">
  <p:tag name="KSO_WM_DIAGRAM_VIRTUALLY_FRAME" val="{&quot;height&quot;:469.2511811023622,&quot;left&quot;:-0.01283464566929134,&quot;top&quot;:26.805590551181105,&quot;width&quot;:930.152283464567}"/>
</p:tagLst>
</file>

<file path=ppt/tags/tag149.xml><?xml version="1.0" encoding="utf-8"?>
<p:tagLst xmlns:p="http://schemas.openxmlformats.org/presentationml/2006/main">
  <p:tag name="TABLE_ENDDRAG_ORIGIN_RECT" val="384*118"/>
  <p:tag name="TABLE_ENDDRAG_RECT" val="11*341*384*118"/>
</p:tagLst>
</file>

<file path=ppt/tags/tag150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1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2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3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4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5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6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7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8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59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0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1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2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3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4.xml><?xml version="1.0" encoding="utf-8"?>
<p:tagLst xmlns:p="http://schemas.openxmlformats.org/presentationml/2006/main">
  <p:tag name="KSO_WM_DIAGRAM_VIRTUALLY_FRAME" val="{&quot;height&quot;:318.8944094488189,&quot;left&quot;:-0.01283464566929134,&quot;top&quot;:26.805590551181105,&quot;width&quot;:588.5128346456693}"/>
</p:tagLst>
</file>

<file path=ppt/tags/tag165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66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67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68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69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70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71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ags/tag172.xml><?xml version="1.0" encoding="utf-8"?>
<p:tagLst xmlns:p="http://schemas.openxmlformats.org/presentationml/2006/main">
  <p:tag name="KSO_WM_DIAGRAM_VIRTUALLY_FRAME" val="{&quot;height&quot;:392.6944094488189,&quot;left&quot;:-1.7128346456692913,&quot;top&quot;:12.005590551181102,&quot;width&quot;:490.3983464566929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3971</Words>
  <Application>WPS 演示</Application>
  <PresentationFormat>宽屏</PresentationFormat>
  <Paragraphs>406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Arial</vt:lpstr>
      <vt:lpstr>Alibaba PuHuiTi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cheex</cp:lastModifiedBy>
  <cp:revision>173</cp:revision>
  <dcterms:created xsi:type="dcterms:W3CDTF">2019-06-19T02:08:00Z</dcterms:created>
  <dcterms:modified xsi:type="dcterms:W3CDTF">2026-08-28T06:22:11Z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A660C2098A944E84A418E06FE71F783C_13</vt:lpwstr>
  </property>
</Properties>
</file>