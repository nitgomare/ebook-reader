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78" r:id="rId2"/>
    <p:sldMasterId id="2147483710" r:id="rId3"/>
  </p:sldMasterIdLst>
  <p:notesMasterIdLst>
    <p:notesMasterId r:id="rId25"/>
  </p:notesMasterIdLst>
  <p:sldIdLst>
    <p:sldId id="11090117" r:id="rId4"/>
    <p:sldId id="11090118" r:id="rId5"/>
    <p:sldId id="11090131" r:id="rId6"/>
    <p:sldId id="11090132" r:id="rId7"/>
    <p:sldId id="11090133" r:id="rId8"/>
    <p:sldId id="11090134" r:id="rId9"/>
    <p:sldId id="11090135" r:id="rId10"/>
    <p:sldId id="309" r:id="rId11"/>
    <p:sldId id="11090120" r:id="rId12"/>
    <p:sldId id="11090121" r:id="rId13"/>
    <p:sldId id="11090122" r:id="rId14"/>
    <p:sldId id="11090123" r:id="rId15"/>
    <p:sldId id="11090124" r:id="rId16"/>
    <p:sldId id="11090125" r:id="rId17"/>
    <p:sldId id="11090126" r:id="rId18"/>
    <p:sldId id="11090127" r:id="rId19"/>
    <p:sldId id="11090128" r:id="rId20"/>
    <p:sldId id="11090129" r:id="rId21"/>
    <p:sldId id="11090130" r:id="rId22"/>
    <p:sldId id="273" r:id="rId23"/>
    <p:sldId id="288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7734A1C5-2DA6-4A33-AF7F-D3C4DF2F5DA3}">
          <p14:sldIdLst>
            <p14:sldId id="11090117"/>
            <p14:sldId id="11090118"/>
            <p14:sldId id="11090131"/>
            <p14:sldId id="11090132"/>
            <p14:sldId id="11090133"/>
            <p14:sldId id="11090134"/>
            <p14:sldId id="11090135"/>
            <p14:sldId id="309"/>
            <p14:sldId id="11090120"/>
            <p14:sldId id="11090121"/>
            <p14:sldId id="11090122"/>
            <p14:sldId id="11090123"/>
            <p14:sldId id="11090124"/>
            <p14:sldId id="11090125"/>
            <p14:sldId id="11090126"/>
            <p14:sldId id="11090127"/>
            <p14:sldId id="11090128"/>
            <p14:sldId id="11090129"/>
            <p14:sldId id="11090130"/>
            <p14:sldId id="273"/>
            <p14:sldId id="288"/>
          </p14:sldIdLst>
        </p14:section>
        <p14:section name="结束" id="{E313DF9B-CE10-480F-B763-398289A0129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FAB"/>
    <a:srgbClr val="E6E6EE"/>
    <a:srgbClr val="333333"/>
    <a:srgbClr val="6D93AB"/>
    <a:srgbClr val="657890"/>
    <a:srgbClr val="415264"/>
    <a:srgbClr val="6B7F97"/>
    <a:srgbClr val="F4B183"/>
    <a:srgbClr val="7C92AA"/>
    <a:srgbClr val="4F6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7" autoAdjust="0"/>
    <p:restoredTop sz="92023" autoAdjust="0"/>
  </p:normalViewPr>
  <p:slideViewPr>
    <p:cSldViewPr>
      <p:cViewPr varScale="1">
        <p:scale>
          <a:sx n="87" d="100"/>
          <a:sy n="87" d="100"/>
        </p:scale>
        <p:origin x="31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97"/>
    </p:cViewPr>
  </p:sorterViewPr>
  <p:notesViewPr>
    <p:cSldViewPr>
      <p:cViewPr varScale="1">
        <p:scale>
          <a:sx n="79" d="100"/>
          <a:sy n="79" d="100"/>
        </p:scale>
        <p:origin x="1752" y="6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8DFCC-589B-4A60-9C12-59D686ADFEC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CC3E0-7DDF-45E7-A937-AD50A2B51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8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57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rgbClr val="E6E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CD993E-5DAD-69E8-F31D-B1ED5FB48DAE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AE168DC-9388-E468-B704-B2CB7D256052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0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D5039D7-41B9-05E7-76B8-5CE2DABFDA99}"/>
              </a:ext>
            </a:extLst>
          </p:cNvPr>
          <p:cNvSpPr txBox="1"/>
          <p:nvPr userDrawn="1"/>
        </p:nvSpPr>
        <p:spPr>
          <a:xfrm>
            <a:off x="9575964" y="352690"/>
            <a:ext cx="1992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5854293-DABE-4291-834E-A1631254A371}"/>
              </a:ext>
            </a:extLst>
          </p:cNvPr>
          <p:cNvCxnSpPr/>
          <p:nvPr userDrawn="1"/>
        </p:nvCxnSpPr>
        <p:spPr>
          <a:xfrm>
            <a:off x="11650980" y="483495"/>
            <a:ext cx="54102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23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74057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4622800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8171543" y="1691297"/>
            <a:ext cx="2946400" cy="3270775"/>
          </a:xfrm>
          <a:custGeom>
            <a:avLst/>
            <a:gdLst>
              <a:gd name="connsiteX0" fmla="*/ 0 w 2946400"/>
              <a:gd name="connsiteY0" fmla="*/ 0 h 3270775"/>
              <a:gd name="connsiteX1" fmla="*/ 2946400 w 2946400"/>
              <a:gd name="connsiteY1" fmla="*/ 0 h 3270775"/>
              <a:gd name="connsiteX2" fmla="*/ 2946400 w 2946400"/>
              <a:gd name="connsiteY2" fmla="*/ 3270775 h 3270775"/>
              <a:gd name="connsiteX3" fmla="*/ 0 w 2946400"/>
              <a:gd name="connsiteY3" fmla="*/ 3270775 h 327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3270775">
                <a:moveTo>
                  <a:pt x="0" y="0"/>
                </a:moveTo>
                <a:lnTo>
                  <a:pt x="2946400" y="0"/>
                </a:lnTo>
                <a:lnTo>
                  <a:pt x="2946400" y="3270775"/>
                </a:lnTo>
                <a:lnTo>
                  <a:pt x="0" y="32707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741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8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85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9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681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9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19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18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86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57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275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83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620"/>
            <a:ext cx="10363202" cy="14701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557"/>
            <a:ext cx="8534402" cy="17527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7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4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2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09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7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4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92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19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649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418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7305"/>
            <a:ext cx="10363202" cy="1362200"/>
          </a:xfrm>
        </p:spPr>
        <p:txBody>
          <a:bodyPr anchor="t"/>
          <a:lstStyle>
            <a:lvl1pPr algn="l">
              <a:defRPr sz="3743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980"/>
            <a:ext cx="10363202" cy="1500325"/>
          </a:xfrm>
        </p:spPr>
        <p:txBody>
          <a:bodyPr anchor="b"/>
          <a:lstStyle>
            <a:lvl1pPr marL="0" indent="0">
              <a:buNone/>
              <a:defRPr sz="1872">
                <a:solidFill>
                  <a:schemeClr val="tx1">
                    <a:tint val="75000"/>
                  </a:schemeClr>
                </a:solidFill>
              </a:defRPr>
            </a:lvl1pPr>
            <a:lvl2pPr marL="427841" indent="0">
              <a:buNone/>
              <a:defRPr sz="1681">
                <a:solidFill>
                  <a:schemeClr val="tx1">
                    <a:tint val="75000"/>
                  </a:schemeClr>
                </a:solidFill>
              </a:defRPr>
            </a:lvl2pPr>
            <a:lvl3pPr marL="854928" indent="0">
              <a:buNone/>
              <a:defRPr sz="1497">
                <a:solidFill>
                  <a:schemeClr val="tx1">
                    <a:tint val="75000"/>
                  </a:schemeClr>
                </a:solidFill>
              </a:defRPr>
            </a:lvl3pPr>
            <a:lvl4pPr marL="1282770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4pPr>
            <a:lvl5pPr marL="170985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5pPr>
            <a:lvl6pPr marL="2137698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6pPr>
            <a:lvl7pPr marL="2564785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7pPr>
            <a:lvl8pPr marL="2992627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8pPr>
            <a:lvl9pPr marL="3419714" indent="0">
              <a:buNone/>
              <a:defRPr sz="1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2632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600347"/>
            <a:ext cx="5384801" cy="4526378"/>
          </a:xfrm>
        </p:spPr>
        <p:txBody>
          <a:bodyPr/>
          <a:lstStyle>
            <a:lvl1pPr>
              <a:defRPr sz="2620"/>
            </a:lvl1pPr>
            <a:lvl2pPr>
              <a:defRPr sz="2246"/>
            </a:lvl2pPr>
            <a:lvl3pPr>
              <a:defRPr sz="1872"/>
            </a:lvl3pPr>
            <a:lvl4pPr>
              <a:defRPr sz="1681"/>
            </a:lvl4pPr>
            <a:lvl5pPr>
              <a:defRPr sz="1681"/>
            </a:lvl5pPr>
            <a:lvl6pPr>
              <a:defRPr sz="1681"/>
            </a:lvl6pPr>
            <a:lvl7pPr>
              <a:defRPr sz="1681"/>
            </a:lvl7pPr>
            <a:lvl8pPr>
              <a:defRPr sz="1681"/>
            </a:lvl8pPr>
            <a:lvl9pPr>
              <a:defRPr sz="16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93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254"/>
            <a:ext cx="5386919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5075"/>
            <a:ext cx="5386919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254"/>
            <a:ext cx="5389034" cy="639821"/>
          </a:xfrm>
        </p:spPr>
        <p:txBody>
          <a:bodyPr anchor="b"/>
          <a:lstStyle>
            <a:lvl1pPr marL="0" indent="0">
              <a:buNone/>
              <a:defRPr sz="2246" b="1"/>
            </a:lvl1pPr>
            <a:lvl2pPr marL="427841" indent="0">
              <a:buNone/>
              <a:defRPr sz="1872" b="1"/>
            </a:lvl2pPr>
            <a:lvl3pPr marL="854928" indent="0">
              <a:buNone/>
              <a:defRPr sz="1681" b="1"/>
            </a:lvl3pPr>
            <a:lvl4pPr marL="1282770" indent="0">
              <a:buNone/>
              <a:defRPr sz="1497" b="1"/>
            </a:lvl4pPr>
            <a:lvl5pPr marL="1709857" indent="0">
              <a:buNone/>
              <a:defRPr sz="1497" b="1"/>
            </a:lvl5pPr>
            <a:lvl6pPr marL="2137698" indent="0">
              <a:buNone/>
              <a:defRPr sz="1497" b="1"/>
            </a:lvl6pPr>
            <a:lvl7pPr marL="2564785" indent="0">
              <a:buNone/>
              <a:defRPr sz="1497" b="1"/>
            </a:lvl7pPr>
            <a:lvl8pPr marL="2992627" indent="0">
              <a:buNone/>
              <a:defRPr sz="1497" b="1"/>
            </a:lvl8pPr>
            <a:lvl9pPr marL="3419714" indent="0">
              <a:buNone/>
              <a:defRPr sz="14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5075"/>
            <a:ext cx="5389034" cy="3951651"/>
          </a:xfrm>
        </p:spPr>
        <p:txBody>
          <a:bodyPr/>
          <a:lstStyle>
            <a:lvl1pPr>
              <a:defRPr sz="2246"/>
            </a:lvl1pPr>
            <a:lvl2pPr>
              <a:defRPr sz="1872"/>
            </a:lvl2pPr>
            <a:lvl3pPr>
              <a:defRPr sz="1681"/>
            </a:lvl3pPr>
            <a:lvl4pPr>
              <a:defRPr sz="1497"/>
            </a:lvl4pPr>
            <a:lvl5pPr>
              <a:defRPr sz="1497"/>
            </a:lvl5pPr>
            <a:lvl6pPr>
              <a:defRPr sz="1497"/>
            </a:lvl6pPr>
            <a:lvl7pPr>
              <a:defRPr sz="1497"/>
            </a:lvl7pPr>
            <a:lvl8pPr>
              <a:defRPr sz="1497"/>
            </a:lvl8pPr>
            <a:lvl9pPr>
              <a:defRPr sz="14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5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334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5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76"/>
            <a:ext cx="4011084" cy="1162156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76"/>
            <a:ext cx="6815669" cy="5853650"/>
          </a:xfrm>
        </p:spPr>
        <p:txBody>
          <a:bodyPr/>
          <a:lstStyle>
            <a:lvl1pPr>
              <a:defRPr sz="2995"/>
            </a:lvl1pPr>
            <a:lvl2pPr>
              <a:defRPr sz="2620"/>
            </a:lvl2pPr>
            <a:lvl3pPr>
              <a:defRPr sz="2246"/>
            </a:lvl3pPr>
            <a:lvl4pPr>
              <a:defRPr sz="1872"/>
            </a:lvl4pPr>
            <a:lvl5pPr>
              <a:defRPr sz="1872"/>
            </a:lvl5pPr>
            <a:lvl6pPr>
              <a:defRPr sz="1872"/>
            </a:lvl6pPr>
            <a:lvl7pPr>
              <a:defRPr sz="1872"/>
            </a:lvl7pPr>
            <a:lvl8pPr>
              <a:defRPr sz="1872"/>
            </a:lvl8pPr>
            <a:lvl9pPr>
              <a:defRPr sz="187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232"/>
            <a:ext cx="4011084" cy="4691493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18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1041"/>
            <a:ext cx="7315201" cy="566791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832"/>
            <a:ext cx="7315201" cy="4115178"/>
          </a:xfrm>
        </p:spPr>
        <p:txBody>
          <a:bodyPr/>
          <a:lstStyle>
            <a:lvl1pPr marL="0" indent="0">
              <a:buNone/>
              <a:defRPr sz="2995"/>
            </a:lvl1pPr>
            <a:lvl2pPr marL="427841" indent="0">
              <a:buNone/>
              <a:defRPr sz="2620"/>
            </a:lvl2pPr>
            <a:lvl3pPr marL="854928" indent="0">
              <a:buNone/>
              <a:defRPr sz="2246"/>
            </a:lvl3pPr>
            <a:lvl4pPr marL="1282770" indent="0">
              <a:buNone/>
              <a:defRPr sz="1872"/>
            </a:lvl4pPr>
            <a:lvl5pPr marL="1709857" indent="0">
              <a:buNone/>
              <a:defRPr sz="1872"/>
            </a:lvl5pPr>
            <a:lvl6pPr marL="2137698" indent="0">
              <a:buNone/>
              <a:defRPr sz="1872"/>
            </a:lvl6pPr>
            <a:lvl7pPr marL="2564785" indent="0">
              <a:buNone/>
              <a:defRPr sz="1872"/>
            </a:lvl7pPr>
            <a:lvl8pPr marL="2992627" indent="0">
              <a:buNone/>
              <a:defRPr sz="1872"/>
            </a:lvl8pPr>
            <a:lvl9pPr marL="3419714" indent="0">
              <a:buNone/>
              <a:defRPr sz="1872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830"/>
            <a:ext cx="7315201" cy="804936"/>
          </a:xfrm>
        </p:spPr>
        <p:txBody>
          <a:bodyPr/>
          <a:lstStyle>
            <a:lvl1pPr marL="0" indent="0">
              <a:buNone/>
              <a:defRPr sz="1307"/>
            </a:lvl1pPr>
            <a:lvl2pPr marL="427841" indent="0">
              <a:buNone/>
              <a:defRPr sz="1123"/>
            </a:lvl2pPr>
            <a:lvl3pPr marL="854928" indent="0">
              <a:buNone/>
              <a:defRPr sz="933"/>
            </a:lvl3pPr>
            <a:lvl4pPr marL="1282770" indent="0">
              <a:buNone/>
              <a:defRPr sz="844"/>
            </a:lvl4pPr>
            <a:lvl5pPr marL="1709857" indent="0">
              <a:buNone/>
              <a:defRPr sz="844"/>
            </a:lvl5pPr>
            <a:lvl6pPr marL="2137698" indent="0">
              <a:buNone/>
              <a:defRPr sz="844"/>
            </a:lvl6pPr>
            <a:lvl7pPr marL="2564785" indent="0">
              <a:buNone/>
              <a:defRPr sz="844"/>
            </a:lvl7pPr>
            <a:lvl8pPr marL="2992627" indent="0">
              <a:buNone/>
              <a:defRPr sz="844"/>
            </a:lvl8pPr>
            <a:lvl9pPr marL="3419714" indent="0">
              <a:buNone/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90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836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2" y="274664"/>
            <a:ext cx="2743201" cy="5852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64"/>
            <a:ext cx="8026402" cy="5852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31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7C92AA"/>
            </a:gs>
            <a:gs pos="100000">
              <a:srgbClr val="4F637B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28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8" r:id="rId2"/>
    <p:sldLayoutId id="2147483677" r:id="rId3"/>
    <p:sldLayoutId id="2147483709" r:id="rId4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1F176-63CE-4A62-A32A-081AB31456BB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1B726-528B-4334-9AFE-44EC5CA45A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408858"/>
            <a:ext cx="12192004" cy="91519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347"/>
            <a:ext cx="10972803" cy="4526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934"/>
            <a:ext cx="3860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2" y="6356934"/>
            <a:ext cx="2844801" cy="365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9438216" y="6357621"/>
            <a:ext cx="2476360" cy="29347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307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307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307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  <p:extLst>
      <p:ext uri="{BB962C8B-B14F-4D97-AF65-F5344CB8AC3E}">
        <p14:creationId xmlns:p14="http://schemas.microsoft.com/office/powerpoint/2010/main" val="70125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defTabSz="854928" rtl="0" eaLnBrk="1" latinLnBrk="0" hangingPunct="1">
        <a:spcBef>
          <a:spcPct val="0"/>
        </a:spcBef>
        <a:buNone/>
        <a:defRPr sz="3327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320692" indent="-319938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995" kern="1200">
          <a:solidFill>
            <a:schemeClr val="tx1"/>
          </a:solidFill>
          <a:latin typeface="+mn-lt"/>
          <a:ea typeface="+mn-ea"/>
          <a:cs typeface="+mn-cs"/>
        </a:defRPr>
      </a:lvl1pPr>
      <a:lvl2pPr marL="694959" indent="-266363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2620" kern="1200">
          <a:solidFill>
            <a:schemeClr val="tx1"/>
          </a:solidFill>
          <a:latin typeface="+mn-lt"/>
          <a:ea typeface="+mn-ea"/>
          <a:cs typeface="+mn-cs"/>
        </a:defRPr>
      </a:lvl2pPr>
      <a:lvl3pPr marL="106847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2246" kern="1200">
          <a:solidFill>
            <a:schemeClr val="tx1"/>
          </a:solidFill>
          <a:latin typeface="+mn-lt"/>
          <a:ea typeface="+mn-ea"/>
          <a:cs typeface="+mn-cs"/>
        </a:defRPr>
      </a:lvl3pPr>
      <a:lvl4pPr marL="149631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–"/>
        <a:defRPr sz="1872" kern="1200">
          <a:solidFill>
            <a:schemeClr val="tx1"/>
          </a:solidFill>
          <a:latin typeface="+mn-lt"/>
          <a:ea typeface="+mn-ea"/>
          <a:cs typeface="+mn-cs"/>
        </a:defRPr>
      </a:lvl4pPr>
      <a:lvl5pPr marL="192340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»"/>
        <a:defRPr sz="1872" kern="1200">
          <a:solidFill>
            <a:schemeClr val="tx1"/>
          </a:solidFill>
          <a:latin typeface="+mn-lt"/>
          <a:ea typeface="+mn-ea"/>
          <a:cs typeface="+mn-cs"/>
        </a:defRPr>
      </a:lvl5pPr>
      <a:lvl6pPr marL="235124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6pPr>
      <a:lvl7pPr marL="2779083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7pPr>
      <a:lvl8pPr marL="3206170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8pPr>
      <a:lvl9pPr marL="3634012" indent="-212789" algn="l" defTabSz="854928" rtl="0" eaLnBrk="1" latinLnBrk="0" hangingPunct="1">
        <a:spcBef>
          <a:spcPts val="89"/>
        </a:spcBef>
        <a:buFont typeface="Arial" panose="020B0604020202020204" pitchFamily="34" charset="0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1pPr>
      <a:lvl2pPr marL="427841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2pPr>
      <a:lvl3pPr marL="85492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3pPr>
      <a:lvl4pPr marL="1282770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4pPr>
      <a:lvl5pPr marL="170985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5pPr>
      <a:lvl6pPr marL="2137698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6pPr>
      <a:lvl7pPr marL="2564785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7pPr>
      <a:lvl8pPr marL="2992627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8pPr>
      <a:lvl9pPr marL="3419714" algn="l" defTabSz="854928" rtl="0" eaLnBrk="1" latinLnBrk="0" hangingPunct="1">
        <a:defRPr sz="1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1991" y="1779521"/>
            <a:ext cx="6391558" cy="2461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11121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</a:t>
            </a:r>
            <a:r>
              <a:rPr kumimoji="0" lang="en-US" altLang="zh-CN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 </a:t>
            </a: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Go2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机器人入门</a:t>
            </a:r>
            <a:endParaRPr lang="en-US" altLang="zh-CN" sz="4400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u="none" strike="noStrike" kern="1200" cap="none" spc="0" normalizeH="0" baseline="0" noProof="0" dirty="0">
                <a:ln>
                  <a:noFill/>
                </a:ln>
                <a:solidFill>
                  <a:srgbClr val="4A7D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1.2 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遥控器及</a:t>
            </a:r>
            <a:r>
              <a:rPr lang="en-US" altLang="zh-CN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APP</a:t>
            </a:r>
            <a:r>
              <a:rPr lang="zh-CN" altLang="en-US" sz="4400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操作</a:t>
            </a:r>
            <a:endParaRPr kumimoji="0" lang="zh-CN" altLang="en-US" sz="4400" b="1" u="none" strike="noStrike" kern="1200" cap="none" spc="0" normalizeH="0" baseline="0" noProof="0" dirty="0">
              <a:ln>
                <a:noFill/>
              </a:ln>
              <a:solidFill>
                <a:srgbClr val="4A7D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479376" y="4986243"/>
            <a:ext cx="3134191" cy="453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300" normalizeH="0" baseline="0" noProof="0" dirty="0">
                <a:ln>
                  <a:noFill/>
                </a:ln>
                <a:solidFill>
                  <a:srgbClr val="6C6F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507549" y="5503239"/>
            <a:ext cx="6096000" cy="613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请访问宇树科技官网了解更多产品相关条款与政策，请遵守各地区法律法规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9FA1B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A1B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376" y="404664"/>
            <a:ext cx="2717014" cy="5298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6647784" y="1279600"/>
            <a:ext cx="7738758" cy="56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670432" y="2455791"/>
            <a:ext cx="8343305" cy="1101675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使用遥控器操作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机器人的基本方法。</a:t>
            </a:r>
            <a:endParaRPr lang="zh-CN" altLang="en-US" sz="3327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814936">
              <a:spcBef>
                <a:spcPts val="891"/>
              </a:spcBef>
            </a:pPr>
            <a:endParaRPr lang="zh-CN" altLang="en-US" sz="3327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1137959" y="182539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9963293" y="4638431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042627" y="2525212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2042627" y="3501008"/>
            <a:ext cx="405960" cy="414260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r>
              <a:rPr lang="en-US" altLang="zh-CN" sz="2139" b="1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670432" y="3508554"/>
            <a:ext cx="8343305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4936">
              <a:spcBef>
                <a:spcPts val="891"/>
              </a:spcBef>
            </a:pP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APP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绑定并连接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机器人，</a:t>
            </a:r>
            <a:r>
              <a:rPr lang="en-US" altLang="zh-CN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APP</a:t>
            </a:r>
            <a:r>
              <a:rPr lang="zh-CN" altLang="en-US" sz="3327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上各主要功能模块的使用方法。</a:t>
            </a:r>
          </a:p>
        </p:txBody>
      </p:sp>
    </p:spTree>
    <p:extLst>
      <p:ext uri="{BB962C8B-B14F-4D97-AF65-F5344CB8AC3E}">
        <p14:creationId xmlns:p14="http://schemas.microsoft.com/office/powerpoint/2010/main" val="3785025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943970" y="6289147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遥控器按键说明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按键布局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B5FE6A-9EC3-BCD5-7299-9EB9E172B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1179017"/>
            <a:ext cx="9318233" cy="4944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943970" y="5733256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遥控器遥控指令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遥控指令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9D58BAF-2CD3-A473-74C6-90407C647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2024844"/>
            <a:ext cx="11641453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170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943970" y="6289147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模式切换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模式切换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4C8FF5-265A-C483-7D99-63223B21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1124742"/>
            <a:ext cx="8652347" cy="4985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62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943970" y="6289147"/>
            <a:ext cx="259219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自定义动作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自定义动作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CE30603-9ECD-94C7-D8D3-0257D87F4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116" y="1313102"/>
            <a:ext cx="9385898" cy="4680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8722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979396" y="5899876"/>
            <a:ext cx="2880222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功能开关及参数设置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遥控器操作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功能开关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8EF818-F692-1C6D-CAED-C249FF373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07" y="1485552"/>
            <a:ext cx="10801200" cy="3977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2080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890584" y="5666209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下载并登录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机器狗绑定	</a:t>
            </a:r>
          </a:p>
        </p:txBody>
      </p:sp>
      <p:pic>
        <p:nvPicPr>
          <p:cNvPr id="2" name="图片 1" descr="1">
            <a:extLst>
              <a:ext uri="{FF2B5EF4-FFF2-40B4-BE49-F238E27FC236}">
                <a16:creationId xmlns:a16="http://schemas.microsoft.com/office/drawing/2014/main" id="{FF4D492E-1DC0-C25D-B240-B9BBB13E5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541" y="2132856"/>
            <a:ext cx="6862146" cy="316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7CB231-FAB7-4E45-5A3F-0582DC8E3285}"/>
              </a:ext>
            </a:extLst>
          </p:cNvPr>
          <p:cNvSpPr txBox="1"/>
          <p:nvPr/>
        </p:nvSpPr>
        <p:spPr>
          <a:xfrm>
            <a:off x="1487488" y="1431595"/>
            <a:ext cx="4311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初次操作，需要先绑定机器狗</a:t>
            </a:r>
            <a:r>
              <a:rPr lang="zh-CN" altLang="en-US" sz="20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890584" y="5666209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添加机器人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机器狗绑定	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7CB231-FAB7-4E45-5A3F-0582DC8E3285}"/>
              </a:ext>
            </a:extLst>
          </p:cNvPr>
          <p:cNvSpPr txBox="1"/>
          <p:nvPr/>
        </p:nvSpPr>
        <p:spPr>
          <a:xfrm>
            <a:off x="1487488" y="1431595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0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</a:t>
            </a:r>
            <a:r>
              <a:rPr lang="zh-CN" altLang="en-US" sz="20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上的“添加机器人”</a:t>
            </a:r>
            <a:endParaRPr lang="zh-CN" altLang="en-US" dirty="0"/>
          </a:p>
        </p:txBody>
      </p:sp>
      <p:pic>
        <p:nvPicPr>
          <p:cNvPr id="4" name="图片 3" descr="1">
            <a:extLst>
              <a:ext uri="{FF2B5EF4-FFF2-40B4-BE49-F238E27FC236}">
                <a16:creationId xmlns:a16="http://schemas.microsoft.com/office/drawing/2014/main" id="{9AFD4A57-A3FB-6EE3-67CF-6AFB03608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2111593"/>
            <a:ext cx="6959829" cy="3215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1879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890584" y="5666209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添加机器人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机器狗绑定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BBA3EA-2460-9FFE-1D72-F86AE1E49F2D}"/>
              </a:ext>
            </a:extLst>
          </p:cNvPr>
          <p:cNvSpPr txBox="1"/>
          <p:nvPr/>
        </p:nvSpPr>
        <p:spPr>
          <a:xfrm>
            <a:off x="1746067" y="1434262"/>
            <a:ext cx="784541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Go2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电源，同时打开手机蓝牙，选择需要添加的设备进行绑定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9" name="图片 8" descr="1">
            <a:extLst>
              <a:ext uri="{FF2B5EF4-FFF2-40B4-BE49-F238E27FC236}">
                <a16:creationId xmlns:a16="http://schemas.microsoft.com/office/drawing/2014/main" id="{C2011910-01ED-1F42-FC0D-E72AA399B9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316" y="1997298"/>
            <a:ext cx="7482595" cy="34548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305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890584" y="5666209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设置信息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机器狗绑定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 descr="1">
            <a:extLst>
              <a:ext uri="{FF2B5EF4-FFF2-40B4-BE49-F238E27FC236}">
                <a16:creationId xmlns:a16="http://schemas.microsoft.com/office/drawing/2014/main" id="{7763B306-E799-BAF1-FB6A-B033B696B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1772816"/>
            <a:ext cx="6842021" cy="3159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645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890584" y="5666209"/>
            <a:ext cx="2304060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选择连接模式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连接机器狗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9" name="图片 8" descr="1">
            <a:extLst>
              <a:ext uri="{FF2B5EF4-FFF2-40B4-BE49-F238E27FC236}">
                <a16:creationId xmlns:a16="http://schemas.microsoft.com/office/drawing/2014/main" id="{37AA2517-DF17-7B58-90E4-059C731F70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481" y="1941231"/>
            <a:ext cx="7315890" cy="33778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E6D0402-2F2C-FD39-6775-64C891556A04}"/>
              </a:ext>
            </a:extLst>
          </p:cNvPr>
          <p:cNvSpPr txBox="1"/>
          <p:nvPr/>
        </p:nvSpPr>
        <p:spPr>
          <a:xfrm>
            <a:off x="1784122" y="1322611"/>
            <a:ext cx="7656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绑定机器人后</a:t>
            </a:r>
            <a:r>
              <a:rPr lang="zh-CN" altLang="en-US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AP</a:t>
            </a:r>
            <a:r>
              <a:rPr lang="zh-CN" altLang="zh-CN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路由器和</a:t>
            </a:r>
            <a:r>
              <a:rPr lang="en-US" altLang="zh-CN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Wi-Fi</a:t>
            </a:r>
            <a:r>
              <a:rPr lang="zh-CN" altLang="zh-CN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两个模式</a:t>
            </a:r>
            <a:r>
              <a:rPr lang="zh-CN" altLang="en-US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选择一个模式</a:t>
            </a:r>
            <a:r>
              <a:rPr lang="zh-CN" altLang="zh-CN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进行连接</a:t>
            </a:r>
            <a:r>
              <a:rPr lang="zh-CN" altLang="en-US" sz="2000" kern="100" dirty="0"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82987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890584" y="5666209"/>
            <a:ext cx="2933608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设置机器人热点信息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连接机器狗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-AP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路由器模式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 descr="1">
            <a:extLst>
              <a:ext uri="{FF2B5EF4-FFF2-40B4-BE49-F238E27FC236}">
                <a16:creationId xmlns:a16="http://schemas.microsoft.com/office/drawing/2014/main" id="{87FA83F0-0AFE-EBB0-EA1E-B35E91FA8F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656" y="2239769"/>
            <a:ext cx="6332687" cy="292389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2767A96-4069-EEB9-16E0-E0D57222FE68}"/>
              </a:ext>
            </a:extLst>
          </p:cNvPr>
          <p:cNvSpPr txBox="1"/>
          <p:nvPr/>
        </p:nvSpPr>
        <p:spPr>
          <a:xfrm>
            <a:off x="746468" y="1572761"/>
            <a:ext cx="10859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路由器模式建立连接，按照提示设置热点名称（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GO2-XXXXXX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）和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位密码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507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890584" y="5666209"/>
            <a:ext cx="228553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连接机器人热点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连接机器狗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-AP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路由器模式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 descr="1">
            <a:extLst>
              <a:ext uri="{FF2B5EF4-FFF2-40B4-BE49-F238E27FC236}">
                <a16:creationId xmlns:a16="http://schemas.microsoft.com/office/drawing/2014/main" id="{92F49DD1-9CF7-7C13-45CC-BD5052C1E8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197" y="2348880"/>
            <a:ext cx="5274310" cy="29673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0B0267B-E733-6274-A359-E04DA61CA1B6}"/>
              </a:ext>
            </a:extLst>
          </p:cNvPr>
          <p:cNvSpPr txBox="1"/>
          <p:nvPr/>
        </p:nvSpPr>
        <p:spPr>
          <a:xfrm>
            <a:off x="1775520" y="1541765"/>
            <a:ext cx="826861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打开手机无线局域网，选择刚刚设置的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Wi-Fi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名称，输入密码完成连接。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5205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953232" y="6244965"/>
            <a:ext cx="228553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r>
              <a:rPr lang="en-US" altLang="zh-CN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WIFI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连接机器狗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-WIFI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连接模式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9F504D-BA71-5ADB-9447-9FCA67558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197" y="2504734"/>
            <a:ext cx="5274310" cy="9721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D8D73A8-CF58-4A8D-BB78-108AE1A576FF}"/>
              </a:ext>
            </a:extLst>
          </p:cNvPr>
          <p:cNvSpPr txBox="1"/>
          <p:nvPr/>
        </p:nvSpPr>
        <p:spPr>
          <a:xfrm>
            <a:off x="1343472" y="1205263"/>
            <a:ext cx="972108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APP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所在的手机和机器人需要连接同一个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WIFI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路由器，在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Wi-Fi 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模式，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然后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选择现有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Wi-Fi 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网络并输入密码。</a:t>
            </a:r>
          </a:p>
          <a:p>
            <a:endParaRPr lang="zh-CN" altLang="en-US" dirty="0"/>
          </a:p>
        </p:txBody>
      </p:sp>
      <p:pic>
        <p:nvPicPr>
          <p:cNvPr id="11" name="图片 10" descr="1">
            <a:extLst>
              <a:ext uri="{FF2B5EF4-FFF2-40B4-BE49-F238E27FC236}">
                <a16:creationId xmlns:a16="http://schemas.microsoft.com/office/drawing/2014/main" id="{1938DFA9-4B9A-5022-C1F5-D947BCFF35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845" y="3643665"/>
            <a:ext cx="5274310" cy="2435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4789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5231904" y="5666209"/>
            <a:ext cx="228553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连接完成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连接机器狗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-WIFI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连接模式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 descr="1">
            <a:extLst>
              <a:ext uri="{FF2B5EF4-FFF2-40B4-BE49-F238E27FC236}">
                <a16:creationId xmlns:a16="http://schemas.microsoft.com/office/drawing/2014/main" id="{04FBA795-C07F-9C80-599D-DFFBDD900D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12" y="2497925"/>
            <a:ext cx="5274310" cy="243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 descr="1">
            <a:extLst>
              <a:ext uri="{FF2B5EF4-FFF2-40B4-BE49-F238E27FC236}">
                <a16:creationId xmlns:a16="http://schemas.microsoft.com/office/drawing/2014/main" id="{B8E61F23-4DD2-619A-CA06-E8E9EF990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53" y="2497925"/>
            <a:ext cx="5274310" cy="2435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434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524785" y="5949280"/>
            <a:ext cx="228553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机器人服务状态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服务状态查看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4" name="图片 3" descr="1">
            <a:extLst>
              <a:ext uri="{FF2B5EF4-FFF2-40B4-BE49-F238E27FC236}">
                <a16:creationId xmlns:a16="http://schemas.microsoft.com/office/drawing/2014/main" id="{28D7D252-A730-A2A5-C2D0-51BCB54A4F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51" y="2170387"/>
            <a:ext cx="7329665" cy="333567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C56B8BA-09BC-8AFF-7711-6E534094363B}"/>
              </a:ext>
            </a:extLst>
          </p:cNvPr>
          <p:cNvSpPr txBox="1"/>
          <p:nvPr/>
        </p:nvSpPr>
        <p:spPr>
          <a:xfrm>
            <a:off x="1487488" y="1393927"/>
            <a:ext cx="7861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中查看狗当前的服务状态，以及可以点击开启关闭指定服务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2073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524785" y="5949280"/>
            <a:ext cx="228553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电机运行状态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电机状态查看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 descr="1">
            <a:extLst>
              <a:ext uri="{FF2B5EF4-FFF2-40B4-BE49-F238E27FC236}">
                <a16:creationId xmlns:a16="http://schemas.microsoft.com/office/drawing/2014/main" id="{93D0B463-7275-459B-CB20-1022C91DB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759460"/>
            <a:ext cx="7132051" cy="3600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9834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999054" y="1017576"/>
            <a:ext cx="7006203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5553" y="504698"/>
            <a:ext cx="342231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8" name="矩形 7"/>
          <p:cNvSpPr/>
          <p:nvPr/>
        </p:nvSpPr>
        <p:spPr>
          <a:xfrm>
            <a:off x="931258" y="504698"/>
            <a:ext cx="21389" cy="513347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9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0EF0C2-179F-FC2F-A6E9-0401C2700DF0}"/>
              </a:ext>
            </a:extLst>
          </p:cNvPr>
          <p:cNvSpPr txBox="1"/>
          <p:nvPr/>
        </p:nvSpPr>
        <p:spPr>
          <a:xfrm>
            <a:off x="4524785" y="5949280"/>
            <a:ext cx="2285536" cy="3484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664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图像服务</a:t>
            </a:r>
            <a:endParaRPr sz="1664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999055" y="438820"/>
            <a:ext cx="7292940" cy="399923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2-APP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r>
              <a:rPr lang="en-US" altLang="zh-CN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52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图像服务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CBED23-07CF-F8EA-2BFA-6938256357C2}"/>
              </a:ext>
            </a:extLst>
          </p:cNvPr>
          <p:cNvSpPr txBox="1"/>
          <p:nvPr/>
        </p:nvSpPr>
        <p:spPr>
          <a:xfrm>
            <a:off x="1775520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 descr="1">
            <a:extLst>
              <a:ext uri="{FF2B5EF4-FFF2-40B4-BE49-F238E27FC236}">
                <a16:creationId xmlns:a16="http://schemas.microsoft.com/office/drawing/2014/main" id="{6538A612-4C78-6083-9EC9-1AD5D9D9F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879" y="2042069"/>
            <a:ext cx="7647980" cy="35385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C560C7F-15CA-8AB3-44D2-8930EF11BECF}"/>
              </a:ext>
            </a:extLst>
          </p:cNvPr>
          <p:cNvSpPr txBox="1"/>
          <p:nvPr/>
        </p:nvSpPr>
        <p:spPr>
          <a:xfrm>
            <a:off x="1775520" y="1277382"/>
            <a:ext cx="8640960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图像服务中</a:t>
            </a:r>
            <a:r>
              <a:rPr lang="zh-CN" altLang="zh-CN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实时显示摄像头传输视频和高频率的雷达扫描图像</a:t>
            </a:r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862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48561" y="533896"/>
            <a:ext cx="2739097" cy="82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/>
            <a:r>
              <a:rPr lang="zh-CN" altLang="en-US" sz="475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821047" y="1582562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11203951" y="5448567"/>
            <a:ext cx="628182" cy="63006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pPr defTabSz="1086582"/>
            <a:endParaRPr lang="zh-CN" altLang="en-US" sz="2139">
              <a:solidFill>
                <a:prstClr val="black">
                  <a:lumMod val="50000"/>
                  <a:lumOff val="50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092045" y="1831005"/>
            <a:ext cx="6949610" cy="198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86582">
              <a:lnSpc>
                <a:spcPct val="150000"/>
              </a:lnSpc>
            </a:pPr>
            <a:r>
              <a:rPr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如何正确绑定并连接</a:t>
            </a:r>
            <a:r>
              <a:rPr 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Go2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机器人</a:t>
            </a:r>
            <a:r>
              <a:rPr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852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1086582">
              <a:lnSpc>
                <a:spcPct val="150000"/>
              </a:lnSpc>
            </a:pPr>
            <a:endParaRPr sz="2852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1086582">
              <a:lnSpc>
                <a:spcPct val="150000"/>
              </a:lnSpc>
            </a:pPr>
            <a:r>
              <a:rPr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如何在</a:t>
            </a:r>
            <a:r>
              <a:rPr lang="en-US" altLang="zh-CN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APP</a:t>
            </a:r>
            <a:r>
              <a:rPr lang="zh-CN" altLang="en-US"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上开启或关闭某项服务</a:t>
            </a:r>
            <a:r>
              <a:rPr sz="2852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934776" y="1582498"/>
            <a:ext cx="2909288" cy="2909288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6" name="标题 4"/>
          <p:cNvSpPr txBox="1"/>
          <p:nvPr/>
        </p:nvSpPr>
        <p:spPr>
          <a:xfrm>
            <a:off x="997638" y="3731330"/>
            <a:ext cx="2823721" cy="562642"/>
          </a:xfrm>
          <a:prstGeom prst="rect">
            <a:avLst/>
          </a:prstGeom>
        </p:spPr>
        <p:txBody>
          <a:bodyPr vert="horz" lIns="108658" tIns="54329" rIns="108658" bIns="54329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86582"/>
            <a:endParaRPr lang="en-US" altLang="zh-CN" sz="2852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1078444" y="1706547"/>
            <a:ext cx="2662702" cy="2662702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6582"/>
            <a:endParaRPr lang="zh-CN" altLang="en-US" sz="2139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4" name="KSO_Shape"/>
          <p:cNvSpPr/>
          <p:nvPr/>
        </p:nvSpPr>
        <p:spPr bwMode="auto">
          <a:xfrm>
            <a:off x="1529471" y="2411750"/>
            <a:ext cx="1760513" cy="1499365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defTabSz="1086582">
              <a:defRPr/>
            </a:pPr>
            <a:endParaRPr lang="zh-CN" altLang="en-US" sz="2139">
              <a:solidFill>
                <a:srgbClr val="FFFFFF"/>
              </a:solidFill>
              <a:latin typeface="Calibri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611778" y="2695759"/>
            <a:ext cx="11038043" cy="106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4800" b="1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Unix 5.4 unknown"/>
  <p:tag name="AS_OS" val="Unix 5.4 unknown"/>
  <p:tag name="AS_RELEASE_DATE" val="2013.12.17"/>
  <p:tag name="AS_TITLE" val="Spire.Presentation for .NET "/>
  <p:tag name="AS_VERSION" val="2.1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2_Office Theme_-2141169115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MoolBoran"/>
        <a:font script="Laoo" typeface="DokChampa"/>
        <a:font script="Cher" typeface="Plantagenet Cherokee"/>
        <a:font script="Hans" typeface="宋体"/>
        <a:font script="Hebr" typeface="Times New Roman"/>
        <a:font script="Uigh" typeface="Microsoft Uighur"/>
        <a:font script="Guru" typeface="Raavi"/>
        <a:font script="Cans" typeface="Euphemia"/>
        <a:font script="Jpan" typeface="ＭＳ Ｐゴシック"/>
        <a:font script="Arab" typeface="Times New Roman"/>
        <a:font script="Syrc" typeface="Estrangelo Edessa"/>
        <a:font script="Hang" typeface="맑은 고딕"/>
        <a:font script="Viet" typeface="Times New Roman"/>
        <a:font script="Thai" typeface="Angsan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ajorFont>
      <a:minorFont>
        <a:latin typeface="Calibri"/>
        <a:ea typeface=""/>
        <a:cs typeface=""/>
        <a:font script="Orya" typeface="Kalinga"/>
        <a:font script="Mlym" typeface="Kartika"/>
        <a:font script="Deva" typeface="Mangal"/>
        <a:font script="Mong" typeface="Mongolian Baiti"/>
        <a:font script="Ethi" typeface="Nyala"/>
        <a:font script="Geor" typeface="Sylfaen"/>
        <a:font script="Sinh" typeface="Iskoola Pota"/>
        <a:font script="Taml" typeface="Latha"/>
        <a:font script="Tibt" typeface="Microsoft Himalaya"/>
        <a:font script="Gujr" typeface="Shruti"/>
        <a:font script="Hant" typeface="新細明體"/>
        <a:font script="Khmr" typeface="DaunPenh"/>
        <a:font script="Laoo" typeface="DokChampa"/>
        <a:font script="Cher" typeface="Plantagenet Cherokee"/>
        <a:font script="Hans" typeface="宋体"/>
        <a:font script="Hebr" typeface="Arial"/>
        <a:font script="Uigh" typeface="Microsoft Uighur"/>
        <a:font script="Guru" typeface="Raavi"/>
        <a:font script="Cans" typeface="Euphemia"/>
        <a:font script="Jpan" typeface="ＭＳ Ｐゴシック"/>
        <a:font script="Arab" typeface="Arial"/>
        <a:font script="Syrc" typeface="Estrangelo Edessa"/>
        <a:font script="Hang" typeface="맑은 고딕"/>
        <a:font script="Viet" typeface="Arial"/>
        <a:font script="Thai" typeface="Cordia New"/>
        <a:font script="Yiii" typeface="Microsoft Yi Baiti"/>
        <a:font script="Thaa" typeface="MV Boli"/>
        <a:font script="Beng" typeface="Vrinda"/>
        <a:font script="Telu" typeface="Gautami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3819</TotalTime>
  <Words>513</Words>
  <Application>Microsoft Office PowerPoint</Application>
  <PresentationFormat>宽屏</PresentationFormat>
  <Paragraphs>60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等线</vt:lpstr>
      <vt:lpstr>等线 Light</vt:lpstr>
      <vt:lpstr>仿宋</vt:lpstr>
      <vt:lpstr>微软雅黑</vt:lpstr>
      <vt:lpstr>新宋体</vt:lpstr>
      <vt:lpstr>Arial</vt:lpstr>
      <vt:lpstr>Calibri</vt:lpstr>
      <vt:lpstr>2_Office Theme_-2141169115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吴秉昊</dc:creator>
  <cp:lastModifiedBy>samuche@qq.com</cp:lastModifiedBy>
  <cp:revision>157</cp:revision>
  <dcterms:created xsi:type="dcterms:W3CDTF">2024-03-14T10:28:33Z</dcterms:created>
  <dcterms:modified xsi:type="dcterms:W3CDTF">2024-10-14T08:55:37Z</dcterms:modified>
</cp:coreProperties>
</file>