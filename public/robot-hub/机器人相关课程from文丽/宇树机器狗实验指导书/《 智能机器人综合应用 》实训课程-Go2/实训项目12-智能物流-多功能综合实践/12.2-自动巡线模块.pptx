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11090117" r:id="rId3"/>
    <p:sldId id="272" r:id="rId4"/>
    <p:sldId id="11090139" r:id="rId5"/>
    <p:sldId id="11090143" r:id="rId6"/>
    <p:sldId id="11090146" r:id="rId7"/>
    <p:sldId id="11090142" r:id="rId8"/>
    <p:sldId id="11090145" r:id="rId9"/>
    <p:sldId id="11090147" r:id="rId10"/>
    <p:sldId id="288" r:id="rId11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99" d="100"/>
          <a:sy n="99" d="100"/>
        </p:scale>
        <p:origin x="58" y="62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4332" y="1447856"/>
            <a:ext cx="5498621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智能物流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-</a:t>
            </a:r>
            <a:r>
              <a:rPr lang="zh-CN" altLang="en-US" sz="3462" b="1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综合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实践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12.2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自动巡线模块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色阈检测的通用流程和方法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7401" y="2523331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5721" y="2529681"/>
            <a:ext cx="569105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色阈检测法正确检测黄色跑道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913746-BA3C-437D-8B39-7341A2BFAC62}"/>
              </a:ext>
            </a:extLst>
          </p:cNvPr>
          <p:cNvSpPr/>
          <p:nvPr/>
        </p:nvSpPr>
        <p:spPr>
          <a:xfrm>
            <a:off x="1698910" y="3177657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3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F5B832D-F2FD-4A73-8989-70BE65296707}"/>
              </a:ext>
            </a:extLst>
          </p:cNvPr>
          <p:cNvSpPr txBox="1"/>
          <p:nvPr/>
        </p:nvSpPr>
        <p:spPr>
          <a:xfrm>
            <a:off x="2227230" y="3184007"/>
            <a:ext cx="569105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控制机器人沿着黄色跑道正确运动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色阈检测方法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2AB253-1CF1-4A8F-A0A6-7DD72EC22736}"/>
              </a:ext>
            </a:extLst>
          </p:cNvPr>
          <p:cNvSpPr/>
          <p:nvPr/>
        </p:nvSpPr>
        <p:spPr>
          <a:xfrm>
            <a:off x="1102816" y="903713"/>
            <a:ext cx="1237630" cy="45730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74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微软雅黑" panose="020B0503020204020204" pitchFamily="34" charset="-122"/>
              </a:rPr>
              <a:t>色域检测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45051C-3045-4243-B294-3C67FEB5C132}"/>
              </a:ext>
            </a:extLst>
          </p:cNvPr>
          <p:cNvSpPr txBox="1"/>
          <p:nvPr/>
        </p:nvSpPr>
        <p:spPr>
          <a:xfrm>
            <a:off x="1047889" y="1473820"/>
            <a:ext cx="8409518" cy="7459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pPr algn="l"/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本项目道路的标识颜色为黄色，而障碍线的颜色包括紫色、红色、绿色和棕色。具体的参考颜色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RGB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值如下：蓝色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RGB(0,0,255)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、红色 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RGB(255,0,0)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、绿色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RGB(0,255,0)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、棕色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RGB(165,42,42)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、紫色 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RGB(160,32,240)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377ADC-2A5F-4EA4-8134-EBA6350296D6}"/>
              </a:ext>
            </a:extLst>
          </p:cNvPr>
          <p:cNvSpPr/>
          <p:nvPr/>
        </p:nvSpPr>
        <p:spPr>
          <a:xfrm>
            <a:off x="1102816" y="2305908"/>
            <a:ext cx="1597358" cy="457306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74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微软雅黑" panose="020B0503020204020204" pitchFamily="34" charset="-122"/>
              </a:rPr>
              <a:t>色域检测步骤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9CB55D-DB09-455A-B69B-50BB549A3EFD}"/>
              </a:ext>
            </a:extLst>
          </p:cNvPr>
          <p:cNvSpPr txBox="1"/>
          <p:nvPr/>
        </p:nvSpPr>
        <p:spPr>
          <a:xfrm>
            <a:off x="1047889" y="2891846"/>
            <a:ext cx="8922829" cy="20532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pPr algn="l"/>
            <a:r>
              <a:rPr lang="en-US" altLang="zh-CN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1</a:t>
            </a:r>
            <a:r>
              <a:rPr lang="zh-CN" altLang="en-US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、设定感兴趣的区域色</a:t>
            </a:r>
            <a:r>
              <a:rPr lang="en-US" altLang="zh-CN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RGB</a:t>
            </a:r>
            <a:r>
              <a:rPr lang="zh-CN" altLang="en-US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值的范围：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根据颜色标准设定道路和障碍线的颜色范围。每种颜色都通过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RGB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值的上下限来定义。</a:t>
            </a:r>
          </a:p>
          <a:p>
            <a:pPr algn="l"/>
            <a:r>
              <a:rPr lang="en-US" altLang="zh-CN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zh-CN" altLang="en-US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、遍历像素点，筛选符合条件范围的像素点，形成掩膜：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对视频帧或图像进行像素级遍历，筛选出处于设定颜色范围内的像素点，形成颜色掩膜。</a:t>
            </a:r>
          </a:p>
          <a:p>
            <a:pPr algn="l"/>
            <a:r>
              <a:rPr lang="en-US" altLang="zh-CN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、掩膜后处理：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对生成的颜色掩膜进行中值滤波和开运算操作，以消除噪声并平滑边界。</a:t>
            </a:r>
          </a:p>
          <a:p>
            <a:pPr algn="l"/>
            <a:r>
              <a:rPr lang="en-US" altLang="zh-CN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4</a:t>
            </a:r>
            <a:r>
              <a:rPr lang="zh-CN" altLang="en-US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、边缘检测：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应用边缘检测算法（如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Canny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边缘检测算法），对处理后的图像进行边缘检测，以获得道路和障碍线的精确边缘位置。</a:t>
            </a:r>
          </a:p>
          <a:p>
            <a:pPr algn="l"/>
            <a:r>
              <a:rPr lang="en-US" altLang="zh-CN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5</a:t>
            </a:r>
            <a:r>
              <a:rPr lang="zh-CN" altLang="en-US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、输出道路和障碍线边缘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：最终，从边缘检测结果中提取出道路和障碍线的边缘信息，用于后续的路径规划和导航决策。</a:t>
            </a:r>
          </a:p>
        </p:txBody>
      </p:sp>
    </p:spTree>
    <p:extLst>
      <p:ext uri="{BB962C8B-B14F-4D97-AF65-F5344CB8AC3E}">
        <p14:creationId xmlns:p14="http://schemas.microsoft.com/office/powerpoint/2010/main" val="145170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色阈检测方法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A6A1BB-6558-45E8-BBBC-7112B0CEC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734" y="825748"/>
            <a:ext cx="4778154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51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色阈检测方法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6B5A9D-6E09-481C-B645-E9292D8B2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669" y="1185788"/>
            <a:ext cx="4084674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5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黄色跑道检测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FE6B95-A8BD-426F-AD39-210CF3B335C8}"/>
              </a:ext>
            </a:extLst>
          </p:cNvPr>
          <p:cNvSpPr txBox="1"/>
          <p:nvPr/>
        </p:nvSpPr>
        <p:spPr>
          <a:xfrm>
            <a:off x="959771" y="920683"/>
            <a:ext cx="4170235" cy="43023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pPr marL="224828" indent="-224828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本赛道采用明黄色材料制成，与周围环境及其他关键区域有明显的色差，采用</a:t>
            </a:r>
            <a:r>
              <a:rPr lang="zh-CN" altLang="en-US" sz="1416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色域判断法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将简单高效的同时完成关键区域检测及方向判断两个任务。</a:t>
            </a:r>
          </a:p>
          <a:p>
            <a:pPr marL="224828" indent="-224828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首先将图像变换至</a:t>
            </a:r>
            <a:r>
              <a:rPr lang="en-US" altLang="zh-CN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HSV</a:t>
            </a:r>
            <a:r>
              <a:rPr lang="zh-CN" altLang="en-US" sz="1416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色彩空间上，然后调整色彩阈值，通过色彩阈值分割出明黄色赛道。设定目标区域，判断区域中是否有指定颜色的像素，并且遍历目标区域，统计区域内白色像素的数量。根据检测到的颜色区域，进行相应的控制决策：基于左上角和右下角区域的黄色像素数量，判断机器人的左右移动方向；基于左下角和右上角区域的黑色像素数量，判断机器人的上升或下降状态。</a:t>
            </a:r>
          </a:p>
        </p:txBody>
      </p:sp>
      <p:pic>
        <p:nvPicPr>
          <p:cNvPr id="15" name="Picture 1">
            <a:extLst>
              <a:ext uri="{FF2B5EF4-FFF2-40B4-BE49-F238E27FC236}">
                <a16:creationId xmlns:a16="http://schemas.microsoft.com/office/drawing/2014/main" id="{C3403A1B-66E4-4474-9A23-44A743D3A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038" y="1180909"/>
            <a:ext cx="3384376" cy="364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87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机器人运动控制	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31155CD-DBBD-46A8-8150-0DD429D5B92C}"/>
              </a:ext>
            </a:extLst>
          </p:cNvPr>
          <p:cNvSpPr/>
          <p:nvPr/>
        </p:nvSpPr>
        <p:spPr>
          <a:xfrm>
            <a:off x="4460482" y="2574322"/>
            <a:ext cx="898417" cy="6867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行走模块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55CC47E-72D3-488F-9D33-7DCA083198C6}"/>
              </a:ext>
            </a:extLst>
          </p:cNvPr>
          <p:cNvSpPr/>
          <p:nvPr/>
        </p:nvSpPr>
        <p:spPr>
          <a:xfrm>
            <a:off x="3647279" y="4064793"/>
            <a:ext cx="2524821" cy="5608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机器人运动控制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21A0EB-9025-4F3D-B5A0-0ED5B4376A6B}"/>
              </a:ext>
            </a:extLst>
          </p:cNvPr>
          <p:cNvSpPr txBox="1"/>
          <p:nvPr/>
        </p:nvSpPr>
        <p:spPr>
          <a:xfrm>
            <a:off x="3578031" y="1684830"/>
            <a:ext cx="12639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latin typeface="Times New Roman" panose="02020503050405090304" pitchFamily="18" charset="0"/>
                <a:ea typeface="宋体" pitchFamily="2" charset="-122"/>
              </a:rPr>
              <a:t>动作</a:t>
            </a:r>
            <a:r>
              <a:rPr kumimoji="1"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指令</a:t>
            </a:r>
            <a:endParaRPr kumimoji="1" lang="en-US" altLang="zh-CN" sz="14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r>
              <a:rPr kumimoji="1" lang="zh-CN" altLang="en-US" sz="1400" dirty="0">
                <a:latin typeface="Times New Roman" panose="02020503050405090304" pitchFamily="18" charset="0"/>
                <a:ea typeface="宋体" pitchFamily="2" charset="-122"/>
              </a:rPr>
              <a:t>（前进，偏左，偏右）</a:t>
            </a:r>
            <a:endParaRPr kumimoji="1" lang="en-US" altLang="zh-CN" sz="14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73428C4-5B78-4BE1-9D74-E59A41B14343}"/>
              </a:ext>
            </a:extLst>
          </p:cNvPr>
          <p:cNvSpPr/>
          <p:nvPr/>
        </p:nvSpPr>
        <p:spPr>
          <a:xfrm>
            <a:off x="4384642" y="1019206"/>
            <a:ext cx="1050098" cy="4470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主程序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02341B1-B12E-49F0-ACE2-7E340A1D51E9}"/>
              </a:ext>
            </a:extLst>
          </p:cNvPr>
          <p:cNvCxnSpPr>
            <a:stCxn id="19" idx="2"/>
            <a:endCxn id="15" idx="0"/>
          </p:cNvCxnSpPr>
          <p:nvPr/>
        </p:nvCxnSpPr>
        <p:spPr>
          <a:xfrm>
            <a:off x="4909691" y="1466259"/>
            <a:ext cx="0" cy="1108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D2AD1D4-4DCA-47CB-B59F-463C04584B0B}"/>
              </a:ext>
            </a:extLst>
          </p:cNvPr>
          <p:cNvCxnSpPr>
            <a:cxnSpLocks/>
          </p:cNvCxnSpPr>
          <p:nvPr/>
        </p:nvCxnSpPr>
        <p:spPr>
          <a:xfrm>
            <a:off x="4909690" y="3261096"/>
            <a:ext cx="0" cy="786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96E222C-49BF-4EE3-BD84-6564D065FB6E}"/>
              </a:ext>
            </a:extLst>
          </p:cNvPr>
          <p:cNvSpPr txBox="1"/>
          <p:nvPr/>
        </p:nvSpPr>
        <p:spPr>
          <a:xfrm>
            <a:off x="3563657" y="3483282"/>
            <a:ext cx="1263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高级运动指令</a:t>
            </a:r>
            <a:endParaRPr kumimoji="1" lang="en-US" altLang="zh-CN" sz="14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3635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机器人运动控制	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15E4AF6-C125-4045-A9AC-4DC158078BB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662" y="941341"/>
            <a:ext cx="5760640" cy="1795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6F36EC7-51A7-47D6-80DB-6DF4F39CB74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662" y="2867641"/>
            <a:ext cx="5760640" cy="1727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1289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525</Words>
  <Application>Microsoft Office PowerPoint</Application>
  <PresentationFormat>自定义</PresentationFormat>
  <Paragraphs>39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微软雅黑</vt:lpstr>
      <vt:lpstr>新宋体</vt:lpstr>
      <vt:lpstr>Arial</vt:lpstr>
      <vt:lpstr>Calibri</vt:lpstr>
      <vt:lpstr>Times New Roman</vt:lpstr>
      <vt:lpstr>Wingdings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312</cp:revision>
  <dcterms:created xsi:type="dcterms:W3CDTF">2016-04-25T01:13:00Z</dcterms:created>
  <dcterms:modified xsi:type="dcterms:W3CDTF">2024-11-04T09:51:38Z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