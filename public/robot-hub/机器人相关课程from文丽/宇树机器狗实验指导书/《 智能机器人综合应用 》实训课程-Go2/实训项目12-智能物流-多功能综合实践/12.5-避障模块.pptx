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11090117" r:id="rId3"/>
    <p:sldId id="11090154" r:id="rId4"/>
    <p:sldId id="11090145" r:id="rId5"/>
    <p:sldId id="11090155" r:id="rId6"/>
    <p:sldId id="11090146" r:id="rId7"/>
    <p:sldId id="11090150" r:id="rId8"/>
    <p:sldId id="11090147" r:id="rId9"/>
    <p:sldId id="288" r:id="rId10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75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81783" y="1238955"/>
            <a:ext cx="5498621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智能物流</a:t>
            </a:r>
            <a:r>
              <a:rPr lang="en-US" altLang="zh-CN" sz="3462" b="1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-</a:t>
            </a:r>
            <a:r>
              <a:rPr lang="zh-CN" altLang="en-US" sz="3462" b="1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综合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实践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12.5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避障模块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8754CBC-B61A-4D60-BEF8-7ED216FAE8AC}"/>
              </a:ext>
            </a:extLst>
          </p:cNvPr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掌握避障区域的识别方法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8888F07-5508-4632-B5E3-18E423D61474}"/>
              </a:ext>
            </a:extLst>
          </p:cNvPr>
          <p:cNvSpPr txBox="1"/>
          <p:nvPr/>
        </p:nvSpPr>
        <p:spPr>
          <a:xfrm>
            <a:off x="2247265" y="3086100"/>
            <a:ext cx="6195109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掌握机器人在避障区域的运动控制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任务需求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86D920-7336-488C-98F0-3A4ACDA5AD42}"/>
              </a:ext>
            </a:extLst>
          </p:cNvPr>
          <p:cNvSpPr txBox="1"/>
          <p:nvPr/>
        </p:nvSpPr>
        <p:spPr>
          <a:xfrm>
            <a:off x="1853109" y="1075073"/>
            <a:ext cx="631454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越过台阶区域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之后，继续沿着道路行走，通过</a:t>
            </a:r>
            <a:r>
              <a:rPr lang="zh-CN" altLang="en-US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障碍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981DE3-0506-4441-AEAD-797F0E27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26" y="1905868"/>
            <a:ext cx="4772871" cy="24687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813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任务需求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4E1395-F72F-4078-8919-D0995116D0D7}"/>
              </a:ext>
            </a:extLst>
          </p:cNvPr>
          <p:cNvSpPr txBox="1"/>
          <p:nvPr/>
        </p:nvSpPr>
        <p:spPr>
          <a:xfrm>
            <a:off x="1047889" y="1473820"/>
            <a:ext cx="4170235" cy="25960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pPr marL="224828" indent="-224828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+mn-ea"/>
                <a:sym typeface="+mn-ea"/>
              </a:rPr>
              <a:t>通过台阶区域后紧接着的任务是障碍区域跨越，需要通过规划在避障区完成。赛道布置如图所示，障碍区域中央放置了绿色障碍物作为示意，四足机器狗在此处需要绕行通过，再沿赛道走向终点，完成任务后停在指定的充电区域内。</a:t>
            </a:r>
          </a:p>
          <a:p>
            <a:pPr algn="l">
              <a:lnSpc>
                <a:spcPct val="150000"/>
              </a:lnSpc>
            </a:pPr>
            <a:endParaRPr lang="zh-CN" altLang="en-US" sz="1416" b="0" dirty="0">
              <a:solidFill>
                <a:schemeClr val="tx1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8A7834-32CA-436F-8E67-D587E408DC65}"/>
              </a:ext>
            </a:extLst>
          </p:cNvPr>
          <p:cNvSpPr txBox="1"/>
          <p:nvPr/>
        </p:nvSpPr>
        <p:spPr>
          <a:xfrm>
            <a:off x="4923982" y="4814812"/>
            <a:ext cx="3867687" cy="310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16" dirty="0">
                <a:ea typeface="宋体" pitchFamily="2" charset="-122"/>
                <a:cs typeface="Times New Roman" panose="02020503050405090304" pitchFamily="18" charset="0"/>
              </a:rPr>
              <a:t>障碍物检测判别————绕行策略执行</a:t>
            </a:r>
          </a:p>
        </p:txBody>
      </p:sp>
      <p:pic>
        <p:nvPicPr>
          <p:cNvPr id="12" name="Picture 1" descr="/Users/shaw/Library/Containers/com.kingsoft.wpsoffice.mac/Data/tmp/picturecompress_20240718110216/output_1.jpgoutput_1">
            <a:extLst>
              <a:ext uri="{FF2B5EF4-FFF2-40B4-BE49-F238E27FC236}">
                <a16:creationId xmlns:a16="http://schemas.microsoft.com/office/drawing/2014/main" id="{7E06F430-A68A-4E49-81E6-C85352538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997236" y="1438113"/>
            <a:ext cx="3721181" cy="279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6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避障区域识别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摄像头识别方案	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F5B0E46-3D2C-4D09-B4E0-6263257A40E1}"/>
              </a:ext>
            </a:extLst>
          </p:cNvPr>
          <p:cNvGrpSpPr/>
          <p:nvPr/>
        </p:nvGrpSpPr>
        <p:grpSpPr>
          <a:xfrm>
            <a:off x="4111134" y="1787360"/>
            <a:ext cx="1602747" cy="1221298"/>
            <a:chOff x="5892266" y="2141892"/>
            <a:chExt cx="2037030" cy="1552224"/>
          </a:xfrm>
        </p:grpSpPr>
        <p:sp>
          <p:nvSpPr>
            <p:cNvPr id="13" name="文本框 47">
              <a:extLst>
                <a:ext uri="{FF2B5EF4-FFF2-40B4-BE49-F238E27FC236}">
                  <a16:creationId xmlns:a16="http://schemas.microsoft.com/office/drawing/2014/main" id="{6F412F2B-FEA0-4EB1-B380-3A9B36AEBBB0}"/>
                </a:ext>
              </a:extLst>
            </p:cNvPr>
            <p:cNvSpPr txBox="1"/>
            <p:nvPr/>
          </p:nvSpPr>
          <p:spPr>
            <a:xfrm>
              <a:off x="6313265" y="2141892"/>
              <a:ext cx="1616031" cy="394269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1416" b="1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障碍区域识别</a:t>
              </a:r>
            </a:p>
          </p:txBody>
        </p:sp>
        <p:sp>
          <p:nvSpPr>
            <p:cNvPr id="14" name="文本框 48">
              <a:extLst>
                <a:ext uri="{FF2B5EF4-FFF2-40B4-BE49-F238E27FC236}">
                  <a16:creationId xmlns:a16="http://schemas.microsoft.com/office/drawing/2014/main" id="{FA1FEC84-C8F3-41F6-80B5-C5B59C33C85D}"/>
                </a:ext>
              </a:extLst>
            </p:cNvPr>
            <p:cNvSpPr txBox="1"/>
            <p:nvPr/>
          </p:nvSpPr>
          <p:spPr>
            <a:xfrm>
              <a:off x="5892266" y="2482948"/>
              <a:ext cx="1944215" cy="121116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102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颜色空间转换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102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灰度分析</a:t>
              </a:r>
              <a:endParaRPr lang="zh-CN" altLang="en-US" sz="1102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102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赛道约束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102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区域过滤</a:t>
              </a:r>
            </a:p>
          </p:txBody>
        </p:sp>
      </p:grpSp>
      <p:sp>
        <p:nvSpPr>
          <p:cNvPr id="15" name="TextBox 70">
            <a:extLst>
              <a:ext uri="{FF2B5EF4-FFF2-40B4-BE49-F238E27FC236}">
                <a16:creationId xmlns:a16="http://schemas.microsoft.com/office/drawing/2014/main" id="{F73F17DB-5CAA-47DB-B025-109A394F0310}"/>
              </a:ext>
            </a:extLst>
          </p:cNvPr>
          <p:cNvSpPr txBox="1"/>
          <p:nvPr/>
        </p:nvSpPr>
        <p:spPr>
          <a:xfrm>
            <a:off x="1241574" y="3747795"/>
            <a:ext cx="7776864" cy="1021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基于HSV颜色空间的检测算法。通过设定本任务区几种颜色的HSV阈值，并结合区域面积和位置验证，确保识别结果的准确性。此外，通过灰度分析进一步确认落足区域，确保机器狗能够避开障碍，准确地行驶在有效区域内。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A6B1CB7-BF11-485B-B12B-DA91316F07CF}"/>
              </a:ext>
            </a:extLst>
          </p:cNvPr>
          <p:cNvGrpSpPr/>
          <p:nvPr/>
        </p:nvGrpSpPr>
        <p:grpSpPr>
          <a:xfrm>
            <a:off x="5519727" y="1593408"/>
            <a:ext cx="906501" cy="1529720"/>
            <a:chOff x="7682535" y="1895388"/>
            <a:chExt cx="1152128" cy="1944216"/>
          </a:xfrm>
        </p:grpSpPr>
        <p:sp>
          <p:nvSpPr>
            <p:cNvPr id="17" name="燕尾形 43">
              <a:extLst>
                <a:ext uri="{FF2B5EF4-FFF2-40B4-BE49-F238E27FC236}">
                  <a16:creationId xmlns:a16="http://schemas.microsoft.com/office/drawing/2014/main" id="{B448797A-9C76-4EF6-A25D-14A3BFAADBF4}"/>
                </a:ext>
              </a:extLst>
            </p:cNvPr>
            <p:cNvSpPr/>
            <p:nvPr/>
          </p:nvSpPr>
          <p:spPr>
            <a:xfrm>
              <a:off x="7682535" y="1895388"/>
              <a:ext cx="1152128" cy="1944216"/>
            </a:xfrm>
            <a:prstGeom prst="chevron">
              <a:avLst/>
            </a:prstGeom>
            <a:solidFill>
              <a:srgbClr val="6608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16">
                <a:solidFill>
                  <a:srgbClr val="0070C0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B1CD642-99DC-4B1C-A0CC-5DF7E8B715CF}"/>
                </a:ext>
              </a:extLst>
            </p:cNvPr>
            <p:cNvGrpSpPr/>
            <p:nvPr/>
          </p:nvGrpSpPr>
          <p:grpSpPr>
            <a:xfrm>
              <a:off x="7868079" y="2507456"/>
              <a:ext cx="720080" cy="720080"/>
              <a:chOff x="7868079" y="2507456"/>
              <a:chExt cx="720080" cy="720080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787D536-1DD8-4A4F-B891-AB5348B5B52D}"/>
                  </a:ext>
                </a:extLst>
              </p:cNvPr>
              <p:cNvSpPr/>
              <p:nvPr/>
            </p:nvSpPr>
            <p:spPr>
              <a:xfrm>
                <a:off x="7868079" y="2507456"/>
                <a:ext cx="720080" cy="72008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66087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6">
                  <a:solidFill>
                    <a:srgbClr val="0070C0"/>
                  </a:solidFill>
                </a:endParaRPr>
              </a:p>
            </p:txBody>
          </p:sp>
          <p:sp>
            <p:nvSpPr>
              <p:cNvPr id="20" name="Freeform 30">
                <a:extLst>
                  <a:ext uri="{FF2B5EF4-FFF2-40B4-BE49-F238E27FC236}">
                    <a16:creationId xmlns:a16="http://schemas.microsoft.com/office/drawing/2014/main" id="{23C6A270-FD19-4A77-8A50-C78B516BD7F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8053898" y="2643796"/>
                <a:ext cx="353075" cy="464104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rgbClr val="660874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endParaRPr lang="zh-CN" altLang="en-US" sz="1416"/>
              </a:p>
            </p:txBody>
          </p:sp>
        </p:grpSp>
      </p:grpSp>
      <p:pic>
        <p:nvPicPr>
          <p:cNvPr id="22" name="Picture 1" descr="IMG_3250">
            <a:extLst>
              <a:ext uri="{FF2B5EF4-FFF2-40B4-BE49-F238E27FC236}">
                <a16:creationId xmlns:a16="http://schemas.microsoft.com/office/drawing/2014/main" id="{AC2203EE-3D62-4A2B-82B4-B7CD855C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21" y="1012917"/>
            <a:ext cx="3327979" cy="2496109"/>
          </a:xfrm>
          <a:prstGeom prst="rect">
            <a:avLst/>
          </a:prstGeom>
        </p:spPr>
      </p:pic>
      <p:pic>
        <p:nvPicPr>
          <p:cNvPr id="23" name="Picture 3" descr="IMG_3248">
            <a:extLst>
              <a:ext uri="{FF2B5EF4-FFF2-40B4-BE49-F238E27FC236}">
                <a16:creationId xmlns:a16="http://schemas.microsoft.com/office/drawing/2014/main" id="{A7B8E0B6-3EFF-414D-9C1F-419692579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344363" y="1323681"/>
            <a:ext cx="2505602" cy="187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098537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避障区域识别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激光雷达方案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699A14-5612-4436-8611-6B34B5026AFC}"/>
              </a:ext>
            </a:extLst>
          </p:cNvPr>
          <p:cNvSpPr txBox="1"/>
          <p:nvPr/>
        </p:nvSpPr>
        <p:spPr>
          <a:xfrm>
            <a:off x="1169566" y="1185788"/>
            <a:ext cx="842687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我们还可以通过订阅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障碍物距离话题 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“rt/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range_info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，获取激光雷达提供的障碍物距离信息，再执行避障方案。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02C7F9-04A1-4E26-98E9-9E84A43D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633" y="2417428"/>
            <a:ext cx="4427604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6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F6099E-E4FC-4A64-9EDE-9F87DA038E8E}"/>
              </a:ext>
            </a:extLst>
          </p:cNvPr>
          <p:cNvSpPr txBox="1"/>
          <p:nvPr/>
        </p:nvSpPr>
        <p:spPr>
          <a:xfrm>
            <a:off x="3945894" y="979686"/>
            <a:ext cx="127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动作控制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A752F9-AD0F-4C57-9E57-D81E65C48664}"/>
              </a:ext>
            </a:extLst>
          </p:cNvPr>
          <p:cNvSpPr txBox="1"/>
          <p:nvPr/>
        </p:nvSpPr>
        <p:spPr>
          <a:xfrm>
            <a:off x="2249686" y="3846840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通过障碍区域后，让机器人恢复正常步态，驶向充电区域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r>
              <a:rPr lang="zh-CN" altLang="en-US" dirty="0"/>
              <a:t>。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98D8E60-E871-44EB-8A15-E130B27DE9E2}"/>
              </a:ext>
            </a:extLst>
          </p:cNvPr>
          <p:cNvSpPr/>
          <p:nvPr/>
        </p:nvSpPr>
        <p:spPr>
          <a:xfrm rot="5400000">
            <a:off x="4266080" y="3254932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50D810-E862-4B11-9D3A-FF75280A7B1B}"/>
              </a:ext>
            </a:extLst>
          </p:cNvPr>
          <p:cNvSpPr txBox="1"/>
          <p:nvPr/>
        </p:nvSpPr>
        <p:spPr>
          <a:xfrm>
            <a:off x="2286067" y="2459898"/>
            <a:ext cx="551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通过组合高级动作实现四足机器人绕开障碍区域。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2D1D3C4D-0C50-44E4-80B2-3294665788C4}"/>
              </a:ext>
            </a:extLst>
          </p:cNvPr>
          <p:cNvSpPr/>
          <p:nvPr/>
        </p:nvSpPr>
        <p:spPr>
          <a:xfrm rot="5400000">
            <a:off x="4266080" y="1802841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621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334</Words>
  <Application>Microsoft Office PowerPoint</Application>
  <PresentationFormat>自定义</PresentationFormat>
  <Paragraphs>32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仿宋</vt:lpstr>
      <vt:lpstr>宋体</vt:lpstr>
      <vt:lpstr>微软雅黑</vt:lpstr>
      <vt:lpstr>新宋体</vt:lpstr>
      <vt:lpstr>Arial</vt:lpstr>
      <vt:lpstr>Calibri</vt:lpstr>
      <vt:lpstr>Times New Roman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287</cp:revision>
  <dcterms:created xsi:type="dcterms:W3CDTF">2016-04-25T01:13:00Z</dcterms:created>
  <dcterms:modified xsi:type="dcterms:W3CDTF">2024-11-04T09:51:49Z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