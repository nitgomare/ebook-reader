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12"/>
  </p:notesMasterIdLst>
  <p:sldIdLst>
    <p:sldId id="11090117" r:id="rId3"/>
    <p:sldId id="272" r:id="rId4"/>
    <p:sldId id="11090138" r:id="rId5"/>
    <p:sldId id="11090149" r:id="rId6"/>
    <p:sldId id="11090140" r:id="rId7"/>
    <p:sldId id="11090146" r:id="rId8"/>
    <p:sldId id="11090145" r:id="rId9"/>
    <p:sldId id="11090150" r:id="rId10"/>
    <p:sldId id="288" r:id="rId11"/>
  </p:sldIdLst>
  <p:sldSz cx="10260013" cy="539591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63">
          <p15:clr>
            <a:srgbClr val="A4A3A4"/>
          </p15:clr>
        </p15:guide>
        <p15:guide id="2" pos="3245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王倩倩" initials="Wqq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58ED5"/>
    <a:srgbClr val="F2F2F2"/>
    <a:srgbClr val="7DCDFF"/>
    <a:srgbClr val="9BD9FF"/>
    <a:srgbClr val="8AE1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>
      <p:cViewPr varScale="1">
        <p:scale>
          <a:sx n="99" d="100"/>
          <a:sy n="99" d="100"/>
        </p:scale>
        <p:origin x="58" y="62"/>
      </p:cViewPr>
      <p:guideLst>
        <p:guide orient="horz" pos="1763"/>
        <p:guide pos="3245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commentAuthors" Target="commentAuthor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0FEC91-376F-4B3F-A168-65C97BFAF660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69863" y="685800"/>
            <a:ext cx="651827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528F52-921D-4B5E-90E1-89DF6F6F587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1C5E1-D8E9-464D-A93E-CE21651935A7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69501" y="1676384"/>
            <a:ext cx="8721013" cy="115673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39002" y="3057965"/>
            <a:ext cx="7182011" cy="137908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600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7194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79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4389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989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1583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5184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8778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0471" y="3467692"/>
            <a:ext cx="8721013" cy="1071787"/>
          </a:xfrm>
        </p:spPr>
        <p:txBody>
          <a:bodyPr anchor="t"/>
          <a:lstStyle>
            <a:lvl1pPr algn="l">
              <a:defRPr sz="3150" b="1" cap="all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10471" y="2287228"/>
            <a:ext cx="8721013" cy="1180464"/>
          </a:xfrm>
        </p:spPr>
        <p:txBody>
          <a:bodyPr anchor="b"/>
          <a:lstStyle>
            <a:lvl1pPr marL="0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1pPr>
            <a:lvl2pPr marL="360045" indent="0">
              <a:buNone/>
              <a:defRPr sz="1415">
                <a:solidFill>
                  <a:schemeClr val="tx1">
                    <a:tint val="75000"/>
                  </a:schemeClr>
                </a:solidFill>
              </a:defRPr>
            </a:lvl2pPr>
            <a:lvl3pPr marL="71945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3pPr>
            <a:lvl4pPr marL="1079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43891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98955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158365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51841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87782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13001" y="1259162"/>
            <a:ext cx="4531507" cy="3561380"/>
          </a:xfrm>
        </p:spPr>
        <p:txBody>
          <a:bodyPr/>
          <a:lstStyle>
            <a:lvl1pPr>
              <a:defRPr sz="2205"/>
            </a:lvl1pPr>
            <a:lvl2pPr>
              <a:defRPr sz="1890"/>
            </a:lvl2pPr>
            <a:lvl3pPr>
              <a:defRPr sz="1575"/>
            </a:lvl3pPr>
            <a:lvl4pPr>
              <a:defRPr sz="1415"/>
            </a:lvl4pPr>
            <a:lvl5pPr>
              <a:defRPr sz="1415"/>
            </a:lvl5pPr>
            <a:lvl6pPr>
              <a:defRPr sz="1415"/>
            </a:lvl6pPr>
            <a:lvl7pPr>
              <a:defRPr sz="1415"/>
            </a:lvl7pPr>
            <a:lvl8pPr>
              <a:defRPr sz="1415"/>
            </a:lvl8pPr>
            <a:lvl9pPr>
              <a:defRPr sz="141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215508" y="1259162"/>
            <a:ext cx="4531507" cy="3561380"/>
          </a:xfrm>
        </p:spPr>
        <p:txBody>
          <a:bodyPr/>
          <a:lstStyle>
            <a:lvl1pPr>
              <a:defRPr sz="2205"/>
            </a:lvl1pPr>
            <a:lvl2pPr>
              <a:defRPr sz="1890"/>
            </a:lvl2pPr>
            <a:lvl3pPr>
              <a:defRPr sz="1575"/>
            </a:lvl3pPr>
            <a:lvl4pPr>
              <a:defRPr sz="1415"/>
            </a:lvl4pPr>
            <a:lvl5pPr>
              <a:defRPr sz="1415"/>
            </a:lvl5pPr>
            <a:lvl6pPr>
              <a:defRPr sz="1415"/>
            </a:lvl6pPr>
            <a:lvl7pPr>
              <a:defRPr sz="1415"/>
            </a:lvl7pPr>
            <a:lvl8pPr>
              <a:defRPr sz="1415"/>
            </a:lvl8pPr>
            <a:lvl9pPr>
              <a:defRPr sz="141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13001" y="1207946"/>
            <a:ext cx="4533289" cy="503415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60045" indent="0">
              <a:buNone/>
              <a:defRPr sz="1575" b="1"/>
            </a:lvl2pPr>
            <a:lvl3pPr marL="719455" indent="0">
              <a:buNone/>
              <a:defRPr sz="1415" b="1"/>
            </a:lvl3pPr>
            <a:lvl4pPr marL="1079500" indent="0">
              <a:buNone/>
              <a:defRPr sz="1260" b="1"/>
            </a:lvl4pPr>
            <a:lvl5pPr marL="1438910" indent="0">
              <a:buNone/>
              <a:defRPr sz="1260" b="1"/>
            </a:lvl5pPr>
            <a:lvl6pPr marL="1798955" indent="0">
              <a:buNone/>
              <a:defRPr sz="1260" b="1"/>
            </a:lvl6pPr>
            <a:lvl7pPr marL="2158365" indent="0">
              <a:buNone/>
              <a:defRPr sz="1260" b="1"/>
            </a:lvl7pPr>
            <a:lvl8pPr marL="2518410" indent="0">
              <a:buNone/>
              <a:defRPr sz="1260" b="1"/>
            </a:lvl8pPr>
            <a:lvl9pPr marL="2877820" indent="0">
              <a:buNone/>
              <a:defRPr sz="126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3001" y="1711361"/>
            <a:ext cx="4533289" cy="3109181"/>
          </a:xfrm>
        </p:spPr>
        <p:txBody>
          <a:bodyPr/>
          <a:lstStyle>
            <a:lvl1pPr>
              <a:defRPr sz="1890"/>
            </a:lvl1pPr>
            <a:lvl2pPr>
              <a:defRPr sz="1575"/>
            </a:lvl2pPr>
            <a:lvl3pPr>
              <a:defRPr sz="1415"/>
            </a:lvl3pPr>
            <a:lvl4pPr>
              <a:defRPr sz="1260"/>
            </a:lvl4pPr>
            <a:lvl5pPr>
              <a:defRPr sz="1260"/>
            </a:lvl5pPr>
            <a:lvl6pPr>
              <a:defRPr sz="1260"/>
            </a:lvl6pPr>
            <a:lvl7pPr>
              <a:defRPr sz="1260"/>
            </a:lvl7pPr>
            <a:lvl8pPr>
              <a:defRPr sz="1260"/>
            </a:lvl8pPr>
            <a:lvl9pPr>
              <a:defRPr sz="126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211945" y="1207946"/>
            <a:ext cx="4535069" cy="503415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60045" indent="0">
              <a:buNone/>
              <a:defRPr sz="1575" b="1"/>
            </a:lvl2pPr>
            <a:lvl3pPr marL="719455" indent="0">
              <a:buNone/>
              <a:defRPr sz="1415" b="1"/>
            </a:lvl3pPr>
            <a:lvl4pPr marL="1079500" indent="0">
              <a:buNone/>
              <a:defRPr sz="1260" b="1"/>
            </a:lvl4pPr>
            <a:lvl5pPr marL="1438910" indent="0">
              <a:buNone/>
              <a:defRPr sz="1260" b="1"/>
            </a:lvl5pPr>
            <a:lvl6pPr marL="1798955" indent="0">
              <a:buNone/>
              <a:defRPr sz="1260" b="1"/>
            </a:lvl6pPr>
            <a:lvl7pPr marL="2158365" indent="0">
              <a:buNone/>
              <a:defRPr sz="1260" b="1"/>
            </a:lvl7pPr>
            <a:lvl8pPr marL="2518410" indent="0">
              <a:buNone/>
              <a:defRPr sz="1260" b="1"/>
            </a:lvl8pPr>
            <a:lvl9pPr marL="2877820" indent="0">
              <a:buNone/>
              <a:defRPr sz="126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211945" y="1711361"/>
            <a:ext cx="4535069" cy="3109181"/>
          </a:xfrm>
        </p:spPr>
        <p:txBody>
          <a:bodyPr/>
          <a:lstStyle>
            <a:lvl1pPr>
              <a:defRPr sz="1890"/>
            </a:lvl1pPr>
            <a:lvl2pPr>
              <a:defRPr sz="1575"/>
            </a:lvl2pPr>
            <a:lvl3pPr>
              <a:defRPr sz="1415"/>
            </a:lvl3pPr>
            <a:lvl4pPr>
              <a:defRPr sz="1260"/>
            </a:lvl4pPr>
            <a:lvl5pPr>
              <a:defRPr sz="1260"/>
            </a:lvl5pPr>
            <a:lvl6pPr>
              <a:defRPr sz="1260"/>
            </a:lvl6pPr>
            <a:lvl7pPr>
              <a:defRPr sz="1260"/>
            </a:lvl7pPr>
            <a:lvl8pPr>
              <a:defRPr sz="1260"/>
            </a:lvl8pPr>
            <a:lvl9pPr>
              <a:defRPr sz="126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24.11.4</a:t>
            </a:fld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13001" y="214857"/>
            <a:ext cx="3375474" cy="914391"/>
          </a:xfrm>
        </p:spPr>
        <p:txBody>
          <a:bodyPr anchor="b"/>
          <a:lstStyle>
            <a:lvl1pPr algn="l">
              <a:defRPr sz="1575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11381" y="214857"/>
            <a:ext cx="5735634" cy="4605685"/>
          </a:xfrm>
        </p:spPr>
        <p:txBody>
          <a:bodyPr/>
          <a:lstStyle>
            <a:lvl1pPr>
              <a:defRPr sz="2520"/>
            </a:lvl1pPr>
            <a:lvl2pPr>
              <a:defRPr sz="2205"/>
            </a:lvl2pPr>
            <a:lvl3pPr>
              <a:defRPr sz="1890"/>
            </a:lvl3pPr>
            <a:lvl4pPr>
              <a:defRPr sz="1575"/>
            </a:lvl4pPr>
            <a:lvl5pPr>
              <a:defRPr sz="1575"/>
            </a:lvl5pPr>
            <a:lvl6pPr>
              <a:defRPr sz="1575"/>
            </a:lvl6pPr>
            <a:lvl7pPr>
              <a:defRPr sz="1575"/>
            </a:lvl7pPr>
            <a:lvl8pPr>
              <a:defRPr sz="1575"/>
            </a:lvl8pPr>
            <a:lvl9pPr>
              <a:defRPr sz="157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13001" y="1129248"/>
            <a:ext cx="3375474" cy="3691293"/>
          </a:xfrm>
        </p:spPr>
        <p:txBody>
          <a:bodyPr/>
          <a:lstStyle>
            <a:lvl1pPr marL="0" indent="0">
              <a:buNone/>
              <a:defRPr sz="1100"/>
            </a:lvl1pPr>
            <a:lvl2pPr marL="360045" indent="0">
              <a:buNone/>
              <a:defRPr sz="945"/>
            </a:lvl2pPr>
            <a:lvl3pPr marL="719455" indent="0">
              <a:buNone/>
              <a:defRPr sz="785"/>
            </a:lvl3pPr>
            <a:lvl4pPr marL="1079500" indent="0">
              <a:buNone/>
              <a:defRPr sz="710"/>
            </a:lvl4pPr>
            <a:lvl5pPr marL="1438910" indent="0">
              <a:buNone/>
              <a:defRPr sz="710"/>
            </a:lvl5pPr>
            <a:lvl6pPr marL="1798955" indent="0">
              <a:buNone/>
              <a:defRPr sz="710"/>
            </a:lvl6pPr>
            <a:lvl7pPr marL="2158365" indent="0">
              <a:buNone/>
              <a:defRPr sz="710"/>
            </a:lvl7pPr>
            <a:lvl8pPr marL="2518410" indent="0">
              <a:buNone/>
              <a:defRPr sz="710"/>
            </a:lvl8pPr>
            <a:lvl9pPr marL="2877820" indent="0">
              <a:buNone/>
              <a:defRPr sz="71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011035" y="3777486"/>
            <a:ext cx="6156009" cy="445954"/>
          </a:xfrm>
        </p:spPr>
        <p:txBody>
          <a:bodyPr anchor="b"/>
          <a:lstStyle>
            <a:lvl1pPr algn="l">
              <a:defRPr sz="1575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011035" y="482179"/>
            <a:ext cx="6156009" cy="3237845"/>
          </a:xfrm>
        </p:spPr>
        <p:txBody>
          <a:bodyPr/>
          <a:lstStyle>
            <a:lvl1pPr marL="0" indent="0">
              <a:buNone/>
              <a:defRPr sz="2520"/>
            </a:lvl1pPr>
            <a:lvl2pPr marL="360045" indent="0">
              <a:buNone/>
              <a:defRPr sz="2205"/>
            </a:lvl2pPr>
            <a:lvl3pPr marL="719455" indent="0">
              <a:buNone/>
              <a:defRPr sz="1890"/>
            </a:lvl3pPr>
            <a:lvl4pPr marL="1079500" indent="0">
              <a:buNone/>
              <a:defRPr sz="1575"/>
            </a:lvl4pPr>
            <a:lvl5pPr marL="1438910" indent="0">
              <a:buNone/>
              <a:defRPr sz="1575"/>
            </a:lvl5pPr>
            <a:lvl6pPr marL="1798955" indent="0">
              <a:buNone/>
              <a:defRPr sz="1575"/>
            </a:lvl6pPr>
            <a:lvl7pPr marL="2158365" indent="0">
              <a:buNone/>
              <a:defRPr sz="1575"/>
            </a:lvl7pPr>
            <a:lvl8pPr marL="2518410" indent="0">
              <a:buNone/>
              <a:defRPr sz="1575"/>
            </a:lvl8pPr>
            <a:lvl9pPr marL="2877820" indent="0">
              <a:buNone/>
              <a:defRPr sz="1575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011035" y="4223439"/>
            <a:ext cx="6156009" cy="633328"/>
          </a:xfrm>
        </p:spPr>
        <p:txBody>
          <a:bodyPr/>
          <a:lstStyle>
            <a:lvl1pPr marL="0" indent="0">
              <a:buNone/>
              <a:defRPr sz="1100"/>
            </a:lvl1pPr>
            <a:lvl2pPr marL="360045" indent="0">
              <a:buNone/>
              <a:defRPr sz="945"/>
            </a:lvl2pPr>
            <a:lvl3pPr marL="719455" indent="0">
              <a:buNone/>
              <a:defRPr sz="785"/>
            </a:lvl3pPr>
            <a:lvl4pPr marL="1079500" indent="0">
              <a:buNone/>
              <a:defRPr sz="710"/>
            </a:lvl4pPr>
            <a:lvl5pPr marL="1438910" indent="0">
              <a:buNone/>
              <a:defRPr sz="710"/>
            </a:lvl5pPr>
            <a:lvl6pPr marL="1798955" indent="0">
              <a:buNone/>
              <a:defRPr sz="710"/>
            </a:lvl6pPr>
            <a:lvl7pPr marL="2158365" indent="0">
              <a:buNone/>
              <a:defRPr sz="710"/>
            </a:lvl7pPr>
            <a:lvl8pPr marL="2518410" indent="0">
              <a:buNone/>
              <a:defRPr sz="710"/>
            </a:lvl8pPr>
            <a:lvl9pPr marL="2877820" indent="0">
              <a:buNone/>
              <a:defRPr sz="71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438511" y="216107"/>
            <a:ext cx="2308504" cy="460443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13001" y="216107"/>
            <a:ext cx="6754510" cy="460443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69938" y="1676400"/>
            <a:ext cx="8720137" cy="11557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38288" y="3057525"/>
            <a:ext cx="7183437" cy="1379538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1213" y="3467100"/>
            <a:ext cx="8720137" cy="1071563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11213" y="2287588"/>
            <a:ext cx="8720137" cy="1179512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12763" y="1258888"/>
            <a:ext cx="4540250" cy="35607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205413" y="1258888"/>
            <a:ext cx="4541837" cy="35607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12763" y="1208088"/>
            <a:ext cx="4533900" cy="5032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2763" y="1711325"/>
            <a:ext cx="4533900" cy="31083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211763" y="1208088"/>
            <a:ext cx="4535487" cy="5032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211763" y="1711325"/>
            <a:ext cx="4535487" cy="31083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12763" y="214313"/>
            <a:ext cx="3375025" cy="914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11613" y="214313"/>
            <a:ext cx="5735637" cy="460533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12763" y="1128713"/>
            <a:ext cx="3375025" cy="369093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011363" y="3776663"/>
            <a:ext cx="6156325" cy="44608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011363" y="482600"/>
            <a:ext cx="6156325" cy="323691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011363" y="4222750"/>
            <a:ext cx="6156325" cy="63341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439025" y="215900"/>
            <a:ext cx="2308225" cy="460375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12763" y="215900"/>
            <a:ext cx="6773862" cy="460375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0" y="321692"/>
            <a:ext cx="10260016" cy="72008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13001" y="1259162"/>
            <a:ext cx="9234014" cy="35613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513001" y="5001671"/>
            <a:ext cx="2394004" cy="2873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D6143D-C007-4F7D-8B9B-81A7FCC12036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505505" y="5001671"/>
            <a:ext cx="3249005" cy="2873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353011" y="5001671"/>
            <a:ext cx="2394004" cy="2873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  <p:sp useBgFill="1">
        <p:nvSpPr>
          <p:cNvPr id="8" name="文本框 7">
            <a:extLst>
              <a:ext uri="{FF2B5EF4-FFF2-40B4-BE49-F238E27FC236}">
                <a16:creationId xmlns:a16="http://schemas.microsoft.com/office/drawing/2014/main" id="{8728A5C7-AA7F-A164-FCAC-3453DE86B87E}"/>
              </a:ext>
            </a:extLst>
          </p:cNvPr>
          <p:cNvSpPr txBox="1"/>
          <p:nvPr userDrawn="1"/>
        </p:nvSpPr>
        <p:spPr>
          <a:xfrm>
            <a:off x="7942603" y="5002212"/>
            <a:ext cx="2083947" cy="26161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r"/>
            <a:r>
              <a:rPr lang="en-US" altLang="zh-CN" sz="1100" b="1" dirty="0">
                <a:solidFill>
                  <a:srgbClr val="6B7F9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</a:rPr>
              <a:t>UNITREE</a:t>
            </a:r>
            <a:r>
              <a:rPr lang="en-US" altLang="zh-CN" sz="1100" b="1" dirty="0">
                <a:solidFill>
                  <a:srgbClr val="5560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</a:rPr>
              <a:t> </a:t>
            </a:r>
            <a:r>
              <a:rPr lang="en-US" altLang="zh-CN" sz="1100" b="1" dirty="0">
                <a:solidFill>
                  <a:srgbClr val="9FA8B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</a:rPr>
              <a:t>ROBOTICS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719455" rtl="0" eaLnBrk="1" latinLnBrk="0" hangingPunct="1">
        <a:spcBef>
          <a:spcPct val="0"/>
        </a:spcBef>
        <a:buNone/>
        <a:defRPr sz="2800" b="0" kern="1200">
          <a:solidFill>
            <a:schemeClr val="tx1"/>
          </a:solidFill>
          <a:latin typeface="新宋体" panose="02010609030101010101" pitchFamily="49" charset="-122"/>
          <a:ea typeface="新宋体" panose="02010609030101010101" pitchFamily="49" charset="-122"/>
          <a:cs typeface="+mj-cs"/>
        </a:defRPr>
      </a:lvl1pPr>
    </p:titleStyle>
    <p:bodyStyle>
      <a:lvl1pPr marL="269875" indent="-269240" algn="l" defTabSz="719455" rtl="0" eaLnBrk="1" latinLnBrk="0" hangingPunct="1">
        <a:spcBef>
          <a:spcPts val="75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1pPr>
      <a:lvl2pPr marL="584835" indent="-224155" algn="l" defTabSz="719455" rtl="0" eaLnBrk="1" latinLnBrk="0" hangingPunct="1">
        <a:spcBef>
          <a:spcPts val="75"/>
        </a:spcBef>
        <a:buFont typeface="Arial" panose="020B0604020202020204" pitchFamily="34" charset="0"/>
        <a:buChar char="–"/>
        <a:defRPr sz="2205" kern="1200">
          <a:solidFill>
            <a:schemeClr val="tx1"/>
          </a:solidFill>
          <a:latin typeface="+mn-lt"/>
          <a:ea typeface="+mn-ea"/>
          <a:cs typeface="+mn-cs"/>
        </a:defRPr>
      </a:lvl2pPr>
      <a:lvl3pPr marL="899160" indent="-179070" algn="l" defTabSz="719455" rtl="0" eaLnBrk="1" latinLnBrk="0" hangingPunct="1">
        <a:spcBef>
          <a:spcPts val="7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259205" indent="-179070" algn="l" defTabSz="719455" rtl="0" eaLnBrk="1" latinLnBrk="0" hangingPunct="1">
        <a:spcBef>
          <a:spcPts val="75"/>
        </a:spcBef>
        <a:buFont typeface="Arial" panose="020B0604020202020204" pitchFamily="34" charset="0"/>
        <a:buChar char="–"/>
        <a:defRPr sz="1575" kern="1200">
          <a:solidFill>
            <a:schemeClr val="tx1"/>
          </a:solidFill>
          <a:latin typeface="+mn-lt"/>
          <a:ea typeface="+mn-ea"/>
          <a:cs typeface="+mn-cs"/>
        </a:defRPr>
      </a:lvl4pPr>
      <a:lvl5pPr marL="1618615" indent="-179070" algn="l" defTabSz="719455" rtl="0" eaLnBrk="1" latinLnBrk="0" hangingPunct="1">
        <a:spcBef>
          <a:spcPts val="75"/>
        </a:spcBef>
        <a:buFont typeface="Arial" panose="020B0604020202020204" pitchFamily="34" charset="0"/>
        <a:buChar char="»"/>
        <a:defRPr sz="1575" kern="1200">
          <a:solidFill>
            <a:schemeClr val="tx1"/>
          </a:solidFill>
          <a:latin typeface="+mn-lt"/>
          <a:ea typeface="+mn-ea"/>
          <a:cs typeface="+mn-cs"/>
        </a:defRPr>
      </a:lvl5pPr>
      <a:lvl6pPr marL="1978660" indent="-179070" algn="l" defTabSz="719455" rtl="0" eaLnBrk="1" latinLnBrk="0" hangingPunct="1">
        <a:spcBef>
          <a:spcPts val="75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6pPr>
      <a:lvl7pPr marL="2338705" indent="-179070" algn="l" defTabSz="719455" rtl="0" eaLnBrk="1" latinLnBrk="0" hangingPunct="1">
        <a:spcBef>
          <a:spcPts val="75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7pPr>
      <a:lvl8pPr marL="2698115" indent="-179070" algn="l" defTabSz="719455" rtl="0" eaLnBrk="1" latinLnBrk="0" hangingPunct="1">
        <a:spcBef>
          <a:spcPts val="75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8pPr>
      <a:lvl9pPr marL="3058160" indent="-179070" algn="l" defTabSz="719455" rtl="0" eaLnBrk="1" latinLnBrk="0" hangingPunct="1">
        <a:spcBef>
          <a:spcPts val="75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1pPr>
      <a:lvl2pPr marL="360045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2pPr>
      <a:lvl3pPr marL="719455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3pPr>
      <a:lvl4pPr marL="1079500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4pPr>
      <a:lvl5pPr marL="1438910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5pPr>
      <a:lvl6pPr marL="1798955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6pPr>
      <a:lvl7pPr marL="2158365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7pPr>
      <a:lvl8pPr marL="2518410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8pPr>
      <a:lvl9pPr marL="2877820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512763" y="215900"/>
            <a:ext cx="9234487" cy="9001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12763" y="1258888"/>
            <a:ext cx="9234487" cy="3560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512763" y="5000625"/>
            <a:ext cx="2393950" cy="287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B1E9A6-3BBE-4152-ABC2-7AF76252B64C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505200" y="5000625"/>
            <a:ext cx="3249613" cy="287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353300" y="5000625"/>
            <a:ext cx="2393950" cy="287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339578" y="1377419"/>
            <a:ext cx="5498621" cy="19562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defTabSz="719450">
              <a:lnSpc>
                <a:spcPct val="120000"/>
              </a:lnSpc>
              <a:defRPr/>
            </a:pPr>
            <a:r>
              <a:rPr lang="zh-CN" altLang="en-US" sz="3462" b="1" dirty="0">
                <a:solidFill>
                  <a:srgbClr val="1112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</a:rPr>
              <a:t>智能机器人综合应用开发</a:t>
            </a:r>
          </a:p>
          <a:p>
            <a:pPr algn="r" defTabSz="719450">
              <a:lnSpc>
                <a:spcPct val="120000"/>
              </a:lnSpc>
              <a:defRPr/>
            </a:pPr>
            <a:r>
              <a:rPr lang="zh-CN" altLang="en-US" sz="3462" b="1" dirty="0">
                <a:solidFill>
                  <a:srgbClr val="4A7D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</a:rPr>
              <a:t>项目</a:t>
            </a:r>
            <a:r>
              <a:rPr lang="en-US" altLang="zh-CN" sz="3462" b="1" dirty="0">
                <a:solidFill>
                  <a:srgbClr val="4A7D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</a:rPr>
              <a:t>12 </a:t>
            </a:r>
            <a:r>
              <a:rPr lang="zh-CN" altLang="en-US" sz="3462" b="1" dirty="0">
                <a:solidFill>
                  <a:srgbClr val="4A7D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</a:rPr>
              <a:t>智能物流</a:t>
            </a:r>
            <a:r>
              <a:rPr lang="en-US" altLang="zh-CN" sz="3462" b="1">
                <a:solidFill>
                  <a:srgbClr val="4A7D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</a:rPr>
              <a:t>-</a:t>
            </a:r>
            <a:r>
              <a:rPr lang="zh-CN" altLang="en-US" sz="3462" b="1">
                <a:solidFill>
                  <a:srgbClr val="4A7D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</a:rPr>
              <a:t>综合</a:t>
            </a:r>
            <a:r>
              <a:rPr lang="zh-CN" altLang="en-US" sz="3462" b="1" dirty="0">
                <a:solidFill>
                  <a:srgbClr val="4A7D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</a:rPr>
              <a:t>实践</a:t>
            </a:r>
            <a:endParaRPr lang="en-US" altLang="zh-CN" sz="3462" b="1" dirty="0">
              <a:solidFill>
                <a:srgbClr val="4A7D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OPPOSans H" panose="00020600040101010101" pitchFamily="18" charset="-122"/>
            </a:endParaRPr>
          </a:p>
          <a:p>
            <a:pPr algn="r" defTabSz="719450">
              <a:lnSpc>
                <a:spcPct val="120000"/>
              </a:lnSpc>
              <a:defRPr/>
            </a:pPr>
            <a:r>
              <a:rPr lang="en-US" altLang="zh-CN" sz="3462" b="1" dirty="0">
                <a:solidFill>
                  <a:srgbClr val="4A7D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</a:rPr>
              <a:t>12.3 </a:t>
            </a:r>
            <a:r>
              <a:rPr lang="zh-CN" altLang="en-US" sz="3462" b="1" dirty="0">
                <a:solidFill>
                  <a:srgbClr val="4A7D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</a:rPr>
              <a:t>自动卸货模块</a:t>
            </a:r>
            <a:endParaRPr lang="en-US" altLang="zh-CN" sz="3462" b="1" dirty="0">
              <a:solidFill>
                <a:srgbClr val="4A7D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OPPOSans H" panose="00020600040101010101" pitchFamily="18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13A6D61-42CD-A04D-E161-9B1239954440}"/>
              </a:ext>
            </a:extLst>
          </p:cNvPr>
          <p:cNvSpPr txBox="1"/>
          <p:nvPr/>
        </p:nvSpPr>
        <p:spPr>
          <a:xfrm>
            <a:off x="669716" y="3923203"/>
            <a:ext cx="2507098" cy="3765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defTabSz="719450">
              <a:lnSpc>
                <a:spcPct val="130000"/>
              </a:lnSpc>
              <a:defRPr/>
            </a:pPr>
            <a:r>
              <a:rPr lang="zh-CN" altLang="en-US" sz="1574" b="1" spc="236" dirty="0">
                <a:solidFill>
                  <a:srgbClr val="6C6F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B" panose="00020600040101010101" pitchFamily="18" charset="-122"/>
              </a:rPr>
              <a:t>杭州宇树科技有限公司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A1FD3A6-2E81-E3C7-3146-C656DBCD95C4}"/>
              </a:ext>
            </a:extLst>
          </p:cNvPr>
          <p:cNvSpPr txBox="1"/>
          <p:nvPr/>
        </p:nvSpPr>
        <p:spPr>
          <a:xfrm>
            <a:off x="732982" y="4329979"/>
            <a:ext cx="4796367" cy="50257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defTabSz="719450">
              <a:lnSpc>
                <a:spcPct val="150000"/>
              </a:lnSpc>
              <a:defRPr/>
            </a:pPr>
            <a:r>
              <a:rPr lang="zh-CN" altLang="en-US" sz="944" dirty="0">
                <a:solidFill>
                  <a:srgbClr val="9FA1B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请访问宇树科技官网了解更多产品相关条款与政策，请遵守各地区法律法规</a:t>
            </a:r>
            <a:endParaRPr lang="en-US" altLang="zh-CN" sz="944" dirty="0">
              <a:solidFill>
                <a:srgbClr val="9FA1B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719450">
              <a:lnSpc>
                <a:spcPct val="150000"/>
              </a:lnSpc>
              <a:defRPr/>
            </a:pPr>
            <a:r>
              <a:rPr lang="zh-CN" altLang="en-US" sz="944" dirty="0">
                <a:solidFill>
                  <a:srgbClr val="9FA1B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请各位用户不要危险性改造和使用机器人</a:t>
            </a:r>
          </a:p>
        </p:txBody>
      </p:sp>
      <p:pic>
        <p:nvPicPr>
          <p:cNvPr id="8" name="图形 7">
            <a:extLst>
              <a:ext uri="{FF2B5EF4-FFF2-40B4-BE49-F238E27FC236}">
                <a16:creationId xmlns:a16="http://schemas.microsoft.com/office/drawing/2014/main" id="{4323EC7C-E2EB-396A-A105-F0AD424033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0815" y="318392"/>
            <a:ext cx="2137762" cy="416876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6BABD9FD-A287-2664-4A97-37BDB8E5F2EF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689" t="20573"/>
          <a:stretch/>
        </p:blipFill>
        <p:spPr>
          <a:xfrm>
            <a:off x="5564153" y="1006796"/>
            <a:ext cx="6088898" cy="4436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1774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内容占位符 2"/>
          <p:cNvSpPr txBox="1"/>
          <p:nvPr/>
        </p:nvSpPr>
        <p:spPr>
          <a:xfrm>
            <a:off x="2247265" y="1878965"/>
            <a:ext cx="7021195" cy="927100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掌握卸货区域的识别方法</a:t>
            </a:r>
            <a:r>
              <a:rPr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endParaRPr lang="zh-CN" altLang="en-US" sz="2800" b="0" dirty="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sz="28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827780" y="261620"/>
            <a:ext cx="23050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教学目标</a:t>
            </a:r>
          </a:p>
        </p:txBody>
      </p:sp>
      <p:sp>
        <p:nvSpPr>
          <p:cNvPr id="6" name="Freeform 12"/>
          <p:cNvSpPr/>
          <p:nvPr/>
        </p:nvSpPr>
        <p:spPr bwMode="auto">
          <a:xfrm>
            <a:off x="957634" y="1348465"/>
            <a:ext cx="528638" cy="530225"/>
          </a:xfrm>
          <a:custGeom>
            <a:avLst/>
            <a:gdLst>
              <a:gd name="T0" fmla="*/ 0 w 1446"/>
              <a:gd name="T1" fmla="*/ 0 h 1446"/>
              <a:gd name="T2" fmla="*/ 1446 w 1446"/>
              <a:gd name="T3" fmla="*/ 0 h 1446"/>
              <a:gd name="T4" fmla="*/ 1446 w 1446"/>
              <a:gd name="T5" fmla="*/ 458 h 1446"/>
              <a:gd name="T6" fmla="*/ 438 w 1446"/>
              <a:gd name="T7" fmla="*/ 458 h 1446"/>
              <a:gd name="T8" fmla="*/ 438 w 1446"/>
              <a:gd name="T9" fmla="*/ 1446 h 1446"/>
              <a:gd name="T10" fmla="*/ 0 w 1446"/>
              <a:gd name="T11" fmla="*/ 1446 h 1446"/>
              <a:gd name="T12" fmla="*/ 0 w 1446"/>
              <a:gd name="T13" fmla="*/ 0 h 1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46" h="1446">
                <a:moveTo>
                  <a:pt x="0" y="0"/>
                </a:moveTo>
                <a:lnTo>
                  <a:pt x="1446" y="0"/>
                </a:lnTo>
                <a:lnTo>
                  <a:pt x="1446" y="458"/>
                </a:lnTo>
                <a:lnTo>
                  <a:pt x="438" y="458"/>
                </a:lnTo>
                <a:lnTo>
                  <a:pt x="438" y="1446"/>
                </a:lnTo>
                <a:lnTo>
                  <a:pt x="0" y="1446"/>
                </a:lnTo>
                <a:lnTo>
                  <a:pt x="0" y="0"/>
                </a:lnTo>
                <a:close/>
              </a:path>
            </a:pathLst>
          </a:custGeom>
          <a:solidFill>
            <a:srgbClr val="9BD9FF"/>
          </a:solidFill>
          <a:ln>
            <a:noFill/>
          </a:ln>
        </p:spPr>
        <p:txBody>
          <a:bodyPr/>
          <a:lstStyle/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" name="Freeform 12"/>
          <p:cNvSpPr/>
          <p:nvPr/>
        </p:nvSpPr>
        <p:spPr bwMode="auto">
          <a:xfrm flipH="1" flipV="1">
            <a:off x="8384474" y="3715736"/>
            <a:ext cx="528638" cy="530225"/>
          </a:xfrm>
          <a:custGeom>
            <a:avLst/>
            <a:gdLst>
              <a:gd name="T0" fmla="*/ 0 w 1446"/>
              <a:gd name="T1" fmla="*/ 0 h 1446"/>
              <a:gd name="T2" fmla="*/ 1446 w 1446"/>
              <a:gd name="T3" fmla="*/ 0 h 1446"/>
              <a:gd name="T4" fmla="*/ 1446 w 1446"/>
              <a:gd name="T5" fmla="*/ 458 h 1446"/>
              <a:gd name="T6" fmla="*/ 438 w 1446"/>
              <a:gd name="T7" fmla="*/ 458 h 1446"/>
              <a:gd name="T8" fmla="*/ 438 w 1446"/>
              <a:gd name="T9" fmla="*/ 1446 h 1446"/>
              <a:gd name="T10" fmla="*/ 0 w 1446"/>
              <a:gd name="T11" fmla="*/ 1446 h 1446"/>
              <a:gd name="T12" fmla="*/ 0 w 1446"/>
              <a:gd name="T13" fmla="*/ 0 h 1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46" h="1446">
                <a:moveTo>
                  <a:pt x="0" y="0"/>
                </a:moveTo>
                <a:lnTo>
                  <a:pt x="1446" y="0"/>
                </a:lnTo>
                <a:lnTo>
                  <a:pt x="1446" y="458"/>
                </a:lnTo>
                <a:lnTo>
                  <a:pt x="438" y="458"/>
                </a:lnTo>
                <a:lnTo>
                  <a:pt x="438" y="1446"/>
                </a:lnTo>
                <a:lnTo>
                  <a:pt x="0" y="1446"/>
                </a:lnTo>
                <a:lnTo>
                  <a:pt x="0" y="0"/>
                </a:lnTo>
                <a:close/>
              </a:path>
            </a:pathLst>
          </a:custGeom>
          <a:solidFill>
            <a:srgbClr val="9BD9FF"/>
          </a:solidFill>
          <a:ln>
            <a:noFill/>
          </a:ln>
        </p:spPr>
        <p:txBody>
          <a:bodyPr/>
          <a:lstStyle/>
          <a:p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718945" y="1937385"/>
            <a:ext cx="341630" cy="348615"/>
          </a:xfrm>
          <a:prstGeom prst="rect">
            <a:avLst/>
          </a:prstGeom>
          <a:solidFill>
            <a:srgbClr val="9BD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/>
              <a:t>1</a:t>
            </a:r>
          </a:p>
        </p:txBody>
      </p:sp>
      <p:sp>
        <p:nvSpPr>
          <p:cNvPr id="13" name="矩形 12"/>
          <p:cNvSpPr/>
          <p:nvPr/>
        </p:nvSpPr>
        <p:spPr>
          <a:xfrm>
            <a:off x="1718945" y="3079750"/>
            <a:ext cx="341630" cy="348615"/>
          </a:xfrm>
          <a:prstGeom prst="rect">
            <a:avLst/>
          </a:prstGeom>
          <a:solidFill>
            <a:srgbClr val="9BD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/>
              <a:t>2</a:t>
            </a:r>
          </a:p>
        </p:txBody>
      </p:sp>
      <p:sp>
        <p:nvSpPr>
          <p:cNvPr id="20" name="内容占位符 2"/>
          <p:cNvSpPr txBox="1"/>
          <p:nvPr/>
        </p:nvSpPr>
        <p:spPr>
          <a:xfrm>
            <a:off x="2247265" y="3086100"/>
            <a:ext cx="6195109" cy="336550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掌握机器人在卸货区域的运动控制</a:t>
            </a:r>
            <a:r>
              <a:rPr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endParaRPr lang="zh-CN" altLang="en-US" sz="28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1119701" y="800634"/>
            <a:ext cx="5512519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778620" y="397099"/>
            <a:ext cx="26926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8" name="矩形 7"/>
          <p:cNvSpPr/>
          <p:nvPr/>
        </p:nvSpPr>
        <p:spPr>
          <a:xfrm>
            <a:off x="1066359" y="397099"/>
            <a:ext cx="1682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9CB940FB-9009-8FB3-A9AE-A337FAC4C9F6}"/>
              </a:ext>
            </a:extLst>
          </p:cNvPr>
          <p:cNvSpPr txBox="1"/>
          <p:nvPr/>
        </p:nvSpPr>
        <p:spPr>
          <a:xfrm>
            <a:off x="1119701" y="345266"/>
            <a:ext cx="5738126" cy="314662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1-</a:t>
            </a:r>
            <a:r>
              <a:rPr lang="zh-CN" altLang="en-US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任务需求	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686D920-7336-488C-98F0-3A4ACDA5AD42}"/>
              </a:ext>
            </a:extLst>
          </p:cNvPr>
          <p:cNvSpPr txBox="1"/>
          <p:nvPr/>
        </p:nvSpPr>
        <p:spPr>
          <a:xfrm>
            <a:off x="2609726" y="1075073"/>
            <a:ext cx="48013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识别到卸货点后，把物料卸载到物料倾倒区。</a:t>
            </a:r>
          </a:p>
          <a:p>
            <a:endParaRPr lang="zh-CN" altLang="en-US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1A981DE3-0506-4441-AEAD-797F0E27CD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9726" y="1905868"/>
            <a:ext cx="4772871" cy="246874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523570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1119701" y="800634"/>
            <a:ext cx="5512519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778620" y="397099"/>
            <a:ext cx="26926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8" name="矩形 7"/>
          <p:cNvSpPr/>
          <p:nvPr/>
        </p:nvSpPr>
        <p:spPr>
          <a:xfrm>
            <a:off x="1066359" y="397099"/>
            <a:ext cx="1682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9CB940FB-9009-8FB3-A9AE-A337FAC4C9F6}"/>
              </a:ext>
            </a:extLst>
          </p:cNvPr>
          <p:cNvSpPr txBox="1"/>
          <p:nvPr/>
        </p:nvSpPr>
        <p:spPr>
          <a:xfrm>
            <a:off x="1119701" y="345266"/>
            <a:ext cx="5738126" cy="314662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2-</a:t>
            </a:r>
            <a:r>
              <a:rPr lang="zh-CN" altLang="en-US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物料设计	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30582B1B-2F8E-4204-ADAD-296BCD3EF17B}"/>
              </a:ext>
            </a:extLst>
          </p:cNvPr>
          <p:cNvSpPr txBox="1"/>
          <p:nvPr/>
        </p:nvSpPr>
        <p:spPr>
          <a:xfrm>
            <a:off x="953781" y="2120738"/>
            <a:ext cx="748825" cy="2311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/>
              <a:t>物料框架</a:t>
            </a:r>
          </a:p>
        </p:txBody>
      </p:sp>
      <p:sp>
        <p:nvSpPr>
          <p:cNvPr id="25" name="箭头: 右 24">
            <a:extLst>
              <a:ext uri="{FF2B5EF4-FFF2-40B4-BE49-F238E27FC236}">
                <a16:creationId xmlns:a16="http://schemas.microsoft.com/office/drawing/2014/main" id="{97A2B77F-A418-4E2F-9DC9-A3BEB5DDE98A}"/>
              </a:ext>
            </a:extLst>
          </p:cNvPr>
          <p:cNvSpPr/>
          <p:nvPr/>
        </p:nvSpPr>
        <p:spPr>
          <a:xfrm>
            <a:off x="2321694" y="2236300"/>
            <a:ext cx="555103" cy="213345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6AD31099-2E57-4570-9962-65B285FDF73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6150" y="1799746"/>
            <a:ext cx="1603679" cy="1122770"/>
          </a:xfrm>
          <a:prstGeom prst="rect">
            <a:avLst/>
          </a:prstGeom>
        </p:spPr>
      </p:pic>
      <p:sp>
        <p:nvSpPr>
          <p:cNvPr id="27" name="箭头: 右 26">
            <a:extLst>
              <a:ext uri="{FF2B5EF4-FFF2-40B4-BE49-F238E27FC236}">
                <a16:creationId xmlns:a16="http://schemas.microsoft.com/office/drawing/2014/main" id="{3F78D3AC-343B-42A2-A720-BDBAD37C91B3}"/>
              </a:ext>
            </a:extLst>
          </p:cNvPr>
          <p:cNvSpPr/>
          <p:nvPr/>
        </p:nvSpPr>
        <p:spPr>
          <a:xfrm>
            <a:off x="5245841" y="2163919"/>
            <a:ext cx="605207" cy="279948"/>
          </a:xfrm>
          <a:prstGeom prst="rightArrow">
            <a:avLst/>
          </a:prstGeom>
          <a:solidFill>
            <a:schemeClr val="accent4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CD47E553-10D4-46D2-84E8-C8C32FF52D11}"/>
              </a:ext>
            </a:extLst>
          </p:cNvPr>
          <p:cNvSpPr txBox="1"/>
          <p:nvPr/>
        </p:nvSpPr>
        <p:spPr>
          <a:xfrm>
            <a:off x="1601614" y="3509475"/>
            <a:ext cx="67312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自行设计物料框架用以固定水瓶，将物料架与四足狗装配连接，注意倾斜角度，以保证前进途中物料不掉落。</a:t>
            </a:r>
          </a:p>
        </p:txBody>
      </p:sp>
      <p:pic>
        <p:nvPicPr>
          <p:cNvPr id="29" name="图片 28">
            <a:extLst>
              <a:ext uri="{FF2B5EF4-FFF2-40B4-BE49-F238E27FC236}">
                <a16:creationId xmlns:a16="http://schemas.microsoft.com/office/drawing/2014/main" id="{37E5D61F-6F79-4E2F-9F9D-F15E1537EA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6924" y="1835265"/>
            <a:ext cx="1603679" cy="1015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1790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1119701" y="800634"/>
            <a:ext cx="5512519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778620" y="397099"/>
            <a:ext cx="26926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8" name="矩形 7"/>
          <p:cNvSpPr/>
          <p:nvPr/>
        </p:nvSpPr>
        <p:spPr>
          <a:xfrm>
            <a:off x="1066359" y="397099"/>
            <a:ext cx="1682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B0EF0C2-179F-FC2F-A6E9-0401C2700DF0}"/>
              </a:ext>
            </a:extLst>
          </p:cNvPr>
          <p:cNvSpPr txBox="1"/>
          <p:nvPr/>
        </p:nvSpPr>
        <p:spPr>
          <a:xfrm>
            <a:off x="1952079" y="4903748"/>
            <a:ext cx="2025799" cy="293798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sz="1309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</a:t>
            </a:r>
            <a:r>
              <a:rPr lang="en-US" sz="1309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sz="1309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en-US" sz="1309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 </a:t>
            </a:r>
            <a:r>
              <a:rPr lang="zh-CN" altLang="en-US" sz="1309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卸货点与倾倒区域</a:t>
            </a:r>
            <a:endParaRPr sz="1309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9CB940FB-9009-8FB3-A9AE-A337FAC4C9F6}"/>
              </a:ext>
            </a:extLst>
          </p:cNvPr>
          <p:cNvSpPr txBox="1"/>
          <p:nvPr/>
        </p:nvSpPr>
        <p:spPr>
          <a:xfrm>
            <a:off x="1119701" y="345266"/>
            <a:ext cx="5738126" cy="314662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2-</a:t>
            </a:r>
            <a:r>
              <a:rPr lang="zh-CN" altLang="en-US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卸货区域识别	</a:t>
            </a:r>
          </a:p>
        </p:txBody>
      </p:sp>
      <p:pic>
        <p:nvPicPr>
          <p:cNvPr id="11" name="图片占位符 15">
            <a:extLst>
              <a:ext uri="{FF2B5EF4-FFF2-40B4-BE49-F238E27FC236}">
                <a16:creationId xmlns:a16="http://schemas.microsoft.com/office/drawing/2014/main" id="{1DC5D2F1-8F34-402B-BC1E-0DA9C5A07E4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132" r="14132"/>
          <a:stretch>
            <a:fillRect/>
          </a:stretch>
        </p:blipFill>
        <p:spPr>
          <a:xfrm>
            <a:off x="1065767" y="962278"/>
            <a:ext cx="3585472" cy="3747026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ACF9AB6C-38AD-447C-8E6F-E817813F5CC5}"/>
              </a:ext>
            </a:extLst>
          </p:cNvPr>
          <p:cNvSpPr txBox="1"/>
          <p:nvPr/>
        </p:nvSpPr>
        <p:spPr>
          <a:xfrm>
            <a:off x="5057998" y="1774627"/>
            <a:ext cx="43204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通过识别黑色，来判断是否进入卸货点。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物料倾倒区与卸货点颜色差异较大，通过黑色色块面积的大小判断是否到达物料倾倒区并执行卸货任务。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86200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1119701" y="800634"/>
            <a:ext cx="5512519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778620" y="397099"/>
            <a:ext cx="26926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8" name="矩形 7"/>
          <p:cNvSpPr/>
          <p:nvPr/>
        </p:nvSpPr>
        <p:spPr>
          <a:xfrm>
            <a:off x="1066359" y="397099"/>
            <a:ext cx="1682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9CB940FB-9009-8FB3-A9AE-A337FAC4C9F6}"/>
              </a:ext>
            </a:extLst>
          </p:cNvPr>
          <p:cNvSpPr txBox="1"/>
          <p:nvPr/>
        </p:nvSpPr>
        <p:spPr>
          <a:xfrm>
            <a:off x="1119701" y="345266"/>
            <a:ext cx="5738126" cy="314662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3-</a:t>
            </a:r>
            <a:r>
              <a:rPr lang="zh-CN" altLang="en-US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卸货区域识别	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4776D76B-F725-417A-9FAD-FEA0AF097D70}"/>
              </a:ext>
            </a:extLst>
          </p:cNvPr>
          <p:cNvGrpSpPr/>
          <p:nvPr/>
        </p:nvGrpSpPr>
        <p:grpSpPr>
          <a:xfrm>
            <a:off x="4015930" y="1524375"/>
            <a:ext cx="1602747" cy="1221298"/>
            <a:chOff x="5892266" y="2141892"/>
            <a:chExt cx="2037030" cy="1552224"/>
          </a:xfrm>
        </p:grpSpPr>
        <p:sp>
          <p:nvSpPr>
            <p:cNvPr id="9" name="文本框 47">
              <a:extLst>
                <a:ext uri="{FF2B5EF4-FFF2-40B4-BE49-F238E27FC236}">
                  <a16:creationId xmlns:a16="http://schemas.microsoft.com/office/drawing/2014/main" id="{1FFF4BEF-81C7-4398-AC67-34334FCC7DA2}"/>
                </a:ext>
              </a:extLst>
            </p:cNvPr>
            <p:cNvSpPr txBox="1"/>
            <p:nvPr/>
          </p:nvSpPr>
          <p:spPr>
            <a:xfrm>
              <a:off x="6313265" y="2141892"/>
              <a:ext cx="1616031" cy="394269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r>
                <a:rPr lang="zh-CN" altLang="en-US" sz="1416" b="1" dirty="0">
                  <a:solidFill>
                    <a:srgbClr val="66087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目标区域识别</a:t>
              </a:r>
            </a:p>
          </p:txBody>
        </p:sp>
        <p:sp>
          <p:nvSpPr>
            <p:cNvPr id="11" name="文本框 48">
              <a:extLst>
                <a:ext uri="{FF2B5EF4-FFF2-40B4-BE49-F238E27FC236}">
                  <a16:creationId xmlns:a16="http://schemas.microsoft.com/office/drawing/2014/main" id="{BE00370A-2B81-4080-9E7D-06EA6FB1BD06}"/>
                </a:ext>
              </a:extLst>
            </p:cNvPr>
            <p:cNvSpPr txBox="1"/>
            <p:nvPr/>
          </p:nvSpPr>
          <p:spPr>
            <a:xfrm>
              <a:off x="5892266" y="2482948"/>
              <a:ext cx="1944215" cy="1211168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sz="1102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颜色空间转换</a:t>
              </a:r>
            </a:p>
            <a:p>
              <a:pPr algn="ctr">
                <a:lnSpc>
                  <a:spcPct val="130000"/>
                </a:lnSpc>
              </a:pPr>
              <a:r>
                <a:rPr lang="zh-CN" altLang="en-US" sz="1102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颜色分割</a:t>
              </a:r>
            </a:p>
            <a:p>
              <a:pPr algn="ctr">
                <a:lnSpc>
                  <a:spcPct val="130000"/>
                </a:lnSpc>
              </a:pPr>
              <a:r>
                <a:rPr lang="zh-CN" altLang="en-US" sz="1102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区域过滤</a:t>
              </a:r>
            </a:p>
            <a:p>
              <a:pPr algn="ctr">
                <a:lnSpc>
                  <a:spcPct val="130000"/>
                </a:lnSpc>
              </a:pPr>
              <a:r>
                <a:rPr lang="zh-CN" altLang="en-US" sz="1102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灰度分析</a:t>
              </a:r>
            </a:p>
          </p:txBody>
        </p:sp>
      </p:grpSp>
      <p:sp>
        <p:nvSpPr>
          <p:cNvPr id="12" name="TextBox 70">
            <a:extLst>
              <a:ext uri="{FF2B5EF4-FFF2-40B4-BE49-F238E27FC236}">
                <a16:creationId xmlns:a16="http://schemas.microsoft.com/office/drawing/2014/main" id="{FDCEB7B7-4C3C-4777-9A34-D968B448E771}"/>
              </a:ext>
            </a:extLst>
          </p:cNvPr>
          <p:cNvSpPr txBox="1"/>
          <p:nvPr/>
        </p:nvSpPr>
        <p:spPr>
          <a:xfrm>
            <a:off x="1768285" y="3494331"/>
            <a:ext cx="6723442" cy="1497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具体采用基于HSV颜色空间的黑色区域检测算法。通过设定黑色的HSV阈值，并结合区域面积和位置验证，确保识别结果的准确性。此外，通过灰度分析进一步确认目标区域，确保机器人能够准确执行卸货任务。</a:t>
            </a: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3BFD6D1-E5CD-45BC-B1F4-692F0182F974}"/>
              </a:ext>
            </a:extLst>
          </p:cNvPr>
          <p:cNvGrpSpPr/>
          <p:nvPr/>
        </p:nvGrpSpPr>
        <p:grpSpPr>
          <a:xfrm>
            <a:off x="5424523" y="1330423"/>
            <a:ext cx="906501" cy="1529720"/>
            <a:chOff x="7682535" y="1895388"/>
            <a:chExt cx="1152128" cy="1944216"/>
          </a:xfrm>
        </p:grpSpPr>
        <p:sp>
          <p:nvSpPr>
            <p:cNvPr id="14" name="燕尾形 43">
              <a:extLst>
                <a:ext uri="{FF2B5EF4-FFF2-40B4-BE49-F238E27FC236}">
                  <a16:creationId xmlns:a16="http://schemas.microsoft.com/office/drawing/2014/main" id="{DE4D1609-C628-40DB-B8A5-32FD206E7D3F}"/>
                </a:ext>
              </a:extLst>
            </p:cNvPr>
            <p:cNvSpPr/>
            <p:nvPr/>
          </p:nvSpPr>
          <p:spPr>
            <a:xfrm>
              <a:off x="7682535" y="1895388"/>
              <a:ext cx="1152128" cy="1944216"/>
            </a:xfrm>
            <a:prstGeom prst="chevron">
              <a:avLst/>
            </a:prstGeom>
            <a:solidFill>
              <a:srgbClr val="660874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16">
                <a:solidFill>
                  <a:srgbClr val="0070C0"/>
                </a:solidFill>
              </a:endParaRPr>
            </a:p>
          </p:txBody>
        </p:sp>
        <p:grpSp>
          <p:nvGrpSpPr>
            <p:cNvPr id="15" name="组合 14">
              <a:extLst>
                <a:ext uri="{FF2B5EF4-FFF2-40B4-BE49-F238E27FC236}">
                  <a16:creationId xmlns:a16="http://schemas.microsoft.com/office/drawing/2014/main" id="{4A45E056-2BCB-40BF-871B-EDC0E62D6B8D}"/>
                </a:ext>
              </a:extLst>
            </p:cNvPr>
            <p:cNvGrpSpPr/>
            <p:nvPr/>
          </p:nvGrpSpPr>
          <p:grpSpPr>
            <a:xfrm>
              <a:off x="7868079" y="2507456"/>
              <a:ext cx="720080" cy="720080"/>
              <a:chOff x="7868079" y="2507456"/>
              <a:chExt cx="720080" cy="720080"/>
            </a:xfrm>
          </p:grpSpPr>
          <p:sp>
            <p:nvSpPr>
              <p:cNvPr id="16" name="椭圆 15">
                <a:extLst>
                  <a:ext uri="{FF2B5EF4-FFF2-40B4-BE49-F238E27FC236}">
                    <a16:creationId xmlns:a16="http://schemas.microsoft.com/office/drawing/2014/main" id="{5CC867F1-7BF2-4E37-BBE1-3E2E40D8901E}"/>
                  </a:ext>
                </a:extLst>
              </p:cNvPr>
              <p:cNvSpPr/>
              <p:nvPr/>
            </p:nvSpPr>
            <p:spPr>
              <a:xfrm>
                <a:off x="7868079" y="2507456"/>
                <a:ext cx="720080" cy="720080"/>
              </a:xfrm>
              <a:prstGeom prst="ellipse">
                <a:avLst/>
              </a:prstGeom>
              <a:solidFill>
                <a:schemeClr val="bg1"/>
              </a:solidFill>
              <a:ln w="57150">
                <a:solidFill>
                  <a:srgbClr val="660874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16">
                  <a:solidFill>
                    <a:srgbClr val="0070C0"/>
                  </a:solidFill>
                </a:endParaRPr>
              </a:p>
            </p:txBody>
          </p:sp>
          <p:sp>
            <p:nvSpPr>
              <p:cNvPr id="17" name="Freeform 30">
                <a:extLst>
                  <a:ext uri="{FF2B5EF4-FFF2-40B4-BE49-F238E27FC236}">
                    <a16:creationId xmlns:a16="http://schemas.microsoft.com/office/drawing/2014/main" id="{16989DD3-5675-449B-AFC8-1947641E1B49}"/>
                  </a:ext>
                </a:extLst>
              </p:cNvPr>
              <p:cNvSpPr>
                <a:spLocks noEditPoints="1" noChangeArrowheads="1"/>
              </p:cNvSpPr>
              <p:nvPr/>
            </p:nvSpPr>
            <p:spPr bwMode="auto">
              <a:xfrm>
                <a:off x="8053898" y="2643796"/>
                <a:ext cx="353075" cy="464104"/>
              </a:xfrm>
              <a:custGeom>
                <a:avLst/>
                <a:gdLst>
                  <a:gd name="T0" fmla="*/ 60 w 74"/>
                  <a:gd name="T1" fmla="*/ 0 h 97"/>
                  <a:gd name="T2" fmla="*/ 72 w 74"/>
                  <a:gd name="T3" fmla="*/ 11 h 97"/>
                  <a:gd name="T4" fmla="*/ 70 w 74"/>
                  <a:gd name="T5" fmla="*/ 52 h 97"/>
                  <a:gd name="T6" fmla="*/ 63 w 74"/>
                  <a:gd name="T7" fmla="*/ 11 h 97"/>
                  <a:gd name="T8" fmla="*/ 60 w 74"/>
                  <a:gd name="T9" fmla="*/ 8 h 97"/>
                  <a:gd name="T10" fmla="*/ 26 w 74"/>
                  <a:gd name="T11" fmla="*/ 11 h 97"/>
                  <a:gd name="T12" fmla="*/ 26 w 74"/>
                  <a:gd name="T13" fmla="*/ 18 h 97"/>
                  <a:gd name="T14" fmla="*/ 19 w 74"/>
                  <a:gd name="T15" fmla="*/ 24 h 97"/>
                  <a:gd name="T16" fmla="*/ 12 w 74"/>
                  <a:gd name="T17" fmla="*/ 24 h 97"/>
                  <a:gd name="T18" fmla="*/ 8 w 74"/>
                  <a:gd name="T19" fmla="*/ 79 h 97"/>
                  <a:gd name="T20" fmla="*/ 9 w 74"/>
                  <a:gd name="T21" fmla="*/ 81 h 97"/>
                  <a:gd name="T22" fmla="*/ 28 w 74"/>
                  <a:gd name="T23" fmla="*/ 82 h 97"/>
                  <a:gd name="T24" fmla="*/ 37 w 74"/>
                  <a:gd name="T25" fmla="*/ 90 h 97"/>
                  <a:gd name="T26" fmla="*/ 3 w 74"/>
                  <a:gd name="T27" fmla="*/ 87 h 97"/>
                  <a:gd name="T28" fmla="*/ 3 w 74"/>
                  <a:gd name="T29" fmla="*/ 87 h 97"/>
                  <a:gd name="T30" fmla="*/ 0 w 74"/>
                  <a:gd name="T31" fmla="*/ 20 h 97"/>
                  <a:gd name="T32" fmla="*/ 1 w 74"/>
                  <a:gd name="T33" fmla="*/ 17 h 97"/>
                  <a:gd name="T34" fmla="*/ 19 w 74"/>
                  <a:gd name="T35" fmla="*/ 0 h 97"/>
                  <a:gd name="T36" fmla="*/ 17 w 74"/>
                  <a:gd name="T37" fmla="*/ 52 h 97"/>
                  <a:gd name="T38" fmla="*/ 27 w 74"/>
                  <a:gd name="T39" fmla="*/ 56 h 97"/>
                  <a:gd name="T40" fmla="*/ 17 w 74"/>
                  <a:gd name="T41" fmla="*/ 52 h 97"/>
                  <a:gd name="T42" fmla="*/ 17 w 74"/>
                  <a:gd name="T43" fmla="*/ 44 h 97"/>
                  <a:gd name="T44" fmla="*/ 56 w 74"/>
                  <a:gd name="T45" fmla="*/ 40 h 97"/>
                  <a:gd name="T46" fmla="*/ 17 w 74"/>
                  <a:gd name="T47" fmla="*/ 28 h 97"/>
                  <a:gd name="T48" fmla="*/ 56 w 74"/>
                  <a:gd name="T49" fmla="*/ 33 h 97"/>
                  <a:gd name="T50" fmla="*/ 17 w 74"/>
                  <a:gd name="T51" fmla="*/ 28 h 97"/>
                  <a:gd name="T52" fmla="*/ 34 w 74"/>
                  <a:gd name="T53" fmla="*/ 22 h 97"/>
                  <a:gd name="T54" fmla="*/ 56 w 74"/>
                  <a:gd name="T55" fmla="*/ 17 h 97"/>
                  <a:gd name="T56" fmla="*/ 41 w 74"/>
                  <a:gd name="T57" fmla="*/ 69 h 97"/>
                  <a:gd name="T58" fmla="*/ 41 w 74"/>
                  <a:gd name="T59" fmla="*/ 69 h 97"/>
                  <a:gd name="T60" fmla="*/ 31 w 74"/>
                  <a:gd name="T61" fmla="*/ 66 h 97"/>
                  <a:gd name="T62" fmla="*/ 47 w 74"/>
                  <a:gd name="T63" fmla="*/ 86 h 97"/>
                  <a:gd name="T64" fmla="*/ 59 w 74"/>
                  <a:gd name="T65" fmla="*/ 87 h 97"/>
                  <a:gd name="T66" fmla="*/ 71 w 74"/>
                  <a:gd name="T67" fmla="*/ 96 h 97"/>
                  <a:gd name="T68" fmla="*/ 72 w 74"/>
                  <a:gd name="T69" fmla="*/ 90 h 97"/>
                  <a:gd name="T70" fmla="*/ 63 w 74"/>
                  <a:gd name="T71" fmla="*/ 80 h 97"/>
                  <a:gd name="T72" fmla="*/ 64 w 74"/>
                  <a:gd name="T73" fmla="*/ 57 h 97"/>
                  <a:gd name="T74" fmla="*/ 38 w 74"/>
                  <a:gd name="T75" fmla="*/ 54 h 97"/>
                  <a:gd name="T76" fmla="*/ 42 w 74"/>
                  <a:gd name="T77" fmla="*/ 58 h 97"/>
                  <a:gd name="T78" fmla="*/ 40 w 74"/>
                  <a:gd name="T79" fmla="*/ 76 h 97"/>
                  <a:gd name="T80" fmla="*/ 57 w 74"/>
                  <a:gd name="T81" fmla="*/ 78 h 97"/>
                  <a:gd name="T82" fmla="*/ 59 w 74"/>
                  <a:gd name="T83" fmla="*/ 61 h 97"/>
                  <a:gd name="T84" fmla="*/ 21 w 74"/>
                  <a:gd name="T85" fmla="*/ 9 h 97"/>
                  <a:gd name="T86" fmla="*/ 13 w 74"/>
                  <a:gd name="T87" fmla="*/ 19 h 97"/>
                  <a:gd name="T88" fmla="*/ 17 w 74"/>
                  <a:gd name="T89" fmla="*/ 20 h 97"/>
                  <a:gd name="T90" fmla="*/ 18 w 74"/>
                  <a:gd name="T91" fmla="*/ 20 h 97"/>
                  <a:gd name="T92" fmla="*/ 22 w 74"/>
                  <a:gd name="T93" fmla="*/ 17 h 97"/>
                  <a:gd name="T94" fmla="*/ 22 w 74"/>
                  <a:gd name="T95" fmla="*/ 15 h 97"/>
                  <a:gd name="T96" fmla="*/ 21 w 74"/>
                  <a:gd name="T97" fmla="*/ 11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74" h="97">
                    <a:moveTo>
                      <a:pt x="21" y="0"/>
                    </a:moveTo>
                    <a:cubicBezTo>
                      <a:pt x="60" y="0"/>
                      <a:pt x="60" y="0"/>
                      <a:pt x="60" y="0"/>
                    </a:cubicBezTo>
                    <a:cubicBezTo>
                      <a:pt x="64" y="0"/>
                      <a:pt x="66" y="1"/>
                      <a:pt x="68" y="3"/>
                    </a:cubicBezTo>
                    <a:cubicBezTo>
                      <a:pt x="70" y="5"/>
                      <a:pt x="72" y="8"/>
                      <a:pt x="72" y="11"/>
                    </a:cubicBezTo>
                    <a:cubicBezTo>
                      <a:pt x="72" y="56"/>
                      <a:pt x="72" y="56"/>
                      <a:pt x="72" y="56"/>
                    </a:cubicBezTo>
                    <a:cubicBezTo>
                      <a:pt x="71" y="55"/>
                      <a:pt x="70" y="53"/>
                      <a:pt x="70" y="52"/>
                    </a:cubicBezTo>
                    <a:cubicBezTo>
                      <a:pt x="68" y="50"/>
                      <a:pt x="66" y="48"/>
                      <a:pt x="63" y="47"/>
                    </a:cubicBezTo>
                    <a:cubicBezTo>
                      <a:pt x="63" y="11"/>
                      <a:pt x="63" y="11"/>
                      <a:pt x="63" y="11"/>
                    </a:cubicBezTo>
                    <a:cubicBezTo>
                      <a:pt x="63" y="10"/>
                      <a:pt x="63" y="9"/>
                      <a:pt x="62" y="9"/>
                    </a:cubicBezTo>
                    <a:cubicBezTo>
                      <a:pt x="62" y="8"/>
                      <a:pt x="61" y="8"/>
                      <a:pt x="60" y="8"/>
                    </a:cubicBezTo>
                    <a:cubicBezTo>
                      <a:pt x="25" y="8"/>
                      <a:pt x="25" y="8"/>
                      <a:pt x="25" y="8"/>
                    </a:cubicBezTo>
                    <a:cubicBezTo>
                      <a:pt x="26" y="11"/>
                      <a:pt x="26" y="11"/>
                      <a:pt x="26" y="11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6" y="16"/>
                      <a:pt x="26" y="17"/>
                      <a:pt x="26" y="18"/>
                    </a:cubicBezTo>
                    <a:cubicBezTo>
                      <a:pt x="26" y="19"/>
                      <a:pt x="25" y="21"/>
                      <a:pt x="23" y="22"/>
                    </a:cubicBezTo>
                    <a:cubicBezTo>
                      <a:pt x="22" y="23"/>
                      <a:pt x="21" y="24"/>
                      <a:pt x="19" y="24"/>
                    </a:cubicBezTo>
                    <a:cubicBezTo>
                      <a:pt x="18" y="24"/>
                      <a:pt x="17" y="24"/>
                      <a:pt x="16" y="24"/>
                    </a:cubicBezTo>
                    <a:cubicBezTo>
                      <a:pt x="12" y="24"/>
                      <a:pt x="12" y="24"/>
                      <a:pt x="12" y="24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8" y="79"/>
                      <a:pt x="8" y="79"/>
                      <a:pt x="8" y="79"/>
                    </a:cubicBezTo>
                    <a:cubicBezTo>
                      <a:pt x="8" y="80"/>
                      <a:pt x="9" y="80"/>
                      <a:pt x="9" y="81"/>
                    </a:cubicBezTo>
                    <a:cubicBezTo>
                      <a:pt x="9" y="81"/>
                      <a:pt x="9" y="81"/>
                      <a:pt x="9" y="81"/>
                    </a:cubicBezTo>
                    <a:cubicBezTo>
                      <a:pt x="10" y="81"/>
                      <a:pt x="10" y="82"/>
                      <a:pt x="11" y="82"/>
                    </a:cubicBezTo>
                    <a:cubicBezTo>
                      <a:pt x="28" y="82"/>
                      <a:pt x="28" y="82"/>
                      <a:pt x="28" y="82"/>
                    </a:cubicBezTo>
                    <a:cubicBezTo>
                      <a:pt x="28" y="82"/>
                      <a:pt x="29" y="83"/>
                      <a:pt x="29" y="84"/>
                    </a:cubicBezTo>
                    <a:cubicBezTo>
                      <a:pt x="31" y="86"/>
                      <a:pt x="34" y="88"/>
                      <a:pt x="37" y="90"/>
                    </a:cubicBezTo>
                    <a:cubicBezTo>
                      <a:pt x="11" y="90"/>
                      <a:pt x="11" y="90"/>
                      <a:pt x="11" y="90"/>
                    </a:cubicBezTo>
                    <a:cubicBezTo>
                      <a:pt x="8" y="90"/>
                      <a:pt x="5" y="89"/>
                      <a:pt x="3" y="87"/>
                    </a:cubicBezTo>
                    <a:cubicBezTo>
                      <a:pt x="3" y="87"/>
                      <a:pt x="3" y="87"/>
                      <a:pt x="3" y="87"/>
                    </a:cubicBezTo>
                    <a:cubicBezTo>
                      <a:pt x="3" y="87"/>
                      <a:pt x="3" y="87"/>
                      <a:pt x="3" y="87"/>
                    </a:cubicBezTo>
                    <a:cubicBezTo>
                      <a:pt x="1" y="85"/>
                      <a:pt x="0" y="82"/>
                      <a:pt x="0" y="79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0" y="18"/>
                      <a:pt x="0" y="18"/>
                      <a:pt x="0" y="18"/>
                    </a:cubicBezTo>
                    <a:cubicBezTo>
                      <a:pt x="1" y="17"/>
                      <a:pt x="1" y="17"/>
                      <a:pt x="1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21" y="0"/>
                      <a:pt x="21" y="0"/>
                      <a:pt x="21" y="0"/>
                    </a:cubicBezTo>
                    <a:close/>
                    <a:moveTo>
                      <a:pt x="17" y="52"/>
                    </a:moveTo>
                    <a:cubicBezTo>
                      <a:pt x="17" y="56"/>
                      <a:pt x="17" y="56"/>
                      <a:pt x="17" y="56"/>
                    </a:cubicBezTo>
                    <a:cubicBezTo>
                      <a:pt x="27" y="56"/>
                      <a:pt x="27" y="56"/>
                      <a:pt x="27" y="56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17" y="52"/>
                      <a:pt x="17" y="52"/>
                      <a:pt x="17" y="52"/>
                    </a:cubicBezTo>
                    <a:close/>
                    <a:moveTo>
                      <a:pt x="17" y="40"/>
                    </a:moveTo>
                    <a:cubicBezTo>
                      <a:pt x="17" y="44"/>
                      <a:pt x="17" y="44"/>
                      <a:pt x="17" y="44"/>
                    </a:cubicBezTo>
                    <a:cubicBezTo>
                      <a:pt x="56" y="44"/>
                      <a:pt x="56" y="44"/>
                      <a:pt x="56" y="44"/>
                    </a:cubicBezTo>
                    <a:cubicBezTo>
                      <a:pt x="56" y="40"/>
                      <a:pt x="56" y="40"/>
                      <a:pt x="56" y="40"/>
                    </a:cubicBezTo>
                    <a:cubicBezTo>
                      <a:pt x="17" y="40"/>
                      <a:pt x="17" y="40"/>
                      <a:pt x="17" y="40"/>
                    </a:cubicBezTo>
                    <a:close/>
                    <a:moveTo>
                      <a:pt x="17" y="28"/>
                    </a:moveTo>
                    <a:cubicBezTo>
                      <a:pt x="17" y="33"/>
                      <a:pt x="17" y="33"/>
                      <a:pt x="17" y="33"/>
                    </a:cubicBezTo>
                    <a:cubicBezTo>
                      <a:pt x="56" y="33"/>
                      <a:pt x="56" y="33"/>
                      <a:pt x="56" y="33"/>
                    </a:cubicBezTo>
                    <a:cubicBezTo>
                      <a:pt x="56" y="28"/>
                      <a:pt x="56" y="28"/>
                      <a:pt x="56" y="28"/>
                    </a:cubicBezTo>
                    <a:cubicBezTo>
                      <a:pt x="17" y="28"/>
                      <a:pt x="17" y="28"/>
                      <a:pt x="17" y="28"/>
                    </a:cubicBezTo>
                    <a:close/>
                    <a:moveTo>
                      <a:pt x="34" y="17"/>
                    </a:moveTo>
                    <a:cubicBezTo>
                      <a:pt x="34" y="22"/>
                      <a:pt x="34" y="22"/>
                      <a:pt x="34" y="22"/>
                    </a:cubicBezTo>
                    <a:cubicBezTo>
                      <a:pt x="56" y="22"/>
                      <a:pt x="56" y="22"/>
                      <a:pt x="56" y="22"/>
                    </a:cubicBezTo>
                    <a:cubicBezTo>
                      <a:pt x="56" y="17"/>
                      <a:pt x="56" y="17"/>
                      <a:pt x="56" y="17"/>
                    </a:cubicBezTo>
                    <a:cubicBezTo>
                      <a:pt x="34" y="17"/>
                      <a:pt x="34" y="17"/>
                      <a:pt x="34" y="17"/>
                    </a:cubicBezTo>
                    <a:close/>
                    <a:moveTo>
                      <a:pt x="41" y="69"/>
                    </a:moveTo>
                    <a:cubicBezTo>
                      <a:pt x="43" y="64"/>
                      <a:pt x="48" y="61"/>
                      <a:pt x="55" y="60"/>
                    </a:cubicBezTo>
                    <a:cubicBezTo>
                      <a:pt x="48" y="56"/>
                      <a:pt x="39" y="62"/>
                      <a:pt x="41" y="69"/>
                    </a:cubicBezTo>
                    <a:close/>
                    <a:moveTo>
                      <a:pt x="38" y="54"/>
                    </a:moveTo>
                    <a:cubicBezTo>
                      <a:pt x="34" y="57"/>
                      <a:pt x="32" y="61"/>
                      <a:pt x="31" y="66"/>
                    </a:cubicBezTo>
                    <a:cubicBezTo>
                      <a:pt x="31" y="70"/>
                      <a:pt x="32" y="75"/>
                      <a:pt x="35" y="79"/>
                    </a:cubicBezTo>
                    <a:cubicBezTo>
                      <a:pt x="38" y="83"/>
                      <a:pt x="43" y="86"/>
                      <a:pt x="47" y="86"/>
                    </a:cubicBezTo>
                    <a:cubicBezTo>
                      <a:pt x="51" y="87"/>
                      <a:pt x="55" y="86"/>
                      <a:pt x="58" y="84"/>
                    </a:cubicBezTo>
                    <a:cubicBezTo>
                      <a:pt x="58" y="85"/>
                      <a:pt x="58" y="86"/>
                      <a:pt x="59" y="87"/>
                    </a:cubicBezTo>
                    <a:cubicBezTo>
                      <a:pt x="65" y="95"/>
                      <a:pt x="65" y="95"/>
                      <a:pt x="65" y="95"/>
                    </a:cubicBezTo>
                    <a:cubicBezTo>
                      <a:pt x="67" y="97"/>
                      <a:pt x="69" y="97"/>
                      <a:pt x="71" y="96"/>
                    </a:cubicBezTo>
                    <a:cubicBezTo>
                      <a:pt x="71" y="96"/>
                      <a:pt x="71" y="96"/>
                      <a:pt x="71" y="96"/>
                    </a:cubicBezTo>
                    <a:cubicBezTo>
                      <a:pt x="73" y="94"/>
                      <a:pt x="74" y="91"/>
                      <a:pt x="72" y="90"/>
                    </a:cubicBezTo>
                    <a:cubicBezTo>
                      <a:pt x="66" y="82"/>
                      <a:pt x="66" y="82"/>
                      <a:pt x="66" y="82"/>
                    </a:cubicBezTo>
                    <a:cubicBezTo>
                      <a:pt x="65" y="81"/>
                      <a:pt x="64" y="80"/>
                      <a:pt x="63" y="80"/>
                    </a:cubicBezTo>
                    <a:cubicBezTo>
                      <a:pt x="66" y="77"/>
                      <a:pt x="67" y="74"/>
                      <a:pt x="68" y="70"/>
                    </a:cubicBezTo>
                    <a:cubicBezTo>
                      <a:pt x="68" y="66"/>
                      <a:pt x="67" y="61"/>
                      <a:pt x="64" y="57"/>
                    </a:cubicBezTo>
                    <a:cubicBezTo>
                      <a:pt x="61" y="53"/>
                      <a:pt x="56" y="50"/>
                      <a:pt x="52" y="50"/>
                    </a:cubicBezTo>
                    <a:cubicBezTo>
                      <a:pt x="47" y="49"/>
                      <a:pt x="42" y="50"/>
                      <a:pt x="38" y="54"/>
                    </a:cubicBezTo>
                    <a:close/>
                    <a:moveTo>
                      <a:pt x="51" y="56"/>
                    </a:moveTo>
                    <a:cubicBezTo>
                      <a:pt x="48" y="56"/>
                      <a:pt x="45" y="56"/>
                      <a:pt x="42" y="58"/>
                    </a:cubicBezTo>
                    <a:cubicBezTo>
                      <a:pt x="39" y="61"/>
                      <a:pt x="38" y="63"/>
                      <a:pt x="37" y="67"/>
                    </a:cubicBezTo>
                    <a:cubicBezTo>
                      <a:pt x="37" y="70"/>
                      <a:pt x="38" y="73"/>
                      <a:pt x="40" y="76"/>
                    </a:cubicBezTo>
                    <a:cubicBezTo>
                      <a:pt x="42" y="78"/>
                      <a:pt x="45" y="80"/>
                      <a:pt x="48" y="80"/>
                    </a:cubicBezTo>
                    <a:cubicBezTo>
                      <a:pt x="51" y="80"/>
                      <a:pt x="54" y="80"/>
                      <a:pt x="57" y="78"/>
                    </a:cubicBezTo>
                    <a:cubicBezTo>
                      <a:pt x="60" y="76"/>
                      <a:pt x="61" y="73"/>
                      <a:pt x="61" y="69"/>
                    </a:cubicBezTo>
                    <a:cubicBezTo>
                      <a:pt x="62" y="66"/>
                      <a:pt x="61" y="63"/>
                      <a:pt x="59" y="61"/>
                    </a:cubicBezTo>
                    <a:cubicBezTo>
                      <a:pt x="57" y="58"/>
                      <a:pt x="54" y="56"/>
                      <a:pt x="51" y="56"/>
                    </a:cubicBezTo>
                    <a:close/>
                    <a:moveTo>
                      <a:pt x="21" y="9"/>
                    </a:moveTo>
                    <a:cubicBezTo>
                      <a:pt x="11" y="19"/>
                      <a:pt x="11" y="19"/>
                      <a:pt x="11" y="19"/>
                    </a:cubicBezTo>
                    <a:cubicBezTo>
                      <a:pt x="13" y="19"/>
                      <a:pt x="13" y="19"/>
                      <a:pt x="13" y="19"/>
                    </a:cubicBezTo>
                    <a:cubicBezTo>
                      <a:pt x="17" y="20"/>
                      <a:pt x="17" y="20"/>
                      <a:pt x="17" y="20"/>
                    </a:cubicBezTo>
                    <a:cubicBezTo>
                      <a:pt x="17" y="20"/>
                      <a:pt x="17" y="20"/>
                      <a:pt x="17" y="20"/>
                    </a:cubicBezTo>
                    <a:cubicBezTo>
                      <a:pt x="17" y="20"/>
                      <a:pt x="17" y="20"/>
                      <a:pt x="17" y="20"/>
                    </a:cubicBezTo>
                    <a:cubicBezTo>
                      <a:pt x="17" y="20"/>
                      <a:pt x="18" y="20"/>
                      <a:pt x="18" y="20"/>
                    </a:cubicBezTo>
                    <a:cubicBezTo>
                      <a:pt x="19" y="20"/>
                      <a:pt x="20" y="19"/>
                      <a:pt x="21" y="19"/>
                    </a:cubicBezTo>
                    <a:cubicBezTo>
                      <a:pt x="21" y="18"/>
                      <a:pt x="22" y="17"/>
                      <a:pt x="22" y="17"/>
                    </a:cubicBezTo>
                    <a:cubicBezTo>
                      <a:pt x="22" y="16"/>
                      <a:pt x="22" y="16"/>
                      <a:pt x="22" y="15"/>
                    </a:cubicBezTo>
                    <a:cubicBezTo>
                      <a:pt x="22" y="15"/>
                      <a:pt x="22" y="15"/>
                      <a:pt x="22" y="15"/>
                    </a:cubicBezTo>
                    <a:cubicBezTo>
                      <a:pt x="22" y="15"/>
                      <a:pt x="22" y="15"/>
                      <a:pt x="22" y="15"/>
                    </a:cubicBezTo>
                    <a:cubicBezTo>
                      <a:pt x="21" y="11"/>
                      <a:pt x="21" y="11"/>
                      <a:pt x="21" y="11"/>
                    </a:cubicBezTo>
                    <a:lnTo>
                      <a:pt x="21" y="9"/>
                    </a:lnTo>
                    <a:close/>
                  </a:path>
                </a:pathLst>
              </a:custGeom>
              <a:solidFill>
                <a:srgbClr val="660874"/>
              </a:solidFill>
              <a:ln>
                <a:noFill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itchFamily="2" charset="-122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itchFamily="2" charset="-122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itchFamily="2" charset="-122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itchFamily="2" charset="-122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itchFamily="2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itchFamily="2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itchFamily="2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itchFamily="2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itchFamily="2" charset="-122"/>
                  </a:defRPr>
                </a:lvl9pPr>
              </a:lstStyle>
              <a:p>
                <a:endParaRPr lang="zh-CN" altLang="en-US" sz="1416"/>
              </a:p>
            </p:txBody>
          </p:sp>
        </p:grpSp>
      </p:grpSp>
      <p:pic>
        <p:nvPicPr>
          <p:cNvPr id="19" name="Picture 11">
            <a:extLst>
              <a:ext uri="{FF2B5EF4-FFF2-40B4-BE49-F238E27FC236}">
                <a16:creationId xmlns:a16="http://schemas.microsoft.com/office/drawing/2014/main" id="{F76BE993-2E1D-469E-9B65-0BF6A53328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395" y="723951"/>
            <a:ext cx="3324981" cy="2553066"/>
          </a:xfrm>
          <a:prstGeom prst="rect">
            <a:avLst/>
          </a:prstGeom>
        </p:spPr>
      </p:pic>
      <p:pic>
        <p:nvPicPr>
          <p:cNvPr id="20" name="Picture 12">
            <a:extLst>
              <a:ext uri="{FF2B5EF4-FFF2-40B4-BE49-F238E27FC236}">
                <a16:creationId xmlns:a16="http://schemas.microsoft.com/office/drawing/2014/main" id="{A2A943D5-2634-4068-BB73-79C5C61C9A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0029" y="726450"/>
            <a:ext cx="3379440" cy="254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0952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1119701" y="800634"/>
            <a:ext cx="5512519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778620" y="397099"/>
            <a:ext cx="26926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8" name="矩形 7"/>
          <p:cNvSpPr/>
          <p:nvPr/>
        </p:nvSpPr>
        <p:spPr>
          <a:xfrm>
            <a:off x="1066359" y="397099"/>
            <a:ext cx="1682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9CB940FB-9009-8FB3-A9AE-A337FAC4C9F6}"/>
              </a:ext>
            </a:extLst>
          </p:cNvPr>
          <p:cNvSpPr txBox="1"/>
          <p:nvPr/>
        </p:nvSpPr>
        <p:spPr>
          <a:xfrm>
            <a:off x="1119701" y="345266"/>
            <a:ext cx="5738126" cy="314662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3-</a:t>
            </a:r>
            <a:r>
              <a:rPr lang="zh-CN" altLang="en-US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机器人运动控制	</a:t>
            </a:r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A3591E0F-D8AB-49CD-8CD2-3FC27DF03B1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3768" y="2059580"/>
            <a:ext cx="1603679" cy="1122770"/>
          </a:xfrm>
          <a:prstGeom prst="rect">
            <a:avLst/>
          </a:prstGeom>
        </p:spPr>
      </p:pic>
      <p:sp>
        <p:nvSpPr>
          <p:cNvPr id="25" name="文本框 24">
            <a:extLst>
              <a:ext uri="{FF2B5EF4-FFF2-40B4-BE49-F238E27FC236}">
                <a16:creationId xmlns:a16="http://schemas.microsoft.com/office/drawing/2014/main" id="{9AF6099E-E4FC-4A64-9EDE-9F87DA038E8E}"/>
              </a:ext>
            </a:extLst>
          </p:cNvPr>
          <p:cNvSpPr txBox="1"/>
          <p:nvPr/>
        </p:nvSpPr>
        <p:spPr>
          <a:xfrm>
            <a:off x="3837505" y="985293"/>
            <a:ext cx="12740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动作控制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D8A752F9-AD0F-4C57-9E57-D81E65C48664}"/>
              </a:ext>
            </a:extLst>
          </p:cNvPr>
          <p:cNvSpPr txBox="1"/>
          <p:nvPr/>
        </p:nvSpPr>
        <p:spPr>
          <a:xfrm>
            <a:off x="2537718" y="3846071"/>
            <a:ext cx="5040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卸货完毕后，让机器人重新站起，继续执行任务</a:t>
            </a:r>
            <a:r>
              <a:rPr lang="zh-CN" altLang="en-US" dirty="0"/>
              <a:t>。</a:t>
            </a:r>
          </a:p>
        </p:txBody>
      </p:sp>
      <p:sp>
        <p:nvSpPr>
          <p:cNvPr id="11" name="箭头: 右 10">
            <a:extLst>
              <a:ext uri="{FF2B5EF4-FFF2-40B4-BE49-F238E27FC236}">
                <a16:creationId xmlns:a16="http://schemas.microsoft.com/office/drawing/2014/main" id="{898D8E60-E871-44EB-8A15-E130B27DE9E2}"/>
              </a:ext>
            </a:extLst>
          </p:cNvPr>
          <p:cNvSpPr/>
          <p:nvPr/>
        </p:nvSpPr>
        <p:spPr>
          <a:xfrm rot="5400000">
            <a:off x="4266080" y="3254932"/>
            <a:ext cx="587555" cy="170703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950D810-E862-4B11-9D3A-FF75280A7B1B}"/>
              </a:ext>
            </a:extLst>
          </p:cNvPr>
          <p:cNvSpPr txBox="1"/>
          <p:nvPr/>
        </p:nvSpPr>
        <p:spPr>
          <a:xfrm>
            <a:off x="2825750" y="2297800"/>
            <a:ext cx="49980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通过执行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GO2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坐下动作，降低物料下降高度，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使卸货更加稳定。</a:t>
            </a:r>
          </a:p>
        </p:txBody>
      </p:sp>
      <p:sp>
        <p:nvSpPr>
          <p:cNvPr id="13" name="箭头: 右 12">
            <a:extLst>
              <a:ext uri="{FF2B5EF4-FFF2-40B4-BE49-F238E27FC236}">
                <a16:creationId xmlns:a16="http://schemas.microsoft.com/office/drawing/2014/main" id="{2D1D3C4D-0C50-44E4-80B2-3294665788C4}"/>
              </a:ext>
            </a:extLst>
          </p:cNvPr>
          <p:cNvSpPr/>
          <p:nvPr/>
        </p:nvSpPr>
        <p:spPr>
          <a:xfrm rot="5400000">
            <a:off x="4266080" y="1802841"/>
            <a:ext cx="587555" cy="170703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96214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1119701" y="800634"/>
            <a:ext cx="5512519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778620" y="397099"/>
            <a:ext cx="26926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8" name="矩形 7"/>
          <p:cNvSpPr/>
          <p:nvPr/>
        </p:nvSpPr>
        <p:spPr>
          <a:xfrm>
            <a:off x="1066359" y="397099"/>
            <a:ext cx="1682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9CB940FB-9009-8FB3-A9AE-A337FAC4C9F6}"/>
              </a:ext>
            </a:extLst>
          </p:cNvPr>
          <p:cNvSpPr txBox="1"/>
          <p:nvPr/>
        </p:nvSpPr>
        <p:spPr>
          <a:xfrm>
            <a:off x="1119701" y="345266"/>
            <a:ext cx="5738126" cy="314662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3-</a:t>
            </a:r>
            <a:r>
              <a:rPr lang="zh-CN" altLang="en-US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机器人运动控制	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16121CD7-298C-4AFA-BA59-5B424B3E58E3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9666" y="1024672"/>
            <a:ext cx="6120680" cy="36003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586775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 shape"/>
          <p:cNvSpPr/>
          <p:nvPr/>
        </p:nvSpPr>
        <p:spPr>
          <a:xfrm>
            <a:off x="814990" y="2111127"/>
            <a:ext cx="8684794" cy="8615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sz="3777" b="1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谢 谢 大 家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SLIDE_THEME_COLOR" val="true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707</TotalTime>
  <Words>292</Words>
  <Application>Microsoft Office PowerPoint</Application>
  <PresentationFormat>自定义</PresentationFormat>
  <Paragraphs>34</Paragraphs>
  <Slides>9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9</vt:i4>
      </vt:variant>
    </vt:vector>
  </HeadingPairs>
  <TitlesOfParts>
    <vt:vector size="15" baseType="lpstr">
      <vt:lpstr>微软雅黑</vt:lpstr>
      <vt:lpstr>新宋体</vt:lpstr>
      <vt:lpstr>Arial</vt:lpstr>
      <vt:lpstr>Calibri</vt:lpstr>
      <vt:lpstr>Office 主题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Windows 用户</dc:creator>
  <cp:lastModifiedBy>秉昊 吴</cp:lastModifiedBy>
  <cp:revision>307</cp:revision>
  <dcterms:created xsi:type="dcterms:W3CDTF">2016-04-25T01:13:00Z</dcterms:created>
  <dcterms:modified xsi:type="dcterms:W3CDTF">2024-11-04T09:52:04Z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2052-10.1.0.7578</vt:lpwstr>
  </property>
</Properties>
</file>