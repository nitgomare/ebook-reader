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0"/>
  </p:notesMasterIdLst>
  <p:sldIdLst>
    <p:sldId id="11090117" r:id="rId3"/>
    <p:sldId id="272" r:id="rId4"/>
    <p:sldId id="11090145" r:id="rId5"/>
    <p:sldId id="11090146" r:id="rId6"/>
    <p:sldId id="11090147" r:id="rId7"/>
    <p:sldId id="11090148" r:id="rId8"/>
    <p:sldId id="288" r:id="rId9"/>
  </p:sldIdLst>
  <p:sldSz cx="10260013" cy="539591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63">
          <p15:clr>
            <a:srgbClr val="A4A3A4"/>
          </p15:clr>
        </p15:guide>
        <p15:guide id="2" pos="3245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王倩倩" initials="Wqq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8ED5"/>
    <a:srgbClr val="F2F2F2"/>
    <a:srgbClr val="7DCDFF"/>
    <a:srgbClr val="9BD9FF"/>
    <a:srgbClr val="8AE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>
      <p:cViewPr varScale="1">
        <p:scale>
          <a:sx n="99" d="100"/>
          <a:sy n="99" d="100"/>
        </p:scale>
        <p:origin x="58" y="62"/>
      </p:cViewPr>
      <p:guideLst>
        <p:guide orient="horz" pos="1763"/>
        <p:guide pos="324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FEC91-376F-4B3F-A168-65C97BFAF660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69863" y="685800"/>
            <a:ext cx="65182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528F52-921D-4B5E-90E1-89DF6F6F58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9501" y="1676384"/>
            <a:ext cx="8721013" cy="115673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39002" y="3057965"/>
            <a:ext cx="7182011" cy="137908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600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194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7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389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989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158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518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8778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0471" y="3467692"/>
            <a:ext cx="8721013" cy="1071787"/>
          </a:xfrm>
        </p:spPr>
        <p:txBody>
          <a:bodyPr anchor="t"/>
          <a:lstStyle>
            <a:lvl1pPr algn="l">
              <a:defRPr sz="3150" b="1" cap="all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0471" y="2287228"/>
            <a:ext cx="8721013" cy="1180464"/>
          </a:xfrm>
        </p:spPr>
        <p:txBody>
          <a:bodyPr anchor="b"/>
          <a:lstStyle>
            <a:lvl1pPr marL="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415">
                <a:solidFill>
                  <a:schemeClr val="tx1">
                    <a:tint val="75000"/>
                  </a:schemeClr>
                </a:solidFill>
              </a:defRPr>
            </a:lvl2pPr>
            <a:lvl3pPr marL="71945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3pPr>
            <a:lvl4pPr marL="1079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43891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9895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15836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51841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87782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3001" y="1259162"/>
            <a:ext cx="4531507" cy="3561380"/>
          </a:xfrm>
        </p:spPr>
        <p:txBody>
          <a:bodyPr/>
          <a:lstStyle>
            <a:lvl1pPr>
              <a:defRPr sz="2205"/>
            </a:lvl1pPr>
            <a:lvl2pPr>
              <a:defRPr sz="1890"/>
            </a:lvl2pPr>
            <a:lvl3pPr>
              <a:defRPr sz="1575"/>
            </a:lvl3pPr>
            <a:lvl4pPr>
              <a:defRPr sz="1415"/>
            </a:lvl4pPr>
            <a:lvl5pPr>
              <a:defRPr sz="1415"/>
            </a:lvl5pPr>
            <a:lvl6pPr>
              <a:defRPr sz="1415"/>
            </a:lvl6pPr>
            <a:lvl7pPr>
              <a:defRPr sz="1415"/>
            </a:lvl7pPr>
            <a:lvl8pPr>
              <a:defRPr sz="1415"/>
            </a:lvl8pPr>
            <a:lvl9pPr>
              <a:defRPr sz="14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15508" y="1259162"/>
            <a:ext cx="4531507" cy="3561380"/>
          </a:xfrm>
        </p:spPr>
        <p:txBody>
          <a:bodyPr/>
          <a:lstStyle>
            <a:lvl1pPr>
              <a:defRPr sz="2205"/>
            </a:lvl1pPr>
            <a:lvl2pPr>
              <a:defRPr sz="1890"/>
            </a:lvl2pPr>
            <a:lvl3pPr>
              <a:defRPr sz="1575"/>
            </a:lvl3pPr>
            <a:lvl4pPr>
              <a:defRPr sz="1415"/>
            </a:lvl4pPr>
            <a:lvl5pPr>
              <a:defRPr sz="1415"/>
            </a:lvl5pPr>
            <a:lvl6pPr>
              <a:defRPr sz="1415"/>
            </a:lvl6pPr>
            <a:lvl7pPr>
              <a:defRPr sz="1415"/>
            </a:lvl7pPr>
            <a:lvl8pPr>
              <a:defRPr sz="1415"/>
            </a:lvl8pPr>
            <a:lvl9pPr>
              <a:defRPr sz="14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3001" y="1207946"/>
            <a:ext cx="4533289" cy="503415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19455" indent="0">
              <a:buNone/>
              <a:defRPr sz="1415" b="1"/>
            </a:lvl3pPr>
            <a:lvl4pPr marL="1079500" indent="0">
              <a:buNone/>
              <a:defRPr sz="1260" b="1"/>
            </a:lvl4pPr>
            <a:lvl5pPr marL="1438910" indent="0">
              <a:buNone/>
              <a:defRPr sz="1260" b="1"/>
            </a:lvl5pPr>
            <a:lvl6pPr marL="1798955" indent="0">
              <a:buNone/>
              <a:defRPr sz="1260" b="1"/>
            </a:lvl6pPr>
            <a:lvl7pPr marL="2158365" indent="0">
              <a:buNone/>
              <a:defRPr sz="1260" b="1"/>
            </a:lvl7pPr>
            <a:lvl8pPr marL="2518410" indent="0">
              <a:buNone/>
              <a:defRPr sz="1260" b="1"/>
            </a:lvl8pPr>
            <a:lvl9pPr marL="287782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3001" y="1711361"/>
            <a:ext cx="4533289" cy="3109181"/>
          </a:xfrm>
        </p:spPr>
        <p:txBody>
          <a:bodyPr/>
          <a:lstStyle>
            <a:lvl1pPr>
              <a:defRPr sz="1890"/>
            </a:lvl1pPr>
            <a:lvl2pPr>
              <a:defRPr sz="1575"/>
            </a:lvl2pPr>
            <a:lvl3pPr>
              <a:defRPr sz="1415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211945" y="1207946"/>
            <a:ext cx="4535069" cy="503415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19455" indent="0">
              <a:buNone/>
              <a:defRPr sz="1415" b="1"/>
            </a:lvl3pPr>
            <a:lvl4pPr marL="1079500" indent="0">
              <a:buNone/>
              <a:defRPr sz="1260" b="1"/>
            </a:lvl4pPr>
            <a:lvl5pPr marL="1438910" indent="0">
              <a:buNone/>
              <a:defRPr sz="1260" b="1"/>
            </a:lvl5pPr>
            <a:lvl6pPr marL="1798955" indent="0">
              <a:buNone/>
              <a:defRPr sz="1260" b="1"/>
            </a:lvl6pPr>
            <a:lvl7pPr marL="2158365" indent="0">
              <a:buNone/>
              <a:defRPr sz="1260" b="1"/>
            </a:lvl7pPr>
            <a:lvl8pPr marL="2518410" indent="0">
              <a:buNone/>
              <a:defRPr sz="1260" b="1"/>
            </a:lvl8pPr>
            <a:lvl9pPr marL="287782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211945" y="1711361"/>
            <a:ext cx="4535069" cy="3109181"/>
          </a:xfrm>
        </p:spPr>
        <p:txBody>
          <a:bodyPr/>
          <a:lstStyle>
            <a:lvl1pPr>
              <a:defRPr sz="1890"/>
            </a:lvl1pPr>
            <a:lvl2pPr>
              <a:defRPr sz="1575"/>
            </a:lvl2pPr>
            <a:lvl3pPr>
              <a:defRPr sz="1415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3001" y="214857"/>
            <a:ext cx="3375474" cy="914391"/>
          </a:xfrm>
        </p:spPr>
        <p:txBody>
          <a:bodyPr anchor="b"/>
          <a:lstStyle>
            <a:lvl1pPr algn="l">
              <a:defRPr sz="157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1381" y="214857"/>
            <a:ext cx="5735634" cy="4605685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13001" y="1129248"/>
            <a:ext cx="3375474" cy="3691293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45"/>
            </a:lvl2pPr>
            <a:lvl3pPr marL="719455" indent="0">
              <a:buNone/>
              <a:defRPr sz="785"/>
            </a:lvl3pPr>
            <a:lvl4pPr marL="1079500" indent="0">
              <a:buNone/>
              <a:defRPr sz="710"/>
            </a:lvl4pPr>
            <a:lvl5pPr marL="1438910" indent="0">
              <a:buNone/>
              <a:defRPr sz="710"/>
            </a:lvl5pPr>
            <a:lvl6pPr marL="1798955" indent="0">
              <a:buNone/>
              <a:defRPr sz="710"/>
            </a:lvl6pPr>
            <a:lvl7pPr marL="2158365" indent="0">
              <a:buNone/>
              <a:defRPr sz="710"/>
            </a:lvl7pPr>
            <a:lvl8pPr marL="2518410" indent="0">
              <a:buNone/>
              <a:defRPr sz="710"/>
            </a:lvl8pPr>
            <a:lvl9pPr marL="2877820" indent="0">
              <a:buNone/>
              <a:defRPr sz="7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11035" y="3777486"/>
            <a:ext cx="6156009" cy="445954"/>
          </a:xfrm>
        </p:spPr>
        <p:txBody>
          <a:bodyPr anchor="b"/>
          <a:lstStyle>
            <a:lvl1pPr algn="l">
              <a:defRPr sz="157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11035" y="482179"/>
            <a:ext cx="6156009" cy="3237845"/>
          </a:xfrm>
        </p:spPr>
        <p:txBody>
          <a:bodyPr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19455" indent="0">
              <a:buNone/>
              <a:defRPr sz="1890"/>
            </a:lvl3pPr>
            <a:lvl4pPr marL="1079500" indent="0">
              <a:buNone/>
              <a:defRPr sz="1575"/>
            </a:lvl4pPr>
            <a:lvl5pPr marL="1438910" indent="0">
              <a:buNone/>
              <a:defRPr sz="1575"/>
            </a:lvl5pPr>
            <a:lvl6pPr marL="1798955" indent="0">
              <a:buNone/>
              <a:defRPr sz="1575"/>
            </a:lvl6pPr>
            <a:lvl7pPr marL="2158365" indent="0">
              <a:buNone/>
              <a:defRPr sz="1575"/>
            </a:lvl7pPr>
            <a:lvl8pPr marL="2518410" indent="0">
              <a:buNone/>
              <a:defRPr sz="1575"/>
            </a:lvl8pPr>
            <a:lvl9pPr marL="2877820" indent="0">
              <a:buNone/>
              <a:defRPr sz="157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11035" y="4223439"/>
            <a:ext cx="6156009" cy="633328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45"/>
            </a:lvl2pPr>
            <a:lvl3pPr marL="719455" indent="0">
              <a:buNone/>
              <a:defRPr sz="785"/>
            </a:lvl3pPr>
            <a:lvl4pPr marL="1079500" indent="0">
              <a:buNone/>
              <a:defRPr sz="710"/>
            </a:lvl4pPr>
            <a:lvl5pPr marL="1438910" indent="0">
              <a:buNone/>
              <a:defRPr sz="710"/>
            </a:lvl5pPr>
            <a:lvl6pPr marL="1798955" indent="0">
              <a:buNone/>
              <a:defRPr sz="710"/>
            </a:lvl6pPr>
            <a:lvl7pPr marL="2158365" indent="0">
              <a:buNone/>
              <a:defRPr sz="710"/>
            </a:lvl7pPr>
            <a:lvl8pPr marL="2518410" indent="0">
              <a:buNone/>
              <a:defRPr sz="710"/>
            </a:lvl8pPr>
            <a:lvl9pPr marL="2877820" indent="0">
              <a:buNone/>
              <a:defRPr sz="7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38511" y="216107"/>
            <a:ext cx="2308504" cy="460443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3001" y="216107"/>
            <a:ext cx="6754510" cy="460443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9938" y="1676400"/>
            <a:ext cx="8720137" cy="11557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38288" y="3057525"/>
            <a:ext cx="7183437" cy="137953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1213" y="3467100"/>
            <a:ext cx="8720137" cy="10715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1213" y="2287588"/>
            <a:ext cx="8720137" cy="1179512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2763" y="1258888"/>
            <a:ext cx="4540250" cy="3560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05413" y="1258888"/>
            <a:ext cx="4541837" cy="3560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2763" y="1208088"/>
            <a:ext cx="4533900" cy="5032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2763" y="1711325"/>
            <a:ext cx="4533900" cy="3108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211763" y="1208088"/>
            <a:ext cx="4535487" cy="5032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211763" y="1711325"/>
            <a:ext cx="4535487" cy="3108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2763" y="214313"/>
            <a:ext cx="3375025" cy="914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1613" y="214313"/>
            <a:ext cx="5735637" cy="46053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12763" y="1128713"/>
            <a:ext cx="3375025" cy="369093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11363" y="3776663"/>
            <a:ext cx="6156325" cy="4460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11363" y="482600"/>
            <a:ext cx="6156325" cy="32369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11363" y="4222750"/>
            <a:ext cx="6156325" cy="6334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39025" y="215900"/>
            <a:ext cx="2308225" cy="46037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2763" y="215900"/>
            <a:ext cx="6773862" cy="46037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0" y="321692"/>
            <a:ext cx="10260016" cy="72008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3001" y="1259162"/>
            <a:ext cx="9234014" cy="3561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3001" y="5001671"/>
            <a:ext cx="2394004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05505" y="5001671"/>
            <a:ext cx="3249005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353011" y="5001671"/>
            <a:ext cx="2394004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  <p:sp useBgFill="1">
        <p:nvSpPr>
          <p:cNvPr id="8" name="文本框 7">
            <a:extLst>
              <a:ext uri="{FF2B5EF4-FFF2-40B4-BE49-F238E27FC236}">
                <a16:creationId xmlns:a16="http://schemas.microsoft.com/office/drawing/2014/main" id="{8728A5C7-AA7F-A164-FCAC-3453DE86B87E}"/>
              </a:ext>
            </a:extLst>
          </p:cNvPr>
          <p:cNvSpPr txBox="1"/>
          <p:nvPr userDrawn="1"/>
        </p:nvSpPr>
        <p:spPr>
          <a:xfrm>
            <a:off x="7942603" y="5002212"/>
            <a:ext cx="2083947" cy="2616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b="1" dirty="0">
                <a:solidFill>
                  <a:srgbClr val="6B7F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UNITREE</a:t>
            </a:r>
            <a:r>
              <a:rPr lang="en-US" altLang="zh-CN" sz="1100" b="1" dirty="0">
                <a:solidFill>
                  <a:srgbClr val="556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 </a:t>
            </a:r>
            <a:r>
              <a:rPr lang="en-US" altLang="zh-CN" sz="1100" b="1" dirty="0">
                <a:solidFill>
                  <a:srgbClr val="9FA8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ROBOTICS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19455" rtl="0" eaLnBrk="1" latinLnBrk="0" hangingPunct="1">
        <a:spcBef>
          <a:spcPct val="0"/>
        </a:spcBef>
        <a:buNone/>
        <a:defRPr sz="2800" b="0" kern="1200">
          <a:solidFill>
            <a:schemeClr val="tx1"/>
          </a:solidFill>
          <a:latin typeface="新宋体" panose="02010609030101010101" pitchFamily="49" charset="-122"/>
          <a:ea typeface="新宋体" panose="02010609030101010101" pitchFamily="49" charset="-122"/>
          <a:cs typeface="+mj-cs"/>
        </a:defRPr>
      </a:lvl1pPr>
    </p:titleStyle>
    <p:bodyStyle>
      <a:lvl1pPr marL="269875" indent="-26924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584835" indent="-224155" algn="l" defTabSz="719455" rtl="0" eaLnBrk="1" latinLnBrk="0" hangingPunct="1">
        <a:spcBef>
          <a:spcPts val="75"/>
        </a:spcBef>
        <a:buFont typeface="Arial" panose="020B0604020202020204" pitchFamily="34" charset="0"/>
        <a:buChar char="–"/>
        <a:defRPr sz="2205" kern="1200">
          <a:solidFill>
            <a:schemeClr val="tx1"/>
          </a:solidFill>
          <a:latin typeface="+mn-lt"/>
          <a:ea typeface="+mn-ea"/>
          <a:cs typeface="+mn-cs"/>
        </a:defRPr>
      </a:lvl2pPr>
      <a:lvl3pPr marL="8991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25920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–"/>
        <a:defRPr sz="1575" kern="1200">
          <a:solidFill>
            <a:schemeClr val="tx1"/>
          </a:solidFill>
          <a:latin typeface="+mn-lt"/>
          <a:ea typeface="+mn-ea"/>
          <a:cs typeface="+mn-cs"/>
        </a:defRPr>
      </a:lvl4pPr>
      <a:lvl5pPr marL="161861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»"/>
        <a:defRPr sz="1575" kern="1200">
          <a:solidFill>
            <a:schemeClr val="tx1"/>
          </a:solidFill>
          <a:latin typeface="+mn-lt"/>
          <a:ea typeface="+mn-ea"/>
          <a:cs typeface="+mn-cs"/>
        </a:defRPr>
      </a:lvl5pPr>
      <a:lvl6pPr marL="19786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33870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269811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0581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2pPr>
      <a:lvl3pPr marL="71945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3pPr>
      <a:lvl4pPr marL="107950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4pPr>
      <a:lvl5pPr marL="143891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5pPr>
      <a:lvl6pPr marL="179895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6pPr>
      <a:lvl7pPr marL="215836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7pPr>
      <a:lvl8pPr marL="251841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8pPr>
      <a:lvl9pPr marL="287782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12763" y="215900"/>
            <a:ext cx="9234487" cy="900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2763" y="1258888"/>
            <a:ext cx="9234487" cy="3560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2763" y="5000625"/>
            <a:ext cx="23939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05200" y="5000625"/>
            <a:ext cx="3249613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353300" y="5000625"/>
            <a:ext cx="23939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24332" y="1380519"/>
            <a:ext cx="5498621" cy="1956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719450">
              <a:lnSpc>
                <a:spcPct val="120000"/>
              </a:lnSpc>
              <a:defRPr/>
            </a:pPr>
            <a:r>
              <a:rPr lang="zh-CN" altLang="en-US" sz="3462" b="1" dirty="0">
                <a:solidFill>
                  <a:srgbClr val="111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智能机器人综合应用开发</a:t>
            </a:r>
          </a:p>
          <a:p>
            <a:pPr algn="r" defTabSz="719450">
              <a:lnSpc>
                <a:spcPct val="120000"/>
              </a:lnSpc>
              <a:defRPr/>
            </a:pP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项目</a:t>
            </a:r>
            <a:r>
              <a:rPr lang="en-US" altLang="zh-CN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12 </a:t>
            </a: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智能物流</a:t>
            </a:r>
            <a:r>
              <a:rPr lang="en-US" altLang="zh-CN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-</a:t>
            </a: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综合实践</a:t>
            </a:r>
            <a:endParaRPr lang="en-US" altLang="zh-CN" sz="3462" b="1" dirty="0">
              <a:solidFill>
                <a:srgbClr val="4A7D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</a:endParaRPr>
          </a:p>
          <a:p>
            <a:pPr algn="r" defTabSz="719450">
              <a:lnSpc>
                <a:spcPct val="120000"/>
              </a:lnSpc>
              <a:defRPr/>
            </a:pPr>
            <a:r>
              <a:rPr lang="en-US" altLang="zh-CN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12.4 </a:t>
            </a: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爬台阶模块</a:t>
            </a:r>
            <a:endParaRPr lang="en-US" altLang="zh-CN" sz="3462" b="1" dirty="0">
              <a:solidFill>
                <a:srgbClr val="4A7D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13A6D61-42CD-A04D-E161-9B1239954440}"/>
              </a:ext>
            </a:extLst>
          </p:cNvPr>
          <p:cNvSpPr txBox="1"/>
          <p:nvPr/>
        </p:nvSpPr>
        <p:spPr>
          <a:xfrm>
            <a:off x="669716" y="3923203"/>
            <a:ext cx="2507098" cy="376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719450">
              <a:lnSpc>
                <a:spcPct val="130000"/>
              </a:lnSpc>
              <a:defRPr/>
            </a:pPr>
            <a:r>
              <a:rPr lang="zh-CN" altLang="en-US" sz="1574" b="1" spc="236" dirty="0">
                <a:solidFill>
                  <a:srgbClr val="6C6F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杭州宇树科技有限公司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1FD3A6-2E81-E3C7-3146-C656DBCD95C4}"/>
              </a:ext>
            </a:extLst>
          </p:cNvPr>
          <p:cNvSpPr txBox="1"/>
          <p:nvPr/>
        </p:nvSpPr>
        <p:spPr>
          <a:xfrm>
            <a:off x="732982" y="4329979"/>
            <a:ext cx="4796367" cy="50257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719450">
              <a:lnSpc>
                <a:spcPct val="150000"/>
              </a:lnSpc>
              <a:defRPr/>
            </a:pPr>
            <a:r>
              <a:rPr lang="zh-CN" altLang="en-US" sz="944" dirty="0">
                <a:solidFill>
                  <a:srgbClr val="9FA1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请访问宇树科技官网了解更多产品相关条款与政策，请遵守各地区法律法规</a:t>
            </a:r>
            <a:endParaRPr lang="en-US" altLang="zh-CN" sz="944" dirty="0">
              <a:solidFill>
                <a:srgbClr val="9FA1B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719450">
              <a:lnSpc>
                <a:spcPct val="150000"/>
              </a:lnSpc>
              <a:defRPr/>
            </a:pPr>
            <a:r>
              <a:rPr lang="zh-CN" altLang="en-US" sz="944" dirty="0">
                <a:solidFill>
                  <a:srgbClr val="9FA1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请各位用户不要危险性改造和使用机器人</a:t>
            </a:r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4323EC7C-E2EB-396A-A105-F0AD42403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0815" y="318392"/>
            <a:ext cx="2137762" cy="41687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BABD9FD-A287-2664-4A97-37BDB8E5F2E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89" t="20573"/>
          <a:stretch/>
        </p:blipFill>
        <p:spPr>
          <a:xfrm>
            <a:off x="5564153" y="1006796"/>
            <a:ext cx="6088898" cy="443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177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27780" y="261620"/>
            <a:ext cx="23050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教学目标</a:t>
            </a:r>
          </a:p>
        </p:txBody>
      </p:sp>
      <p:sp>
        <p:nvSpPr>
          <p:cNvPr id="6" name="Freeform 12"/>
          <p:cNvSpPr/>
          <p:nvPr/>
        </p:nvSpPr>
        <p:spPr bwMode="auto">
          <a:xfrm>
            <a:off x="957634" y="1348465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Freeform 12"/>
          <p:cNvSpPr/>
          <p:nvPr/>
        </p:nvSpPr>
        <p:spPr bwMode="auto">
          <a:xfrm flipH="1" flipV="1">
            <a:off x="8384474" y="3715736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18945" y="1937385"/>
            <a:ext cx="341630" cy="348615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1</a:t>
            </a:r>
          </a:p>
        </p:txBody>
      </p:sp>
      <p:sp>
        <p:nvSpPr>
          <p:cNvPr id="13" name="矩形 12"/>
          <p:cNvSpPr/>
          <p:nvPr/>
        </p:nvSpPr>
        <p:spPr>
          <a:xfrm>
            <a:off x="1718945" y="3079750"/>
            <a:ext cx="341630" cy="348615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2</a:t>
            </a: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08754CBC-B61A-4D60-BEF8-7ED216FAE8AC}"/>
              </a:ext>
            </a:extLst>
          </p:cNvPr>
          <p:cNvSpPr txBox="1"/>
          <p:nvPr/>
        </p:nvSpPr>
        <p:spPr>
          <a:xfrm>
            <a:off x="2247265" y="1878965"/>
            <a:ext cx="7021195" cy="92710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掌握台阶区域的识别方法</a:t>
            </a:r>
            <a:r>
              <a:rPr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B8888F07-5508-4632-B5E3-18E423D61474}"/>
              </a:ext>
            </a:extLst>
          </p:cNvPr>
          <p:cNvSpPr txBox="1"/>
          <p:nvPr/>
        </p:nvSpPr>
        <p:spPr>
          <a:xfrm>
            <a:off x="2247265" y="3086100"/>
            <a:ext cx="6195109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掌握机器人在台阶区域的运动控制</a:t>
            </a:r>
            <a:r>
              <a:rPr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任务需求	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686D920-7336-488C-98F0-3A4ACDA5AD42}"/>
              </a:ext>
            </a:extLst>
          </p:cNvPr>
          <p:cNvSpPr txBox="1"/>
          <p:nvPr/>
        </p:nvSpPr>
        <p:spPr>
          <a:xfrm>
            <a:off x="1853109" y="1075073"/>
            <a:ext cx="6314549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355600" algn="just">
              <a:lnSpc>
                <a:spcPct val="150000"/>
              </a:lnSpc>
            </a:pPr>
            <a:r>
              <a:rPr lang="zh-CN" altLang="zh-CN" sz="1800" kern="100" dirty="0">
                <a:effectLst/>
                <a:latin typeface="仿宋" panose="02010609060101010101" pitchFamily="49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完成物料卸载之后，继续沿着道路行走，通过台阶区域。</a:t>
            </a:r>
            <a:endParaRPr lang="zh-CN" altLang="zh-CN" sz="1800" kern="100" dirty="0">
              <a:effectLst/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A981DE3-0506-4441-AEAD-797F0E27CD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9726" y="1905868"/>
            <a:ext cx="4772871" cy="246874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98133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0EF0C2-179F-FC2F-A6E9-0401C2700DF0}"/>
              </a:ext>
            </a:extLst>
          </p:cNvPr>
          <p:cNvSpPr txBox="1"/>
          <p:nvPr/>
        </p:nvSpPr>
        <p:spPr>
          <a:xfrm>
            <a:off x="3833862" y="4595279"/>
            <a:ext cx="2025799" cy="2937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台阶区域</a:t>
            </a:r>
            <a:endParaRPr sz="1309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台阶区域识别	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CF9AB6C-38AD-447C-8E6F-E817813F5CC5}"/>
              </a:ext>
            </a:extLst>
          </p:cNvPr>
          <p:cNvSpPr txBox="1"/>
          <p:nvPr/>
        </p:nvSpPr>
        <p:spPr>
          <a:xfrm>
            <a:off x="2050051" y="933119"/>
            <a:ext cx="5400600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台阶区域也是黑色与周边颜色差异较大，这里与倾倒区的识别方法相同，当满足预先设定的黑色区域面积，机器狗会开启爬楼模式。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8820ABD-C321-4A87-979A-DB7F1953F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749" y="2409924"/>
            <a:ext cx="3849205" cy="186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20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机器人运动控制	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AF6099E-E4FC-4A64-9EDE-9F87DA038E8E}"/>
              </a:ext>
            </a:extLst>
          </p:cNvPr>
          <p:cNvSpPr txBox="1"/>
          <p:nvPr/>
        </p:nvSpPr>
        <p:spPr>
          <a:xfrm>
            <a:off x="3837505" y="985293"/>
            <a:ext cx="1274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动作控制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8A752F9-AD0F-4C57-9E57-D81E65C48664}"/>
              </a:ext>
            </a:extLst>
          </p:cNvPr>
          <p:cNvSpPr txBox="1"/>
          <p:nvPr/>
        </p:nvSpPr>
        <p:spPr>
          <a:xfrm>
            <a:off x="2249686" y="3846840"/>
            <a:ext cx="5574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通过台阶后，让机器人恢复正常步态，继续执行任务。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898D8E60-E871-44EB-8A15-E130B27DE9E2}"/>
              </a:ext>
            </a:extLst>
          </p:cNvPr>
          <p:cNvSpPr/>
          <p:nvPr/>
        </p:nvSpPr>
        <p:spPr>
          <a:xfrm rot="5400000">
            <a:off x="4266080" y="3254932"/>
            <a:ext cx="587555" cy="170703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950D810-E862-4B11-9D3A-FF75280A7B1B}"/>
              </a:ext>
            </a:extLst>
          </p:cNvPr>
          <p:cNvSpPr txBox="1"/>
          <p:nvPr/>
        </p:nvSpPr>
        <p:spPr>
          <a:xfrm>
            <a:off x="2177678" y="2465505"/>
            <a:ext cx="5512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通过内置步态变换函数实现四足机器人上台阶功能</a:t>
            </a:r>
            <a:r>
              <a:rPr lang="zh-CN" altLang="en-US" dirty="0"/>
              <a:t>。</a:t>
            </a: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2D1D3C4D-0C50-44E4-80B2-3294665788C4}"/>
              </a:ext>
            </a:extLst>
          </p:cNvPr>
          <p:cNvSpPr/>
          <p:nvPr/>
        </p:nvSpPr>
        <p:spPr>
          <a:xfrm rot="5400000">
            <a:off x="4266080" y="1802841"/>
            <a:ext cx="587555" cy="170703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9621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机器人运动控制	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57D8BBA-80E2-414A-A1D3-88F26E2AE98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3662" y="1401812"/>
            <a:ext cx="6840760" cy="22322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106723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814990" y="2111127"/>
            <a:ext cx="8684794" cy="861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3777" b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谢 谢 大 家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SLIDE_THEME_COLOR" val="tru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</TotalTime>
  <Words>179</Words>
  <Application>Microsoft Office PowerPoint</Application>
  <PresentationFormat>自定义</PresentationFormat>
  <Paragraphs>23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仿宋</vt:lpstr>
      <vt:lpstr>微软雅黑</vt:lpstr>
      <vt:lpstr>新宋体</vt:lpstr>
      <vt:lpstr>Arial</vt:lpstr>
      <vt:lpstr>Calibri</vt:lpstr>
      <vt:lpstr>Office 主题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Windows 用户</dc:creator>
  <cp:lastModifiedBy>秉昊 吴</cp:lastModifiedBy>
  <cp:revision>275</cp:revision>
  <dcterms:created xsi:type="dcterms:W3CDTF">2016-04-25T01:13:00Z</dcterms:created>
  <dcterms:modified xsi:type="dcterms:W3CDTF">2024-11-04T09:51:59Z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2052-10.1.0.7578</vt:lpwstr>
  </property>
</Properties>
</file>