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5"/>
  </p:notesMasterIdLst>
  <p:sldIdLst>
    <p:sldId id="11090117" r:id="rId3"/>
    <p:sldId id="272" r:id="rId4"/>
    <p:sldId id="11090138" r:id="rId5"/>
    <p:sldId id="11090139" r:id="rId6"/>
    <p:sldId id="11090141" r:id="rId7"/>
    <p:sldId id="11090142" r:id="rId8"/>
    <p:sldId id="11090143" r:id="rId9"/>
    <p:sldId id="11090147" r:id="rId10"/>
    <p:sldId id="11090148" r:id="rId11"/>
    <p:sldId id="11090149" r:id="rId12"/>
    <p:sldId id="11090150" r:id="rId13"/>
    <p:sldId id="11090144" r:id="rId14"/>
    <p:sldId id="11090151" r:id="rId15"/>
    <p:sldId id="11090152" r:id="rId16"/>
    <p:sldId id="11090153" r:id="rId17"/>
    <p:sldId id="11090145" r:id="rId18"/>
    <p:sldId id="11090154" r:id="rId19"/>
    <p:sldId id="11090146" r:id="rId20"/>
    <p:sldId id="11090155" r:id="rId21"/>
    <p:sldId id="11090156" r:id="rId22"/>
    <p:sldId id="273" r:id="rId23"/>
    <p:sldId id="288" r:id="rId24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111" d="100"/>
          <a:sy n="111" d="100"/>
        </p:scale>
        <p:origin x="82" y="125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2024/10/30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26367" y="1400137"/>
            <a:ext cx="5655715" cy="195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8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路径规划与自主导航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8.2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路径规划与自动导航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</a:t>
            </a: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Navigation2</a:t>
            </a:r>
            <a:r>
              <a:rPr lang="zh-CN" altLang="en-US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的主要组件和架构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8945" y="263144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247265" y="2637790"/>
            <a:ext cx="5835069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掌握单点导航的主要实现方法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D99F93-D34D-C0AB-858B-6D4E87FC19BA}"/>
              </a:ext>
            </a:extLst>
          </p:cNvPr>
          <p:cNvSpPr/>
          <p:nvPr/>
        </p:nvSpPr>
        <p:spPr>
          <a:xfrm>
            <a:off x="1718945" y="3372624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3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813BC1-A5F9-B3E5-5CFA-DE3EEBA74012}"/>
              </a:ext>
            </a:extLst>
          </p:cNvPr>
          <p:cNvSpPr txBox="1"/>
          <p:nvPr/>
        </p:nvSpPr>
        <p:spPr>
          <a:xfrm>
            <a:off x="2247265" y="3378974"/>
            <a:ext cx="5835069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掌握路点导航的主要实现方法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en-US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Navigation2</a:t>
            </a:r>
            <a:r>
              <a:rPr lang="zh-CN" altLang="zh-CN" sz="2000" b="1" kern="100" dirty="0">
                <a:effectLst/>
                <a:latin typeface="Cambria" panose="020405030504060302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简介</a:t>
            </a: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703D2E-4EBB-4741-BEE0-63606D9EABC5}"/>
              </a:ext>
            </a:extLst>
          </p:cNvPr>
          <p:cNvSpPr txBox="1"/>
          <p:nvPr/>
        </p:nvSpPr>
        <p:spPr>
          <a:xfrm>
            <a:off x="1313582" y="1185788"/>
            <a:ext cx="79928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是指机器人在环境中的路径规划和移动能力。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它通常包括定位、地图构建、路径规划、避障和导航恢复行为等功能。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ROS2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Navigation2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Nav2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）实现，它是一个模块化的、基于行为树的导航框架。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Nav2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使用多个独立的服务，通过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ROS2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接口（如动作服务器或服务）与行为树（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Behavior Tree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）通信，以实现复杂的导航行为。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357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223583" y="4858196"/>
            <a:ext cx="2408637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1-1 Navigation2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架构图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en-US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Navigation2</a:t>
            </a:r>
            <a:r>
              <a:rPr lang="zh-CN" altLang="zh-CN" sz="2000" b="1" kern="100" dirty="0">
                <a:effectLst/>
                <a:latin typeface="Cambria" panose="020405030504060302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简介</a:t>
            </a: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DB2A7EA-1FFC-0779-114E-0A2A8BF177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710" y="941341"/>
            <a:ext cx="5559324" cy="35535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7067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en-US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Navigation2</a:t>
            </a:r>
            <a:r>
              <a:rPr lang="zh-CN" altLang="zh-CN" sz="2000" b="1" kern="100" dirty="0">
                <a:effectLst/>
                <a:latin typeface="Cambria" panose="020405030504060302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简介</a:t>
            </a: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48597A-94E6-4F82-90A6-3EED243DCF73}"/>
              </a:ext>
            </a:extLst>
          </p:cNvPr>
          <p:cNvSpPr txBox="1"/>
          <p:nvPr/>
        </p:nvSpPr>
        <p:spPr>
          <a:xfrm>
            <a:off x="1595342" y="800634"/>
            <a:ext cx="7784247" cy="4198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Nav2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具有下列主要工具：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● 加载、提供和存储地图的工具（地图服务器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 Server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● 在地图上定位机器人的工具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(AMCL)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●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避开障碍物从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点移动到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点的路径规划工具（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Nav2 Planner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● 跟随路径过程中控制机器人的工具（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Nav2 Controller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● 使用行为树构建复杂机器人行为的工具（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Nav2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行为树和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BT Navigator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● 发生故障时计算恢复行为的工具（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Nav2 Recoveries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● 跟随顺序航点的工具（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Nav2 Waypoint Follower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● 管理服务器生命周期的工具和看门狗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(Nav2 Lifecycle Manager)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●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启用用户自定义算法和行为的插件（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Nav2 Core)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6479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9ADB8-68C8-C31F-B2FC-8DD7E646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C199B817-27ED-A649-7A6A-30D8A41675A2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E2B824EA-67EC-06C5-659C-C8D6AAA99C4D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FBD886-9C89-163D-CDE8-D0300FCE392E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4E558003-E7EA-A353-9BCF-F9C5617A3675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en-US" altLang="zh-CN" sz="2000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AMCL</a:t>
            </a:r>
            <a:r>
              <a:rPr lang="zh-CN" altLang="en-US" sz="2000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节点服务</a:t>
            </a:r>
            <a:endParaRPr lang="zh-CN" altLang="zh-CN" sz="2000" b="1" kern="100" dirty="0">
              <a:effectLst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B50055-6F19-C0E0-904D-880457EFA252}"/>
              </a:ext>
            </a:extLst>
          </p:cNvPr>
          <p:cNvSpPr txBox="1"/>
          <p:nvPr/>
        </p:nvSpPr>
        <p:spPr>
          <a:xfrm>
            <a:off x="1047888" y="941341"/>
            <a:ext cx="8817817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amcl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的英文全称是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adaptive Monte Carlo localization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，是蒙特卡洛定位方法的一种升级版。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86E86BA-5733-D169-72A7-6410C3029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794" y="1761852"/>
            <a:ext cx="3816424" cy="30139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4116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87265-3960-652F-647B-1A249617A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76B17F82-DAA7-7C72-1F72-113C04C036AF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1D584D93-4EFD-EE35-B5E1-C3983B4398B5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99EA9B-7E98-EA51-EA2E-5DFE30319E2C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F7E0912-9C5E-08DB-83D0-E91920A682B8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en-US" altLang="zh-CN" sz="2000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AMCL</a:t>
            </a:r>
            <a:r>
              <a:rPr lang="zh-CN" altLang="en-US" sz="2000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节点服务</a:t>
            </a:r>
            <a:endParaRPr lang="zh-CN" altLang="zh-CN" sz="2000" b="1" kern="100" dirty="0">
              <a:effectLst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2F84527-22BD-CF98-0EB6-A2A568FBE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694" y="969764"/>
            <a:ext cx="5610438" cy="273630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952695D-4EF8-2E37-295A-879CB1F48122}"/>
              </a:ext>
            </a:extLst>
          </p:cNvPr>
          <p:cNvSpPr txBox="1"/>
          <p:nvPr/>
        </p:nvSpPr>
        <p:spPr>
          <a:xfrm>
            <a:off x="4121894" y="4132351"/>
            <a:ext cx="2408637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2-1 </a:t>
            </a:r>
            <a:r>
              <a:rPr lang="en-US" altLang="zh-CN" sz="1309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AMCl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节点信息</a:t>
            </a:r>
          </a:p>
        </p:txBody>
      </p:sp>
    </p:spTree>
    <p:extLst>
      <p:ext uri="{BB962C8B-B14F-4D97-AF65-F5344CB8AC3E}">
        <p14:creationId xmlns:p14="http://schemas.microsoft.com/office/powerpoint/2010/main" val="4178093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2C3B-DE9F-E190-4737-BF3FE4791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9445E48F-311D-1F0D-8813-47F8C13C9CDE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D4963C92-4376-7338-268A-50293BA7E56D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FBEC1B-32B9-D419-358F-9CEAFDAECE38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BCA66AB9-1BBD-30AB-E4EB-DCDA3DB321AB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位姿获取及初始化</a:t>
            </a:r>
            <a:endParaRPr lang="zh-CN" altLang="zh-CN" sz="2000" b="1" kern="100" dirty="0">
              <a:effectLst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5B5A5D-3C2D-3A60-31BA-797AE7DDC41F}"/>
              </a:ext>
            </a:extLst>
          </p:cNvPr>
          <p:cNvSpPr txBox="1"/>
          <p:nvPr/>
        </p:nvSpPr>
        <p:spPr>
          <a:xfrm>
            <a:off x="913254" y="941341"/>
            <a:ext cx="8817817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我们需要获取并保存机器人的实时位姿信息，以便实现初始化和自主导航。</a:t>
            </a:r>
            <a:endParaRPr lang="zh-CN" altLang="zh-CN" sz="1800" kern="100" dirty="0">
              <a:effectLst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A7C38B0-942A-29C8-7884-236844071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582" y="1539625"/>
            <a:ext cx="7111750" cy="352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57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48F6B-16A0-8413-58FA-7C794FA27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D983E829-6E62-C4CF-A152-E6D7ACFC08E9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025208EB-92FE-C60F-F37F-CF5563DEB93C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388857-AFA3-B428-7038-783147CC0101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ADE08704-4E78-08F8-8F51-7B7BF4B2D8FC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位姿获取及初始化</a:t>
            </a:r>
            <a:endParaRPr lang="zh-CN" altLang="zh-CN" sz="2000" b="1" kern="100" dirty="0">
              <a:effectLst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BE4B054-50E3-6E4D-2193-FED2B0DC2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702" y="898945"/>
            <a:ext cx="5392497" cy="359802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09E2DE3-9E66-238F-35C2-69C063248F4E}"/>
              </a:ext>
            </a:extLst>
          </p:cNvPr>
          <p:cNvSpPr txBox="1"/>
          <p:nvPr/>
        </p:nvSpPr>
        <p:spPr>
          <a:xfrm>
            <a:off x="3925687" y="4714180"/>
            <a:ext cx="2408637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3-1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位姿信息输出</a:t>
            </a:r>
          </a:p>
        </p:txBody>
      </p:sp>
    </p:spTree>
    <p:extLst>
      <p:ext uri="{BB962C8B-B14F-4D97-AF65-F5344CB8AC3E}">
        <p14:creationId xmlns:p14="http://schemas.microsoft.com/office/powerpoint/2010/main" val="485258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51903-E387-4A83-D784-7F7209B9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9DF96EB6-BE40-9A14-94C3-08E2E59760C4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800A8BDE-54C3-0755-F697-F94A96EF85D0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6481B6-2CAC-0B4A-64C0-634BEAB877A6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4C808E61-08DD-F349-4066-706ED3C8808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位姿获取及初始化</a:t>
            </a:r>
            <a:endParaRPr lang="zh-CN" altLang="zh-CN" sz="2000" b="1" kern="100" dirty="0">
              <a:effectLst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15EE9D-2178-7B05-6D47-8B075A256EC0}"/>
              </a:ext>
            </a:extLst>
          </p:cNvPr>
          <p:cNvSpPr txBox="1"/>
          <p:nvPr/>
        </p:nvSpPr>
        <p:spPr>
          <a:xfrm>
            <a:off x="3901832" y="4569198"/>
            <a:ext cx="2408637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3-2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位姿信息保存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45F242-1E8D-56A7-29C2-5289A64D2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149" y="1304968"/>
            <a:ext cx="2880320" cy="2578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3055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53E81-596D-232F-30BA-EC3A6B9AE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AE75B211-EE2F-51C4-E37C-4A080221C50B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2E5632A4-EACA-6703-ADBC-97072E6EDD24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E35E5F-11B8-99F9-DD02-3A58AFDDB3D5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F30130DB-C444-3154-CADC-881E1EBA13A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位姿获取及初始化</a:t>
            </a:r>
            <a:endParaRPr lang="zh-CN" altLang="zh-CN" sz="2000" b="1" kern="100" dirty="0">
              <a:effectLst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00305B-515D-07A2-C9F5-CEE47218E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646" y="1761852"/>
            <a:ext cx="6151913" cy="301899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5181510-FBB9-0BDA-D5F3-174AC18F4D27}"/>
              </a:ext>
            </a:extLst>
          </p:cNvPr>
          <p:cNvSpPr txBox="1"/>
          <p:nvPr/>
        </p:nvSpPr>
        <p:spPr>
          <a:xfrm>
            <a:off x="913254" y="941341"/>
            <a:ext cx="8817817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位姿信息初始化。</a:t>
            </a:r>
            <a:endParaRPr lang="zh-CN" altLang="zh-CN" sz="1800" kern="100" dirty="0">
              <a:effectLst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667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B1767-B014-50C8-DD72-77511EB6F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6B535847-DB34-F4CB-AD03-CC4F9920CF87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13D1C523-DD4F-F05C-C30F-7FD1705B4A0D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B3C92B-32AF-1E9D-8588-10E0B13DCE40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CEEC8284-3C8D-6357-2A7D-1FC06149B60E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单点导航应用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菜单操作</a:t>
            </a:r>
            <a:endParaRPr lang="zh-CN" altLang="zh-CN" sz="2000" b="1" kern="100" dirty="0">
              <a:effectLst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DA7466-F931-1392-A60D-E621425C016C}"/>
              </a:ext>
            </a:extLst>
          </p:cNvPr>
          <p:cNvSpPr txBox="1"/>
          <p:nvPr/>
        </p:nvSpPr>
        <p:spPr>
          <a:xfrm>
            <a:off x="1047888" y="941341"/>
            <a:ext cx="8817817" cy="463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kern="100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2D Pose Estimate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初始化</a:t>
            </a:r>
            <a:r>
              <a:rPr lang="zh-CN" altLang="en-US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机器人</a:t>
            </a:r>
            <a:r>
              <a:rPr lang="zh-CN" altLang="zh-CN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位置</a:t>
            </a:r>
            <a:r>
              <a:rPr lang="zh-CN" altLang="en-US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Nav2 Goal</a:t>
            </a:r>
            <a:r>
              <a:rPr lang="zh-CN" altLang="zh-CN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设置导航目标点</a:t>
            </a:r>
            <a:r>
              <a:rPr lang="zh-CN" altLang="en-US" sz="18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1C195D-5EEE-AF10-2C8A-D52E2D238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701" y="1686342"/>
            <a:ext cx="3688731" cy="158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ACA7F17-820E-7920-B235-C3EA6D4BE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582" y="1440659"/>
            <a:ext cx="2630752" cy="33406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499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34DA9-BFD0-4E63-4689-F5D6E9E8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7198D7D1-799F-743C-D17C-2442B05A1C00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ED075B10-CC67-1CE2-C225-4466E067EEE9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4D3BD8-C6CF-2E01-B862-3898F25C559D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7FA16C6E-C3AF-B127-C62E-DFAEA8FA23D8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单点导航应用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菜单操作</a:t>
            </a:r>
            <a:endParaRPr lang="zh-CN" altLang="zh-CN" sz="2000" b="1" kern="100" dirty="0">
              <a:effectLst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90B05F4-FBCB-2740-315A-ACFB1C7A7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875" y="1041772"/>
            <a:ext cx="4696262" cy="223224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9F259AB-F898-8DF0-F812-598D65FA7008}"/>
              </a:ext>
            </a:extLst>
          </p:cNvPr>
          <p:cNvSpPr txBox="1"/>
          <p:nvPr/>
        </p:nvSpPr>
        <p:spPr>
          <a:xfrm>
            <a:off x="4220354" y="3778076"/>
            <a:ext cx="2408637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导航结果反馈</a:t>
            </a:r>
          </a:p>
        </p:txBody>
      </p:sp>
    </p:spTree>
    <p:extLst>
      <p:ext uri="{BB962C8B-B14F-4D97-AF65-F5344CB8AC3E}">
        <p14:creationId xmlns:p14="http://schemas.microsoft.com/office/powerpoint/2010/main" val="3709627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5678C-840B-4A36-D52E-4D70D11D0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311A9DB5-7D3F-40E7-0988-0D0901031742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5F08E4F1-C8C5-CBE4-D59F-484CEC5BF88F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AD42F8-FAF4-E1CE-B2FD-08E7ED8B1378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85E0B182-A996-2B14-C9A5-5443405C0C9B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单点导航应用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命令行控制</a:t>
            </a:r>
            <a:endParaRPr lang="zh-CN" altLang="zh-CN" sz="2000" b="1" kern="100" dirty="0">
              <a:effectLst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FB85F3-0D69-0D57-6C85-E49737D8C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614" y="1329804"/>
            <a:ext cx="6835732" cy="187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852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47E2F-B98B-DEA2-AB5C-099EA7ABE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F52FC5B8-8580-590E-2C1A-837A44DFF096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D54D9FAB-EF4F-B1B4-852C-71118637BF2A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28F243-F80D-05E7-4A39-D5B1E4DAEF80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A23E68E6-029E-F018-3DC0-B3195BF6DC81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单点导航应用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代码应用</a:t>
            </a:r>
            <a:endParaRPr lang="zh-CN" altLang="zh-CN" sz="2000" b="1" kern="100" dirty="0">
              <a:effectLst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D41249-BA22-6C95-795A-C1C6A7B52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598" y="964486"/>
            <a:ext cx="5796292" cy="371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56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47818-C000-FC18-FE96-168CC5562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E611F62F-D8A7-C497-F2E8-4761FCC04F3F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0232E4D2-C6AE-076E-5B53-D381C83AC1F0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8F0EA2-C141-D919-786D-0C0C676D2E30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304E0400-4D3A-6235-1821-A52BE1C22E6C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路点导航应用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菜单操作</a:t>
            </a:r>
            <a:endParaRPr lang="zh-CN" altLang="zh-CN" sz="2000" b="1" kern="100" dirty="0">
              <a:effectLst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12BCFE1-EC43-88A8-5D1A-A53B1D423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2386" y="1322429"/>
            <a:ext cx="4375239" cy="1440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2A22FEB-0B83-1E68-30E0-0C66AC20E0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110" y="3284383"/>
            <a:ext cx="2988945" cy="815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4606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8BB08-DDC3-F848-E763-5CB27A001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21396157-D145-B4A7-2264-3E571A4B80A8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BE19BC42-329A-6BD5-B06A-DF27C87DF274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782354-38CD-BBF8-6896-120A2D363FE8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FE84984B-3B1A-5E47-CE3A-0162BD74DD2D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路点导航应用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代码控制</a:t>
            </a:r>
            <a:endParaRPr lang="zh-CN" altLang="zh-CN" sz="2000" b="1" kern="100" dirty="0">
              <a:effectLst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5EBBB7-588B-0D90-FB79-022230410F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758" y="1905868"/>
            <a:ext cx="3456384" cy="330309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0E91467-BD56-9233-EB6D-F82D9559C708}"/>
              </a:ext>
            </a:extLst>
          </p:cNvPr>
          <p:cNvSpPr txBox="1"/>
          <p:nvPr/>
        </p:nvSpPr>
        <p:spPr>
          <a:xfrm>
            <a:off x="2047992" y="834450"/>
            <a:ext cx="6466390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使用之前在位姿获取代码中保存的位姿信息，为</a:t>
            </a:r>
            <a:r>
              <a:rPr lang="en-US" altLang="zh-CN" sz="1800" kern="100" dirty="0"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Go2</a:t>
            </a: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机器人指定多个路点，实现路点导航。</a:t>
            </a:r>
            <a:endParaRPr lang="zh-CN" altLang="zh-CN" sz="1800" kern="100" dirty="0">
              <a:effectLst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890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683C7-EC5D-6D21-5D58-463124CCD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A9B3C34A-D20A-AE84-5BAC-38E03A5722F2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5FD1CD0B-F78D-41A9-F00E-421629640A11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49F119-5EB4-1D1C-2EB2-B07033DCF1FA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6D36D891-8B63-4C6A-D368-4EC476DBD98B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6-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导航应用封装</a:t>
            </a:r>
            <a:endParaRPr lang="zh-CN" altLang="zh-CN" sz="2000" b="1" kern="100" dirty="0">
              <a:effectLst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B5352CA-EF28-64F9-C03F-7676E8A5D8CD}"/>
              </a:ext>
            </a:extLst>
          </p:cNvPr>
          <p:cNvSpPr txBox="1"/>
          <p:nvPr/>
        </p:nvSpPr>
        <p:spPr>
          <a:xfrm>
            <a:off x="1047888" y="941341"/>
            <a:ext cx="8817817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将上述导航的相关代码构建为导航服务节点，创建功能包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go2_application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A6E2A05-4C9E-B796-43A6-526EA918F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782" y="1835274"/>
            <a:ext cx="3411220" cy="1936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230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78491-5647-2C90-A1F8-0FA84313C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2F5F15CB-7A4E-F48B-5F18-15096C6F0815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C13D28AD-E292-02A3-B191-0C610E0B2AC9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9AD390-86ED-6B0B-22AD-0FEF07AD7772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665317A8-1416-0EB8-D747-F69FA9B4442B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6-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导航应用封装</a:t>
            </a:r>
            <a:endParaRPr lang="zh-CN" altLang="zh-CN" sz="2000" b="1" kern="100" dirty="0">
              <a:effectLst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91E860-11DC-15B3-E5C6-4B69D20A3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733" y="926480"/>
            <a:ext cx="4475159" cy="39317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8077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D8ACB-5032-9197-9662-FC6600D9B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8CB38E7C-CD70-CB3D-8B96-EF6A242DE9BB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D340DD21-CE60-9E0F-F20D-FB6E7C3DEB35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65C0834-0DBD-662E-00F0-B147B8CE574E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79A7CB75-129A-0EE8-2AD2-3C05C7A82BDC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6-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导航应用封装</a:t>
            </a:r>
            <a:endParaRPr lang="zh-CN" altLang="zh-CN" sz="2000" b="1" kern="100" dirty="0">
              <a:effectLst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8C7FA58-ACEE-FEB1-6C51-936E52B25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694" y="1902477"/>
            <a:ext cx="5951736" cy="195851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2DB5DF0-CDEB-A8D3-7985-2B10973ECAE3}"/>
              </a:ext>
            </a:extLst>
          </p:cNvPr>
          <p:cNvSpPr txBox="1"/>
          <p:nvPr/>
        </p:nvSpPr>
        <p:spPr>
          <a:xfrm>
            <a:off x="2177678" y="1122102"/>
            <a:ext cx="8817817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导航节点调用指令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7215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27780" y="261620"/>
            <a:ext cx="230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215550" y="1144111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9428533" y="439749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443605" y="1353185"/>
            <a:ext cx="4278689" cy="1507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sz="2000" dirty="0"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单点导航的主要实现方法是什么</a:t>
            </a:r>
            <a:r>
              <a:rPr lang="zh-CN" altLang="en-US" sz="2000" kern="100" dirty="0">
                <a:latin typeface="Cambria" panose="020405030504060302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？</a:t>
            </a:r>
            <a:endParaRPr lang="zh-CN" altLang="zh-CN" sz="2000" kern="100" dirty="0">
              <a:effectLst/>
              <a:latin typeface="Cambria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endParaRPr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sz="2000" dirty="0"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路点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导航的主要实现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方法是什么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</a:rPr>
              <a:t>？</a:t>
            </a:r>
          </a:p>
        </p:txBody>
      </p:sp>
      <p:sp>
        <p:nvSpPr>
          <p:cNvPr id="32" name="椭圆 31"/>
          <p:cNvSpPr/>
          <p:nvPr/>
        </p:nvSpPr>
        <p:spPr>
          <a:xfrm>
            <a:off x="786648" y="1144057"/>
            <a:ext cx="2448272" cy="2448272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标题 4"/>
          <p:cNvSpPr txBox="1"/>
          <p:nvPr/>
        </p:nvSpPr>
        <p:spPr>
          <a:xfrm>
            <a:off x="839549" y="2952378"/>
            <a:ext cx="2376264" cy="4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907549" y="1248448"/>
            <a:ext cx="2240761" cy="2240761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KSO_Shape"/>
          <p:cNvSpPr/>
          <p:nvPr/>
        </p:nvSpPr>
        <p:spPr bwMode="auto">
          <a:xfrm>
            <a:off x="1287105" y="1841903"/>
            <a:ext cx="1481536" cy="1261770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</TotalTime>
  <Words>573</Words>
  <Application>Microsoft Office PowerPoint</Application>
  <PresentationFormat>自定义</PresentationFormat>
  <Paragraphs>81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仿宋</vt:lpstr>
      <vt:lpstr>宋体</vt:lpstr>
      <vt:lpstr>微软雅黑</vt:lpstr>
      <vt:lpstr>新宋体</vt:lpstr>
      <vt:lpstr>Arial</vt:lpstr>
      <vt:lpstr>Calibri</vt:lpstr>
      <vt:lpstr>Cambria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samuche@qq.com</cp:lastModifiedBy>
  <cp:revision>369</cp:revision>
  <dcterms:created xsi:type="dcterms:W3CDTF">2016-04-25T01:13:00Z</dcterms:created>
  <dcterms:modified xsi:type="dcterms:W3CDTF">2024-10-30T12:54:15Z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